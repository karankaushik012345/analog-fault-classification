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rts/chart2.xml" ContentType="application/vnd.openxmlformats-officedocument.drawingml.chart+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3.xml" ContentType="application/vnd.openxmlformats-officedocument.drawingml.chart+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5"/>
  </p:notesMasterIdLst>
  <p:sldIdLst>
    <p:sldId id="256" r:id="rId2"/>
    <p:sldId id="257" r:id="rId3"/>
    <p:sldId id="368"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5EAE7A"/>
              </a:solidFill>
              <a:effectLst/>
            </c:spPr>
            <c:extLst>
              <c:ext xmlns:c16="http://schemas.microsoft.com/office/drawing/2014/chart" uri="{C3380CC4-5D6E-409C-BE32-E72D297353CC}">
                <c16:uniqueId val="{00000001-4D88-4FCC-823C-3119AF654255}"/>
              </c:ext>
            </c:extLst>
          </c:dPt>
          <c:dPt>
            <c:idx val="1"/>
            <c:bubble3D val="0"/>
            <c:spPr>
              <a:solidFill>
                <a:srgbClr val="00B4D8"/>
              </a:solidFill>
              <a:effectLst/>
            </c:spPr>
            <c:extLst>
              <c:ext xmlns:c16="http://schemas.microsoft.com/office/drawing/2014/chart" uri="{C3380CC4-5D6E-409C-BE32-E72D297353CC}">
                <c16:uniqueId val="{00000003-4D88-4FCC-823C-3119AF654255}"/>
              </c:ext>
            </c:extLst>
          </c:dPt>
          <c:dPt>
            <c:idx val="2"/>
            <c:bubble3D val="0"/>
            <c:spPr>
              <a:solidFill>
                <a:srgbClr val="0B1F3A"/>
              </a:solidFill>
              <a:effectLst/>
            </c:spPr>
            <c:extLst>
              <c:ext xmlns:c16="http://schemas.microsoft.com/office/drawing/2014/chart" uri="{C3380CC4-5D6E-409C-BE32-E72D297353CC}">
                <c16:uniqueId val="{00000005-4D88-4FCC-823C-3119AF654255}"/>
              </c:ext>
            </c:extLst>
          </c:dPt>
          <c:dPt>
            <c:idx val="3"/>
            <c:bubble3D val="0"/>
            <c:spPr>
              <a:solidFill>
                <a:srgbClr val="D9695F"/>
              </a:solidFill>
              <a:effectLst/>
            </c:spPr>
            <c:extLst>
              <c:ext xmlns:c16="http://schemas.microsoft.com/office/drawing/2014/chart" uri="{C3380CC4-5D6E-409C-BE32-E72D297353CC}">
                <c16:uniqueId val="{00000007-4D88-4FCC-823C-3119AF654255}"/>
              </c:ext>
            </c:extLst>
          </c:dPt>
          <c:dPt>
            <c:idx val="4"/>
            <c:bubble3D val="0"/>
            <c:spPr>
              <a:solidFill>
                <a:srgbClr val="8E5AA8"/>
              </a:solidFill>
              <a:effectLst/>
            </c:spPr>
            <c:extLst>
              <c:ext xmlns:c16="http://schemas.microsoft.com/office/drawing/2014/chart" uri="{C3380CC4-5D6E-409C-BE32-E72D297353CC}">
                <c16:uniqueId val="{00000009-4D88-4FCC-823C-3119AF654255}"/>
              </c:ext>
            </c:extLst>
          </c:dPt>
          <c:dLbls>
            <c:dLbl>
              <c:idx val="0"/>
              <c:numFmt formatCode="0%" sourceLinked="0"/>
              <c:spPr/>
              <c:txPr>
                <a:bodyPr/>
                <a:lstStyle/>
                <a:p>
                  <a:pPr>
                    <a:defRPr sz="12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D88-4FCC-823C-3119AF654255}"/>
                </c:ext>
              </c:extLst>
            </c:dLbl>
            <c:dLbl>
              <c:idx val="1"/>
              <c:numFmt formatCode="0%" sourceLinked="0"/>
              <c:spPr/>
              <c:txPr>
                <a:bodyPr/>
                <a:lstStyle/>
                <a:p>
                  <a:pPr>
                    <a:defRPr sz="12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D88-4FCC-823C-3119AF654255}"/>
                </c:ext>
              </c:extLst>
            </c:dLbl>
            <c:dLbl>
              <c:idx val="2"/>
              <c:numFmt formatCode="0%" sourceLinked="0"/>
              <c:spPr/>
              <c:txPr>
                <a:bodyPr/>
                <a:lstStyle/>
                <a:p>
                  <a:pPr>
                    <a:defRPr sz="12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D88-4FCC-823C-3119AF654255}"/>
                </c:ext>
              </c:extLst>
            </c:dLbl>
            <c:dLbl>
              <c:idx val="3"/>
              <c:numFmt formatCode="0%" sourceLinked="0"/>
              <c:spPr/>
              <c:txPr>
                <a:bodyPr/>
                <a:lstStyle/>
                <a:p>
                  <a:pPr>
                    <a:defRPr sz="12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D88-4FCC-823C-3119AF654255}"/>
                </c:ext>
              </c:extLst>
            </c:dLbl>
            <c:dLbl>
              <c:idx val="4"/>
              <c:numFmt formatCode="0%" sourceLinked="0"/>
              <c:spPr/>
              <c:txPr>
                <a:bodyPr/>
                <a:lstStyle/>
                <a:p>
                  <a:pPr>
                    <a:defRPr sz="12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D88-4FCC-823C-3119AF654255}"/>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Normal</c:v>
                </c:pt>
                <c:pt idx="1">
                  <c:v>Drift</c:v>
                </c:pt>
                <c:pt idx="2">
                  <c:v>Open</c:v>
                </c:pt>
                <c:pt idx="3">
                  <c:v>Short</c:v>
                </c:pt>
                <c:pt idx="4">
                  <c:v>Noise</c:v>
                </c:pt>
              </c:strCache>
            </c:strRef>
          </c:cat>
          <c:val>
            <c:numRef>
              <c:f>Sheet1!$B$2:$B$6</c:f>
              <c:numCache>
                <c:formatCode>General</c:formatCode>
                <c:ptCount val="5"/>
                <c:pt idx="0">
                  <c:v>204</c:v>
                </c:pt>
                <c:pt idx="1">
                  <c:v>204</c:v>
                </c:pt>
                <c:pt idx="2">
                  <c:v>204</c:v>
                </c:pt>
                <c:pt idx="3">
                  <c:v>203</c:v>
                </c:pt>
                <c:pt idx="4">
                  <c:v>204</c:v>
                </c:pt>
              </c:numCache>
            </c:numRef>
          </c:val>
          <c:extLst>
            <c:ext xmlns:c16="http://schemas.microsoft.com/office/drawing/2014/chart" uri="{C3380CC4-5D6E-409C-BE32-E72D297353CC}">
              <c16:uniqueId val="{0000000A-4D88-4FCC-823C-3119AF654255}"/>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1E293B"/>
              </a:solidFill>
            </a:defRPr>
          </a:pPr>
          <a:endParaRPr lang="en-US"/>
        </a:p>
      </c:txPr>
    </c:legend>
    <c:plotVisOnly val="1"/>
    <c:dispBlanksAs val="span"/>
    <c:showDLblsOverMax val="1"/>
  </c:chart>
  <c:spPr>
    <a:solidFill>
      <a:srgbClr val="F4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Default</c:v>
                </c:pt>
              </c:strCache>
            </c:strRef>
          </c:tx>
          <c:spPr>
            <a:solidFill>
              <a:srgbClr val="A9C6E8"/>
            </a:solidFill>
            <a:effectLst/>
          </c:spPr>
          <c:invertIfNegative val="0"/>
          <c:dLbls>
            <c:numFmt formatCode="0.0" sourceLinked="0"/>
            <c:spPr>
              <a:noFill/>
              <a:ln>
                <a:noFill/>
              </a:ln>
              <a:effectLst/>
            </c:spPr>
            <c:txPr>
              <a:bodyPr/>
              <a:lstStyle/>
              <a:p>
                <a:pPr>
                  <a:defRPr sz="10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c:v>
                </c:pt>
                <c:pt idx="1">
                  <c:v>RBF</c:v>
                </c:pt>
                <c:pt idx="2">
                  <c:v>Polynomial</c:v>
                </c:pt>
              </c:strCache>
            </c:strRef>
          </c:cat>
          <c:val>
            <c:numRef>
              <c:f>Sheet1!$B$2:$B$4</c:f>
              <c:numCache>
                <c:formatCode>General</c:formatCode>
                <c:ptCount val="3"/>
                <c:pt idx="0">
                  <c:v>77.94</c:v>
                </c:pt>
                <c:pt idx="1">
                  <c:v>71.08</c:v>
                </c:pt>
                <c:pt idx="2">
                  <c:v>75.489999999999995</c:v>
                </c:pt>
              </c:numCache>
            </c:numRef>
          </c:val>
          <c:extLst>
            <c:ext xmlns:c16="http://schemas.microsoft.com/office/drawing/2014/chart" uri="{C3380CC4-5D6E-409C-BE32-E72D297353CC}">
              <c16:uniqueId val="{00000000-1F45-4671-989D-53A503732830}"/>
            </c:ext>
          </c:extLst>
        </c:ser>
        <c:ser>
          <c:idx val="1"/>
          <c:order val="1"/>
          <c:tx>
            <c:strRef>
              <c:f>Sheet1!$C$1</c:f>
              <c:strCache>
                <c:ptCount val="1"/>
                <c:pt idx="0">
                  <c:v>Tuned + Topology Rule</c:v>
                </c:pt>
              </c:strCache>
            </c:strRef>
          </c:tx>
          <c:spPr>
            <a:solidFill>
              <a:srgbClr val="0B1F3A"/>
            </a:solidFill>
            <a:effectLst/>
          </c:spPr>
          <c:invertIfNegative val="0"/>
          <c:dLbls>
            <c:numFmt formatCode="0.0" sourceLinked="0"/>
            <c:spPr>
              <a:noFill/>
              <a:ln>
                <a:noFill/>
              </a:ln>
              <a:effectLst/>
            </c:spPr>
            <c:txPr>
              <a:bodyPr/>
              <a:lstStyle/>
              <a:p>
                <a:pPr>
                  <a:defRPr sz="105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Linear</c:v>
                </c:pt>
                <c:pt idx="1">
                  <c:v>RBF</c:v>
                </c:pt>
                <c:pt idx="2">
                  <c:v>Polynomial</c:v>
                </c:pt>
              </c:strCache>
            </c:strRef>
          </c:cat>
          <c:val>
            <c:numRef>
              <c:f>Sheet1!$C$2:$C$4</c:f>
              <c:numCache>
                <c:formatCode>General</c:formatCode>
                <c:ptCount val="3"/>
                <c:pt idx="0">
                  <c:v>77.45</c:v>
                </c:pt>
                <c:pt idx="1">
                  <c:v>78.430000000000007</c:v>
                </c:pt>
                <c:pt idx="2">
                  <c:v>77.94</c:v>
                </c:pt>
              </c:numCache>
            </c:numRef>
          </c:val>
          <c:extLst>
            <c:ext xmlns:c16="http://schemas.microsoft.com/office/drawing/2014/chart" uri="{C3380CC4-5D6E-409C-BE32-E72D297353CC}">
              <c16:uniqueId val="{00000001-1F45-4671-989D-53A503732830}"/>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90"/>
          <c:min val="60"/>
        </c:scaling>
        <c:delete val="0"/>
        <c:axPos val="l"/>
        <c:majorGridlines>
          <c:spPr>
            <a:ln w="9525" cap="flat">
              <a:solidFill>
                <a:srgbClr val="D7DEE8"/>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Test Accuracy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1E293B"/>
              </a:solidFill>
            </a:defRPr>
          </a:pPr>
          <a:endParaRPr lang="en-US"/>
        </a:p>
      </c:txPr>
    </c:legend>
    <c:plotVisOnly val="1"/>
    <c:dispBlanksAs val="span"/>
    <c:showDLblsOverMax val="1"/>
  </c:chart>
  <c:spPr>
    <a:solidFill>
      <a:srgbClr val="F4F6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00B4D8"/>
            </a:solidFill>
            <a:effectLst/>
          </c:spPr>
          <c:invertIfNegative val="0"/>
          <c:dLbls>
            <c:numFmt formatCode="0.0" sourceLinked="0"/>
            <c:spPr>
              <a:noFill/>
              <a:ln>
                <a:noFill/>
              </a:ln>
              <a:effectLst/>
            </c:spPr>
            <c:txPr>
              <a:bodyPr/>
              <a:lstStyle/>
              <a:p>
                <a:pPr>
                  <a:defRPr sz="1200" b="1" i="0" u="none" strike="noStrike">
                    <a:solidFill>
                      <a:srgbClr val="0B1F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RC</c:v>
                </c:pt>
                <c:pt idx="1">
                  <c:v>RLC</c:v>
                </c:pt>
                <c:pt idx="2">
                  <c:v>Sallen-Key</c:v>
                </c:pt>
                <c:pt idx="3">
                  <c:v>RC Ladder</c:v>
                </c:pt>
              </c:strCache>
            </c:strRef>
          </c:cat>
          <c:val>
            <c:numRef>
              <c:f>Sheet1!$B$2:$B$5</c:f>
              <c:numCache>
                <c:formatCode>General</c:formatCode>
                <c:ptCount val="4"/>
                <c:pt idx="0">
                  <c:v>65.7</c:v>
                </c:pt>
                <c:pt idx="1">
                  <c:v>100</c:v>
                </c:pt>
                <c:pt idx="2">
                  <c:v>82.4</c:v>
                </c:pt>
                <c:pt idx="3">
                  <c:v>60</c:v>
                </c:pt>
              </c:numCache>
            </c:numRef>
          </c:val>
          <c:extLst>
            <c:ext xmlns:c16="http://schemas.microsoft.com/office/drawing/2014/chart" uri="{C3380CC4-5D6E-409C-BE32-E72D297353CC}">
              <c16:uniqueId val="{00000000-EC9E-4549-BD38-DA9B89A681C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9525"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21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8.png"/><Relationship Id="rId7"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48.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42.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6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21.png"/></Relationships>
</file>

<file path=ppt/slides/_rels/slide66.xml.rels><?xml version="1.0" encoding="UTF-8" standalone="yes"?>
<Relationships xmlns="http://schemas.openxmlformats.org/package/2006/relationships"><Relationship Id="rId8" Type="http://schemas.openxmlformats.org/officeDocument/2006/relationships/hyperlink" Target="https://analogcircuitsfaultclassification.streamlit.app/" TargetMode="External"/><Relationship Id="rId3" Type="http://schemas.openxmlformats.org/officeDocument/2006/relationships/image" Target="../media/image67.png"/><Relationship Id="rId7" Type="http://schemas.openxmlformats.org/officeDocument/2006/relationships/image" Target="../media/image24.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8.png"/><Relationship Id="rId7" Type="http://schemas.openxmlformats.org/officeDocument/2006/relationships/image" Target="../media/image7.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4.png"/><Relationship Id="rId10"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19.png"/></Relationships>
</file>

<file path=ppt/slides/_rels/slide6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hyperlink" Target="https://analogcircuitsfaultclassification.streamlit.app/" TargetMode="External"/><Relationship Id="rId4" Type="http://schemas.openxmlformats.org/officeDocument/2006/relationships/image" Target="../media/image19.png"/></Relationships>
</file>

<file path=ppt/slides/_rels/slide7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2EF2F85-C004-6A80-CA06-138B1C4BF69B}"/>
              </a:ext>
            </a:extLst>
          </p:cNvPr>
          <p:cNvPicPr>
            <a:picLocks noChangeAspect="1"/>
          </p:cNvPicPr>
          <p:nvPr/>
        </p:nvPicPr>
        <p:blipFill>
          <a:blip r:embed="rId3"/>
          <a:stretch>
            <a:fillRect/>
          </a:stretch>
        </p:blipFill>
        <p:spPr>
          <a:xfrm>
            <a:off x="8732520" y="105620"/>
            <a:ext cx="3375141" cy="2531959"/>
          </a:xfrm>
          <a:prstGeom prst="rect">
            <a:avLst/>
          </a:prstGeom>
          <a:ln>
            <a:noFill/>
          </a:ln>
          <a:effectLst>
            <a:softEdge rad="112500"/>
          </a:effectLst>
        </p:spPr>
      </p:pic>
      <p:pic>
        <p:nvPicPr>
          <p:cNvPr id="19" name="Picture 18">
            <a:extLst>
              <a:ext uri="{FF2B5EF4-FFF2-40B4-BE49-F238E27FC236}">
                <a16:creationId xmlns:a16="http://schemas.microsoft.com/office/drawing/2014/main" id="{0138171A-F67D-079D-B3EF-FB087F55B974}"/>
              </a:ext>
            </a:extLst>
          </p:cNvPr>
          <p:cNvPicPr>
            <a:picLocks noChangeAspect="1"/>
          </p:cNvPicPr>
          <p:nvPr/>
        </p:nvPicPr>
        <p:blipFill>
          <a:blip r:embed="rId4"/>
          <a:stretch>
            <a:fillRect/>
          </a:stretch>
        </p:blipFill>
        <p:spPr>
          <a:xfrm>
            <a:off x="627592" y="171305"/>
            <a:ext cx="1088307" cy="10620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ext 7"/>
          <p:cNvSpPr/>
          <p:nvPr/>
        </p:nvSpPr>
        <p:spPr>
          <a:xfrm>
            <a:off x="597560" y="1280160"/>
            <a:ext cx="9163499" cy="457200"/>
          </a:xfrm>
          <a:prstGeom prst="rect">
            <a:avLst/>
          </a:prstGeom>
          <a:noFill/>
          <a:ln/>
        </p:spPr>
        <p:txBody>
          <a:bodyPr wrap="square" lIns="0" tIns="0" rIns="0" bIns="0" rtlCol="0" anchor="ctr"/>
          <a:lstStyle/>
          <a:p>
            <a:pPr marL="0" indent="0">
              <a:buNone/>
            </a:pPr>
            <a:r>
              <a:rPr lang="en-US" sz="1350" b="1" kern="0" spc="250" dirty="0">
                <a:solidFill>
                  <a:srgbClr val="00B4D8"/>
                </a:solidFill>
                <a:latin typeface="Calibri" pitchFamily="34" charset="0"/>
                <a:ea typeface="Calibri" pitchFamily="34" charset="-122"/>
                <a:cs typeface="Calibri"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Kernel-Based Fault Classification</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in Analog Circuits</a:t>
            </a:r>
            <a:endParaRPr lang="en-US" sz="4200" dirty="0"/>
          </a:p>
        </p:txBody>
      </p:sp>
      <p:sp>
        <p:nvSpPr>
          <p:cNvPr id="11" name="Text 9"/>
          <p:cNvSpPr/>
          <p:nvPr/>
        </p:nvSpPr>
        <p:spPr>
          <a:xfrm>
            <a:off x="424429" y="3969242"/>
            <a:ext cx="9509760" cy="822960"/>
          </a:xfrm>
          <a:prstGeom prst="rect">
            <a:avLst/>
          </a:prstGeom>
          <a:noFill/>
          <a:ln/>
        </p:spPr>
        <p:txBody>
          <a:bodyPr wrap="square" lIns="0" tIns="0" rIns="0" bIns="0" rtlCol="0" anchor="ctr"/>
          <a:lstStyle/>
          <a:p>
            <a:pPr marL="0" indent="0">
              <a:lnSpc>
                <a:spcPct val="120000"/>
              </a:lnSpc>
              <a:buNone/>
            </a:pPr>
            <a:r>
              <a:rPr lang="en-US" sz="1450" i="1" dirty="0">
                <a:solidFill>
                  <a:srgbClr val="C9D6E8"/>
                </a:solidFill>
                <a:latin typeface="Calibri" pitchFamily="34" charset="0"/>
                <a:ea typeface="Calibri" pitchFamily="34" charset="-122"/>
                <a:cs typeface="Calibri" pitchFamily="34" charset="-120"/>
              </a:rPr>
              <a:t>A physics-grounded machine learning pipeline for diagnosing Normal, Drift, Open, Short and</a:t>
            </a:r>
            <a:endParaRPr lang="en-US" sz="1450" dirty="0"/>
          </a:p>
          <a:p>
            <a:pPr marL="0" indent="0">
              <a:lnSpc>
                <a:spcPct val="120000"/>
              </a:lnSpc>
              <a:buNone/>
            </a:pPr>
            <a:r>
              <a:rPr lang="en-US" sz="1450" i="1" dirty="0">
                <a:solidFill>
                  <a:srgbClr val="C9D6E8"/>
                </a:solidFill>
                <a:latin typeface="Calibri" pitchFamily="34" charset="0"/>
                <a:ea typeface="Calibri" pitchFamily="34" charset="-122"/>
                <a:cs typeface="Calibri" pitchFamily="34" charset="-120"/>
              </a:rPr>
              <a:t>Noise faults across four analog circuit topologies — from LTspice simulation to a live web app.</a:t>
            </a:r>
            <a:endParaRPr lang="en-US" sz="1450" dirty="0"/>
          </a:p>
        </p:txBody>
      </p:sp>
      <p:sp>
        <p:nvSpPr>
          <p:cNvPr id="12" name="Shape 10"/>
          <p:cNvSpPr/>
          <p:nvPr/>
        </p:nvSpPr>
        <p:spPr>
          <a:xfrm>
            <a:off x="344299" y="5314344"/>
            <a:ext cx="2743200" cy="0"/>
          </a:xfrm>
          <a:prstGeom prst="line">
            <a:avLst/>
          </a:prstGeom>
          <a:noFill/>
          <a:ln w="25400">
            <a:solidFill>
              <a:srgbClr val="00B4D8"/>
            </a:solidFill>
            <a:prstDash val="solid"/>
          </a:ln>
        </p:spPr>
      </p:sp>
      <p:sp>
        <p:nvSpPr>
          <p:cNvPr id="13" name="Text 11"/>
          <p:cNvSpPr/>
          <p:nvPr/>
        </p:nvSpPr>
        <p:spPr>
          <a:xfrm>
            <a:off x="5570375" y="5347934"/>
            <a:ext cx="5728731" cy="365760"/>
          </a:xfrm>
          <a:prstGeom prst="rect">
            <a:avLst/>
          </a:prstGeom>
          <a:noFill/>
          <a:ln/>
        </p:spPr>
        <p:txBody>
          <a:bodyPr wrap="square" lIns="0" tIns="0" rIns="0" bIns="0" rtlCol="0" anchor="ctr"/>
          <a:lstStyle/>
          <a:p>
            <a:pPr marL="0" indent="0">
              <a:buNone/>
            </a:pPr>
            <a:r>
              <a:rPr lang="en-US" sz="1400" dirty="0">
                <a:solidFill>
                  <a:srgbClr val="9FB1C8"/>
                </a:solidFill>
                <a:latin typeface="Calibri" pitchFamily="34" charset="0"/>
                <a:ea typeface="Calibri" pitchFamily="34" charset="-122"/>
                <a:cs typeface="Calibri" pitchFamily="34" charset="-120"/>
              </a:rPr>
              <a:t>Presented by  </a:t>
            </a:r>
            <a:r>
              <a:rPr lang="en-US" sz="1400" b="1" dirty="0">
                <a:solidFill>
                  <a:srgbClr val="FFFFFF"/>
                </a:solidFill>
                <a:latin typeface="Calibri" pitchFamily="34" charset="0"/>
                <a:ea typeface="Calibri" pitchFamily="34" charset="-122"/>
                <a:cs typeface="Calibri" pitchFamily="34" charset="-120"/>
              </a:rPr>
              <a:t>Karan Kaushik</a:t>
            </a:r>
            <a:r>
              <a:rPr lang="en-US" sz="1400" dirty="0">
                <a:solidFill>
                  <a:srgbClr val="9FB1C8"/>
                </a:solidFill>
                <a:latin typeface="Calibri" pitchFamily="34" charset="0"/>
                <a:ea typeface="Calibri" pitchFamily="34" charset="-122"/>
                <a:cs typeface="Calibri" pitchFamily="34" charset="-120"/>
              </a:rPr>
              <a:t>   |   B.Tech ECE, NIT Silchar</a:t>
            </a:r>
            <a:endParaRPr lang="en-US" sz="1400" dirty="0"/>
          </a:p>
        </p:txBody>
      </p:sp>
      <p:sp>
        <p:nvSpPr>
          <p:cNvPr id="14" name="Text 12"/>
          <p:cNvSpPr/>
          <p:nvPr/>
        </p:nvSpPr>
        <p:spPr>
          <a:xfrm>
            <a:off x="5570375" y="5795430"/>
            <a:ext cx="8229600" cy="365760"/>
          </a:xfrm>
          <a:prstGeom prst="rect">
            <a:avLst/>
          </a:prstGeom>
          <a:noFill/>
          <a:ln/>
        </p:spPr>
        <p:txBody>
          <a:bodyPr wrap="square" lIns="0" tIns="0" rIns="0" bIns="0" rtlCol="0" anchor="ctr"/>
          <a:lstStyle/>
          <a:p>
            <a:pPr marL="0" indent="0">
              <a:buNone/>
            </a:pPr>
            <a:r>
              <a:rPr lang="en-US" sz="1400" dirty="0">
                <a:solidFill>
                  <a:srgbClr val="9FB1C8"/>
                </a:solidFill>
                <a:latin typeface="Calibri" pitchFamily="34" charset="0"/>
                <a:ea typeface="Calibri" pitchFamily="34" charset="-122"/>
                <a:cs typeface="Calibri" pitchFamily="34" charset="-120"/>
              </a:rPr>
              <a:t>Guided by  </a:t>
            </a:r>
            <a:r>
              <a:rPr lang="en-US" sz="1400" b="1" dirty="0">
                <a:solidFill>
                  <a:srgbClr val="FFFFFF"/>
                </a:solidFill>
                <a:latin typeface="Calibri" pitchFamily="34" charset="0"/>
                <a:ea typeface="Calibri" pitchFamily="34" charset="-122"/>
                <a:cs typeface="Calibri" pitchFamily="34" charset="-120"/>
              </a:rPr>
              <a:t>Dr. Anish Kumar Saha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What We'll Cover — In Nine Parts</a:t>
            </a:r>
            <a:endParaRPr lang="en-US" sz="3000" dirty="0"/>
          </a:p>
        </p:txBody>
      </p:sp>
      <p:sp>
        <p:nvSpPr>
          <p:cNvPr id="4" name="Shape 2"/>
          <p:cNvSpPr/>
          <p:nvPr/>
        </p:nvSpPr>
        <p:spPr>
          <a:xfrm>
            <a:off x="502920" y="1563624"/>
            <a:ext cx="3429000" cy="1563624"/>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txBody>
          <a:bodyPr/>
          <a:lstStyle/>
          <a:p>
            <a:endParaRPr lang="en-IN" dirty="0"/>
          </a:p>
        </p:txBody>
      </p:sp>
      <p:sp>
        <p:nvSpPr>
          <p:cNvPr id="5" name="Shape 3"/>
          <p:cNvSpPr/>
          <p:nvPr/>
        </p:nvSpPr>
        <p:spPr>
          <a:xfrm>
            <a:off x="704088" y="1956816"/>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bulb_00B4D8.png"/>
          <p:cNvPicPr>
            <a:picLocks noChangeAspect="1"/>
          </p:cNvPicPr>
          <p:nvPr/>
        </p:nvPicPr>
        <p:blipFill>
          <a:blip r:embed="rId3"/>
          <a:stretch>
            <a:fillRect/>
          </a:stretch>
        </p:blipFill>
        <p:spPr>
          <a:xfrm>
            <a:off x="762000" y="1998512"/>
            <a:ext cx="373807" cy="373807"/>
          </a:xfrm>
          <a:prstGeom prst="rect">
            <a:avLst/>
          </a:prstGeom>
        </p:spPr>
      </p:pic>
      <p:sp>
        <p:nvSpPr>
          <p:cNvPr id="7" name="Text 4"/>
          <p:cNvSpPr/>
          <p:nvPr/>
        </p:nvSpPr>
        <p:spPr>
          <a:xfrm>
            <a:off x="685800" y="2523744"/>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1. Motivation &amp; Problem</a:t>
            </a:r>
            <a:endParaRPr lang="en-US" sz="1200" dirty="0"/>
          </a:p>
        </p:txBody>
      </p:sp>
      <p:sp>
        <p:nvSpPr>
          <p:cNvPr id="8" name="Text 5"/>
          <p:cNvSpPr/>
          <p:nvPr/>
        </p:nvSpPr>
        <p:spPr>
          <a:xfrm>
            <a:off x="685800" y="2788920"/>
            <a:ext cx="3063240" cy="457200"/>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Why analog fault diagnosis matters, and why it's hard</a:t>
            </a:r>
            <a:endParaRPr lang="en-US" sz="870" dirty="0"/>
          </a:p>
        </p:txBody>
      </p:sp>
      <p:sp>
        <p:nvSpPr>
          <p:cNvPr id="9" name="Shape 6"/>
          <p:cNvSpPr/>
          <p:nvPr/>
        </p:nvSpPr>
        <p:spPr>
          <a:xfrm>
            <a:off x="4251960" y="1737360"/>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0" name="Shape 7"/>
          <p:cNvSpPr/>
          <p:nvPr/>
        </p:nvSpPr>
        <p:spPr>
          <a:xfrm>
            <a:off x="4453128" y="1956816"/>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11" name="Image 1" descr="/sessions/blissful-zealous-babbage/mnt/outputs/ppt/icons/sitemap_00B4D8.png"/>
          <p:cNvPicPr>
            <a:picLocks noChangeAspect="1"/>
          </p:cNvPicPr>
          <p:nvPr/>
        </p:nvPicPr>
        <p:blipFill>
          <a:blip r:embed="rId4"/>
          <a:stretch>
            <a:fillRect/>
          </a:stretch>
        </p:blipFill>
        <p:spPr>
          <a:xfrm>
            <a:off x="4522257" y="2025945"/>
            <a:ext cx="373807" cy="373807"/>
          </a:xfrm>
          <a:prstGeom prst="rect">
            <a:avLst/>
          </a:prstGeom>
        </p:spPr>
      </p:pic>
      <p:sp>
        <p:nvSpPr>
          <p:cNvPr id="12" name="Text 8"/>
          <p:cNvSpPr/>
          <p:nvPr/>
        </p:nvSpPr>
        <p:spPr>
          <a:xfrm>
            <a:off x="4434840" y="2523744"/>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2. Circuits &amp; Fault Theory</a:t>
            </a:r>
            <a:endParaRPr lang="en-US" sz="1200" dirty="0"/>
          </a:p>
        </p:txBody>
      </p:sp>
      <p:sp>
        <p:nvSpPr>
          <p:cNvPr id="13" name="Text 9"/>
          <p:cNvSpPr/>
          <p:nvPr/>
        </p:nvSpPr>
        <p:spPr>
          <a:xfrm>
            <a:off x="4434840" y="2615184"/>
            <a:ext cx="3063240" cy="630936"/>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The physics behind 4 topologies and 5 fault types</a:t>
            </a:r>
            <a:endParaRPr lang="en-US" sz="870" dirty="0"/>
          </a:p>
        </p:txBody>
      </p:sp>
      <p:sp>
        <p:nvSpPr>
          <p:cNvPr id="14" name="Shape 10"/>
          <p:cNvSpPr/>
          <p:nvPr/>
        </p:nvSpPr>
        <p:spPr>
          <a:xfrm>
            <a:off x="8001000" y="1737360"/>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5" name="Shape 11"/>
          <p:cNvSpPr/>
          <p:nvPr/>
        </p:nvSpPr>
        <p:spPr>
          <a:xfrm>
            <a:off x="8202168" y="1956816"/>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16" name="Image 2" descr="/sessions/blissful-zealous-babbage/mnt/outputs/ppt/icons/cogs_00B4D8.png"/>
          <p:cNvPicPr>
            <a:picLocks noChangeAspect="1"/>
          </p:cNvPicPr>
          <p:nvPr/>
        </p:nvPicPr>
        <p:blipFill>
          <a:blip r:embed="rId5"/>
          <a:stretch>
            <a:fillRect/>
          </a:stretch>
        </p:blipFill>
        <p:spPr>
          <a:xfrm>
            <a:off x="8271297" y="2025945"/>
            <a:ext cx="373807" cy="373807"/>
          </a:xfrm>
          <a:prstGeom prst="rect">
            <a:avLst/>
          </a:prstGeom>
        </p:spPr>
      </p:pic>
      <p:sp>
        <p:nvSpPr>
          <p:cNvPr id="17" name="Text 12"/>
          <p:cNvSpPr/>
          <p:nvPr/>
        </p:nvSpPr>
        <p:spPr>
          <a:xfrm>
            <a:off x="8183880" y="2523744"/>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3. Data Pipeline</a:t>
            </a:r>
            <a:endParaRPr lang="en-US" sz="1200" dirty="0"/>
          </a:p>
        </p:txBody>
      </p:sp>
      <p:sp>
        <p:nvSpPr>
          <p:cNvPr id="18" name="Text 13"/>
          <p:cNvSpPr/>
          <p:nvPr/>
        </p:nvSpPr>
        <p:spPr>
          <a:xfrm>
            <a:off x="8183880" y="2664928"/>
            <a:ext cx="3063240" cy="581192"/>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LTspice sweeps that generate real, physics-based training data</a:t>
            </a:r>
            <a:endParaRPr lang="en-US" sz="870" dirty="0"/>
          </a:p>
        </p:txBody>
      </p:sp>
      <p:sp>
        <p:nvSpPr>
          <p:cNvPr id="19" name="Shape 14"/>
          <p:cNvSpPr/>
          <p:nvPr/>
        </p:nvSpPr>
        <p:spPr>
          <a:xfrm>
            <a:off x="502920" y="3182112"/>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0" name="Shape 15"/>
          <p:cNvSpPr/>
          <p:nvPr/>
        </p:nvSpPr>
        <p:spPr>
          <a:xfrm>
            <a:off x="704088" y="3401568"/>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21" name="Image 3" descr="/sessions/blissful-zealous-babbage/mnt/outputs/ppt/icons/puzzle_00B4D8.png"/>
          <p:cNvPicPr>
            <a:picLocks noChangeAspect="1"/>
          </p:cNvPicPr>
          <p:nvPr/>
        </p:nvPicPr>
        <p:blipFill>
          <a:blip r:embed="rId6"/>
          <a:stretch>
            <a:fillRect/>
          </a:stretch>
        </p:blipFill>
        <p:spPr>
          <a:xfrm>
            <a:off x="773217" y="3470697"/>
            <a:ext cx="373807" cy="373807"/>
          </a:xfrm>
          <a:prstGeom prst="rect">
            <a:avLst/>
          </a:prstGeom>
        </p:spPr>
      </p:pic>
      <p:sp>
        <p:nvSpPr>
          <p:cNvPr id="22" name="Text 16"/>
          <p:cNvSpPr/>
          <p:nvPr/>
        </p:nvSpPr>
        <p:spPr>
          <a:xfrm>
            <a:off x="685800" y="3968496"/>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4. Feature Engineering</a:t>
            </a:r>
            <a:endParaRPr lang="en-US" sz="1200" dirty="0"/>
          </a:p>
        </p:txBody>
      </p:sp>
      <p:sp>
        <p:nvSpPr>
          <p:cNvPr id="23" name="Text 17"/>
          <p:cNvSpPr/>
          <p:nvPr/>
        </p:nvSpPr>
        <p:spPr>
          <a:xfrm>
            <a:off x="685800" y="4078224"/>
            <a:ext cx="3063240" cy="612648"/>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The formulas turning waveforms into 17 numbers</a:t>
            </a:r>
            <a:endParaRPr lang="en-US" sz="870" dirty="0"/>
          </a:p>
        </p:txBody>
      </p:sp>
      <p:sp>
        <p:nvSpPr>
          <p:cNvPr id="24" name="Shape 18"/>
          <p:cNvSpPr/>
          <p:nvPr/>
        </p:nvSpPr>
        <p:spPr>
          <a:xfrm>
            <a:off x="4251960" y="3182112"/>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5" name="Shape 19"/>
          <p:cNvSpPr/>
          <p:nvPr/>
        </p:nvSpPr>
        <p:spPr>
          <a:xfrm>
            <a:off x="4453128" y="3401568"/>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26" name="Image 4" descr="/sessions/blissful-zealous-babbage/mnt/outputs/ppt/icons/brain_00B4D8.png"/>
          <p:cNvPicPr>
            <a:picLocks noChangeAspect="1"/>
          </p:cNvPicPr>
          <p:nvPr/>
        </p:nvPicPr>
        <p:blipFill>
          <a:blip r:embed="rId7"/>
          <a:stretch>
            <a:fillRect/>
          </a:stretch>
        </p:blipFill>
        <p:spPr>
          <a:xfrm>
            <a:off x="4522257" y="3470697"/>
            <a:ext cx="373807" cy="373807"/>
          </a:xfrm>
          <a:prstGeom prst="rect">
            <a:avLst/>
          </a:prstGeom>
        </p:spPr>
      </p:pic>
      <p:sp>
        <p:nvSpPr>
          <p:cNvPr id="27" name="Text 20"/>
          <p:cNvSpPr/>
          <p:nvPr/>
        </p:nvSpPr>
        <p:spPr>
          <a:xfrm>
            <a:off x="4434840" y="3968496"/>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5. Machine Learning</a:t>
            </a:r>
            <a:endParaRPr lang="en-US" sz="1200" dirty="0"/>
          </a:p>
        </p:txBody>
      </p:sp>
      <p:sp>
        <p:nvSpPr>
          <p:cNvPr id="28" name="Text 21"/>
          <p:cNvSpPr/>
          <p:nvPr/>
        </p:nvSpPr>
        <p:spPr>
          <a:xfrm>
            <a:off x="4434840" y="4109680"/>
            <a:ext cx="3063240" cy="581192"/>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SVM theory, kernels, GridSearchCV, cross-validation</a:t>
            </a:r>
            <a:endParaRPr lang="en-US" sz="870" dirty="0"/>
          </a:p>
        </p:txBody>
      </p:sp>
      <p:sp>
        <p:nvSpPr>
          <p:cNvPr id="29" name="Shape 22"/>
          <p:cNvSpPr/>
          <p:nvPr/>
        </p:nvSpPr>
        <p:spPr>
          <a:xfrm>
            <a:off x="8001000" y="3182112"/>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30" name="Shape 23"/>
          <p:cNvSpPr/>
          <p:nvPr/>
        </p:nvSpPr>
        <p:spPr>
          <a:xfrm>
            <a:off x="8202168" y="3401568"/>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31" name="Image 5" descr="/sessions/blissful-zealous-babbage/mnt/outputs/ppt/icons/tools_00B4D8.png"/>
          <p:cNvPicPr>
            <a:picLocks noChangeAspect="1"/>
          </p:cNvPicPr>
          <p:nvPr/>
        </p:nvPicPr>
        <p:blipFill>
          <a:blip r:embed="rId8"/>
          <a:stretch>
            <a:fillRect/>
          </a:stretch>
        </p:blipFill>
        <p:spPr>
          <a:xfrm>
            <a:off x="8271297" y="3470697"/>
            <a:ext cx="373807" cy="373807"/>
          </a:xfrm>
          <a:prstGeom prst="rect">
            <a:avLst/>
          </a:prstGeom>
        </p:spPr>
      </p:pic>
      <p:sp>
        <p:nvSpPr>
          <p:cNvPr id="32" name="Text 24"/>
          <p:cNvSpPr/>
          <p:nvPr/>
        </p:nvSpPr>
        <p:spPr>
          <a:xfrm>
            <a:off x="8183880" y="3968496"/>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6. The Smart Fixes</a:t>
            </a:r>
            <a:endParaRPr lang="en-US" sz="1200" dirty="0"/>
          </a:p>
        </p:txBody>
      </p:sp>
      <p:sp>
        <p:nvSpPr>
          <p:cNvPr id="33" name="Text 25"/>
          <p:cNvSpPr/>
          <p:nvPr/>
        </p:nvSpPr>
        <p:spPr>
          <a:xfrm>
            <a:off x="8183880" y="4133088"/>
            <a:ext cx="3063240" cy="557784"/>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Two engineering decisions that pushed accuracy higher</a:t>
            </a:r>
            <a:endParaRPr lang="en-US" sz="870" dirty="0"/>
          </a:p>
        </p:txBody>
      </p:sp>
      <p:sp>
        <p:nvSpPr>
          <p:cNvPr id="34" name="Shape 26"/>
          <p:cNvSpPr/>
          <p:nvPr/>
        </p:nvSpPr>
        <p:spPr>
          <a:xfrm>
            <a:off x="502920" y="4626864"/>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35" name="Shape 27"/>
          <p:cNvSpPr/>
          <p:nvPr/>
        </p:nvSpPr>
        <p:spPr>
          <a:xfrm>
            <a:off x="704088" y="4846320"/>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36" name="Image 6" descr="/sessions/blissful-zealous-babbage/mnt/outputs/ppt/icons/chartbar_00B4D8.png"/>
          <p:cNvPicPr>
            <a:picLocks noChangeAspect="1"/>
          </p:cNvPicPr>
          <p:nvPr/>
        </p:nvPicPr>
        <p:blipFill>
          <a:blip r:embed="rId9"/>
          <a:stretch>
            <a:fillRect/>
          </a:stretch>
        </p:blipFill>
        <p:spPr>
          <a:xfrm>
            <a:off x="773217" y="4915449"/>
            <a:ext cx="373807" cy="373807"/>
          </a:xfrm>
          <a:prstGeom prst="rect">
            <a:avLst/>
          </a:prstGeom>
        </p:spPr>
      </p:pic>
      <p:sp>
        <p:nvSpPr>
          <p:cNvPr id="37" name="Text 28"/>
          <p:cNvSpPr/>
          <p:nvPr/>
        </p:nvSpPr>
        <p:spPr>
          <a:xfrm>
            <a:off x="685800" y="5413248"/>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7. Results &amp; Deep Analysis</a:t>
            </a:r>
            <a:endParaRPr lang="en-US" sz="1200" dirty="0"/>
          </a:p>
        </p:txBody>
      </p:sp>
      <p:sp>
        <p:nvSpPr>
          <p:cNvPr id="38" name="Text 29"/>
          <p:cNvSpPr/>
          <p:nvPr/>
        </p:nvSpPr>
        <p:spPr>
          <a:xfrm>
            <a:off x="685800" y="5513832"/>
            <a:ext cx="3063240" cy="621792"/>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78.43% accuracy — and exactly where and why it fails</a:t>
            </a:r>
            <a:endParaRPr lang="en-US" sz="870" dirty="0"/>
          </a:p>
        </p:txBody>
      </p:sp>
      <p:sp>
        <p:nvSpPr>
          <p:cNvPr id="39" name="Shape 30"/>
          <p:cNvSpPr/>
          <p:nvPr/>
        </p:nvSpPr>
        <p:spPr>
          <a:xfrm>
            <a:off x="4251960" y="4626864"/>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40" name="Shape 31"/>
          <p:cNvSpPr/>
          <p:nvPr/>
        </p:nvSpPr>
        <p:spPr>
          <a:xfrm>
            <a:off x="4453128" y="4846320"/>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41" name="Image 7" descr="/sessions/blissful-zealous-babbage/mnt/outputs/ppt/icons/warn_00B4D8.png"/>
          <p:cNvPicPr>
            <a:picLocks noChangeAspect="1"/>
          </p:cNvPicPr>
          <p:nvPr/>
        </p:nvPicPr>
        <p:blipFill>
          <a:blip r:embed="rId10"/>
          <a:stretch>
            <a:fillRect/>
          </a:stretch>
        </p:blipFill>
        <p:spPr>
          <a:xfrm>
            <a:off x="4522257" y="4915449"/>
            <a:ext cx="373807" cy="373807"/>
          </a:xfrm>
          <a:prstGeom prst="rect">
            <a:avLst/>
          </a:prstGeom>
        </p:spPr>
      </p:pic>
      <p:sp>
        <p:nvSpPr>
          <p:cNvPr id="42" name="Text 32"/>
          <p:cNvSpPr/>
          <p:nvPr/>
        </p:nvSpPr>
        <p:spPr>
          <a:xfrm>
            <a:off x="4434840" y="5413248"/>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8. Key Finding &amp; Limits</a:t>
            </a:r>
            <a:endParaRPr lang="en-US" sz="1200" dirty="0"/>
          </a:p>
        </p:txBody>
      </p:sp>
      <p:sp>
        <p:nvSpPr>
          <p:cNvPr id="43" name="Text 33"/>
          <p:cNvSpPr/>
          <p:nvPr/>
        </p:nvSpPr>
        <p:spPr>
          <a:xfrm>
            <a:off x="4434840" y="5513832"/>
            <a:ext cx="3063240" cy="621792"/>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A hard lesson about trusting your own accuracy numbers</a:t>
            </a:r>
            <a:endParaRPr lang="en-US" sz="870" dirty="0"/>
          </a:p>
        </p:txBody>
      </p:sp>
      <p:sp>
        <p:nvSpPr>
          <p:cNvPr id="44" name="Shape 34"/>
          <p:cNvSpPr/>
          <p:nvPr/>
        </p:nvSpPr>
        <p:spPr>
          <a:xfrm>
            <a:off x="8001000" y="4626864"/>
            <a:ext cx="3429000" cy="1298448"/>
          </a:xfrm>
          <a:prstGeom prst="roundRect">
            <a:avLst>
              <a:gd name="adj" fmla="val 5634"/>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45" name="Shape 35"/>
          <p:cNvSpPr/>
          <p:nvPr/>
        </p:nvSpPr>
        <p:spPr>
          <a:xfrm>
            <a:off x="8202168" y="4846320"/>
            <a:ext cx="512064" cy="512064"/>
          </a:xfrm>
          <a:prstGeom prst="ellipse">
            <a:avLst/>
          </a:prstGeom>
          <a:solidFill>
            <a:srgbClr val="0B1F3A"/>
          </a:solidFill>
          <a:ln/>
          <a:effectLst>
            <a:outerShdw blurRad="114300" dist="38100" dir="2700000" algn="bl" rotWithShape="0">
              <a:srgbClr val="0B1F3A">
                <a:alpha val="14000"/>
              </a:srgbClr>
            </a:outerShdw>
          </a:effectLst>
        </p:spPr>
      </p:sp>
      <p:pic>
        <p:nvPicPr>
          <p:cNvPr id="46" name="Image 8" descr="/sessions/blissful-zealous-babbage/mnt/outputs/ppt/icons/rocket_00B4D8.png"/>
          <p:cNvPicPr>
            <a:picLocks noChangeAspect="1"/>
          </p:cNvPicPr>
          <p:nvPr/>
        </p:nvPicPr>
        <p:blipFill>
          <a:blip r:embed="rId11"/>
          <a:stretch>
            <a:fillRect/>
          </a:stretch>
        </p:blipFill>
        <p:spPr>
          <a:xfrm>
            <a:off x="8271297" y="4915449"/>
            <a:ext cx="373807" cy="373807"/>
          </a:xfrm>
          <a:prstGeom prst="rect">
            <a:avLst/>
          </a:prstGeom>
        </p:spPr>
      </p:pic>
      <p:sp>
        <p:nvSpPr>
          <p:cNvPr id="47" name="Text 36"/>
          <p:cNvSpPr/>
          <p:nvPr/>
        </p:nvSpPr>
        <p:spPr>
          <a:xfrm>
            <a:off x="8183880" y="5413248"/>
            <a:ext cx="3063240" cy="320040"/>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9. Demo &amp; Conclusion</a:t>
            </a:r>
            <a:endParaRPr lang="en-US" sz="1200" dirty="0"/>
          </a:p>
        </p:txBody>
      </p:sp>
      <p:sp>
        <p:nvSpPr>
          <p:cNvPr id="48" name="Text 37"/>
          <p:cNvSpPr/>
          <p:nvPr/>
        </p:nvSpPr>
        <p:spPr>
          <a:xfrm>
            <a:off x="8183880" y="5513832"/>
            <a:ext cx="3063240" cy="621792"/>
          </a:xfrm>
          <a:prstGeom prst="rect">
            <a:avLst/>
          </a:prstGeom>
          <a:noFill/>
          <a:ln/>
        </p:spPr>
        <p:txBody>
          <a:bodyPr wrap="square" lIns="0" tIns="0" rIns="0" bIns="0" rtlCol="0" anchor="ctr"/>
          <a:lstStyle/>
          <a:p>
            <a:pPr marL="0" indent="0">
              <a:lnSpc>
                <a:spcPct val="110000"/>
              </a:lnSpc>
              <a:buNone/>
            </a:pPr>
            <a:r>
              <a:rPr lang="en-US" sz="870" dirty="0">
                <a:solidFill>
                  <a:srgbClr val="64748B"/>
                </a:solidFill>
                <a:latin typeface="Calibri" pitchFamily="34" charset="0"/>
                <a:ea typeface="Calibri" pitchFamily="34" charset="-122"/>
                <a:cs typeface="Calibri" pitchFamily="34" charset="-120"/>
              </a:rPr>
              <a:t>The live app, what's next, and a wrap-up</a:t>
            </a:r>
            <a:endParaRPr lang="en-US" sz="870" dirty="0"/>
          </a:p>
        </p:txBody>
      </p:sp>
      <p:sp>
        <p:nvSpPr>
          <p:cNvPr id="49" name="Text 3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0" name="Text 3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 Project Architecture">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PROJECT OVERVIEW</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Project Architecture</a:t>
            </a:r>
            <a:endParaRPr lang="en-US" sz="3000" dirty="0"/>
          </a:p>
        </p:txBody>
      </p:sp>
      <p:sp>
        <p:nvSpPr>
          <p:cNvPr id="101" name="Chip-1"/>
          <p:cNvSpPr/>
          <p:nvPr/>
        </p:nvSpPr>
        <p:spPr>
          <a:xfrm>
            <a:off x="502920" y="1893986"/>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LTspice</a:t>
            </a:r>
            <a:endParaRPr lang="en-US"/>
          </a:p>
        </p:txBody>
      </p:sp>
      <p:sp>
        <p:nvSpPr>
          <p:cNvPr id="102" name="Badge-1"/>
          <p:cNvSpPr/>
          <p:nvPr/>
        </p:nvSpPr>
        <p:spPr>
          <a:xfrm>
            <a:off x="360900" y="2023966"/>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1</a:t>
            </a:r>
            <a:endParaRPr lang="en-US"/>
          </a:p>
        </p:txBody>
      </p:sp>
      <p:sp>
        <p:nvSpPr>
          <p:cNvPr id="103" name="ArrowDown-1"/>
          <p:cNvSpPr/>
          <p:nvPr/>
        </p:nvSpPr>
        <p:spPr>
          <a:xfrm>
            <a:off x="3002920" y="2453986"/>
            <a:ext cx="0" cy="221812"/>
          </a:xfrm>
          <a:prstGeom prst="line">
            <a:avLst/>
          </a:prstGeom>
          <a:noFill/>
          <a:ln w="22225">
            <a:solidFill>
              <a:srgbClr val="AEBED4"/>
            </a:solidFill>
            <a:prstDash val="solid"/>
            <a:tailEnd type="triangle"/>
          </a:ln>
        </p:spPr>
      </p:sp>
      <p:sp>
        <p:nvSpPr>
          <p:cNvPr id="104" name="Chip-2"/>
          <p:cNvSpPr/>
          <p:nvPr/>
        </p:nvSpPr>
        <p:spPr>
          <a:xfrm>
            <a:off x="502920" y="2675798"/>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Parameter Sweeps</a:t>
            </a:r>
            <a:endParaRPr lang="en-US"/>
          </a:p>
        </p:txBody>
      </p:sp>
      <p:sp>
        <p:nvSpPr>
          <p:cNvPr id="105" name="Badge-2"/>
          <p:cNvSpPr/>
          <p:nvPr/>
        </p:nvSpPr>
        <p:spPr>
          <a:xfrm>
            <a:off x="360900" y="2805778"/>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2</a:t>
            </a:r>
            <a:endParaRPr lang="en-US"/>
          </a:p>
        </p:txBody>
      </p:sp>
      <p:sp>
        <p:nvSpPr>
          <p:cNvPr id="106" name="ArrowDown-2"/>
          <p:cNvSpPr/>
          <p:nvPr/>
        </p:nvSpPr>
        <p:spPr>
          <a:xfrm>
            <a:off x="3002920" y="3235798"/>
            <a:ext cx="0" cy="221812"/>
          </a:xfrm>
          <a:prstGeom prst="line">
            <a:avLst/>
          </a:prstGeom>
          <a:noFill/>
          <a:ln w="22225">
            <a:solidFill>
              <a:srgbClr val="AEBED4"/>
            </a:solidFill>
            <a:prstDash val="solid"/>
            <a:tailEnd type="triangle"/>
          </a:ln>
        </p:spPr>
      </p:sp>
      <p:sp>
        <p:nvSpPr>
          <p:cNvPr id="107" name="Chip-3"/>
          <p:cNvSpPr/>
          <p:nvPr/>
        </p:nvSpPr>
        <p:spPr>
          <a:xfrm>
            <a:off x="502920" y="3457610"/>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CSV Dataset</a:t>
            </a:r>
            <a:endParaRPr lang="en-US"/>
          </a:p>
        </p:txBody>
      </p:sp>
      <p:sp>
        <p:nvSpPr>
          <p:cNvPr id="108" name="Badge-3"/>
          <p:cNvSpPr/>
          <p:nvPr/>
        </p:nvSpPr>
        <p:spPr>
          <a:xfrm>
            <a:off x="360900" y="3587590"/>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3</a:t>
            </a:r>
            <a:endParaRPr lang="en-US"/>
          </a:p>
        </p:txBody>
      </p:sp>
      <p:sp>
        <p:nvSpPr>
          <p:cNvPr id="109" name="ArrowDown-3"/>
          <p:cNvSpPr/>
          <p:nvPr/>
        </p:nvSpPr>
        <p:spPr>
          <a:xfrm>
            <a:off x="3002920" y="4017610"/>
            <a:ext cx="0" cy="221812"/>
          </a:xfrm>
          <a:prstGeom prst="line">
            <a:avLst/>
          </a:prstGeom>
          <a:noFill/>
          <a:ln w="22225">
            <a:solidFill>
              <a:srgbClr val="AEBED4"/>
            </a:solidFill>
            <a:prstDash val="solid"/>
            <a:tailEnd type="triangle"/>
          </a:ln>
        </p:spPr>
      </p:sp>
      <p:sp>
        <p:nvSpPr>
          <p:cNvPr id="110" name="Chip-4"/>
          <p:cNvSpPr/>
          <p:nvPr/>
        </p:nvSpPr>
        <p:spPr>
          <a:xfrm>
            <a:off x="502920" y="4239422"/>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Feature Extraction</a:t>
            </a:r>
            <a:endParaRPr lang="en-US"/>
          </a:p>
        </p:txBody>
      </p:sp>
      <p:sp>
        <p:nvSpPr>
          <p:cNvPr id="111" name="Badge-4"/>
          <p:cNvSpPr/>
          <p:nvPr/>
        </p:nvSpPr>
        <p:spPr>
          <a:xfrm>
            <a:off x="360900" y="4369402"/>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4</a:t>
            </a:r>
            <a:endParaRPr lang="en-US"/>
          </a:p>
        </p:txBody>
      </p:sp>
      <p:sp>
        <p:nvSpPr>
          <p:cNvPr id="112" name="ArrowDown-4"/>
          <p:cNvSpPr/>
          <p:nvPr/>
        </p:nvSpPr>
        <p:spPr>
          <a:xfrm>
            <a:off x="3002920" y="4799422"/>
            <a:ext cx="0" cy="221812"/>
          </a:xfrm>
          <a:prstGeom prst="line">
            <a:avLst/>
          </a:prstGeom>
          <a:noFill/>
          <a:ln w="22225">
            <a:solidFill>
              <a:srgbClr val="AEBED4"/>
            </a:solidFill>
            <a:prstDash val="solid"/>
            <a:tailEnd type="triangle"/>
          </a:ln>
        </p:spPr>
      </p:sp>
      <p:sp>
        <p:nvSpPr>
          <p:cNvPr id="113" name="Chip-5"/>
          <p:cNvSpPr/>
          <p:nvPr/>
        </p:nvSpPr>
        <p:spPr>
          <a:xfrm>
            <a:off x="502920" y="5021234"/>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Feature Dataset</a:t>
            </a:r>
            <a:endParaRPr lang="en-US"/>
          </a:p>
        </p:txBody>
      </p:sp>
      <p:sp>
        <p:nvSpPr>
          <p:cNvPr id="114" name="Badge-5"/>
          <p:cNvSpPr/>
          <p:nvPr/>
        </p:nvSpPr>
        <p:spPr>
          <a:xfrm>
            <a:off x="360900" y="5151214"/>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5</a:t>
            </a:r>
            <a:endParaRPr lang="en-US"/>
          </a:p>
        </p:txBody>
      </p:sp>
      <p:sp>
        <p:nvSpPr>
          <p:cNvPr id="115" name="ArrowDown-5"/>
          <p:cNvSpPr/>
          <p:nvPr/>
        </p:nvSpPr>
        <p:spPr>
          <a:xfrm>
            <a:off x="3002920" y="5581234"/>
            <a:ext cx="0" cy="221812"/>
          </a:xfrm>
          <a:prstGeom prst="line">
            <a:avLst/>
          </a:prstGeom>
          <a:noFill/>
          <a:ln w="22225">
            <a:solidFill>
              <a:srgbClr val="AEBED4"/>
            </a:solidFill>
            <a:prstDash val="solid"/>
            <a:tailEnd type="triangle"/>
          </a:ln>
        </p:spPr>
      </p:sp>
      <p:sp>
        <p:nvSpPr>
          <p:cNvPr id="116" name="Chip-6"/>
          <p:cNvSpPr/>
          <p:nvPr/>
        </p:nvSpPr>
        <p:spPr>
          <a:xfrm>
            <a:off x="502920" y="5803046"/>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StandardScaler</a:t>
            </a:r>
            <a:endParaRPr lang="en-US"/>
          </a:p>
        </p:txBody>
      </p:sp>
      <p:sp>
        <p:nvSpPr>
          <p:cNvPr id="117" name="Badge-6"/>
          <p:cNvSpPr/>
          <p:nvPr/>
        </p:nvSpPr>
        <p:spPr>
          <a:xfrm>
            <a:off x="360900" y="5933026"/>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6</a:t>
            </a:r>
            <a:endParaRPr lang="en-US"/>
          </a:p>
        </p:txBody>
      </p:sp>
      <p:sp>
        <p:nvSpPr>
          <p:cNvPr id="118" name="Chip-7"/>
          <p:cNvSpPr/>
          <p:nvPr/>
        </p:nvSpPr>
        <p:spPr>
          <a:xfrm>
            <a:off x="6692160" y="1893986"/>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Baseline SVM</a:t>
            </a:r>
            <a:endParaRPr lang="en-US"/>
          </a:p>
        </p:txBody>
      </p:sp>
      <p:sp>
        <p:nvSpPr>
          <p:cNvPr id="119" name="Badge-7"/>
          <p:cNvSpPr/>
          <p:nvPr/>
        </p:nvSpPr>
        <p:spPr>
          <a:xfrm>
            <a:off x="6550140" y="2023966"/>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7</a:t>
            </a:r>
            <a:endParaRPr lang="en-US"/>
          </a:p>
        </p:txBody>
      </p:sp>
      <p:sp>
        <p:nvSpPr>
          <p:cNvPr id="120" name="ArrowDown-7"/>
          <p:cNvSpPr/>
          <p:nvPr/>
        </p:nvSpPr>
        <p:spPr>
          <a:xfrm>
            <a:off x="9192160" y="2453986"/>
            <a:ext cx="0" cy="221812"/>
          </a:xfrm>
          <a:prstGeom prst="line">
            <a:avLst/>
          </a:prstGeom>
          <a:noFill/>
          <a:ln w="22225">
            <a:solidFill>
              <a:srgbClr val="AEBED4"/>
            </a:solidFill>
            <a:prstDash val="solid"/>
            <a:tailEnd type="triangle"/>
          </a:ln>
        </p:spPr>
      </p:sp>
      <p:sp>
        <p:nvSpPr>
          <p:cNvPr id="121" name="Chip-8"/>
          <p:cNvSpPr/>
          <p:nvPr/>
        </p:nvSpPr>
        <p:spPr>
          <a:xfrm>
            <a:off x="6692160" y="2675798"/>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GridSearchCV</a:t>
            </a:r>
            <a:endParaRPr lang="en-US"/>
          </a:p>
        </p:txBody>
      </p:sp>
      <p:sp>
        <p:nvSpPr>
          <p:cNvPr id="122" name="Badge-8"/>
          <p:cNvSpPr/>
          <p:nvPr/>
        </p:nvSpPr>
        <p:spPr>
          <a:xfrm>
            <a:off x="6550140" y="2805778"/>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8</a:t>
            </a:r>
            <a:endParaRPr lang="en-US"/>
          </a:p>
        </p:txBody>
      </p:sp>
      <p:sp>
        <p:nvSpPr>
          <p:cNvPr id="123" name="ArrowDown-8"/>
          <p:cNvSpPr/>
          <p:nvPr/>
        </p:nvSpPr>
        <p:spPr>
          <a:xfrm>
            <a:off x="9192160" y="3235798"/>
            <a:ext cx="0" cy="221812"/>
          </a:xfrm>
          <a:prstGeom prst="line">
            <a:avLst/>
          </a:prstGeom>
          <a:noFill/>
          <a:ln w="22225">
            <a:solidFill>
              <a:srgbClr val="AEBED4"/>
            </a:solidFill>
            <a:prstDash val="solid"/>
            <a:tailEnd type="triangle"/>
          </a:ln>
        </p:spPr>
      </p:sp>
      <p:sp>
        <p:nvSpPr>
          <p:cNvPr id="124" name="Chip-9"/>
          <p:cNvSpPr/>
          <p:nvPr/>
        </p:nvSpPr>
        <p:spPr>
          <a:xfrm>
            <a:off x="6692160" y="3457610"/>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Optimized SVM</a:t>
            </a:r>
            <a:endParaRPr lang="en-US"/>
          </a:p>
        </p:txBody>
      </p:sp>
      <p:sp>
        <p:nvSpPr>
          <p:cNvPr id="125" name="Badge-9"/>
          <p:cNvSpPr/>
          <p:nvPr/>
        </p:nvSpPr>
        <p:spPr>
          <a:xfrm>
            <a:off x="6550140" y="3587590"/>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9</a:t>
            </a:r>
            <a:endParaRPr lang="en-US"/>
          </a:p>
        </p:txBody>
      </p:sp>
      <p:sp>
        <p:nvSpPr>
          <p:cNvPr id="126" name="ArrowDown-9"/>
          <p:cNvSpPr/>
          <p:nvPr/>
        </p:nvSpPr>
        <p:spPr>
          <a:xfrm>
            <a:off x="9192160" y="4017610"/>
            <a:ext cx="0" cy="221812"/>
          </a:xfrm>
          <a:prstGeom prst="line">
            <a:avLst/>
          </a:prstGeom>
          <a:noFill/>
          <a:ln w="22225">
            <a:solidFill>
              <a:srgbClr val="AEBED4"/>
            </a:solidFill>
            <a:prstDash val="solid"/>
            <a:tailEnd type="triangle"/>
          </a:ln>
        </p:spPr>
      </p:sp>
      <p:sp>
        <p:nvSpPr>
          <p:cNvPr id="127" name="Chip-10"/>
          <p:cNvSpPr/>
          <p:nvPr/>
        </p:nvSpPr>
        <p:spPr>
          <a:xfrm>
            <a:off x="6692160" y="4239422"/>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Confusion Matrix</a:t>
            </a:r>
            <a:endParaRPr lang="en-US"/>
          </a:p>
        </p:txBody>
      </p:sp>
      <p:sp>
        <p:nvSpPr>
          <p:cNvPr id="128" name="Badge-10"/>
          <p:cNvSpPr/>
          <p:nvPr/>
        </p:nvSpPr>
        <p:spPr>
          <a:xfrm>
            <a:off x="6550140" y="4369402"/>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10</a:t>
            </a:r>
            <a:endParaRPr lang="en-US"/>
          </a:p>
        </p:txBody>
      </p:sp>
      <p:sp>
        <p:nvSpPr>
          <p:cNvPr id="129" name="ArrowDown-10"/>
          <p:cNvSpPr/>
          <p:nvPr/>
        </p:nvSpPr>
        <p:spPr>
          <a:xfrm>
            <a:off x="9192160" y="4799422"/>
            <a:ext cx="0" cy="221812"/>
          </a:xfrm>
          <a:prstGeom prst="line">
            <a:avLst/>
          </a:prstGeom>
          <a:noFill/>
          <a:ln w="22225">
            <a:solidFill>
              <a:srgbClr val="AEBED4"/>
            </a:solidFill>
            <a:prstDash val="solid"/>
            <a:tailEnd type="triangle"/>
          </a:ln>
        </p:spPr>
      </p:sp>
      <p:sp>
        <p:nvSpPr>
          <p:cNvPr id="130" name="Chip-11"/>
          <p:cNvSpPr/>
          <p:nvPr/>
        </p:nvSpPr>
        <p:spPr>
          <a:xfrm>
            <a:off x="6692160" y="5021234"/>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Topology Rule</a:t>
            </a:r>
            <a:endParaRPr lang="en-US"/>
          </a:p>
        </p:txBody>
      </p:sp>
      <p:sp>
        <p:nvSpPr>
          <p:cNvPr id="131" name="Badge-11"/>
          <p:cNvSpPr/>
          <p:nvPr/>
        </p:nvSpPr>
        <p:spPr>
          <a:xfrm>
            <a:off x="6550140" y="5151214"/>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11</a:t>
            </a:r>
            <a:endParaRPr lang="en-US"/>
          </a:p>
        </p:txBody>
      </p:sp>
      <p:sp>
        <p:nvSpPr>
          <p:cNvPr id="132" name="ArrowDown-11"/>
          <p:cNvSpPr/>
          <p:nvPr/>
        </p:nvSpPr>
        <p:spPr>
          <a:xfrm>
            <a:off x="9192160" y="5581234"/>
            <a:ext cx="0" cy="221812"/>
          </a:xfrm>
          <a:prstGeom prst="line">
            <a:avLst/>
          </a:prstGeom>
          <a:noFill/>
          <a:ln w="22225">
            <a:solidFill>
              <a:srgbClr val="AEBED4"/>
            </a:solidFill>
            <a:prstDash val="solid"/>
            <a:tailEnd type="triangle"/>
          </a:ln>
        </p:spPr>
      </p:sp>
      <p:sp>
        <p:nvSpPr>
          <p:cNvPr id="133" name="Chip-12"/>
          <p:cNvSpPr/>
          <p:nvPr/>
        </p:nvSpPr>
        <p:spPr>
          <a:xfrm>
            <a:off x="6692160" y="5803046"/>
            <a:ext cx="5000000" cy="560000"/>
          </a:xfrm>
          <a:prstGeom prst="roundRect">
            <a:avLst>
              <a:gd name="adj" fmla="val 10000"/>
            </a:avLst>
          </a:prstGeom>
          <a:solidFill>
            <a:srgbClr val="EAEEF4"/>
          </a:solidFill>
          <a:ln w="9525">
            <a:solidFill>
              <a:srgbClr val="C3D2E8"/>
            </a:solidFill>
          </a:ln>
          <a:effectLst>
            <a:outerShdw blurRad="95250" dist="25400" dir="2700000" algn="bl" rotWithShape="0">
              <a:srgbClr val="0B1F3A">
                <a:alpha val="16000"/>
              </a:srgbClr>
            </a:outerShdw>
          </a:effectLst>
        </p:spPr>
        <p:txBody>
          <a:bodyPr wrap="square" lIns="0" tIns="0" rIns="0" bIns="0" rtlCol="0" anchor="ctr"/>
          <a:lstStyle/>
          <a:p>
            <a:pPr marL="0" indent="0" algn="ctr">
              <a:buNone/>
            </a:pPr>
            <a:r>
              <a:rPr lang="en-US" sz="1450" b="1" dirty="0">
                <a:solidFill>
                  <a:srgbClr val="0B1F3A"/>
                </a:solidFill>
                <a:latin typeface="Calibri" pitchFamily="34" charset="0"/>
                <a:ea typeface="Calibri" pitchFamily="34" charset="0"/>
                <a:cs typeface="Calibri" pitchFamily="34" charset="0"/>
              </a:rPr>
              <a:t>Streamlit Dashboard</a:t>
            </a:r>
            <a:endParaRPr lang="en-US"/>
          </a:p>
        </p:txBody>
      </p:sp>
      <p:sp>
        <p:nvSpPr>
          <p:cNvPr id="134" name="Badge-12"/>
          <p:cNvSpPr/>
          <p:nvPr/>
        </p:nvSpPr>
        <p:spPr>
          <a:xfrm>
            <a:off x="6550140" y="5933026"/>
            <a:ext cx="300040" cy="300040"/>
          </a:xfrm>
          <a:prstGeom prst="ellipse">
            <a:avLst/>
          </a:prstGeom>
          <a:solidFill>
            <a:srgbClr val="FFB703"/>
          </a:solid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0"/>
                <a:cs typeface="Calibri" pitchFamily="34" charset="0"/>
              </a:rPr>
              <a:t>12</a:t>
            </a:r>
            <a:endParaRPr lang="en-US"/>
          </a:p>
        </p:txBody>
      </p:sp>
      <p:sp>
        <p:nvSpPr>
          <p:cNvPr id="135" name="Elbow-A-horiz"/>
          <p:cNvSpPr/>
          <p:nvPr/>
        </p:nvSpPr>
        <p:spPr>
          <a:xfrm>
            <a:off x="5502920" y="6083046"/>
            <a:ext cx="594620" cy="0"/>
          </a:xfrm>
          <a:prstGeom prst="line">
            <a:avLst/>
          </a:prstGeom>
          <a:noFill/>
          <a:ln w="22225">
            <a:solidFill>
              <a:srgbClr val="AEBED4"/>
            </a:solidFill>
            <a:prstDash val="solid"/>
          </a:ln>
        </p:spPr>
      </p:sp>
      <p:sp>
        <p:nvSpPr>
          <p:cNvPr id="136" name="Elbow-B-vert"/>
          <p:cNvSpPr/>
          <p:nvPr/>
        </p:nvSpPr>
        <p:spPr>
          <a:xfrm>
            <a:off x="6097540" y="2173986"/>
            <a:ext cx="0" cy="3909060"/>
          </a:xfrm>
          <a:prstGeom prst="line">
            <a:avLst/>
          </a:prstGeom>
          <a:noFill/>
          <a:ln w="22225">
            <a:solidFill>
              <a:srgbClr val="AEBED4"/>
            </a:solidFill>
            <a:prstDash val="solid"/>
          </a:ln>
        </p:spPr>
      </p:sp>
      <p:sp>
        <p:nvSpPr>
          <p:cNvPr id="137" name="Elbow-C-horiz"/>
          <p:cNvSpPr/>
          <p:nvPr/>
        </p:nvSpPr>
        <p:spPr>
          <a:xfrm>
            <a:off x="6097540" y="2173986"/>
            <a:ext cx="594620" cy="0"/>
          </a:xfrm>
          <a:prstGeom prst="line">
            <a:avLst/>
          </a:prstGeom>
          <a:noFill/>
          <a:ln w="22225">
            <a:solidFill>
              <a:srgbClr val="AEBED4"/>
            </a:solidFill>
            <a:prstDash val="solid"/>
            <a:tailEnd type="triangle"/>
          </a:ln>
        </p:spPr>
      </p:sp>
      <p:sp>
        <p:nvSpPr>
          <p:cNvPr id="47" name="Text 3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8" name="Text 4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Fault Classification Matters</a:t>
            </a:r>
            <a:endParaRPr lang="en-US" sz="3000" dirty="0"/>
          </a:p>
        </p:txBody>
      </p:sp>
      <p:sp>
        <p:nvSpPr>
          <p:cNvPr id="4" name="Shape 2"/>
          <p:cNvSpPr/>
          <p:nvPr/>
        </p:nvSpPr>
        <p:spPr>
          <a:xfrm>
            <a:off x="502920" y="1783080"/>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5" name="Image 0" descr="/sessions/blissful-zealous-babbage/mnt/outputs/ppt/icons/signal_00B4D8.png"/>
          <p:cNvPicPr>
            <a:picLocks noChangeAspect="1"/>
          </p:cNvPicPr>
          <p:nvPr/>
        </p:nvPicPr>
        <p:blipFill>
          <a:blip r:embed="rId3"/>
          <a:stretch>
            <a:fillRect/>
          </a:stretch>
        </p:blipFill>
        <p:spPr>
          <a:xfrm>
            <a:off x="579455" y="1859615"/>
            <a:ext cx="413857" cy="413857"/>
          </a:xfrm>
          <a:prstGeom prst="rect">
            <a:avLst/>
          </a:prstGeom>
        </p:spPr>
      </p:pic>
      <p:sp>
        <p:nvSpPr>
          <p:cNvPr id="6" name="Text 3"/>
          <p:cNvSpPr/>
          <p:nvPr/>
        </p:nvSpPr>
        <p:spPr>
          <a:xfrm>
            <a:off x="1280160" y="1755648"/>
            <a:ext cx="585216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Analog circuits are everywhere</a:t>
            </a:r>
            <a:endParaRPr lang="en-US" sz="1450" dirty="0"/>
          </a:p>
        </p:txBody>
      </p:sp>
      <p:sp>
        <p:nvSpPr>
          <p:cNvPr id="7" name="Text 4"/>
          <p:cNvSpPr/>
          <p:nvPr/>
        </p:nvSpPr>
        <p:spPr>
          <a:xfrm>
            <a:off x="1280160" y="2075688"/>
            <a:ext cx="5943600" cy="640080"/>
          </a:xfrm>
          <a:prstGeom prst="rect">
            <a:avLst/>
          </a:prstGeom>
          <a:noFill/>
          <a:ln/>
        </p:spPr>
        <p:txBody>
          <a:bodyPr wrap="square" lIns="0" tIns="0" rIns="0" bIns="0" rtlCol="0" anchor="ctr"/>
          <a:lstStyle/>
          <a:p>
            <a:pPr marL="0" indent="0">
              <a:lnSpc>
                <a:spcPct val="118000"/>
              </a:lnSpc>
              <a:buNone/>
            </a:pPr>
            <a:r>
              <a:rPr lang="en-US" sz="1100" dirty="0">
                <a:solidFill>
                  <a:srgbClr val="64748B"/>
                </a:solidFill>
                <a:latin typeface="Calibri" pitchFamily="34" charset="0"/>
                <a:ea typeface="Calibri" pitchFamily="34" charset="-122"/>
                <a:cs typeface="Calibri" pitchFamily="34" charset="-120"/>
              </a:rPr>
              <a:t>Filters, power supplies, sensor front-ends and communication links all rely on analog stages that quietly degrade before they fail outright.</a:t>
            </a:r>
            <a:endParaRPr lang="en-US" sz="1100" dirty="0"/>
          </a:p>
        </p:txBody>
      </p:sp>
      <p:sp>
        <p:nvSpPr>
          <p:cNvPr id="8" name="Shape 5"/>
          <p:cNvSpPr/>
          <p:nvPr/>
        </p:nvSpPr>
        <p:spPr>
          <a:xfrm>
            <a:off x="502920" y="2807208"/>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9" name="Image 1" descr="/sessions/blissful-zealous-babbage/mnt/outputs/ppt/icons/search_00B4D8.png"/>
          <p:cNvPicPr>
            <a:picLocks noChangeAspect="1"/>
          </p:cNvPicPr>
          <p:nvPr/>
        </p:nvPicPr>
        <p:blipFill>
          <a:blip r:embed="rId4"/>
          <a:stretch>
            <a:fillRect/>
          </a:stretch>
        </p:blipFill>
        <p:spPr>
          <a:xfrm>
            <a:off x="579455" y="2883743"/>
            <a:ext cx="413857" cy="413857"/>
          </a:xfrm>
          <a:prstGeom prst="rect">
            <a:avLst/>
          </a:prstGeom>
        </p:spPr>
      </p:pic>
      <p:sp>
        <p:nvSpPr>
          <p:cNvPr id="10" name="Text 6"/>
          <p:cNvSpPr/>
          <p:nvPr/>
        </p:nvSpPr>
        <p:spPr>
          <a:xfrm>
            <a:off x="1280160" y="2779776"/>
            <a:ext cx="585216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Manual diagnosis doesn't scale</a:t>
            </a:r>
            <a:endParaRPr lang="en-US" sz="1450" dirty="0"/>
          </a:p>
        </p:txBody>
      </p:sp>
      <p:sp>
        <p:nvSpPr>
          <p:cNvPr id="11" name="Text 7"/>
          <p:cNvSpPr/>
          <p:nvPr/>
        </p:nvSpPr>
        <p:spPr>
          <a:xfrm>
            <a:off x="1280160" y="3099816"/>
            <a:ext cx="5943600" cy="640080"/>
          </a:xfrm>
          <a:prstGeom prst="rect">
            <a:avLst/>
          </a:prstGeom>
          <a:noFill/>
          <a:ln/>
        </p:spPr>
        <p:txBody>
          <a:bodyPr wrap="square" lIns="0" tIns="0" rIns="0" bIns="0" rtlCol="0" anchor="ctr"/>
          <a:lstStyle/>
          <a:p>
            <a:pPr marL="0" indent="0">
              <a:lnSpc>
                <a:spcPct val="118000"/>
              </a:lnSpc>
              <a:buNone/>
            </a:pPr>
            <a:r>
              <a:rPr lang="en-US" sz="1100" dirty="0">
                <a:solidFill>
                  <a:srgbClr val="64748B"/>
                </a:solidFill>
                <a:latin typeface="Calibri" pitchFamily="34" charset="0"/>
                <a:ea typeface="Calibri" pitchFamily="34" charset="-122"/>
                <a:cs typeface="Calibri" pitchFamily="34" charset="-120"/>
              </a:rPr>
              <a:t>Reading an oscilloscope trace to guess whether a fault is drift, noise, or a bad connection takes an expert and doesn't scale to thousands of boards.</a:t>
            </a:r>
            <a:endParaRPr lang="en-US" sz="1100" dirty="0"/>
          </a:p>
        </p:txBody>
      </p:sp>
      <p:sp>
        <p:nvSpPr>
          <p:cNvPr id="12" name="Shape 8"/>
          <p:cNvSpPr/>
          <p:nvPr/>
        </p:nvSpPr>
        <p:spPr>
          <a:xfrm>
            <a:off x="502920" y="3831336"/>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13" name="Image 2" descr="/sessions/blissful-zealous-babbage/mnt/outputs/ppt/icons/bolt_00B4D8.png"/>
          <p:cNvPicPr>
            <a:picLocks noChangeAspect="1"/>
          </p:cNvPicPr>
          <p:nvPr/>
        </p:nvPicPr>
        <p:blipFill>
          <a:blip r:embed="rId5"/>
          <a:stretch>
            <a:fillRect/>
          </a:stretch>
        </p:blipFill>
        <p:spPr>
          <a:xfrm>
            <a:off x="579455" y="3907871"/>
            <a:ext cx="413857" cy="413857"/>
          </a:xfrm>
          <a:prstGeom prst="rect">
            <a:avLst/>
          </a:prstGeom>
        </p:spPr>
      </p:pic>
      <p:sp>
        <p:nvSpPr>
          <p:cNvPr id="14" name="Text 9"/>
          <p:cNvSpPr/>
          <p:nvPr/>
        </p:nvSpPr>
        <p:spPr>
          <a:xfrm>
            <a:off x="1280160" y="3803904"/>
            <a:ext cx="585216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Faults are often silent</a:t>
            </a:r>
            <a:endParaRPr lang="en-US" sz="1450" dirty="0"/>
          </a:p>
        </p:txBody>
      </p:sp>
      <p:sp>
        <p:nvSpPr>
          <p:cNvPr id="15" name="Text 10"/>
          <p:cNvSpPr/>
          <p:nvPr/>
        </p:nvSpPr>
        <p:spPr>
          <a:xfrm>
            <a:off x="1280160" y="4123944"/>
            <a:ext cx="5943600" cy="640080"/>
          </a:xfrm>
          <a:prstGeom prst="rect">
            <a:avLst/>
          </a:prstGeom>
          <a:noFill/>
          <a:ln/>
        </p:spPr>
        <p:txBody>
          <a:bodyPr wrap="square" lIns="0" tIns="0" rIns="0" bIns="0" rtlCol="0" anchor="ctr"/>
          <a:lstStyle/>
          <a:p>
            <a:pPr marL="0" indent="0">
              <a:lnSpc>
                <a:spcPct val="118000"/>
              </a:lnSpc>
              <a:buNone/>
            </a:pPr>
            <a:r>
              <a:rPr lang="en-US" sz="1100" dirty="0">
                <a:solidFill>
                  <a:srgbClr val="64748B"/>
                </a:solidFill>
                <a:latin typeface="Calibri" pitchFamily="34" charset="0"/>
                <a:ea typeface="Calibri" pitchFamily="34" charset="-122"/>
                <a:cs typeface="Calibri" pitchFamily="34" charset="-120"/>
              </a:rPr>
              <a:t>A drifting resistor or a noisy stage can still “work” while quietly producing wrong answers downstream.</a:t>
            </a:r>
            <a:endParaRPr lang="en-US" sz="1100" dirty="0"/>
          </a:p>
        </p:txBody>
      </p:sp>
      <p:sp>
        <p:nvSpPr>
          <p:cNvPr id="16" name="Shape 11"/>
          <p:cNvSpPr/>
          <p:nvPr/>
        </p:nvSpPr>
        <p:spPr>
          <a:xfrm>
            <a:off x="502920" y="4855464"/>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17" name="Image 3" descr="/sessions/blissful-zealous-babbage/mnt/outputs/ppt/icons/chartline_00B4D8.png"/>
          <p:cNvPicPr>
            <a:picLocks noChangeAspect="1"/>
          </p:cNvPicPr>
          <p:nvPr/>
        </p:nvPicPr>
        <p:blipFill>
          <a:blip r:embed="rId6"/>
          <a:stretch>
            <a:fillRect/>
          </a:stretch>
        </p:blipFill>
        <p:spPr>
          <a:xfrm>
            <a:off x="579455" y="4931999"/>
            <a:ext cx="413857" cy="413857"/>
          </a:xfrm>
          <a:prstGeom prst="rect">
            <a:avLst/>
          </a:prstGeom>
        </p:spPr>
      </p:pic>
      <p:sp>
        <p:nvSpPr>
          <p:cNvPr id="18" name="Text 12"/>
          <p:cNvSpPr/>
          <p:nvPr/>
        </p:nvSpPr>
        <p:spPr>
          <a:xfrm>
            <a:off x="1280160" y="4828032"/>
            <a:ext cx="585216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The goal</a:t>
            </a:r>
            <a:endParaRPr lang="en-US" sz="1450" dirty="0"/>
          </a:p>
        </p:txBody>
      </p:sp>
      <p:sp>
        <p:nvSpPr>
          <p:cNvPr id="19" name="Text 13"/>
          <p:cNvSpPr/>
          <p:nvPr/>
        </p:nvSpPr>
        <p:spPr>
          <a:xfrm>
            <a:off x="1280160" y="5148072"/>
            <a:ext cx="5943600" cy="640080"/>
          </a:xfrm>
          <a:prstGeom prst="rect">
            <a:avLst/>
          </a:prstGeom>
          <a:noFill/>
          <a:ln/>
        </p:spPr>
        <p:txBody>
          <a:bodyPr wrap="square" lIns="0" tIns="0" rIns="0" bIns="0" rtlCol="0" anchor="ctr"/>
          <a:lstStyle/>
          <a:p>
            <a:pPr marL="0" indent="0">
              <a:lnSpc>
                <a:spcPct val="118000"/>
              </a:lnSpc>
              <a:buNone/>
            </a:pPr>
            <a:r>
              <a:rPr lang="en-US" sz="1100" dirty="0">
                <a:solidFill>
                  <a:srgbClr val="64748B"/>
                </a:solidFill>
                <a:latin typeface="Calibri" pitchFamily="34" charset="0"/>
                <a:ea typeface="Calibri" pitchFamily="34" charset="-122"/>
                <a:cs typeface="Calibri" pitchFamily="34" charset="-120"/>
              </a:rPr>
              <a:t>Give a machine the output waveform and let it instantly say what's wrong — and which component is likely responsible.</a:t>
            </a:r>
            <a:endParaRPr lang="en-US" sz="1100" dirty="0"/>
          </a:p>
        </p:txBody>
      </p:sp>
      <p:sp>
        <p:nvSpPr>
          <p:cNvPr id="20" name="Shape 14"/>
          <p:cNvSpPr/>
          <p:nvPr/>
        </p:nvSpPr>
        <p:spPr>
          <a:xfrm>
            <a:off x="7452360" y="1859614"/>
            <a:ext cx="4343400" cy="4066817"/>
          </a:xfrm>
          <a:prstGeom prst="roundRect">
            <a:avLst>
              <a:gd name="adj" fmla="val 1538"/>
            </a:avLst>
          </a:prstGeom>
          <a:solidFill>
            <a:srgbClr val="EAEEF4"/>
          </a:solidFill>
          <a:ln w="15875">
            <a:solidFill>
              <a:srgbClr val="9FB1C8"/>
            </a:solidFill>
            <a:prstDash val="dash"/>
          </a:ln>
        </p:spPr>
      </p:sp>
      <p:pic>
        <p:nvPicPr>
          <p:cNvPr id="21" name="Image 4" descr="/sessions/blissful-zealous-babbage/mnt/outputs/ppt/icons/database_64748B.png"/>
          <p:cNvPicPr>
            <a:picLocks noChangeAspect="1"/>
          </p:cNvPicPr>
          <p:nvPr/>
        </p:nvPicPr>
        <p:blipFill>
          <a:blip r:embed="rId7"/>
          <a:stretch>
            <a:fillRect/>
          </a:stretch>
        </p:blipFill>
        <p:spPr>
          <a:xfrm>
            <a:off x="9249156" y="2498141"/>
            <a:ext cx="566928" cy="566928"/>
          </a:xfrm>
          <a:prstGeom prst="rect">
            <a:avLst/>
          </a:prstGeom>
        </p:spPr>
      </p:pic>
      <p:sp>
        <p:nvSpPr>
          <p:cNvPr id="22" name="Text 15"/>
          <p:cNvSpPr/>
          <p:nvPr/>
        </p:nvSpPr>
        <p:spPr>
          <a:xfrm>
            <a:off x="7543800" y="2980030"/>
            <a:ext cx="397764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PHOTO / SCHEMATIC</a:t>
            </a:r>
            <a:endParaRPr lang="en-US" sz="1300" dirty="0"/>
          </a:p>
        </p:txBody>
      </p:sp>
      <p:sp>
        <p:nvSpPr>
          <p:cNvPr id="23" name="Text 16"/>
          <p:cNvSpPr/>
          <p:nvPr/>
        </p:nvSpPr>
        <p:spPr>
          <a:xfrm>
            <a:off x="7635240" y="3327502"/>
            <a:ext cx="3794760" cy="1331366"/>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lab PCB, oscilloscope capture, or</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simulation workstation photo</a:t>
            </a:r>
            <a:endParaRPr lang="en-US" sz="1050" dirty="0"/>
          </a:p>
        </p:txBody>
      </p:sp>
      <p:sp>
        <p:nvSpPr>
          <p:cNvPr id="24" name="Text 17"/>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8"/>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pic>
        <p:nvPicPr>
          <p:cNvPr id="27" name="Picture 26">
            <a:extLst>
              <a:ext uri="{FF2B5EF4-FFF2-40B4-BE49-F238E27FC236}">
                <a16:creationId xmlns:a16="http://schemas.microsoft.com/office/drawing/2014/main" id="{54009982-8331-94B7-D420-6C182C57C099}"/>
              </a:ext>
            </a:extLst>
          </p:cNvPr>
          <p:cNvPicPr>
            <a:picLocks noChangeAspect="1"/>
          </p:cNvPicPr>
          <p:nvPr/>
        </p:nvPicPr>
        <p:blipFill>
          <a:blip r:embed="rId8"/>
          <a:stretch>
            <a:fillRect/>
          </a:stretch>
        </p:blipFill>
        <p:spPr>
          <a:xfrm>
            <a:off x="7452361" y="1859055"/>
            <a:ext cx="4343400" cy="4067375"/>
          </a:xfrm>
          <a:prstGeom prst="rect">
            <a:avLst/>
          </a:prstGeom>
          <a:effectLst>
            <a:softEdge rad="88900"/>
          </a:effectLst>
          <a:scene3d>
            <a:camera prst="orthographicFront"/>
            <a:lightRig rig="threePt" dir="t"/>
          </a:scene3d>
          <a:sp3d>
            <a:bevelT prst="relaxedInset"/>
            <a:bevelB w="152400" h="50800" prst="softRound"/>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The Real-World Cost of an Undiagnosed Fault</a:t>
            </a:r>
            <a:endParaRPr lang="en-US" sz="3000" dirty="0"/>
          </a:p>
        </p:txBody>
      </p:sp>
      <p:sp>
        <p:nvSpPr>
          <p:cNvPr id="4" name="Text 2"/>
          <p:cNvSpPr/>
          <p:nvPr/>
        </p:nvSpPr>
        <p:spPr>
          <a:xfrm>
            <a:off x="502920" y="1691640"/>
            <a:ext cx="10515600" cy="36576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Component drift and disconnects rarely announce themselves. A few examples of what's at stake:</a:t>
            </a:r>
            <a:endParaRPr lang="en-US" sz="1300" dirty="0"/>
          </a:p>
        </p:txBody>
      </p:sp>
      <p:sp>
        <p:nvSpPr>
          <p:cNvPr id="5" name="Shape 3"/>
          <p:cNvSpPr/>
          <p:nvPr/>
        </p:nvSpPr>
        <p:spPr>
          <a:xfrm>
            <a:off x="502920" y="2240280"/>
            <a:ext cx="5166360" cy="1783080"/>
          </a:xfrm>
          <a:prstGeom prst="roundRect">
            <a:avLst>
              <a:gd name="adj" fmla="val 461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6" name="Shape 4"/>
          <p:cNvSpPr/>
          <p:nvPr/>
        </p:nvSpPr>
        <p:spPr>
          <a:xfrm>
            <a:off x="758952" y="2496312"/>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7" name="Image 0" descr="/sessions/blissful-zealous-babbage/mnt/outputs/ppt/icons/flask_00B4D8.png"/>
          <p:cNvPicPr>
            <a:picLocks noChangeAspect="1"/>
          </p:cNvPicPr>
          <p:nvPr/>
        </p:nvPicPr>
        <p:blipFill>
          <a:blip r:embed="rId3"/>
          <a:stretch>
            <a:fillRect/>
          </a:stretch>
        </p:blipFill>
        <p:spPr>
          <a:xfrm>
            <a:off x="835487" y="2572847"/>
            <a:ext cx="413857" cy="413857"/>
          </a:xfrm>
          <a:prstGeom prst="rect">
            <a:avLst/>
          </a:prstGeom>
        </p:spPr>
      </p:pic>
      <p:sp>
        <p:nvSpPr>
          <p:cNvPr id="8" name="Text 5"/>
          <p:cNvSpPr/>
          <p:nvPr/>
        </p:nvSpPr>
        <p:spPr>
          <a:xfrm>
            <a:off x="1508760" y="2514600"/>
            <a:ext cx="393192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Medical devices</a:t>
            </a:r>
            <a:endParaRPr lang="en-US" sz="1400" dirty="0"/>
          </a:p>
        </p:txBody>
      </p:sp>
      <p:sp>
        <p:nvSpPr>
          <p:cNvPr id="9" name="Text 6"/>
          <p:cNvSpPr/>
          <p:nvPr/>
        </p:nvSpPr>
        <p:spPr>
          <a:xfrm>
            <a:off x="777240" y="3154680"/>
            <a:ext cx="4617720" cy="77724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A drifting filter stage in a patient monitor can quietly shift a threshold reading long before an alarm ever fires.</a:t>
            </a:r>
            <a:endParaRPr lang="en-US" sz="1050" dirty="0"/>
          </a:p>
        </p:txBody>
      </p:sp>
      <p:sp>
        <p:nvSpPr>
          <p:cNvPr id="10" name="Shape 7"/>
          <p:cNvSpPr/>
          <p:nvPr/>
        </p:nvSpPr>
        <p:spPr>
          <a:xfrm>
            <a:off x="6126480" y="2240280"/>
            <a:ext cx="5166360" cy="1783080"/>
          </a:xfrm>
          <a:prstGeom prst="roundRect">
            <a:avLst>
              <a:gd name="adj" fmla="val 461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1" name="Shape 8"/>
          <p:cNvSpPr/>
          <p:nvPr/>
        </p:nvSpPr>
        <p:spPr>
          <a:xfrm>
            <a:off x="6382512" y="2496312"/>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12" name="Image 1" descr="/sessions/blissful-zealous-babbage/mnt/outputs/ppt/icons/signal_00B4D8.png"/>
          <p:cNvPicPr>
            <a:picLocks noChangeAspect="1"/>
          </p:cNvPicPr>
          <p:nvPr/>
        </p:nvPicPr>
        <p:blipFill>
          <a:blip r:embed="rId4"/>
          <a:stretch>
            <a:fillRect/>
          </a:stretch>
        </p:blipFill>
        <p:spPr>
          <a:xfrm>
            <a:off x="6459047" y="2572847"/>
            <a:ext cx="413857" cy="413857"/>
          </a:xfrm>
          <a:prstGeom prst="rect">
            <a:avLst/>
          </a:prstGeom>
        </p:spPr>
      </p:pic>
      <p:sp>
        <p:nvSpPr>
          <p:cNvPr id="13" name="Text 9"/>
          <p:cNvSpPr/>
          <p:nvPr/>
        </p:nvSpPr>
        <p:spPr>
          <a:xfrm>
            <a:off x="7132320" y="2514600"/>
            <a:ext cx="393192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Communication links</a:t>
            </a:r>
            <a:endParaRPr lang="en-US" sz="1400" dirty="0"/>
          </a:p>
        </p:txBody>
      </p:sp>
      <p:sp>
        <p:nvSpPr>
          <p:cNvPr id="14" name="Text 10"/>
          <p:cNvSpPr/>
          <p:nvPr/>
        </p:nvSpPr>
        <p:spPr>
          <a:xfrm>
            <a:off x="6400800" y="3154680"/>
            <a:ext cx="4617720" cy="77724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A degraded low-pass filter changes a receiver's bandwidth, raising bit-error rates without any visible failure.</a:t>
            </a:r>
            <a:endParaRPr lang="en-US" sz="1050" dirty="0"/>
          </a:p>
        </p:txBody>
      </p:sp>
      <p:sp>
        <p:nvSpPr>
          <p:cNvPr id="15" name="Shape 11"/>
          <p:cNvSpPr/>
          <p:nvPr/>
        </p:nvSpPr>
        <p:spPr>
          <a:xfrm>
            <a:off x="502920" y="4279392"/>
            <a:ext cx="5166360" cy="1783080"/>
          </a:xfrm>
          <a:prstGeom prst="roundRect">
            <a:avLst>
              <a:gd name="adj" fmla="val 461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6" name="Shape 12"/>
          <p:cNvSpPr/>
          <p:nvPr/>
        </p:nvSpPr>
        <p:spPr>
          <a:xfrm>
            <a:off x="758952" y="4535424"/>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17" name="Image 2" descr="/sessions/blissful-zealous-babbage/mnt/outputs/ppt/icons/cogs_00B4D8.png"/>
          <p:cNvPicPr>
            <a:picLocks noChangeAspect="1"/>
          </p:cNvPicPr>
          <p:nvPr/>
        </p:nvPicPr>
        <p:blipFill>
          <a:blip r:embed="rId5"/>
          <a:stretch>
            <a:fillRect/>
          </a:stretch>
        </p:blipFill>
        <p:spPr>
          <a:xfrm>
            <a:off x="835487" y="4611959"/>
            <a:ext cx="413857" cy="413857"/>
          </a:xfrm>
          <a:prstGeom prst="rect">
            <a:avLst/>
          </a:prstGeom>
        </p:spPr>
      </p:pic>
      <p:sp>
        <p:nvSpPr>
          <p:cNvPr id="18" name="Text 13"/>
          <p:cNvSpPr/>
          <p:nvPr/>
        </p:nvSpPr>
        <p:spPr>
          <a:xfrm>
            <a:off x="1508760" y="4553712"/>
            <a:ext cx="393192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Power electronics</a:t>
            </a:r>
            <a:endParaRPr lang="en-US" sz="1400" dirty="0"/>
          </a:p>
        </p:txBody>
      </p:sp>
      <p:sp>
        <p:nvSpPr>
          <p:cNvPr id="19" name="Text 14"/>
          <p:cNvSpPr/>
          <p:nvPr/>
        </p:nvSpPr>
        <p:spPr>
          <a:xfrm>
            <a:off x="777240" y="5193792"/>
            <a:ext cx="4617720" cy="77724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A drifting or shorted component in a regulator stage can shorten the life of every downstream part it feeds.</a:t>
            </a:r>
            <a:endParaRPr lang="en-US" sz="1050" dirty="0"/>
          </a:p>
        </p:txBody>
      </p:sp>
      <p:sp>
        <p:nvSpPr>
          <p:cNvPr id="20" name="Shape 15"/>
          <p:cNvSpPr/>
          <p:nvPr/>
        </p:nvSpPr>
        <p:spPr>
          <a:xfrm>
            <a:off x="6126480" y="4279392"/>
            <a:ext cx="5166360" cy="1783080"/>
          </a:xfrm>
          <a:prstGeom prst="roundRect">
            <a:avLst>
              <a:gd name="adj" fmla="val 461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1" name="Shape 16"/>
          <p:cNvSpPr/>
          <p:nvPr/>
        </p:nvSpPr>
        <p:spPr>
          <a:xfrm>
            <a:off x="6382512" y="4535424"/>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22" name="Image 3" descr="/sessions/blissful-zealous-babbage/mnt/outputs/ppt/icons/laptop_00B4D8.png"/>
          <p:cNvPicPr>
            <a:picLocks noChangeAspect="1"/>
          </p:cNvPicPr>
          <p:nvPr/>
        </p:nvPicPr>
        <p:blipFill>
          <a:blip r:embed="rId6"/>
          <a:stretch>
            <a:fillRect/>
          </a:stretch>
        </p:blipFill>
        <p:spPr>
          <a:xfrm>
            <a:off x="6459047" y="4611959"/>
            <a:ext cx="413857" cy="413857"/>
          </a:xfrm>
          <a:prstGeom prst="rect">
            <a:avLst/>
          </a:prstGeom>
        </p:spPr>
      </p:pic>
      <p:sp>
        <p:nvSpPr>
          <p:cNvPr id="23" name="Text 17"/>
          <p:cNvSpPr/>
          <p:nvPr/>
        </p:nvSpPr>
        <p:spPr>
          <a:xfrm>
            <a:off x="7132320" y="4553712"/>
            <a:ext cx="393192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Automotive sensors</a:t>
            </a:r>
            <a:endParaRPr lang="en-US" sz="1400" dirty="0"/>
          </a:p>
        </p:txBody>
      </p:sp>
      <p:sp>
        <p:nvSpPr>
          <p:cNvPr id="24" name="Text 18"/>
          <p:cNvSpPr/>
          <p:nvPr/>
        </p:nvSpPr>
        <p:spPr>
          <a:xfrm>
            <a:off x="6400800" y="5193792"/>
            <a:ext cx="4617720" cy="77724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Analog sensor front-ends drift with temperature and age; catching this early prevents cascading failures.</a:t>
            </a:r>
            <a:endParaRPr lang="en-US" sz="105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This Problem Is Genuinely Hard</a:t>
            </a:r>
            <a:endParaRPr lang="en-US" sz="3000" dirty="0"/>
          </a:p>
        </p:txBody>
      </p:sp>
      <p:sp>
        <p:nvSpPr>
          <p:cNvPr id="4" name="Shape 2"/>
          <p:cNvSpPr/>
          <p:nvPr/>
        </p:nvSpPr>
        <p:spPr>
          <a:xfrm>
            <a:off x="502920" y="1783080"/>
            <a:ext cx="566928" cy="566928"/>
          </a:xfrm>
          <a:prstGeom prst="ellipse">
            <a:avLst/>
          </a:prstGeom>
          <a:solidFill>
            <a:srgbClr val="D9695F"/>
          </a:solidFill>
          <a:ln/>
          <a:effectLst>
            <a:outerShdw blurRad="114300" dist="38100" dir="2700000" algn="bl" rotWithShape="0">
              <a:srgbClr val="0B1F3A">
                <a:alpha val="14000"/>
              </a:srgbClr>
            </a:outerShdw>
          </a:effectLst>
        </p:spPr>
      </p:sp>
      <p:pic>
        <p:nvPicPr>
          <p:cNvPr id="5" name="Image 0" descr="/sessions/blissful-zealous-babbage/mnt/outputs/ppt/icons/warn_FFFFFF.png"/>
          <p:cNvPicPr>
            <a:picLocks noChangeAspect="1"/>
          </p:cNvPicPr>
          <p:nvPr/>
        </p:nvPicPr>
        <p:blipFill>
          <a:blip r:embed="rId3"/>
          <a:stretch>
            <a:fillRect/>
          </a:stretch>
        </p:blipFill>
        <p:spPr>
          <a:xfrm>
            <a:off x="579455" y="1859615"/>
            <a:ext cx="413857" cy="413857"/>
          </a:xfrm>
          <a:prstGeom prst="rect">
            <a:avLst/>
          </a:prstGeom>
        </p:spPr>
      </p:pic>
      <p:sp>
        <p:nvSpPr>
          <p:cNvPr id="6" name="Text 3"/>
          <p:cNvSpPr/>
          <p:nvPr/>
        </p:nvSpPr>
        <p:spPr>
          <a:xfrm>
            <a:off x="1280160" y="1755648"/>
            <a:ext cx="978408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Faults are continuous, not binary</a:t>
            </a:r>
            <a:endParaRPr lang="en-US" sz="1450" dirty="0"/>
          </a:p>
        </p:txBody>
      </p:sp>
      <p:sp>
        <p:nvSpPr>
          <p:cNvPr id="7" name="Text 4"/>
          <p:cNvSpPr/>
          <p:nvPr/>
        </p:nvSpPr>
        <p:spPr>
          <a:xfrm>
            <a:off x="1280160" y="2075688"/>
            <a:ext cx="9784080" cy="685800"/>
          </a:xfrm>
          <a:prstGeom prst="rect">
            <a:avLst/>
          </a:prstGeom>
          <a:noFill/>
          <a:ln/>
        </p:spPr>
        <p:txBody>
          <a:bodyPr wrap="square" lIns="0" tIns="0" rIns="0" bIns="0" rtlCol="0" anchor="ctr"/>
          <a:lstStyle/>
          <a:p>
            <a:pPr marL="0" indent="0">
              <a:lnSpc>
                <a:spcPct val="120000"/>
              </a:lnSpc>
              <a:buNone/>
            </a:pPr>
            <a:r>
              <a:rPr lang="en-US" sz="1150" dirty="0">
                <a:solidFill>
                  <a:srgbClr val="64748B"/>
                </a:solidFill>
                <a:latin typeface="Calibri" pitchFamily="34" charset="0"/>
                <a:ea typeface="Calibri" pitchFamily="34" charset="-122"/>
                <a:cs typeface="Calibri" pitchFamily="34" charset="-120"/>
              </a:rPr>
              <a:t>Drift isn't a switch — a resistor slides gradually from healthy to faulty, so “normal” and “drift” can look nearly identical near the boundary.</a:t>
            </a:r>
            <a:endParaRPr lang="en-US" sz="1150" dirty="0"/>
          </a:p>
        </p:txBody>
      </p:sp>
      <p:sp>
        <p:nvSpPr>
          <p:cNvPr id="8" name="Shape 5"/>
          <p:cNvSpPr/>
          <p:nvPr/>
        </p:nvSpPr>
        <p:spPr>
          <a:xfrm>
            <a:off x="502920" y="2834640"/>
            <a:ext cx="566928" cy="566928"/>
          </a:xfrm>
          <a:prstGeom prst="ellipse">
            <a:avLst/>
          </a:prstGeom>
          <a:solidFill>
            <a:srgbClr val="D9695F"/>
          </a:solidFill>
          <a:ln/>
          <a:effectLst>
            <a:outerShdw blurRad="114300" dist="38100" dir="2700000" algn="bl" rotWithShape="0">
              <a:srgbClr val="0B1F3A">
                <a:alpha val="14000"/>
              </a:srgbClr>
            </a:outerShdw>
          </a:effectLst>
        </p:spPr>
      </p:sp>
      <p:pic>
        <p:nvPicPr>
          <p:cNvPr id="9" name="Image 1" descr="/sessions/blissful-zealous-babbage/mnt/outputs/ppt/icons/random_FFFFFF.png"/>
          <p:cNvPicPr>
            <a:picLocks noChangeAspect="1"/>
          </p:cNvPicPr>
          <p:nvPr/>
        </p:nvPicPr>
        <p:blipFill>
          <a:blip r:embed="rId4"/>
          <a:stretch>
            <a:fillRect/>
          </a:stretch>
        </p:blipFill>
        <p:spPr>
          <a:xfrm>
            <a:off x="579455" y="2911175"/>
            <a:ext cx="413857" cy="413857"/>
          </a:xfrm>
          <a:prstGeom prst="rect">
            <a:avLst/>
          </a:prstGeom>
        </p:spPr>
      </p:pic>
      <p:sp>
        <p:nvSpPr>
          <p:cNvPr id="10" name="Text 6"/>
          <p:cNvSpPr/>
          <p:nvPr/>
        </p:nvSpPr>
        <p:spPr>
          <a:xfrm>
            <a:off x="1280160" y="2807208"/>
            <a:ext cx="978408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Signatures overlap across circuits</a:t>
            </a:r>
            <a:endParaRPr lang="en-US" sz="1450" dirty="0"/>
          </a:p>
        </p:txBody>
      </p:sp>
      <p:sp>
        <p:nvSpPr>
          <p:cNvPr id="11" name="Text 7"/>
          <p:cNvSpPr/>
          <p:nvPr/>
        </p:nvSpPr>
        <p:spPr>
          <a:xfrm>
            <a:off x="1280160" y="3127248"/>
            <a:ext cx="9784080" cy="685800"/>
          </a:xfrm>
          <a:prstGeom prst="rect">
            <a:avLst/>
          </a:prstGeom>
          <a:noFill/>
          <a:ln/>
        </p:spPr>
        <p:txBody>
          <a:bodyPr wrap="square" lIns="0" tIns="0" rIns="0" bIns="0" rtlCol="0" anchor="ctr"/>
          <a:lstStyle/>
          <a:p>
            <a:pPr marL="0" indent="0">
              <a:lnSpc>
                <a:spcPct val="120000"/>
              </a:lnSpc>
              <a:buNone/>
            </a:pPr>
            <a:r>
              <a:rPr lang="en-US" sz="1150" dirty="0">
                <a:solidFill>
                  <a:srgbClr val="64748B"/>
                </a:solidFill>
                <a:latin typeface="Calibri" pitchFamily="34" charset="0"/>
                <a:ea typeface="Calibri" pitchFamily="34" charset="-122"/>
                <a:cs typeface="Calibri" pitchFamily="34" charset="-120"/>
              </a:rPr>
              <a:t>An “open” fault looks similar (flat, non-charging output) whether it happens in an RC filter or an RLC network — the model must tell topology and fault apart together.</a:t>
            </a:r>
            <a:endParaRPr lang="en-US" sz="1150" dirty="0"/>
          </a:p>
        </p:txBody>
      </p:sp>
      <p:sp>
        <p:nvSpPr>
          <p:cNvPr id="12" name="Shape 8"/>
          <p:cNvSpPr/>
          <p:nvPr/>
        </p:nvSpPr>
        <p:spPr>
          <a:xfrm>
            <a:off x="502920" y="3886200"/>
            <a:ext cx="566928" cy="566928"/>
          </a:xfrm>
          <a:prstGeom prst="ellipse">
            <a:avLst/>
          </a:prstGeom>
          <a:solidFill>
            <a:srgbClr val="D9695F"/>
          </a:solidFill>
          <a:ln/>
          <a:effectLst>
            <a:outerShdw blurRad="114300" dist="38100" dir="2700000" algn="bl" rotWithShape="0">
              <a:srgbClr val="0B1F3A">
                <a:alpha val="14000"/>
              </a:srgbClr>
            </a:outerShdw>
          </a:effectLst>
        </p:spPr>
      </p:sp>
      <p:pic>
        <p:nvPicPr>
          <p:cNvPr id="13" name="Image 2" descr="/sessions/blissful-zealous-babbage/mnt/outputs/ppt/icons/balance_FFFFFF.png"/>
          <p:cNvPicPr>
            <a:picLocks noChangeAspect="1"/>
          </p:cNvPicPr>
          <p:nvPr/>
        </p:nvPicPr>
        <p:blipFill>
          <a:blip r:embed="rId5"/>
          <a:stretch>
            <a:fillRect/>
          </a:stretch>
        </p:blipFill>
        <p:spPr>
          <a:xfrm>
            <a:off x="579455" y="3962735"/>
            <a:ext cx="413857" cy="413857"/>
          </a:xfrm>
          <a:prstGeom prst="rect">
            <a:avLst/>
          </a:prstGeom>
        </p:spPr>
      </p:pic>
      <p:sp>
        <p:nvSpPr>
          <p:cNvPr id="14" name="Text 9"/>
          <p:cNvSpPr/>
          <p:nvPr/>
        </p:nvSpPr>
        <p:spPr>
          <a:xfrm>
            <a:off x="1280160" y="3858768"/>
            <a:ext cx="978408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20 classes from limited data</a:t>
            </a:r>
            <a:endParaRPr lang="en-US" sz="1450" dirty="0"/>
          </a:p>
        </p:txBody>
      </p:sp>
      <p:sp>
        <p:nvSpPr>
          <p:cNvPr id="15" name="Text 10"/>
          <p:cNvSpPr/>
          <p:nvPr/>
        </p:nvSpPr>
        <p:spPr>
          <a:xfrm>
            <a:off x="1280160" y="4178808"/>
            <a:ext cx="9784080" cy="685800"/>
          </a:xfrm>
          <a:prstGeom prst="rect">
            <a:avLst/>
          </a:prstGeom>
          <a:noFill/>
          <a:ln/>
        </p:spPr>
        <p:txBody>
          <a:bodyPr wrap="square" lIns="0" tIns="0" rIns="0" bIns="0" rtlCol="0" anchor="ctr"/>
          <a:lstStyle/>
          <a:p>
            <a:pPr marL="0" indent="0">
              <a:lnSpc>
                <a:spcPct val="120000"/>
              </a:lnSpc>
              <a:buNone/>
            </a:pPr>
            <a:r>
              <a:rPr lang="en-US" sz="1150" dirty="0">
                <a:solidFill>
                  <a:srgbClr val="64748B"/>
                </a:solidFill>
                <a:latin typeface="Calibri" pitchFamily="34" charset="0"/>
                <a:ea typeface="Calibri" pitchFamily="34" charset="-122"/>
                <a:cs typeface="Calibri" pitchFamily="34" charset="-120"/>
              </a:rPr>
              <a:t>4 circuits × 5 faults = 20 classes to separate from just ~1,019 simulated samples — roughly 50 examples per class.</a:t>
            </a:r>
            <a:endParaRPr lang="en-US" sz="1150" dirty="0"/>
          </a:p>
        </p:txBody>
      </p:sp>
      <p:sp>
        <p:nvSpPr>
          <p:cNvPr id="16" name="Shape 11"/>
          <p:cNvSpPr/>
          <p:nvPr/>
        </p:nvSpPr>
        <p:spPr>
          <a:xfrm>
            <a:off x="502920" y="4937760"/>
            <a:ext cx="566928" cy="566928"/>
          </a:xfrm>
          <a:prstGeom prst="ellipse">
            <a:avLst/>
          </a:prstGeom>
          <a:solidFill>
            <a:srgbClr val="D9695F"/>
          </a:solidFill>
          <a:ln/>
          <a:effectLst>
            <a:outerShdw blurRad="114300" dist="38100" dir="2700000" algn="bl" rotWithShape="0">
              <a:srgbClr val="0B1F3A">
                <a:alpha val="14000"/>
              </a:srgbClr>
            </a:outerShdw>
          </a:effectLst>
        </p:spPr>
      </p:sp>
      <p:pic>
        <p:nvPicPr>
          <p:cNvPr id="17" name="Image 3" descr="/sessions/blissful-zealous-babbage/mnt/outputs/ppt/icons/search_FFFFFF.png"/>
          <p:cNvPicPr>
            <a:picLocks noChangeAspect="1"/>
          </p:cNvPicPr>
          <p:nvPr/>
        </p:nvPicPr>
        <p:blipFill>
          <a:blip r:embed="rId6"/>
          <a:stretch>
            <a:fillRect/>
          </a:stretch>
        </p:blipFill>
        <p:spPr>
          <a:xfrm>
            <a:off x="579455" y="5014295"/>
            <a:ext cx="413857" cy="413857"/>
          </a:xfrm>
          <a:prstGeom prst="rect">
            <a:avLst/>
          </a:prstGeom>
        </p:spPr>
      </p:pic>
      <p:sp>
        <p:nvSpPr>
          <p:cNvPr id="18" name="Text 12"/>
          <p:cNvSpPr/>
          <p:nvPr/>
        </p:nvSpPr>
        <p:spPr>
          <a:xfrm>
            <a:off x="1280160" y="4910328"/>
            <a:ext cx="9784080" cy="32004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Simulation vs. reality gap</a:t>
            </a:r>
            <a:endParaRPr lang="en-US" sz="1450" dirty="0"/>
          </a:p>
        </p:txBody>
      </p:sp>
      <p:sp>
        <p:nvSpPr>
          <p:cNvPr id="19" name="Text 13"/>
          <p:cNvSpPr/>
          <p:nvPr/>
        </p:nvSpPr>
        <p:spPr>
          <a:xfrm>
            <a:off x="1280160" y="5230368"/>
            <a:ext cx="9784080" cy="685800"/>
          </a:xfrm>
          <a:prstGeom prst="rect">
            <a:avLst/>
          </a:prstGeom>
          <a:noFill/>
          <a:ln/>
        </p:spPr>
        <p:txBody>
          <a:bodyPr wrap="square" lIns="0" tIns="0" rIns="0" bIns="0" rtlCol="0" anchor="ctr"/>
          <a:lstStyle/>
          <a:p>
            <a:pPr marL="0" indent="0">
              <a:lnSpc>
                <a:spcPct val="120000"/>
              </a:lnSpc>
              <a:buNone/>
            </a:pPr>
            <a:r>
              <a:rPr lang="en-US" sz="1150" dirty="0">
                <a:solidFill>
                  <a:srgbClr val="64748B"/>
                </a:solidFill>
                <a:latin typeface="Calibri" pitchFamily="34" charset="0"/>
                <a:ea typeface="Calibri" pitchFamily="34" charset="-122"/>
                <a:cs typeface="Calibri" pitchFamily="34" charset="-120"/>
              </a:rPr>
              <a:t>LTspice gives clean, repeatable waveforms; real hardware adds temperature drift, tolerances and parasitic effects simulation can't fully capture.</a:t>
            </a:r>
            <a:endParaRPr lang="en-US" sz="115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Where This Fits in the Literature</a:t>
            </a:r>
            <a:endParaRPr lang="en-US" sz="3000" dirty="0"/>
          </a:p>
        </p:txBody>
      </p:sp>
      <p:sp>
        <p:nvSpPr>
          <p:cNvPr id="4" name="Text 2"/>
          <p:cNvSpPr/>
          <p:nvPr/>
        </p:nvSpPr>
        <p:spPr>
          <a:xfrm>
            <a:off x="502920" y="1691640"/>
            <a:ext cx="10607040" cy="502920"/>
          </a:xfrm>
          <a:prstGeom prst="rect">
            <a:avLst/>
          </a:prstGeom>
          <a:noFill/>
          <a:ln/>
        </p:spPr>
        <p:txBody>
          <a:bodyPr wrap="square" lIns="0" tIns="0" rIns="0" bIns="0" rtlCol="0" anchor="ctr"/>
          <a:lstStyle/>
          <a:p>
            <a:pPr marL="0" indent="0">
              <a:lnSpc>
                <a:spcPct val="125000"/>
              </a:lnSpc>
              <a:buNone/>
            </a:pPr>
            <a:r>
              <a:rPr lang="en-US" sz="1250" i="1" dirty="0">
                <a:solidFill>
                  <a:srgbClr val="64748B"/>
                </a:solidFill>
                <a:latin typeface="Calibri" pitchFamily="34" charset="0"/>
                <a:ea typeface="Calibri" pitchFamily="34" charset="-122"/>
                <a:cs typeface="Calibri" pitchFamily="34" charset="-120"/>
              </a:rPr>
              <a:t>Analog fault diagnosis has a real research history — this project sits inside an established, active line of work rather than starting from a blank page.</a:t>
            </a:r>
            <a:endParaRPr lang="en-US" sz="1250" dirty="0"/>
          </a:p>
        </p:txBody>
      </p:sp>
      <p:sp>
        <p:nvSpPr>
          <p:cNvPr id="5" name="Shape 3"/>
          <p:cNvSpPr/>
          <p:nvPr/>
        </p:nvSpPr>
        <p:spPr>
          <a:xfrm>
            <a:off x="502920" y="233172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database_00B4D8.png"/>
          <p:cNvPicPr>
            <a:picLocks noChangeAspect="1"/>
          </p:cNvPicPr>
          <p:nvPr/>
        </p:nvPicPr>
        <p:blipFill>
          <a:blip r:embed="rId3"/>
          <a:stretch>
            <a:fillRect/>
          </a:stretch>
        </p:blipFill>
        <p:spPr>
          <a:xfrm>
            <a:off x="576986" y="2405786"/>
            <a:ext cx="400507" cy="400507"/>
          </a:xfrm>
          <a:prstGeom prst="rect">
            <a:avLst/>
          </a:prstGeom>
        </p:spPr>
      </p:pic>
      <p:sp>
        <p:nvSpPr>
          <p:cNvPr id="7" name="Text 4"/>
          <p:cNvSpPr/>
          <p:nvPr/>
        </p:nvSpPr>
        <p:spPr>
          <a:xfrm>
            <a:off x="1234440" y="2304288"/>
            <a:ext cx="9784080" cy="34747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Classical: fault dictionaries &amp; sensitivity analysis</a:t>
            </a:r>
            <a:endParaRPr lang="en-US" sz="1300" dirty="0"/>
          </a:p>
        </p:txBody>
      </p:sp>
      <p:sp>
        <p:nvSpPr>
          <p:cNvPr id="8" name="Text 5"/>
          <p:cNvSpPr/>
          <p:nvPr/>
        </p:nvSpPr>
        <p:spPr>
          <a:xfrm>
            <a:off x="1234440" y="2651760"/>
            <a:ext cx="9784080" cy="777240"/>
          </a:xfrm>
          <a:prstGeom prst="rect">
            <a:avLst/>
          </a:prstGeom>
          <a:noFill/>
          <a:ln/>
        </p:spPr>
        <p:txBody>
          <a:bodyPr wrap="square" lIns="0" tIns="0" rIns="0" bIns="0" rtlCol="0" anchor="ctr"/>
          <a:lstStyle/>
          <a:p>
            <a:pPr marL="0" indent="0">
              <a:lnSpc>
                <a:spcPct val="120000"/>
              </a:lnSpc>
              <a:buNone/>
            </a:pPr>
            <a:r>
              <a:rPr lang="en-US" sz="1080" dirty="0">
                <a:solidFill>
                  <a:srgbClr val="64748B"/>
                </a:solidFill>
                <a:latin typeface="Calibri" pitchFamily="34" charset="0"/>
                <a:ea typeface="Calibri" pitchFamily="34" charset="-122"/>
                <a:cs typeface="Calibri" pitchFamily="34" charset="-120"/>
              </a:rPr>
              <a:t>Simulate the circuit under every hypothesized fault ahead of time, build a "dictionary" of expected responses, then match a real measurement against it. Accurate for the exact circuit modeled, but must be rebuilt from scratch for every new topology.</a:t>
            </a:r>
            <a:endParaRPr lang="en-US" sz="1080" dirty="0"/>
          </a:p>
        </p:txBody>
      </p:sp>
      <p:sp>
        <p:nvSpPr>
          <p:cNvPr id="9" name="Shape 6"/>
          <p:cNvSpPr/>
          <p:nvPr/>
        </p:nvSpPr>
        <p:spPr>
          <a:xfrm>
            <a:off x="502920" y="3502152"/>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0" name="Image 1" descr="/sessions/blissful-zealous-babbage/mnt/outputs/ppt/icons/balance_00B4D8.png"/>
          <p:cNvPicPr>
            <a:picLocks noChangeAspect="1"/>
          </p:cNvPicPr>
          <p:nvPr/>
        </p:nvPicPr>
        <p:blipFill>
          <a:blip r:embed="rId4"/>
          <a:stretch>
            <a:fillRect/>
          </a:stretch>
        </p:blipFill>
        <p:spPr>
          <a:xfrm>
            <a:off x="576986" y="3576218"/>
            <a:ext cx="400507" cy="400507"/>
          </a:xfrm>
          <a:prstGeom prst="rect">
            <a:avLst/>
          </a:prstGeom>
        </p:spPr>
      </p:pic>
      <p:sp>
        <p:nvSpPr>
          <p:cNvPr id="11" name="Text 7"/>
          <p:cNvSpPr/>
          <p:nvPr/>
        </p:nvSpPr>
        <p:spPr>
          <a:xfrm>
            <a:off x="1234440" y="3474720"/>
            <a:ext cx="9784080" cy="34747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 standard split this project mirrors: soft vs. hard faults</a:t>
            </a:r>
            <a:endParaRPr lang="en-US" sz="1300" dirty="0"/>
          </a:p>
        </p:txBody>
      </p:sp>
      <p:sp>
        <p:nvSpPr>
          <p:cNvPr id="12" name="Text 8"/>
          <p:cNvSpPr/>
          <p:nvPr/>
        </p:nvSpPr>
        <p:spPr>
          <a:xfrm>
            <a:off x="1234440" y="3822192"/>
            <a:ext cx="9784080" cy="777240"/>
          </a:xfrm>
          <a:prstGeom prst="rect">
            <a:avLst/>
          </a:prstGeom>
          <a:noFill/>
          <a:ln/>
        </p:spPr>
        <p:txBody>
          <a:bodyPr wrap="square" lIns="0" tIns="0" rIns="0" bIns="0" rtlCol="0" anchor="ctr"/>
          <a:lstStyle/>
          <a:p>
            <a:pPr marL="0" indent="0">
              <a:lnSpc>
                <a:spcPct val="120000"/>
              </a:lnSpc>
              <a:buNone/>
            </a:pPr>
            <a:r>
              <a:rPr lang="en-US" sz="1080" dirty="0">
                <a:solidFill>
                  <a:srgbClr val="64748B"/>
                </a:solidFill>
                <a:latin typeface="Calibri" pitchFamily="34" charset="0"/>
                <a:ea typeface="Calibri" pitchFamily="34" charset="-122"/>
                <a:cs typeface="Calibri" pitchFamily="34" charset="-120"/>
              </a:rPr>
              <a:t>The literature separates gradual, within/beyond-tolerance parameter drift ("soft faults") from catastrophic opens and shorts ("hard faults"). This project's five categories — Normal, Drift, Open, Short, Noise — map directly onto that same split.</a:t>
            </a:r>
            <a:endParaRPr lang="en-US" sz="1080" dirty="0"/>
          </a:p>
        </p:txBody>
      </p:sp>
      <p:sp>
        <p:nvSpPr>
          <p:cNvPr id="13" name="Shape 9"/>
          <p:cNvSpPr/>
          <p:nvPr/>
        </p:nvSpPr>
        <p:spPr>
          <a:xfrm>
            <a:off x="502920" y="4672584"/>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4" name="Image 2" descr="/sessions/blissful-zealous-babbage/mnt/outputs/ppt/icons/brain_00B4D8.png"/>
          <p:cNvPicPr>
            <a:picLocks noChangeAspect="1"/>
          </p:cNvPicPr>
          <p:nvPr/>
        </p:nvPicPr>
        <p:blipFill>
          <a:blip r:embed="rId5"/>
          <a:stretch>
            <a:fillRect/>
          </a:stretch>
        </p:blipFill>
        <p:spPr>
          <a:xfrm>
            <a:off x="576986" y="4746650"/>
            <a:ext cx="400507" cy="400507"/>
          </a:xfrm>
          <a:prstGeom prst="rect">
            <a:avLst/>
          </a:prstGeom>
        </p:spPr>
      </p:pic>
      <p:sp>
        <p:nvSpPr>
          <p:cNvPr id="15" name="Text 10"/>
          <p:cNvSpPr/>
          <p:nvPr/>
        </p:nvSpPr>
        <p:spPr>
          <a:xfrm>
            <a:off x="1234440" y="4645152"/>
            <a:ext cx="9784080" cy="347472"/>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Machine-learning classifiers are now the mainstream approach</a:t>
            </a:r>
            <a:endParaRPr lang="en-US" sz="1300" dirty="0"/>
          </a:p>
        </p:txBody>
      </p:sp>
      <p:sp>
        <p:nvSpPr>
          <p:cNvPr id="16" name="Text 11"/>
          <p:cNvSpPr/>
          <p:nvPr/>
        </p:nvSpPr>
        <p:spPr>
          <a:xfrm>
            <a:off x="1234440" y="4992624"/>
            <a:ext cx="9784080" cy="777240"/>
          </a:xfrm>
          <a:prstGeom prst="rect">
            <a:avLst/>
          </a:prstGeom>
          <a:noFill/>
          <a:ln/>
        </p:spPr>
        <p:txBody>
          <a:bodyPr wrap="square" lIns="0" tIns="0" rIns="0" bIns="0" rtlCol="0" anchor="ctr"/>
          <a:lstStyle/>
          <a:p>
            <a:pPr marL="0" indent="0">
              <a:lnSpc>
                <a:spcPct val="120000"/>
              </a:lnSpc>
              <a:buNone/>
            </a:pPr>
            <a:r>
              <a:rPr lang="en-US" sz="1080" dirty="0">
                <a:solidFill>
                  <a:srgbClr val="64748B"/>
                </a:solidFill>
                <a:latin typeface="Calibri" pitchFamily="34" charset="0"/>
                <a:ea typeface="Calibri" pitchFamily="34" charset="-122"/>
                <a:cs typeface="Calibri" pitchFamily="34" charset="-120"/>
              </a:rPr>
              <a:t>Recent published work applies SVMs, k-NN, ensemble methods and CNNs to extracted or raw-waveform features for analog soft-fault diagnosis, with SVM-based studies frequently reporting 95%+ accuracy — but almost always on a single circuit at a time.</a:t>
            </a:r>
            <a:endParaRPr lang="en-US" sz="1080" dirty="0"/>
          </a:p>
        </p:txBody>
      </p:sp>
      <p:sp>
        <p:nvSpPr>
          <p:cNvPr id="17" name="Shape 12"/>
          <p:cNvSpPr/>
          <p:nvPr/>
        </p:nvSpPr>
        <p:spPr>
          <a:xfrm>
            <a:off x="502920" y="5870448"/>
            <a:ext cx="10607040" cy="548640"/>
          </a:xfrm>
          <a:prstGeom prst="roundRect">
            <a:avLst>
              <a:gd name="adj" fmla="val 13333"/>
            </a:avLst>
          </a:prstGeom>
          <a:solidFill>
            <a:srgbClr val="0B1F3A"/>
          </a:solidFill>
          <a:ln/>
          <a:effectLst>
            <a:outerShdw blurRad="114300" dist="38100" dir="2700000" algn="bl" rotWithShape="0">
              <a:srgbClr val="0B1F3A">
                <a:alpha val="14000"/>
              </a:srgbClr>
            </a:outerShdw>
          </a:effectLst>
        </p:spPr>
      </p:sp>
      <p:sp>
        <p:nvSpPr>
          <p:cNvPr id="18" name="Text 13"/>
          <p:cNvSpPr/>
          <p:nvPr/>
        </p:nvSpPr>
        <p:spPr>
          <a:xfrm>
            <a:off x="758952" y="5870448"/>
            <a:ext cx="10104120" cy="548640"/>
          </a:xfrm>
          <a:prstGeom prst="rect">
            <a:avLst/>
          </a:prstGeom>
          <a:noFill/>
          <a:ln/>
        </p:spPr>
        <p:txBody>
          <a:bodyPr wrap="square" lIns="0" tIns="0" rIns="0" bIns="0" rtlCol="0" anchor="ctr"/>
          <a:lstStyle/>
          <a:p>
            <a:pPr marL="0" indent="0">
              <a:lnSpc>
                <a:spcPct val="112000"/>
              </a:lnSpc>
              <a:buNone/>
            </a:pPr>
            <a:r>
              <a:rPr lang="en-US" sz="930" b="1" dirty="0">
                <a:solidFill>
                  <a:srgbClr val="FFB703"/>
                </a:solidFill>
                <a:latin typeface="Calibri" pitchFamily="34" charset="0"/>
                <a:ea typeface="Calibri" pitchFamily="34" charset="-122"/>
                <a:cs typeface="Calibri" pitchFamily="34" charset="-120"/>
              </a:rPr>
              <a:t>What differs here: </a:t>
            </a:r>
            <a:r>
              <a:rPr lang="en-US" sz="930" dirty="0">
                <a:solidFill>
                  <a:srgbClr val="E7ECF4"/>
                </a:solidFill>
                <a:latin typeface="Calibri" pitchFamily="34" charset="0"/>
                <a:ea typeface="Calibri" pitchFamily="34" charset="-122"/>
                <a:cs typeface="Calibri" pitchFamily="34" charset="-120"/>
              </a:rPr>
              <a:t>most studies tune a classifier for one circuit. This project trains one SVM across four topologies at once, uses only physics-based (non-augmented) data, and adds a topology-aware correction step — part of why 78.43% sits below single-circuit literature numbers, on a harder, multi-topology problem.</a:t>
            </a:r>
            <a:endParaRPr lang="en-US" sz="93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PROBLEM STATEMENT &amp; OBJECTIVE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One Waveform In. One Diagnosis Out.</a:t>
            </a:r>
            <a:endParaRPr lang="en-US" sz="3000" dirty="0"/>
          </a:p>
        </p:txBody>
      </p:sp>
      <p:sp>
        <p:nvSpPr>
          <p:cNvPr id="4" name="Text 2"/>
          <p:cNvSpPr/>
          <p:nvPr/>
        </p:nvSpPr>
        <p:spPr>
          <a:xfrm>
            <a:off x="502920" y="1691640"/>
            <a:ext cx="10607040" cy="822960"/>
          </a:xfrm>
          <a:prstGeom prst="rect">
            <a:avLst/>
          </a:prstGeom>
          <a:noFill/>
          <a:ln/>
        </p:spPr>
        <p:txBody>
          <a:bodyPr wrap="square" lIns="0" tIns="0" rIns="0" bIns="0" rtlCol="0" anchor="ctr"/>
          <a:lstStyle/>
          <a:p>
            <a:pPr marL="0" indent="0">
              <a:lnSpc>
                <a:spcPct val="125000"/>
              </a:lnSpc>
              <a:buNone/>
            </a:pPr>
            <a:r>
              <a:rPr lang="en-US" sz="1400" dirty="0">
                <a:solidFill>
                  <a:srgbClr val="1E293B"/>
                </a:solidFill>
                <a:latin typeface="Calibri" pitchFamily="34" charset="0"/>
                <a:ea typeface="Calibri" pitchFamily="34" charset="-122"/>
                <a:cs typeface="Calibri" pitchFamily="34" charset="-120"/>
              </a:rPr>
              <a:t>Given the transient output voltage of an unknown analog circuit, automatically identify </a:t>
            </a:r>
            <a:r>
              <a:rPr lang="en-US" sz="1400" b="1" dirty="0">
                <a:solidFill>
                  <a:srgbClr val="0B1F3A"/>
                </a:solidFill>
                <a:latin typeface="Calibri" pitchFamily="34" charset="0"/>
                <a:ea typeface="Calibri" pitchFamily="34" charset="-122"/>
                <a:cs typeface="Calibri" pitchFamily="34" charset="-120"/>
              </a:rPr>
              <a:t>which circuit topology</a:t>
            </a:r>
            <a:r>
              <a:rPr lang="en-US" sz="1400" dirty="0">
                <a:solidFill>
                  <a:srgbClr val="1E293B"/>
                </a:solidFill>
                <a:latin typeface="Calibri" pitchFamily="34" charset="0"/>
                <a:ea typeface="Calibri" pitchFamily="34" charset="-122"/>
                <a:cs typeface="Calibri" pitchFamily="34" charset="-120"/>
              </a:rPr>
              <a:t> it is and </a:t>
            </a:r>
            <a:r>
              <a:rPr lang="en-US" sz="1400" b="1" dirty="0">
                <a:solidFill>
                  <a:srgbClr val="0B1F3A"/>
                </a:solidFill>
                <a:latin typeface="Calibri" pitchFamily="34" charset="0"/>
                <a:ea typeface="Calibri" pitchFamily="34" charset="-122"/>
                <a:cs typeface="Calibri" pitchFamily="34" charset="-120"/>
              </a:rPr>
              <a:t>which of five fault conditions</a:t>
            </a:r>
            <a:r>
              <a:rPr lang="en-US" sz="1400" dirty="0">
                <a:solidFill>
                  <a:srgbClr val="1E293B"/>
                </a:solidFill>
                <a:latin typeface="Calibri" pitchFamily="34" charset="0"/>
                <a:ea typeface="Calibri" pitchFamily="34" charset="-122"/>
                <a:cs typeface="Calibri" pitchFamily="34" charset="-120"/>
              </a:rPr>
              <a:t> it is currently experiencing — a 20-class classification problem solved end-to-end with physics-based simulation and a tuned SVM.</a:t>
            </a:r>
            <a:endParaRPr lang="en-US" sz="1400" dirty="0"/>
          </a:p>
        </p:txBody>
      </p:sp>
      <p:sp>
        <p:nvSpPr>
          <p:cNvPr id="5" name="Shape 3"/>
          <p:cNvSpPr/>
          <p:nvPr/>
        </p:nvSpPr>
        <p:spPr>
          <a:xfrm>
            <a:off x="502920" y="2697480"/>
            <a:ext cx="2542032" cy="1737360"/>
          </a:xfrm>
          <a:prstGeom prst="roundRect">
            <a:avLst>
              <a:gd name="adj" fmla="val 4737"/>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502920" y="2843784"/>
            <a:ext cx="2542032" cy="731520"/>
          </a:xfrm>
          <a:prstGeom prst="rect">
            <a:avLst/>
          </a:prstGeom>
          <a:noFill/>
          <a:ln/>
        </p:spPr>
        <p:txBody>
          <a:bodyPr wrap="square" lIns="0" tIns="0" rIns="0" bIns="0" rtlCol="0" anchor="ctr"/>
          <a:lstStyle/>
          <a:p>
            <a:pPr marL="0" indent="0" algn="ctr">
              <a:buNone/>
            </a:pPr>
            <a:r>
              <a:rPr lang="en-US" sz="3600" b="1" dirty="0">
                <a:solidFill>
                  <a:srgbClr val="FFB703"/>
                </a:solidFill>
                <a:latin typeface="Cambria" pitchFamily="34" charset="0"/>
                <a:ea typeface="Cambria" pitchFamily="34" charset="-122"/>
                <a:cs typeface="Cambria" pitchFamily="34" charset="-120"/>
              </a:rPr>
              <a:t>4</a:t>
            </a:r>
            <a:endParaRPr lang="en-US" sz="3600" dirty="0"/>
          </a:p>
        </p:txBody>
      </p:sp>
      <p:sp>
        <p:nvSpPr>
          <p:cNvPr id="7" name="Text 5"/>
          <p:cNvSpPr/>
          <p:nvPr/>
        </p:nvSpPr>
        <p:spPr>
          <a:xfrm>
            <a:off x="640080" y="3611880"/>
            <a:ext cx="2267712"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Circuit Topologies</a:t>
            </a:r>
            <a:endParaRPr lang="en-US" sz="1250" dirty="0"/>
          </a:p>
        </p:txBody>
      </p:sp>
      <p:sp>
        <p:nvSpPr>
          <p:cNvPr id="8" name="Text 6"/>
          <p:cNvSpPr/>
          <p:nvPr/>
        </p:nvSpPr>
        <p:spPr>
          <a:xfrm>
            <a:off x="640080" y="3959352"/>
            <a:ext cx="2267712" cy="411480"/>
          </a:xfrm>
          <a:prstGeom prst="rect">
            <a:avLst/>
          </a:prstGeom>
          <a:noFill/>
          <a:ln/>
        </p:spPr>
        <p:txBody>
          <a:bodyPr wrap="square" lIns="0" tIns="0" rIns="0" bIns="0" rtlCol="0" anchor="ctr"/>
          <a:lstStyle/>
          <a:p>
            <a:pPr marL="0" indent="0" algn="ctr">
              <a:lnSpc>
                <a:spcPct val="110000"/>
              </a:lnSpc>
              <a:buNone/>
            </a:pPr>
            <a:r>
              <a:rPr lang="en-US" sz="900" dirty="0">
                <a:solidFill>
                  <a:srgbClr val="9FB1C8"/>
                </a:solidFill>
                <a:latin typeface="Calibri" pitchFamily="34" charset="0"/>
                <a:ea typeface="Calibri" pitchFamily="34" charset="-122"/>
                <a:cs typeface="Calibri" pitchFamily="34" charset="-120"/>
              </a:rPr>
              <a:t>RC · RLC · Sallen-Key · RC Ladder</a:t>
            </a:r>
            <a:endParaRPr lang="en-US" sz="900" dirty="0"/>
          </a:p>
        </p:txBody>
      </p:sp>
      <p:sp>
        <p:nvSpPr>
          <p:cNvPr id="9" name="Shape 7"/>
          <p:cNvSpPr/>
          <p:nvPr/>
        </p:nvSpPr>
        <p:spPr>
          <a:xfrm>
            <a:off x="3300984" y="2697480"/>
            <a:ext cx="2542032" cy="1737360"/>
          </a:xfrm>
          <a:prstGeom prst="roundRect">
            <a:avLst>
              <a:gd name="adj" fmla="val 4737"/>
            </a:avLst>
          </a:prstGeom>
          <a:solidFill>
            <a:srgbClr val="0B1F3A"/>
          </a:solidFill>
          <a:ln/>
          <a:effectLst>
            <a:outerShdw blurRad="114300" dist="38100" dir="2700000" algn="bl" rotWithShape="0">
              <a:srgbClr val="0B1F3A">
                <a:alpha val="14000"/>
              </a:srgbClr>
            </a:outerShdw>
          </a:effectLst>
        </p:spPr>
      </p:sp>
      <p:sp>
        <p:nvSpPr>
          <p:cNvPr id="10" name="Text 8"/>
          <p:cNvSpPr/>
          <p:nvPr/>
        </p:nvSpPr>
        <p:spPr>
          <a:xfrm>
            <a:off x="3300984" y="2843784"/>
            <a:ext cx="2542032" cy="731520"/>
          </a:xfrm>
          <a:prstGeom prst="rect">
            <a:avLst/>
          </a:prstGeom>
          <a:noFill/>
          <a:ln/>
        </p:spPr>
        <p:txBody>
          <a:bodyPr wrap="square" lIns="0" tIns="0" rIns="0" bIns="0" rtlCol="0" anchor="ctr"/>
          <a:lstStyle/>
          <a:p>
            <a:pPr marL="0" indent="0" algn="ctr">
              <a:buNone/>
            </a:pPr>
            <a:r>
              <a:rPr lang="en-US" sz="3600" b="1" dirty="0">
                <a:solidFill>
                  <a:srgbClr val="FFB703"/>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3438144" y="3611880"/>
            <a:ext cx="2267712"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Fault Types</a:t>
            </a:r>
            <a:endParaRPr lang="en-US" sz="1250" dirty="0"/>
          </a:p>
        </p:txBody>
      </p:sp>
      <p:sp>
        <p:nvSpPr>
          <p:cNvPr id="12" name="Text 10"/>
          <p:cNvSpPr/>
          <p:nvPr/>
        </p:nvSpPr>
        <p:spPr>
          <a:xfrm>
            <a:off x="3438144" y="3959352"/>
            <a:ext cx="2267712" cy="411480"/>
          </a:xfrm>
          <a:prstGeom prst="rect">
            <a:avLst/>
          </a:prstGeom>
          <a:noFill/>
          <a:ln/>
        </p:spPr>
        <p:txBody>
          <a:bodyPr wrap="square" lIns="0" tIns="0" rIns="0" bIns="0" rtlCol="0" anchor="ctr"/>
          <a:lstStyle/>
          <a:p>
            <a:pPr marL="0" indent="0" algn="ctr">
              <a:lnSpc>
                <a:spcPct val="110000"/>
              </a:lnSpc>
              <a:buNone/>
            </a:pPr>
            <a:r>
              <a:rPr lang="en-US" sz="900" dirty="0">
                <a:solidFill>
                  <a:srgbClr val="9FB1C8"/>
                </a:solidFill>
                <a:latin typeface="Calibri" pitchFamily="34" charset="0"/>
                <a:ea typeface="Calibri" pitchFamily="34" charset="-122"/>
                <a:cs typeface="Calibri" pitchFamily="34" charset="-120"/>
              </a:rPr>
              <a:t>Normal, Drift, Open, Short, Noise</a:t>
            </a:r>
            <a:endParaRPr lang="en-US" sz="900" dirty="0"/>
          </a:p>
        </p:txBody>
      </p:sp>
      <p:sp>
        <p:nvSpPr>
          <p:cNvPr id="13" name="Shape 11"/>
          <p:cNvSpPr/>
          <p:nvPr/>
        </p:nvSpPr>
        <p:spPr>
          <a:xfrm>
            <a:off x="6099048" y="2697480"/>
            <a:ext cx="2542032" cy="1737360"/>
          </a:xfrm>
          <a:prstGeom prst="roundRect">
            <a:avLst>
              <a:gd name="adj" fmla="val 4737"/>
            </a:avLst>
          </a:prstGeom>
          <a:solidFill>
            <a:srgbClr val="0B1F3A"/>
          </a:solidFill>
          <a:ln/>
          <a:effectLst>
            <a:outerShdw blurRad="114300" dist="38100" dir="2700000" algn="bl" rotWithShape="0">
              <a:srgbClr val="0B1F3A">
                <a:alpha val="14000"/>
              </a:srgbClr>
            </a:outerShdw>
          </a:effectLst>
        </p:spPr>
      </p:sp>
      <p:sp>
        <p:nvSpPr>
          <p:cNvPr id="14" name="Text 12"/>
          <p:cNvSpPr/>
          <p:nvPr/>
        </p:nvSpPr>
        <p:spPr>
          <a:xfrm>
            <a:off x="6099048" y="2843784"/>
            <a:ext cx="2542032" cy="731520"/>
          </a:xfrm>
          <a:prstGeom prst="rect">
            <a:avLst/>
          </a:prstGeom>
          <a:noFill/>
          <a:ln/>
        </p:spPr>
        <p:txBody>
          <a:bodyPr wrap="square" lIns="0" tIns="0" rIns="0" bIns="0" rtlCol="0" anchor="ctr"/>
          <a:lstStyle/>
          <a:p>
            <a:pPr marL="0" indent="0" algn="ctr">
              <a:buNone/>
            </a:pPr>
            <a:r>
              <a:rPr lang="en-US" sz="3600" b="1" dirty="0">
                <a:solidFill>
                  <a:srgbClr val="FFB703"/>
                </a:solidFill>
                <a:latin typeface="Cambria" pitchFamily="34" charset="0"/>
                <a:ea typeface="Cambria" pitchFamily="34" charset="-122"/>
                <a:cs typeface="Cambria" pitchFamily="34" charset="-120"/>
              </a:rPr>
              <a:t>20</a:t>
            </a:r>
            <a:endParaRPr lang="en-US" sz="3600" dirty="0"/>
          </a:p>
        </p:txBody>
      </p:sp>
      <p:sp>
        <p:nvSpPr>
          <p:cNvPr id="15" name="Text 13"/>
          <p:cNvSpPr/>
          <p:nvPr/>
        </p:nvSpPr>
        <p:spPr>
          <a:xfrm>
            <a:off x="6236208" y="3611880"/>
            <a:ext cx="2267712"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Total Classes</a:t>
            </a:r>
            <a:endParaRPr lang="en-US" sz="1250" dirty="0"/>
          </a:p>
        </p:txBody>
      </p:sp>
      <p:sp>
        <p:nvSpPr>
          <p:cNvPr id="16" name="Text 14"/>
          <p:cNvSpPr/>
          <p:nvPr/>
        </p:nvSpPr>
        <p:spPr>
          <a:xfrm>
            <a:off x="6236208" y="3959352"/>
            <a:ext cx="2267712" cy="411480"/>
          </a:xfrm>
          <a:prstGeom prst="rect">
            <a:avLst/>
          </a:prstGeom>
          <a:noFill/>
          <a:ln/>
        </p:spPr>
        <p:txBody>
          <a:bodyPr wrap="square" lIns="0" tIns="0" rIns="0" bIns="0" rtlCol="0" anchor="ctr"/>
          <a:lstStyle/>
          <a:p>
            <a:pPr marL="0" indent="0" algn="ctr">
              <a:lnSpc>
                <a:spcPct val="110000"/>
              </a:lnSpc>
              <a:buNone/>
            </a:pPr>
            <a:r>
              <a:rPr lang="en-US" sz="900" dirty="0">
                <a:solidFill>
                  <a:srgbClr val="9FB1C8"/>
                </a:solidFill>
                <a:latin typeface="Calibri" pitchFamily="34" charset="0"/>
                <a:ea typeface="Calibri" pitchFamily="34" charset="-122"/>
                <a:cs typeface="Calibri" pitchFamily="34" charset="-120"/>
              </a:rPr>
              <a:t>4 circuits × 5 fault conditions</a:t>
            </a:r>
            <a:endParaRPr lang="en-US" sz="900" dirty="0"/>
          </a:p>
        </p:txBody>
      </p:sp>
      <p:sp>
        <p:nvSpPr>
          <p:cNvPr id="17" name="Shape 15"/>
          <p:cNvSpPr/>
          <p:nvPr/>
        </p:nvSpPr>
        <p:spPr>
          <a:xfrm>
            <a:off x="8897112" y="2697480"/>
            <a:ext cx="2542032" cy="1737360"/>
          </a:xfrm>
          <a:prstGeom prst="roundRect">
            <a:avLst>
              <a:gd name="adj" fmla="val 4737"/>
            </a:avLst>
          </a:prstGeom>
          <a:solidFill>
            <a:srgbClr val="0B1F3A"/>
          </a:solidFill>
          <a:ln/>
          <a:effectLst>
            <a:outerShdw blurRad="114300" dist="38100" dir="2700000" algn="bl" rotWithShape="0">
              <a:srgbClr val="0B1F3A">
                <a:alpha val="14000"/>
              </a:srgbClr>
            </a:outerShdw>
          </a:effectLst>
        </p:spPr>
      </p:sp>
      <p:sp>
        <p:nvSpPr>
          <p:cNvPr id="18" name="Text 16"/>
          <p:cNvSpPr/>
          <p:nvPr/>
        </p:nvSpPr>
        <p:spPr>
          <a:xfrm>
            <a:off x="8897112" y="2843784"/>
            <a:ext cx="2542032" cy="731520"/>
          </a:xfrm>
          <a:prstGeom prst="rect">
            <a:avLst/>
          </a:prstGeom>
          <a:noFill/>
          <a:ln/>
        </p:spPr>
        <p:txBody>
          <a:bodyPr wrap="square" lIns="0" tIns="0" rIns="0" bIns="0" rtlCol="0" anchor="ctr"/>
          <a:lstStyle/>
          <a:p>
            <a:pPr marL="0" indent="0" algn="ctr">
              <a:buNone/>
            </a:pPr>
            <a:r>
              <a:rPr lang="en-US" sz="3600" b="1" dirty="0">
                <a:solidFill>
                  <a:srgbClr val="FFB703"/>
                </a:solidFill>
                <a:latin typeface="Cambria" pitchFamily="34" charset="0"/>
                <a:ea typeface="Cambria" pitchFamily="34" charset="-122"/>
                <a:cs typeface="Cambria" pitchFamily="34" charset="-120"/>
              </a:rPr>
              <a:t>1019</a:t>
            </a:r>
            <a:endParaRPr lang="en-US" sz="3600" dirty="0"/>
          </a:p>
        </p:txBody>
      </p:sp>
      <p:sp>
        <p:nvSpPr>
          <p:cNvPr id="19" name="Text 17"/>
          <p:cNvSpPr/>
          <p:nvPr/>
        </p:nvSpPr>
        <p:spPr>
          <a:xfrm>
            <a:off x="9034272" y="3611880"/>
            <a:ext cx="2267712"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Real Samples</a:t>
            </a:r>
            <a:endParaRPr lang="en-US" sz="1250" dirty="0"/>
          </a:p>
        </p:txBody>
      </p:sp>
      <p:sp>
        <p:nvSpPr>
          <p:cNvPr id="20" name="Text 18"/>
          <p:cNvSpPr/>
          <p:nvPr/>
        </p:nvSpPr>
        <p:spPr>
          <a:xfrm>
            <a:off x="9034272" y="3959352"/>
            <a:ext cx="2267712" cy="411480"/>
          </a:xfrm>
          <a:prstGeom prst="rect">
            <a:avLst/>
          </a:prstGeom>
          <a:noFill/>
          <a:ln/>
        </p:spPr>
        <p:txBody>
          <a:bodyPr wrap="square" lIns="0" tIns="0" rIns="0" bIns="0" rtlCol="0" anchor="ctr"/>
          <a:lstStyle/>
          <a:p>
            <a:pPr marL="0" indent="0" algn="ctr">
              <a:lnSpc>
                <a:spcPct val="110000"/>
              </a:lnSpc>
              <a:buNone/>
            </a:pPr>
            <a:r>
              <a:rPr lang="en-US" sz="900" dirty="0">
                <a:solidFill>
                  <a:srgbClr val="9FB1C8"/>
                </a:solidFill>
                <a:latin typeface="Calibri" pitchFamily="34" charset="0"/>
                <a:ea typeface="Calibri" pitchFamily="34" charset="-122"/>
                <a:cs typeface="Calibri" pitchFamily="34" charset="-120"/>
              </a:rPr>
              <a:t>From physics-based LTspice sweeps</a:t>
            </a:r>
            <a:endParaRPr lang="en-US" sz="900" dirty="0"/>
          </a:p>
        </p:txBody>
      </p:sp>
      <p:sp>
        <p:nvSpPr>
          <p:cNvPr id="21" name="Shape 19"/>
          <p:cNvSpPr/>
          <p:nvPr/>
        </p:nvSpPr>
        <p:spPr>
          <a:xfrm>
            <a:off x="502920" y="4663440"/>
            <a:ext cx="10607040" cy="1325880"/>
          </a:xfrm>
          <a:prstGeom prst="roundRect">
            <a:avLst>
              <a:gd name="adj" fmla="val 6207"/>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2" name="Shape 20"/>
          <p:cNvSpPr/>
          <p:nvPr/>
        </p:nvSpPr>
        <p:spPr>
          <a:xfrm>
            <a:off x="777240" y="4956048"/>
            <a:ext cx="621792" cy="621792"/>
          </a:xfrm>
          <a:prstGeom prst="ellipse">
            <a:avLst/>
          </a:prstGeom>
          <a:solidFill>
            <a:srgbClr val="00B4D8"/>
          </a:solidFill>
          <a:ln/>
          <a:effectLst>
            <a:outerShdw blurRad="114300" dist="38100" dir="2700000" algn="bl" rotWithShape="0">
              <a:srgbClr val="0B1F3A">
                <a:alpha val="14000"/>
              </a:srgbClr>
            </a:outerShdw>
          </a:effectLst>
        </p:spPr>
      </p:sp>
      <p:pic>
        <p:nvPicPr>
          <p:cNvPr id="23" name="Image 0" descr="/sessions/blissful-zealous-babbage/mnt/outputs/ppt/icons/bulb_0B1F3A.png"/>
          <p:cNvPicPr>
            <a:picLocks noChangeAspect="1"/>
          </p:cNvPicPr>
          <p:nvPr/>
        </p:nvPicPr>
        <p:blipFill>
          <a:blip r:embed="rId3"/>
          <a:stretch>
            <a:fillRect/>
          </a:stretch>
        </p:blipFill>
        <p:spPr>
          <a:xfrm>
            <a:off x="861182" y="5039990"/>
            <a:ext cx="453908" cy="453908"/>
          </a:xfrm>
          <a:prstGeom prst="rect">
            <a:avLst/>
          </a:prstGeom>
        </p:spPr>
      </p:pic>
      <p:sp>
        <p:nvSpPr>
          <p:cNvPr id="24" name="Text 21"/>
          <p:cNvSpPr/>
          <p:nvPr/>
        </p:nvSpPr>
        <p:spPr>
          <a:xfrm>
            <a:off x="1600200" y="4800600"/>
            <a:ext cx="9235440" cy="1051560"/>
          </a:xfrm>
          <a:prstGeom prst="rect">
            <a:avLst/>
          </a:prstGeom>
          <a:noFill/>
          <a:ln/>
        </p:spPr>
        <p:txBody>
          <a:bodyPr wrap="square" lIns="0" tIns="0" rIns="0" bIns="0" rtlCol="0" anchor="ctr"/>
          <a:lstStyle/>
          <a:p>
            <a:pPr marL="0" indent="0">
              <a:lnSpc>
                <a:spcPct val="125000"/>
              </a:lnSpc>
              <a:buNone/>
            </a:pPr>
            <a:r>
              <a:rPr lang="en-US" sz="1200" b="1" dirty="0">
                <a:solidFill>
                  <a:srgbClr val="0B1F3A"/>
                </a:solidFill>
                <a:latin typeface="Calibri" pitchFamily="34" charset="0"/>
                <a:ea typeface="Calibri" pitchFamily="34" charset="-122"/>
                <a:cs typeface="Calibri" pitchFamily="34" charset="-120"/>
              </a:rPr>
              <a:t>What's novel here: </a:t>
            </a:r>
            <a:r>
              <a:rPr lang="en-US" sz="1200" dirty="0">
                <a:solidFill>
                  <a:srgbClr val="1E293B"/>
                </a:solidFill>
                <a:latin typeface="Calibri" pitchFamily="34" charset="0"/>
                <a:ea typeface="Calibri" pitchFamily="34" charset="-122"/>
                <a:cs typeface="Calibri"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5" name="Text 22"/>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3"/>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Five Ways an Analog Circuit Can Misbehave</a:t>
            </a:r>
            <a:endParaRPr lang="en-US" sz="3000" dirty="0"/>
          </a:p>
        </p:txBody>
      </p:sp>
      <p:sp>
        <p:nvSpPr>
          <p:cNvPr id="4" name="Shape 2"/>
          <p:cNvSpPr/>
          <p:nvPr/>
        </p:nvSpPr>
        <p:spPr>
          <a:xfrm>
            <a:off x="502920" y="1828800"/>
            <a:ext cx="2066544" cy="3977640"/>
          </a:xfrm>
          <a:prstGeom prst="roundRect">
            <a:avLst>
              <a:gd name="adj" fmla="val 3982"/>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1170432" y="2121408"/>
            <a:ext cx="731520" cy="731520"/>
          </a:xfrm>
          <a:prstGeom prst="ellipse">
            <a:avLst/>
          </a:prstGeom>
          <a:solidFill>
            <a:srgbClr val="5EAE7A"/>
          </a:solidFill>
          <a:ln/>
          <a:effectLst>
            <a:outerShdw blurRad="114300" dist="38100" dir="2700000" algn="bl" rotWithShape="0">
              <a:srgbClr val="0B1F3A">
                <a:alpha val="14000"/>
              </a:srgbClr>
            </a:outerShdw>
          </a:effectLst>
        </p:spPr>
      </p:sp>
      <p:pic>
        <p:nvPicPr>
          <p:cNvPr id="6" name="Image 0" descr="/sessions/blissful-zealous-babbage/mnt/outputs/ppt/icons/check_FFFFFF.png"/>
          <p:cNvPicPr>
            <a:picLocks noChangeAspect="1"/>
          </p:cNvPicPr>
          <p:nvPr/>
        </p:nvPicPr>
        <p:blipFill>
          <a:blip r:embed="rId3"/>
          <a:stretch>
            <a:fillRect/>
          </a:stretch>
        </p:blipFill>
        <p:spPr>
          <a:xfrm>
            <a:off x="1269187" y="2220163"/>
            <a:ext cx="534010" cy="534010"/>
          </a:xfrm>
          <a:prstGeom prst="rect">
            <a:avLst/>
          </a:prstGeom>
        </p:spPr>
      </p:pic>
      <p:sp>
        <p:nvSpPr>
          <p:cNvPr id="7" name="Text 4"/>
          <p:cNvSpPr/>
          <p:nvPr/>
        </p:nvSpPr>
        <p:spPr>
          <a:xfrm>
            <a:off x="612648" y="3127248"/>
            <a:ext cx="1847088"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Normal</a:t>
            </a:r>
            <a:endParaRPr lang="en-US" sz="1700" dirty="0"/>
          </a:p>
        </p:txBody>
      </p:sp>
      <p:sp>
        <p:nvSpPr>
          <p:cNvPr id="8" name="Text 5"/>
          <p:cNvSpPr/>
          <p:nvPr/>
        </p:nvSpPr>
        <p:spPr>
          <a:xfrm>
            <a:off x="685800" y="3566160"/>
            <a:ext cx="1700784" cy="2103120"/>
          </a:xfrm>
          <a:prstGeom prst="rect">
            <a:avLst/>
          </a:prstGeom>
          <a:noFill/>
          <a:ln/>
        </p:spPr>
        <p:txBody>
          <a:bodyPr wrap="square" lIns="0" tIns="0" rIns="0" bIns="0" rtlCol="0" anchor="ctr"/>
          <a:lstStyle/>
          <a:p>
            <a:pPr marL="0" indent="0" algn="ctr">
              <a:lnSpc>
                <a:spcPct val="125000"/>
              </a:lnSpc>
              <a:buNone/>
            </a:pPr>
            <a:r>
              <a:rPr lang="en-US" sz="1050" dirty="0">
                <a:solidFill>
                  <a:srgbClr val="64748B"/>
                </a:solidFill>
                <a:latin typeface="Calibri" pitchFamily="34" charset="0"/>
                <a:ea typeface="Calibri" pitchFamily="34" charset="-122"/>
                <a:cs typeface="Calibri" pitchFamily="34" charset="-120"/>
              </a:rPr>
              <a:t>Component values sit at their nominal, healthy design point.</a:t>
            </a:r>
            <a:endParaRPr lang="en-US" sz="1050" dirty="0"/>
          </a:p>
        </p:txBody>
      </p:sp>
      <p:sp>
        <p:nvSpPr>
          <p:cNvPr id="9" name="Shape 6"/>
          <p:cNvSpPr/>
          <p:nvPr/>
        </p:nvSpPr>
        <p:spPr>
          <a:xfrm>
            <a:off x="2738628" y="1828800"/>
            <a:ext cx="2066544" cy="3977640"/>
          </a:xfrm>
          <a:prstGeom prst="roundRect">
            <a:avLst>
              <a:gd name="adj" fmla="val 3982"/>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0" name="Shape 7"/>
          <p:cNvSpPr/>
          <p:nvPr/>
        </p:nvSpPr>
        <p:spPr>
          <a:xfrm>
            <a:off x="3406140" y="2121408"/>
            <a:ext cx="731520" cy="731520"/>
          </a:xfrm>
          <a:prstGeom prst="ellipse">
            <a:avLst/>
          </a:prstGeom>
          <a:solidFill>
            <a:srgbClr val="00B4D8"/>
          </a:solidFill>
          <a:ln/>
          <a:effectLst>
            <a:outerShdw blurRad="114300" dist="38100" dir="2700000" algn="bl" rotWithShape="0">
              <a:srgbClr val="0B1F3A">
                <a:alpha val="14000"/>
              </a:srgbClr>
            </a:outerShdw>
          </a:effectLst>
        </p:spPr>
      </p:sp>
      <p:pic>
        <p:nvPicPr>
          <p:cNvPr id="11" name="Image 1" descr="/sessions/blissful-zealous-babbage/mnt/outputs/ppt/icons/chartline_FFFFFF.png"/>
          <p:cNvPicPr>
            <a:picLocks noChangeAspect="1"/>
          </p:cNvPicPr>
          <p:nvPr/>
        </p:nvPicPr>
        <p:blipFill>
          <a:blip r:embed="rId4"/>
          <a:stretch>
            <a:fillRect/>
          </a:stretch>
        </p:blipFill>
        <p:spPr>
          <a:xfrm>
            <a:off x="3504895" y="2220163"/>
            <a:ext cx="534010" cy="534010"/>
          </a:xfrm>
          <a:prstGeom prst="rect">
            <a:avLst/>
          </a:prstGeom>
        </p:spPr>
      </p:pic>
      <p:sp>
        <p:nvSpPr>
          <p:cNvPr id="12" name="Text 8"/>
          <p:cNvSpPr/>
          <p:nvPr/>
        </p:nvSpPr>
        <p:spPr>
          <a:xfrm>
            <a:off x="2848356" y="3127248"/>
            <a:ext cx="1847088"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Drift</a:t>
            </a:r>
            <a:endParaRPr lang="en-US" sz="1700" dirty="0"/>
          </a:p>
        </p:txBody>
      </p:sp>
      <p:sp>
        <p:nvSpPr>
          <p:cNvPr id="13" name="Text 9"/>
          <p:cNvSpPr/>
          <p:nvPr/>
        </p:nvSpPr>
        <p:spPr>
          <a:xfrm>
            <a:off x="2921508" y="3566160"/>
            <a:ext cx="1700784" cy="2103120"/>
          </a:xfrm>
          <a:prstGeom prst="rect">
            <a:avLst/>
          </a:prstGeom>
          <a:noFill/>
          <a:ln/>
        </p:spPr>
        <p:txBody>
          <a:bodyPr wrap="square" lIns="0" tIns="0" rIns="0" bIns="0" rtlCol="0" anchor="ctr"/>
          <a:lstStyle/>
          <a:p>
            <a:pPr marL="0" indent="0" algn="ctr">
              <a:lnSpc>
                <a:spcPct val="125000"/>
              </a:lnSpc>
              <a:buNone/>
            </a:pPr>
            <a:r>
              <a:rPr lang="en-US" sz="1050" dirty="0">
                <a:solidFill>
                  <a:srgbClr val="64748B"/>
                </a:solidFill>
                <a:latin typeface="Calibri" pitchFamily="34" charset="0"/>
                <a:ea typeface="Calibri" pitchFamily="34" charset="-122"/>
                <a:cs typeface="Calibri" pitchFamily="34" charset="-120"/>
              </a:rPr>
              <a:t>A component value slowly shifts from nominal — aging, temperature, wear.</a:t>
            </a:r>
            <a:endParaRPr lang="en-US" sz="1050" dirty="0"/>
          </a:p>
        </p:txBody>
      </p:sp>
      <p:sp>
        <p:nvSpPr>
          <p:cNvPr id="14" name="Shape 10"/>
          <p:cNvSpPr/>
          <p:nvPr/>
        </p:nvSpPr>
        <p:spPr>
          <a:xfrm>
            <a:off x="4974336" y="1828800"/>
            <a:ext cx="2066544" cy="3977640"/>
          </a:xfrm>
          <a:prstGeom prst="roundRect">
            <a:avLst>
              <a:gd name="adj" fmla="val 3982"/>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5" name="Shape 11"/>
          <p:cNvSpPr/>
          <p:nvPr/>
        </p:nvSpPr>
        <p:spPr>
          <a:xfrm>
            <a:off x="5641848" y="2121408"/>
            <a:ext cx="731520" cy="731520"/>
          </a:xfrm>
          <a:prstGeom prst="ellipse">
            <a:avLst/>
          </a:prstGeom>
          <a:solidFill>
            <a:srgbClr val="0B1F3A"/>
          </a:solidFill>
          <a:ln/>
          <a:effectLst>
            <a:outerShdw blurRad="114300" dist="38100" dir="2700000" algn="bl" rotWithShape="0">
              <a:srgbClr val="0B1F3A">
                <a:alpha val="14000"/>
              </a:srgbClr>
            </a:outerShdw>
          </a:effectLst>
        </p:spPr>
      </p:sp>
      <p:pic>
        <p:nvPicPr>
          <p:cNvPr id="16" name="Image 2" descr="/sessions/blissful-zealous-babbage/mnt/outputs/ppt/icons/plug_FFFFFF.png"/>
          <p:cNvPicPr>
            <a:picLocks noChangeAspect="1"/>
          </p:cNvPicPr>
          <p:nvPr/>
        </p:nvPicPr>
        <p:blipFill>
          <a:blip r:embed="rId5"/>
          <a:stretch>
            <a:fillRect/>
          </a:stretch>
        </p:blipFill>
        <p:spPr>
          <a:xfrm>
            <a:off x="5740603" y="2220163"/>
            <a:ext cx="534010" cy="534010"/>
          </a:xfrm>
          <a:prstGeom prst="rect">
            <a:avLst/>
          </a:prstGeom>
        </p:spPr>
      </p:pic>
      <p:sp>
        <p:nvSpPr>
          <p:cNvPr id="17" name="Text 12"/>
          <p:cNvSpPr/>
          <p:nvPr/>
        </p:nvSpPr>
        <p:spPr>
          <a:xfrm>
            <a:off x="5084064" y="3127248"/>
            <a:ext cx="1847088"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Open</a:t>
            </a:r>
            <a:endParaRPr lang="en-US" sz="1700" dirty="0"/>
          </a:p>
        </p:txBody>
      </p:sp>
      <p:sp>
        <p:nvSpPr>
          <p:cNvPr id="18" name="Text 13"/>
          <p:cNvSpPr/>
          <p:nvPr/>
        </p:nvSpPr>
        <p:spPr>
          <a:xfrm>
            <a:off x="5157216" y="3566160"/>
            <a:ext cx="1700784" cy="2103120"/>
          </a:xfrm>
          <a:prstGeom prst="rect">
            <a:avLst/>
          </a:prstGeom>
          <a:noFill/>
          <a:ln/>
        </p:spPr>
        <p:txBody>
          <a:bodyPr wrap="square" lIns="0" tIns="0" rIns="0" bIns="0" rtlCol="0" anchor="ctr"/>
          <a:lstStyle/>
          <a:p>
            <a:pPr marL="0" indent="0" algn="ctr">
              <a:lnSpc>
                <a:spcPct val="125000"/>
              </a:lnSpc>
              <a:buNone/>
            </a:pPr>
            <a:r>
              <a:rPr lang="en-US" sz="1050" dirty="0">
                <a:solidFill>
                  <a:srgbClr val="64748B"/>
                </a:solidFill>
                <a:latin typeface="Calibri" pitchFamily="34" charset="0"/>
                <a:ea typeface="Calibri" pitchFamily="34" charset="-122"/>
                <a:cs typeface="Calibri" pitchFamily="34" charset="-120"/>
              </a:rPr>
              <a:t>A component disconnects entirely — an infinite-resistance break in the path.</a:t>
            </a:r>
            <a:endParaRPr lang="en-US" sz="1050" dirty="0"/>
          </a:p>
        </p:txBody>
      </p:sp>
      <p:sp>
        <p:nvSpPr>
          <p:cNvPr id="19" name="Shape 14"/>
          <p:cNvSpPr/>
          <p:nvPr/>
        </p:nvSpPr>
        <p:spPr>
          <a:xfrm>
            <a:off x="7210044" y="1828800"/>
            <a:ext cx="2066544" cy="3977640"/>
          </a:xfrm>
          <a:prstGeom prst="roundRect">
            <a:avLst>
              <a:gd name="adj" fmla="val 3982"/>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0" name="Shape 15"/>
          <p:cNvSpPr/>
          <p:nvPr/>
        </p:nvSpPr>
        <p:spPr>
          <a:xfrm>
            <a:off x="7877556" y="2121408"/>
            <a:ext cx="731520" cy="731520"/>
          </a:xfrm>
          <a:prstGeom prst="ellipse">
            <a:avLst/>
          </a:prstGeom>
          <a:solidFill>
            <a:srgbClr val="D9695F"/>
          </a:solidFill>
          <a:ln/>
          <a:effectLst>
            <a:outerShdw blurRad="114300" dist="38100" dir="2700000" algn="bl" rotWithShape="0">
              <a:srgbClr val="0B1F3A">
                <a:alpha val="14000"/>
              </a:srgbClr>
            </a:outerShdw>
          </a:effectLst>
        </p:spPr>
      </p:sp>
      <p:pic>
        <p:nvPicPr>
          <p:cNvPr id="21" name="Image 3" descr="/sessions/blissful-zealous-babbage/mnt/outputs/ppt/icons/bolt_FFFFFF.png"/>
          <p:cNvPicPr>
            <a:picLocks noChangeAspect="1"/>
          </p:cNvPicPr>
          <p:nvPr/>
        </p:nvPicPr>
        <p:blipFill>
          <a:blip r:embed="rId6"/>
          <a:stretch>
            <a:fillRect/>
          </a:stretch>
        </p:blipFill>
        <p:spPr>
          <a:xfrm>
            <a:off x="7976311" y="2220163"/>
            <a:ext cx="534010" cy="534010"/>
          </a:xfrm>
          <a:prstGeom prst="rect">
            <a:avLst/>
          </a:prstGeom>
        </p:spPr>
      </p:pic>
      <p:sp>
        <p:nvSpPr>
          <p:cNvPr id="22" name="Text 16"/>
          <p:cNvSpPr/>
          <p:nvPr/>
        </p:nvSpPr>
        <p:spPr>
          <a:xfrm>
            <a:off x="7319772" y="3127248"/>
            <a:ext cx="1847088"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Short</a:t>
            </a:r>
            <a:endParaRPr lang="en-US" sz="1700" dirty="0"/>
          </a:p>
        </p:txBody>
      </p:sp>
      <p:sp>
        <p:nvSpPr>
          <p:cNvPr id="23" name="Text 17"/>
          <p:cNvSpPr/>
          <p:nvPr/>
        </p:nvSpPr>
        <p:spPr>
          <a:xfrm>
            <a:off x="7392924" y="3566160"/>
            <a:ext cx="1700784" cy="2103120"/>
          </a:xfrm>
          <a:prstGeom prst="rect">
            <a:avLst/>
          </a:prstGeom>
          <a:noFill/>
          <a:ln/>
        </p:spPr>
        <p:txBody>
          <a:bodyPr wrap="square" lIns="0" tIns="0" rIns="0" bIns="0" rtlCol="0" anchor="ctr"/>
          <a:lstStyle/>
          <a:p>
            <a:pPr marL="0" indent="0" algn="ctr">
              <a:lnSpc>
                <a:spcPct val="125000"/>
              </a:lnSpc>
              <a:buNone/>
            </a:pPr>
            <a:r>
              <a:rPr lang="en-US" sz="1050" dirty="0">
                <a:solidFill>
                  <a:srgbClr val="64748B"/>
                </a:solidFill>
                <a:latin typeface="Calibri" pitchFamily="34" charset="0"/>
                <a:ea typeface="Calibri" pitchFamily="34" charset="-122"/>
                <a:cs typeface="Calibri" pitchFamily="34" charset="-120"/>
              </a:rPr>
              <a:t>A component is bypassed — a near-zero-resistance path forms across it.</a:t>
            </a:r>
            <a:endParaRPr lang="en-US" sz="1050" dirty="0"/>
          </a:p>
        </p:txBody>
      </p:sp>
      <p:sp>
        <p:nvSpPr>
          <p:cNvPr id="24" name="Shape 18"/>
          <p:cNvSpPr/>
          <p:nvPr/>
        </p:nvSpPr>
        <p:spPr>
          <a:xfrm>
            <a:off x="9445752" y="1828800"/>
            <a:ext cx="2066544" cy="3977640"/>
          </a:xfrm>
          <a:prstGeom prst="roundRect">
            <a:avLst>
              <a:gd name="adj" fmla="val 3982"/>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5" name="Shape 19"/>
          <p:cNvSpPr/>
          <p:nvPr/>
        </p:nvSpPr>
        <p:spPr>
          <a:xfrm>
            <a:off x="10113264" y="2121408"/>
            <a:ext cx="731520" cy="731520"/>
          </a:xfrm>
          <a:prstGeom prst="ellipse">
            <a:avLst/>
          </a:prstGeom>
          <a:solidFill>
            <a:srgbClr val="8E5AA8"/>
          </a:solidFill>
          <a:ln/>
          <a:effectLst>
            <a:outerShdw blurRad="114300" dist="38100" dir="2700000" algn="bl" rotWithShape="0">
              <a:srgbClr val="0B1F3A">
                <a:alpha val="14000"/>
              </a:srgbClr>
            </a:outerShdw>
          </a:effectLst>
        </p:spPr>
      </p:sp>
      <p:pic>
        <p:nvPicPr>
          <p:cNvPr id="26" name="Image 4" descr="/sessions/blissful-zealous-babbage/mnt/outputs/ppt/icons/random_FFFFFF.png"/>
          <p:cNvPicPr>
            <a:picLocks noChangeAspect="1"/>
          </p:cNvPicPr>
          <p:nvPr/>
        </p:nvPicPr>
        <p:blipFill>
          <a:blip r:embed="rId7"/>
          <a:stretch>
            <a:fillRect/>
          </a:stretch>
        </p:blipFill>
        <p:spPr>
          <a:xfrm>
            <a:off x="10212019" y="2220163"/>
            <a:ext cx="534010" cy="534010"/>
          </a:xfrm>
          <a:prstGeom prst="rect">
            <a:avLst/>
          </a:prstGeom>
        </p:spPr>
      </p:pic>
      <p:sp>
        <p:nvSpPr>
          <p:cNvPr id="27" name="Text 20"/>
          <p:cNvSpPr/>
          <p:nvPr/>
        </p:nvSpPr>
        <p:spPr>
          <a:xfrm>
            <a:off x="9555480" y="3127248"/>
            <a:ext cx="1847088"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Noise</a:t>
            </a:r>
            <a:endParaRPr lang="en-US" sz="1700" dirty="0"/>
          </a:p>
        </p:txBody>
      </p:sp>
      <p:sp>
        <p:nvSpPr>
          <p:cNvPr id="28" name="Text 21"/>
          <p:cNvSpPr/>
          <p:nvPr/>
        </p:nvSpPr>
        <p:spPr>
          <a:xfrm>
            <a:off x="9628632" y="3566160"/>
            <a:ext cx="1700784" cy="2103120"/>
          </a:xfrm>
          <a:prstGeom prst="rect">
            <a:avLst/>
          </a:prstGeom>
          <a:noFill/>
          <a:ln/>
        </p:spPr>
        <p:txBody>
          <a:bodyPr wrap="square" lIns="0" tIns="0" rIns="0" bIns="0" rtlCol="0" anchor="ctr"/>
          <a:lstStyle/>
          <a:p>
            <a:pPr marL="0" indent="0" algn="ctr">
              <a:lnSpc>
                <a:spcPct val="125000"/>
              </a:lnSpc>
              <a:buNone/>
            </a:pPr>
            <a:r>
              <a:rPr lang="en-US" sz="1050" dirty="0">
                <a:solidFill>
                  <a:srgbClr val="64748B"/>
                </a:solidFill>
                <a:latin typeface="Calibri" pitchFamily="34" charset="0"/>
                <a:ea typeface="Calibri" pitchFamily="34" charset="-122"/>
                <a:cs typeface="Calibri" pitchFamily="34" charset="-120"/>
              </a:rPr>
              <a:t>Random disturbance is superimposed on an otherwise healthy signal.</a:t>
            </a:r>
            <a:endParaRPr lang="en-US" sz="1050" dirty="0"/>
          </a:p>
        </p:txBody>
      </p:sp>
      <p:sp>
        <p:nvSpPr>
          <p:cNvPr id="29" name="Text 22"/>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0" name="Text 23"/>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Fault Deep Dive: Drift</a:t>
            </a:r>
            <a:endParaRPr lang="en-US" sz="3000" dirty="0"/>
          </a:p>
        </p:txBody>
      </p:sp>
      <p:sp>
        <p:nvSpPr>
          <p:cNvPr id="4" name="Text 2"/>
          <p:cNvSpPr/>
          <p:nvPr/>
        </p:nvSpPr>
        <p:spPr>
          <a:xfrm>
            <a:off x="502920" y="1783080"/>
            <a:ext cx="5760720" cy="1051560"/>
          </a:xfrm>
          <a:prstGeom prst="rect">
            <a:avLst/>
          </a:prstGeom>
          <a:noFill/>
          <a:ln/>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Drift models a component value that has </a:t>
            </a:r>
            <a:r>
              <a:rPr lang="en-US" sz="1350" b="1" i="1" dirty="0">
                <a:solidFill>
                  <a:srgbClr val="0B1F3A"/>
                </a:solidFill>
                <a:latin typeface="Calibri" pitchFamily="34" charset="0"/>
                <a:ea typeface="Calibri" pitchFamily="34" charset="-122"/>
                <a:cs typeface="Calibri" pitchFamily="34" charset="-120"/>
              </a:rPr>
              <a:t>gradually</a:t>
            </a:r>
            <a:r>
              <a:rPr lang="en-US" sz="1350" dirty="0">
                <a:solidFill>
                  <a:srgbClr val="1E293B"/>
                </a:solidFill>
                <a:latin typeface="Calibri" pitchFamily="34" charset="0"/>
                <a:ea typeface="Calibri" pitchFamily="34" charset="-122"/>
                <a:cs typeface="Calibri" pitchFamily="34" charset="-120"/>
              </a:rPr>
              <a:t> moved away from its design value — the most physically realistic and hardest-to-catch fault, since aging and temperature affect every real component.</a:t>
            </a:r>
            <a:endParaRPr lang="en-US" sz="1350" dirty="0"/>
          </a:p>
        </p:txBody>
      </p:sp>
      <p:sp>
        <p:nvSpPr>
          <p:cNvPr id="5" name="Shape 3"/>
          <p:cNvSpPr/>
          <p:nvPr/>
        </p:nvSpPr>
        <p:spPr>
          <a:xfrm>
            <a:off x="502920" y="2971800"/>
            <a:ext cx="5760720" cy="1234440"/>
          </a:xfrm>
          <a:prstGeom prst="roundRect">
            <a:avLst>
              <a:gd name="adj" fmla="val 5926"/>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3108960"/>
            <a:ext cx="5212080" cy="960120"/>
          </a:xfrm>
          <a:prstGeom prst="rect">
            <a:avLst/>
          </a:prstGeom>
          <a:noFill/>
          <a:ln/>
        </p:spPr>
        <p:txBody>
          <a:bodyPr wrap="square" lIns="0" tIns="0" rIns="0" bIns="0" rtlCol="0" anchor="ctr"/>
          <a:lstStyle/>
          <a:p>
            <a:pPr marL="0" indent="0" algn="l">
              <a:lnSpc>
                <a:spcPct val="140000"/>
              </a:lnSpc>
              <a:buNone/>
            </a:pPr>
            <a:r>
              <a:rPr lang="en-US" sz="1600" dirty="0">
                <a:solidFill>
                  <a:srgbClr val="FFB703"/>
                </a:solidFill>
                <a:latin typeface="Courier New" pitchFamily="34" charset="0"/>
                <a:ea typeface="Courier New" pitchFamily="34" charset="-122"/>
                <a:cs typeface="Courier New" pitchFamily="34" charset="-120"/>
              </a:rPr>
              <a:t>R(t) = R0 · (1 + delta)</a:t>
            </a:r>
            <a:endParaRPr lang="en-US" sz="1600" dirty="0"/>
          </a:p>
          <a:p>
            <a:pPr marL="0" indent="0" algn="l">
              <a:lnSpc>
                <a:spcPct val="140000"/>
              </a:lnSpc>
              <a:buNone/>
            </a:pPr>
            <a:r>
              <a:rPr lang="en-US" sz="1600" dirty="0">
                <a:solidFill>
                  <a:srgbClr val="E7ECF4"/>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7" name="Text 5"/>
          <p:cNvSpPr/>
          <p:nvPr/>
        </p:nvSpPr>
        <p:spPr>
          <a:xfrm>
            <a:off x="502920" y="4434840"/>
            <a:ext cx="5760720" cy="109728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8" name="Shape 6"/>
          <p:cNvSpPr/>
          <p:nvPr/>
        </p:nvSpPr>
        <p:spPr>
          <a:xfrm>
            <a:off x="6675120" y="1783080"/>
            <a:ext cx="4434840" cy="3749040"/>
          </a:xfrm>
          <a:prstGeom prst="roundRect">
            <a:avLst>
              <a:gd name="adj" fmla="val 219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9" name="Shape 7"/>
          <p:cNvSpPr/>
          <p:nvPr/>
        </p:nvSpPr>
        <p:spPr>
          <a:xfrm>
            <a:off x="6949440" y="2057400"/>
            <a:ext cx="566928" cy="566928"/>
          </a:xfrm>
          <a:prstGeom prst="ellipse">
            <a:avLst/>
          </a:prstGeom>
          <a:solidFill>
            <a:srgbClr val="00B4D8"/>
          </a:solidFill>
          <a:ln/>
          <a:effectLst>
            <a:outerShdw blurRad="114300" dist="38100" dir="2700000" algn="bl" rotWithShape="0">
              <a:srgbClr val="0B1F3A">
                <a:alpha val="14000"/>
              </a:srgbClr>
            </a:outerShdw>
          </a:effectLst>
        </p:spPr>
      </p:sp>
      <p:pic>
        <p:nvPicPr>
          <p:cNvPr id="10" name="Image 0" descr="/sessions/blissful-zealous-babbage/mnt/outputs/ppt/icons/warn_0B1F3A.png"/>
          <p:cNvPicPr>
            <a:picLocks noChangeAspect="1"/>
          </p:cNvPicPr>
          <p:nvPr/>
        </p:nvPicPr>
        <p:blipFill>
          <a:blip r:embed="rId3"/>
          <a:stretch>
            <a:fillRect/>
          </a:stretch>
        </p:blipFill>
        <p:spPr>
          <a:xfrm>
            <a:off x="7025975" y="2133935"/>
            <a:ext cx="413857" cy="413857"/>
          </a:xfrm>
          <a:prstGeom prst="rect">
            <a:avLst/>
          </a:prstGeom>
        </p:spPr>
      </p:pic>
      <p:sp>
        <p:nvSpPr>
          <p:cNvPr id="11" name="Text 8"/>
          <p:cNvSpPr/>
          <p:nvPr/>
        </p:nvSpPr>
        <p:spPr>
          <a:xfrm>
            <a:off x="7680960" y="2103120"/>
            <a:ext cx="310896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Why it's the hardest fault</a:t>
            </a:r>
            <a:endParaRPr lang="en-US" sz="1350" dirty="0"/>
          </a:p>
        </p:txBody>
      </p:sp>
      <p:sp>
        <p:nvSpPr>
          <p:cNvPr id="12" name="Text 9"/>
          <p:cNvSpPr/>
          <p:nvPr/>
        </p:nvSpPr>
        <p:spPr>
          <a:xfrm>
            <a:off x="6949440" y="2697480"/>
            <a:ext cx="3886200" cy="2651760"/>
          </a:xfrm>
          <a:prstGeom prst="rect">
            <a:avLst/>
          </a:prstGeom>
          <a:noFill/>
          <a:ln/>
        </p:spPr>
        <p:txBody>
          <a:bodyPr wrap="square" lIns="0" tIns="0" rIns="0" bIns="0" rtlCol="0" anchor="ctr"/>
          <a:lstStyle/>
          <a:p>
            <a:pPr marL="0" indent="0">
              <a:lnSpc>
                <a:spcPct val="130000"/>
              </a:lnSpc>
              <a:buNone/>
            </a:pPr>
            <a:r>
              <a:rPr lang="en-US" sz="1100" dirty="0">
                <a:solidFill>
                  <a:srgbClr val="64748B"/>
                </a:solidFill>
                <a:latin typeface="Calibri" pitchFamily="34" charset="0"/>
                <a:ea typeface="Calibri" pitchFamily="34" charset="-122"/>
                <a:cs typeface="Calibri"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3" name="Text 10"/>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11"/>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Fault Deep Dive: Open &amp; Short</a:t>
            </a:r>
            <a:endParaRPr lang="en-US" sz="3000" dirty="0"/>
          </a:p>
        </p:txBody>
      </p:sp>
      <p:sp>
        <p:nvSpPr>
          <p:cNvPr id="4" name="Shape 2"/>
          <p:cNvSpPr/>
          <p:nvPr/>
        </p:nvSpPr>
        <p:spPr>
          <a:xfrm>
            <a:off x="502920" y="1783080"/>
            <a:ext cx="5166360" cy="4160520"/>
          </a:xfrm>
          <a:prstGeom prst="roundRect">
            <a:avLst>
              <a:gd name="adj" fmla="val 1978"/>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777240" y="2057400"/>
            <a:ext cx="594360" cy="594360"/>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plug_00B4D8.png"/>
          <p:cNvPicPr>
            <a:picLocks noChangeAspect="1"/>
          </p:cNvPicPr>
          <p:nvPr/>
        </p:nvPicPr>
        <p:blipFill>
          <a:blip r:embed="rId3"/>
          <a:stretch>
            <a:fillRect/>
          </a:stretch>
        </p:blipFill>
        <p:spPr>
          <a:xfrm>
            <a:off x="857479" y="2137639"/>
            <a:ext cx="433883" cy="433883"/>
          </a:xfrm>
          <a:prstGeom prst="rect">
            <a:avLst/>
          </a:prstGeom>
        </p:spPr>
      </p:pic>
      <p:sp>
        <p:nvSpPr>
          <p:cNvPr id="7" name="Text 4"/>
          <p:cNvSpPr/>
          <p:nvPr/>
        </p:nvSpPr>
        <p:spPr>
          <a:xfrm>
            <a:off x="1554480" y="2130552"/>
            <a:ext cx="3886200" cy="45720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Open: resistance to infinity</a:t>
            </a:r>
            <a:endParaRPr lang="en-US" sz="1450" dirty="0"/>
          </a:p>
        </p:txBody>
      </p:sp>
      <p:sp>
        <p:nvSpPr>
          <p:cNvPr id="8" name="Shape 5"/>
          <p:cNvSpPr/>
          <p:nvPr/>
        </p:nvSpPr>
        <p:spPr>
          <a:xfrm>
            <a:off x="777240" y="2743200"/>
            <a:ext cx="4617720" cy="777240"/>
          </a:xfrm>
          <a:prstGeom prst="roundRect">
            <a:avLst>
              <a:gd name="adj" fmla="val 9412"/>
            </a:avLst>
          </a:prstGeom>
          <a:solidFill>
            <a:srgbClr val="0B1F3A"/>
          </a:solidFill>
          <a:ln/>
          <a:effectLst>
            <a:outerShdw blurRad="114300" dist="38100" dir="2700000" algn="bl" rotWithShape="0">
              <a:srgbClr val="0B1F3A">
                <a:alpha val="14000"/>
              </a:srgbClr>
            </a:outerShdw>
          </a:effectLst>
        </p:spPr>
      </p:sp>
      <p:sp>
        <p:nvSpPr>
          <p:cNvPr id="9" name="Text 6"/>
          <p:cNvSpPr/>
          <p:nvPr/>
        </p:nvSpPr>
        <p:spPr>
          <a:xfrm>
            <a:off x="1051560" y="2880360"/>
            <a:ext cx="4069080" cy="502920"/>
          </a:xfrm>
          <a:prstGeom prst="rect">
            <a:avLst/>
          </a:prstGeom>
          <a:noFill/>
          <a:ln/>
        </p:spPr>
        <p:txBody>
          <a:bodyPr wrap="square" lIns="0" tIns="0" rIns="0" bIns="0" rtlCol="0" anchor="ctr"/>
          <a:lstStyle/>
          <a:p>
            <a:pPr marL="0" indent="0" algn="l">
              <a:lnSpc>
                <a:spcPct val="140000"/>
              </a:lnSpc>
              <a:buNone/>
            </a:pPr>
            <a:r>
              <a:rPr lang="en-US" sz="1350" dirty="0">
                <a:solidFill>
                  <a:srgbClr val="E7ECF4"/>
                </a:solidFill>
                <a:latin typeface="Courier New" pitchFamily="34" charset="0"/>
                <a:ea typeface="Courier New" pitchFamily="34" charset="-122"/>
                <a:cs typeface="Courier New" pitchFamily="34" charset="-120"/>
              </a:rPr>
              <a:t>R_open -&gt; infinity  (no current path)</a:t>
            </a:r>
            <a:endParaRPr lang="en-US" sz="1350" dirty="0"/>
          </a:p>
        </p:txBody>
      </p:sp>
      <p:sp>
        <p:nvSpPr>
          <p:cNvPr id="10" name="Text 7"/>
          <p:cNvSpPr/>
          <p:nvPr/>
        </p:nvSpPr>
        <p:spPr>
          <a:xfrm>
            <a:off x="777240" y="3703320"/>
            <a:ext cx="4617720" cy="173736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This project's RC circuit models “open” by sweeping the resistor from 1 megaohm to 1 gigaohm with .step param — effectively blocking the charging path so Vout never rises.</a:t>
            </a:r>
            <a:endParaRPr lang="en-US" sz="1150" dirty="0"/>
          </a:p>
        </p:txBody>
      </p:sp>
      <p:sp>
        <p:nvSpPr>
          <p:cNvPr id="11" name="Shape 8"/>
          <p:cNvSpPr/>
          <p:nvPr/>
        </p:nvSpPr>
        <p:spPr>
          <a:xfrm>
            <a:off x="6126480" y="1783080"/>
            <a:ext cx="5166360" cy="4160520"/>
          </a:xfrm>
          <a:prstGeom prst="roundRect">
            <a:avLst>
              <a:gd name="adj" fmla="val 1978"/>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2" name="Shape 9"/>
          <p:cNvSpPr/>
          <p:nvPr/>
        </p:nvSpPr>
        <p:spPr>
          <a:xfrm>
            <a:off x="6400800" y="2057400"/>
            <a:ext cx="594360" cy="594360"/>
          </a:xfrm>
          <a:prstGeom prst="ellipse">
            <a:avLst/>
          </a:prstGeom>
          <a:solidFill>
            <a:srgbClr val="D9695F"/>
          </a:solidFill>
          <a:ln/>
          <a:effectLst>
            <a:outerShdw blurRad="114300" dist="38100" dir="2700000" algn="bl" rotWithShape="0">
              <a:srgbClr val="0B1F3A">
                <a:alpha val="14000"/>
              </a:srgbClr>
            </a:outerShdw>
          </a:effectLst>
        </p:spPr>
      </p:sp>
      <p:pic>
        <p:nvPicPr>
          <p:cNvPr id="13" name="Image 1" descr="/sessions/blissful-zealous-babbage/mnt/outputs/ppt/icons/bolt_FFFFFF.png"/>
          <p:cNvPicPr>
            <a:picLocks noChangeAspect="1"/>
          </p:cNvPicPr>
          <p:nvPr/>
        </p:nvPicPr>
        <p:blipFill>
          <a:blip r:embed="rId4"/>
          <a:stretch>
            <a:fillRect/>
          </a:stretch>
        </p:blipFill>
        <p:spPr>
          <a:xfrm>
            <a:off x="6481039" y="2137639"/>
            <a:ext cx="433883" cy="433883"/>
          </a:xfrm>
          <a:prstGeom prst="rect">
            <a:avLst/>
          </a:prstGeom>
        </p:spPr>
      </p:pic>
      <p:sp>
        <p:nvSpPr>
          <p:cNvPr id="14" name="Text 10"/>
          <p:cNvSpPr/>
          <p:nvPr/>
        </p:nvSpPr>
        <p:spPr>
          <a:xfrm>
            <a:off x="7178040" y="2130552"/>
            <a:ext cx="3886200" cy="45720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Short: impedance to zero</a:t>
            </a:r>
            <a:endParaRPr lang="en-US" sz="1450" dirty="0"/>
          </a:p>
        </p:txBody>
      </p:sp>
      <p:sp>
        <p:nvSpPr>
          <p:cNvPr id="15" name="Shape 11"/>
          <p:cNvSpPr/>
          <p:nvPr/>
        </p:nvSpPr>
        <p:spPr>
          <a:xfrm>
            <a:off x="6400800" y="2743200"/>
            <a:ext cx="4617720" cy="777240"/>
          </a:xfrm>
          <a:prstGeom prst="roundRect">
            <a:avLst>
              <a:gd name="adj" fmla="val 9412"/>
            </a:avLst>
          </a:prstGeom>
          <a:solidFill>
            <a:srgbClr val="0B1F3A"/>
          </a:solidFill>
          <a:ln/>
          <a:effectLst>
            <a:outerShdw blurRad="114300" dist="38100" dir="2700000" algn="bl" rotWithShape="0">
              <a:srgbClr val="0B1F3A">
                <a:alpha val="14000"/>
              </a:srgbClr>
            </a:outerShdw>
          </a:effectLst>
        </p:spPr>
      </p:sp>
      <p:sp>
        <p:nvSpPr>
          <p:cNvPr id="16" name="Text 12"/>
          <p:cNvSpPr/>
          <p:nvPr/>
        </p:nvSpPr>
        <p:spPr>
          <a:xfrm>
            <a:off x="6675120" y="2880360"/>
            <a:ext cx="4069080" cy="502920"/>
          </a:xfrm>
          <a:prstGeom prst="rect">
            <a:avLst/>
          </a:prstGeom>
          <a:noFill/>
          <a:ln/>
        </p:spPr>
        <p:txBody>
          <a:bodyPr wrap="square" lIns="0" tIns="0" rIns="0" bIns="0" rtlCol="0" anchor="ctr"/>
          <a:lstStyle/>
          <a:p>
            <a:pPr marL="0" indent="0" algn="l">
              <a:lnSpc>
                <a:spcPct val="140000"/>
              </a:lnSpc>
              <a:buNone/>
            </a:pPr>
            <a:r>
              <a:rPr lang="en-US" sz="1350" dirty="0">
                <a:solidFill>
                  <a:srgbClr val="E7ECF4"/>
                </a:solidFill>
                <a:latin typeface="Courier New" pitchFamily="34" charset="0"/>
                <a:ea typeface="Courier New" pitchFamily="34" charset="-122"/>
                <a:cs typeface="Courier New" pitchFamily="34" charset="-120"/>
              </a:rPr>
              <a:t>Z_short -&gt; 0  (component bypassed)</a:t>
            </a:r>
            <a:endParaRPr lang="en-US" sz="1350" dirty="0"/>
          </a:p>
        </p:txBody>
      </p:sp>
      <p:sp>
        <p:nvSpPr>
          <p:cNvPr id="17" name="Text 13"/>
          <p:cNvSpPr/>
          <p:nvPr/>
        </p:nvSpPr>
        <p:spPr>
          <a:xfrm>
            <a:off x="6400800" y="3703320"/>
            <a:ext cx="4617720" cy="173736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Fault Deep Dive: Noise</a:t>
            </a:r>
            <a:endParaRPr lang="en-US" sz="3000" dirty="0"/>
          </a:p>
        </p:txBody>
      </p:sp>
      <p:sp>
        <p:nvSpPr>
          <p:cNvPr id="4" name="Text 2"/>
          <p:cNvSpPr/>
          <p:nvPr/>
        </p:nvSpPr>
        <p:spPr>
          <a:xfrm>
            <a:off x="502920" y="1645920"/>
            <a:ext cx="10515600" cy="640080"/>
          </a:xfrm>
          <a:prstGeom prst="rect">
            <a:avLst/>
          </a:prstGeom>
          <a:noFill/>
          <a:ln/>
        </p:spPr>
        <p:txBody>
          <a:bodyPr wrap="square" lIns="0" tIns="0" rIns="0" bIns="0" rtlCol="0" anchor="ctr"/>
          <a:lstStyle/>
          <a:p>
            <a:pPr marL="0" indent="0">
              <a:lnSpc>
                <a:spcPct val="125000"/>
              </a:lnSpc>
              <a:buNone/>
            </a:pPr>
            <a:r>
              <a:rPr lang="en-US" sz="1300" dirty="0">
                <a:solidFill>
                  <a:srgbClr val="1E293B"/>
                </a:solidFill>
                <a:latin typeface="Calibri" pitchFamily="34" charset="0"/>
                <a:ea typeface="Calibri" pitchFamily="34" charset="-122"/>
                <a:cs typeface="Calibri" pitchFamily="34" charset="-120"/>
              </a:rPr>
              <a:t>Noise doesn't come from a component value changing at all — it's </a:t>
            </a:r>
            <a:r>
              <a:rPr lang="en-US" sz="1300" b="1" dirty="0">
                <a:solidFill>
                  <a:srgbClr val="0B1F3A"/>
                </a:solidFill>
                <a:latin typeface="Calibri" pitchFamily="34" charset="0"/>
                <a:ea typeface="Calibri" pitchFamily="34" charset="-122"/>
                <a:cs typeface="Calibri" pitchFamily="34" charset="-120"/>
              </a:rPr>
              <a:t>additive random disturbance</a:t>
            </a:r>
            <a:r>
              <a:rPr lang="en-US" sz="1300" dirty="0">
                <a:solidFill>
                  <a:srgbClr val="1E293B"/>
                </a:solidFill>
                <a:latin typeface="Calibri" pitchFamily="34" charset="0"/>
                <a:ea typeface="Calibri" pitchFamily="34" charset="-122"/>
                <a:cs typeface="Calibri" pitchFamily="34" charset="-120"/>
              </a:rPr>
              <a:t> superimposed on an otherwise healthy waveform, modeled with a fixed signal-to-noise ratio.</a:t>
            </a:r>
            <a:endParaRPr lang="en-US" sz="1300" dirty="0"/>
          </a:p>
        </p:txBody>
      </p:sp>
      <p:sp>
        <p:nvSpPr>
          <p:cNvPr id="5" name="Shape 3"/>
          <p:cNvSpPr/>
          <p:nvPr/>
        </p:nvSpPr>
        <p:spPr>
          <a:xfrm>
            <a:off x="502920" y="2423160"/>
            <a:ext cx="10515600" cy="1417320"/>
          </a:xfrm>
          <a:prstGeom prst="roundRect">
            <a:avLst>
              <a:gd name="adj" fmla="val 5161"/>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2560320"/>
            <a:ext cx="9966960" cy="1143000"/>
          </a:xfrm>
          <a:prstGeom prst="rect">
            <a:avLst/>
          </a:prstGeom>
          <a:noFill/>
          <a:ln/>
        </p:spPr>
        <p:txBody>
          <a:bodyPr wrap="square" lIns="0" tIns="0" rIns="0" bIns="0" rtlCol="0" anchor="ctr"/>
          <a:lstStyle/>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v_noisy(t) = v_normal(t) + N(0, sigma^2)</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sigma^2 = mean(v_normal^2) / 10^(SNR_dB / 10)</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SNR = 25 dB   |   seed = 42  (reproducible)</a:t>
            </a:r>
            <a:endParaRPr lang="en-US" sz="1400" dirty="0"/>
          </a:p>
        </p:txBody>
      </p:sp>
      <p:sp>
        <p:nvSpPr>
          <p:cNvPr id="7" name="Text 5"/>
          <p:cNvSpPr/>
          <p:nvPr/>
        </p:nvSpPr>
        <p:spPr>
          <a:xfrm>
            <a:off x="502920" y="3977640"/>
            <a:ext cx="10515600" cy="868680"/>
          </a:xfrm>
          <a:prstGeom prst="rect">
            <a:avLst/>
          </a:prstGeom>
          <a:noFill/>
          <a:ln/>
        </p:spPr>
        <p:txBody>
          <a:bodyPr wrap="square" lIns="0" tIns="0" rIns="0" bIns="0" rtlCol="0" anchor="ctr"/>
          <a:lstStyle/>
          <a:p>
            <a:pPr marL="0" indent="0">
              <a:lnSpc>
                <a:spcPct val="125000"/>
              </a:lnSpc>
              <a:buNone/>
            </a:pPr>
            <a:r>
              <a:rPr lang="en-US" sz="1130" b="1" dirty="0">
                <a:solidFill>
                  <a:srgbClr val="0B1F3A"/>
                </a:solidFill>
                <a:latin typeface="Calibri" pitchFamily="34" charset="0"/>
                <a:ea typeface="Calibri" pitchFamily="34" charset="-122"/>
                <a:cs typeface="Calibri" pitchFamily="34" charset="-120"/>
              </a:rPr>
              <a:t>In code: </a:t>
            </a:r>
            <a:r>
              <a:rPr lang="en-US" sz="1130" dirty="0">
                <a:solidFill>
                  <a:srgbClr val="64748B"/>
                </a:solidFill>
                <a:latin typeface="Calibri" pitchFamily="34" charset="0"/>
                <a:ea typeface="Calibri" pitchFamily="34" charset="-122"/>
                <a:cs typeface="Calibri"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130" dirty="0"/>
          </a:p>
        </p:txBody>
      </p:sp>
      <p:sp>
        <p:nvSpPr>
          <p:cNvPr id="8" name="Shape 6"/>
          <p:cNvSpPr/>
          <p:nvPr/>
        </p:nvSpPr>
        <p:spPr>
          <a:xfrm>
            <a:off x="502920" y="5029200"/>
            <a:ext cx="10607040" cy="1170432"/>
          </a:xfrm>
          <a:prstGeom prst="roundRect">
            <a:avLst>
              <a:gd name="adj" fmla="val 7031"/>
            </a:avLst>
          </a:prstGeom>
          <a:solidFill>
            <a:srgbClr val="FCF3E3"/>
          </a:solidFill>
          <a:ln w="12700">
            <a:solidFill>
              <a:srgbClr val="F0DDB0"/>
            </a:solidFill>
            <a:prstDash val="solid"/>
          </a:ln>
        </p:spPr>
      </p:sp>
      <p:sp>
        <p:nvSpPr>
          <p:cNvPr id="9" name="Text 7"/>
          <p:cNvSpPr/>
          <p:nvPr/>
        </p:nvSpPr>
        <p:spPr>
          <a:xfrm>
            <a:off x="758952" y="5102352"/>
            <a:ext cx="10104120" cy="1024128"/>
          </a:xfrm>
          <a:prstGeom prst="rect">
            <a:avLst/>
          </a:prstGeom>
          <a:noFill/>
          <a:ln/>
        </p:spPr>
        <p:txBody>
          <a:bodyPr wrap="square" lIns="0" tIns="0" rIns="0" bIns="0" rtlCol="0" anchor="t"/>
          <a:lstStyle/>
          <a:p>
            <a:pPr marL="0" indent="0">
              <a:lnSpc>
                <a:spcPct val="118000"/>
              </a:lnSpc>
              <a:buNone/>
            </a:pPr>
            <a:r>
              <a:rPr lang="en-US" sz="970" b="1" dirty="0">
                <a:solidFill>
                  <a:srgbClr val="8A5A0A"/>
                </a:solidFill>
                <a:latin typeface="Calibri" pitchFamily="34" charset="0"/>
                <a:ea typeface="Calibri" pitchFamily="34" charset="-122"/>
                <a:cs typeface="Calibri" pitchFamily="34" charset="-120"/>
              </a:rPr>
              <a:t>One honest asterisk: </a:t>
            </a:r>
            <a:r>
              <a:rPr lang="en-US" sz="970" dirty="0">
                <a:solidFill>
                  <a:srgbClr val="5C4008"/>
                </a:solidFill>
                <a:latin typeface="Calibri" pitchFamily="34" charset="0"/>
                <a:ea typeface="Calibri" pitchFamily="34" charset="-122"/>
                <a:cs typeface="Calibri" pitchFamily="34" charset="-120"/>
              </a:rPr>
              <a:t>unlike the other four classes, NOISE is the only fault type not simulated fresh in LTspice — it's built by post-processing an existing NORMAL waveform. Elsewhere this project rightly emphasizes “no synthetic data augmentation,” and that claim is accurate for drift/open/short/normal, but NOISE is a partial exception: it's synthetic in a way the other classes aren't. A stricter version would simulate noise as a true LTspice noise source (e.g. a behavioral voltage source with random current injection) rather than adding it after the fact in Python.</a:t>
            </a:r>
            <a:endParaRPr lang="en-US" sz="97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Four Circuit Topologies Under Test</a:t>
            </a:r>
            <a:endParaRPr lang="en-US" sz="3000" dirty="0"/>
          </a:p>
        </p:txBody>
      </p:sp>
      <p:sp>
        <p:nvSpPr>
          <p:cNvPr id="4" name="Shape 2"/>
          <p:cNvSpPr/>
          <p:nvPr/>
        </p:nvSpPr>
        <p:spPr>
          <a:xfrm>
            <a:off x="502920" y="1783080"/>
            <a:ext cx="1874520" cy="1965960"/>
          </a:xfrm>
          <a:prstGeom prst="roundRect">
            <a:avLst>
              <a:gd name="adj" fmla="val 3415"/>
            </a:avLst>
          </a:prstGeom>
          <a:solidFill>
            <a:srgbClr val="EAEEF4"/>
          </a:solidFill>
          <a:ln w="15875">
            <a:solidFill>
              <a:srgbClr val="9FB1C8"/>
            </a:solidFill>
            <a:prstDash val="dash"/>
          </a:ln>
        </p:spPr>
      </p:sp>
      <p:pic>
        <p:nvPicPr>
          <p:cNvPr id="5" name="Image 0" descr="/sessions/blissful-zealous-babbage/mnt/outputs/ppt/icons/microchip_64748B.png"/>
          <p:cNvPicPr>
            <a:picLocks noChangeAspect="1"/>
          </p:cNvPicPr>
          <p:nvPr/>
        </p:nvPicPr>
        <p:blipFill>
          <a:blip r:embed="rId3"/>
          <a:stretch>
            <a:fillRect/>
          </a:stretch>
        </p:blipFill>
        <p:spPr>
          <a:xfrm>
            <a:off x="1156716" y="1971446"/>
            <a:ext cx="566928" cy="566928"/>
          </a:xfrm>
          <a:prstGeom prst="rect">
            <a:avLst/>
          </a:prstGeom>
        </p:spPr>
      </p:pic>
      <p:sp>
        <p:nvSpPr>
          <p:cNvPr id="6" name="Text 3"/>
          <p:cNvSpPr/>
          <p:nvPr/>
        </p:nvSpPr>
        <p:spPr>
          <a:xfrm>
            <a:off x="685800" y="2453335"/>
            <a:ext cx="150876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7" name="Text 4"/>
          <p:cNvSpPr/>
          <p:nvPr/>
        </p:nvSpPr>
        <p:spPr>
          <a:xfrm>
            <a:off x="2560320" y="1892808"/>
            <a:ext cx="3108960" cy="3657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RC Low-Pass Filter</a:t>
            </a:r>
            <a:endParaRPr lang="en-US" sz="1500" dirty="0"/>
          </a:p>
        </p:txBody>
      </p:sp>
      <p:sp>
        <p:nvSpPr>
          <p:cNvPr id="8" name="Text 5"/>
          <p:cNvSpPr/>
          <p:nvPr/>
        </p:nvSpPr>
        <p:spPr>
          <a:xfrm>
            <a:off x="2560320" y="2313432"/>
            <a:ext cx="3063240" cy="1325880"/>
          </a:xfrm>
          <a:prstGeom prst="rect">
            <a:avLst/>
          </a:prstGeom>
          <a:noFill/>
          <a:ln/>
        </p:spPr>
        <p:txBody>
          <a:bodyPr wrap="square" lIns="0" tIns="0" rIns="0" bIns="0" rtlCol="0" anchor="ctr"/>
          <a:lstStyle/>
          <a:p>
            <a:pPr marL="0" indent="0">
              <a:lnSpc>
                <a:spcPct val="125000"/>
              </a:lnSpc>
              <a:buNone/>
            </a:pPr>
            <a:r>
              <a:rPr lang="en-US" sz="1080" dirty="0">
                <a:solidFill>
                  <a:srgbClr val="64748B"/>
                </a:solidFill>
                <a:latin typeface="Calibri" pitchFamily="34" charset="0"/>
                <a:ea typeface="Calibri" pitchFamily="34" charset="-122"/>
                <a:cs typeface="Calibri" pitchFamily="34" charset="-120"/>
              </a:rPr>
              <a:t>One resistor, one capacitor — the simplest baseline. A single-pole exponential charge/discharge response.</a:t>
            </a:r>
            <a:endParaRPr lang="en-US" sz="1080" dirty="0"/>
          </a:p>
        </p:txBody>
      </p:sp>
      <p:sp>
        <p:nvSpPr>
          <p:cNvPr id="9" name="Shape 6"/>
          <p:cNvSpPr/>
          <p:nvPr/>
        </p:nvSpPr>
        <p:spPr>
          <a:xfrm>
            <a:off x="6126480" y="1783080"/>
            <a:ext cx="1874520" cy="1965960"/>
          </a:xfrm>
          <a:prstGeom prst="roundRect">
            <a:avLst>
              <a:gd name="adj" fmla="val 3415"/>
            </a:avLst>
          </a:prstGeom>
          <a:solidFill>
            <a:srgbClr val="EAEEF4"/>
          </a:solidFill>
          <a:ln w="15875">
            <a:solidFill>
              <a:srgbClr val="9FB1C8"/>
            </a:solidFill>
            <a:prstDash val="dash"/>
          </a:ln>
        </p:spPr>
      </p:sp>
      <p:pic>
        <p:nvPicPr>
          <p:cNvPr id="10" name="Image 1" descr="/sessions/blissful-zealous-babbage/mnt/outputs/ppt/icons/microchip_64748B.png"/>
          <p:cNvPicPr>
            <a:picLocks noChangeAspect="1"/>
          </p:cNvPicPr>
          <p:nvPr/>
        </p:nvPicPr>
        <p:blipFill>
          <a:blip r:embed="rId3"/>
          <a:stretch>
            <a:fillRect/>
          </a:stretch>
        </p:blipFill>
        <p:spPr>
          <a:xfrm>
            <a:off x="6780276" y="1971446"/>
            <a:ext cx="566928" cy="566928"/>
          </a:xfrm>
          <a:prstGeom prst="rect">
            <a:avLst/>
          </a:prstGeom>
        </p:spPr>
      </p:pic>
      <p:sp>
        <p:nvSpPr>
          <p:cNvPr id="11" name="Text 7"/>
          <p:cNvSpPr/>
          <p:nvPr/>
        </p:nvSpPr>
        <p:spPr>
          <a:xfrm>
            <a:off x="6309360" y="2453335"/>
            <a:ext cx="150876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2" name="Text 8"/>
          <p:cNvSpPr/>
          <p:nvPr/>
        </p:nvSpPr>
        <p:spPr>
          <a:xfrm>
            <a:off x="8183880" y="1892808"/>
            <a:ext cx="3108960" cy="3657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RLC Series Circuit</a:t>
            </a:r>
            <a:endParaRPr lang="en-US" sz="1500" dirty="0"/>
          </a:p>
        </p:txBody>
      </p:sp>
      <p:sp>
        <p:nvSpPr>
          <p:cNvPr id="13" name="Text 9"/>
          <p:cNvSpPr/>
          <p:nvPr/>
        </p:nvSpPr>
        <p:spPr>
          <a:xfrm>
            <a:off x="8183880" y="2313432"/>
            <a:ext cx="3063240" cy="1325880"/>
          </a:xfrm>
          <a:prstGeom prst="rect">
            <a:avLst/>
          </a:prstGeom>
          <a:noFill/>
          <a:ln/>
        </p:spPr>
        <p:txBody>
          <a:bodyPr wrap="square" lIns="0" tIns="0" rIns="0" bIns="0" rtlCol="0" anchor="ctr"/>
          <a:lstStyle/>
          <a:p>
            <a:pPr marL="0" indent="0">
              <a:lnSpc>
                <a:spcPct val="125000"/>
              </a:lnSpc>
              <a:buNone/>
            </a:pPr>
            <a:r>
              <a:rPr lang="en-US" sz="1080" dirty="0">
                <a:solidFill>
                  <a:srgbClr val="64748B"/>
                </a:solidFill>
                <a:latin typeface="Calibri" pitchFamily="34" charset="0"/>
                <a:ea typeface="Calibri" pitchFamily="34" charset="-122"/>
                <a:cs typeface="Calibri" pitchFamily="34" charset="-120"/>
              </a:rPr>
              <a:t>Adds an inductor for an underdamped, oscillatory step response — richer dynamics than RC alone.</a:t>
            </a:r>
            <a:endParaRPr lang="en-US" sz="1080" dirty="0"/>
          </a:p>
        </p:txBody>
      </p:sp>
      <p:sp>
        <p:nvSpPr>
          <p:cNvPr id="14" name="Shape 10"/>
          <p:cNvSpPr/>
          <p:nvPr/>
        </p:nvSpPr>
        <p:spPr>
          <a:xfrm>
            <a:off x="502920" y="4069080"/>
            <a:ext cx="1874520" cy="1965960"/>
          </a:xfrm>
          <a:prstGeom prst="roundRect">
            <a:avLst>
              <a:gd name="adj" fmla="val 3415"/>
            </a:avLst>
          </a:prstGeom>
          <a:solidFill>
            <a:srgbClr val="EAEEF4"/>
          </a:solidFill>
          <a:ln w="15875">
            <a:solidFill>
              <a:srgbClr val="9FB1C8"/>
            </a:solidFill>
            <a:prstDash val="dash"/>
          </a:ln>
        </p:spPr>
      </p:sp>
      <p:pic>
        <p:nvPicPr>
          <p:cNvPr id="15" name="Image 2" descr="/sessions/blissful-zealous-babbage/mnt/outputs/ppt/icons/microchip_64748B.png"/>
          <p:cNvPicPr>
            <a:picLocks noChangeAspect="1"/>
          </p:cNvPicPr>
          <p:nvPr/>
        </p:nvPicPr>
        <p:blipFill>
          <a:blip r:embed="rId3"/>
          <a:stretch>
            <a:fillRect/>
          </a:stretch>
        </p:blipFill>
        <p:spPr>
          <a:xfrm>
            <a:off x="1156716" y="4257446"/>
            <a:ext cx="566928" cy="566928"/>
          </a:xfrm>
          <a:prstGeom prst="rect">
            <a:avLst/>
          </a:prstGeom>
        </p:spPr>
      </p:pic>
      <p:sp>
        <p:nvSpPr>
          <p:cNvPr id="16" name="Text 11"/>
          <p:cNvSpPr/>
          <p:nvPr/>
        </p:nvSpPr>
        <p:spPr>
          <a:xfrm>
            <a:off x="685800" y="4739335"/>
            <a:ext cx="150876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7" name="Text 12"/>
          <p:cNvSpPr/>
          <p:nvPr/>
        </p:nvSpPr>
        <p:spPr>
          <a:xfrm>
            <a:off x="2560320" y="4178808"/>
            <a:ext cx="3108960" cy="3657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Sallen-Key Active Filter</a:t>
            </a:r>
            <a:endParaRPr lang="en-US" sz="1500" dirty="0"/>
          </a:p>
        </p:txBody>
      </p:sp>
      <p:sp>
        <p:nvSpPr>
          <p:cNvPr id="18" name="Text 13"/>
          <p:cNvSpPr/>
          <p:nvPr/>
        </p:nvSpPr>
        <p:spPr>
          <a:xfrm>
            <a:off x="2560320" y="4599432"/>
            <a:ext cx="3063240" cy="1325880"/>
          </a:xfrm>
          <a:prstGeom prst="rect">
            <a:avLst/>
          </a:prstGeom>
          <a:noFill/>
          <a:ln/>
        </p:spPr>
        <p:txBody>
          <a:bodyPr wrap="square" lIns="0" tIns="0" rIns="0" bIns="0" rtlCol="0" anchor="ctr"/>
          <a:lstStyle/>
          <a:p>
            <a:pPr marL="0" indent="0">
              <a:lnSpc>
                <a:spcPct val="125000"/>
              </a:lnSpc>
              <a:buNone/>
            </a:pPr>
            <a:r>
              <a:rPr lang="en-US" sz="1080" dirty="0">
                <a:solidFill>
                  <a:srgbClr val="64748B"/>
                </a:solidFill>
                <a:latin typeface="Calibri" pitchFamily="34" charset="0"/>
                <a:ea typeface="Calibri" pitchFamily="34" charset="-122"/>
                <a:cs typeface="Calibri" pitchFamily="34" charset="-120"/>
              </a:rPr>
              <a:t>An op-amp based 2nd-order filter — the kind actually used in real analog signal-conditioning design.</a:t>
            </a:r>
            <a:endParaRPr lang="en-US" sz="1080" dirty="0"/>
          </a:p>
        </p:txBody>
      </p:sp>
      <p:sp>
        <p:nvSpPr>
          <p:cNvPr id="19" name="Shape 14"/>
          <p:cNvSpPr/>
          <p:nvPr/>
        </p:nvSpPr>
        <p:spPr>
          <a:xfrm>
            <a:off x="6126480" y="4069080"/>
            <a:ext cx="1874520" cy="1965960"/>
          </a:xfrm>
          <a:prstGeom prst="roundRect">
            <a:avLst>
              <a:gd name="adj" fmla="val 3415"/>
            </a:avLst>
          </a:prstGeom>
          <a:solidFill>
            <a:srgbClr val="EAEEF4"/>
          </a:solidFill>
          <a:ln w="15875">
            <a:solidFill>
              <a:srgbClr val="9FB1C8"/>
            </a:solidFill>
            <a:prstDash val="dash"/>
          </a:ln>
        </p:spPr>
      </p:sp>
      <p:pic>
        <p:nvPicPr>
          <p:cNvPr id="20" name="Image 3" descr="/sessions/blissful-zealous-babbage/mnt/outputs/ppt/icons/microchip_64748B.png"/>
          <p:cNvPicPr>
            <a:picLocks noChangeAspect="1"/>
          </p:cNvPicPr>
          <p:nvPr/>
        </p:nvPicPr>
        <p:blipFill>
          <a:blip r:embed="rId3"/>
          <a:stretch>
            <a:fillRect/>
          </a:stretch>
        </p:blipFill>
        <p:spPr>
          <a:xfrm>
            <a:off x="6780276" y="4257446"/>
            <a:ext cx="566928" cy="566928"/>
          </a:xfrm>
          <a:prstGeom prst="rect">
            <a:avLst/>
          </a:prstGeom>
        </p:spPr>
      </p:pic>
      <p:sp>
        <p:nvSpPr>
          <p:cNvPr id="21" name="Text 15"/>
          <p:cNvSpPr/>
          <p:nvPr/>
        </p:nvSpPr>
        <p:spPr>
          <a:xfrm>
            <a:off x="6309360" y="4739335"/>
            <a:ext cx="150876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22" name="Text 16"/>
          <p:cNvSpPr/>
          <p:nvPr/>
        </p:nvSpPr>
        <p:spPr>
          <a:xfrm>
            <a:off x="8183880" y="4178808"/>
            <a:ext cx="3108960" cy="36576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RC Ladder Network</a:t>
            </a:r>
            <a:endParaRPr lang="en-US" sz="1500" dirty="0"/>
          </a:p>
        </p:txBody>
      </p:sp>
      <p:sp>
        <p:nvSpPr>
          <p:cNvPr id="23" name="Text 17"/>
          <p:cNvSpPr/>
          <p:nvPr/>
        </p:nvSpPr>
        <p:spPr>
          <a:xfrm>
            <a:off x="8183880" y="4599432"/>
            <a:ext cx="3063240" cy="1325880"/>
          </a:xfrm>
          <a:prstGeom prst="rect">
            <a:avLst/>
          </a:prstGeom>
          <a:noFill/>
          <a:ln/>
        </p:spPr>
        <p:txBody>
          <a:bodyPr wrap="square" lIns="0" tIns="0" rIns="0" bIns="0" rtlCol="0" anchor="ctr"/>
          <a:lstStyle/>
          <a:p>
            <a:pPr marL="0" indent="0">
              <a:lnSpc>
                <a:spcPct val="125000"/>
              </a:lnSpc>
              <a:buNone/>
            </a:pPr>
            <a:r>
              <a:rPr lang="en-US" sz="1080" dirty="0">
                <a:solidFill>
                  <a:srgbClr val="64748B"/>
                </a:solidFill>
                <a:latin typeface="Calibri" pitchFamily="34" charset="0"/>
                <a:ea typeface="Calibri" pitchFamily="34" charset="-122"/>
                <a:cs typeface="Calibri" pitchFamily="34" charset="-120"/>
              </a:rPr>
              <a:t>Multiple RC stages cascaded together, producing a more complex multi-pole response.</a:t>
            </a:r>
            <a:endParaRPr lang="en-US" sz="108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pic>
        <p:nvPicPr>
          <p:cNvPr id="27" name="Picture 26">
            <a:extLst>
              <a:ext uri="{FF2B5EF4-FFF2-40B4-BE49-F238E27FC236}">
                <a16:creationId xmlns:a16="http://schemas.microsoft.com/office/drawing/2014/main" id="{B8886CD7-71CC-0D74-1AD8-4BC97D39EBCF}"/>
              </a:ext>
            </a:extLst>
          </p:cNvPr>
          <p:cNvPicPr>
            <a:picLocks noChangeAspect="1"/>
          </p:cNvPicPr>
          <p:nvPr/>
        </p:nvPicPr>
        <p:blipFill>
          <a:blip r:embed="rId4"/>
          <a:stretch>
            <a:fillRect/>
          </a:stretch>
        </p:blipFill>
        <p:spPr>
          <a:xfrm>
            <a:off x="176349" y="1755648"/>
            <a:ext cx="2305594" cy="2039112"/>
          </a:xfrm>
          <a:prstGeom prst="rect">
            <a:avLst/>
          </a:prstGeom>
        </p:spPr>
      </p:pic>
      <p:pic>
        <p:nvPicPr>
          <p:cNvPr id="29" name="Picture 28">
            <a:extLst>
              <a:ext uri="{FF2B5EF4-FFF2-40B4-BE49-F238E27FC236}">
                <a16:creationId xmlns:a16="http://schemas.microsoft.com/office/drawing/2014/main" id="{0357E38E-8415-259B-5B0C-F9F2445AC2FD}"/>
              </a:ext>
            </a:extLst>
          </p:cNvPr>
          <p:cNvPicPr>
            <a:picLocks noChangeAspect="1"/>
          </p:cNvPicPr>
          <p:nvPr/>
        </p:nvPicPr>
        <p:blipFill>
          <a:blip r:embed="rId5"/>
          <a:stretch>
            <a:fillRect/>
          </a:stretch>
        </p:blipFill>
        <p:spPr>
          <a:xfrm>
            <a:off x="5806440" y="1700327"/>
            <a:ext cx="2305595" cy="2058314"/>
          </a:xfrm>
          <a:prstGeom prst="rect">
            <a:avLst/>
          </a:prstGeom>
        </p:spPr>
      </p:pic>
      <p:pic>
        <p:nvPicPr>
          <p:cNvPr id="31" name="Picture 30">
            <a:extLst>
              <a:ext uri="{FF2B5EF4-FFF2-40B4-BE49-F238E27FC236}">
                <a16:creationId xmlns:a16="http://schemas.microsoft.com/office/drawing/2014/main" id="{AED6E564-92F1-AD0B-BCCD-CFF98E8991B1}"/>
              </a:ext>
            </a:extLst>
          </p:cNvPr>
          <p:cNvPicPr>
            <a:picLocks noChangeAspect="1"/>
          </p:cNvPicPr>
          <p:nvPr/>
        </p:nvPicPr>
        <p:blipFill>
          <a:blip r:embed="rId6"/>
          <a:stretch>
            <a:fillRect/>
          </a:stretch>
        </p:blipFill>
        <p:spPr>
          <a:xfrm>
            <a:off x="66947" y="4006900"/>
            <a:ext cx="2414996" cy="2467052"/>
          </a:xfrm>
          <a:prstGeom prst="rect">
            <a:avLst/>
          </a:prstGeom>
        </p:spPr>
      </p:pic>
      <p:pic>
        <p:nvPicPr>
          <p:cNvPr id="33" name="Picture 32">
            <a:extLst>
              <a:ext uri="{FF2B5EF4-FFF2-40B4-BE49-F238E27FC236}">
                <a16:creationId xmlns:a16="http://schemas.microsoft.com/office/drawing/2014/main" id="{5B0BD1BE-672A-9A48-1B7F-28FBD5AFAE17}"/>
              </a:ext>
            </a:extLst>
          </p:cNvPr>
          <p:cNvPicPr>
            <a:picLocks noChangeAspect="1"/>
          </p:cNvPicPr>
          <p:nvPr/>
        </p:nvPicPr>
        <p:blipFill>
          <a:blip r:embed="rId7"/>
          <a:stretch>
            <a:fillRect/>
          </a:stretch>
        </p:blipFill>
        <p:spPr>
          <a:xfrm>
            <a:off x="5768884" y="4006900"/>
            <a:ext cx="2343151" cy="236353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RC Low-Pass Filter — The Baseline</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marL="0" indent="0" algn="l">
              <a:lnSpc>
                <a:spcPct val="140000"/>
              </a:lnSpc>
              <a:buNone/>
            </a:pPr>
            <a:r>
              <a:rPr lang="en-US" sz="1600" dirty="0">
                <a:solidFill>
                  <a:srgbClr val="FFB703"/>
                </a:solidFill>
                <a:latin typeface="Courier New" pitchFamily="34" charset="0"/>
                <a:ea typeface="Courier New" pitchFamily="34" charset="-122"/>
                <a:cs typeface="Courier New" pitchFamily="34" charset="-120"/>
              </a:rPr>
              <a:t>H(s) = 1 / (1 + sRC)</a:t>
            </a:r>
            <a:endParaRPr lang="en-US" sz="1600" dirty="0"/>
          </a:p>
          <a:p>
            <a:pPr marL="0" indent="0" algn="l">
              <a:lnSpc>
                <a:spcPct val="140000"/>
              </a:lnSpc>
              <a:buNone/>
            </a:pPr>
            <a:r>
              <a:rPr lang="en-US" sz="1600" dirty="0">
                <a:solidFill>
                  <a:srgbClr val="E7ECF4"/>
                </a:solidFill>
                <a:latin typeface="Courier New" pitchFamily="34" charset="0"/>
                <a:ea typeface="Courier New" pitchFamily="34" charset="-122"/>
                <a:cs typeface="Courier New" pitchFamily="34" charset="-120"/>
              </a:rPr>
              <a:t>v(t) = V * (1 - e^(-t / RC))</a:t>
            </a:r>
            <a:endParaRPr lang="en-US" sz="1600" dirty="0"/>
          </a:p>
          <a:p>
            <a:pPr marL="0" indent="0" algn="l">
              <a:lnSpc>
                <a:spcPct val="140000"/>
              </a:lnSpc>
              <a:buNone/>
            </a:pPr>
            <a:r>
              <a:rPr lang="en-US" sz="1600" dirty="0">
                <a:solidFill>
                  <a:srgbClr val="E7ECF4"/>
                </a:solidFill>
                <a:latin typeface="Courier New" pitchFamily="34" charset="0"/>
                <a:ea typeface="Courier New" pitchFamily="34" charset="-122"/>
                <a:cs typeface="Courier New" pitchFamily="34" charset="-120"/>
              </a:rPr>
              <a:t>tau = R * C   (time constant)</a:t>
            </a:r>
            <a:endParaRPr lang="en-US" sz="16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R swept 100 ohm to 10 kilohm (normal/drift) with C fixed at 10 microfarad — tau ranges from about 1 ms to 100 ms.</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 the charging path is effectively blocked, so Vout never rises.</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Short: C swept down to 0.1-10 picofarad — tau collapses to picoseconds, so Vout jumps to 5V almost instantly.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icPr>
            <a:picLocks noChangeAspect="1"/>
          </p:cNvPicPr>
          <p:nvPr/>
        </p:nvPicPr>
        <p:blipFill>
          <a:blip r:embed="rId3"/>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pic>
        <p:nvPicPr>
          <p:cNvPr id="23" name="Picture 22">
            <a:extLst>
              <a:ext uri="{FF2B5EF4-FFF2-40B4-BE49-F238E27FC236}">
                <a16:creationId xmlns:a16="http://schemas.microsoft.com/office/drawing/2014/main" id="{111FF192-B38D-788D-506F-A95D445CEEC0}"/>
              </a:ext>
            </a:extLst>
          </p:cNvPr>
          <p:cNvPicPr>
            <a:picLocks noChangeAspect="1"/>
          </p:cNvPicPr>
          <p:nvPr/>
        </p:nvPicPr>
        <p:blipFill>
          <a:blip r:embed="rId4"/>
          <a:stretch>
            <a:fillRect/>
          </a:stretch>
        </p:blipFill>
        <p:spPr>
          <a:xfrm>
            <a:off x="6476074" y="1690006"/>
            <a:ext cx="5647889" cy="42993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marL="0" indent="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  </a:t>
            </a:r>
            <a:r>
              <a:rPr lang="en-US" sz="870" dirty="0">
                <a:solidFill>
                  <a:srgbClr val="3D3620"/>
                </a:solidFill>
                <a:latin typeface="Calibri" pitchFamily="34" charset="0"/>
                <a:ea typeface="Calibri" pitchFamily="34" charset="-122"/>
                <a:cs typeface="Calibri" pitchFamily="34" charset="-120"/>
              </a:rPr>
              <a:t>Just a resistor and capacitor charging up, like a bucket filling with water — tau is simply how long that fill takes.</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RLC Series Circuit — Adding Oscillation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marL="0" indent="0" algn="l">
              <a:lnSpc>
                <a:spcPct val="140000"/>
              </a:lnSpc>
              <a:buNone/>
            </a:pPr>
            <a:r>
              <a:rPr lang="en-US" sz="1500" dirty="0">
                <a:solidFill>
                  <a:srgbClr val="FFB703"/>
                </a:solidFill>
                <a:latin typeface="Courier New" pitchFamily="34" charset="0"/>
                <a:ea typeface="Courier New" pitchFamily="34" charset="-122"/>
                <a:cs typeface="Courier New" pitchFamily="34" charset="-120"/>
              </a:rPr>
              <a:t>H(s) = 1 / (LCs^2 + RCs + 1)</a:t>
            </a:r>
            <a:endParaRPr lang="en-US" sz="1500" dirty="0"/>
          </a:p>
          <a:p>
            <a:pPr marL="0" indent="0" algn="l">
              <a:lnSpc>
                <a:spcPct val="140000"/>
              </a:lnSpc>
              <a:buNone/>
            </a:pPr>
            <a:r>
              <a:rPr lang="en-US" sz="1500" dirty="0">
                <a:solidFill>
                  <a:srgbClr val="E7ECF4"/>
                </a:solidFill>
                <a:latin typeface="Courier New" pitchFamily="34" charset="0"/>
                <a:ea typeface="Courier New" pitchFamily="34" charset="-122"/>
                <a:cs typeface="Courier New" pitchFamily="34" charset="-120"/>
              </a:rPr>
              <a:t>omega_0 = 1 / sqrt(LC)     zeta = (R/2) * sqrt(C/L)</a:t>
            </a:r>
            <a:endParaRPr lang="en-US" sz="15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L swept 1 mH to 100 mH (normal/drift), with R = 10 ohm and C = 100 microfarad fixed — a genuinely underdamped, oscillatory step response.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Because zeta is small, the output rings before settling — a signature no RC-only circuit can produce.</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in series, blocking the current path entirely.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icPr>
            <a:picLocks noChangeAspect="1"/>
          </p:cNvPicPr>
          <p:nvPr/>
        </p:nvPicPr>
        <p:blipFill>
          <a:blip r:embed="rId3"/>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pic>
        <p:nvPicPr>
          <p:cNvPr id="21" name="Picture 20">
            <a:extLst>
              <a:ext uri="{FF2B5EF4-FFF2-40B4-BE49-F238E27FC236}">
                <a16:creationId xmlns:a16="http://schemas.microsoft.com/office/drawing/2014/main" id="{585FB26E-C478-730B-15A3-4D9478CEB106}"/>
              </a:ext>
            </a:extLst>
          </p:cNvPr>
          <p:cNvPicPr>
            <a:picLocks noChangeAspect="1"/>
          </p:cNvPicPr>
          <p:nvPr/>
        </p:nvPicPr>
        <p:blipFill>
          <a:blip r:embed="rId4"/>
          <a:stretch>
            <a:fillRect/>
          </a:stretch>
        </p:blipFill>
        <p:spPr>
          <a:xfrm>
            <a:off x="6537960" y="1755648"/>
            <a:ext cx="5577840" cy="43699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marL="0" indent="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  </a:t>
            </a:r>
            <a:r>
              <a:rPr lang="en-US" sz="870" dirty="0">
                <a:solidFill>
                  <a:srgbClr val="3D3620"/>
                </a:solidFill>
                <a:latin typeface="Calibri" pitchFamily="34" charset="0"/>
                <a:ea typeface="Calibri" pitchFamily="34" charset="-122"/>
                <a:cs typeface="Calibri"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Sallen-Key Active Filter — A Real Design Pattern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marL="0" indent="0" algn="l">
              <a:lnSpc>
                <a:spcPct val="140000"/>
              </a:lnSpc>
              <a:buNone/>
            </a:pPr>
            <a:r>
              <a:rPr lang="en-US" sz="1400" dirty="0">
                <a:solidFill>
                  <a:srgbClr val="FFB703"/>
                </a:solidFill>
                <a:latin typeface="Courier New" pitchFamily="34" charset="0"/>
                <a:ea typeface="Courier New" pitchFamily="34" charset="-122"/>
                <a:cs typeface="Courier New" pitchFamily="34" charset="-120"/>
              </a:rPr>
              <a:t>f_c = 1 / (2*pi*sqrt(R1*R2*C1*C2))</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R1 = R2 swept 1 kilohm to 100 kilohm together; C1 = C2 = 10 nanofarad fixed; dual +-15V supply, LT1001 op-amp model.</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This is the one topology here that's actually used in production analog signal-conditioning circuits — not just a textbook passive network.</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Its op-amp feedback path gives it a distinct response shape from the three purely passive circuits.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icPr>
            <a:picLocks noChangeAspect="1"/>
          </p:cNvPicPr>
          <p:nvPr/>
        </p:nvPicPr>
        <p:blipFill>
          <a:blip r:embed="rId3"/>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pic>
        <p:nvPicPr>
          <p:cNvPr id="25" name="Picture 24">
            <a:extLst>
              <a:ext uri="{FF2B5EF4-FFF2-40B4-BE49-F238E27FC236}">
                <a16:creationId xmlns:a16="http://schemas.microsoft.com/office/drawing/2014/main" id="{3F99723F-9182-9D89-F4F5-BE33124E0829}"/>
              </a:ext>
            </a:extLst>
          </p:cNvPr>
          <p:cNvPicPr>
            <a:picLocks noChangeAspect="1"/>
          </p:cNvPicPr>
          <p:nvPr/>
        </p:nvPicPr>
        <p:blipFill>
          <a:blip r:embed="rId4"/>
          <a:stretch>
            <a:fillRect/>
          </a:stretch>
        </p:blipFill>
        <p:spPr>
          <a:xfrm>
            <a:off x="6537960" y="1705860"/>
            <a:ext cx="5586004" cy="4314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marL="0" indent="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a:t>
            </a:r>
            <a:r>
              <a:rPr lang="en-US" sz="870" dirty="0">
                <a:solidFill>
                  <a:srgbClr val="3D3620"/>
                </a:solidFill>
                <a:latin typeface="Calibri" pitchFamily="34" charset="0"/>
                <a:ea typeface="Calibri" pitchFamily="34" charset="-122"/>
                <a:cs typeface="Calibri"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RC Ladder Network — Cascaded Stages</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marL="0" indent="0" algn="l">
              <a:lnSpc>
                <a:spcPct val="140000"/>
              </a:lnSpc>
              <a:buNone/>
            </a:pPr>
            <a:r>
              <a:rPr lang="en-US" sz="1400" dirty="0">
                <a:solidFill>
                  <a:srgbClr val="FFB703"/>
                </a:solidFill>
                <a:latin typeface="Courier New" pitchFamily="34" charset="0"/>
                <a:ea typeface="Courier New" pitchFamily="34" charset="-122"/>
                <a:cs typeface="Courier New" pitchFamily="34" charset="-120"/>
              </a:rPr>
              <a:t>Stage 1: 1/(1+sR1C1)   -&gt;   Stage 2: 1/(1+sR2C2)</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H(s) = Stage1(s) * Stage2(s)   (multi-pole)</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Two RC stages in series, R1 = R2 swept together 100 ohm to 10 kilohm, C1 = C2 = 10 microfarad — each stage contributes its own pole.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A fault in an earlier stage propagates and interacts with the second stage, producing subtler waveform changes than a single RC stage would.</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marL="0" indent="0">
              <a:lnSpc>
                <a:spcPct val="122000"/>
              </a:lnSpc>
              <a:buNone/>
            </a:pPr>
            <a:r>
              <a:rPr lang="en-US" sz="1130" dirty="0">
                <a:solidFill>
                  <a:srgbClr val="64748B"/>
                </a:solidFill>
                <a:latin typeface="Calibri" pitchFamily="34" charset="0"/>
                <a:ea typeface="Calibri" pitchFamily="34" charset="-122"/>
                <a:cs typeface="Calibri" pitchFamily="34" charset="-120"/>
              </a:rPr>
              <a:t>This structural similarity to the plain RC circuit is exactly what makes the two easy to confuse later, in Results.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icPr>
            <a:picLocks noChangeAspect="1"/>
          </p:cNvPicPr>
          <p:nvPr/>
        </p:nvPicPr>
        <p:blipFill>
          <a:blip r:embed="rId3"/>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pic>
        <p:nvPicPr>
          <p:cNvPr id="21" name="Picture 20">
            <a:extLst>
              <a:ext uri="{FF2B5EF4-FFF2-40B4-BE49-F238E27FC236}">
                <a16:creationId xmlns:a16="http://schemas.microsoft.com/office/drawing/2014/main" id="{F2DD7646-34D2-0309-103A-2CC9095C7CDB}"/>
              </a:ext>
            </a:extLst>
          </p:cNvPr>
          <p:cNvPicPr>
            <a:picLocks noChangeAspect="1"/>
          </p:cNvPicPr>
          <p:nvPr/>
        </p:nvPicPr>
        <p:blipFill>
          <a:blip r:embed="rId4"/>
          <a:stretch>
            <a:fillRect/>
          </a:stretch>
        </p:blipFill>
        <p:spPr>
          <a:xfrm>
            <a:off x="6437377" y="1783081"/>
            <a:ext cx="5596780" cy="42339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 1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Same Circuit, Five Different Personalities</a:t>
            </a:r>
            <a:endParaRPr lang="en-US" sz="3000" dirty="0"/>
          </a:p>
        </p:txBody>
      </p:sp>
      <p:sp>
        <p:nvSpPr>
          <p:cNvPr id="4" name="Text 2"/>
          <p:cNvSpPr/>
          <p:nvPr/>
        </p:nvSpPr>
        <p:spPr>
          <a:xfrm>
            <a:off x="502920" y="1417320"/>
            <a:ext cx="10515600" cy="365760"/>
          </a:xfrm>
          <a:prstGeom prst="rect">
            <a:avLst/>
          </a:prstGeom>
          <a:noFill/>
          <a:ln/>
        </p:spPr>
        <p:txBody>
          <a:bodyPr wrap="square" lIns="0" tIns="0" rIns="0" bIns="0" rtlCol="0" anchor="ctr"/>
          <a:lstStyle/>
          <a:p>
            <a:pPr marL="0" indent="0">
              <a:buNone/>
            </a:pPr>
            <a:r>
              <a:rPr lang="en-US" sz="1250" i="1" dirty="0">
                <a:solidFill>
                  <a:srgbClr val="64748B"/>
                </a:solidFill>
                <a:latin typeface="Calibri" pitchFamily="34" charset="0"/>
                <a:ea typeface="Calibri" pitchFamily="34" charset="-122"/>
                <a:cs typeface="Calibri" pitchFamily="34" charset="-120"/>
              </a:rPr>
              <a:t>Example: an RC low-pass filter's step response under each of the five fault conditions.</a:t>
            </a:r>
            <a:endParaRPr lang="en-US" sz="1250" dirty="0"/>
          </a:p>
        </p:txBody>
      </p:sp>
      <p:sp>
        <p:nvSpPr>
          <p:cNvPr id="5" name="Shape 3"/>
          <p:cNvSpPr/>
          <p:nvPr/>
        </p:nvSpPr>
        <p:spPr>
          <a:xfrm>
            <a:off x="502920" y="1965960"/>
            <a:ext cx="2066544" cy="3794760"/>
          </a:xfrm>
          <a:prstGeom prst="roundRect">
            <a:avLst>
              <a:gd name="adj" fmla="val 3097"/>
            </a:avLst>
          </a:prstGeom>
          <a:solidFill>
            <a:srgbClr val="EAEEF4"/>
          </a:solidFill>
          <a:ln w="15875">
            <a:solidFill>
              <a:srgbClr val="9FB1C8"/>
            </a:solidFill>
            <a:prstDash val="dash"/>
          </a:ln>
        </p:spPr>
      </p:sp>
      <p:pic>
        <p:nvPicPr>
          <p:cNvPr id="6" name="Image 0" descr="/sessions/blissful-zealous-babbage/mnt/outputs/ppt/icons/wave_64748B.png"/>
          <p:cNvPicPr>
            <a:picLocks noChangeAspect="1"/>
          </p:cNvPicPr>
          <p:nvPr/>
        </p:nvPicPr>
        <p:blipFill>
          <a:blip r:embed="rId3"/>
          <a:stretch>
            <a:fillRect/>
          </a:stretch>
        </p:blipFill>
        <p:spPr>
          <a:xfrm>
            <a:off x="1252728" y="2593238"/>
            <a:ext cx="566928" cy="566928"/>
          </a:xfrm>
          <a:prstGeom prst="rect">
            <a:avLst/>
          </a:prstGeom>
        </p:spPr>
      </p:pic>
      <p:sp>
        <p:nvSpPr>
          <p:cNvPr id="7" name="Text 4"/>
          <p:cNvSpPr/>
          <p:nvPr/>
        </p:nvSpPr>
        <p:spPr>
          <a:xfrm>
            <a:off x="685800" y="3075127"/>
            <a:ext cx="1700784"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8" name="Text 5"/>
          <p:cNvSpPr/>
          <p:nvPr/>
        </p:nvSpPr>
        <p:spPr>
          <a:xfrm>
            <a:off x="777240" y="3422599"/>
            <a:ext cx="1517904" cy="1214323"/>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Normal response</a:t>
            </a:r>
            <a:endParaRPr lang="en-US" sz="1050" dirty="0"/>
          </a:p>
        </p:txBody>
      </p:sp>
      <p:pic>
        <p:nvPicPr>
          <p:cNvPr id="38" name="Picture 37">
            <a:extLst>
              <a:ext uri="{FF2B5EF4-FFF2-40B4-BE49-F238E27FC236}">
                <a16:creationId xmlns:a16="http://schemas.microsoft.com/office/drawing/2014/main" id="{51714DE6-4500-FF8C-CFCC-7B6326F34646}"/>
              </a:ext>
            </a:extLst>
          </p:cNvPr>
          <p:cNvPicPr>
            <a:picLocks noChangeAspect="1"/>
          </p:cNvPicPr>
          <p:nvPr/>
        </p:nvPicPr>
        <p:blipFill>
          <a:blip r:embed="rId4"/>
          <a:stretch>
            <a:fillRect/>
          </a:stretch>
        </p:blipFill>
        <p:spPr>
          <a:xfrm>
            <a:off x="521208" y="1828800"/>
            <a:ext cx="2080260" cy="39776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Shape 6"/>
          <p:cNvSpPr/>
          <p:nvPr/>
        </p:nvSpPr>
        <p:spPr>
          <a:xfrm>
            <a:off x="502920" y="5888736"/>
            <a:ext cx="2066544" cy="365760"/>
          </a:xfrm>
          <a:prstGeom prst="roundRect">
            <a:avLst>
              <a:gd name="adj" fmla="val 15000"/>
            </a:avLst>
          </a:prstGeom>
          <a:solidFill>
            <a:srgbClr val="0B1F3A"/>
          </a:solidFill>
          <a:ln/>
        </p:spPr>
      </p:sp>
      <p:sp>
        <p:nvSpPr>
          <p:cNvPr id="10" name="Text 7"/>
          <p:cNvSpPr/>
          <p:nvPr/>
        </p:nvSpPr>
        <p:spPr>
          <a:xfrm>
            <a:off x="502920" y="5888736"/>
            <a:ext cx="2066544"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Normal</a:t>
            </a:r>
            <a:endParaRPr lang="en-US" sz="1250" dirty="0"/>
          </a:p>
        </p:txBody>
      </p:sp>
      <p:sp>
        <p:nvSpPr>
          <p:cNvPr id="11" name="Shape 8"/>
          <p:cNvSpPr/>
          <p:nvPr/>
        </p:nvSpPr>
        <p:spPr>
          <a:xfrm>
            <a:off x="2738628" y="1965960"/>
            <a:ext cx="2066544" cy="3794760"/>
          </a:xfrm>
          <a:prstGeom prst="roundRect">
            <a:avLst>
              <a:gd name="adj" fmla="val 3097"/>
            </a:avLst>
          </a:prstGeom>
          <a:solidFill>
            <a:srgbClr val="EAEEF4"/>
          </a:solidFill>
          <a:ln w="15875">
            <a:solidFill>
              <a:srgbClr val="9FB1C8"/>
            </a:solidFill>
            <a:prstDash val="dash"/>
          </a:ln>
        </p:spPr>
      </p:sp>
      <p:pic>
        <p:nvPicPr>
          <p:cNvPr id="12" name="Image 1" descr="/sessions/blissful-zealous-babbage/mnt/outputs/ppt/icons/wave_64748B.png"/>
          <p:cNvPicPr>
            <a:picLocks noChangeAspect="1"/>
          </p:cNvPicPr>
          <p:nvPr/>
        </p:nvPicPr>
        <p:blipFill>
          <a:blip r:embed="rId3"/>
          <a:stretch>
            <a:fillRect/>
          </a:stretch>
        </p:blipFill>
        <p:spPr>
          <a:xfrm>
            <a:off x="3488436" y="2593238"/>
            <a:ext cx="566928" cy="566928"/>
          </a:xfrm>
          <a:prstGeom prst="rect">
            <a:avLst/>
          </a:prstGeom>
        </p:spPr>
      </p:pic>
      <p:sp>
        <p:nvSpPr>
          <p:cNvPr id="13" name="Text 9"/>
          <p:cNvSpPr/>
          <p:nvPr/>
        </p:nvSpPr>
        <p:spPr>
          <a:xfrm>
            <a:off x="2921508" y="3075127"/>
            <a:ext cx="1700784"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14" name="Text 10"/>
          <p:cNvSpPr/>
          <p:nvPr/>
        </p:nvSpPr>
        <p:spPr>
          <a:xfrm>
            <a:off x="3012948" y="3422599"/>
            <a:ext cx="1517904" cy="1214323"/>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Drift response</a:t>
            </a:r>
            <a:endParaRPr lang="en-US" sz="1050" dirty="0"/>
          </a:p>
        </p:txBody>
      </p:sp>
      <p:pic>
        <p:nvPicPr>
          <p:cNvPr id="40" name="Picture 39">
            <a:extLst>
              <a:ext uri="{FF2B5EF4-FFF2-40B4-BE49-F238E27FC236}">
                <a16:creationId xmlns:a16="http://schemas.microsoft.com/office/drawing/2014/main" id="{8FE1EDB5-D732-6E87-1A96-7AC3D62A4C29}"/>
              </a:ext>
            </a:extLst>
          </p:cNvPr>
          <p:cNvPicPr>
            <a:picLocks noChangeAspect="1"/>
          </p:cNvPicPr>
          <p:nvPr/>
        </p:nvPicPr>
        <p:blipFill>
          <a:blip r:embed="rId5"/>
          <a:stretch>
            <a:fillRect/>
          </a:stretch>
        </p:blipFill>
        <p:spPr>
          <a:xfrm>
            <a:off x="2752344" y="1837944"/>
            <a:ext cx="2080260" cy="39018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Shape 11"/>
          <p:cNvSpPr/>
          <p:nvPr/>
        </p:nvSpPr>
        <p:spPr>
          <a:xfrm>
            <a:off x="2738628" y="5888736"/>
            <a:ext cx="2066544" cy="365760"/>
          </a:xfrm>
          <a:prstGeom prst="roundRect">
            <a:avLst>
              <a:gd name="adj" fmla="val 15000"/>
            </a:avLst>
          </a:prstGeom>
          <a:solidFill>
            <a:srgbClr val="0B1F3A"/>
          </a:solidFill>
          <a:ln/>
        </p:spPr>
      </p:sp>
      <p:sp>
        <p:nvSpPr>
          <p:cNvPr id="16" name="Text 12"/>
          <p:cNvSpPr/>
          <p:nvPr/>
        </p:nvSpPr>
        <p:spPr>
          <a:xfrm>
            <a:off x="2738628" y="5888736"/>
            <a:ext cx="2066544"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Drift</a:t>
            </a:r>
            <a:endParaRPr lang="en-US" sz="1250" dirty="0"/>
          </a:p>
        </p:txBody>
      </p:sp>
      <p:sp>
        <p:nvSpPr>
          <p:cNvPr id="17" name="Shape 13"/>
          <p:cNvSpPr/>
          <p:nvPr/>
        </p:nvSpPr>
        <p:spPr>
          <a:xfrm>
            <a:off x="4974336" y="1965960"/>
            <a:ext cx="2066544" cy="3794760"/>
          </a:xfrm>
          <a:prstGeom prst="roundRect">
            <a:avLst>
              <a:gd name="adj" fmla="val 3097"/>
            </a:avLst>
          </a:prstGeom>
          <a:solidFill>
            <a:srgbClr val="EAEEF4"/>
          </a:solidFill>
          <a:ln w="15875">
            <a:solidFill>
              <a:srgbClr val="9FB1C8"/>
            </a:solidFill>
            <a:prstDash val="dash"/>
          </a:ln>
        </p:spPr>
      </p:sp>
      <p:pic>
        <p:nvPicPr>
          <p:cNvPr id="18" name="Image 2" descr="/sessions/blissful-zealous-babbage/mnt/outputs/ppt/icons/wave_64748B.png"/>
          <p:cNvPicPr>
            <a:picLocks noChangeAspect="1"/>
          </p:cNvPicPr>
          <p:nvPr/>
        </p:nvPicPr>
        <p:blipFill>
          <a:blip r:embed="rId3"/>
          <a:stretch>
            <a:fillRect/>
          </a:stretch>
        </p:blipFill>
        <p:spPr>
          <a:xfrm>
            <a:off x="5724144" y="2593238"/>
            <a:ext cx="566928" cy="566928"/>
          </a:xfrm>
          <a:prstGeom prst="rect">
            <a:avLst/>
          </a:prstGeom>
        </p:spPr>
      </p:pic>
      <p:sp>
        <p:nvSpPr>
          <p:cNvPr id="19" name="Text 14"/>
          <p:cNvSpPr/>
          <p:nvPr/>
        </p:nvSpPr>
        <p:spPr>
          <a:xfrm>
            <a:off x="5157216" y="3075127"/>
            <a:ext cx="1700784"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0" name="Text 15"/>
          <p:cNvSpPr/>
          <p:nvPr/>
        </p:nvSpPr>
        <p:spPr>
          <a:xfrm>
            <a:off x="5248656" y="3422599"/>
            <a:ext cx="1517904" cy="1214323"/>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Open response</a:t>
            </a:r>
            <a:endParaRPr lang="en-US" sz="1050" dirty="0"/>
          </a:p>
        </p:txBody>
      </p:sp>
      <p:pic>
        <p:nvPicPr>
          <p:cNvPr id="42" name="Picture 41">
            <a:extLst>
              <a:ext uri="{FF2B5EF4-FFF2-40B4-BE49-F238E27FC236}">
                <a16:creationId xmlns:a16="http://schemas.microsoft.com/office/drawing/2014/main" id="{B1E78555-E8C3-BEFC-60A4-86DE687A0594}"/>
              </a:ext>
            </a:extLst>
          </p:cNvPr>
          <p:cNvPicPr>
            <a:picLocks noChangeAspect="1"/>
          </p:cNvPicPr>
          <p:nvPr/>
        </p:nvPicPr>
        <p:blipFill>
          <a:blip r:embed="rId6"/>
          <a:stretch>
            <a:fillRect/>
          </a:stretch>
        </p:blipFill>
        <p:spPr>
          <a:xfrm>
            <a:off x="4981957" y="1837944"/>
            <a:ext cx="2136647" cy="39018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1" name="Shape 16"/>
          <p:cNvSpPr/>
          <p:nvPr/>
        </p:nvSpPr>
        <p:spPr>
          <a:xfrm>
            <a:off x="4974336" y="5888736"/>
            <a:ext cx="2066544" cy="365760"/>
          </a:xfrm>
          <a:prstGeom prst="roundRect">
            <a:avLst>
              <a:gd name="adj" fmla="val 15000"/>
            </a:avLst>
          </a:prstGeom>
          <a:solidFill>
            <a:srgbClr val="0B1F3A"/>
          </a:solidFill>
          <a:ln/>
        </p:spPr>
      </p:sp>
      <p:sp>
        <p:nvSpPr>
          <p:cNvPr id="22" name="Text 17"/>
          <p:cNvSpPr/>
          <p:nvPr/>
        </p:nvSpPr>
        <p:spPr>
          <a:xfrm>
            <a:off x="4974336" y="5888736"/>
            <a:ext cx="2066544"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Open</a:t>
            </a:r>
            <a:endParaRPr lang="en-US" sz="1250" dirty="0"/>
          </a:p>
        </p:txBody>
      </p:sp>
      <p:sp>
        <p:nvSpPr>
          <p:cNvPr id="23" name="Shape 18"/>
          <p:cNvSpPr/>
          <p:nvPr/>
        </p:nvSpPr>
        <p:spPr>
          <a:xfrm>
            <a:off x="7210044" y="1965960"/>
            <a:ext cx="2066544" cy="3794760"/>
          </a:xfrm>
          <a:prstGeom prst="roundRect">
            <a:avLst>
              <a:gd name="adj" fmla="val 3097"/>
            </a:avLst>
          </a:prstGeom>
          <a:solidFill>
            <a:srgbClr val="EAEEF4"/>
          </a:solidFill>
          <a:ln w="15875">
            <a:solidFill>
              <a:srgbClr val="9FB1C8"/>
            </a:solidFill>
            <a:prstDash val="dash"/>
          </a:ln>
        </p:spPr>
      </p:sp>
      <p:pic>
        <p:nvPicPr>
          <p:cNvPr id="24" name="Image 3" descr="/sessions/blissful-zealous-babbage/mnt/outputs/ppt/icons/wave_64748B.png"/>
          <p:cNvPicPr>
            <a:picLocks noChangeAspect="1"/>
          </p:cNvPicPr>
          <p:nvPr/>
        </p:nvPicPr>
        <p:blipFill>
          <a:blip r:embed="rId3"/>
          <a:stretch>
            <a:fillRect/>
          </a:stretch>
        </p:blipFill>
        <p:spPr>
          <a:xfrm>
            <a:off x="7959852" y="2593238"/>
            <a:ext cx="566928" cy="566928"/>
          </a:xfrm>
          <a:prstGeom prst="rect">
            <a:avLst/>
          </a:prstGeom>
        </p:spPr>
      </p:pic>
      <p:sp>
        <p:nvSpPr>
          <p:cNvPr id="25" name="Text 19"/>
          <p:cNvSpPr/>
          <p:nvPr/>
        </p:nvSpPr>
        <p:spPr>
          <a:xfrm>
            <a:off x="7392924" y="3075127"/>
            <a:ext cx="1700784"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6" name="Text 20"/>
          <p:cNvSpPr/>
          <p:nvPr/>
        </p:nvSpPr>
        <p:spPr>
          <a:xfrm>
            <a:off x="7484364" y="3422599"/>
            <a:ext cx="1517904" cy="1214323"/>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Short response</a:t>
            </a:r>
            <a:endParaRPr lang="en-US" sz="1050" dirty="0"/>
          </a:p>
        </p:txBody>
      </p:sp>
      <p:pic>
        <p:nvPicPr>
          <p:cNvPr id="44" name="Picture 43">
            <a:extLst>
              <a:ext uri="{FF2B5EF4-FFF2-40B4-BE49-F238E27FC236}">
                <a16:creationId xmlns:a16="http://schemas.microsoft.com/office/drawing/2014/main" id="{A48E88BD-52F8-5140-2700-5A3577C42C6D}"/>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98000"/>
                    </a14:imgEffect>
                  </a14:imgLayer>
                </a14:imgProps>
              </a:ext>
            </a:extLst>
          </a:blip>
          <a:stretch>
            <a:fillRect/>
          </a:stretch>
        </p:blipFill>
        <p:spPr>
          <a:xfrm>
            <a:off x="7255764" y="1822924"/>
            <a:ext cx="2136648" cy="39227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Shape 21"/>
          <p:cNvSpPr/>
          <p:nvPr/>
        </p:nvSpPr>
        <p:spPr>
          <a:xfrm>
            <a:off x="7210044" y="5888736"/>
            <a:ext cx="2066544" cy="365760"/>
          </a:xfrm>
          <a:prstGeom prst="roundRect">
            <a:avLst>
              <a:gd name="adj" fmla="val 15000"/>
            </a:avLst>
          </a:prstGeom>
          <a:solidFill>
            <a:srgbClr val="0B1F3A"/>
          </a:solidFill>
          <a:ln/>
        </p:spPr>
      </p:sp>
      <p:sp>
        <p:nvSpPr>
          <p:cNvPr id="28" name="Text 22"/>
          <p:cNvSpPr/>
          <p:nvPr/>
        </p:nvSpPr>
        <p:spPr>
          <a:xfrm>
            <a:off x="7210044" y="5888736"/>
            <a:ext cx="2066544"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Short</a:t>
            </a:r>
            <a:endParaRPr lang="en-US" sz="1250" dirty="0"/>
          </a:p>
        </p:txBody>
      </p:sp>
      <p:sp>
        <p:nvSpPr>
          <p:cNvPr id="29" name="Shape 23"/>
          <p:cNvSpPr/>
          <p:nvPr/>
        </p:nvSpPr>
        <p:spPr>
          <a:xfrm>
            <a:off x="9445752" y="1965960"/>
            <a:ext cx="2066544" cy="3794760"/>
          </a:xfrm>
          <a:prstGeom prst="roundRect">
            <a:avLst>
              <a:gd name="adj" fmla="val 3097"/>
            </a:avLst>
          </a:prstGeom>
          <a:solidFill>
            <a:srgbClr val="EAEEF4"/>
          </a:solidFill>
          <a:ln w="15875">
            <a:solidFill>
              <a:srgbClr val="9FB1C8"/>
            </a:solidFill>
            <a:prstDash val="dash"/>
          </a:ln>
        </p:spPr>
      </p:sp>
      <p:pic>
        <p:nvPicPr>
          <p:cNvPr id="30" name="Image 4" descr="/sessions/blissful-zealous-babbage/mnt/outputs/ppt/icons/wave_64748B.png"/>
          <p:cNvPicPr>
            <a:picLocks noChangeAspect="1"/>
          </p:cNvPicPr>
          <p:nvPr/>
        </p:nvPicPr>
        <p:blipFill>
          <a:blip r:embed="rId3"/>
          <a:stretch>
            <a:fillRect/>
          </a:stretch>
        </p:blipFill>
        <p:spPr>
          <a:xfrm>
            <a:off x="10195560" y="2593238"/>
            <a:ext cx="566928" cy="566928"/>
          </a:xfrm>
          <a:prstGeom prst="rect">
            <a:avLst/>
          </a:prstGeom>
        </p:spPr>
      </p:pic>
      <p:sp>
        <p:nvSpPr>
          <p:cNvPr id="31" name="Text 24"/>
          <p:cNvSpPr/>
          <p:nvPr/>
        </p:nvSpPr>
        <p:spPr>
          <a:xfrm>
            <a:off x="9628632" y="3075127"/>
            <a:ext cx="1700784"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32" name="Text 25"/>
          <p:cNvSpPr/>
          <p:nvPr/>
        </p:nvSpPr>
        <p:spPr>
          <a:xfrm>
            <a:off x="9720072" y="3422599"/>
            <a:ext cx="1517904" cy="1214323"/>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Noise response</a:t>
            </a:r>
            <a:endParaRPr lang="en-US" sz="1050" dirty="0"/>
          </a:p>
        </p:txBody>
      </p:sp>
      <p:pic>
        <p:nvPicPr>
          <p:cNvPr id="46" name="Picture 45">
            <a:extLst>
              <a:ext uri="{FF2B5EF4-FFF2-40B4-BE49-F238E27FC236}">
                <a16:creationId xmlns:a16="http://schemas.microsoft.com/office/drawing/2014/main" id="{CFC8F847-10F4-5FB7-9AD2-4103D9C5C0DD}"/>
              </a:ext>
            </a:extLst>
          </p:cNvPr>
          <p:cNvPicPr>
            <a:picLocks noChangeAspect="1"/>
          </p:cNvPicPr>
          <p:nvPr/>
        </p:nvPicPr>
        <p:blipFill>
          <a:blip r:embed="rId9"/>
          <a:stretch>
            <a:fillRect/>
          </a:stretch>
        </p:blipFill>
        <p:spPr>
          <a:xfrm>
            <a:off x="9529572" y="1822924"/>
            <a:ext cx="2357820" cy="39893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3" name="Shape 26"/>
          <p:cNvSpPr/>
          <p:nvPr/>
        </p:nvSpPr>
        <p:spPr>
          <a:xfrm>
            <a:off x="9445752" y="5888736"/>
            <a:ext cx="2066544" cy="365760"/>
          </a:xfrm>
          <a:prstGeom prst="roundRect">
            <a:avLst>
              <a:gd name="adj" fmla="val 15000"/>
            </a:avLst>
          </a:prstGeom>
          <a:solidFill>
            <a:srgbClr val="0B1F3A"/>
          </a:solidFill>
          <a:ln/>
        </p:spPr>
      </p:sp>
      <p:sp>
        <p:nvSpPr>
          <p:cNvPr id="34" name="Text 27"/>
          <p:cNvSpPr/>
          <p:nvPr/>
        </p:nvSpPr>
        <p:spPr>
          <a:xfrm>
            <a:off x="9445752" y="5888736"/>
            <a:ext cx="2066544"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Noise</a:t>
            </a:r>
            <a:endParaRPr lang="en-US" sz="1250" dirty="0"/>
          </a:p>
        </p:txBody>
      </p:sp>
      <p:sp>
        <p:nvSpPr>
          <p:cNvPr id="35" name="Text 2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6" name="Text 2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The End-to-End Pipeline</a:t>
            </a:r>
            <a:endParaRPr lang="en-US" sz="3000" dirty="0"/>
          </a:p>
        </p:txBody>
      </p:sp>
      <p:sp>
        <p:nvSpPr>
          <p:cNvPr id="4" name="Shape 2"/>
          <p:cNvSpPr/>
          <p:nvPr/>
        </p:nvSpPr>
        <p:spPr>
          <a:xfrm>
            <a:off x="1844040" y="3063240"/>
            <a:ext cx="853440" cy="0"/>
          </a:xfrm>
          <a:prstGeom prst="line">
            <a:avLst/>
          </a:prstGeom>
          <a:noFill/>
          <a:ln w="22225">
            <a:solidFill>
              <a:srgbClr val="AEBED4"/>
            </a:solidFill>
            <a:prstDash val="solid"/>
            <a:tailEnd type="triangle"/>
          </a:ln>
        </p:spPr>
      </p:sp>
      <p:sp>
        <p:nvSpPr>
          <p:cNvPr id="5" name="Shape 3"/>
          <p:cNvSpPr/>
          <p:nvPr/>
        </p:nvSpPr>
        <p:spPr>
          <a:xfrm>
            <a:off x="929640" y="2606040"/>
            <a:ext cx="914400" cy="914400"/>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flask_00B4D8.png"/>
          <p:cNvPicPr>
            <a:picLocks noChangeAspect="1"/>
          </p:cNvPicPr>
          <p:nvPr/>
        </p:nvPicPr>
        <p:blipFill>
          <a:blip r:embed="rId3"/>
          <a:stretch>
            <a:fillRect/>
          </a:stretch>
        </p:blipFill>
        <p:spPr>
          <a:xfrm>
            <a:off x="1053084" y="2729484"/>
            <a:ext cx="667512" cy="667512"/>
          </a:xfrm>
          <a:prstGeom prst="rect">
            <a:avLst/>
          </a:prstGeom>
        </p:spPr>
      </p:pic>
      <p:sp>
        <p:nvSpPr>
          <p:cNvPr id="7" name="Shape 4"/>
          <p:cNvSpPr/>
          <p:nvPr/>
        </p:nvSpPr>
        <p:spPr>
          <a:xfrm>
            <a:off x="829056" y="2505456"/>
            <a:ext cx="292608" cy="292608"/>
          </a:xfrm>
          <a:prstGeom prst="ellipse">
            <a:avLst/>
          </a:prstGeom>
          <a:solidFill>
            <a:srgbClr val="FFB703"/>
          </a:solidFill>
          <a:ln/>
        </p:spPr>
      </p:sp>
      <p:sp>
        <p:nvSpPr>
          <p:cNvPr id="8" name="Text 5"/>
          <p:cNvSpPr/>
          <p:nvPr/>
        </p:nvSpPr>
        <p:spPr>
          <a:xfrm>
            <a:off x="829056" y="2496312"/>
            <a:ext cx="292608" cy="292608"/>
          </a:xfrm>
          <a:prstGeom prst="rect">
            <a:avLst/>
          </a:prstGeom>
          <a:noFill/>
          <a:ln/>
        </p:spPr>
        <p:txBody>
          <a:bodyPr wrap="square" lIns="0" tIns="0" rIns="0" bIns="0" rtlCol="0" anchor="ctr"/>
          <a:lstStyle/>
          <a:p>
            <a:pPr marL="0" indent="0" algn="ctr">
              <a:buNone/>
            </a:pPr>
            <a:r>
              <a:rPr lang="en-US" sz="1100" b="1" dirty="0">
                <a:solidFill>
                  <a:srgbClr val="0B1F3A"/>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548640" y="3666744"/>
            <a:ext cx="1676400" cy="3200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Simulate</a:t>
            </a:r>
            <a:endParaRPr lang="en-US" sz="1300" dirty="0"/>
          </a:p>
        </p:txBody>
      </p:sp>
      <p:sp>
        <p:nvSpPr>
          <p:cNvPr id="10" name="Text 7"/>
          <p:cNvSpPr/>
          <p:nvPr/>
        </p:nvSpPr>
        <p:spPr>
          <a:xfrm>
            <a:off x="548640" y="4005072"/>
            <a:ext cx="1676400" cy="64008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Model 4 circuits in</a:t>
            </a:r>
            <a:endParaRPr lang="en-US" sz="950" dirty="0"/>
          </a:p>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LTspice XVII</a:t>
            </a:r>
            <a:endParaRPr lang="en-US" sz="950" dirty="0"/>
          </a:p>
        </p:txBody>
      </p:sp>
      <p:sp>
        <p:nvSpPr>
          <p:cNvPr id="11" name="Shape 8"/>
          <p:cNvSpPr/>
          <p:nvPr/>
        </p:nvSpPr>
        <p:spPr>
          <a:xfrm>
            <a:off x="3611880" y="3063240"/>
            <a:ext cx="853440" cy="0"/>
          </a:xfrm>
          <a:prstGeom prst="line">
            <a:avLst/>
          </a:prstGeom>
          <a:noFill/>
          <a:ln w="22225">
            <a:solidFill>
              <a:srgbClr val="AEBED4"/>
            </a:solidFill>
            <a:prstDash val="solid"/>
            <a:tailEnd type="triangle"/>
          </a:ln>
        </p:spPr>
      </p:sp>
      <p:sp>
        <p:nvSpPr>
          <p:cNvPr id="12" name="Shape 9"/>
          <p:cNvSpPr/>
          <p:nvPr/>
        </p:nvSpPr>
        <p:spPr>
          <a:xfrm>
            <a:off x="2697480" y="2606040"/>
            <a:ext cx="914400" cy="914400"/>
          </a:xfrm>
          <a:prstGeom prst="ellipse">
            <a:avLst/>
          </a:prstGeom>
          <a:solidFill>
            <a:srgbClr val="0B1F3A"/>
          </a:solidFill>
          <a:ln/>
          <a:effectLst>
            <a:outerShdw blurRad="114300" dist="38100" dir="2700000" algn="bl" rotWithShape="0">
              <a:srgbClr val="0B1F3A">
                <a:alpha val="14000"/>
              </a:srgbClr>
            </a:outerShdw>
          </a:effectLst>
        </p:spPr>
      </p:sp>
      <p:pic>
        <p:nvPicPr>
          <p:cNvPr id="13" name="Image 1" descr="/sessions/blissful-zealous-babbage/mnt/outputs/ppt/icons/sliders_00B4D8.png"/>
          <p:cNvPicPr>
            <a:picLocks noChangeAspect="1"/>
          </p:cNvPicPr>
          <p:nvPr/>
        </p:nvPicPr>
        <p:blipFill>
          <a:blip r:embed="rId4"/>
          <a:stretch>
            <a:fillRect/>
          </a:stretch>
        </p:blipFill>
        <p:spPr>
          <a:xfrm>
            <a:off x="2820924" y="2729484"/>
            <a:ext cx="667512" cy="667512"/>
          </a:xfrm>
          <a:prstGeom prst="rect">
            <a:avLst/>
          </a:prstGeom>
        </p:spPr>
      </p:pic>
      <p:sp>
        <p:nvSpPr>
          <p:cNvPr id="14" name="Shape 10"/>
          <p:cNvSpPr/>
          <p:nvPr/>
        </p:nvSpPr>
        <p:spPr>
          <a:xfrm>
            <a:off x="2596896" y="2505456"/>
            <a:ext cx="292608" cy="292608"/>
          </a:xfrm>
          <a:prstGeom prst="ellipse">
            <a:avLst/>
          </a:prstGeom>
          <a:solidFill>
            <a:srgbClr val="FFB703"/>
          </a:solidFill>
          <a:ln/>
        </p:spPr>
      </p:sp>
      <p:sp>
        <p:nvSpPr>
          <p:cNvPr id="15" name="Text 11"/>
          <p:cNvSpPr/>
          <p:nvPr/>
        </p:nvSpPr>
        <p:spPr>
          <a:xfrm>
            <a:off x="2596896" y="2496312"/>
            <a:ext cx="292608" cy="292608"/>
          </a:xfrm>
          <a:prstGeom prst="rect">
            <a:avLst/>
          </a:prstGeom>
          <a:noFill/>
          <a:ln/>
        </p:spPr>
        <p:txBody>
          <a:bodyPr wrap="square" lIns="0" tIns="0" rIns="0" bIns="0" rtlCol="0" anchor="ctr"/>
          <a:lstStyle/>
          <a:p>
            <a:pPr marL="0" indent="0" algn="ctr">
              <a:buNone/>
            </a:pPr>
            <a:r>
              <a:rPr lang="en-US" sz="1100" b="1" dirty="0">
                <a:solidFill>
                  <a:srgbClr val="0B1F3A"/>
                </a:solidFill>
                <a:latin typeface="Cambria" pitchFamily="34" charset="0"/>
                <a:ea typeface="Cambria" pitchFamily="34" charset="-122"/>
                <a:cs typeface="Cambria" pitchFamily="34" charset="-120"/>
              </a:rPr>
              <a:t>2</a:t>
            </a:r>
            <a:endParaRPr lang="en-US" sz="1100" dirty="0"/>
          </a:p>
        </p:txBody>
      </p:sp>
      <p:sp>
        <p:nvSpPr>
          <p:cNvPr id="16" name="Text 12"/>
          <p:cNvSpPr/>
          <p:nvPr/>
        </p:nvSpPr>
        <p:spPr>
          <a:xfrm>
            <a:off x="2316480" y="3666744"/>
            <a:ext cx="1676400" cy="3200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Sweep</a:t>
            </a:r>
            <a:endParaRPr lang="en-US" sz="1300" dirty="0"/>
          </a:p>
        </p:txBody>
      </p:sp>
      <p:sp>
        <p:nvSpPr>
          <p:cNvPr id="17" name="Text 13"/>
          <p:cNvSpPr/>
          <p:nvPr/>
        </p:nvSpPr>
        <p:spPr>
          <a:xfrm>
            <a:off x="2316480" y="4005072"/>
            <a:ext cx="1676400" cy="64008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Vary R/L/C values</a:t>
            </a:r>
            <a:endParaRPr lang="en-US" sz="950" dirty="0"/>
          </a:p>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across realistic ranges</a:t>
            </a:r>
            <a:endParaRPr lang="en-US" sz="950" dirty="0"/>
          </a:p>
        </p:txBody>
      </p:sp>
      <p:sp>
        <p:nvSpPr>
          <p:cNvPr id="18" name="Shape 14"/>
          <p:cNvSpPr/>
          <p:nvPr/>
        </p:nvSpPr>
        <p:spPr>
          <a:xfrm>
            <a:off x="5379720" y="3063240"/>
            <a:ext cx="853440" cy="0"/>
          </a:xfrm>
          <a:prstGeom prst="line">
            <a:avLst/>
          </a:prstGeom>
          <a:noFill/>
          <a:ln w="22225">
            <a:solidFill>
              <a:srgbClr val="AEBED4"/>
            </a:solidFill>
            <a:prstDash val="solid"/>
            <a:tailEnd type="triangle"/>
          </a:ln>
        </p:spPr>
      </p:sp>
      <p:sp>
        <p:nvSpPr>
          <p:cNvPr id="19" name="Shape 15"/>
          <p:cNvSpPr/>
          <p:nvPr/>
        </p:nvSpPr>
        <p:spPr>
          <a:xfrm>
            <a:off x="4465320" y="2606040"/>
            <a:ext cx="914400" cy="914400"/>
          </a:xfrm>
          <a:prstGeom prst="ellipse">
            <a:avLst/>
          </a:prstGeom>
          <a:solidFill>
            <a:srgbClr val="0B1F3A"/>
          </a:solidFill>
          <a:ln/>
          <a:effectLst>
            <a:outerShdw blurRad="114300" dist="38100" dir="2700000" algn="bl" rotWithShape="0">
              <a:srgbClr val="0B1F3A">
                <a:alpha val="14000"/>
              </a:srgbClr>
            </a:outerShdw>
          </a:effectLst>
        </p:spPr>
      </p:sp>
      <p:pic>
        <p:nvPicPr>
          <p:cNvPr id="20" name="Image 2" descr="/sessions/blissful-zealous-babbage/mnt/outputs/ppt/icons/filter_00B4D8.png"/>
          <p:cNvPicPr>
            <a:picLocks noChangeAspect="1"/>
          </p:cNvPicPr>
          <p:nvPr/>
        </p:nvPicPr>
        <p:blipFill>
          <a:blip r:embed="rId5"/>
          <a:stretch>
            <a:fillRect/>
          </a:stretch>
        </p:blipFill>
        <p:spPr>
          <a:xfrm>
            <a:off x="4588764" y="2729484"/>
            <a:ext cx="667512" cy="667512"/>
          </a:xfrm>
          <a:prstGeom prst="rect">
            <a:avLst/>
          </a:prstGeom>
        </p:spPr>
      </p:pic>
      <p:sp>
        <p:nvSpPr>
          <p:cNvPr id="21" name="Shape 16"/>
          <p:cNvSpPr/>
          <p:nvPr/>
        </p:nvSpPr>
        <p:spPr>
          <a:xfrm>
            <a:off x="4364736" y="2505456"/>
            <a:ext cx="292608" cy="292608"/>
          </a:xfrm>
          <a:prstGeom prst="ellipse">
            <a:avLst/>
          </a:prstGeom>
          <a:solidFill>
            <a:srgbClr val="FFB703"/>
          </a:solidFill>
          <a:ln/>
        </p:spPr>
      </p:sp>
      <p:sp>
        <p:nvSpPr>
          <p:cNvPr id="22" name="Text 17"/>
          <p:cNvSpPr/>
          <p:nvPr/>
        </p:nvSpPr>
        <p:spPr>
          <a:xfrm>
            <a:off x="4364736" y="2496312"/>
            <a:ext cx="292608" cy="292608"/>
          </a:xfrm>
          <a:prstGeom prst="rect">
            <a:avLst/>
          </a:prstGeom>
          <a:noFill/>
          <a:ln/>
        </p:spPr>
        <p:txBody>
          <a:bodyPr wrap="square" lIns="0" tIns="0" rIns="0" bIns="0" rtlCol="0" anchor="ctr"/>
          <a:lstStyle/>
          <a:p>
            <a:pPr marL="0" indent="0" algn="ctr">
              <a:buNone/>
            </a:pPr>
            <a:r>
              <a:rPr lang="en-US" sz="1100" b="1" dirty="0">
                <a:solidFill>
                  <a:srgbClr val="0B1F3A"/>
                </a:solidFill>
                <a:latin typeface="Cambria" pitchFamily="34" charset="0"/>
                <a:ea typeface="Cambria" pitchFamily="34" charset="-122"/>
                <a:cs typeface="Cambria" pitchFamily="34" charset="-120"/>
              </a:rPr>
              <a:t>3</a:t>
            </a:r>
            <a:endParaRPr lang="en-US" sz="1100" dirty="0"/>
          </a:p>
        </p:txBody>
      </p:sp>
      <p:sp>
        <p:nvSpPr>
          <p:cNvPr id="23" name="Text 18"/>
          <p:cNvSpPr/>
          <p:nvPr/>
        </p:nvSpPr>
        <p:spPr>
          <a:xfrm>
            <a:off x="4084320" y="3666744"/>
            <a:ext cx="1676400" cy="3200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Extract</a:t>
            </a:r>
            <a:endParaRPr lang="en-US" sz="1300" dirty="0"/>
          </a:p>
        </p:txBody>
      </p:sp>
      <p:sp>
        <p:nvSpPr>
          <p:cNvPr id="24" name="Text 19"/>
          <p:cNvSpPr/>
          <p:nvPr/>
        </p:nvSpPr>
        <p:spPr>
          <a:xfrm>
            <a:off x="4084320" y="4005072"/>
            <a:ext cx="1676400" cy="64008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17 features per</a:t>
            </a:r>
            <a:endParaRPr lang="en-US" sz="950" dirty="0"/>
          </a:p>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waveform</a:t>
            </a:r>
            <a:endParaRPr lang="en-US" sz="950" dirty="0"/>
          </a:p>
        </p:txBody>
      </p:sp>
      <p:sp>
        <p:nvSpPr>
          <p:cNvPr id="25" name="Shape 20"/>
          <p:cNvSpPr/>
          <p:nvPr/>
        </p:nvSpPr>
        <p:spPr>
          <a:xfrm>
            <a:off x="7147560" y="3063240"/>
            <a:ext cx="853440" cy="0"/>
          </a:xfrm>
          <a:prstGeom prst="line">
            <a:avLst/>
          </a:prstGeom>
          <a:noFill/>
          <a:ln w="22225">
            <a:solidFill>
              <a:srgbClr val="AEBED4"/>
            </a:solidFill>
            <a:prstDash val="solid"/>
            <a:tailEnd type="triangle"/>
          </a:ln>
        </p:spPr>
      </p:sp>
      <p:sp>
        <p:nvSpPr>
          <p:cNvPr id="26" name="Shape 21"/>
          <p:cNvSpPr/>
          <p:nvPr/>
        </p:nvSpPr>
        <p:spPr>
          <a:xfrm>
            <a:off x="6233160" y="2606040"/>
            <a:ext cx="914400" cy="914400"/>
          </a:xfrm>
          <a:prstGeom prst="ellipse">
            <a:avLst/>
          </a:prstGeom>
          <a:solidFill>
            <a:srgbClr val="0B1F3A"/>
          </a:solidFill>
          <a:ln/>
          <a:effectLst>
            <a:outerShdw blurRad="114300" dist="38100" dir="2700000" algn="bl" rotWithShape="0">
              <a:srgbClr val="0B1F3A">
                <a:alpha val="14000"/>
              </a:srgbClr>
            </a:outerShdw>
          </a:effectLst>
        </p:spPr>
      </p:sp>
      <p:pic>
        <p:nvPicPr>
          <p:cNvPr id="27" name="Image 3" descr="/sessions/blissful-zealous-babbage/mnt/outputs/ppt/icons/brain_00B4D8.png"/>
          <p:cNvPicPr>
            <a:picLocks noChangeAspect="1"/>
          </p:cNvPicPr>
          <p:nvPr/>
        </p:nvPicPr>
        <p:blipFill>
          <a:blip r:embed="rId6"/>
          <a:stretch>
            <a:fillRect/>
          </a:stretch>
        </p:blipFill>
        <p:spPr>
          <a:xfrm>
            <a:off x="6356604" y="2729484"/>
            <a:ext cx="667512" cy="667512"/>
          </a:xfrm>
          <a:prstGeom prst="rect">
            <a:avLst/>
          </a:prstGeom>
        </p:spPr>
      </p:pic>
      <p:sp>
        <p:nvSpPr>
          <p:cNvPr id="28" name="Shape 22"/>
          <p:cNvSpPr/>
          <p:nvPr/>
        </p:nvSpPr>
        <p:spPr>
          <a:xfrm>
            <a:off x="6132576" y="2505456"/>
            <a:ext cx="292608" cy="292608"/>
          </a:xfrm>
          <a:prstGeom prst="ellipse">
            <a:avLst/>
          </a:prstGeom>
          <a:solidFill>
            <a:srgbClr val="FFB703"/>
          </a:solidFill>
          <a:ln/>
        </p:spPr>
      </p:sp>
      <p:sp>
        <p:nvSpPr>
          <p:cNvPr id="29" name="Text 23"/>
          <p:cNvSpPr/>
          <p:nvPr/>
        </p:nvSpPr>
        <p:spPr>
          <a:xfrm>
            <a:off x="6132576" y="2496312"/>
            <a:ext cx="292608" cy="292608"/>
          </a:xfrm>
          <a:prstGeom prst="rect">
            <a:avLst/>
          </a:prstGeom>
          <a:noFill/>
          <a:ln/>
        </p:spPr>
        <p:txBody>
          <a:bodyPr wrap="square" lIns="0" tIns="0" rIns="0" bIns="0" rtlCol="0" anchor="ctr"/>
          <a:lstStyle/>
          <a:p>
            <a:pPr marL="0" indent="0" algn="ctr">
              <a:buNone/>
            </a:pPr>
            <a:r>
              <a:rPr lang="en-US" sz="1100" b="1" dirty="0">
                <a:solidFill>
                  <a:srgbClr val="0B1F3A"/>
                </a:solidFill>
                <a:latin typeface="Cambria" pitchFamily="34" charset="0"/>
                <a:ea typeface="Cambria" pitchFamily="34" charset="-122"/>
                <a:cs typeface="Cambria" pitchFamily="34" charset="-120"/>
              </a:rPr>
              <a:t>4</a:t>
            </a:r>
            <a:endParaRPr lang="en-US" sz="1100" dirty="0"/>
          </a:p>
        </p:txBody>
      </p:sp>
      <p:sp>
        <p:nvSpPr>
          <p:cNvPr id="30" name="Text 24"/>
          <p:cNvSpPr/>
          <p:nvPr/>
        </p:nvSpPr>
        <p:spPr>
          <a:xfrm>
            <a:off x="5852160" y="3666744"/>
            <a:ext cx="1676400" cy="3200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Train &amp; Tune</a:t>
            </a:r>
            <a:endParaRPr lang="en-US" sz="1300" dirty="0"/>
          </a:p>
        </p:txBody>
      </p:sp>
      <p:sp>
        <p:nvSpPr>
          <p:cNvPr id="31" name="Text 25"/>
          <p:cNvSpPr/>
          <p:nvPr/>
        </p:nvSpPr>
        <p:spPr>
          <a:xfrm>
            <a:off x="5852160" y="4005072"/>
            <a:ext cx="1676400" cy="64008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SVM kernels +</a:t>
            </a:r>
            <a:endParaRPr lang="en-US" sz="950" dirty="0"/>
          </a:p>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GridSearchCV</a:t>
            </a:r>
            <a:endParaRPr lang="en-US" sz="950" dirty="0"/>
          </a:p>
        </p:txBody>
      </p:sp>
      <p:sp>
        <p:nvSpPr>
          <p:cNvPr id="32" name="Shape 26"/>
          <p:cNvSpPr/>
          <p:nvPr/>
        </p:nvSpPr>
        <p:spPr>
          <a:xfrm>
            <a:off x="8915400" y="3063240"/>
            <a:ext cx="853440" cy="0"/>
          </a:xfrm>
          <a:prstGeom prst="line">
            <a:avLst/>
          </a:prstGeom>
          <a:noFill/>
          <a:ln w="22225">
            <a:solidFill>
              <a:srgbClr val="AEBED4"/>
            </a:solidFill>
            <a:prstDash val="solid"/>
            <a:tailEnd type="triangle"/>
          </a:ln>
        </p:spPr>
      </p:sp>
      <p:sp>
        <p:nvSpPr>
          <p:cNvPr id="33" name="Shape 27"/>
          <p:cNvSpPr/>
          <p:nvPr/>
        </p:nvSpPr>
        <p:spPr>
          <a:xfrm>
            <a:off x="8001000" y="2606040"/>
            <a:ext cx="914400" cy="914400"/>
          </a:xfrm>
          <a:prstGeom prst="ellipse">
            <a:avLst/>
          </a:prstGeom>
          <a:solidFill>
            <a:srgbClr val="0B1F3A"/>
          </a:solidFill>
          <a:ln/>
          <a:effectLst>
            <a:outerShdw blurRad="114300" dist="38100" dir="2700000" algn="bl" rotWithShape="0">
              <a:srgbClr val="0B1F3A">
                <a:alpha val="14000"/>
              </a:srgbClr>
            </a:outerShdw>
          </a:effectLst>
        </p:spPr>
      </p:sp>
      <p:pic>
        <p:nvPicPr>
          <p:cNvPr id="34" name="Image 4" descr="/sessions/blissful-zealous-babbage/mnt/outputs/ppt/icons/tools_00B4D8.png"/>
          <p:cNvPicPr>
            <a:picLocks noChangeAspect="1"/>
          </p:cNvPicPr>
          <p:nvPr/>
        </p:nvPicPr>
        <p:blipFill>
          <a:blip r:embed="rId7"/>
          <a:stretch>
            <a:fillRect/>
          </a:stretch>
        </p:blipFill>
        <p:spPr>
          <a:xfrm>
            <a:off x="8124444" y="2729484"/>
            <a:ext cx="667512" cy="667512"/>
          </a:xfrm>
          <a:prstGeom prst="rect">
            <a:avLst/>
          </a:prstGeom>
        </p:spPr>
      </p:pic>
      <p:sp>
        <p:nvSpPr>
          <p:cNvPr id="35" name="Shape 28"/>
          <p:cNvSpPr/>
          <p:nvPr/>
        </p:nvSpPr>
        <p:spPr>
          <a:xfrm>
            <a:off x="7900416" y="2505456"/>
            <a:ext cx="292608" cy="292608"/>
          </a:xfrm>
          <a:prstGeom prst="ellipse">
            <a:avLst/>
          </a:prstGeom>
          <a:solidFill>
            <a:srgbClr val="FFB703"/>
          </a:solidFill>
          <a:ln/>
        </p:spPr>
      </p:sp>
      <p:sp>
        <p:nvSpPr>
          <p:cNvPr id="36" name="Text 29"/>
          <p:cNvSpPr/>
          <p:nvPr/>
        </p:nvSpPr>
        <p:spPr>
          <a:xfrm>
            <a:off x="7900416" y="2496312"/>
            <a:ext cx="292608" cy="292608"/>
          </a:xfrm>
          <a:prstGeom prst="rect">
            <a:avLst/>
          </a:prstGeom>
          <a:noFill/>
          <a:ln/>
        </p:spPr>
        <p:txBody>
          <a:bodyPr wrap="square" lIns="0" tIns="0" rIns="0" bIns="0" rtlCol="0" anchor="ctr"/>
          <a:lstStyle/>
          <a:p>
            <a:pPr marL="0" indent="0" algn="ctr">
              <a:buNone/>
            </a:pPr>
            <a:r>
              <a:rPr lang="en-US" sz="1100" b="1" dirty="0">
                <a:solidFill>
                  <a:srgbClr val="0B1F3A"/>
                </a:solidFill>
                <a:latin typeface="Cambria" pitchFamily="34" charset="0"/>
                <a:ea typeface="Cambria" pitchFamily="34" charset="-122"/>
                <a:cs typeface="Cambria" pitchFamily="34" charset="-120"/>
              </a:rPr>
              <a:t>5</a:t>
            </a:r>
            <a:endParaRPr lang="en-US" sz="1100" dirty="0"/>
          </a:p>
        </p:txBody>
      </p:sp>
      <p:sp>
        <p:nvSpPr>
          <p:cNvPr id="37" name="Text 30"/>
          <p:cNvSpPr/>
          <p:nvPr/>
        </p:nvSpPr>
        <p:spPr>
          <a:xfrm>
            <a:off x="7620000" y="3666744"/>
            <a:ext cx="1676400" cy="3200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Correct</a:t>
            </a:r>
            <a:endParaRPr lang="en-US" sz="1300" dirty="0"/>
          </a:p>
        </p:txBody>
      </p:sp>
      <p:sp>
        <p:nvSpPr>
          <p:cNvPr id="38" name="Text 31"/>
          <p:cNvSpPr/>
          <p:nvPr/>
        </p:nvSpPr>
        <p:spPr>
          <a:xfrm>
            <a:off x="7620000" y="4005072"/>
            <a:ext cx="1676400" cy="64008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Topology-aware</a:t>
            </a:r>
            <a:endParaRPr lang="en-US" sz="950" dirty="0"/>
          </a:p>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post-processing</a:t>
            </a:r>
            <a:endParaRPr lang="en-US" sz="950" dirty="0"/>
          </a:p>
        </p:txBody>
      </p:sp>
      <p:sp>
        <p:nvSpPr>
          <p:cNvPr id="39" name="Shape 32"/>
          <p:cNvSpPr/>
          <p:nvPr/>
        </p:nvSpPr>
        <p:spPr>
          <a:xfrm>
            <a:off x="9768840" y="2606040"/>
            <a:ext cx="914400" cy="914400"/>
          </a:xfrm>
          <a:prstGeom prst="ellipse">
            <a:avLst/>
          </a:prstGeom>
          <a:solidFill>
            <a:srgbClr val="0B1F3A"/>
          </a:solidFill>
          <a:ln/>
          <a:effectLst>
            <a:outerShdw blurRad="114300" dist="38100" dir="2700000" algn="bl" rotWithShape="0">
              <a:srgbClr val="0B1F3A">
                <a:alpha val="14000"/>
              </a:srgbClr>
            </a:outerShdw>
          </a:effectLst>
        </p:spPr>
      </p:sp>
      <p:pic>
        <p:nvPicPr>
          <p:cNvPr id="40" name="Image 5" descr="/sessions/blissful-zealous-babbage/mnt/outputs/ppt/icons/rocket_00B4D8.png"/>
          <p:cNvPicPr>
            <a:picLocks noChangeAspect="1"/>
          </p:cNvPicPr>
          <p:nvPr/>
        </p:nvPicPr>
        <p:blipFill>
          <a:blip r:embed="rId8"/>
          <a:stretch>
            <a:fillRect/>
          </a:stretch>
        </p:blipFill>
        <p:spPr>
          <a:xfrm>
            <a:off x="9892284" y="2729484"/>
            <a:ext cx="667512" cy="667512"/>
          </a:xfrm>
          <a:prstGeom prst="rect">
            <a:avLst/>
          </a:prstGeom>
        </p:spPr>
      </p:pic>
      <p:sp>
        <p:nvSpPr>
          <p:cNvPr id="41" name="Shape 33"/>
          <p:cNvSpPr/>
          <p:nvPr/>
        </p:nvSpPr>
        <p:spPr>
          <a:xfrm>
            <a:off x="9668256" y="2505456"/>
            <a:ext cx="292608" cy="292608"/>
          </a:xfrm>
          <a:prstGeom prst="ellipse">
            <a:avLst/>
          </a:prstGeom>
          <a:solidFill>
            <a:srgbClr val="FFB703"/>
          </a:solidFill>
          <a:ln/>
        </p:spPr>
      </p:sp>
      <p:sp>
        <p:nvSpPr>
          <p:cNvPr id="42" name="Text 34"/>
          <p:cNvSpPr/>
          <p:nvPr/>
        </p:nvSpPr>
        <p:spPr>
          <a:xfrm>
            <a:off x="9668256" y="2496312"/>
            <a:ext cx="292608" cy="292608"/>
          </a:xfrm>
          <a:prstGeom prst="rect">
            <a:avLst/>
          </a:prstGeom>
          <a:noFill/>
          <a:ln/>
        </p:spPr>
        <p:txBody>
          <a:bodyPr wrap="square" lIns="0" tIns="0" rIns="0" bIns="0" rtlCol="0" anchor="ctr"/>
          <a:lstStyle/>
          <a:p>
            <a:pPr marL="0" indent="0" algn="ctr">
              <a:buNone/>
            </a:pPr>
            <a:r>
              <a:rPr lang="en-US" sz="1100" b="1" dirty="0">
                <a:solidFill>
                  <a:srgbClr val="0B1F3A"/>
                </a:solidFill>
                <a:latin typeface="Cambria" pitchFamily="34" charset="0"/>
                <a:ea typeface="Cambria" pitchFamily="34" charset="-122"/>
                <a:cs typeface="Cambria" pitchFamily="34" charset="-120"/>
              </a:rPr>
              <a:t>6</a:t>
            </a:r>
            <a:endParaRPr lang="en-US" sz="1100" dirty="0"/>
          </a:p>
        </p:txBody>
      </p:sp>
      <p:sp>
        <p:nvSpPr>
          <p:cNvPr id="43" name="Text 35"/>
          <p:cNvSpPr/>
          <p:nvPr/>
        </p:nvSpPr>
        <p:spPr>
          <a:xfrm>
            <a:off x="9387840" y="3666744"/>
            <a:ext cx="1676400" cy="3200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Deploy</a:t>
            </a:r>
            <a:endParaRPr lang="en-US" sz="1300" dirty="0"/>
          </a:p>
        </p:txBody>
      </p:sp>
      <p:sp>
        <p:nvSpPr>
          <p:cNvPr id="44" name="Text 36"/>
          <p:cNvSpPr/>
          <p:nvPr/>
        </p:nvSpPr>
        <p:spPr>
          <a:xfrm>
            <a:off x="9387840" y="4005072"/>
            <a:ext cx="1676400" cy="640080"/>
          </a:xfrm>
          <a:prstGeom prst="rect">
            <a:avLst/>
          </a:prstGeom>
          <a:noFill/>
          <a:ln/>
        </p:spPr>
        <p:txBody>
          <a:bodyPr wrap="square" lIns="0" tIns="0" rIns="0" bIns="0" rtlCol="0" anchor="ctr"/>
          <a:lstStyle/>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Live Streamlit</a:t>
            </a:r>
            <a:endParaRPr lang="en-US" sz="950" dirty="0"/>
          </a:p>
          <a:p>
            <a:pPr marL="0" indent="0" algn="ctr">
              <a:lnSpc>
                <a:spcPct val="115000"/>
              </a:lnSpc>
              <a:buNone/>
            </a:pPr>
            <a:r>
              <a:rPr lang="en-US" sz="950" dirty="0">
                <a:solidFill>
                  <a:srgbClr val="64748B"/>
                </a:solidFill>
                <a:latin typeface="Calibri" pitchFamily="34" charset="0"/>
                <a:ea typeface="Calibri" pitchFamily="34" charset="-122"/>
                <a:cs typeface="Calibri" pitchFamily="34" charset="-120"/>
              </a:rPr>
              <a:t>web app</a:t>
            </a:r>
            <a:endParaRPr lang="en-US" sz="950" dirty="0"/>
          </a:p>
        </p:txBody>
      </p:sp>
      <p:sp>
        <p:nvSpPr>
          <p:cNvPr id="45" name="Shape 37"/>
          <p:cNvSpPr/>
          <p:nvPr/>
        </p:nvSpPr>
        <p:spPr>
          <a:xfrm>
            <a:off x="502920" y="4983480"/>
            <a:ext cx="10607040" cy="914400"/>
          </a:xfrm>
          <a:prstGeom prst="roundRect">
            <a:avLst>
              <a:gd name="adj" fmla="val 8000"/>
            </a:avLst>
          </a:prstGeom>
          <a:solidFill>
            <a:srgbClr val="0B1F3A"/>
          </a:solidFill>
          <a:ln/>
          <a:effectLst>
            <a:outerShdw blurRad="114300" dist="38100" dir="2700000" algn="bl" rotWithShape="0">
              <a:srgbClr val="0B1F3A">
                <a:alpha val="14000"/>
              </a:srgbClr>
            </a:outerShdw>
          </a:effectLst>
        </p:spPr>
      </p:sp>
      <p:sp>
        <p:nvSpPr>
          <p:cNvPr id="46" name="Text 38"/>
          <p:cNvSpPr/>
          <p:nvPr/>
        </p:nvSpPr>
        <p:spPr>
          <a:xfrm>
            <a:off x="822960" y="4983480"/>
            <a:ext cx="9966960" cy="914400"/>
          </a:xfrm>
          <a:prstGeom prst="rect">
            <a:avLst/>
          </a:prstGeom>
          <a:noFill/>
          <a:ln/>
        </p:spPr>
        <p:txBody>
          <a:bodyPr wrap="square" lIns="0" tIns="0" rIns="0" bIns="0" rtlCol="0" anchor="ctr"/>
          <a:lstStyle/>
          <a:p>
            <a:pPr marL="0" indent="0" algn="l">
              <a:lnSpc>
                <a:spcPct val="120000"/>
              </a:lnSpc>
              <a:buNone/>
            </a:pPr>
            <a:r>
              <a:rPr lang="en-US" sz="1300" b="1" dirty="0">
                <a:solidFill>
                  <a:srgbClr val="FFB703"/>
                </a:solidFill>
                <a:latin typeface="Calibri" pitchFamily="34" charset="0"/>
                <a:ea typeface="Calibri" pitchFamily="34" charset="-122"/>
                <a:cs typeface="Calibri" pitchFamily="34" charset="-120"/>
              </a:rPr>
              <a:t>Every stage is grounded in real simulation physics</a:t>
            </a:r>
            <a:r>
              <a:rPr lang="en-US" sz="1300" dirty="0">
                <a:solidFill>
                  <a:srgbClr val="E7ECF4"/>
                </a:solidFill>
                <a:latin typeface="Calibri" pitchFamily="34" charset="0"/>
                <a:ea typeface="Calibri" pitchFamily="34" charset="-122"/>
                <a:cs typeface="Calibri" pitchFamily="34" charset="-120"/>
              </a:rPr>
              <a:t> — no synthetic data augmentation was used in the final pipeline, only genuine LTspice parameter sweeps.</a:t>
            </a:r>
            <a:endParaRPr lang="en-US" sz="1300" dirty="0"/>
          </a:p>
        </p:txBody>
      </p:sp>
      <p:sp>
        <p:nvSpPr>
          <p:cNvPr id="47" name="Text 3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8" name="Text 4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 · STEP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Simulating Real Circuit Behavior in LTspice</a:t>
            </a:r>
            <a:endParaRPr lang="en-US" sz="3000" dirty="0"/>
          </a:p>
        </p:txBody>
      </p:sp>
      <p:sp>
        <p:nvSpPr>
          <p:cNvPr id="4" name="Shape 2"/>
          <p:cNvSpPr/>
          <p:nvPr/>
        </p:nvSpPr>
        <p:spPr>
          <a:xfrm>
            <a:off x="502920" y="1828800"/>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5" name="Image 0" descr="/sessions/blissful-zealous-babbage/mnt/outputs/ppt/icons/flask_00B4D8.png"/>
          <p:cNvPicPr>
            <a:picLocks noChangeAspect="1"/>
          </p:cNvPicPr>
          <p:nvPr/>
        </p:nvPicPr>
        <p:blipFill>
          <a:blip r:embed="rId3"/>
          <a:stretch>
            <a:fillRect/>
          </a:stretch>
        </p:blipFill>
        <p:spPr>
          <a:xfrm>
            <a:off x="579455" y="1905335"/>
            <a:ext cx="413857" cy="413857"/>
          </a:xfrm>
          <a:prstGeom prst="rect">
            <a:avLst/>
          </a:prstGeom>
        </p:spPr>
      </p:pic>
      <p:sp>
        <p:nvSpPr>
          <p:cNvPr id="6" name="Text 3"/>
          <p:cNvSpPr/>
          <p:nvPr/>
        </p:nvSpPr>
        <p:spPr>
          <a:xfrm>
            <a:off x="1280160" y="1801368"/>
            <a:ext cx="50292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Why SPICE instead of pure math?</a:t>
            </a:r>
            <a:endParaRPr lang="en-US" sz="1300" dirty="0"/>
          </a:p>
        </p:txBody>
      </p:sp>
      <p:sp>
        <p:nvSpPr>
          <p:cNvPr id="7" name="Text 4"/>
          <p:cNvSpPr/>
          <p:nvPr/>
        </p:nvSpPr>
        <p:spPr>
          <a:xfrm>
            <a:off x="1280160" y="2121408"/>
            <a:ext cx="5074920" cy="621792"/>
          </a:xfrm>
          <a:prstGeom prst="rect">
            <a:avLst/>
          </a:prstGeom>
          <a:noFill/>
          <a:ln/>
        </p:spPr>
        <p:txBody>
          <a:bodyPr wrap="square" lIns="0" tIns="0" rIns="0" bIns="0" rtlCol="0" anchor="ctr"/>
          <a:lstStyle/>
          <a:p>
            <a:pPr marL="0" indent="0">
              <a:lnSpc>
                <a:spcPct val="116000"/>
              </a:lnSpc>
              <a:buNone/>
            </a:pPr>
            <a:r>
              <a:rPr lang="en-US" sz="1030" dirty="0">
                <a:solidFill>
                  <a:srgbClr val="64748B"/>
                </a:solidFill>
                <a:latin typeface="Calibri" pitchFamily="34" charset="0"/>
                <a:ea typeface="Calibri" pitchFamily="34" charset="-122"/>
                <a:cs typeface="Calibri" pitchFamily="34" charset="-120"/>
              </a:rPr>
              <a:t>LTspice's transient solver captures op-amp behavior, component tolerances and transient effects that a hand-derived transfer function alone would miss.</a:t>
            </a:r>
            <a:endParaRPr lang="en-US" sz="1030" dirty="0"/>
          </a:p>
        </p:txBody>
      </p:sp>
      <p:sp>
        <p:nvSpPr>
          <p:cNvPr id="8" name="Shape 5"/>
          <p:cNvSpPr/>
          <p:nvPr/>
        </p:nvSpPr>
        <p:spPr>
          <a:xfrm>
            <a:off x="502920" y="2816352"/>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9" name="Image 1" descr="/sessions/blissful-zealous-babbage/mnt/outputs/ppt/icons/chartline_00B4D8.png"/>
          <p:cNvPicPr>
            <a:picLocks noChangeAspect="1"/>
          </p:cNvPicPr>
          <p:nvPr/>
        </p:nvPicPr>
        <p:blipFill>
          <a:blip r:embed="rId4"/>
          <a:stretch>
            <a:fillRect/>
          </a:stretch>
        </p:blipFill>
        <p:spPr>
          <a:xfrm>
            <a:off x="579455" y="2892887"/>
            <a:ext cx="413857" cy="413857"/>
          </a:xfrm>
          <a:prstGeom prst="rect">
            <a:avLst/>
          </a:prstGeom>
        </p:spPr>
      </p:pic>
      <p:sp>
        <p:nvSpPr>
          <p:cNvPr id="10" name="Text 6"/>
          <p:cNvSpPr/>
          <p:nvPr/>
        </p:nvSpPr>
        <p:spPr>
          <a:xfrm>
            <a:off x="1280160" y="2788920"/>
            <a:ext cx="50292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 step input drives every circuit</a:t>
            </a:r>
            <a:endParaRPr lang="en-US" sz="1300" dirty="0"/>
          </a:p>
        </p:txBody>
      </p:sp>
      <p:sp>
        <p:nvSpPr>
          <p:cNvPr id="11" name="Text 7"/>
          <p:cNvSpPr/>
          <p:nvPr/>
        </p:nvSpPr>
        <p:spPr>
          <a:xfrm>
            <a:off x="1280160" y="3108960"/>
            <a:ext cx="5074920" cy="621792"/>
          </a:xfrm>
          <a:prstGeom prst="rect">
            <a:avLst/>
          </a:prstGeom>
          <a:noFill/>
          <a:ln/>
        </p:spPr>
        <p:txBody>
          <a:bodyPr wrap="square" lIns="0" tIns="0" rIns="0" bIns="0" rtlCol="0" anchor="ctr"/>
          <a:lstStyle/>
          <a:p>
            <a:pPr marL="0" indent="0">
              <a:lnSpc>
                <a:spcPct val="116000"/>
              </a:lnSpc>
              <a:buNone/>
            </a:pPr>
            <a:r>
              <a:rPr lang="en-US" sz="1030" dirty="0">
                <a:solidFill>
                  <a:srgbClr val="64748B"/>
                </a:solidFill>
                <a:latin typeface="Calibri" pitchFamily="34" charset="0"/>
                <a:ea typeface="Calibri" pitchFamily="34" charset="-122"/>
                <a:cs typeface="Calibri" pitchFamily="34" charset="-120"/>
              </a:rPr>
              <a:t>A PULSE voltage source jumps 0V to 5V (1ns rise time), mimicking a sudden real-world input change.</a:t>
            </a:r>
            <a:endParaRPr lang="en-US" sz="1030" dirty="0"/>
          </a:p>
        </p:txBody>
      </p:sp>
      <p:sp>
        <p:nvSpPr>
          <p:cNvPr id="12" name="Shape 8"/>
          <p:cNvSpPr/>
          <p:nvPr/>
        </p:nvSpPr>
        <p:spPr>
          <a:xfrm>
            <a:off x="502920" y="3803904"/>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13" name="Image 2" descr="/sessions/blissful-zealous-babbage/mnt/outputs/ppt/icons/sliders_00B4D8.png"/>
          <p:cNvPicPr>
            <a:picLocks noChangeAspect="1"/>
          </p:cNvPicPr>
          <p:nvPr/>
        </p:nvPicPr>
        <p:blipFill>
          <a:blip r:embed="rId5"/>
          <a:stretch>
            <a:fillRect/>
          </a:stretch>
        </p:blipFill>
        <p:spPr>
          <a:xfrm>
            <a:off x="579455" y="3880439"/>
            <a:ext cx="413857" cy="413857"/>
          </a:xfrm>
          <a:prstGeom prst="rect">
            <a:avLst/>
          </a:prstGeom>
        </p:spPr>
      </p:pic>
      <p:sp>
        <p:nvSpPr>
          <p:cNvPr id="14" name="Text 9"/>
          <p:cNvSpPr/>
          <p:nvPr/>
        </p:nvSpPr>
        <p:spPr>
          <a:xfrm>
            <a:off x="1280160" y="3776472"/>
            <a:ext cx="5029200" cy="32004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.tran captures the transient response</a:t>
            </a:r>
            <a:endParaRPr lang="en-US" sz="1300" dirty="0"/>
          </a:p>
        </p:txBody>
      </p:sp>
      <p:sp>
        <p:nvSpPr>
          <p:cNvPr id="15" name="Text 10"/>
          <p:cNvSpPr/>
          <p:nvPr/>
        </p:nvSpPr>
        <p:spPr>
          <a:xfrm>
            <a:off x="1280160" y="4096512"/>
            <a:ext cx="5074920" cy="621792"/>
          </a:xfrm>
          <a:prstGeom prst="rect">
            <a:avLst/>
          </a:prstGeom>
          <a:noFill/>
          <a:ln/>
        </p:spPr>
        <p:txBody>
          <a:bodyPr wrap="square" lIns="0" tIns="0" rIns="0" bIns="0" rtlCol="0" anchor="ctr"/>
          <a:lstStyle/>
          <a:p>
            <a:pPr marL="0" indent="0">
              <a:lnSpc>
                <a:spcPct val="116000"/>
              </a:lnSpc>
              <a:buNone/>
            </a:pPr>
            <a:r>
              <a:rPr lang="en-US" sz="1030" dirty="0">
                <a:solidFill>
                  <a:srgbClr val="64748B"/>
                </a:solidFill>
                <a:latin typeface="Calibri" pitchFamily="34" charset="0"/>
                <a:ea typeface="Calibri" pitchFamily="34" charset="-122"/>
                <a:cs typeface="Calibri" pitchFamily="34" charset="-120"/>
              </a:rPr>
              <a:t>The .tran directive runs the simulation and records Vout at 200 time points as the circuit reacts to the step.</a:t>
            </a:r>
            <a:endParaRPr lang="en-US" sz="1030" dirty="0"/>
          </a:p>
        </p:txBody>
      </p:sp>
      <p:sp>
        <p:nvSpPr>
          <p:cNvPr id="16" name="Shape 11"/>
          <p:cNvSpPr/>
          <p:nvPr/>
        </p:nvSpPr>
        <p:spPr>
          <a:xfrm>
            <a:off x="6583680" y="1828800"/>
            <a:ext cx="5120640" cy="2514600"/>
          </a:xfrm>
          <a:prstGeom prst="roundRect">
            <a:avLst>
              <a:gd name="adj" fmla="val 2545"/>
            </a:avLst>
          </a:prstGeom>
          <a:solidFill>
            <a:srgbClr val="EAEEF4"/>
          </a:solidFill>
          <a:ln w="15875">
            <a:solidFill>
              <a:srgbClr val="9FB1C8"/>
            </a:solidFill>
            <a:prstDash val="dash"/>
          </a:ln>
        </p:spPr>
      </p:sp>
      <p:pic>
        <p:nvPicPr>
          <p:cNvPr id="17" name="Image 3" descr="/sessions/blissful-zealous-babbage/mnt/outputs/ppt/icons/microchip_64748B.png"/>
          <p:cNvPicPr>
            <a:picLocks noChangeAspect="1"/>
          </p:cNvPicPr>
          <p:nvPr/>
        </p:nvPicPr>
        <p:blipFill>
          <a:blip r:embed="rId6"/>
          <a:stretch>
            <a:fillRect/>
          </a:stretch>
        </p:blipFill>
        <p:spPr>
          <a:xfrm>
            <a:off x="8860536" y="2148840"/>
            <a:ext cx="566928" cy="566928"/>
          </a:xfrm>
          <a:prstGeom prst="rect">
            <a:avLst/>
          </a:prstGeom>
        </p:spPr>
      </p:pic>
      <p:sp>
        <p:nvSpPr>
          <p:cNvPr id="18" name="Text 12"/>
          <p:cNvSpPr/>
          <p:nvPr/>
        </p:nvSpPr>
        <p:spPr>
          <a:xfrm>
            <a:off x="6766560" y="2630729"/>
            <a:ext cx="47548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LTSPICE SCHEMATIC</a:t>
            </a:r>
            <a:endParaRPr lang="en-US" sz="1300" dirty="0"/>
          </a:p>
        </p:txBody>
      </p:sp>
      <p:sp>
        <p:nvSpPr>
          <p:cNvPr id="19" name="Text 13"/>
          <p:cNvSpPr/>
          <p:nvPr/>
        </p:nvSpPr>
        <p:spPr>
          <a:xfrm>
            <a:off x="6858000" y="2978201"/>
            <a:ext cx="4572000" cy="804672"/>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screenshot of the .asc</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circuit diagram in LTspice XVII</a:t>
            </a:r>
            <a:endParaRPr lang="en-US" sz="1050" dirty="0"/>
          </a:p>
        </p:txBody>
      </p:sp>
      <p:sp>
        <p:nvSpPr>
          <p:cNvPr id="20" name="Shape 14"/>
          <p:cNvSpPr/>
          <p:nvPr/>
        </p:nvSpPr>
        <p:spPr>
          <a:xfrm>
            <a:off x="6583680" y="4526280"/>
            <a:ext cx="5120640" cy="1463040"/>
          </a:xfrm>
          <a:prstGeom prst="roundRect">
            <a:avLst>
              <a:gd name="adj" fmla="val 5000"/>
            </a:avLst>
          </a:prstGeom>
          <a:solidFill>
            <a:srgbClr val="0B1F3A"/>
          </a:solidFill>
          <a:ln/>
          <a:effectLst>
            <a:outerShdw blurRad="114300" dist="38100" dir="2700000" algn="bl" rotWithShape="0">
              <a:srgbClr val="0B1F3A">
                <a:alpha val="14000"/>
              </a:srgbClr>
            </a:outerShdw>
          </a:effectLst>
        </p:spPr>
      </p:sp>
      <p:sp>
        <p:nvSpPr>
          <p:cNvPr id="21" name="Text 15"/>
          <p:cNvSpPr/>
          <p:nvPr/>
        </p:nvSpPr>
        <p:spPr>
          <a:xfrm>
            <a:off x="6858000" y="4663440"/>
            <a:ext cx="4572000" cy="1188720"/>
          </a:xfrm>
          <a:prstGeom prst="rect">
            <a:avLst/>
          </a:prstGeom>
          <a:noFill/>
          <a:ln/>
        </p:spPr>
        <p:txBody>
          <a:bodyPr wrap="square" lIns="0" tIns="0" rIns="0" bIns="0" rtlCol="0" anchor="ctr"/>
          <a:lstStyle/>
          <a:p>
            <a:pPr marL="0" indent="0" algn="l">
              <a:lnSpc>
                <a:spcPct val="140000"/>
              </a:lnSpc>
              <a:buNone/>
            </a:pPr>
            <a:r>
              <a:rPr lang="en-US" sz="1250" dirty="0">
                <a:solidFill>
                  <a:srgbClr val="E7ECF4"/>
                </a:solidFill>
                <a:latin typeface="Courier New" pitchFamily="34" charset="0"/>
                <a:ea typeface="Courier New" pitchFamily="34" charset="-122"/>
                <a:cs typeface="Courier New" pitchFamily="34" charset="-120"/>
              </a:rPr>
              <a:t>V1  PULSE(0 5 0 1n 1n 95m 200m)</a:t>
            </a:r>
            <a:endParaRPr lang="en-US" sz="1250" dirty="0"/>
          </a:p>
          <a:p>
            <a:pPr marL="0" indent="0" algn="l">
              <a:lnSpc>
                <a:spcPct val="140000"/>
              </a:lnSpc>
              <a:buNone/>
            </a:pPr>
            <a:r>
              <a:rPr lang="en-US" sz="1250" dirty="0">
                <a:solidFill>
                  <a:srgbClr val="E7ECF4"/>
                </a:solidFill>
                <a:latin typeface="Courier New" pitchFamily="34" charset="0"/>
                <a:ea typeface="Courier New" pitchFamily="34" charset="-122"/>
                <a:cs typeface="Courier New" pitchFamily="34" charset="-120"/>
              </a:rPr>
              <a:t>.tran 95m</a:t>
            </a:r>
            <a:endParaRPr lang="en-US" sz="1250" dirty="0"/>
          </a:p>
          <a:p>
            <a:pPr marL="0" indent="0" algn="l">
              <a:lnSpc>
                <a:spcPct val="140000"/>
              </a:lnSpc>
              <a:buNone/>
            </a:pPr>
            <a:r>
              <a:rPr lang="en-US" sz="1250" dirty="0">
                <a:solidFill>
                  <a:srgbClr val="E7ECF4"/>
                </a:solidFill>
                <a:latin typeface="Courier New" pitchFamily="34" charset="0"/>
                <a:ea typeface="Courier New" pitchFamily="34" charset="-122"/>
                <a:cs typeface="Courier New" pitchFamily="34" charset="-120"/>
              </a:rPr>
              <a:t>.step param Rval 100 10000 200</a:t>
            </a:r>
            <a:endParaRPr lang="en-US" sz="125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pic>
        <p:nvPicPr>
          <p:cNvPr id="29" name="Picture 28">
            <a:extLst>
              <a:ext uri="{FF2B5EF4-FFF2-40B4-BE49-F238E27FC236}">
                <a16:creationId xmlns:a16="http://schemas.microsoft.com/office/drawing/2014/main" id="{E4EAB0D9-B967-CD84-1298-3CE8915B6ED8}"/>
              </a:ext>
            </a:extLst>
          </p:cNvPr>
          <p:cNvPicPr>
            <a:picLocks noChangeAspect="1"/>
          </p:cNvPicPr>
          <p:nvPr/>
        </p:nvPicPr>
        <p:blipFill>
          <a:blip r:embed="rId7"/>
          <a:stretch>
            <a:fillRect/>
          </a:stretch>
        </p:blipFill>
        <p:spPr>
          <a:xfrm>
            <a:off x="6565392" y="1743238"/>
            <a:ext cx="5427944" cy="261975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Parameter Sweeps: Simulating Real-World Variation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marL="0" indent="0">
              <a:lnSpc>
                <a:spcPct val="128000"/>
              </a:lnSpc>
              <a:buNone/>
            </a:pPr>
            <a:r>
              <a:rPr lang="en-US" sz="1300" dirty="0">
                <a:solidFill>
                  <a:srgbClr val="1E293B"/>
                </a:solidFill>
                <a:latin typeface="Calibri" pitchFamily="34" charset="0"/>
                <a:ea typeface="Calibri" pitchFamily="34" charset="-122"/>
                <a:cs typeface="Calibri" pitchFamily="34" charset="-120"/>
              </a:rPr>
              <a:t>A single fixed waveform per fault would teach the model almost nothing. The </a:t>
            </a:r>
            <a:r>
              <a:rPr lang="en-US" sz="1300" b="1" dirty="0">
                <a:solidFill>
                  <a:srgbClr val="0B1F3A"/>
                </a:solidFill>
                <a:latin typeface="Courier New" pitchFamily="34" charset="0"/>
                <a:ea typeface="Courier New" pitchFamily="34" charset="-122"/>
                <a:cs typeface="Courier New" pitchFamily="34" charset="-120"/>
              </a:rPr>
              <a:t>.step param</a:t>
            </a:r>
            <a:r>
              <a:rPr lang="en-US" sz="1300" dirty="0">
                <a:solidFill>
                  <a:srgbClr val="1E293B"/>
                </a:solidFill>
                <a:latin typeface="Calibri" pitchFamily="34" charset="0"/>
                <a:ea typeface="Calibri" pitchFamily="34" charset="-122"/>
                <a:cs typeface="Calibri" pitchFamily="34" charset="-120"/>
              </a:rPr>
              <a:t> directive instead sweeps a component value across a realistic range, generating roughly 51 independent transient runs per fault class, per circuit.</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2377440" cy="530352"/>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Circuit</a:t>
            </a:r>
            <a:endParaRPr lang="en-US" sz="1200" dirty="0"/>
          </a:p>
        </p:txBody>
      </p:sp>
      <p:sp>
        <p:nvSpPr>
          <p:cNvPr id="7" name="Text 5"/>
          <p:cNvSpPr/>
          <p:nvPr/>
        </p:nvSpPr>
        <p:spPr>
          <a:xfrm>
            <a:off x="2880360" y="2606040"/>
            <a:ext cx="502920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Normal / Drift sweep</a:t>
            </a:r>
            <a:endParaRPr lang="en-US" sz="1200" dirty="0"/>
          </a:p>
        </p:txBody>
      </p:sp>
      <p:sp>
        <p:nvSpPr>
          <p:cNvPr id="8" name="Text 6"/>
          <p:cNvSpPr/>
          <p:nvPr/>
        </p:nvSpPr>
        <p:spPr>
          <a:xfrm>
            <a:off x="7909560" y="2606040"/>
            <a:ext cx="320040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Fixed components</a:t>
            </a:r>
            <a:endParaRPr lang="en-US" sz="1200" dirty="0"/>
          </a:p>
        </p:txBody>
      </p:sp>
      <p:sp>
        <p:nvSpPr>
          <p:cNvPr id="9" name="Shape 7"/>
          <p:cNvSpPr/>
          <p:nvPr/>
        </p:nvSpPr>
        <p:spPr>
          <a:xfrm>
            <a:off x="502920" y="3136392"/>
            <a:ext cx="10607040" cy="530352"/>
          </a:xfrm>
          <a:prstGeom prst="rect">
            <a:avLst/>
          </a:prstGeom>
          <a:solidFill>
            <a:srgbClr val="FFFFFF"/>
          </a:solidFill>
          <a:ln w="9525">
            <a:solidFill>
              <a:srgbClr val="E4E9F1"/>
            </a:solidFill>
            <a:prstDash val="solid"/>
          </a:ln>
        </p:spPr>
        <p:txBody>
          <a:bodyPr/>
          <a:lstStyle/>
          <a:p>
            <a:endParaRPr lang="en-IN" dirty="0"/>
          </a:p>
        </p:txBody>
      </p:sp>
      <p:sp>
        <p:nvSpPr>
          <p:cNvPr id="10" name="Text 8"/>
          <p:cNvSpPr/>
          <p:nvPr/>
        </p:nvSpPr>
        <p:spPr>
          <a:xfrm>
            <a:off x="502920" y="3136392"/>
            <a:ext cx="2632166"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RC</a:t>
            </a:r>
            <a:endParaRPr lang="en-US" sz="1200" dirty="0"/>
          </a:p>
        </p:txBody>
      </p:sp>
      <p:sp>
        <p:nvSpPr>
          <p:cNvPr id="11" name="Text 9"/>
          <p:cNvSpPr/>
          <p:nvPr/>
        </p:nvSpPr>
        <p:spPr>
          <a:xfrm>
            <a:off x="2880360" y="3136392"/>
            <a:ext cx="50292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Text 10"/>
          <p:cNvSpPr/>
          <p:nvPr/>
        </p:nvSpPr>
        <p:spPr>
          <a:xfrm>
            <a:off x="7909560" y="3136392"/>
            <a:ext cx="32004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 = 10 uF</a:t>
            </a:r>
            <a:endParaRPr lang="en-US" sz="1200" dirty="0"/>
          </a:p>
        </p:txBody>
      </p:sp>
      <p:sp>
        <p:nvSpPr>
          <p:cNvPr id="13" name="Shape 11"/>
          <p:cNvSpPr/>
          <p:nvPr/>
        </p:nvSpPr>
        <p:spPr>
          <a:xfrm>
            <a:off x="502920" y="3666744"/>
            <a:ext cx="10607040" cy="530352"/>
          </a:xfrm>
          <a:prstGeom prst="rect">
            <a:avLst/>
          </a:prstGeom>
          <a:solidFill>
            <a:srgbClr val="EEF2F7"/>
          </a:solidFill>
          <a:ln w="9525">
            <a:solidFill>
              <a:srgbClr val="E4E9F1"/>
            </a:solidFill>
            <a:prstDash val="solid"/>
          </a:ln>
        </p:spPr>
      </p:sp>
      <p:sp>
        <p:nvSpPr>
          <p:cNvPr id="14" name="Text 12"/>
          <p:cNvSpPr/>
          <p:nvPr/>
        </p:nvSpPr>
        <p:spPr>
          <a:xfrm>
            <a:off x="502920" y="3666744"/>
            <a:ext cx="237744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RLC</a:t>
            </a:r>
            <a:endParaRPr lang="en-US" sz="1200" dirty="0"/>
          </a:p>
        </p:txBody>
      </p:sp>
      <p:sp>
        <p:nvSpPr>
          <p:cNvPr id="15" name="Text 13"/>
          <p:cNvSpPr/>
          <p:nvPr/>
        </p:nvSpPr>
        <p:spPr>
          <a:xfrm>
            <a:off x="2880360" y="3666744"/>
            <a:ext cx="50292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L: 1 mH -&gt; 100 mH</a:t>
            </a:r>
            <a:endParaRPr lang="en-US" sz="1200" dirty="0"/>
          </a:p>
        </p:txBody>
      </p:sp>
      <p:sp>
        <p:nvSpPr>
          <p:cNvPr id="16" name="Text 14"/>
          <p:cNvSpPr/>
          <p:nvPr/>
        </p:nvSpPr>
        <p:spPr>
          <a:xfrm>
            <a:off x="7909560" y="3666744"/>
            <a:ext cx="32004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 = 10 ohm, C = 100 uF</a:t>
            </a:r>
            <a:endParaRPr lang="en-US" sz="1200" dirty="0"/>
          </a:p>
        </p:txBody>
      </p:sp>
      <p:sp>
        <p:nvSpPr>
          <p:cNvPr id="17" name="Shape 15"/>
          <p:cNvSpPr/>
          <p:nvPr/>
        </p:nvSpPr>
        <p:spPr>
          <a:xfrm>
            <a:off x="502920" y="4197096"/>
            <a:ext cx="10607040" cy="530352"/>
          </a:xfrm>
          <a:prstGeom prst="rect">
            <a:avLst/>
          </a:prstGeom>
          <a:solidFill>
            <a:srgbClr val="FFFFFF"/>
          </a:solidFill>
          <a:ln w="9525">
            <a:solidFill>
              <a:srgbClr val="E4E9F1"/>
            </a:solidFill>
            <a:prstDash val="solid"/>
          </a:ln>
        </p:spPr>
      </p:sp>
      <p:sp>
        <p:nvSpPr>
          <p:cNvPr id="18" name="Text 16"/>
          <p:cNvSpPr/>
          <p:nvPr/>
        </p:nvSpPr>
        <p:spPr>
          <a:xfrm>
            <a:off x="502920" y="4197096"/>
            <a:ext cx="237744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Sallen-Key</a:t>
            </a:r>
            <a:endParaRPr lang="en-US" sz="1200" dirty="0"/>
          </a:p>
        </p:txBody>
      </p:sp>
      <p:sp>
        <p:nvSpPr>
          <p:cNvPr id="19" name="Text 17"/>
          <p:cNvSpPr/>
          <p:nvPr/>
        </p:nvSpPr>
        <p:spPr>
          <a:xfrm>
            <a:off x="2880360" y="4197096"/>
            <a:ext cx="50292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R1=R2: 1 kilohm -&gt; 100 kilohm</a:t>
            </a:r>
            <a:endParaRPr lang="en-US" sz="1200" dirty="0"/>
          </a:p>
        </p:txBody>
      </p:sp>
      <p:sp>
        <p:nvSpPr>
          <p:cNvPr id="20" name="Text 18"/>
          <p:cNvSpPr/>
          <p:nvPr/>
        </p:nvSpPr>
        <p:spPr>
          <a:xfrm>
            <a:off x="7909560" y="4197096"/>
            <a:ext cx="32004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C1=C2 = 10 nF, +-15V supply</a:t>
            </a:r>
            <a:endParaRPr lang="en-US" sz="1200" dirty="0"/>
          </a:p>
        </p:txBody>
      </p:sp>
      <p:sp>
        <p:nvSpPr>
          <p:cNvPr id="21" name="Shape 19"/>
          <p:cNvSpPr/>
          <p:nvPr/>
        </p:nvSpPr>
        <p:spPr>
          <a:xfrm>
            <a:off x="502920" y="4727448"/>
            <a:ext cx="10607040" cy="530352"/>
          </a:xfrm>
          <a:prstGeom prst="rect">
            <a:avLst/>
          </a:prstGeom>
          <a:solidFill>
            <a:srgbClr val="EEF2F7"/>
          </a:solidFill>
          <a:ln w="9525">
            <a:solidFill>
              <a:srgbClr val="E4E9F1"/>
            </a:solidFill>
            <a:prstDash val="solid"/>
          </a:ln>
        </p:spPr>
      </p:sp>
      <p:sp>
        <p:nvSpPr>
          <p:cNvPr id="22" name="Text 20"/>
          <p:cNvSpPr/>
          <p:nvPr/>
        </p:nvSpPr>
        <p:spPr>
          <a:xfrm>
            <a:off x="502920" y="4727448"/>
            <a:ext cx="237744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RC Ladder</a:t>
            </a:r>
            <a:endParaRPr lang="en-US" sz="1200" dirty="0"/>
          </a:p>
        </p:txBody>
      </p:sp>
      <p:sp>
        <p:nvSpPr>
          <p:cNvPr id="23" name="Text 21"/>
          <p:cNvSpPr/>
          <p:nvPr/>
        </p:nvSpPr>
        <p:spPr>
          <a:xfrm>
            <a:off x="2880360" y="4727448"/>
            <a:ext cx="50292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R1=R2: 100 ohm -&gt; 10 kilohm</a:t>
            </a:r>
            <a:endParaRPr lang="en-US" sz="1200" dirty="0"/>
          </a:p>
        </p:txBody>
      </p:sp>
      <p:sp>
        <p:nvSpPr>
          <p:cNvPr id="24" name="Text 22"/>
          <p:cNvSpPr/>
          <p:nvPr/>
        </p:nvSpPr>
        <p:spPr>
          <a:xfrm>
            <a:off x="7909560" y="4727448"/>
            <a:ext cx="320040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C1=C2 = 10 uF</a:t>
            </a:r>
            <a:endParaRPr lang="en-US" sz="1200" dirty="0"/>
          </a:p>
        </p:txBody>
      </p:sp>
      <p:sp>
        <p:nvSpPr>
          <p:cNvPr id="25" name="Shape 23"/>
          <p:cNvSpPr/>
          <p:nvPr/>
        </p:nvSpPr>
        <p:spPr>
          <a:xfrm>
            <a:off x="502920" y="5257800"/>
            <a:ext cx="10607040" cy="640080"/>
          </a:xfrm>
          <a:prstGeom prst="roundRect">
            <a:avLst>
              <a:gd name="adj" fmla="val 11429"/>
            </a:avLst>
          </a:prstGeom>
          <a:solidFill>
            <a:srgbClr val="0B1F3A"/>
          </a:solidFill>
          <a:ln/>
          <a:effectLst>
            <a:outerShdw blurRad="114300" dist="38100" dir="2700000" algn="bl" rotWithShape="0">
              <a:srgbClr val="0B1F3A">
                <a:alpha val="14000"/>
              </a:srgbClr>
            </a:outerShdw>
          </a:effectLst>
        </p:spPr>
      </p:sp>
      <p:sp>
        <p:nvSpPr>
          <p:cNvPr id="26" name="Text 24"/>
          <p:cNvSpPr/>
          <p:nvPr/>
        </p:nvSpPr>
        <p:spPr>
          <a:xfrm>
            <a:off x="502920" y="5257800"/>
            <a:ext cx="10607040" cy="640080"/>
          </a:xfrm>
          <a:prstGeom prst="rect">
            <a:avLst/>
          </a:prstGeom>
          <a:noFill/>
          <a:ln/>
        </p:spPr>
        <p:txBody>
          <a:bodyPr wrap="square" lIns="0" tIns="0" rIns="0" bIns="0" rtlCol="0" anchor="ctr"/>
          <a:lstStyle/>
          <a:p>
            <a:pPr marL="0" indent="0" algn="ctr">
              <a:buNone/>
            </a:pPr>
            <a:r>
              <a:rPr lang="en-US" sz="1300" b="1" dirty="0">
                <a:solidFill>
                  <a:srgbClr val="FFB703"/>
                </a:solidFill>
                <a:latin typeface="Calibri" pitchFamily="34" charset="0"/>
                <a:ea typeface="Calibri" pitchFamily="34" charset="-122"/>
                <a:cs typeface="Calibri" pitchFamily="34" charset="-120"/>
              </a:rPr>
              <a:t>~51 sweep steps x 4 circuits x 5 faults =~ 1,019 total samples</a:t>
            </a:r>
            <a:endParaRPr lang="en-US" sz="130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How Each Fault Is Modeled in LTspice</a:t>
            </a:r>
            <a:endParaRPr lang="en-US" sz="3000" dirty="0"/>
          </a:p>
        </p:txBody>
      </p:sp>
      <p:sp>
        <p:nvSpPr>
          <p:cNvPr id="4" name="Shape 2"/>
          <p:cNvSpPr/>
          <p:nvPr/>
        </p:nvSpPr>
        <p:spPr>
          <a:xfrm>
            <a:off x="502920" y="1828800"/>
            <a:ext cx="10607040" cy="530352"/>
          </a:xfrm>
          <a:prstGeom prst="roundRect">
            <a:avLst>
              <a:gd name="adj" fmla="val 10345"/>
            </a:avLst>
          </a:prstGeom>
          <a:solidFill>
            <a:srgbClr val="0B1F3A"/>
          </a:solidFill>
          <a:ln/>
        </p:spPr>
      </p:sp>
      <p:sp>
        <p:nvSpPr>
          <p:cNvPr id="5" name="Text 3"/>
          <p:cNvSpPr/>
          <p:nvPr/>
        </p:nvSpPr>
        <p:spPr>
          <a:xfrm>
            <a:off x="549575" y="1828800"/>
            <a:ext cx="1554480" cy="530352"/>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Fault</a:t>
            </a:r>
            <a:endParaRPr lang="en-US" sz="1200" dirty="0"/>
          </a:p>
        </p:txBody>
      </p:sp>
      <p:sp>
        <p:nvSpPr>
          <p:cNvPr id="6" name="Text 4"/>
          <p:cNvSpPr/>
          <p:nvPr/>
        </p:nvSpPr>
        <p:spPr>
          <a:xfrm>
            <a:off x="2057400" y="1828800"/>
            <a:ext cx="576072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Modeling mechanism</a:t>
            </a:r>
            <a:endParaRPr lang="en-US" sz="1200" dirty="0"/>
          </a:p>
        </p:txBody>
      </p:sp>
      <p:sp>
        <p:nvSpPr>
          <p:cNvPr id="7" name="Text 5"/>
          <p:cNvSpPr/>
          <p:nvPr/>
        </p:nvSpPr>
        <p:spPr>
          <a:xfrm>
            <a:off x="7818120" y="1828800"/>
            <a:ext cx="329184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Concretely (RC example)</a:t>
            </a:r>
            <a:endParaRPr lang="en-US" sz="1200" dirty="0"/>
          </a:p>
        </p:txBody>
      </p:sp>
      <p:sp>
        <p:nvSpPr>
          <p:cNvPr id="8" name="Shape 6"/>
          <p:cNvSpPr/>
          <p:nvPr/>
        </p:nvSpPr>
        <p:spPr>
          <a:xfrm>
            <a:off x="502920" y="2359152"/>
            <a:ext cx="10607040" cy="530352"/>
          </a:xfrm>
          <a:prstGeom prst="rect">
            <a:avLst/>
          </a:prstGeom>
          <a:solidFill>
            <a:srgbClr val="FFFFFF"/>
          </a:solidFill>
          <a:ln w="9525">
            <a:solidFill>
              <a:srgbClr val="E4E9F1"/>
            </a:solidFill>
            <a:prstDash val="solid"/>
          </a:ln>
        </p:spPr>
      </p:sp>
      <p:sp>
        <p:nvSpPr>
          <p:cNvPr id="9" name="Text 7"/>
          <p:cNvSpPr/>
          <p:nvPr/>
        </p:nvSpPr>
        <p:spPr>
          <a:xfrm>
            <a:off x="502920" y="2359152"/>
            <a:ext cx="155448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Normal</a:t>
            </a:r>
            <a:endParaRPr lang="en-US" sz="1200" dirty="0"/>
          </a:p>
        </p:txBody>
      </p:sp>
      <p:sp>
        <p:nvSpPr>
          <p:cNvPr id="10" name="Text 8"/>
          <p:cNvSpPr/>
          <p:nvPr/>
        </p:nvSpPr>
        <p:spPr>
          <a:xfrm>
            <a:off x="2057400" y="2359152"/>
            <a:ext cx="576072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Component at nominal design value, swept across a healthy range</a:t>
            </a:r>
            <a:endParaRPr lang="en-US" sz="1200" dirty="0"/>
          </a:p>
        </p:txBody>
      </p:sp>
      <p:sp>
        <p:nvSpPr>
          <p:cNvPr id="11" name="Text 9"/>
          <p:cNvSpPr/>
          <p:nvPr/>
        </p:nvSpPr>
        <p:spPr>
          <a:xfrm>
            <a:off x="7818120" y="2359152"/>
            <a:ext cx="32918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Shape 10"/>
          <p:cNvSpPr/>
          <p:nvPr/>
        </p:nvSpPr>
        <p:spPr>
          <a:xfrm>
            <a:off x="502920" y="2889504"/>
            <a:ext cx="10607040" cy="530352"/>
          </a:xfrm>
          <a:prstGeom prst="rect">
            <a:avLst/>
          </a:prstGeom>
          <a:solidFill>
            <a:srgbClr val="EEF2F7"/>
          </a:solidFill>
          <a:ln w="9525">
            <a:solidFill>
              <a:srgbClr val="E4E9F1"/>
            </a:solidFill>
            <a:prstDash val="solid"/>
          </a:ln>
        </p:spPr>
      </p:sp>
      <p:sp>
        <p:nvSpPr>
          <p:cNvPr id="13" name="Text 11"/>
          <p:cNvSpPr/>
          <p:nvPr/>
        </p:nvSpPr>
        <p:spPr>
          <a:xfrm>
            <a:off x="502920" y="2889504"/>
            <a:ext cx="155448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Drift</a:t>
            </a:r>
            <a:endParaRPr lang="en-US" sz="1200" dirty="0"/>
          </a:p>
        </p:txBody>
      </p:sp>
      <p:sp>
        <p:nvSpPr>
          <p:cNvPr id="14" name="Text 12"/>
          <p:cNvSpPr/>
          <p:nvPr/>
        </p:nvSpPr>
        <p:spPr>
          <a:xfrm>
            <a:off x="2057400" y="2889504"/>
            <a:ext cx="576072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Same component, same wide sweep — treated as the healthy range itself</a:t>
            </a:r>
            <a:endParaRPr lang="en-US" sz="1200" dirty="0"/>
          </a:p>
        </p:txBody>
      </p:sp>
      <p:sp>
        <p:nvSpPr>
          <p:cNvPr id="15" name="Text 13"/>
          <p:cNvSpPr/>
          <p:nvPr/>
        </p:nvSpPr>
        <p:spPr>
          <a:xfrm>
            <a:off x="7818120" y="2889504"/>
            <a:ext cx="32918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6" name="Shape 14"/>
          <p:cNvSpPr/>
          <p:nvPr/>
        </p:nvSpPr>
        <p:spPr>
          <a:xfrm>
            <a:off x="502920" y="3419856"/>
            <a:ext cx="10607040" cy="530352"/>
          </a:xfrm>
          <a:prstGeom prst="rect">
            <a:avLst/>
          </a:prstGeom>
          <a:solidFill>
            <a:srgbClr val="FFFFFF"/>
          </a:solidFill>
          <a:ln w="9525">
            <a:solidFill>
              <a:srgbClr val="E4E9F1"/>
            </a:solidFill>
            <a:prstDash val="solid"/>
          </a:ln>
        </p:spPr>
      </p:sp>
      <p:sp>
        <p:nvSpPr>
          <p:cNvPr id="17" name="Text 15"/>
          <p:cNvSpPr/>
          <p:nvPr/>
        </p:nvSpPr>
        <p:spPr>
          <a:xfrm>
            <a:off x="502920" y="3419856"/>
            <a:ext cx="155448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Open</a:t>
            </a:r>
            <a:endParaRPr lang="en-US" sz="1200" dirty="0"/>
          </a:p>
        </p:txBody>
      </p:sp>
      <p:sp>
        <p:nvSpPr>
          <p:cNvPr id="18" name="Text 16"/>
          <p:cNvSpPr/>
          <p:nvPr/>
        </p:nvSpPr>
        <p:spPr>
          <a:xfrm>
            <a:off x="2057400" y="3419856"/>
            <a:ext cx="576072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Affected resistor swept toward near-infinite resistance</a:t>
            </a:r>
            <a:endParaRPr lang="en-US" sz="1200" dirty="0"/>
          </a:p>
        </p:txBody>
      </p:sp>
      <p:sp>
        <p:nvSpPr>
          <p:cNvPr id="19" name="Text 17"/>
          <p:cNvSpPr/>
          <p:nvPr/>
        </p:nvSpPr>
        <p:spPr>
          <a:xfrm>
            <a:off x="7818120" y="3419856"/>
            <a:ext cx="32918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R: 1 megaohm -&gt; 1 gigaohm</a:t>
            </a:r>
            <a:endParaRPr lang="en-US" sz="1200" dirty="0"/>
          </a:p>
        </p:txBody>
      </p:sp>
      <p:sp>
        <p:nvSpPr>
          <p:cNvPr id="20" name="Shape 18"/>
          <p:cNvSpPr/>
          <p:nvPr/>
        </p:nvSpPr>
        <p:spPr>
          <a:xfrm>
            <a:off x="502920" y="3950208"/>
            <a:ext cx="10607040" cy="530352"/>
          </a:xfrm>
          <a:prstGeom prst="rect">
            <a:avLst/>
          </a:prstGeom>
          <a:solidFill>
            <a:srgbClr val="EEF2F7"/>
          </a:solidFill>
          <a:ln w="9525">
            <a:solidFill>
              <a:srgbClr val="E4E9F1"/>
            </a:solidFill>
            <a:prstDash val="solid"/>
          </a:ln>
        </p:spPr>
      </p:sp>
      <p:sp>
        <p:nvSpPr>
          <p:cNvPr id="21" name="Text 19"/>
          <p:cNvSpPr/>
          <p:nvPr/>
        </p:nvSpPr>
        <p:spPr>
          <a:xfrm>
            <a:off x="502920" y="3950208"/>
            <a:ext cx="155448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Short</a:t>
            </a:r>
            <a:endParaRPr lang="en-US" sz="1200" dirty="0"/>
          </a:p>
        </p:txBody>
      </p:sp>
      <p:sp>
        <p:nvSpPr>
          <p:cNvPr id="22" name="Text 20"/>
          <p:cNvSpPr/>
          <p:nvPr/>
        </p:nvSpPr>
        <p:spPr>
          <a:xfrm>
            <a:off x="2057400" y="3950208"/>
            <a:ext cx="576072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Affected reactive component swept toward its opposite extreme</a:t>
            </a:r>
            <a:endParaRPr lang="en-US" sz="1200" dirty="0"/>
          </a:p>
        </p:txBody>
      </p:sp>
      <p:sp>
        <p:nvSpPr>
          <p:cNvPr id="23" name="Text 21"/>
          <p:cNvSpPr/>
          <p:nvPr/>
        </p:nvSpPr>
        <p:spPr>
          <a:xfrm>
            <a:off x="7818120" y="3950208"/>
            <a:ext cx="32918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 0.1 pF -&gt; 10 pF</a:t>
            </a:r>
            <a:endParaRPr lang="en-US" sz="1200" dirty="0"/>
          </a:p>
        </p:txBody>
      </p:sp>
      <p:sp>
        <p:nvSpPr>
          <p:cNvPr id="24" name="Shape 22"/>
          <p:cNvSpPr/>
          <p:nvPr/>
        </p:nvSpPr>
        <p:spPr>
          <a:xfrm>
            <a:off x="502920" y="4480560"/>
            <a:ext cx="10607040" cy="530352"/>
          </a:xfrm>
          <a:prstGeom prst="rect">
            <a:avLst/>
          </a:prstGeom>
          <a:solidFill>
            <a:srgbClr val="FFFFFF"/>
          </a:solidFill>
          <a:ln w="9525">
            <a:solidFill>
              <a:srgbClr val="E4E9F1"/>
            </a:solidFill>
            <a:prstDash val="solid"/>
          </a:ln>
        </p:spPr>
      </p:sp>
      <p:sp>
        <p:nvSpPr>
          <p:cNvPr id="25" name="Text 23"/>
          <p:cNvSpPr/>
          <p:nvPr/>
        </p:nvSpPr>
        <p:spPr>
          <a:xfrm>
            <a:off x="502920" y="4480560"/>
            <a:ext cx="155448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Noise</a:t>
            </a:r>
            <a:endParaRPr lang="en-US" sz="1200" dirty="0"/>
          </a:p>
        </p:txBody>
      </p:sp>
      <p:sp>
        <p:nvSpPr>
          <p:cNvPr id="26" name="Text 24"/>
          <p:cNvSpPr/>
          <p:nvPr/>
        </p:nvSpPr>
        <p:spPr>
          <a:xfrm>
            <a:off x="2057400" y="4480560"/>
            <a:ext cx="576072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Gaussian noise added post-hoc to normal waveforms, not simulated in LTspice</a:t>
            </a:r>
            <a:endParaRPr lang="en-US" sz="1200" dirty="0"/>
          </a:p>
        </p:txBody>
      </p:sp>
      <p:sp>
        <p:nvSpPr>
          <p:cNvPr id="27" name="Text 25"/>
          <p:cNvSpPr/>
          <p:nvPr/>
        </p:nvSpPr>
        <p:spPr>
          <a:xfrm>
            <a:off x="7818120" y="4480560"/>
            <a:ext cx="32918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SNR = 25 dB, seed = 42</a:t>
            </a:r>
            <a:endParaRPr lang="en-US" sz="12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From LTspice Output to a Clean Dataset</a:t>
            </a:r>
            <a:endParaRPr lang="en-US" sz="3000" dirty="0"/>
          </a:p>
        </p:txBody>
      </p:sp>
      <p:sp>
        <p:nvSpPr>
          <p:cNvPr id="4" name="Text 2"/>
          <p:cNvSpPr/>
          <p:nvPr/>
        </p:nvSpPr>
        <p:spPr>
          <a:xfrm>
            <a:off x="502920" y="1737360"/>
            <a:ext cx="10607040" cy="685800"/>
          </a:xfrm>
          <a:prstGeom prst="rect">
            <a:avLst/>
          </a:prstGeom>
          <a:noFill/>
          <a:ln/>
        </p:spPr>
        <p:txBody>
          <a:bodyPr wrap="square" lIns="0" tIns="0" rIns="0" bIns="0" rtlCol="0" anchor="ctr"/>
          <a:lstStyle/>
          <a:p>
            <a:pPr marL="0" indent="0">
              <a:lnSpc>
                <a:spcPct val="125000"/>
              </a:lnSpc>
              <a:buNone/>
            </a:pPr>
            <a:r>
              <a:rPr lang="en-US" sz="1250" dirty="0">
                <a:solidFill>
                  <a:srgbClr val="1E293B"/>
                </a:solidFill>
                <a:latin typeface="Calibri" pitchFamily="34" charset="0"/>
                <a:ea typeface="Calibri" pitchFamily="34" charset="-122"/>
                <a:cs typeface="Calibri"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5" name="Shape 3"/>
          <p:cNvSpPr/>
          <p:nvPr/>
        </p:nvSpPr>
        <p:spPr>
          <a:xfrm>
            <a:off x="502920" y="2514600"/>
            <a:ext cx="10607040" cy="2331720"/>
          </a:xfrm>
          <a:prstGeom prst="roundRect">
            <a:avLst>
              <a:gd name="adj" fmla="val 3137"/>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2651760"/>
            <a:ext cx="10058400" cy="2057400"/>
          </a:xfrm>
          <a:prstGeom prst="rect">
            <a:avLst/>
          </a:prstGeom>
          <a:noFill/>
          <a:ln/>
        </p:spPr>
        <p:txBody>
          <a:bodyPr wrap="square" lIns="0" tIns="0" rIns="0" bIns="0" rtlCol="0" anchor="ctr"/>
          <a:lstStyle/>
          <a:p>
            <a:pPr marL="0" indent="0" algn="l">
              <a:lnSpc>
                <a:spcPct val="140000"/>
              </a:lnSpc>
              <a:buNone/>
            </a:pPr>
            <a:r>
              <a:rPr lang="en-US" sz="1300" dirty="0">
                <a:solidFill>
                  <a:srgbClr val="E7ECF4"/>
                </a:solidFill>
                <a:latin typeface="Courier New" pitchFamily="34" charset="0"/>
                <a:ea typeface="Courier New" pitchFamily="34" charset="-122"/>
                <a:cs typeface="Courier New" pitchFamily="34" charset="-120"/>
              </a:rPr>
              <a:t>for line in file:</a:t>
            </a:r>
            <a:endParaRPr lang="en-US" sz="1300" dirty="0"/>
          </a:p>
          <a:p>
            <a:pPr marL="0" indent="0" algn="l">
              <a:lnSpc>
                <a:spcPct val="140000"/>
              </a:lnSpc>
              <a:buNone/>
            </a:pPr>
            <a:r>
              <a:rPr lang="en-US" sz="1300" dirty="0">
                <a:solidFill>
                  <a:srgbClr val="E7ECF4"/>
                </a:solidFill>
                <a:latin typeface="Courier New" pitchFamily="34" charset="0"/>
                <a:ea typeface="Courier New" pitchFamily="34" charset="-122"/>
                <a:cs typeface="Courier New" pitchFamily="34" charset="-120"/>
              </a:rPr>
              <a:t>    if line starts with "Step Information": start new run</a:t>
            </a:r>
            <a:endParaRPr lang="en-US" sz="1300" dirty="0"/>
          </a:p>
          <a:p>
            <a:pPr marL="0" indent="0" algn="l">
              <a:lnSpc>
                <a:spcPct val="140000"/>
              </a:lnSpc>
              <a:buNone/>
            </a:pPr>
            <a:r>
              <a:rPr lang="en-US" sz="1300" dirty="0">
                <a:solidFill>
                  <a:srgbClr val="E7ECF4"/>
                </a:solidFill>
                <a:latin typeface="Courier New" pitchFamily="34" charset="0"/>
                <a:ea typeface="Courier New" pitchFamily="34" charset="-122"/>
                <a:cs typeface="Courier New" pitchFamily="34" charset="-120"/>
              </a:rPr>
              <a:t>    else: accumulate (time, voltage) pairs</a:t>
            </a:r>
            <a:endParaRPr lang="en-US" sz="1300" dirty="0"/>
          </a:p>
          <a:p>
            <a:pPr marL="0" indent="0" algn="l">
              <a:lnSpc>
                <a:spcPct val="140000"/>
              </a:lnSpc>
              <a:buNone/>
            </a:pPr>
            <a:endParaRPr lang="en-US" sz="1300" dirty="0"/>
          </a:p>
          <a:p>
            <a:pPr marL="0" indent="0" algn="l">
              <a:lnSpc>
                <a:spcPct val="140000"/>
              </a:lnSpc>
              <a:buNone/>
            </a:pPr>
            <a:r>
              <a:rPr lang="en-US" sz="1300" dirty="0">
                <a:solidFill>
                  <a:srgbClr val="E7ECF4"/>
                </a:solidFill>
                <a:latin typeface="Courier New" pitchFamily="34" charset="0"/>
                <a:ea typeface="Courier New" pitchFamily="34" charset="-122"/>
                <a:cs typeface="Courier New" pitchFamily="34" charset="-120"/>
              </a:rPr>
              <a:t>resample(t, v, t_end, n=200):</a:t>
            </a:r>
            <a:endParaRPr lang="en-US" sz="1300" dirty="0"/>
          </a:p>
          <a:p>
            <a:pPr marL="0" indent="0" algn="l">
              <a:lnSpc>
                <a:spcPct val="140000"/>
              </a:lnSpc>
              <a:buNone/>
            </a:pPr>
            <a:r>
              <a:rPr lang="en-US" sz="1300" dirty="0">
                <a:solidFill>
                  <a:srgbClr val="E7ECF4"/>
                </a:solidFill>
                <a:latin typeface="Courier New" pitchFamily="34" charset="0"/>
                <a:ea typeface="Courier New" pitchFamily="34" charset="-122"/>
                <a:cs typeface="Courier New" pitchFamily="34" charset="-120"/>
              </a:rPr>
              <a:t>    grid = linspace(0, t_end, 200)</a:t>
            </a:r>
            <a:endParaRPr lang="en-US" sz="1300" dirty="0"/>
          </a:p>
          <a:p>
            <a:pPr marL="0" indent="0" algn="l">
              <a:lnSpc>
                <a:spcPct val="140000"/>
              </a:lnSpc>
              <a:buNone/>
            </a:pPr>
            <a:r>
              <a:rPr lang="en-US" sz="1300" dirty="0">
                <a:solidFill>
                  <a:srgbClr val="E7ECF4"/>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7" name="Text 5"/>
          <p:cNvSpPr/>
          <p:nvPr/>
        </p:nvSpPr>
        <p:spPr>
          <a:xfrm>
            <a:off x="502920" y="5029200"/>
            <a:ext cx="10607040" cy="457200"/>
          </a:xfrm>
          <a:prstGeom prst="rect">
            <a:avLst/>
          </a:prstGeom>
          <a:noFill/>
          <a:ln/>
        </p:spPr>
        <p:txBody>
          <a:bodyPr wrap="square" lIns="0" tIns="0" rIns="0" bIns="0" rtlCol="0" anchor="ctr"/>
          <a:lstStyle/>
          <a:p>
            <a:pPr marL="0" indent="0">
              <a:lnSpc>
                <a:spcPct val="120000"/>
              </a:lnSpc>
              <a:buNone/>
            </a:pPr>
            <a:r>
              <a:rPr lang="en-US" sz="1150" i="1" dirty="0">
                <a:solidFill>
                  <a:srgbClr val="64748B"/>
                </a:solidFill>
                <a:latin typeface="Calibri" pitchFamily="34" charset="0"/>
                <a:ea typeface="Calibri" pitchFamily="34" charset="-122"/>
                <a:cs typeface="Calibri" pitchFamily="34" charset="-120"/>
              </a:rPr>
              <a:t>This turns dozens of variable-length LTspice runs into one uniform, ML-ready table of 200 voltage points per sample.</a:t>
            </a:r>
            <a:endParaRPr lang="en-US" sz="11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 · STEP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A Look at the Raw Dataset: master_dataset_sweep.csv</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marL="0" indent="0">
              <a:lnSpc>
                <a:spcPct val="128000"/>
              </a:lnSpc>
              <a:buNone/>
            </a:pPr>
            <a:r>
              <a:rPr lang="en-US" sz="1250" dirty="0">
                <a:solidFill>
                  <a:srgbClr val="1E293B"/>
                </a:solidFill>
                <a:latin typeface="Calibri" pitchFamily="34" charset="0"/>
                <a:ea typeface="Calibri" pitchFamily="34" charset="-122"/>
                <a:cs typeface="Calibri" pitchFamily="34" charset="-120"/>
              </a:rPr>
              <a:t>Every LTspice sweep run becomes one row: a circuit label, a fault label, the swept parameter value, and </a:t>
            </a:r>
            <a:r>
              <a:rPr lang="en-US" sz="1250" b="1" dirty="0">
                <a:solidFill>
                  <a:srgbClr val="0B1F3A"/>
                </a:solidFill>
                <a:latin typeface="Calibri" pitchFamily="34" charset="0"/>
                <a:ea typeface="Calibri" pitchFamily="34" charset="-122"/>
                <a:cs typeface="Calibri" pitchFamily="34" charset="-120"/>
              </a:rPr>
              <a:t>200 raw voltage samples</a:t>
            </a:r>
            <a:r>
              <a:rPr lang="en-US" sz="1250" dirty="0">
                <a:solidFill>
                  <a:srgbClr val="1E293B"/>
                </a:solidFill>
                <a:latin typeface="Calibri" pitchFamily="34" charset="0"/>
                <a:ea typeface="Calibri" pitchFamily="34" charset="-122"/>
                <a:cs typeface="Calibri" pitchFamily="34" charset="-120"/>
              </a:rPr>
              <a:t> (v0 ... v199) tracing the full transient response. This is the direct, unprocessed output of Step 2 — nothing has been engineered yet.</a:t>
            </a:r>
            <a:endParaRPr lang="en-US" sz="1250" dirty="0"/>
          </a:p>
        </p:txBody>
      </p:sp>
      <p:sp>
        <p:nvSpPr>
          <p:cNvPr id="5" name="Shape 3"/>
          <p:cNvSpPr/>
          <p:nvPr/>
        </p:nvSpPr>
        <p:spPr>
          <a:xfrm>
            <a:off x="502920" y="2606040"/>
            <a:ext cx="10607040" cy="512064"/>
          </a:xfrm>
          <a:prstGeom prst="roundRect">
            <a:avLst>
              <a:gd name="adj" fmla="val 10714"/>
            </a:avLst>
          </a:prstGeom>
          <a:solidFill>
            <a:srgbClr val="0B1F3A"/>
          </a:solidFill>
          <a:ln/>
        </p:spPr>
      </p:sp>
      <p:sp>
        <p:nvSpPr>
          <p:cNvPr id="6" name="Text 4"/>
          <p:cNvSpPr/>
          <p:nvPr/>
        </p:nvSpPr>
        <p:spPr>
          <a:xfrm>
            <a:off x="502920" y="2606040"/>
            <a:ext cx="731520" cy="512064"/>
          </a:xfrm>
          <a:prstGeom prst="rect">
            <a:avLst/>
          </a:prstGeom>
          <a:noFill/>
          <a:ln/>
        </p:spPr>
        <p:txBody>
          <a:bodyPr wrap="square" lIns="0" tIns="17780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 id</a:t>
            </a:r>
            <a:endParaRPr lang="en-US" sz="1050" dirty="0"/>
          </a:p>
        </p:txBody>
      </p:sp>
      <p:sp>
        <p:nvSpPr>
          <p:cNvPr id="7" name="Text 5"/>
          <p:cNvSpPr/>
          <p:nvPr/>
        </p:nvSpPr>
        <p:spPr>
          <a:xfrm>
            <a:off x="1234440" y="2606040"/>
            <a:ext cx="128016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circuit</a:t>
            </a:r>
            <a:endParaRPr lang="en-US" sz="1050" dirty="0"/>
          </a:p>
        </p:txBody>
      </p:sp>
      <p:sp>
        <p:nvSpPr>
          <p:cNvPr id="8" name="Text 6"/>
          <p:cNvSpPr/>
          <p:nvPr/>
        </p:nvSpPr>
        <p:spPr>
          <a:xfrm>
            <a:off x="2514600" y="2606040"/>
            <a:ext cx="118872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fault</a:t>
            </a:r>
            <a:endParaRPr lang="en-US" sz="1050" dirty="0"/>
          </a:p>
        </p:txBody>
      </p:sp>
      <p:sp>
        <p:nvSpPr>
          <p:cNvPr id="9" name="Text 7"/>
          <p:cNvSpPr/>
          <p:nvPr/>
        </p:nvSpPr>
        <p:spPr>
          <a:xfrm>
            <a:off x="3703320" y="2606040"/>
            <a:ext cx="173736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param_value</a:t>
            </a:r>
            <a:endParaRPr lang="en-US" sz="1050" dirty="0"/>
          </a:p>
        </p:txBody>
      </p:sp>
      <p:sp>
        <p:nvSpPr>
          <p:cNvPr id="10" name="Text 8"/>
          <p:cNvSpPr/>
          <p:nvPr/>
        </p:nvSpPr>
        <p:spPr>
          <a:xfrm>
            <a:off x="5440680" y="2606040"/>
            <a:ext cx="123444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v0</a:t>
            </a:r>
            <a:endParaRPr lang="en-US" sz="1050" dirty="0"/>
          </a:p>
        </p:txBody>
      </p:sp>
      <p:sp>
        <p:nvSpPr>
          <p:cNvPr id="11" name="Text 9"/>
          <p:cNvSpPr/>
          <p:nvPr/>
        </p:nvSpPr>
        <p:spPr>
          <a:xfrm>
            <a:off x="6675120" y="2606040"/>
            <a:ext cx="123444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v1</a:t>
            </a:r>
            <a:endParaRPr lang="en-US" sz="1050" dirty="0"/>
          </a:p>
        </p:txBody>
      </p:sp>
      <p:sp>
        <p:nvSpPr>
          <p:cNvPr id="12" name="Text 10"/>
          <p:cNvSpPr/>
          <p:nvPr/>
        </p:nvSpPr>
        <p:spPr>
          <a:xfrm>
            <a:off x="7909560" y="2606040"/>
            <a:ext cx="123444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v2</a:t>
            </a:r>
            <a:endParaRPr lang="en-US" sz="1050" dirty="0"/>
          </a:p>
        </p:txBody>
      </p:sp>
      <p:sp>
        <p:nvSpPr>
          <p:cNvPr id="13" name="Text 11"/>
          <p:cNvSpPr/>
          <p:nvPr/>
        </p:nvSpPr>
        <p:spPr>
          <a:xfrm>
            <a:off x="9144000" y="2606040"/>
            <a:ext cx="77724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4" name="Text 12"/>
          <p:cNvSpPr/>
          <p:nvPr/>
        </p:nvSpPr>
        <p:spPr>
          <a:xfrm>
            <a:off x="9921240" y="2606040"/>
            <a:ext cx="1188720" cy="51206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v199</a:t>
            </a:r>
            <a:endParaRPr lang="en-US" sz="1050" dirty="0"/>
          </a:p>
        </p:txBody>
      </p:sp>
      <p:sp>
        <p:nvSpPr>
          <p:cNvPr id="15" name="Shape 13"/>
          <p:cNvSpPr/>
          <p:nvPr/>
        </p:nvSpPr>
        <p:spPr>
          <a:xfrm>
            <a:off x="502920" y="3118104"/>
            <a:ext cx="10607040" cy="512064"/>
          </a:xfrm>
          <a:prstGeom prst="rect">
            <a:avLst/>
          </a:prstGeom>
          <a:solidFill>
            <a:srgbClr val="FFFFFF"/>
          </a:solidFill>
          <a:ln w="9525">
            <a:solidFill>
              <a:srgbClr val="E4E9F1"/>
            </a:solidFill>
            <a:prstDash val="solid"/>
          </a:ln>
        </p:spPr>
        <p:txBody>
          <a:bodyPr/>
          <a:lstStyle/>
          <a:p>
            <a:endParaRPr lang="en-IN" dirty="0"/>
          </a:p>
        </p:txBody>
      </p:sp>
      <p:sp>
        <p:nvSpPr>
          <p:cNvPr id="16" name="Text 14"/>
          <p:cNvSpPr/>
          <p:nvPr/>
        </p:nvSpPr>
        <p:spPr>
          <a:xfrm>
            <a:off x="502920" y="3118104"/>
            <a:ext cx="731520" cy="512064"/>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0</a:t>
            </a:r>
            <a:endParaRPr lang="en-US" sz="1050" dirty="0"/>
          </a:p>
        </p:txBody>
      </p:sp>
      <p:sp>
        <p:nvSpPr>
          <p:cNvPr id="17" name="Text 15"/>
          <p:cNvSpPr/>
          <p:nvPr/>
        </p:nvSpPr>
        <p:spPr>
          <a:xfrm>
            <a:off x="1234440" y="3118104"/>
            <a:ext cx="12801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18" name="Text 16"/>
          <p:cNvSpPr/>
          <p:nvPr/>
        </p:nvSpPr>
        <p:spPr>
          <a:xfrm>
            <a:off x="2514600" y="3118104"/>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normal</a:t>
            </a:r>
            <a:endParaRPr lang="en-US" sz="1050" dirty="0"/>
          </a:p>
        </p:txBody>
      </p:sp>
      <p:sp>
        <p:nvSpPr>
          <p:cNvPr id="19" name="Text 17"/>
          <p:cNvSpPr/>
          <p:nvPr/>
        </p:nvSpPr>
        <p:spPr>
          <a:xfrm>
            <a:off x="3703320" y="3118104"/>
            <a:ext cx="17373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100 ohm</a:t>
            </a:r>
            <a:endParaRPr lang="en-US" sz="1050" dirty="0"/>
          </a:p>
        </p:txBody>
      </p:sp>
      <p:sp>
        <p:nvSpPr>
          <p:cNvPr id="20" name="Text 18"/>
          <p:cNvSpPr/>
          <p:nvPr/>
        </p:nvSpPr>
        <p:spPr>
          <a:xfrm>
            <a:off x="5440680" y="3118104"/>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21" name="Text 19"/>
          <p:cNvSpPr/>
          <p:nvPr/>
        </p:nvSpPr>
        <p:spPr>
          <a:xfrm>
            <a:off x="6675120" y="3118104"/>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1.962</a:t>
            </a:r>
            <a:endParaRPr lang="en-US" sz="1050" dirty="0"/>
          </a:p>
        </p:txBody>
      </p:sp>
      <p:sp>
        <p:nvSpPr>
          <p:cNvPr id="22" name="Text 20"/>
          <p:cNvSpPr/>
          <p:nvPr/>
        </p:nvSpPr>
        <p:spPr>
          <a:xfrm>
            <a:off x="7909560" y="3118104"/>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3.080</a:t>
            </a:r>
            <a:endParaRPr lang="en-US" sz="1050" dirty="0"/>
          </a:p>
        </p:txBody>
      </p:sp>
      <p:sp>
        <p:nvSpPr>
          <p:cNvPr id="23" name="Text 21"/>
          <p:cNvSpPr/>
          <p:nvPr/>
        </p:nvSpPr>
        <p:spPr>
          <a:xfrm>
            <a:off x="9144000" y="3118104"/>
            <a:ext cx="7772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24" name="Text 22"/>
          <p:cNvSpPr/>
          <p:nvPr/>
        </p:nvSpPr>
        <p:spPr>
          <a:xfrm>
            <a:off x="9921240" y="3118104"/>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25" name="Shape 23"/>
          <p:cNvSpPr/>
          <p:nvPr/>
        </p:nvSpPr>
        <p:spPr>
          <a:xfrm>
            <a:off x="502920" y="3630168"/>
            <a:ext cx="10607040" cy="512064"/>
          </a:xfrm>
          <a:prstGeom prst="rect">
            <a:avLst/>
          </a:prstGeom>
          <a:solidFill>
            <a:srgbClr val="EEF2F7"/>
          </a:solidFill>
          <a:ln w="9525">
            <a:solidFill>
              <a:srgbClr val="E4E9F1"/>
            </a:solidFill>
            <a:prstDash val="solid"/>
          </a:ln>
        </p:spPr>
      </p:sp>
      <p:sp>
        <p:nvSpPr>
          <p:cNvPr id="26" name="Text 24"/>
          <p:cNvSpPr/>
          <p:nvPr/>
        </p:nvSpPr>
        <p:spPr>
          <a:xfrm>
            <a:off x="502920" y="3630168"/>
            <a:ext cx="731520" cy="512064"/>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102</a:t>
            </a:r>
            <a:endParaRPr lang="en-US" sz="1050" dirty="0"/>
          </a:p>
        </p:txBody>
      </p:sp>
      <p:sp>
        <p:nvSpPr>
          <p:cNvPr id="27" name="Text 25"/>
          <p:cNvSpPr/>
          <p:nvPr/>
        </p:nvSpPr>
        <p:spPr>
          <a:xfrm>
            <a:off x="1234440" y="3630168"/>
            <a:ext cx="12801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28" name="Text 26"/>
          <p:cNvSpPr/>
          <p:nvPr/>
        </p:nvSpPr>
        <p:spPr>
          <a:xfrm>
            <a:off x="2514600" y="3630168"/>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open</a:t>
            </a:r>
            <a:endParaRPr lang="en-US" sz="1050" dirty="0"/>
          </a:p>
        </p:txBody>
      </p:sp>
      <p:sp>
        <p:nvSpPr>
          <p:cNvPr id="29" name="Text 27"/>
          <p:cNvSpPr/>
          <p:nvPr/>
        </p:nvSpPr>
        <p:spPr>
          <a:xfrm>
            <a:off x="3703320" y="3630168"/>
            <a:ext cx="17373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30" name="Text 28"/>
          <p:cNvSpPr/>
          <p:nvPr/>
        </p:nvSpPr>
        <p:spPr>
          <a:xfrm>
            <a:off x="5440680" y="3630168"/>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1" name="Text 29"/>
          <p:cNvSpPr/>
          <p:nvPr/>
        </p:nvSpPr>
        <p:spPr>
          <a:xfrm>
            <a:off x="6675120" y="3630168"/>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2" name="Text 30"/>
          <p:cNvSpPr/>
          <p:nvPr/>
        </p:nvSpPr>
        <p:spPr>
          <a:xfrm>
            <a:off x="7909560" y="3630168"/>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3" name="Text 31"/>
          <p:cNvSpPr/>
          <p:nvPr/>
        </p:nvSpPr>
        <p:spPr>
          <a:xfrm>
            <a:off x="9144000" y="3630168"/>
            <a:ext cx="7772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34" name="Text 32"/>
          <p:cNvSpPr/>
          <p:nvPr/>
        </p:nvSpPr>
        <p:spPr>
          <a:xfrm>
            <a:off x="9921240" y="3630168"/>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0.047</a:t>
            </a:r>
            <a:endParaRPr lang="en-US" sz="1050" dirty="0"/>
          </a:p>
        </p:txBody>
      </p:sp>
      <p:sp>
        <p:nvSpPr>
          <p:cNvPr id="35" name="Shape 33"/>
          <p:cNvSpPr/>
          <p:nvPr/>
        </p:nvSpPr>
        <p:spPr>
          <a:xfrm>
            <a:off x="502920" y="4142232"/>
            <a:ext cx="10607040" cy="512064"/>
          </a:xfrm>
          <a:prstGeom prst="rect">
            <a:avLst/>
          </a:prstGeom>
          <a:solidFill>
            <a:srgbClr val="FFFFFF"/>
          </a:solidFill>
          <a:ln w="9525">
            <a:solidFill>
              <a:srgbClr val="E4E9F1"/>
            </a:solidFill>
            <a:prstDash val="solid"/>
          </a:ln>
        </p:spPr>
      </p:sp>
      <p:sp>
        <p:nvSpPr>
          <p:cNvPr id="36" name="Text 34"/>
          <p:cNvSpPr/>
          <p:nvPr/>
        </p:nvSpPr>
        <p:spPr>
          <a:xfrm>
            <a:off x="502920" y="4142232"/>
            <a:ext cx="731520" cy="512064"/>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153</a:t>
            </a:r>
            <a:endParaRPr lang="en-US" sz="1050" dirty="0"/>
          </a:p>
        </p:txBody>
      </p:sp>
      <p:sp>
        <p:nvSpPr>
          <p:cNvPr id="37" name="Text 35"/>
          <p:cNvSpPr/>
          <p:nvPr/>
        </p:nvSpPr>
        <p:spPr>
          <a:xfrm>
            <a:off x="1234440" y="4142232"/>
            <a:ext cx="12801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38" name="Text 36"/>
          <p:cNvSpPr/>
          <p:nvPr/>
        </p:nvSpPr>
        <p:spPr>
          <a:xfrm>
            <a:off x="2514600" y="4142232"/>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short</a:t>
            </a:r>
            <a:endParaRPr lang="en-US" sz="1050" dirty="0"/>
          </a:p>
        </p:txBody>
      </p:sp>
      <p:sp>
        <p:nvSpPr>
          <p:cNvPr id="39" name="Text 37"/>
          <p:cNvSpPr/>
          <p:nvPr/>
        </p:nvSpPr>
        <p:spPr>
          <a:xfrm>
            <a:off x="3703320" y="4142232"/>
            <a:ext cx="17373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40" name="Text 38"/>
          <p:cNvSpPr/>
          <p:nvPr/>
        </p:nvSpPr>
        <p:spPr>
          <a:xfrm>
            <a:off x="5440680" y="4142232"/>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41" name="Text 39"/>
          <p:cNvSpPr/>
          <p:nvPr/>
        </p:nvSpPr>
        <p:spPr>
          <a:xfrm>
            <a:off x="6675120" y="4142232"/>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2" name="Text 40"/>
          <p:cNvSpPr/>
          <p:nvPr/>
        </p:nvSpPr>
        <p:spPr>
          <a:xfrm>
            <a:off x="7909560" y="4142232"/>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3" name="Text 41"/>
          <p:cNvSpPr/>
          <p:nvPr/>
        </p:nvSpPr>
        <p:spPr>
          <a:xfrm>
            <a:off x="9144000" y="4142232"/>
            <a:ext cx="7772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44" name="Text 42"/>
          <p:cNvSpPr/>
          <p:nvPr/>
        </p:nvSpPr>
        <p:spPr>
          <a:xfrm>
            <a:off x="9921240" y="4142232"/>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5" name="Shape 43"/>
          <p:cNvSpPr/>
          <p:nvPr/>
        </p:nvSpPr>
        <p:spPr>
          <a:xfrm>
            <a:off x="502920" y="4654296"/>
            <a:ext cx="10607040" cy="512064"/>
          </a:xfrm>
          <a:prstGeom prst="rect">
            <a:avLst/>
          </a:prstGeom>
          <a:solidFill>
            <a:srgbClr val="EEF2F7"/>
          </a:solidFill>
          <a:ln w="9525">
            <a:solidFill>
              <a:srgbClr val="E4E9F1"/>
            </a:solidFill>
            <a:prstDash val="solid"/>
          </a:ln>
        </p:spPr>
      </p:sp>
      <p:sp>
        <p:nvSpPr>
          <p:cNvPr id="46" name="Text 44"/>
          <p:cNvSpPr/>
          <p:nvPr/>
        </p:nvSpPr>
        <p:spPr>
          <a:xfrm>
            <a:off x="502920" y="4654296"/>
            <a:ext cx="731520" cy="512064"/>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255</a:t>
            </a:r>
            <a:endParaRPr lang="en-US" sz="1050" dirty="0"/>
          </a:p>
        </p:txBody>
      </p:sp>
      <p:sp>
        <p:nvSpPr>
          <p:cNvPr id="47" name="Text 45"/>
          <p:cNvSpPr/>
          <p:nvPr/>
        </p:nvSpPr>
        <p:spPr>
          <a:xfrm>
            <a:off x="1234440" y="4654296"/>
            <a:ext cx="12801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RLC</a:t>
            </a:r>
            <a:endParaRPr lang="en-US" sz="1050" dirty="0"/>
          </a:p>
        </p:txBody>
      </p:sp>
      <p:sp>
        <p:nvSpPr>
          <p:cNvPr id="48" name="Text 46"/>
          <p:cNvSpPr/>
          <p:nvPr/>
        </p:nvSpPr>
        <p:spPr>
          <a:xfrm>
            <a:off x="2514600" y="4654296"/>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drift</a:t>
            </a:r>
            <a:endParaRPr lang="en-US" sz="1050" dirty="0"/>
          </a:p>
        </p:txBody>
      </p:sp>
      <p:sp>
        <p:nvSpPr>
          <p:cNvPr id="49" name="Text 47"/>
          <p:cNvSpPr/>
          <p:nvPr/>
        </p:nvSpPr>
        <p:spPr>
          <a:xfrm>
            <a:off x="3703320" y="4654296"/>
            <a:ext cx="173736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12.0 mH</a:t>
            </a:r>
            <a:endParaRPr lang="en-US" sz="1050" dirty="0"/>
          </a:p>
        </p:txBody>
      </p:sp>
      <p:sp>
        <p:nvSpPr>
          <p:cNvPr id="50" name="Text 48"/>
          <p:cNvSpPr/>
          <p:nvPr/>
        </p:nvSpPr>
        <p:spPr>
          <a:xfrm>
            <a:off x="5440680" y="4654296"/>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1" name="Text 49"/>
          <p:cNvSpPr/>
          <p:nvPr/>
        </p:nvSpPr>
        <p:spPr>
          <a:xfrm>
            <a:off x="6675120" y="4654296"/>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2" name="Text 50"/>
          <p:cNvSpPr/>
          <p:nvPr/>
        </p:nvSpPr>
        <p:spPr>
          <a:xfrm>
            <a:off x="7909560" y="4654296"/>
            <a:ext cx="12344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0.002</a:t>
            </a:r>
            <a:endParaRPr lang="en-US" sz="1050" dirty="0"/>
          </a:p>
        </p:txBody>
      </p:sp>
      <p:sp>
        <p:nvSpPr>
          <p:cNvPr id="53" name="Text 51"/>
          <p:cNvSpPr/>
          <p:nvPr/>
        </p:nvSpPr>
        <p:spPr>
          <a:xfrm>
            <a:off x="9144000" y="4654296"/>
            <a:ext cx="77724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54" name="Text 52"/>
          <p:cNvSpPr/>
          <p:nvPr/>
        </p:nvSpPr>
        <p:spPr>
          <a:xfrm>
            <a:off x="9921240" y="4654296"/>
            <a:ext cx="1188720" cy="512064"/>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8.668</a:t>
            </a:r>
            <a:endParaRPr lang="en-US" sz="1050" dirty="0"/>
          </a:p>
        </p:txBody>
      </p:sp>
      <p:sp>
        <p:nvSpPr>
          <p:cNvPr id="55" name="Text 53"/>
          <p:cNvSpPr/>
          <p:nvPr/>
        </p:nvSpPr>
        <p:spPr>
          <a:xfrm>
            <a:off x="502920" y="5166360"/>
            <a:ext cx="10607040" cy="1005840"/>
          </a:xfrm>
          <a:prstGeom prst="rect">
            <a:avLst/>
          </a:prstGeom>
          <a:noFill/>
          <a:ln/>
        </p:spPr>
        <p:txBody>
          <a:bodyPr wrap="square" lIns="0" tIns="0" rIns="0" bIns="0" rtlCol="0" anchor="ctr"/>
          <a:lstStyle/>
          <a:p>
            <a:pPr marL="0" indent="0">
              <a:lnSpc>
                <a:spcPct val="125000"/>
              </a:lnSpc>
              <a:buNone/>
            </a:pPr>
            <a:r>
              <a:rPr lang="en-US" sz="1100" b="1" dirty="0">
                <a:solidFill>
                  <a:srgbClr val="0B1F3A"/>
                </a:solidFill>
                <a:latin typeface="Calibri" pitchFamily="34" charset="0"/>
                <a:ea typeface="Calibri" pitchFamily="34" charset="-122"/>
                <a:cs typeface="Calibri" pitchFamily="34" charset="-120"/>
              </a:rPr>
              <a:t>1,019 rows x 204 columns total. </a:t>
            </a:r>
            <a:r>
              <a:rPr lang="en-US" sz="1100" dirty="0">
                <a:solidFill>
                  <a:srgbClr val="64748B"/>
                </a:solidFill>
                <a:latin typeface="Calibri" pitchFamily="34" charset="0"/>
                <a:ea typeface="Calibri" pitchFamily="34" charset="-122"/>
                <a:cs typeface="Calibri"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1,019 Samples, Evenly Balanced Across Fault Types</a:t>
            </a:r>
            <a:endParaRPr lang="en-US" sz="3000" dirty="0"/>
          </a:p>
        </p:txBody>
      </p:sp>
      <p:graphicFrame>
        <p:nvGraphicFramePr>
          <p:cNvPr id="4" name="Chart 0"/>
          <p:cNvGraphicFramePr/>
          <p:nvPr/>
        </p:nvGraphicFramePr>
        <p:xfrm>
          <a:off x="502920" y="1691640"/>
          <a:ext cx="54864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03720" y="187452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balance_00B4D8.png"/>
          <p:cNvPicPr>
            <a:picLocks noChangeAspect="1"/>
          </p:cNvPicPr>
          <p:nvPr/>
        </p:nvPicPr>
        <p:blipFill>
          <a:blip r:embed="rId4"/>
          <a:stretch>
            <a:fillRect/>
          </a:stretch>
        </p:blipFill>
        <p:spPr>
          <a:xfrm>
            <a:off x="6977786" y="1948586"/>
            <a:ext cx="400507" cy="400507"/>
          </a:xfrm>
          <a:prstGeom prst="rect">
            <a:avLst/>
          </a:prstGeom>
        </p:spPr>
      </p:pic>
      <p:sp>
        <p:nvSpPr>
          <p:cNvPr id="7" name="Text 3"/>
          <p:cNvSpPr/>
          <p:nvPr/>
        </p:nvSpPr>
        <p:spPr>
          <a:xfrm>
            <a:off x="7635240" y="1856232"/>
            <a:ext cx="402336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Perfectly balanced classes</a:t>
            </a:r>
            <a:endParaRPr lang="en-US" sz="1350" dirty="0"/>
          </a:p>
        </p:txBody>
      </p:sp>
      <p:sp>
        <p:nvSpPr>
          <p:cNvPr id="8" name="Text 4"/>
          <p:cNvSpPr/>
          <p:nvPr/>
        </p:nvSpPr>
        <p:spPr>
          <a:xfrm>
            <a:off x="7635240" y="2203704"/>
            <a:ext cx="4023360" cy="8229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Each fault type accounts for about 20% of samples, so the model can't win by just guessing the majority label.</a:t>
            </a:r>
            <a:endParaRPr lang="en-US" sz="1050" dirty="0"/>
          </a:p>
        </p:txBody>
      </p:sp>
      <p:sp>
        <p:nvSpPr>
          <p:cNvPr id="9" name="Shape 5"/>
          <p:cNvSpPr/>
          <p:nvPr/>
        </p:nvSpPr>
        <p:spPr>
          <a:xfrm>
            <a:off x="6903720" y="3172968"/>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0" name="Image 1" descr="/sessions/blissful-zealous-babbage/mnt/outputs/ppt/icons/sitemap_00B4D8.png"/>
          <p:cNvPicPr>
            <a:picLocks noChangeAspect="1"/>
          </p:cNvPicPr>
          <p:nvPr/>
        </p:nvPicPr>
        <p:blipFill>
          <a:blip r:embed="rId5"/>
          <a:stretch>
            <a:fillRect/>
          </a:stretch>
        </p:blipFill>
        <p:spPr>
          <a:xfrm>
            <a:off x="6977786" y="3247034"/>
            <a:ext cx="400507" cy="400507"/>
          </a:xfrm>
          <a:prstGeom prst="rect">
            <a:avLst/>
          </a:prstGeom>
        </p:spPr>
      </p:pic>
      <p:sp>
        <p:nvSpPr>
          <p:cNvPr id="11" name="Text 6"/>
          <p:cNvSpPr/>
          <p:nvPr/>
        </p:nvSpPr>
        <p:spPr>
          <a:xfrm>
            <a:off x="7635240" y="3154680"/>
            <a:ext cx="402336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20 total labels</a:t>
            </a:r>
            <a:endParaRPr lang="en-US" sz="1350" dirty="0"/>
          </a:p>
        </p:txBody>
      </p:sp>
      <p:sp>
        <p:nvSpPr>
          <p:cNvPr id="12" name="Text 7"/>
          <p:cNvSpPr/>
          <p:nvPr/>
        </p:nvSpPr>
        <p:spPr>
          <a:xfrm>
            <a:off x="7635240" y="3502152"/>
            <a:ext cx="4023360" cy="8229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Each sample is tagged circuit_fault, e.g. RC_open or SALLEN_KEY_drift — 4 circuits times 5 faults.</a:t>
            </a:r>
            <a:endParaRPr lang="en-US" sz="1050" dirty="0"/>
          </a:p>
        </p:txBody>
      </p:sp>
      <p:sp>
        <p:nvSpPr>
          <p:cNvPr id="13" name="Shape 8"/>
          <p:cNvSpPr/>
          <p:nvPr/>
        </p:nvSpPr>
        <p:spPr>
          <a:xfrm>
            <a:off x="6903720" y="4471416"/>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4" name="Image 2" descr="/sessions/blissful-zealous-babbage/mnt/outputs/ppt/icons/database_00B4D8.png"/>
          <p:cNvPicPr>
            <a:picLocks noChangeAspect="1"/>
          </p:cNvPicPr>
          <p:nvPr/>
        </p:nvPicPr>
        <p:blipFill>
          <a:blip r:embed="rId6"/>
          <a:stretch>
            <a:fillRect/>
          </a:stretch>
        </p:blipFill>
        <p:spPr>
          <a:xfrm>
            <a:off x="6977786" y="4545482"/>
            <a:ext cx="400507" cy="400507"/>
          </a:xfrm>
          <a:prstGeom prst="rect">
            <a:avLst/>
          </a:prstGeom>
        </p:spPr>
      </p:pic>
      <p:sp>
        <p:nvSpPr>
          <p:cNvPr id="15" name="Text 9"/>
          <p:cNvSpPr/>
          <p:nvPr/>
        </p:nvSpPr>
        <p:spPr>
          <a:xfrm>
            <a:off x="7635240" y="4453128"/>
            <a:ext cx="402336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About 51 samples per class</a:t>
            </a:r>
            <a:endParaRPr lang="en-US" sz="1350" dirty="0"/>
          </a:p>
        </p:txBody>
      </p:sp>
      <p:sp>
        <p:nvSpPr>
          <p:cNvPr id="16" name="Text 10"/>
          <p:cNvSpPr/>
          <p:nvPr/>
        </p:nvSpPr>
        <p:spPr>
          <a:xfrm>
            <a:off x="7635240" y="4800600"/>
            <a:ext cx="4023360" cy="82296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1,019 divided across 20 classes averages to roughly 51 samples each — a genuinely small-data problem.</a:t>
            </a:r>
            <a:endParaRPr lang="en-US" sz="1050" dirty="0"/>
          </a:p>
        </p:txBody>
      </p:sp>
      <p:sp>
        <p:nvSpPr>
          <p:cNvPr id="17" name="Text 11"/>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2"/>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Train/Test Split: Keeping Evaluation Honest</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marL="0" indent="0" algn="l">
              <a:lnSpc>
                <a:spcPct val="140000"/>
              </a:lnSpc>
              <a:buNone/>
            </a:pPr>
            <a:r>
              <a:rPr lang="en-US" sz="1450" dirty="0">
                <a:solidFill>
                  <a:srgbClr val="E7ECF4"/>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6" name="Shape 4"/>
          <p:cNvSpPr/>
          <p:nvPr/>
        </p:nvSpPr>
        <p:spPr>
          <a:xfrm>
            <a:off x="502920" y="3200400"/>
            <a:ext cx="502920" cy="502920"/>
          </a:xfrm>
          <a:prstGeom prst="ellipse">
            <a:avLst/>
          </a:prstGeom>
          <a:solidFill>
            <a:srgbClr val="0B1F3A"/>
          </a:solidFill>
          <a:ln/>
          <a:effectLst>
            <a:outerShdw blurRad="114300" dist="38100" dir="2700000" algn="bl" rotWithShape="0">
              <a:srgbClr val="0B1F3A">
                <a:alpha val="14000"/>
              </a:srgbClr>
            </a:outerShdw>
          </a:effectLst>
        </p:spPr>
      </p:sp>
      <p:pic>
        <p:nvPicPr>
          <p:cNvPr id="7" name="Image 0" descr="/sessions/blissful-zealous-babbage/mnt/outputs/ppt/icons/layer_00B4D8.png"/>
          <p:cNvPicPr>
            <a:picLocks noChangeAspect="1"/>
          </p:cNvPicPr>
          <p:nvPr/>
        </p:nvPicPr>
        <p:blipFill>
          <a:blip r:embed="rId3"/>
          <a:stretch>
            <a:fillRect/>
          </a:stretch>
        </p:blipFill>
        <p:spPr>
          <a:xfrm>
            <a:off x="570814" y="3268294"/>
            <a:ext cx="367132" cy="367132"/>
          </a:xfrm>
          <a:prstGeom prst="rect">
            <a:avLst/>
          </a:prstGeom>
        </p:spPr>
      </p:pic>
      <p:sp>
        <p:nvSpPr>
          <p:cNvPr id="8" name="Text 5"/>
          <p:cNvSpPr/>
          <p:nvPr/>
        </p:nvSpPr>
        <p:spPr>
          <a:xfrm>
            <a:off x="1188720" y="3218688"/>
            <a:ext cx="9875520" cy="640080"/>
          </a:xfrm>
          <a:prstGeom prst="rect">
            <a:avLst/>
          </a:prstGeom>
          <a:noFill/>
          <a:ln/>
        </p:spPr>
        <p:txBody>
          <a:bodyPr wrap="square" lIns="0" tIns="0" rIns="0" bIns="0" rtlCol="0" anchor="ctr"/>
          <a:lstStyle/>
          <a:p>
            <a:pPr marL="0" indent="0">
              <a:lnSpc>
                <a:spcPct val="120000"/>
              </a:lnSpc>
              <a:buNone/>
            </a:pPr>
            <a:r>
              <a:rPr lang="en-US" sz="1180" b="1" dirty="0">
                <a:solidFill>
                  <a:srgbClr val="0B1F3A"/>
                </a:solidFill>
                <a:latin typeface="Calibri" pitchFamily="34" charset="0"/>
                <a:ea typeface="Calibri" pitchFamily="34" charset="-122"/>
                <a:cs typeface="Calibri" pitchFamily="34" charset="-120"/>
              </a:rPr>
              <a:t>80/20 split:  </a:t>
            </a:r>
            <a:r>
              <a:rPr lang="en-US" sz="1180" dirty="0">
                <a:solidFill>
                  <a:srgbClr val="64748B"/>
                </a:solidFill>
                <a:latin typeface="Calibri" pitchFamily="34" charset="0"/>
                <a:ea typeface="Calibri" pitchFamily="34" charset="-122"/>
                <a:cs typeface="Calibri" pitchFamily="34" charset="-120"/>
              </a:rPr>
              <a:t>About 815 samples train the model; the remaining ~204 are held out purely for evaluation.</a:t>
            </a:r>
            <a:endParaRPr lang="en-US" sz="1180" dirty="0"/>
          </a:p>
        </p:txBody>
      </p:sp>
      <p:sp>
        <p:nvSpPr>
          <p:cNvPr id="9" name="Shape 6"/>
          <p:cNvSpPr/>
          <p:nvPr/>
        </p:nvSpPr>
        <p:spPr>
          <a:xfrm>
            <a:off x="502920" y="3977640"/>
            <a:ext cx="502920" cy="502920"/>
          </a:xfrm>
          <a:prstGeom prst="ellipse">
            <a:avLst/>
          </a:prstGeom>
          <a:solidFill>
            <a:srgbClr val="0B1F3A"/>
          </a:solidFill>
          <a:ln/>
          <a:effectLst>
            <a:outerShdw blurRad="114300" dist="38100" dir="2700000" algn="bl" rotWithShape="0">
              <a:srgbClr val="0B1F3A">
                <a:alpha val="14000"/>
              </a:srgbClr>
            </a:outerShdw>
          </a:effectLst>
        </p:spPr>
      </p:sp>
      <p:pic>
        <p:nvPicPr>
          <p:cNvPr id="10" name="Image 1" descr="/sessions/blissful-zealous-babbage/mnt/outputs/ppt/icons/balance_00B4D8.png"/>
          <p:cNvPicPr>
            <a:picLocks noChangeAspect="1"/>
          </p:cNvPicPr>
          <p:nvPr/>
        </p:nvPicPr>
        <p:blipFill>
          <a:blip r:embed="rId4"/>
          <a:stretch>
            <a:fillRect/>
          </a:stretch>
        </p:blipFill>
        <p:spPr>
          <a:xfrm>
            <a:off x="570814" y="4045534"/>
            <a:ext cx="367132" cy="367132"/>
          </a:xfrm>
          <a:prstGeom prst="rect">
            <a:avLst/>
          </a:prstGeom>
        </p:spPr>
      </p:pic>
      <p:sp>
        <p:nvSpPr>
          <p:cNvPr id="11" name="Text 7"/>
          <p:cNvSpPr/>
          <p:nvPr/>
        </p:nvSpPr>
        <p:spPr>
          <a:xfrm>
            <a:off x="1188720" y="3995928"/>
            <a:ext cx="9875520" cy="640080"/>
          </a:xfrm>
          <a:prstGeom prst="rect">
            <a:avLst/>
          </a:prstGeom>
          <a:noFill/>
          <a:ln/>
        </p:spPr>
        <p:txBody>
          <a:bodyPr wrap="square" lIns="0" tIns="0" rIns="0" bIns="0" rtlCol="0" anchor="ctr"/>
          <a:lstStyle/>
          <a:p>
            <a:pPr marL="0" indent="0">
              <a:lnSpc>
                <a:spcPct val="120000"/>
              </a:lnSpc>
              <a:buNone/>
            </a:pPr>
            <a:r>
              <a:rPr lang="en-US" sz="1180" b="1" dirty="0">
                <a:solidFill>
                  <a:srgbClr val="0B1F3A"/>
                </a:solidFill>
                <a:latin typeface="Calibri" pitchFamily="34" charset="0"/>
                <a:ea typeface="Calibri" pitchFamily="34" charset="-122"/>
                <a:cs typeface="Calibri" pitchFamily="34" charset="-120"/>
              </a:rPr>
              <a:t>Stratified by class:  </a:t>
            </a:r>
            <a:r>
              <a:rPr lang="en-US" sz="1180" dirty="0">
                <a:solidFill>
                  <a:srgbClr val="64748B"/>
                </a:solidFill>
                <a:latin typeface="Calibri" pitchFamily="34" charset="0"/>
                <a:ea typeface="Calibri" pitchFamily="34" charset="-122"/>
                <a:cs typeface="Calibri" pitchFamily="34" charset="-120"/>
              </a:rPr>
              <a:t>Every one of the 20 classes keeps its ~80/20 proportion in both sets — no class is accidentally left thin in testing.</a:t>
            </a:r>
            <a:endParaRPr lang="en-US" sz="1180" dirty="0"/>
          </a:p>
        </p:txBody>
      </p:sp>
      <p:sp>
        <p:nvSpPr>
          <p:cNvPr id="12" name="Shape 8"/>
          <p:cNvSpPr/>
          <p:nvPr/>
        </p:nvSpPr>
        <p:spPr>
          <a:xfrm>
            <a:off x="502920" y="4754880"/>
            <a:ext cx="502920" cy="502920"/>
          </a:xfrm>
          <a:prstGeom prst="ellipse">
            <a:avLst/>
          </a:prstGeom>
          <a:solidFill>
            <a:srgbClr val="0B1F3A"/>
          </a:solidFill>
          <a:ln/>
          <a:effectLst>
            <a:outerShdw blurRad="114300" dist="38100" dir="2700000" algn="bl" rotWithShape="0">
              <a:srgbClr val="0B1F3A">
                <a:alpha val="14000"/>
              </a:srgbClr>
            </a:outerShdw>
          </a:effectLst>
        </p:spPr>
      </p:sp>
      <p:pic>
        <p:nvPicPr>
          <p:cNvPr id="13" name="Image 2" descr="/sessions/blissful-zealous-babbage/mnt/outputs/ppt/icons/tools_00B4D8.png"/>
          <p:cNvPicPr>
            <a:picLocks noChangeAspect="1"/>
          </p:cNvPicPr>
          <p:nvPr/>
        </p:nvPicPr>
        <p:blipFill>
          <a:blip r:embed="rId5"/>
          <a:stretch>
            <a:fillRect/>
          </a:stretch>
        </p:blipFill>
        <p:spPr>
          <a:xfrm>
            <a:off x="570814" y="4822774"/>
            <a:ext cx="367132" cy="367132"/>
          </a:xfrm>
          <a:prstGeom prst="rect">
            <a:avLst/>
          </a:prstGeom>
        </p:spPr>
      </p:pic>
      <p:sp>
        <p:nvSpPr>
          <p:cNvPr id="14" name="Text 9"/>
          <p:cNvSpPr/>
          <p:nvPr/>
        </p:nvSpPr>
        <p:spPr>
          <a:xfrm>
            <a:off x="1188720" y="4773168"/>
            <a:ext cx="9875520" cy="640080"/>
          </a:xfrm>
          <a:prstGeom prst="rect">
            <a:avLst/>
          </a:prstGeom>
          <a:noFill/>
          <a:ln/>
        </p:spPr>
        <p:txBody>
          <a:bodyPr wrap="square" lIns="0" tIns="0" rIns="0" bIns="0" rtlCol="0" anchor="ctr"/>
          <a:lstStyle/>
          <a:p>
            <a:pPr marL="0" indent="0">
              <a:lnSpc>
                <a:spcPct val="120000"/>
              </a:lnSpc>
              <a:buNone/>
            </a:pPr>
            <a:r>
              <a:rPr lang="en-US" sz="1180" b="1" dirty="0">
                <a:solidFill>
                  <a:srgbClr val="0B1F3A"/>
                </a:solidFill>
                <a:latin typeface="Calibri" pitchFamily="34" charset="0"/>
                <a:ea typeface="Calibri" pitchFamily="34" charset="-122"/>
                <a:cs typeface="Calibri" pitchFamily="34" charset="-120"/>
              </a:rPr>
              <a:t>Fixed random seed:  </a:t>
            </a:r>
            <a:r>
              <a:rPr lang="en-US" sz="1180" dirty="0">
                <a:solidFill>
                  <a:srgbClr val="64748B"/>
                </a:solidFill>
                <a:latin typeface="Calibri" pitchFamily="34" charset="0"/>
                <a:ea typeface="Calibri" pitchFamily="34" charset="-122"/>
                <a:cs typeface="Calibri" pitchFamily="34" charset="-120"/>
              </a:rPr>
              <a:t>random_state=42 makes the split reproducible — the same test samples every time the pipeline reruns.</a:t>
            </a:r>
            <a:endParaRPr lang="en-US" sz="1180" dirty="0"/>
          </a:p>
        </p:txBody>
      </p:sp>
      <p:sp>
        <p:nvSpPr>
          <p:cNvPr id="15" name="Shape 10"/>
          <p:cNvSpPr/>
          <p:nvPr/>
        </p:nvSpPr>
        <p:spPr>
          <a:xfrm>
            <a:off x="502920" y="5532120"/>
            <a:ext cx="502920" cy="502920"/>
          </a:xfrm>
          <a:prstGeom prst="ellipse">
            <a:avLst/>
          </a:prstGeom>
          <a:solidFill>
            <a:srgbClr val="0B1F3A"/>
          </a:solidFill>
          <a:ln/>
          <a:effectLst>
            <a:outerShdw blurRad="114300" dist="38100" dir="2700000" algn="bl" rotWithShape="0">
              <a:srgbClr val="0B1F3A">
                <a:alpha val="14000"/>
              </a:srgbClr>
            </a:outerShdw>
          </a:effectLst>
        </p:spPr>
      </p:sp>
      <p:pic>
        <p:nvPicPr>
          <p:cNvPr id="16" name="Image 3" descr="/sessions/blissful-zealous-babbage/mnt/outputs/ppt/icons/search_00B4D8.png"/>
          <p:cNvPicPr>
            <a:picLocks noChangeAspect="1"/>
          </p:cNvPicPr>
          <p:nvPr/>
        </p:nvPicPr>
        <p:blipFill>
          <a:blip r:embed="rId6"/>
          <a:stretch>
            <a:fillRect/>
          </a:stretch>
        </p:blipFill>
        <p:spPr>
          <a:xfrm>
            <a:off x="570814" y="5600014"/>
            <a:ext cx="367132" cy="367132"/>
          </a:xfrm>
          <a:prstGeom prst="rect">
            <a:avLst/>
          </a:prstGeom>
        </p:spPr>
      </p:pic>
      <p:sp>
        <p:nvSpPr>
          <p:cNvPr id="17" name="Text 11"/>
          <p:cNvSpPr/>
          <p:nvPr/>
        </p:nvSpPr>
        <p:spPr>
          <a:xfrm>
            <a:off x="1188720" y="5550408"/>
            <a:ext cx="9875520" cy="640080"/>
          </a:xfrm>
          <a:prstGeom prst="rect">
            <a:avLst/>
          </a:prstGeom>
          <a:noFill/>
          <a:ln/>
        </p:spPr>
        <p:txBody>
          <a:bodyPr wrap="square" lIns="0" tIns="0" rIns="0" bIns="0" rtlCol="0" anchor="ctr"/>
          <a:lstStyle/>
          <a:p>
            <a:pPr marL="0" indent="0">
              <a:lnSpc>
                <a:spcPct val="120000"/>
              </a:lnSpc>
              <a:buNone/>
            </a:pPr>
            <a:r>
              <a:rPr lang="en-US" sz="1180" b="1" dirty="0">
                <a:solidFill>
                  <a:srgbClr val="0B1F3A"/>
                </a:solidFill>
                <a:latin typeface="Calibri" pitchFamily="34" charset="0"/>
                <a:ea typeface="Calibri" pitchFamily="34" charset="-122"/>
                <a:cs typeface="Calibri" pitchFamily="34" charset="-120"/>
              </a:rPr>
              <a:t>Test set never touched during tuning:  </a:t>
            </a:r>
            <a:r>
              <a:rPr lang="en-US" sz="1180" dirty="0">
                <a:solidFill>
                  <a:srgbClr val="64748B"/>
                </a:solidFill>
                <a:latin typeface="Calibri" pitchFamily="34" charset="0"/>
                <a:ea typeface="Calibri" pitchFamily="34" charset="-122"/>
                <a:cs typeface="Calibri" pitchFamily="34" charset="-120"/>
              </a:rPr>
              <a:t>GridSearchCV only ever sees the training set; the test set is reserved for the one final, honest accuracy number.</a:t>
            </a:r>
            <a:endParaRPr lang="en-US" sz="118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274320" y="78177"/>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228600" y="239657"/>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From Waveform to Numbers</a:t>
            </a:r>
            <a:endParaRPr lang="en-US" sz="3000" dirty="0"/>
          </a:p>
        </p:txBody>
      </p:sp>
      <p:sp>
        <p:nvSpPr>
          <p:cNvPr id="4" name="Text 2"/>
          <p:cNvSpPr/>
          <p:nvPr/>
        </p:nvSpPr>
        <p:spPr>
          <a:xfrm>
            <a:off x="228600" y="755633"/>
            <a:ext cx="10515600" cy="804672"/>
          </a:xfrm>
          <a:prstGeom prst="rect">
            <a:avLst/>
          </a:prstGeom>
          <a:noFill/>
          <a:ln/>
        </p:spPr>
        <p:txBody>
          <a:bodyPr wrap="square" lIns="0" tIns="0" rIns="0" bIns="0" rtlCol="0" anchor="ctr"/>
          <a:lstStyle/>
          <a:p>
            <a:pPr marL="0" indent="0">
              <a:lnSpc>
                <a:spcPct val="128000"/>
              </a:lnSpc>
              <a:buNone/>
            </a:pPr>
            <a:r>
              <a:rPr lang="en-US" sz="1400" dirty="0">
                <a:solidFill>
                  <a:srgbClr val="1E293B"/>
                </a:solidFill>
                <a:latin typeface="Calibri" pitchFamily="34" charset="0"/>
                <a:ea typeface="Calibri" pitchFamily="34" charset="-122"/>
                <a:cs typeface="Calibri" pitchFamily="34" charset="-120"/>
              </a:rPr>
              <a:t>Each raw sample is 200 individual voltage readings — too high-dimensional and noisy for a classic SVM to learn from efficiently. Instead, every waveform is compressed into </a:t>
            </a:r>
            <a:r>
              <a:rPr lang="en-US" sz="1400" b="1" dirty="0">
                <a:solidFill>
                  <a:srgbClr val="0B1F3A"/>
                </a:solidFill>
                <a:latin typeface="Calibri" pitchFamily="34" charset="0"/>
                <a:ea typeface="Calibri" pitchFamily="34" charset="-122"/>
                <a:cs typeface="Calibri" pitchFamily="34" charset="-120"/>
              </a:rPr>
              <a:t>17 compact, physically meaningful numbers</a:t>
            </a:r>
            <a:r>
              <a:rPr lang="en-US" sz="1400" dirty="0">
                <a:solidFill>
                  <a:srgbClr val="1E293B"/>
                </a:solidFill>
                <a:latin typeface="Calibri" pitchFamily="34" charset="0"/>
                <a:ea typeface="Calibri" pitchFamily="34" charset="-122"/>
                <a:cs typeface="Calibri" pitchFamily="34" charset="-120"/>
              </a:rPr>
              <a:t> that fall into two families:</a:t>
            </a:r>
            <a:endParaRPr lang="en-US" sz="1400" dirty="0"/>
          </a:p>
        </p:txBody>
      </p:sp>
      <p:sp>
        <p:nvSpPr>
          <p:cNvPr id="5" name="Shape 3"/>
          <p:cNvSpPr/>
          <p:nvPr/>
        </p:nvSpPr>
        <p:spPr>
          <a:xfrm>
            <a:off x="153924" y="1522494"/>
            <a:ext cx="5166360" cy="1417320"/>
          </a:xfrm>
          <a:prstGeom prst="roundRect">
            <a:avLst>
              <a:gd name="adj" fmla="val 580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6" name="Shape 4"/>
          <p:cNvSpPr/>
          <p:nvPr/>
        </p:nvSpPr>
        <p:spPr>
          <a:xfrm>
            <a:off x="472549" y="1681986"/>
            <a:ext cx="685800" cy="685800"/>
          </a:xfrm>
          <a:prstGeom prst="ellipse">
            <a:avLst/>
          </a:prstGeom>
          <a:solidFill>
            <a:srgbClr val="0B1F3A"/>
          </a:solidFill>
          <a:ln/>
          <a:effectLst>
            <a:outerShdw blurRad="114300" dist="38100" dir="2700000" algn="bl" rotWithShape="0">
              <a:srgbClr val="0B1F3A">
                <a:alpha val="14000"/>
              </a:srgbClr>
            </a:outerShdw>
          </a:effectLst>
        </p:spPr>
        <p:txBody>
          <a:bodyPr/>
          <a:lstStyle/>
          <a:p>
            <a:endParaRPr lang="en-IN" dirty="0"/>
          </a:p>
        </p:txBody>
      </p:sp>
      <p:pic>
        <p:nvPicPr>
          <p:cNvPr id="7" name="Image 0" descr="/sessions/blissful-zealous-babbage/mnt/outputs/ppt/icons/chartline_00B4D8.png"/>
          <p:cNvPicPr>
            <a:picLocks noChangeAspect="1"/>
          </p:cNvPicPr>
          <p:nvPr/>
        </p:nvPicPr>
        <p:blipFill>
          <a:blip r:embed="rId3"/>
          <a:stretch>
            <a:fillRect/>
          </a:stretch>
        </p:blipFill>
        <p:spPr>
          <a:xfrm>
            <a:off x="565132" y="1743937"/>
            <a:ext cx="500634" cy="500634"/>
          </a:xfrm>
          <a:prstGeom prst="rect">
            <a:avLst/>
          </a:prstGeom>
        </p:spPr>
      </p:pic>
      <p:sp>
        <p:nvSpPr>
          <p:cNvPr id="8" name="Text 5"/>
          <p:cNvSpPr/>
          <p:nvPr/>
        </p:nvSpPr>
        <p:spPr>
          <a:xfrm>
            <a:off x="1600200" y="1628494"/>
            <a:ext cx="38862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Time-domain shape</a:t>
            </a:r>
            <a:endParaRPr lang="en-US" sz="1450" dirty="0"/>
          </a:p>
        </p:txBody>
      </p:sp>
      <p:sp>
        <p:nvSpPr>
          <p:cNvPr id="9" name="Text 6"/>
          <p:cNvSpPr/>
          <p:nvPr/>
        </p:nvSpPr>
        <p:spPr>
          <a:xfrm>
            <a:off x="1588661" y="1811374"/>
            <a:ext cx="384048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How the signal looks over time — peak voltage, RMS, rise time, settling time, skewness, kurtosis, DC level.</a:t>
            </a:r>
            <a:endParaRPr lang="en-US" sz="1050" dirty="0"/>
          </a:p>
        </p:txBody>
      </p:sp>
      <p:sp>
        <p:nvSpPr>
          <p:cNvPr id="10" name="Shape 7"/>
          <p:cNvSpPr/>
          <p:nvPr/>
        </p:nvSpPr>
        <p:spPr>
          <a:xfrm>
            <a:off x="5806440" y="1535911"/>
            <a:ext cx="5166360" cy="1417320"/>
          </a:xfrm>
          <a:prstGeom prst="roundRect">
            <a:avLst>
              <a:gd name="adj" fmla="val 580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txBody>
          <a:bodyPr/>
          <a:lstStyle/>
          <a:p>
            <a:endParaRPr lang="en-IN" dirty="0"/>
          </a:p>
        </p:txBody>
      </p:sp>
      <p:sp>
        <p:nvSpPr>
          <p:cNvPr id="11" name="Shape 8"/>
          <p:cNvSpPr/>
          <p:nvPr/>
        </p:nvSpPr>
        <p:spPr>
          <a:xfrm>
            <a:off x="6039612" y="1721044"/>
            <a:ext cx="685800" cy="685800"/>
          </a:xfrm>
          <a:prstGeom prst="ellipse">
            <a:avLst/>
          </a:prstGeom>
          <a:solidFill>
            <a:srgbClr val="0B1F3A"/>
          </a:solidFill>
          <a:ln/>
          <a:effectLst>
            <a:outerShdw blurRad="114300" dist="38100" dir="2700000" algn="bl" rotWithShape="0">
              <a:srgbClr val="0B1F3A">
                <a:alpha val="14000"/>
              </a:srgbClr>
            </a:outerShdw>
          </a:effectLst>
        </p:spPr>
        <p:txBody>
          <a:bodyPr/>
          <a:lstStyle/>
          <a:p>
            <a:endParaRPr lang="en-IN" dirty="0"/>
          </a:p>
        </p:txBody>
      </p:sp>
      <p:pic>
        <p:nvPicPr>
          <p:cNvPr id="12" name="Image 1" descr="/sessions/blissful-zealous-babbage/mnt/outputs/ppt/icons/wave_00B4D8.png"/>
          <p:cNvPicPr>
            <a:picLocks noChangeAspect="1"/>
          </p:cNvPicPr>
          <p:nvPr/>
        </p:nvPicPr>
        <p:blipFill>
          <a:blip r:embed="rId4"/>
          <a:stretch>
            <a:fillRect/>
          </a:stretch>
        </p:blipFill>
        <p:spPr>
          <a:xfrm>
            <a:off x="6132195" y="1813478"/>
            <a:ext cx="500634" cy="417676"/>
          </a:xfrm>
          <a:prstGeom prst="rect">
            <a:avLst/>
          </a:prstGeom>
        </p:spPr>
      </p:pic>
      <p:sp>
        <p:nvSpPr>
          <p:cNvPr id="13" name="Text 9"/>
          <p:cNvSpPr/>
          <p:nvPr/>
        </p:nvSpPr>
        <p:spPr>
          <a:xfrm>
            <a:off x="7299655" y="1687800"/>
            <a:ext cx="3886200" cy="365760"/>
          </a:xfrm>
          <a:prstGeom prst="rect">
            <a:avLst/>
          </a:prstGeom>
          <a:noFill/>
          <a:ln/>
        </p:spPr>
        <p:txBody>
          <a:bodyPr wrap="square" lIns="0" tIns="0" rIns="0" bIns="0" rtlCol="0" anchor="ctr"/>
          <a:lstStyle/>
          <a:p>
            <a:pPr marL="0" indent="0">
              <a:buNone/>
            </a:pPr>
            <a:r>
              <a:rPr lang="en-US" sz="1450" b="1" dirty="0">
                <a:solidFill>
                  <a:srgbClr val="0B1F3A"/>
                </a:solidFill>
                <a:latin typeface="Calibri" pitchFamily="34" charset="0"/>
                <a:ea typeface="Calibri" pitchFamily="34" charset="-122"/>
                <a:cs typeface="Calibri" pitchFamily="34" charset="-120"/>
              </a:rPr>
              <a:t>Frequency-domain content</a:t>
            </a:r>
            <a:endParaRPr lang="en-US" sz="1450" dirty="0"/>
          </a:p>
        </p:txBody>
      </p:sp>
      <p:sp>
        <p:nvSpPr>
          <p:cNvPr id="14" name="Text 10"/>
          <p:cNvSpPr/>
          <p:nvPr/>
        </p:nvSpPr>
        <p:spPr>
          <a:xfrm>
            <a:off x="7238848" y="1863436"/>
            <a:ext cx="3840480" cy="777240"/>
          </a:xfrm>
          <a:prstGeom prst="rect">
            <a:avLst/>
          </a:prstGeom>
          <a:noFill/>
          <a:ln/>
        </p:spPr>
        <p:txBody>
          <a:bodyPr wrap="square" lIns="0" tIns="0" rIns="0" bIns="0" rtlCol="0" anchor="ctr"/>
          <a:lstStyle/>
          <a:p>
            <a:pPr marL="0" indent="0">
              <a:lnSpc>
                <a:spcPct val="120000"/>
              </a:lnSpc>
              <a:buNone/>
            </a:pPr>
            <a:r>
              <a:rPr lang="en-US" sz="1050" dirty="0">
                <a:solidFill>
                  <a:srgbClr val="64748B"/>
                </a:solidFill>
                <a:latin typeface="Calibri" pitchFamily="34" charset="0"/>
                <a:ea typeface="Calibri" pitchFamily="34" charset="-122"/>
                <a:cs typeface="Calibri" pitchFamily="34" charset="-120"/>
              </a:rPr>
              <a:t>How much energy sits at which frequency — dominant frequency, spectral energy, centroid, bandwidth, entropy.</a:t>
            </a:r>
            <a:endParaRPr lang="en-US" sz="1050" dirty="0"/>
          </a:p>
        </p:txBody>
      </p:sp>
      <p:sp>
        <p:nvSpPr>
          <p:cNvPr id="15" name="Shape 11"/>
          <p:cNvSpPr/>
          <p:nvPr/>
        </p:nvSpPr>
        <p:spPr>
          <a:xfrm>
            <a:off x="274320" y="3861305"/>
            <a:ext cx="10835640" cy="2210292"/>
          </a:xfrm>
          <a:prstGeom prst="roundRect">
            <a:avLst>
              <a:gd name="adj" fmla="val 4000"/>
            </a:avLst>
          </a:prstGeom>
          <a:solidFill>
            <a:srgbClr val="EAEEF4"/>
          </a:solidFill>
          <a:ln w="15875">
            <a:solidFill>
              <a:srgbClr val="9FB1C8"/>
            </a:solidFill>
            <a:prstDash val="dash"/>
          </a:ln>
        </p:spPr>
        <p:txBody>
          <a:bodyPr/>
          <a:lstStyle/>
          <a:p>
            <a:endParaRPr lang="en-IN" dirty="0"/>
          </a:p>
        </p:txBody>
      </p:sp>
      <p:pic>
        <p:nvPicPr>
          <p:cNvPr id="16" name="Image 2" descr="/sessions/blissful-zealous-babbage/mnt/outputs/ppt/icons/wave_64748B.png"/>
          <p:cNvPicPr>
            <a:picLocks noChangeAspect="1"/>
          </p:cNvPicPr>
          <p:nvPr/>
        </p:nvPicPr>
        <p:blipFill>
          <a:blip r:embed="rId5"/>
          <a:stretch>
            <a:fillRect/>
          </a:stretch>
        </p:blipFill>
        <p:spPr>
          <a:xfrm>
            <a:off x="5534406" y="4592574"/>
            <a:ext cx="544068" cy="544068"/>
          </a:xfrm>
          <a:prstGeom prst="rect">
            <a:avLst/>
          </a:prstGeom>
        </p:spPr>
      </p:pic>
      <p:sp>
        <p:nvSpPr>
          <p:cNvPr id="17" name="Text 12"/>
          <p:cNvSpPr/>
          <p:nvPr/>
        </p:nvSpPr>
        <p:spPr>
          <a:xfrm>
            <a:off x="685800" y="5055032"/>
            <a:ext cx="102412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ANNOTATED WAVEFORM</a:t>
            </a:r>
            <a:endParaRPr lang="en-US" sz="1300" dirty="0"/>
          </a:p>
        </p:txBody>
      </p:sp>
      <p:pic>
        <p:nvPicPr>
          <p:cNvPr id="24" name="Picture 23">
            <a:extLst>
              <a:ext uri="{FF2B5EF4-FFF2-40B4-BE49-F238E27FC236}">
                <a16:creationId xmlns:a16="http://schemas.microsoft.com/office/drawing/2014/main" id="{A79AEE95-B079-0EE7-1144-69FD7B32549B}"/>
              </a:ext>
            </a:extLst>
          </p:cNvPr>
          <p:cNvPicPr>
            <a:picLocks noChangeAspect="1"/>
          </p:cNvPicPr>
          <p:nvPr/>
        </p:nvPicPr>
        <p:blipFill>
          <a:blip r:embed="rId6"/>
          <a:stretch>
            <a:fillRect/>
          </a:stretch>
        </p:blipFill>
        <p:spPr>
          <a:xfrm>
            <a:off x="182575" y="3051072"/>
            <a:ext cx="11506200" cy="33635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 13"/>
          <p:cNvSpPr/>
          <p:nvPr/>
        </p:nvSpPr>
        <p:spPr>
          <a:xfrm>
            <a:off x="829818" y="5618839"/>
            <a:ext cx="10058400" cy="512064"/>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a single trace with peak voltage, rise time and settling time marked</a:t>
            </a:r>
            <a:endParaRPr lang="en-US" sz="105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Time-Domain Features: Amplitude &amp;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marL="0" indent="0" algn="l">
              <a:lnSpc>
                <a:spcPct val="140000"/>
              </a:lnSpc>
              <a:buNone/>
            </a:pPr>
            <a:r>
              <a:rPr lang="en-US" sz="1450" dirty="0">
                <a:solidFill>
                  <a:srgbClr val="E7ECF4"/>
                </a:solidFill>
                <a:latin typeface="Courier New" pitchFamily="34" charset="0"/>
                <a:ea typeface="Courier New" pitchFamily="34" charset="-122"/>
                <a:cs typeface="Courier New" pitchFamily="34" charset="-120"/>
              </a:rPr>
              <a:t>f1  peak_voltage  = max(v)</a:t>
            </a:r>
            <a:endParaRPr lang="en-US" sz="1450" dirty="0"/>
          </a:p>
          <a:p>
            <a:pPr marL="0" indent="0" algn="l">
              <a:lnSpc>
                <a:spcPct val="140000"/>
              </a:lnSpc>
              <a:buNone/>
            </a:pPr>
            <a:r>
              <a:rPr lang="en-US" sz="1450" dirty="0">
                <a:solidFill>
                  <a:srgbClr val="E7ECF4"/>
                </a:solidFill>
                <a:latin typeface="Courier New" pitchFamily="34" charset="0"/>
                <a:ea typeface="Courier New" pitchFamily="34" charset="-122"/>
                <a:cs typeface="Courier New" pitchFamily="34" charset="-120"/>
              </a:rPr>
              <a:t>f2  rms_value     = sqrt( mean(v^2) )</a:t>
            </a:r>
            <a:endParaRPr lang="en-US" sz="1450" dirty="0"/>
          </a:p>
          <a:p>
            <a:pPr marL="0" indent="0" algn="l">
              <a:lnSpc>
                <a:spcPct val="140000"/>
              </a:lnSpc>
              <a:buNone/>
            </a:pPr>
            <a:r>
              <a:rPr lang="en-US" sz="1450" dirty="0">
                <a:solidFill>
                  <a:srgbClr val="E7ECF4"/>
                </a:solidFill>
                <a:latin typeface="Courier New" pitchFamily="34" charset="0"/>
                <a:ea typeface="Courier New" pitchFamily="34" charset="-122"/>
                <a:cs typeface="Courier New" pitchFamily="34" charset="-120"/>
              </a:rPr>
              <a:t>f3  mean_voltage  = mean(v)</a:t>
            </a:r>
            <a:endParaRPr lang="en-US" sz="1450" dirty="0"/>
          </a:p>
          <a:p>
            <a:pPr marL="0" indent="0" algn="l">
              <a:lnSpc>
                <a:spcPct val="140000"/>
              </a:lnSpc>
              <a:buNone/>
            </a:pPr>
            <a:r>
              <a:rPr lang="en-US" sz="1450" dirty="0">
                <a:solidFill>
                  <a:srgbClr val="E7ECF4"/>
                </a:solidFill>
                <a:latin typeface="Courier New" pitchFamily="34" charset="0"/>
                <a:ea typeface="Courier New" pitchFamily="34" charset="-122"/>
                <a:cs typeface="Courier New" pitchFamily="34" charset="-120"/>
              </a:rPr>
              <a:t>f4  std_voltage   = std(v)</a:t>
            </a:r>
            <a:endParaRPr lang="en-US" sz="145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marL="0" indent="0">
              <a:lnSpc>
                <a:spcPct val="132000"/>
              </a:lnSpc>
              <a:buNone/>
            </a:pPr>
            <a:r>
              <a:rPr lang="en-US" sz="1250" b="1" dirty="0">
                <a:solidFill>
                  <a:srgbClr val="0B1F3A"/>
                </a:solidFill>
                <a:latin typeface="Calibri" pitchFamily="34" charset="0"/>
                <a:ea typeface="Calibri" pitchFamily="34" charset="-122"/>
                <a:cs typeface="Calibri" pitchFamily="34" charset="-120"/>
              </a:rPr>
              <a:t>These four numbers describe the basic size and spread of a waveform. </a:t>
            </a:r>
            <a:r>
              <a:rPr lang="en-US" sz="1250" dirty="0">
                <a:solidFill>
                  <a:srgbClr val="64748B"/>
                </a:solidFill>
                <a:latin typeface="Calibri" pitchFamily="34" charset="0"/>
                <a:ea typeface="Calibri" pitchFamily="34" charset="-122"/>
                <a:cs typeface="Calibri"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Time-Domain Features: Timing</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f5  rise_time      = t(at 90% peak) - t(at 10% peak)</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marL="0" indent="0">
              <a:lnSpc>
                <a:spcPct val="132000"/>
              </a:lnSpc>
              <a:buNone/>
            </a:pPr>
            <a:r>
              <a:rPr lang="en-US" sz="1250" b="1" dirty="0">
                <a:solidFill>
                  <a:srgbClr val="0B1F3A"/>
                </a:solidFill>
                <a:latin typeface="Calibri" pitchFamily="34" charset="0"/>
                <a:ea typeface="Calibri" pitchFamily="34" charset="-122"/>
                <a:cs typeface="Calibri" pitchFamily="34" charset="-120"/>
              </a:rPr>
              <a:t>rise_time is the single most important feature in the trained model — </a:t>
            </a:r>
            <a:r>
              <a:rPr lang="en-US" sz="1250" dirty="0">
                <a:solidFill>
                  <a:srgbClr val="64748B"/>
                </a:solidFill>
                <a:latin typeface="Calibri" pitchFamily="34" charset="0"/>
                <a:ea typeface="Calibri" pitchFamily="34" charset="-122"/>
                <a:cs typeface="Calibri"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Time-Domain Features: Statistical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f7  skewness  = E[ (v - mean)^3 ] / std^3    (asymmetry)</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marL="0" indent="0">
              <a:lnSpc>
                <a:spcPct val="132000"/>
              </a:lnSpc>
              <a:buNone/>
            </a:pPr>
            <a:r>
              <a:rPr lang="en-US" sz="1250" dirty="0">
                <a:solidFill>
                  <a:srgbClr val="1E293B"/>
                </a:solidFill>
                <a:latin typeface="Calibri" pitchFamily="34" charset="0"/>
                <a:ea typeface="Calibri" pitchFamily="34" charset="-122"/>
                <a:cs typeface="Calibri" pitchFamily="34" charset="-120"/>
              </a:rPr>
              <a:t>Borrowed from statistics, these describe the </a:t>
            </a:r>
            <a:r>
              <a:rPr lang="en-US" sz="1250" b="1" i="1" dirty="0">
                <a:solidFill>
                  <a:srgbClr val="0B1F3A"/>
                </a:solidFill>
                <a:latin typeface="Calibri" pitchFamily="34" charset="0"/>
                <a:ea typeface="Calibri" pitchFamily="34" charset="-122"/>
                <a:cs typeface="Calibri" pitchFamily="34" charset="-120"/>
              </a:rPr>
              <a:t>shape</a:t>
            </a:r>
            <a:r>
              <a:rPr lang="en-US" sz="1250" dirty="0">
                <a:solidFill>
                  <a:srgbClr val="64748B"/>
                </a:solidFill>
                <a:latin typeface="Calibri" pitchFamily="34" charset="0"/>
                <a:ea typeface="Calibri" pitchFamily="34" charset="-122"/>
                <a:cs typeface="Calibri"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Frequency-Domain Features: The FFT</a:t>
            </a:r>
            <a:endParaRPr lang="en-US" sz="3000" dirty="0"/>
          </a:p>
        </p:txBody>
      </p:sp>
      <p:sp>
        <p:nvSpPr>
          <p:cNvPr id="4" name="Text 2"/>
          <p:cNvSpPr/>
          <p:nvPr/>
        </p:nvSpPr>
        <p:spPr>
          <a:xfrm>
            <a:off x="502920" y="1828800"/>
            <a:ext cx="10607040" cy="1005840"/>
          </a:xfrm>
          <a:prstGeom prst="rect">
            <a:avLst/>
          </a:prstGeom>
          <a:noFill/>
          <a:ln/>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The Fast Fourier Transform rewrites a signal from “voltage over time” into “energy at each frequency.” </a:t>
            </a:r>
            <a:r>
              <a:rPr lang="en-US" sz="1350" dirty="0">
                <a:solidFill>
                  <a:srgbClr val="64748B"/>
                </a:solidFill>
                <a:latin typeface="Calibri" pitchFamily="34" charset="0"/>
                <a:ea typeface="Calibri" pitchFamily="34" charset="-122"/>
                <a:cs typeface="Calibri" pitchFamily="34" charset="-120"/>
              </a:rPr>
              <a:t>A smooth RC charging curve is dominated by low frequencies; noise spreads energy across many frequencies; an RLC's ringing shows a clear peak at its oscillation frequency.</a:t>
            </a:r>
            <a:endParaRPr lang="en-US" sz="1350" dirty="0"/>
          </a:p>
        </p:txBody>
      </p:sp>
      <p:sp>
        <p:nvSpPr>
          <p:cNvPr id="5" name="Shape 3"/>
          <p:cNvSpPr/>
          <p:nvPr/>
        </p:nvSpPr>
        <p:spPr>
          <a:xfrm>
            <a:off x="502920" y="3017520"/>
            <a:ext cx="10607040" cy="1051560"/>
          </a:xfrm>
          <a:prstGeom prst="roundRect">
            <a:avLst>
              <a:gd name="adj" fmla="val 6957"/>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3154680"/>
            <a:ext cx="10058400" cy="777240"/>
          </a:xfrm>
          <a:prstGeom prst="rect">
            <a:avLst/>
          </a:prstGeom>
          <a:noFill/>
          <a:ln/>
        </p:spPr>
        <p:txBody>
          <a:bodyPr wrap="square" lIns="0" tIns="0" rIns="0" bIns="0" rtlCol="0" anchor="ctr"/>
          <a:lstStyle/>
          <a:p>
            <a:pPr marL="0" indent="0" algn="l">
              <a:lnSpc>
                <a:spcPct val="140000"/>
              </a:lnSpc>
              <a:buNone/>
            </a:pPr>
            <a:r>
              <a:rPr lang="en-US" sz="1500" dirty="0">
                <a:solidFill>
                  <a:srgbClr val="E7ECF4"/>
                </a:solidFill>
                <a:latin typeface="Courier New" pitchFamily="34" charset="0"/>
                <a:ea typeface="Courier New" pitchFamily="34" charset="-122"/>
                <a:cs typeface="Courier New" pitchFamily="34" charset="-120"/>
              </a:rPr>
              <a:t>V(f) = FFT( v(t) )    |    magnitude spectrum |V(f)|</a:t>
            </a:r>
            <a:endParaRPr lang="en-US" sz="1500" dirty="0"/>
          </a:p>
        </p:txBody>
      </p:sp>
      <p:sp>
        <p:nvSpPr>
          <p:cNvPr id="7" name="Text 5"/>
          <p:cNvSpPr/>
          <p:nvPr/>
        </p:nvSpPr>
        <p:spPr>
          <a:xfrm>
            <a:off x="502920" y="4251960"/>
            <a:ext cx="10607040" cy="457200"/>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Five features (next slide) are computed from this magnitude spectrum rather than from the raw time signal.</a:t>
            </a:r>
            <a:endParaRPr lang="en-US" sz="1150" dirty="0"/>
          </a:p>
        </p:txBody>
      </p:sp>
      <p:sp>
        <p:nvSpPr>
          <p:cNvPr id="8" name="Shape 6"/>
          <p:cNvSpPr/>
          <p:nvPr/>
        </p:nvSpPr>
        <p:spPr>
          <a:xfrm>
            <a:off x="502920" y="5029200"/>
            <a:ext cx="11185855" cy="457200"/>
          </a:xfrm>
          <a:prstGeom prst="roundRect">
            <a:avLst>
              <a:gd name="adj" fmla="val 12000"/>
            </a:avLst>
          </a:prstGeom>
          <a:solidFill>
            <a:srgbClr val="FFF8E8"/>
          </a:solidFill>
          <a:ln w="12700">
            <a:solidFill>
              <a:srgbClr val="F0C24B"/>
            </a:solidFill>
            <a:prstDash val="solid"/>
          </a:ln>
        </p:spPr>
      </p:sp>
      <p:sp>
        <p:nvSpPr>
          <p:cNvPr id="9" name="Text 7"/>
          <p:cNvSpPr/>
          <p:nvPr/>
        </p:nvSpPr>
        <p:spPr>
          <a:xfrm>
            <a:off x="667512" y="5029200"/>
            <a:ext cx="10856671" cy="457200"/>
          </a:xfrm>
          <a:prstGeom prst="rect">
            <a:avLst/>
          </a:prstGeom>
          <a:noFill/>
          <a:ln/>
        </p:spPr>
        <p:txBody>
          <a:bodyPr wrap="square" lIns="0" tIns="0" rIns="0" bIns="0" rtlCol="0" anchor="ctr"/>
          <a:lstStyle/>
          <a:p>
            <a:pPr marL="0" indent="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a:t>
            </a:r>
            <a:r>
              <a:rPr lang="en-US" sz="950" dirty="0">
                <a:solidFill>
                  <a:srgbClr val="3D3620"/>
                </a:solidFill>
                <a:latin typeface="Calibri" pitchFamily="34" charset="0"/>
                <a:ea typeface="Calibri" pitchFamily="34" charset="-122"/>
                <a:cs typeface="Calibri" pitchFamily="34" charset="-120"/>
              </a:rPr>
              <a:t>FFT is standard signal-processing math — this step is no different than reading a spectrum analyzer, just done in code instead of on a bench instrument.</a:t>
            </a:r>
            <a:endParaRPr lang="en-US" sz="9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Frequency-Domain Features: Spectral Descriptors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marL="0" indent="0" algn="l">
              <a:lnSpc>
                <a:spcPct val="140000"/>
              </a:lnSpc>
              <a:buNone/>
            </a:pPr>
            <a:r>
              <a:rPr lang="en-US" sz="1200" dirty="0">
                <a:solidFill>
                  <a:srgbClr val="E7ECF4"/>
                </a:solidFill>
                <a:latin typeface="Courier New" pitchFamily="34" charset="0"/>
                <a:ea typeface="Courier New" pitchFamily="34" charset="-122"/>
                <a:cs typeface="Courier New" pitchFamily="34" charset="-120"/>
              </a:rPr>
              <a:t>f9   dominant_freq       = f at max |V(f)|,  50-2000 Hz band</a:t>
            </a:r>
            <a:endParaRPr lang="en-US" sz="1200" dirty="0"/>
          </a:p>
          <a:p>
            <a:pPr marL="0" indent="0" algn="l">
              <a:lnSpc>
                <a:spcPct val="140000"/>
              </a:lnSpc>
              <a:buNone/>
            </a:pPr>
            <a:r>
              <a:rPr lang="en-US" sz="1200" dirty="0">
                <a:solidFill>
                  <a:srgbClr val="E7ECF4"/>
                </a:solidFill>
                <a:latin typeface="Courier New" pitchFamily="34" charset="0"/>
                <a:ea typeface="Courier New" pitchFamily="34" charset="-122"/>
                <a:cs typeface="Courier New" pitchFamily="34" charset="-120"/>
              </a:rPr>
              <a:t>f10  spectral_energy     = sum( |V(f)|^2 )</a:t>
            </a:r>
            <a:endParaRPr lang="en-US" sz="1200" dirty="0"/>
          </a:p>
          <a:p>
            <a:pPr marL="0" indent="0" algn="l">
              <a:lnSpc>
                <a:spcPct val="140000"/>
              </a:lnSpc>
              <a:buNone/>
            </a:pPr>
            <a:r>
              <a:rPr lang="en-US" sz="1200" dirty="0">
                <a:solidFill>
                  <a:srgbClr val="E7ECF4"/>
                </a:solidFill>
                <a:latin typeface="Courier New" pitchFamily="34" charset="0"/>
                <a:ea typeface="Courier New" pitchFamily="34" charset="-122"/>
                <a:cs typeface="Courier New" pitchFamily="34" charset="-120"/>
              </a:rPr>
              <a:t>f11  spectral_centroid   = sum(f*|V(f)|) / sum(|V(f)|)   ("center of mass")</a:t>
            </a:r>
            <a:endParaRPr lang="en-US" sz="1200" dirty="0"/>
          </a:p>
          <a:p>
            <a:pPr marL="0" indent="0" algn="l">
              <a:lnSpc>
                <a:spcPct val="140000"/>
              </a:lnSpc>
              <a:buNone/>
            </a:pPr>
            <a:r>
              <a:rPr lang="en-US" sz="1200" dirty="0">
                <a:solidFill>
                  <a:srgbClr val="E7ECF4"/>
                </a:solidFill>
                <a:latin typeface="Courier New" pitchFamily="34" charset="0"/>
                <a:ea typeface="Courier New" pitchFamily="34" charset="-122"/>
                <a:cs typeface="Courier New" pitchFamily="34" charset="-120"/>
              </a:rPr>
              <a:t>f12  bandwidth           = sqrt( sum((f-centroid)^2 * |V(f)|) / sum(|V(f)|) )</a:t>
            </a:r>
            <a:endParaRPr lang="en-US" sz="1200" dirty="0"/>
          </a:p>
          <a:p>
            <a:pPr marL="0" indent="0" algn="l">
              <a:lnSpc>
                <a:spcPct val="140000"/>
              </a:lnSpc>
              <a:buNone/>
            </a:pPr>
            <a:r>
              <a:rPr lang="en-US" sz="1200" dirty="0">
                <a:solidFill>
                  <a:srgbClr val="E7ECF4"/>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marL="0" indent="0">
              <a:lnSpc>
                <a:spcPct val="132000"/>
              </a:lnSpc>
              <a:buNone/>
            </a:pPr>
            <a:r>
              <a:rPr lang="en-US" sz="1250" b="1" dirty="0">
                <a:solidFill>
                  <a:srgbClr val="0B1F3A"/>
                </a:solidFill>
                <a:latin typeface="Calibri" pitchFamily="34" charset="0"/>
                <a:ea typeface="Calibri" pitchFamily="34" charset="-122"/>
                <a:cs typeface="Calibri" pitchFamily="34" charset="-120"/>
              </a:rPr>
              <a:t>spectral_entropy is the third most important feature overall — </a:t>
            </a:r>
            <a:r>
              <a:rPr lang="en-US" sz="1250" dirty="0">
                <a:solidFill>
                  <a:srgbClr val="64748B"/>
                </a:solidFill>
                <a:latin typeface="Calibri" pitchFamily="34" charset="0"/>
                <a:ea typeface="Calibri" pitchFamily="34" charset="-122"/>
                <a:cs typeface="Calibri"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Structural Features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f15  zero_crossing_rate  = crossings of (v - mean(v)) per sample</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f16  crest_factor        = max(|v|) / rms_value</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f14  energy              = sum(v^2)</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marL="0" indent="0">
              <a:lnSpc>
                <a:spcPct val="132000"/>
              </a:lnSpc>
              <a:buNone/>
            </a:pPr>
            <a:r>
              <a:rPr lang="en-US" sz="1250" b="1" dirty="0">
                <a:solidFill>
                  <a:srgbClr val="0B1F3A"/>
                </a:solidFill>
                <a:latin typeface="Calibri" pitchFamily="34" charset="0"/>
                <a:ea typeface="Calibri" pitchFamily="34" charset="-122"/>
                <a:cs typeface="Calibri" pitchFamily="34" charset="-120"/>
              </a:rPr>
              <a:t>crest_factor is the fourth most important feature — </a:t>
            </a:r>
            <a:r>
              <a:rPr lang="en-US" sz="1250" dirty="0">
                <a:solidFill>
                  <a:srgbClr val="64748B"/>
                </a:solidFill>
                <a:latin typeface="Calibri" pitchFamily="34" charset="0"/>
                <a:ea typeface="Calibri" pitchFamily="34" charset="-122"/>
                <a:cs typeface="Calibri"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17 Features, Three Families</a:t>
            </a:r>
            <a:endParaRPr lang="en-US" sz="3000" dirty="0"/>
          </a:p>
        </p:txBody>
      </p:sp>
      <p:sp>
        <p:nvSpPr>
          <p:cNvPr id="4" name="Shape 2"/>
          <p:cNvSpPr/>
          <p:nvPr/>
        </p:nvSpPr>
        <p:spPr>
          <a:xfrm>
            <a:off x="502920" y="1783080"/>
            <a:ext cx="3429000" cy="4617720"/>
          </a:xfrm>
          <a:prstGeom prst="roundRect">
            <a:avLst>
              <a:gd name="adj" fmla="val 240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502920" y="1783080"/>
            <a:ext cx="3429000" cy="594360"/>
          </a:xfrm>
          <a:prstGeom prst="roundRect">
            <a:avLst>
              <a:gd name="adj" fmla="val 13846"/>
            </a:avLst>
          </a:prstGeom>
          <a:solidFill>
            <a:srgbClr val="0B1F3A"/>
          </a:solidFill>
          <a:ln/>
        </p:spPr>
      </p:sp>
      <p:sp>
        <p:nvSpPr>
          <p:cNvPr id="6" name="Shape 4"/>
          <p:cNvSpPr/>
          <p:nvPr/>
        </p:nvSpPr>
        <p:spPr>
          <a:xfrm>
            <a:off x="502920" y="2075688"/>
            <a:ext cx="3429000" cy="301752"/>
          </a:xfrm>
          <a:prstGeom prst="rect">
            <a:avLst/>
          </a:prstGeom>
          <a:solidFill>
            <a:srgbClr val="0B1F3A"/>
          </a:solidFill>
          <a:ln w="12700">
            <a:solidFill>
              <a:srgbClr val="0B1F3A"/>
            </a:solidFill>
            <a:prstDash val="solid"/>
          </a:ln>
        </p:spPr>
      </p:sp>
      <p:sp>
        <p:nvSpPr>
          <p:cNvPr id="7" name="Text 5"/>
          <p:cNvSpPr/>
          <p:nvPr/>
        </p:nvSpPr>
        <p:spPr>
          <a:xfrm>
            <a:off x="502920" y="1783080"/>
            <a:ext cx="34290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Time-Domain (9)</a:t>
            </a:r>
            <a:endParaRPr lang="en-US" sz="1400" dirty="0"/>
          </a:p>
        </p:txBody>
      </p:sp>
      <p:sp>
        <p:nvSpPr>
          <p:cNvPr id="8" name="Shape 6"/>
          <p:cNvSpPr/>
          <p:nvPr/>
        </p:nvSpPr>
        <p:spPr>
          <a:xfrm>
            <a:off x="777240" y="2642616"/>
            <a:ext cx="82296" cy="82296"/>
          </a:xfrm>
          <a:prstGeom prst="ellipse">
            <a:avLst/>
          </a:prstGeom>
          <a:solidFill>
            <a:srgbClr val="00B4D8"/>
          </a:solidFill>
          <a:ln/>
        </p:spPr>
      </p:sp>
      <p:sp>
        <p:nvSpPr>
          <p:cNvPr id="9" name="Text 7"/>
          <p:cNvSpPr/>
          <p:nvPr/>
        </p:nvSpPr>
        <p:spPr>
          <a:xfrm>
            <a:off x="1005840" y="2514600"/>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Peak voltage</a:t>
            </a:r>
            <a:endParaRPr lang="en-US" sz="1200" dirty="0"/>
          </a:p>
        </p:txBody>
      </p:sp>
      <p:sp>
        <p:nvSpPr>
          <p:cNvPr id="10" name="Shape 8"/>
          <p:cNvSpPr/>
          <p:nvPr/>
        </p:nvSpPr>
        <p:spPr>
          <a:xfrm>
            <a:off x="777240" y="3081528"/>
            <a:ext cx="82296" cy="82296"/>
          </a:xfrm>
          <a:prstGeom prst="ellipse">
            <a:avLst/>
          </a:prstGeom>
          <a:solidFill>
            <a:srgbClr val="00B4D8"/>
          </a:solidFill>
          <a:ln/>
        </p:spPr>
      </p:sp>
      <p:sp>
        <p:nvSpPr>
          <p:cNvPr id="11" name="Text 9"/>
          <p:cNvSpPr/>
          <p:nvPr/>
        </p:nvSpPr>
        <p:spPr>
          <a:xfrm>
            <a:off x="1005840" y="2953512"/>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RMS value</a:t>
            </a:r>
            <a:endParaRPr lang="en-US" sz="1200" dirty="0"/>
          </a:p>
        </p:txBody>
      </p:sp>
      <p:sp>
        <p:nvSpPr>
          <p:cNvPr id="12" name="Shape 10"/>
          <p:cNvSpPr/>
          <p:nvPr/>
        </p:nvSpPr>
        <p:spPr>
          <a:xfrm>
            <a:off x="777240" y="3520440"/>
            <a:ext cx="82296" cy="82296"/>
          </a:xfrm>
          <a:prstGeom prst="ellipse">
            <a:avLst/>
          </a:prstGeom>
          <a:solidFill>
            <a:srgbClr val="00B4D8"/>
          </a:solidFill>
          <a:ln/>
        </p:spPr>
      </p:sp>
      <p:sp>
        <p:nvSpPr>
          <p:cNvPr id="13" name="Text 11"/>
          <p:cNvSpPr/>
          <p:nvPr/>
        </p:nvSpPr>
        <p:spPr>
          <a:xfrm>
            <a:off x="1005840" y="3392424"/>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Mean voltage</a:t>
            </a:r>
            <a:endParaRPr lang="en-US" sz="1200" dirty="0"/>
          </a:p>
        </p:txBody>
      </p:sp>
      <p:sp>
        <p:nvSpPr>
          <p:cNvPr id="14" name="Shape 12"/>
          <p:cNvSpPr/>
          <p:nvPr/>
        </p:nvSpPr>
        <p:spPr>
          <a:xfrm>
            <a:off x="777240" y="3959352"/>
            <a:ext cx="82296" cy="82296"/>
          </a:xfrm>
          <a:prstGeom prst="ellipse">
            <a:avLst/>
          </a:prstGeom>
          <a:solidFill>
            <a:srgbClr val="00B4D8"/>
          </a:solidFill>
          <a:ln/>
        </p:spPr>
      </p:sp>
      <p:sp>
        <p:nvSpPr>
          <p:cNvPr id="15" name="Text 13"/>
          <p:cNvSpPr/>
          <p:nvPr/>
        </p:nvSpPr>
        <p:spPr>
          <a:xfrm>
            <a:off x="1005840" y="3831336"/>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Std. deviation</a:t>
            </a:r>
            <a:endParaRPr lang="en-US" sz="1200" dirty="0"/>
          </a:p>
        </p:txBody>
      </p:sp>
      <p:sp>
        <p:nvSpPr>
          <p:cNvPr id="16" name="Shape 14"/>
          <p:cNvSpPr/>
          <p:nvPr/>
        </p:nvSpPr>
        <p:spPr>
          <a:xfrm>
            <a:off x="777240" y="4398264"/>
            <a:ext cx="82296" cy="82296"/>
          </a:xfrm>
          <a:prstGeom prst="ellipse">
            <a:avLst/>
          </a:prstGeom>
          <a:solidFill>
            <a:srgbClr val="00B4D8"/>
          </a:solidFill>
          <a:ln/>
        </p:spPr>
      </p:sp>
      <p:sp>
        <p:nvSpPr>
          <p:cNvPr id="17" name="Text 15"/>
          <p:cNvSpPr/>
          <p:nvPr/>
        </p:nvSpPr>
        <p:spPr>
          <a:xfrm>
            <a:off x="1005840" y="4270248"/>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Rise time</a:t>
            </a:r>
            <a:endParaRPr lang="en-US" sz="1200" dirty="0"/>
          </a:p>
        </p:txBody>
      </p:sp>
      <p:sp>
        <p:nvSpPr>
          <p:cNvPr id="18" name="Shape 16"/>
          <p:cNvSpPr/>
          <p:nvPr/>
        </p:nvSpPr>
        <p:spPr>
          <a:xfrm>
            <a:off x="777240" y="4837176"/>
            <a:ext cx="82296" cy="82296"/>
          </a:xfrm>
          <a:prstGeom prst="ellipse">
            <a:avLst/>
          </a:prstGeom>
          <a:solidFill>
            <a:srgbClr val="00B4D8"/>
          </a:solidFill>
          <a:ln/>
        </p:spPr>
      </p:sp>
      <p:sp>
        <p:nvSpPr>
          <p:cNvPr id="19" name="Text 17"/>
          <p:cNvSpPr/>
          <p:nvPr/>
        </p:nvSpPr>
        <p:spPr>
          <a:xfrm>
            <a:off x="1005840" y="4709160"/>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Settling time</a:t>
            </a:r>
            <a:endParaRPr lang="en-US" sz="1200" dirty="0"/>
          </a:p>
        </p:txBody>
      </p:sp>
      <p:sp>
        <p:nvSpPr>
          <p:cNvPr id="20" name="Shape 18"/>
          <p:cNvSpPr/>
          <p:nvPr/>
        </p:nvSpPr>
        <p:spPr>
          <a:xfrm>
            <a:off x="777240" y="5276088"/>
            <a:ext cx="82296" cy="82296"/>
          </a:xfrm>
          <a:prstGeom prst="ellipse">
            <a:avLst/>
          </a:prstGeom>
          <a:solidFill>
            <a:srgbClr val="00B4D8"/>
          </a:solidFill>
          <a:ln/>
        </p:spPr>
      </p:sp>
      <p:sp>
        <p:nvSpPr>
          <p:cNvPr id="21" name="Text 19"/>
          <p:cNvSpPr/>
          <p:nvPr/>
        </p:nvSpPr>
        <p:spPr>
          <a:xfrm>
            <a:off x="1005840" y="5148072"/>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Skewness</a:t>
            </a:r>
            <a:endParaRPr lang="en-US" sz="1200" dirty="0"/>
          </a:p>
        </p:txBody>
      </p:sp>
      <p:sp>
        <p:nvSpPr>
          <p:cNvPr id="22" name="Shape 20"/>
          <p:cNvSpPr/>
          <p:nvPr/>
        </p:nvSpPr>
        <p:spPr>
          <a:xfrm>
            <a:off x="777240" y="5715000"/>
            <a:ext cx="82296" cy="82296"/>
          </a:xfrm>
          <a:prstGeom prst="ellipse">
            <a:avLst/>
          </a:prstGeom>
          <a:solidFill>
            <a:srgbClr val="00B4D8"/>
          </a:solidFill>
          <a:ln/>
        </p:spPr>
      </p:sp>
      <p:sp>
        <p:nvSpPr>
          <p:cNvPr id="23" name="Text 21"/>
          <p:cNvSpPr/>
          <p:nvPr/>
        </p:nvSpPr>
        <p:spPr>
          <a:xfrm>
            <a:off x="1005840" y="5586984"/>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Kurtosis</a:t>
            </a:r>
            <a:endParaRPr lang="en-US" sz="1200" dirty="0"/>
          </a:p>
        </p:txBody>
      </p:sp>
      <p:sp>
        <p:nvSpPr>
          <p:cNvPr id="24" name="Shape 22"/>
          <p:cNvSpPr/>
          <p:nvPr/>
        </p:nvSpPr>
        <p:spPr>
          <a:xfrm>
            <a:off x="777240" y="6153912"/>
            <a:ext cx="82296" cy="82296"/>
          </a:xfrm>
          <a:prstGeom prst="ellipse">
            <a:avLst/>
          </a:prstGeom>
          <a:solidFill>
            <a:srgbClr val="00B4D8"/>
          </a:solidFill>
          <a:ln/>
        </p:spPr>
      </p:sp>
      <p:sp>
        <p:nvSpPr>
          <p:cNvPr id="25" name="Text 23"/>
          <p:cNvSpPr/>
          <p:nvPr/>
        </p:nvSpPr>
        <p:spPr>
          <a:xfrm>
            <a:off x="1005840" y="6025896"/>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DC level</a:t>
            </a:r>
            <a:endParaRPr lang="en-US" sz="1200" dirty="0"/>
          </a:p>
        </p:txBody>
      </p:sp>
      <p:sp>
        <p:nvSpPr>
          <p:cNvPr id="26" name="Shape 24"/>
          <p:cNvSpPr/>
          <p:nvPr/>
        </p:nvSpPr>
        <p:spPr>
          <a:xfrm>
            <a:off x="4251960" y="1783080"/>
            <a:ext cx="3429000" cy="4617720"/>
          </a:xfrm>
          <a:prstGeom prst="roundRect">
            <a:avLst>
              <a:gd name="adj" fmla="val 240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7" name="Shape 25"/>
          <p:cNvSpPr/>
          <p:nvPr/>
        </p:nvSpPr>
        <p:spPr>
          <a:xfrm>
            <a:off x="4251960" y="1783080"/>
            <a:ext cx="3429000" cy="594360"/>
          </a:xfrm>
          <a:prstGeom prst="roundRect">
            <a:avLst>
              <a:gd name="adj" fmla="val 13846"/>
            </a:avLst>
          </a:prstGeom>
          <a:solidFill>
            <a:srgbClr val="0B1F3A"/>
          </a:solidFill>
          <a:ln/>
        </p:spPr>
      </p:sp>
      <p:sp>
        <p:nvSpPr>
          <p:cNvPr id="28" name="Shape 26"/>
          <p:cNvSpPr/>
          <p:nvPr/>
        </p:nvSpPr>
        <p:spPr>
          <a:xfrm>
            <a:off x="4251960" y="2075688"/>
            <a:ext cx="3429000" cy="301752"/>
          </a:xfrm>
          <a:prstGeom prst="rect">
            <a:avLst/>
          </a:prstGeom>
          <a:solidFill>
            <a:srgbClr val="0B1F3A"/>
          </a:solidFill>
          <a:ln w="12700">
            <a:solidFill>
              <a:srgbClr val="0B1F3A"/>
            </a:solidFill>
            <a:prstDash val="solid"/>
          </a:ln>
        </p:spPr>
      </p:sp>
      <p:sp>
        <p:nvSpPr>
          <p:cNvPr id="29" name="Text 27"/>
          <p:cNvSpPr/>
          <p:nvPr/>
        </p:nvSpPr>
        <p:spPr>
          <a:xfrm>
            <a:off x="4251960" y="1783080"/>
            <a:ext cx="34290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Frequency-Domain (5)</a:t>
            </a:r>
            <a:endParaRPr lang="en-US" sz="1400" dirty="0"/>
          </a:p>
        </p:txBody>
      </p:sp>
      <p:sp>
        <p:nvSpPr>
          <p:cNvPr id="30" name="Shape 28"/>
          <p:cNvSpPr/>
          <p:nvPr/>
        </p:nvSpPr>
        <p:spPr>
          <a:xfrm>
            <a:off x="4526280" y="2642616"/>
            <a:ext cx="82296" cy="82296"/>
          </a:xfrm>
          <a:prstGeom prst="ellipse">
            <a:avLst/>
          </a:prstGeom>
          <a:solidFill>
            <a:srgbClr val="FFB703"/>
          </a:solidFill>
          <a:ln/>
        </p:spPr>
      </p:sp>
      <p:sp>
        <p:nvSpPr>
          <p:cNvPr id="31" name="Text 29"/>
          <p:cNvSpPr/>
          <p:nvPr/>
        </p:nvSpPr>
        <p:spPr>
          <a:xfrm>
            <a:off x="4754880" y="2514600"/>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Dominant frequency</a:t>
            </a:r>
            <a:endParaRPr lang="en-US" sz="1200" dirty="0"/>
          </a:p>
        </p:txBody>
      </p:sp>
      <p:sp>
        <p:nvSpPr>
          <p:cNvPr id="32" name="Shape 30"/>
          <p:cNvSpPr/>
          <p:nvPr/>
        </p:nvSpPr>
        <p:spPr>
          <a:xfrm>
            <a:off x="4526280" y="3081528"/>
            <a:ext cx="82296" cy="82296"/>
          </a:xfrm>
          <a:prstGeom prst="ellipse">
            <a:avLst/>
          </a:prstGeom>
          <a:solidFill>
            <a:srgbClr val="FFB703"/>
          </a:solidFill>
          <a:ln/>
        </p:spPr>
      </p:sp>
      <p:sp>
        <p:nvSpPr>
          <p:cNvPr id="33" name="Text 31"/>
          <p:cNvSpPr/>
          <p:nvPr/>
        </p:nvSpPr>
        <p:spPr>
          <a:xfrm>
            <a:off x="4754880" y="2953512"/>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Spectral energy</a:t>
            </a:r>
            <a:endParaRPr lang="en-US" sz="1200" dirty="0"/>
          </a:p>
        </p:txBody>
      </p:sp>
      <p:sp>
        <p:nvSpPr>
          <p:cNvPr id="34" name="Shape 32"/>
          <p:cNvSpPr/>
          <p:nvPr/>
        </p:nvSpPr>
        <p:spPr>
          <a:xfrm>
            <a:off x="4526280" y="3520440"/>
            <a:ext cx="82296" cy="82296"/>
          </a:xfrm>
          <a:prstGeom prst="ellipse">
            <a:avLst/>
          </a:prstGeom>
          <a:solidFill>
            <a:srgbClr val="FFB703"/>
          </a:solidFill>
          <a:ln/>
        </p:spPr>
      </p:sp>
      <p:sp>
        <p:nvSpPr>
          <p:cNvPr id="35" name="Text 33"/>
          <p:cNvSpPr/>
          <p:nvPr/>
        </p:nvSpPr>
        <p:spPr>
          <a:xfrm>
            <a:off x="4754880" y="3392424"/>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Spectral centroid</a:t>
            </a:r>
            <a:endParaRPr lang="en-US" sz="1200" dirty="0"/>
          </a:p>
        </p:txBody>
      </p:sp>
      <p:sp>
        <p:nvSpPr>
          <p:cNvPr id="36" name="Shape 34"/>
          <p:cNvSpPr/>
          <p:nvPr/>
        </p:nvSpPr>
        <p:spPr>
          <a:xfrm>
            <a:off x="4526280" y="3959352"/>
            <a:ext cx="82296" cy="82296"/>
          </a:xfrm>
          <a:prstGeom prst="ellipse">
            <a:avLst/>
          </a:prstGeom>
          <a:solidFill>
            <a:srgbClr val="FFB703"/>
          </a:solidFill>
          <a:ln/>
        </p:spPr>
      </p:sp>
      <p:sp>
        <p:nvSpPr>
          <p:cNvPr id="37" name="Text 35"/>
          <p:cNvSpPr/>
          <p:nvPr/>
        </p:nvSpPr>
        <p:spPr>
          <a:xfrm>
            <a:off x="4754880" y="3831336"/>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Bandwidth</a:t>
            </a:r>
            <a:endParaRPr lang="en-US" sz="1200" dirty="0"/>
          </a:p>
        </p:txBody>
      </p:sp>
      <p:sp>
        <p:nvSpPr>
          <p:cNvPr id="38" name="Shape 36"/>
          <p:cNvSpPr/>
          <p:nvPr/>
        </p:nvSpPr>
        <p:spPr>
          <a:xfrm>
            <a:off x="4526280" y="4398264"/>
            <a:ext cx="82296" cy="82296"/>
          </a:xfrm>
          <a:prstGeom prst="ellipse">
            <a:avLst/>
          </a:prstGeom>
          <a:solidFill>
            <a:srgbClr val="FFB703"/>
          </a:solidFill>
          <a:ln/>
        </p:spPr>
      </p:sp>
      <p:sp>
        <p:nvSpPr>
          <p:cNvPr id="39" name="Text 37"/>
          <p:cNvSpPr/>
          <p:nvPr/>
        </p:nvSpPr>
        <p:spPr>
          <a:xfrm>
            <a:off x="4754880" y="4270248"/>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Spectral entropy</a:t>
            </a:r>
            <a:endParaRPr lang="en-US" sz="1200" dirty="0"/>
          </a:p>
        </p:txBody>
      </p:sp>
      <p:sp>
        <p:nvSpPr>
          <p:cNvPr id="40" name="Shape 38"/>
          <p:cNvSpPr/>
          <p:nvPr/>
        </p:nvSpPr>
        <p:spPr>
          <a:xfrm>
            <a:off x="8001000" y="1783080"/>
            <a:ext cx="3429000" cy="4617720"/>
          </a:xfrm>
          <a:prstGeom prst="roundRect">
            <a:avLst>
              <a:gd name="adj" fmla="val 240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41" name="Shape 39"/>
          <p:cNvSpPr/>
          <p:nvPr/>
        </p:nvSpPr>
        <p:spPr>
          <a:xfrm>
            <a:off x="8001000" y="1783080"/>
            <a:ext cx="3429000" cy="594360"/>
          </a:xfrm>
          <a:prstGeom prst="roundRect">
            <a:avLst>
              <a:gd name="adj" fmla="val 13846"/>
            </a:avLst>
          </a:prstGeom>
          <a:solidFill>
            <a:srgbClr val="0B1F3A"/>
          </a:solidFill>
          <a:ln/>
        </p:spPr>
      </p:sp>
      <p:sp>
        <p:nvSpPr>
          <p:cNvPr id="42" name="Shape 40"/>
          <p:cNvSpPr/>
          <p:nvPr/>
        </p:nvSpPr>
        <p:spPr>
          <a:xfrm>
            <a:off x="8001000" y="2075688"/>
            <a:ext cx="3429000" cy="301752"/>
          </a:xfrm>
          <a:prstGeom prst="rect">
            <a:avLst/>
          </a:prstGeom>
          <a:solidFill>
            <a:srgbClr val="0B1F3A"/>
          </a:solidFill>
          <a:ln w="12700">
            <a:solidFill>
              <a:srgbClr val="0B1F3A"/>
            </a:solidFill>
            <a:prstDash val="solid"/>
          </a:ln>
        </p:spPr>
      </p:sp>
      <p:sp>
        <p:nvSpPr>
          <p:cNvPr id="43" name="Text 41"/>
          <p:cNvSpPr/>
          <p:nvPr/>
        </p:nvSpPr>
        <p:spPr>
          <a:xfrm>
            <a:off x="8001000" y="1783080"/>
            <a:ext cx="342900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Structural (3)</a:t>
            </a:r>
            <a:endParaRPr lang="en-US" sz="1400" dirty="0"/>
          </a:p>
        </p:txBody>
      </p:sp>
      <p:sp>
        <p:nvSpPr>
          <p:cNvPr id="44" name="Shape 42"/>
          <p:cNvSpPr/>
          <p:nvPr/>
        </p:nvSpPr>
        <p:spPr>
          <a:xfrm>
            <a:off x="8275320" y="2642616"/>
            <a:ext cx="82296" cy="82296"/>
          </a:xfrm>
          <a:prstGeom prst="ellipse">
            <a:avLst/>
          </a:prstGeom>
          <a:solidFill>
            <a:srgbClr val="5EAE7A"/>
          </a:solidFill>
          <a:ln/>
        </p:spPr>
      </p:sp>
      <p:sp>
        <p:nvSpPr>
          <p:cNvPr id="45" name="Text 43"/>
          <p:cNvSpPr/>
          <p:nvPr/>
        </p:nvSpPr>
        <p:spPr>
          <a:xfrm>
            <a:off x="8503920" y="2514600"/>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Zero-crossing rate</a:t>
            </a:r>
            <a:endParaRPr lang="en-US" sz="1200" dirty="0"/>
          </a:p>
        </p:txBody>
      </p:sp>
      <p:sp>
        <p:nvSpPr>
          <p:cNvPr id="46" name="Shape 44"/>
          <p:cNvSpPr/>
          <p:nvPr/>
        </p:nvSpPr>
        <p:spPr>
          <a:xfrm>
            <a:off x="8275320" y="3081528"/>
            <a:ext cx="82296" cy="82296"/>
          </a:xfrm>
          <a:prstGeom prst="ellipse">
            <a:avLst/>
          </a:prstGeom>
          <a:solidFill>
            <a:srgbClr val="5EAE7A"/>
          </a:solidFill>
          <a:ln/>
        </p:spPr>
      </p:sp>
      <p:sp>
        <p:nvSpPr>
          <p:cNvPr id="47" name="Text 45"/>
          <p:cNvSpPr/>
          <p:nvPr/>
        </p:nvSpPr>
        <p:spPr>
          <a:xfrm>
            <a:off x="8503920" y="2953512"/>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Crest factor</a:t>
            </a:r>
            <a:endParaRPr lang="en-US" sz="1200" dirty="0"/>
          </a:p>
        </p:txBody>
      </p:sp>
      <p:sp>
        <p:nvSpPr>
          <p:cNvPr id="48" name="Shape 46"/>
          <p:cNvSpPr/>
          <p:nvPr/>
        </p:nvSpPr>
        <p:spPr>
          <a:xfrm>
            <a:off x="8275320" y="3520440"/>
            <a:ext cx="82296" cy="82296"/>
          </a:xfrm>
          <a:prstGeom prst="ellipse">
            <a:avLst/>
          </a:prstGeom>
          <a:solidFill>
            <a:srgbClr val="5EAE7A"/>
          </a:solidFill>
          <a:ln/>
        </p:spPr>
      </p:sp>
      <p:sp>
        <p:nvSpPr>
          <p:cNvPr id="49" name="Text 47"/>
          <p:cNvSpPr/>
          <p:nvPr/>
        </p:nvSpPr>
        <p:spPr>
          <a:xfrm>
            <a:off x="8503920" y="3392424"/>
            <a:ext cx="2697480" cy="36576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Signal energy</a:t>
            </a:r>
            <a:endParaRPr lang="en-US" sz="1200" dirty="0"/>
          </a:p>
        </p:txBody>
      </p:sp>
      <p:sp>
        <p:nvSpPr>
          <p:cNvPr id="50" name="Text 4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1" name="Text 4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Feature Redundancy: An Honest Look</a:t>
            </a:r>
            <a:endParaRPr lang="en-US" sz="3000" dirty="0"/>
          </a:p>
        </p:txBody>
      </p:sp>
      <p:sp>
        <p:nvSpPr>
          <p:cNvPr id="4" name="Text 2"/>
          <p:cNvSpPr/>
          <p:nvPr/>
        </p:nvSpPr>
        <p:spPr>
          <a:xfrm>
            <a:off x="502920" y="1600200"/>
            <a:ext cx="10607040" cy="411480"/>
          </a:xfrm>
          <a:prstGeom prst="rect">
            <a:avLst/>
          </a:prstGeom>
          <a:noFill/>
          <a:ln/>
        </p:spPr>
        <p:txBody>
          <a:bodyPr wrap="square" lIns="0" tIns="0" rIns="0" bIns="0" rtlCol="0" anchor="ctr"/>
          <a:lstStyle/>
          <a:p>
            <a:pPr marL="0" indent="0">
              <a:lnSpc>
                <a:spcPct val="122000"/>
              </a:lnSpc>
              <a:buNone/>
            </a:pPr>
            <a:r>
              <a:rPr lang="en-US" sz="1200" dirty="0">
                <a:solidFill>
                  <a:srgbClr val="1E293B"/>
                </a:solidFill>
                <a:latin typeface="Calibri" pitchFamily="34" charset="0"/>
                <a:ea typeface="Calibri" pitchFamily="34" charset="-122"/>
                <a:cs typeface="Calibri" pitchFamily="34" charset="-120"/>
              </a:rPr>
              <a:t>With 17 features, some inevitably capture overlapping information. A correlation check across all 1,019 samples (|r| &gt; 0.9) surfaces this directly:</a:t>
            </a:r>
            <a:endParaRPr lang="en-US" sz="1200" dirty="0"/>
          </a:p>
        </p:txBody>
      </p:sp>
      <p:sp>
        <p:nvSpPr>
          <p:cNvPr id="5" name="Shape 3"/>
          <p:cNvSpPr/>
          <p:nvPr/>
        </p:nvSpPr>
        <p:spPr>
          <a:xfrm>
            <a:off x="502920" y="2103120"/>
            <a:ext cx="10607040" cy="512064"/>
          </a:xfrm>
          <a:prstGeom prst="roundRect">
            <a:avLst>
              <a:gd name="adj" fmla="val 10714"/>
            </a:avLst>
          </a:prstGeom>
          <a:solidFill>
            <a:srgbClr val="0B1F3A"/>
          </a:solidFill>
          <a:ln/>
        </p:spPr>
      </p:sp>
      <p:sp>
        <p:nvSpPr>
          <p:cNvPr id="6" name="Text 4"/>
          <p:cNvSpPr/>
          <p:nvPr/>
        </p:nvSpPr>
        <p:spPr>
          <a:xfrm>
            <a:off x="502920" y="2103120"/>
            <a:ext cx="3931920" cy="512064"/>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Feature pair</a:t>
            </a:r>
            <a:endParaRPr lang="en-US" sz="1200" dirty="0"/>
          </a:p>
        </p:txBody>
      </p:sp>
      <p:sp>
        <p:nvSpPr>
          <p:cNvPr id="7" name="Text 5"/>
          <p:cNvSpPr/>
          <p:nvPr/>
        </p:nvSpPr>
        <p:spPr>
          <a:xfrm>
            <a:off x="4434840" y="2103120"/>
            <a:ext cx="914400"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t>
            </a:r>
            <a:endParaRPr lang="en-US" sz="1200" dirty="0"/>
          </a:p>
        </p:txBody>
      </p:sp>
      <p:sp>
        <p:nvSpPr>
          <p:cNvPr id="8" name="Text 6"/>
          <p:cNvSpPr/>
          <p:nvPr/>
        </p:nvSpPr>
        <p:spPr>
          <a:xfrm>
            <a:off x="5349240" y="2103120"/>
            <a:ext cx="5760720" cy="51206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Why they overlap</a:t>
            </a:r>
            <a:endParaRPr lang="en-US" sz="1200" dirty="0"/>
          </a:p>
        </p:txBody>
      </p:sp>
      <p:sp>
        <p:nvSpPr>
          <p:cNvPr id="9" name="Shape 7"/>
          <p:cNvSpPr/>
          <p:nvPr/>
        </p:nvSpPr>
        <p:spPr>
          <a:xfrm>
            <a:off x="502920" y="2615184"/>
            <a:ext cx="10607040" cy="512064"/>
          </a:xfrm>
          <a:prstGeom prst="rect">
            <a:avLst/>
          </a:prstGeom>
          <a:solidFill>
            <a:srgbClr val="FFFFFF"/>
          </a:solidFill>
          <a:ln w="9525">
            <a:solidFill>
              <a:srgbClr val="E4E9F1"/>
            </a:solidFill>
            <a:prstDash val="solid"/>
          </a:ln>
        </p:spPr>
      </p:sp>
      <p:sp>
        <p:nvSpPr>
          <p:cNvPr id="10" name="Text 8"/>
          <p:cNvSpPr/>
          <p:nvPr/>
        </p:nvSpPr>
        <p:spPr>
          <a:xfrm>
            <a:off x="502920" y="2615184"/>
            <a:ext cx="3931920" cy="512064"/>
          </a:xfrm>
          <a:prstGeom prst="rect">
            <a:avLst/>
          </a:prstGeom>
          <a:noFill/>
          <a:ln/>
        </p:spPr>
        <p:txBody>
          <a:bodyPr wrap="square" lIns="0" tIns="177800" rIns="0" bIns="0" rtlCol="0" anchor="ctr"/>
          <a:lstStyle/>
          <a:p>
            <a:pPr marL="0" indent="0" algn="l">
              <a:buNone/>
            </a:pPr>
            <a:r>
              <a:rPr lang="en-US" sz="1000" b="1" dirty="0">
                <a:solidFill>
                  <a:srgbClr val="1E293B"/>
                </a:solidFill>
                <a:latin typeface="Calibri" pitchFamily="34" charset="0"/>
                <a:ea typeface="Calibri" pitchFamily="34" charset="-122"/>
                <a:cs typeface="Calibri" pitchFamily="34" charset="-120"/>
              </a:rPr>
              <a:t> </a:t>
            </a:r>
            <a:r>
              <a:rPr lang="en-US" sz="1000" b="1" dirty="0" err="1">
                <a:solidFill>
                  <a:srgbClr val="1E293B"/>
                </a:solidFill>
                <a:latin typeface="Calibri" pitchFamily="34" charset="0"/>
                <a:ea typeface="Calibri" pitchFamily="34" charset="-122"/>
                <a:cs typeface="Calibri" pitchFamily="34" charset="-120"/>
              </a:rPr>
              <a:t>spectral_energy</a:t>
            </a:r>
            <a:r>
              <a:rPr lang="en-US" sz="1000" b="1" dirty="0">
                <a:solidFill>
                  <a:srgbClr val="1E293B"/>
                </a:solidFill>
                <a:latin typeface="Calibri" pitchFamily="34" charset="0"/>
                <a:ea typeface="Calibri" pitchFamily="34" charset="-122"/>
                <a:cs typeface="Calibri" pitchFamily="34" charset="-120"/>
              </a:rPr>
              <a:t> &lt;-&gt; energy</a:t>
            </a:r>
            <a:endParaRPr lang="en-US" sz="1000" dirty="0"/>
          </a:p>
        </p:txBody>
      </p:sp>
      <p:sp>
        <p:nvSpPr>
          <p:cNvPr id="11" name="Text 9"/>
          <p:cNvSpPr/>
          <p:nvPr/>
        </p:nvSpPr>
        <p:spPr>
          <a:xfrm>
            <a:off x="4434840" y="2615184"/>
            <a:ext cx="91440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0.997</a:t>
            </a:r>
            <a:endParaRPr lang="en-US" sz="1000" dirty="0"/>
          </a:p>
        </p:txBody>
      </p:sp>
      <p:sp>
        <p:nvSpPr>
          <p:cNvPr id="12" name="Text 10"/>
          <p:cNvSpPr/>
          <p:nvPr/>
        </p:nvSpPr>
        <p:spPr>
          <a:xfrm>
            <a:off x="5349240" y="2615184"/>
            <a:ext cx="576072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Parseval's theorem: energy computed from the FFT and from raw samples is almost the same quantity, two ways</a:t>
            </a:r>
            <a:endParaRPr lang="en-US" sz="1000" dirty="0"/>
          </a:p>
        </p:txBody>
      </p:sp>
      <p:sp>
        <p:nvSpPr>
          <p:cNvPr id="13" name="Shape 11"/>
          <p:cNvSpPr/>
          <p:nvPr/>
        </p:nvSpPr>
        <p:spPr>
          <a:xfrm>
            <a:off x="502920" y="3127248"/>
            <a:ext cx="10607040" cy="512064"/>
          </a:xfrm>
          <a:prstGeom prst="rect">
            <a:avLst/>
          </a:prstGeom>
          <a:solidFill>
            <a:srgbClr val="EEF2F7"/>
          </a:solidFill>
          <a:ln w="9525">
            <a:solidFill>
              <a:srgbClr val="E4E9F1"/>
            </a:solidFill>
            <a:prstDash val="solid"/>
          </a:ln>
        </p:spPr>
      </p:sp>
      <p:sp>
        <p:nvSpPr>
          <p:cNvPr id="14" name="Text 12"/>
          <p:cNvSpPr/>
          <p:nvPr/>
        </p:nvSpPr>
        <p:spPr>
          <a:xfrm>
            <a:off x="502920" y="3127248"/>
            <a:ext cx="3931920" cy="512064"/>
          </a:xfrm>
          <a:prstGeom prst="rect">
            <a:avLst/>
          </a:prstGeom>
          <a:noFill/>
          <a:ln/>
        </p:spPr>
        <p:txBody>
          <a:bodyPr wrap="square" lIns="0" tIns="177800" rIns="0" bIns="0" rtlCol="0" anchor="ctr"/>
          <a:lstStyle/>
          <a:p>
            <a:pPr marL="0" indent="0" algn="l">
              <a:buNone/>
            </a:pPr>
            <a:r>
              <a:rPr lang="en-US" sz="1000" b="1" dirty="0">
                <a:solidFill>
                  <a:srgbClr val="1E293B"/>
                </a:solidFill>
                <a:latin typeface="Calibri" pitchFamily="34" charset="0"/>
                <a:ea typeface="Calibri" pitchFamily="34" charset="-122"/>
                <a:cs typeface="Calibri" pitchFamily="34" charset="-120"/>
              </a:rPr>
              <a:t> </a:t>
            </a:r>
            <a:r>
              <a:rPr lang="en-US" sz="1000" b="1" dirty="0" err="1">
                <a:solidFill>
                  <a:srgbClr val="1E293B"/>
                </a:solidFill>
                <a:latin typeface="Calibri" pitchFamily="34" charset="0"/>
                <a:ea typeface="Calibri" pitchFamily="34" charset="-122"/>
                <a:cs typeface="Calibri" pitchFamily="34" charset="-120"/>
              </a:rPr>
              <a:t>rms_value</a:t>
            </a:r>
            <a:r>
              <a:rPr lang="en-US" sz="1000" b="1" dirty="0">
                <a:solidFill>
                  <a:srgbClr val="1E293B"/>
                </a:solidFill>
                <a:latin typeface="Calibri" pitchFamily="34" charset="0"/>
                <a:ea typeface="Calibri" pitchFamily="34" charset="-122"/>
                <a:cs typeface="Calibri" pitchFamily="34" charset="-120"/>
              </a:rPr>
              <a:t> &lt;-&gt; mean_voltage</a:t>
            </a:r>
            <a:endParaRPr lang="en-US" sz="1000" dirty="0"/>
          </a:p>
        </p:txBody>
      </p:sp>
      <p:sp>
        <p:nvSpPr>
          <p:cNvPr id="15" name="Text 13"/>
          <p:cNvSpPr/>
          <p:nvPr/>
        </p:nvSpPr>
        <p:spPr>
          <a:xfrm>
            <a:off x="4434840" y="3127248"/>
            <a:ext cx="91440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0.995</a:t>
            </a:r>
            <a:endParaRPr lang="en-US" sz="1000" dirty="0"/>
          </a:p>
        </p:txBody>
      </p:sp>
      <p:sp>
        <p:nvSpPr>
          <p:cNvPr id="16" name="Text 14"/>
          <p:cNvSpPr/>
          <p:nvPr/>
        </p:nvSpPr>
        <p:spPr>
          <a:xfrm>
            <a:off x="5349240" y="3127248"/>
            <a:ext cx="576072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A step response stays mostly positive, so RMS and mean track almost identically</a:t>
            </a:r>
            <a:endParaRPr lang="en-US" sz="1000" dirty="0"/>
          </a:p>
        </p:txBody>
      </p:sp>
      <p:sp>
        <p:nvSpPr>
          <p:cNvPr id="17" name="Shape 15"/>
          <p:cNvSpPr/>
          <p:nvPr/>
        </p:nvSpPr>
        <p:spPr>
          <a:xfrm>
            <a:off x="502920" y="3639312"/>
            <a:ext cx="10607040" cy="512064"/>
          </a:xfrm>
          <a:prstGeom prst="rect">
            <a:avLst/>
          </a:prstGeom>
          <a:solidFill>
            <a:srgbClr val="FFFFFF"/>
          </a:solidFill>
          <a:ln w="9525">
            <a:solidFill>
              <a:srgbClr val="E4E9F1"/>
            </a:solidFill>
            <a:prstDash val="solid"/>
          </a:ln>
        </p:spPr>
      </p:sp>
      <p:sp>
        <p:nvSpPr>
          <p:cNvPr id="18" name="Text 16"/>
          <p:cNvSpPr/>
          <p:nvPr/>
        </p:nvSpPr>
        <p:spPr>
          <a:xfrm>
            <a:off x="502920" y="3639312"/>
            <a:ext cx="3931920" cy="512064"/>
          </a:xfrm>
          <a:prstGeom prst="rect">
            <a:avLst/>
          </a:prstGeom>
          <a:noFill/>
          <a:ln/>
        </p:spPr>
        <p:txBody>
          <a:bodyPr wrap="square" lIns="0" tIns="177800" rIns="0" bIns="0" rtlCol="0" anchor="ctr"/>
          <a:lstStyle/>
          <a:p>
            <a:pPr marL="0" indent="0" algn="l">
              <a:buNone/>
            </a:pPr>
            <a:r>
              <a:rPr lang="en-US" sz="1000" b="1" dirty="0">
                <a:solidFill>
                  <a:srgbClr val="1E293B"/>
                </a:solidFill>
                <a:latin typeface="Calibri" pitchFamily="34" charset="0"/>
                <a:ea typeface="Calibri" pitchFamily="34" charset="-122"/>
                <a:cs typeface="Calibri" pitchFamily="34" charset="-120"/>
              </a:rPr>
              <a:t> </a:t>
            </a:r>
            <a:r>
              <a:rPr lang="en-US" sz="1000" b="1" dirty="0" err="1">
                <a:solidFill>
                  <a:srgbClr val="1E293B"/>
                </a:solidFill>
                <a:latin typeface="Calibri" pitchFamily="34" charset="0"/>
                <a:ea typeface="Calibri" pitchFamily="34" charset="-122"/>
                <a:cs typeface="Calibri" pitchFamily="34" charset="-120"/>
              </a:rPr>
              <a:t>spectral_centroid</a:t>
            </a:r>
            <a:r>
              <a:rPr lang="en-US" sz="1000" b="1" dirty="0">
                <a:solidFill>
                  <a:srgbClr val="1E293B"/>
                </a:solidFill>
                <a:latin typeface="Calibri" pitchFamily="34" charset="0"/>
                <a:ea typeface="Calibri" pitchFamily="34" charset="-122"/>
                <a:cs typeface="Calibri" pitchFamily="34" charset="-120"/>
              </a:rPr>
              <a:t> &lt;-&gt; bandwidth</a:t>
            </a:r>
            <a:endParaRPr lang="en-US" sz="1000" dirty="0"/>
          </a:p>
        </p:txBody>
      </p:sp>
      <p:sp>
        <p:nvSpPr>
          <p:cNvPr id="19" name="Text 17"/>
          <p:cNvSpPr/>
          <p:nvPr/>
        </p:nvSpPr>
        <p:spPr>
          <a:xfrm>
            <a:off x="4434840" y="3639312"/>
            <a:ext cx="91440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0.994</a:t>
            </a:r>
            <a:endParaRPr lang="en-US" sz="1000" dirty="0"/>
          </a:p>
        </p:txBody>
      </p:sp>
      <p:sp>
        <p:nvSpPr>
          <p:cNvPr id="20" name="Text 18"/>
          <p:cNvSpPr/>
          <p:nvPr/>
        </p:nvSpPr>
        <p:spPr>
          <a:xfrm>
            <a:off x="5349240" y="3639312"/>
            <a:ext cx="576072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Both are derived from the same magnitude-spectrum weighting</a:t>
            </a:r>
            <a:endParaRPr lang="en-US" sz="1000" dirty="0"/>
          </a:p>
        </p:txBody>
      </p:sp>
      <p:sp>
        <p:nvSpPr>
          <p:cNvPr id="21" name="Shape 19"/>
          <p:cNvSpPr/>
          <p:nvPr/>
        </p:nvSpPr>
        <p:spPr>
          <a:xfrm>
            <a:off x="502920" y="4151376"/>
            <a:ext cx="10607040" cy="512064"/>
          </a:xfrm>
          <a:prstGeom prst="rect">
            <a:avLst/>
          </a:prstGeom>
          <a:solidFill>
            <a:srgbClr val="EEF2F7"/>
          </a:solidFill>
          <a:ln w="9525">
            <a:solidFill>
              <a:srgbClr val="E4E9F1"/>
            </a:solidFill>
            <a:prstDash val="solid"/>
          </a:ln>
        </p:spPr>
      </p:sp>
      <p:sp>
        <p:nvSpPr>
          <p:cNvPr id="22" name="Text 20"/>
          <p:cNvSpPr/>
          <p:nvPr/>
        </p:nvSpPr>
        <p:spPr>
          <a:xfrm>
            <a:off x="502920" y="4151376"/>
            <a:ext cx="3931920" cy="512064"/>
          </a:xfrm>
          <a:prstGeom prst="rect">
            <a:avLst/>
          </a:prstGeom>
          <a:noFill/>
          <a:ln/>
        </p:spPr>
        <p:txBody>
          <a:bodyPr wrap="square" lIns="0" tIns="177800" rIns="0" bIns="0" rtlCol="0" anchor="ctr"/>
          <a:lstStyle/>
          <a:p>
            <a:pPr marL="0" indent="0" algn="l">
              <a:buNone/>
            </a:pPr>
            <a:r>
              <a:rPr lang="en-US" sz="1000" b="1" dirty="0">
                <a:solidFill>
                  <a:srgbClr val="1E293B"/>
                </a:solidFill>
                <a:latin typeface="Calibri" pitchFamily="34" charset="0"/>
                <a:ea typeface="Calibri" pitchFamily="34" charset="-122"/>
                <a:cs typeface="Calibri" pitchFamily="34" charset="-120"/>
              </a:rPr>
              <a:t> </a:t>
            </a:r>
            <a:r>
              <a:rPr lang="en-US" sz="1000" b="1" dirty="0" err="1">
                <a:solidFill>
                  <a:srgbClr val="1E293B"/>
                </a:solidFill>
                <a:latin typeface="Calibri" pitchFamily="34" charset="0"/>
                <a:ea typeface="Calibri" pitchFamily="34" charset="-122"/>
                <a:cs typeface="Calibri" pitchFamily="34" charset="-120"/>
              </a:rPr>
              <a:t>peak_voltage</a:t>
            </a:r>
            <a:r>
              <a:rPr lang="en-US" sz="1000" b="1" dirty="0">
                <a:solidFill>
                  <a:srgbClr val="1E293B"/>
                </a:solidFill>
                <a:latin typeface="Calibri" pitchFamily="34" charset="0"/>
                <a:ea typeface="Calibri" pitchFamily="34" charset="-122"/>
                <a:cs typeface="Calibri" pitchFamily="34" charset="-120"/>
              </a:rPr>
              <a:t> &lt;-&gt; dc_level</a:t>
            </a:r>
            <a:endParaRPr lang="en-US" sz="1000" dirty="0"/>
          </a:p>
        </p:txBody>
      </p:sp>
      <p:sp>
        <p:nvSpPr>
          <p:cNvPr id="23" name="Text 21"/>
          <p:cNvSpPr/>
          <p:nvPr/>
        </p:nvSpPr>
        <p:spPr>
          <a:xfrm>
            <a:off x="4434840" y="4151376"/>
            <a:ext cx="91440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0.965</a:t>
            </a:r>
            <a:endParaRPr lang="en-US" sz="1000" dirty="0"/>
          </a:p>
        </p:txBody>
      </p:sp>
      <p:sp>
        <p:nvSpPr>
          <p:cNvPr id="24" name="Text 22"/>
          <p:cNvSpPr/>
          <p:nvPr/>
        </p:nvSpPr>
        <p:spPr>
          <a:xfrm>
            <a:off x="5349240" y="4151376"/>
            <a:ext cx="5760720" cy="512064"/>
          </a:xfrm>
          <a:prstGeom prst="rect">
            <a:avLst/>
          </a:prstGeom>
          <a:noFill/>
          <a:ln/>
        </p:spPr>
        <p:txBody>
          <a:bodyPr wrap="square" lIns="0" tIns="0" rIns="0" bIns="0" rtlCol="0" anchor="ctr"/>
          <a:lstStyle/>
          <a:p>
            <a:pPr marL="0" indent="0" algn="ctr">
              <a:buNone/>
            </a:pPr>
            <a:r>
              <a:rPr lang="en-US" sz="1000" dirty="0">
                <a:solidFill>
                  <a:srgbClr val="1E293B"/>
                </a:solidFill>
                <a:latin typeface="Calibri" pitchFamily="34" charset="0"/>
                <a:ea typeface="Calibri" pitchFamily="34" charset="-122"/>
                <a:cs typeface="Calibri" pitchFamily="34" charset="-120"/>
              </a:rPr>
              <a:t>For a settled step response, the final steady value sits close to the peak</a:t>
            </a:r>
            <a:endParaRPr lang="en-US" sz="1000" dirty="0"/>
          </a:p>
        </p:txBody>
      </p:sp>
      <p:sp>
        <p:nvSpPr>
          <p:cNvPr id="25" name="Shape 23"/>
          <p:cNvSpPr/>
          <p:nvPr/>
        </p:nvSpPr>
        <p:spPr>
          <a:xfrm>
            <a:off x="502920" y="4754880"/>
            <a:ext cx="10607040" cy="1481328"/>
          </a:xfrm>
          <a:prstGeom prst="roundRect">
            <a:avLst>
              <a:gd name="adj" fmla="val 5556"/>
            </a:avLst>
          </a:prstGeom>
          <a:solidFill>
            <a:srgbClr val="EEF2F7"/>
          </a:solidFill>
          <a:ln w="12700">
            <a:solidFill>
              <a:srgbClr val="E4E9F1"/>
            </a:solidFill>
            <a:prstDash val="solid"/>
          </a:ln>
        </p:spPr>
      </p:sp>
      <p:sp>
        <p:nvSpPr>
          <p:cNvPr id="26" name="Text 24"/>
          <p:cNvSpPr/>
          <p:nvPr/>
        </p:nvSpPr>
        <p:spPr>
          <a:xfrm>
            <a:off x="777240" y="4846320"/>
            <a:ext cx="10058400" cy="1298448"/>
          </a:xfrm>
          <a:prstGeom prst="rect">
            <a:avLst/>
          </a:prstGeom>
          <a:noFill/>
          <a:ln/>
        </p:spPr>
        <p:txBody>
          <a:bodyPr wrap="square" lIns="0" tIns="0" rIns="0" bIns="0" rtlCol="0" anchor="t"/>
          <a:lstStyle/>
          <a:p>
            <a:pPr marL="0" indent="0">
              <a:lnSpc>
                <a:spcPct val="120000"/>
              </a:lnSpc>
              <a:buNone/>
            </a:pPr>
            <a:r>
              <a:rPr lang="en-US" sz="1030" b="1" dirty="0">
                <a:solidFill>
                  <a:srgbClr val="0B1F3A"/>
                </a:solidFill>
                <a:latin typeface="Calibri" pitchFamily="34" charset="0"/>
                <a:ea typeface="Calibri" pitchFamily="34" charset="-122"/>
                <a:cs typeface="Calibri" pitchFamily="34" charset="-120"/>
              </a:rPr>
              <a:t>So does pruning actually help? Tested it. </a:t>
            </a:r>
            <a:r>
              <a:rPr lang="en-US" sz="1030" dirty="0">
                <a:solidFill>
                  <a:srgbClr val="64748B"/>
                </a:solidFill>
                <a:latin typeface="Calibri" pitchFamily="34" charset="0"/>
                <a:ea typeface="Calibri" pitchFamily="34" charset="-122"/>
                <a:cs typeface="Calibri" pitchFamily="34" charset="-120"/>
              </a:rPr>
              <a:t>Dropping the 4 redundant features above (17 -&gt; 13) and re-running the same 15-split evaluation: 77.65% mean accuracy vs. 77.48% for all 17 — a 0.17-point difference that is </a:t>
            </a:r>
            <a:r>
              <a:rPr lang="en-US" sz="1030" b="1" i="1" dirty="0">
                <a:solidFill>
                  <a:srgbClr val="64748B"/>
                </a:solidFill>
                <a:latin typeface="Calibri" pitchFamily="34" charset="0"/>
                <a:ea typeface="Calibri" pitchFamily="34" charset="-122"/>
                <a:cs typeface="Calibri" pitchFamily="34" charset="-120"/>
              </a:rPr>
              <a:t>not statistically significant</a:t>
            </a:r>
            <a:r>
              <a:rPr lang="en-US" sz="1030" dirty="0">
                <a:solidFill>
                  <a:srgbClr val="64748B"/>
                </a:solidFill>
                <a:latin typeface="Calibri" pitchFamily="34" charset="0"/>
                <a:ea typeface="Calibri" pitchFamily="34" charset="-122"/>
                <a:cs typeface="Calibri" pitchFamily="34" charset="-120"/>
              </a:rPr>
              <a:t> (paired t-test, p = 0.136). </a:t>
            </a:r>
            <a:r>
              <a:rPr lang="en-US" sz="1030" b="1" dirty="0">
                <a:solidFill>
                  <a:srgbClr val="0B1F3A"/>
                </a:solidFill>
                <a:latin typeface="Calibri" pitchFamily="34" charset="0"/>
                <a:ea typeface="Calibri" pitchFamily="34" charset="-122"/>
                <a:cs typeface="Calibri" pitchFamily="34" charset="-120"/>
              </a:rPr>
              <a:t>Conclusion: </a:t>
            </a:r>
            <a:r>
              <a:rPr lang="en-US" sz="1030" dirty="0">
                <a:solidFill>
                  <a:srgbClr val="64748B"/>
                </a:solidFill>
                <a:latin typeface="Calibri" pitchFamily="34" charset="0"/>
                <a:ea typeface="Calibri" pitchFamily="34" charset="-122"/>
                <a:cs typeface="Calibri" pitchFamily="34" charset="-120"/>
              </a:rPr>
              <a:t>the redundancy is real but harmless — the RBF kernel simply doesn't get confused by it. Keeping all 17 is a defensible interpretability choice, not a hidden flaw.</a:t>
            </a:r>
            <a:endParaRPr lang="en-US" sz="103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Feature Scaling Matters</a:t>
            </a:r>
            <a:endParaRPr lang="en-US" sz="3000" dirty="0"/>
          </a:p>
        </p:txBody>
      </p:sp>
      <p:sp>
        <p:nvSpPr>
          <p:cNvPr id="4" name="Text 2"/>
          <p:cNvSpPr/>
          <p:nvPr/>
        </p:nvSpPr>
        <p:spPr>
          <a:xfrm>
            <a:off x="502920" y="1783080"/>
            <a:ext cx="10607040" cy="960120"/>
          </a:xfrm>
          <a:prstGeom prst="rect">
            <a:avLst/>
          </a:prstGeom>
          <a:noFill/>
          <a:ln/>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The 17 features live on wildly different scales — </a:t>
            </a:r>
            <a:r>
              <a:rPr lang="en-US" sz="1350" i="1" dirty="0">
                <a:solidFill>
                  <a:srgbClr val="1E293B"/>
                </a:solidFill>
                <a:latin typeface="Calibri" pitchFamily="34" charset="0"/>
                <a:ea typeface="Calibri" pitchFamily="34" charset="-122"/>
                <a:cs typeface="Calibri" pitchFamily="34" charset="-120"/>
              </a:rPr>
              <a:t>spectral_energy can be in the thousands while crest_factor is close to 1.</a:t>
            </a:r>
            <a:r>
              <a:rPr lang="en-US" sz="1350" dirty="0">
                <a:solidFill>
                  <a:srgbClr val="1E293B"/>
                </a:solidFill>
                <a:latin typeface="Calibri" pitchFamily="34" charset="0"/>
                <a:ea typeface="Calibri" pitchFamily="34" charset="-122"/>
                <a:cs typeface="Calibri" pitchFamily="34" charset="-120"/>
              </a:rPr>
              <a:t> An SVM's distance-based math would let large-scale features silently dominate, so every feature is standardized before training:</a:t>
            </a:r>
            <a:endParaRPr lang="en-US" sz="1350" dirty="0"/>
          </a:p>
        </p:txBody>
      </p:sp>
      <p:sp>
        <p:nvSpPr>
          <p:cNvPr id="5" name="Shape 3"/>
          <p:cNvSpPr/>
          <p:nvPr/>
        </p:nvSpPr>
        <p:spPr>
          <a:xfrm>
            <a:off x="502920" y="2880360"/>
            <a:ext cx="10607040" cy="1051560"/>
          </a:xfrm>
          <a:prstGeom prst="roundRect">
            <a:avLst>
              <a:gd name="adj" fmla="val 6957"/>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3017520"/>
            <a:ext cx="10058400" cy="777240"/>
          </a:xfrm>
          <a:prstGeom prst="rect">
            <a:avLst/>
          </a:prstGeom>
          <a:noFill/>
          <a:ln/>
        </p:spPr>
        <p:txBody>
          <a:bodyPr wrap="square" lIns="0" tIns="0" rIns="0" bIns="0" rtlCol="0" anchor="ctr"/>
          <a:lstStyle/>
          <a:p>
            <a:pPr marL="0" indent="0" algn="l">
              <a:lnSpc>
                <a:spcPct val="140000"/>
              </a:lnSpc>
              <a:buNone/>
            </a:pPr>
            <a:r>
              <a:rPr lang="en-US" sz="1500" dirty="0">
                <a:solidFill>
                  <a:srgbClr val="E7ECF4"/>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7" name="Text 5"/>
          <p:cNvSpPr/>
          <p:nvPr/>
        </p:nvSpPr>
        <p:spPr>
          <a:xfrm>
            <a:off x="502920" y="4114800"/>
            <a:ext cx="10607040" cy="822960"/>
          </a:xfrm>
          <a:prstGeom prst="rect">
            <a:avLst/>
          </a:prstGeom>
          <a:noFill/>
          <a:ln/>
        </p:spPr>
        <p:txBody>
          <a:bodyPr wrap="square" lIns="0" tIns="0" rIns="0" bIns="0" rtlCol="0" anchor="ctr"/>
          <a:lstStyle/>
          <a:p>
            <a:pPr marL="0" indent="0">
              <a:lnSpc>
                <a:spcPct val="130000"/>
              </a:lnSpc>
              <a:buNone/>
            </a:pPr>
            <a:r>
              <a:rPr lang="en-US" sz="1250" b="1" dirty="0">
                <a:solidFill>
                  <a:srgbClr val="0B1F3A"/>
                </a:solidFill>
                <a:latin typeface="Calibri" pitchFamily="34" charset="0"/>
                <a:ea typeface="Calibri" pitchFamily="34" charset="-122"/>
                <a:cs typeface="Calibri" pitchFamily="34" charset="-120"/>
              </a:rPr>
              <a:t>Critically: </a:t>
            </a:r>
            <a:r>
              <a:rPr lang="en-US" sz="1250" dirty="0">
                <a:solidFill>
                  <a:srgbClr val="64748B"/>
                </a:solidFill>
                <a:latin typeface="Calibri" pitchFamily="34" charset="0"/>
                <a:ea typeface="Calibri" pitchFamily="34" charset="-122"/>
                <a:cs typeface="Calibri"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The Transformed Dataset: features_v2.csv</a:t>
            </a:r>
            <a:endParaRPr lang="en-US" sz="3000" dirty="0"/>
          </a:p>
        </p:txBody>
      </p:sp>
      <p:sp>
        <p:nvSpPr>
          <p:cNvPr id="4" name="Text 2"/>
          <p:cNvSpPr/>
          <p:nvPr/>
        </p:nvSpPr>
        <p:spPr>
          <a:xfrm>
            <a:off x="502920" y="1691640"/>
            <a:ext cx="10607040" cy="685800"/>
          </a:xfrm>
          <a:prstGeom prst="rect">
            <a:avLst/>
          </a:prstGeom>
          <a:noFill/>
          <a:ln/>
        </p:spPr>
        <p:txBody>
          <a:bodyPr wrap="square" lIns="0" tIns="0" rIns="0" bIns="0" rtlCol="0" anchor="ctr"/>
          <a:lstStyle/>
          <a:p>
            <a:pPr marL="0" indent="0">
              <a:lnSpc>
                <a:spcPct val="128000"/>
              </a:lnSpc>
              <a:buNone/>
            </a:pPr>
            <a:r>
              <a:rPr lang="en-US" sz="1250" b="1" dirty="0">
                <a:solidFill>
                  <a:srgbClr val="0B1F3A"/>
                </a:solidFill>
                <a:latin typeface="Calibri" pitchFamily="34" charset="0"/>
                <a:ea typeface="Calibri" pitchFamily="34" charset="-122"/>
                <a:cs typeface="Calibri" pitchFamily="34" charset="-120"/>
              </a:rPr>
              <a:t>This is the file the SVM actually trains on. </a:t>
            </a:r>
            <a:r>
              <a:rPr lang="en-US" sz="1250" dirty="0">
                <a:solidFill>
                  <a:srgbClr val="1E293B"/>
                </a:solidFill>
                <a:latin typeface="Calibri" pitchFamily="34" charset="0"/>
                <a:ea typeface="Calibri" pitchFamily="34" charset="-122"/>
                <a:cs typeface="Calibri"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5" name="Shape 3"/>
          <p:cNvSpPr/>
          <p:nvPr/>
        </p:nvSpPr>
        <p:spPr>
          <a:xfrm>
            <a:off x="502920" y="2423160"/>
            <a:ext cx="10607040" cy="512064"/>
          </a:xfrm>
          <a:prstGeom prst="roundRect">
            <a:avLst>
              <a:gd name="adj" fmla="val 10714"/>
            </a:avLst>
          </a:prstGeom>
          <a:solidFill>
            <a:srgbClr val="0B1F3A"/>
          </a:solidFill>
          <a:ln/>
        </p:spPr>
      </p:sp>
      <p:sp>
        <p:nvSpPr>
          <p:cNvPr id="6" name="Text 4"/>
          <p:cNvSpPr/>
          <p:nvPr/>
        </p:nvSpPr>
        <p:spPr>
          <a:xfrm>
            <a:off x="502920" y="2423160"/>
            <a:ext cx="1508760" cy="512064"/>
          </a:xfrm>
          <a:prstGeom prst="rect">
            <a:avLst/>
          </a:prstGeom>
          <a:noFill/>
          <a:ln/>
        </p:spPr>
        <p:txBody>
          <a:bodyPr wrap="square" lIns="0" tIns="177800" rIns="0" bIns="0" rtlCol="0" anchor="ctr"/>
          <a:lstStyle/>
          <a:p>
            <a:pPr marL="0" indent="0" algn="l">
              <a:buNone/>
            </a:pPr>
            <a:r>
              <a:rPr lang="en-US" sz="1020" b="1" dirty="0">
                <a:solidFill>
                  <a:srgbClr val="FFFFFF"/>
                </a:solidFill>
                <a:latin typeface="Calibri" pitchFamily="34" charset="0"/>
                <a:ea typeface="Calibri" pitchFamily="34" charset="-122"/>
                <a:cs typeface="Calibri" pitchFamily="34" charset="-120"/>
              </a:rPr>
              <a:t>circuit</a:t>
            </a:r>
            <a:endParaRPr lang="en-US" sz="1020" dirty="0"/>
          </a:p>
        </p:txBody>
      </p:sp>
      <p:sp>
        <p:nvSpPr>
          <p:cNvPr id="7" name="Text 5"/>
          <p:cNvSpPr/>
          <p:nvPr/>
        </p:nvSpPr>
        <p:spPr>
          <a:xfrm>
            <a:off x="2011680" y="2423160"/>
            <a:ext cx="114300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fault</a:t>
            </a:r>
            <a:endParaRPr lang="en-US" sz="1020" dirty="0"/>
          </a:p>
        </p:txBody>
      </p:sp>
      <p:sp>
        <p:nvSpPr>
          <p:cNvPr id="8" name="Text 6"/>
          <p:cNvSpPr/>
          <p:nvPr/>
        </p:nvSpPr>
        <p:spPr>
          <a:xfrm>
            <a:off x="3154680" y="2423160"/>
            <a:ext cx="109728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f1 peak</a:t>
            </a:r>
            <a:endParaRPr lang="en-US" sz="1020" dirty="0"/>
          </a:p>
        </p:txBody>
      </p:sp>
      <p:sp>
        <p:nvSpPr>
          <p:cNvPr id="9" name="Text 7"/>
          <p:cNvSpPr/>
          <p:nvPr/>
        </p:nvSpPr>
        <p:spPr>
          <a:xfrm>
            <a:off x="4251960" y="2423160"/>
            <a:ext cx="105156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f4 std</a:t>
            </a:r>
            <a:endParaRPr lang="en-US" sz="1020" dirty="0"/>
          </a:p>
        </p:txBody>
      </p:sp>
      <p:sp>
        <p:nvSpPr>
          <p:cNvPr id="10" name="Text 8"/>
          <p:cNvSpPr/>
          <p:nvPr/>
        </p:nvSpPr>
        <p:spPr>
          <a:xfrm>
            <a:off x="5303520" y="2423160"/>
            <a:ext cx="114300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f5 rise_t</a:t>
            </a:r>
            <a:endParaRPr lang="en-US" sz="1020" dirty="0"/>
          </a:p>
        </p:txBody>
      </p:sp>
      <p:sp>
        <p:nvSpPr>
          <p:cNvPr id="11" name="Text 9"/>
          <p:cNvSpPr/>
          <p:nvPr/>
        </p:nvSpPr>
        <p:spPr>
          <a:xfrm>
            <a:off x="6446520" y="2423160"/>
            <a:ext cx="150876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f9 dom.freq</a:t>
            </a:r>
            <a:endParaRPr lang="en-US" sz="1020" dirty="0"/>
          </a:p>
        </p:txBody>
      </p:sp>
      <p:sp>
        <p:nvSpPr>
          <p:cNvPr id="12" name="Text 10"/>
          <p:cNvSpPr/>
          <p:nvPr/>
        </p:nvSpPr>
        <p:spPr>
          <a:xfrm>
            <a:off x="7955280" y="2423160"/>
            <a:ext cx="146304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f13 entropy</a:t>
            </a:r>
            <a:endParaRPr lang="en-US" sz="1020" dirty="0"/>
          </a:p>
        </p:txBody>
      </p:sp>
      <p:sp>
        <p:nvSpPr>
          <p:cNvPr id="13" name="Text 11"/>
          <p:cNvSpPr/>
          <p:nvPr/>
        </p:nvSpPr>
        <p:spPr>
          <a:xfrm>
            <a:off x="9418320" y="2423160"/>
            <a:ext cx="1691640" cy="512064"/>
          </a:xfrm>
          <a:prstGeom prst="rect">
            <a:avLst/>
          </a:prstGeom>
          <a:noFill/>
          <a:ln/>
        </p:spPr>
        <p:txBody>
          <a:bodyPr wrap="square" lIns="0" tIns="0" rIns="0" bIns="0" rtlCol="0" anchor="ctr"/>
          <a:lstStyle/>
          <a:p>
            <a:pPr marL="0" indent="0" algn="ctr">
              <a:buNone/>
            </a:pPr>
            <a:r>
              <a:rPr lang="en-US" sz="1020" b="1" dirty="0">
                <a:solidFill>
                  <a:srgbClr val="FFFFFF"/>
                </a:solidFill>
                <a:latin typeface="Calibri" pitchFamily="34" charset="0"/>
                <a:ea typeface="Calibri" pitchFamily="34" charset="-122"/>
                <a:cs typeface="Calibri" pitchFamily="34" charset="-120"/>
              </a:rPr>
              <a:t>f17 dc_lvl</a:t>
            </a:r>
            <a:endParaRPr lang="en-US" sz="1020" dirty="0"/>
          </a:p>
        </p:txBody>
      </p:sp>
      <p:sp>
        <p:nvSpPr>
          <p:cNvPr id="14" name="Shape 12"/>
          <p:cNvSpPr/>
          <p:nvPr/>
        </p:nvSpPr>
        <p:spPr>
          <a:xfrm>
            <a:off x="502920" y="2935224"/>
            <a:ext cx="10607040" cy="512064"/>
          </a:xfrm>
          <a:prstGeom prst="rect">
            <a:avLst/>
          </a:prstGeom>
          <a:solidFill>
            <a:srgbClr val="FFFFFF"/>
          </a:solidFill>
          <a:ln w="9525">
            <a:solidFill>
              <a:srgbClr val="E4E9F1"/>
            </a:solidFill>
            <a:prstDash val="solid"/>
          </a:ln>
        </p:spPr>
      </p:sp>
      <p:sp>
        <p:nvSpPr>
          <p:cNvPr id="15" name="Text 13"/>
          <p:cNvSpPr/>
          <p:nvPr/>
        </p:nvSpPr>
        <p:spPr>
          <a:xfrm>
            <a:off x="502920" y="2935224"/>
            <a:ext cx="1508760" cy="512064"/>
          </a:xfrm>
          <a:prstGeom prst="rect">
            <a:avLst/>
          </a:prstGeom>
          <a:noFill/>
          <a:ln/>
        </p:spPr>
        <p:txBody>
          <a:bodyPr wrap="square" lIns="0" tIns="177800" rIns="0" bIns="0" rtlCol="0" anchor="ctr"/>
          <a:lstStyle/>
          <a:p>
            <a:pPr marL="0" indent="0" algn="l">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16" name="Text 14"/>
          <p:cNvSpPr/>
          <p:nvPr/>
        </p:nvSpPr>
        <p:spPr>
          <a:xfrm>
            <a:off x="2011680" y="2935224"/>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open</a:t>
            </a:r>
            <a:endParaRPr lang="en-US" sz="1020" dirty="0"/>
          </a:p>
        </p:txBody>
      </p:sp>
      <p:sp>
        <p:nvSpPr>
          <p:cNvPr id="17" name="Text 15"/>
          <p:cNvSpPr/>
          <p:nvPr/>
        </p:nvSpPr>
        <p:spPr>
          <a:xfrm>
            <a:off x="3154680" y="2935224"/>
            <a:ext cx="109728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0.047</a:t>
            </a:r>
            <a:endParaRPr lang="en-US" sz="1020" dirty="0"/>
          </a:p>
        </p:txBody>
      </p:sp>
      <p:sp>
        <p:nvSpPr>
          <p:cNvPr id="18" name="Text 16"/>
          <p:cNvSpPr/>
          <p:nvPr/>
        </p:nvSpPr>
        <p:spPr>
          <a:xfrm>
            <a:off x="4251960" y="2935224"/>
            <a:ext cx="10515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0.014</a:t>
            </a:r>
            <a:endParaRPr lang="en-US" sz="1020" dirty="0"/>
          </a:p>
        </p:txBody>
      </p:sp>
      <p:sp>
        <p:nvSpPr>
          <p:cNvPr id="19" name="Text 17"/>
          <p:cNvSpPr/>
          <p:nvPr/>
        </p:nvSpPr>
        <p:spPr>
          <a:xfrm>
            <a:off x="5303520" y="2935224"/>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0.076 s</a:t>
            </a:r>
            <a:endParaRPr lang="en-US" sz="1020" dirty="0"/>
          </a:p>
        </p:txBody>
      </p:sp>
      <p:sp>
        <p:nvSpPr>
          <p:cNvPr id="20" name="Text 18"/>
          <p:cNvSpPr/>
          <p:nvPr/>
        </p:nvSpPr>
        <p:spPr>
          <a:xfrm>
            <a:off x="6446520" y="2935224"/>
            <a:ext cx="15087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21" name="Text 19"/>
          <p:cNvSpPr/>
          <p:nvPr/>
        </p:nvSpPr>
        <p:spPr>
          <a:xfrm>
            <a:off x="7955280" y="2935224"/>
            <a:ext cx="14630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0.926</a:t>
            </a:r>
            <a:endParaRPr lang="en-US" sz="1020" dirty="0"/>
          </a:p>
        </p:txBody>
      </p:sp>
      <p:sp>
        <p:nvSpPr>
          <p:cNvPr id="22" name="Text 20"/>
          <p:cNvSpPr/>
          <p:nvPr/>
        </p:nvSpPr>
        <p:spPr>
          <a:xfrm>
            <a:off x="9418320" y="2935224"/>
            <a:ext cx="16916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0.045</a:t>
            </a:r>
            <a:endParaRPr lang="en-US" sz="1020" dirty="0"/>
          </a:p>
        </p:txBody>
      </p:sp>
      <p:sp>
        <p:nvSpPr>
          <p:cNvPr id="23" name="Shape 21"/>
          <p:cNvSpPr/>
          <p:nvPr/>
        </p:nvSpPr>
        <p:spPr>
          <a:xfrm>
            <a:off x="502920" y="3447288"/>
            <a:ext cx="10607040" cy="512064"/>
          </a:xfrm>
          <a:prstGeom prst="rect">
            <a:avLst/>
          </a:prstGeom>
          <a:solidFill>
            <a:srgbClr val="EEF2F7"/>
          </a:solidFill>
          <a:ln w="9525">
            <a:solidFill>
              <a:srgbClr val="E4E9F1"/>
            </a:solidFill>
            <a:prstDash val="solid"/>
          </a:ln>
        </p:spPr>
      </p:sp>
      <p:sp>
        <p:nvSpPr>
          <p:cNvPr id="24" name="Text 22"/>
          <p:cNvSpPr/>
          <p:nvPr/>
        </p:nvSpPr>
        <p:spPr>
          <a:xfrm>
            <a:off x="502920" y="3447288"/>
            <a:ext cx="1508760" cy="512064"/>
          </a:xfrm>
          <a:prstGeom prst="rect">
            <a:avLst/>
          </a:prstGeom>
          <a:noFill/>
          <a:ln/>
        </p:spPr>
        <p:txBody>
          <a:bodyPr wrap="square" lIns="0" tIns="177800" rIns="0" bIns="0" rtlCol="0" anchor="ctr"/>
          <a:lstStyle/>
          <a:p>
            <a:pPr marL="0" indent="0" algn="l">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25" name="Text 23"/>
          <p:cNvSpPr/>
          <p:nvPr/>
        </p:nvSpPr>
        <p:spPr>
          <a:xfrm>
            <a:off x="2011680" y="3447288"/>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short</a:t>
            </a:r>
            <a:endParaRPr lang="en-US" sz="1020" dirty="0"/>
          </a:p>
        </p:txBody>
      </p:sp>
      <p:sp>
        <p:nvSpPr>
          <p:cNvPr id="26" name="Text 24"/>
          <p:cNvSpPr/>
          <p:nvPr/>
        </p:nvSpPr>
        <p:spPr>
          <a:xfrm>
            <a:off x="3154680" y="3447288"/>
            <a:ext cx="109728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27" name="Text 25"/>
          <p:cNvSpPr/>
          <p:nvPr/>
        </p:nvSpPr>
        <p:spPr>
          <a:xfrm>
            <a:off x="4251960" y="3447288"/>
            <a:ext cx="10515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0.353</a:t>
            </a:r>
            <a:endParaRPr lang="en-US" sz="1020" dirty="0"/>
          </a:p>
        </p:txBody>
      </p:sp>
      <p:sp>
        <p:nvSpPr>
          <p:cNvPr id="28" name="Text 26"/>
          <p:cNvSpPr/>
          <p:nvPr/>
        </p:nvSpPr>
        <p:spPr>
          <a:xfrm>
            <a:off x="5303520" y="3447288"/>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0.000 s</a:t>
            </a:r>
            <a:endParaRPr lang="en-US" sz="1020" dirty="0"/>
          </a:p>
        </p:txBody>
      </p:sp>
      <p:sp>
        <p:nvSpPr>
          <p:cNvPr id="29" name="Text 27"/>
          <p:cNvSpPr/>
          <p:nvPr/>
        </p:nvSpPr>
        <p:spPr>
          <a:xfrm>
            <a:off x="6446520" y="3447288"/>
            <a:ext cx="15087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900.7 Hz</a:t>
            </a:r>
            <a:endParaRPr lang="en-US" sz="1020" dirty="0"/>
          </a:p>
        </p:txBody>
      </p:sp>
      <p:sp>
        <p:nvSpPr>
          <p:cNvPr id="30" name="Text 28"/>
          <p:cNvSpPr/>
          <p:nvPr/>
        </p:nvSpPr>
        <p:spPr>
          <a:xfrm>
            <a:off x="7955280" y="3447288"/>
            <a:ext cx="14630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0.042</a:t>
            </a:r>
            <a:endParaRPr lang="en-US" sz="1020" dirty="0"/>
          </a:p>
        </p:txBody>
      </p:sp>
      <p:sp>
        <p:nvSpPr>
          <p:cNvPr id="31" name="Text 29"/>
          <p:cNvSpPr/>
          <p:nvPr/>
        </p:nvSpPr>
        <p:spPr>
          <a:xfrm>
            <a:off x="9418320" y="3447288"/>
            <a:ext cx="16916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32" name="Shape 30"/>
          <p:cNvSpPr/>
          <p:nvPr/>
        </p:nvSpPr>
        <p:spPr>
          <a:xfrm>
            <a:off x="502920" y="3959352"/>
            <a:ext cx="10607040" cy="512064"/>
          </a:xfrm>
          <a:prstGeom prst="rect">
            <a:avLst/>
          </a:prstGeom>
          <a:solidFill>
            <a:srgbClr val="FFFFFF"/>
          </a:solidFill>
          <a:ln w="9525">
            <a:solidFill>
              <a:srgbClr val="E4E9F1"/>
            </a:solidFill>
            <a:prstDash val="solid"/>
          </a:ln>
        </p:spPr>
      </p:sp>
      <p:sp>
        <p:nvSpPr>
          <p:cNvPr id="33" name="Text 31"/>
          <p:cNvSpPr/>
          <p:nvPr/>
        </p:nvSpPr>
        <p:spPr>
          <a:xfrm>
            <a:off x="502920" y="3959352"/>
            <a:ext cx="1508760" cy="512064"/>
          </a:xfrm>
          <a:prstGeom prst="rect">
            <a:avLst/>
          </a:prstGeom>
          <a:noFill/>
          <a:ln/>
        </p:spPr>
        <p:txBody>
          <a:bodyPr wrap="square" lIns="0" tIns="177800" rIns="0" bIns="0" rtlCol="0" anchor="ctr"/>
          <a:lstStyle/>
          <a:p>
            <a:pPr marL="0" indent="0" algn="l">
              <a:buNone/>
            </a:pPr>
            <a:r>
              <a:rPr lang="en-US" sz="1020" b="1" dirty="0">
                <a:solidFill>
                  <a:srgbClr val="1E293B"/>
                </a:solidFill>
                <a:latin typeface="Calibri" pitchFamily="34" charset="0"/>
                <a:ea typeface="Calibri" pitchFamily="34" charset="-122"/>
                <a:cs typeface="Calibri" pitchFamily="34" charset="-120"/>
              </a:rPr>
              <a:t>RLC</a:t>
            </a:r>
            <a:endParaRPr lang="en-US" sz="1020" dirty="0"/>
          </a:p>
        </p:txBody>
      </p:sp>
      <p:sp>
        <p:nvSpPr>
          <p:cNvPr id="34" name="Text 32"/>
          <p:cNvSpPr/>
          <p:nvPr/>
        </p:nvSpPr>
        <p:spPr>
          <a:xfrm>
            <a:off x="2011680" y="3959352"/>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drift</a:t>
            </a:r>
            <a:endParaRPr lang="en-US" sz="1020" dirty="0"/>
          </a:p>
        </p:txBody>
      </p:sp>
      <p:sp>
        <p:nvSpPr>
          <p:cNvPr id="35" name="Text 33"/>
          <p:cNvSpPr/>
          <p:nvPr/>
        </p:nvSpPr>
        <p:spPr>
          <a:xfrm>
            <a:off x="3154680" y="3959352"/>
            <a:ext cx="109728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8.668</a:t>
            </a:r>
            <a:endParaRPr lang="en-US" sz="1020" dirty="0"/>
          </a:p>
        </p:txBody>
      </p:sp>
      <p:sp>
        <p:nvSpPr>
          <p:cNvPr id="36" name="Text 34"/>
          <p:cNvSpPr/>
          <p:nvPr/>
        </p:nvSpPr>
        <p:spPr>
          <a:xfrm>
            <a:off x="4251960" y="3959352"/>
            <a:ext cx="10515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2.835</a:t>
            </a:r>
            <a:endParaRPr lang="en-US" sz="1020" dirty="0"/>
          </a:p>
        </p:txBody>
      </p:sp>
      <p:sp>
        <p:nvSpPr>
          <p:cNvPr id="37" name="Text 35"/>
          <p:cNvSpPr/>
          <p:nvPr/>
        </p:nvSpPr>
        <p:spPr>
          <a:xfrm>
            <a:off x="5303520" y="3959352"/>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0.062 s</a:t>
            </a:r>
            <a:endParaRPr lang="en-US" sz="1020" dirty="0"/>
          </a:p>
        </p:txBody>
      </p:sp>
      <p:sp>
        <p:nvSpPr>
          <p:cNvPr id="38" name="Text 36"/>
          <p:cNvSpPr/>
          <p:nvPr/>
        </p:nvSpPr>
        <p:spPr>
          <a:xfrm>
            <a:off x="6446520" y="3959352"/>
            <a:ext cx="15087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39" name="Text 37"/>
          <p:cNvSpPr/>
          <p:nvPr/>
        </p:nvSpPr>
        <p:spPr>
          <a:xfrm>
            <a:off x="7955280" y="3959352"/>
            <a:ext cx="14630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1.243</a:t>
            </a:r>
            <a:endParaRPr lang="en-US" sz="1020" dirty="0"/>
          </a:p>
        </p:txBody>
      </p:sp>
      <p:sp>
        <p:nvSpPr>
          <p:cNvPr id="40" name="Text 38"/>
          <p:cNvSpPr/>
          <p:nvPr/>
        </p:nvSpPr>
        <p:spPr>
          <a:xfrm>
            <a:off x="9418320" y="3959352"/>
            <a:ext cx="16916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8.276</a:t>
            </a:r>
            <a:endParaRPr lang="en-US" sz="1020" dirty="0"/>
          </a:p>
        </p:txBody>
      </p:sp>
      <p:sp>
        <p:nvSpPr>
          <p:cNvPr id="41" name="Shape 39"/>
          <p:cNvSpPr/>
          <p:nvPr/>
        </p:nvSpPr>
        <p:spPr>
          <a:xfrm>
            <a:off x="502920" y="4471416"/>
            <a:ext cx="10607040" cy="512064"/>
          </a:xfrm>
          <a:prstGeom prst="rect">
            <a:avLst/>
          </a:prstGeom>
          <a:solidFill>
            <a:srgbClr val="EEF2F7"/>
          </a:solidFill>
          <a:ln w="9525">
            <a:solidFill>
              <a:srgbClr val="E4E9F1"/>
            </a:solidFill>
            <a:prstDash val="solid"/>
          </a:ln>
        </p:spPr>
      </p:sp>
      <p:sp>
        <p:nvSpPr>
          <p:cNvPr id="42" name="Text 40"/>
          <p:cNvSpPr/>
          <p:nvPr/>
        </p:nvSpPr>
        <p:spPr>
          <a:xfrm>
            <a:off x="502920" y="4471416"/>
            <a:ext cx="1508760" cy="512064"/>
          </a:xfrm>
          <a:prstGeom prst="rect">
            <a:avLst/>
          </a:prstGeom>
          <a:noFill/>
          <a:ln/>
        </p:spPr>
        <p:txBody>
          <a:bodyPr wrap="square" lIns="0" tIns="177800" rIns="0" bIns="0" rtlCol="0" anchor="ctr"/>
          <a:lstStyle/>
          <a:p>
            <a:pPr marL="0" indent="0" algn="l">
              <a:buNone/>
            </a:pPr>
            <a:r>
              <a:rPr lang="en-US" sz="1020" b="1" dirty="0">
                <a:solidFill>
                  <a:srgbClr val="1E293B"/>
                </a:solidFill>
                <a:latin typeface="Calibri" pitchFamily="34" charset="0"/>
                <a:ea typeface="Calibri" pitchFamily="34" charset="-122"/>
                <a:cs typeface="Calibri" pitchFamily="34" charset="-120"/>
              </a:rPr>
              <a:t>SALLEN_KEY</a:t>
            </a:r>
            <a:endParaRPr lang="en-US" sz="1020" dirty="0"/>
          </a:p>
        </p:txBody>
      </p:sp>
      <p:sp>
        <p:nvSpPr>
          <p:cNvPr id="43" name="Text 41"/>
          <p:cNvSpPr/>
          <p:nvPr/>
        </p:nvSpPr>
        <p:spPr>
          <a:xfrm>
            <a:off x="2011680" y="4471416"/>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noise</a:t>
            </a:r>
            <a:endParaRPr lang="en-US" sz="1020" dirty="0"/>
          </a:p>
        </p:txBody>
      </p:sp>
      <p:sp>
        <p:nvSpPr>
          <p:cNvPr id="44" name="Text 42"/>
          <p:cNvSpPr/>
          <p:nvPr/>
        </p:nvSpPr>
        <p:spPr>
          <a:xfrm>
            <a:off x="3154680" y="4471416"/>
            <a:ext cx="109728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5.704</a:t>
            </a:r>
            <a:endParaRPr lang="en-US" sz="1020" dirty="0"/>
          </a:p>
        </p:txBody>
      </p:sp>
      <p:sp>
        <p:nvSpPr>
          <p:cNvPr id="45" name="Text 43"/>
          <p:cNvSpPr/>
          <p:nvPr/>
        </p:nvSpPr>
        <p:spPr>
          <a:xfrm>
            <a:off x="4251960" y="4471416"/>
            <a:ext cx="10515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0.446</a:t>
            </a:r>
            <a:endParaRPr lang="en-US" sz="1020" dirty="0"/>
          </a:p>
        </p:txBody>
      </p:sp>
      <p:sp>
        <p:nvSpPr>
          <p:cNvPr id="46" name="Text 44"/>
          <p:cNvSpPr/>
          <p:nvPr/>
        </p:nvSpPr>
        <p:spPr>
          <a:xfrm>
            <a:off x="5303520" y="4471416"/>
            <a:ext cx="114300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0.020 s</a:t>
            </a:r>
            <a:endParaRPr lang="en-US" sz="1020" dirty="0"/>
          </a:p>
        </p:txBody>
      </p:sp>
      <p:sp>
        <p:nvSpPr>
          <p:cNvPr id="47" name="Text 45"/>
          <p:cNvSpPr/>
          <p:nvPr/>
        </p:nvSpPr>
        <p:spPr>
          <a:xfrm>
            <a:off x="6446520" y="4471416"/>
            <a:ext cx="150876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1194.0 Hz</a:t>
            </a:r>
            <a:endParaRPr lang="en-US" sz="1020" dirty="0"/>
          </a:p>
        </p:txBody>
      </p:sp>
      <p:sp>
        <p:nvSpPr>
          <p:cNvPr id="48" name="Text 46"/>
          <p:cNvSpPr/>
          <p:nvPr/>
        </p:nvSpPr>
        <p:spPr>
          <a:xfrm>
            <a:off x="7955280" y="4471416"/>
            <a:ext cx="14630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0.063</a:t>
            </a:r>
            <a:endParaRPr lang="en-US" sz="1020" dirty="0"/>
          </a:p>
        </p:txBody>
      </p:sp>
      <p:sp>
        <p:nvSpPr>
          <p:cNvPr id="49" name="Text 47"/>
          <p:cNvSpPr/>
          <p:nvPr/>
        </p:nvSpPr>
        <p:spPr>
          <a:xfrm>
            <a:off x="9418320" y="4471416"/>
            <a:ext cx="1691640" cy="512064"/>
          </a:xfrm>
          <a:prstGeom prst="rect">
            <a:avLst/>
          </a:prstGeom>
          <a:noFill/>
          <a:ln/>
        </p:spPr>
        <p:txBody>
          <a:bodyPr wrap="square" lIns="0" tIns="0" rIns="0" bIns="0" rtlCol="0" anchor="ctr"/>
          <a:lstStyle/>
          <a:p>
            <a:pPr marL="0" indent="0" algn="ctr">
              <a:buNone/>
            </a:pPr>
            <a:r>
              <a:rPr lang="en-US" sz="1020" dirty="0">
                <a:solidFill>
                  <a:srgbClr val="1E293B"/>
                </a:solidFill>
                <a:latin typeface="Calibri" pitchFamily="34" charset="0"/>
                <a:ea typeface="Calibri" pitchFamily="34" charset="-122"/>
                <a:cs typeface="Calibri" pitchFamily="34" charset="-120"/>
              </a:rPr>
              <a:t>5.064</a:t>
            </a:r>
            <a:endParaRPr lang="en-US" sz="1020" dirty="0"/>
          </a:p>
        </p:txBody>
      </p:sp>
      <p:sp>
        <p:nvSpPr>
          <p:cNvPr id="50" name="Text 48"/>
          <p:cNvSpPr/>
          <p:nvPr/>
        </p:nvSpPr>
        <p:spPr>
          <a:xfrm>
            <a:off x="502920" y="5074920"/>
            <a:ext cx="10607040" cy="1097280"/>
          </a:xfrm>
          <a:prstGeom prst="rect">
            <a:avLst/>
          </a:prstGeom>
          <a:noFill/>
          <a:ln/>
        </p:spPr>
        <p:txBody>
          <a:bodyPr wrap="square" lIns="0" tIns="0" rIns="0" bIns="0" rtlCol="0" anchor="ctr"/>
          <a:lstStyle/>
          <a:p>
            <a:pPr marL="0" indent="0">
              <a:lnSpc>
                <a:spcPct val="125000"/>
              </a:lnSpc>
              <a:buNone/>
            </a:pPr>
            <a:r>
              <a:rPr lang="en-US" sz="1100" dirty="0">
                <a:solidFill>
                  <a:srgbClr val="64748B"/>
                </a:solidFill>
                <a:latin typeface="Calibri" pitchFamily="34" charset="0"/>
                <a:ea typeface="Calibri" pitchFamily="34" charset="-122"/>
                <a:cs typeface="Calibri" pitchFamily="34" charset="-120"/>
              </a:rPr>
              <a:t>1,019 rows x 20 columns (sample_id + circuit + fault + 17 features) — a 10x reduction from 204 columns, with each number chosen to carry physical meaning rather than just compressing data blindly. 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SVM? An Empirical Comparison First</a:t>
            </a:r>
            <a:endParaRPr lang="en-US" sz="3000" dirty="0"/>
          </a:p>
        </p:txBody>
      </p:sp>
      <p:sp>
        <p:nvSpPr>
          <p:cNvPr id="4" name="Text 2"/>
          <p:cNvSpPr/>
          <p:nvPr/>
        </p:nvSpPr>
        <p:spPr>
          <a:xfrm>
            <a:off x="502920" y="1645920"/>
            <a:ext cx="10607040" cy="777240"/>
          </a:xfrm>
          <a:prstGeom prst="rect">
            <a:avLst/>
          </a:prstGeom>
          <a:noFill/>
          <a:ln/>
        </p:spPr>
        <p:txBody>
          <a:bodyPr wrap="square" lIns="0" tIns="0" rIns="0" bIns="0" rtlCol="0" anchor="ctr"/>
          <a:lstStyle/>
          <a:p>
            <a:pPr marL="0" indent="0">
              <a:lnSpc>
                <a:spcPct val="122000"/>
              </a:lnSpc>
              <a:buNone/>
            </a:pPr>
            <a:r>
              <a:rPr lang="en-US" sz="1150" dirty="0">
                <a:solidFill>
                  <a:srgbClr val="1E293B"/>
                </a:solidFill>
                <a:latin typeface="Calibri" pitchFamily="34" charset="0"/>
                <a:ea typeface="Calibri" pitchFamily="34" charset="-122"/>
                <a:cs typeface="Calibri" pitchFamily="34" charset="-120"/>
              </a:rPr>
              <a:t>Before going into SVM theory, a fair question: why this algorithm and not something simpler? Four alternative classifiers were trained on the exact same 17 features, averaged over 15 random 80/20 splits (no topology correction applied to any model, for a like-for-like comparison):</a:t>
            </a:r>
            <a:endParaRPr lang="en-US" sz="1150" dirty="0"/>
          </a:p>
        </p:txBody>
      </p:sp>
      <p:sp>
        <p:nvSpPr>
          <p:cNvPr id="5" name="Shape 3"/>
          <p:cNvSpPr/>
          <p:nvPr/>
        </p:nvSpPr>
        <p:spPr>
          <a:xfrm>
            <a:off x="502920" y="2487168"/>
            <a:ext cx="10607040" cy="493776"/>
          </a:xfrm>
          <a:prstGeom prst="roundRect">
            <a:avLst>
              <a:gd name="adj" fmla="val 11111"/>
            </a:avLst>
          </a:prstGeom>
          <a:solidFill>
            <a:srgbClr val="0B1F3A"/>
          </a:solidFill>
          <a:ln/>
        </p:spPr>
      </p:sp>
      <p:sp>
        <p:nvSpPr>
          <p:cNvPr id="6" name="Text 4"/>
          <p:cNvSpPr/>
          <p:nvPr/>
        </p:nvSpPr>
        <p:spPr>
          <a:xfrm>
            <a:off x="502920" y="2487168"/>
            <a:ext cx="3657600" cy="493776"/>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Model</a:t>
            </a:r>
            <a:endParaRPr lang="en-US" sz="1200" dirty="0"/>
          </a:p>
        </p:txBody>
      </p:sp>
      <p:sp>
        <p:nvSpPr>
          <p:cNvPr id="7" name="Text 5"/>
          <p:cNvSpPr/>
          <p:nvPr/>
        </p:nvSpPr>
        <p:spPr>
          <a:xfrm>
            <a:off x="4160520" y="2487168"/>
            <a:ext cx="192024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Mean accuracy</a:t>
            </a:r>
            <a:endParaRPr lang="en-US" sz="1200" dirty="0"/>
          </a:p>
        </p:txBody>
      </p:sp>
      <p:sp>
        <p:nvSpPr>
          <p:cNvPr id="8" name="Text 6"/>
          <p:cNvSpPr/>
          <p:nvPr/>
        </p:nvSpPr>
        <p:spPr>
          <a:xfrm>
            <a:off x="6080760" y="2487168"/>
            <a:ext cx="155448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p>
        </p:txBody>
      </p:sp>
      <p:sp>
        <p:nvSpPr>
          <p:cNvPr id="9" name="Text 7"/>
          <p:cNvSpPr/>
          <p:nvPr/>
        </p:nvSpPr>
        <p:spPr>
          <a:xfrm>
            <a:off x="7635240" y="2487168"/>
            <a:ext cx="3474720"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0" name="Shape 8"/>
          <p:cNvSpPr/>
          <p:nvPr/>
        </p:nvSpPr>
        <p:spPr>
          <a:xfrm>
            <a:off x="502920" y="2980944"/>
            <a:ext cx="10607040" cy="493776"/>
          </a:xfrm>
          <a:prstGeom prst="rect">
            <a:avLst/>
          </a:prstGeom>
          <a:solidFill>
            <a:srgbClr val="FFFFFF"/>
          </a:solidFill>
          <a:ln w="9525">
            <a:solidFill>
              <a:srgbClr val="E4E9F1"/>
            </a:solidFill>
            <a:prstDash val="solid"/>
          </a:ln>
        </p:spPr>
      </p:sp>
      <p:sp>
        <p:nvSpPr>
          <p:cNvPr id="11" name="Text 9"/>
          <p:cNvSpPr/>
          <p:nvPr/>
        </p:nvSpPr>
        <p:spPr>
          <a:xfrm>
            <a:off x="502920" y="2980944"/>
            <a:ext cx="3657600" cy="493776"/>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Random Forest (200 trees)</a:t>
            </a:r>
            <a:endParaRPr lang="en-US" sz="1050" dirty="0"/>
          </a:p>
        </p:txBody>
      </p:sp>
      <p:sp>
        <p:nvSpPr>
          <p:cNvPr id="12" name="Text 10"/>
          <p:cNvSpPr/>
          <p:nvPr/>
        </p:nvSpPr>
        <p:spPr>
          <a:xfrm>
            <a:off x="4160520" y="2980944"/>
            <a:ext cx="192024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67.88%</a:t>
            </a:r>
            <a:endParaRPr lang="en-US" sz="1050" dirty="0"/>
          </a:p>
        </p:txBody>
      </p:sp>
      <p:sp>
        <p:nvSpPr>
          <p:cNvPr id="13" name="Text 11"/>
          <p:cNvSpPr/>
          <p:nvPr/>
        </p:nvSpPr>
        <p:spPr>
          <a:xfrm>
            <a:off x="6080760" y="2980944"/>
            <a:ext cx="155448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2.18</a:t>
            </a:r>
            <a:endParaRPr lang="en-US" sz="1050" dirty="0"/>
          </a:p>
        </p:txBody>
      </p:sp>
      <p:sp>
        <p:nvSpPr>
          <p:cNvPr id="14" name="Text 12"/>
          <p:cNvSpPr/>
          <p:nvPr/>
        </p:nvSpPr>
        <p:spPr>
          <a:xfrm>
            <a:off x="7635240" y="2980944"/>
            <a:ext cx="347472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Underfits with default depth on ~40 train samples/class</a:t>
            </a:r>
            <a:endParaRPr lang="en-US" sz="1050" dirty="0"/>
          </a:p>
        </p:txBody>
      </p:sp>
      <p:sp>
        <p:nvSpPr>
          <p:cNvPr id="15" name="Shape 13"/>
          <p:cNvSpPr/>
          <p:nvPr/>
        </p:nvSpPr>
        <p:spPr>
          <a:xfrm>
            <a:off x="502920" y="3474720"/>
            <a:ext cx="10607040" cy="493776"/>
          </a:xfrm>
          <a:prstGeom prst="rect">
            <a:avLst/>
          </a:prstGeom>
          <a:solidFill>
            <a:srgbClr val="EEF2F7"/>
          </a:solidFill>
          <a:ln w="9525">
            <a:solidFill>
              <a:srgbClr val="E4E9F1"/>
            </a:solidFill>
            <a:prstDash val="solid"/>
          </a:ln>
        </p:spPr>
      </p:sp>
      <p:sp>
        <p:nvSpPr>
          <p:cNvPr id="16" name="Text 14"/>
          <p:cNvSpPr/>
          <p:nvPr/>
        </p:nvSpPr>
        <p:spPr>
          <a:xfrm>
            <a:off x="502920" y="3474720"/>
            <a:ext cx="3657600" cy="493776"/>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Decision Tree</a:t>
            </a:r>
            <a:endParaRPr lang="en-US" sz="1050" dirty="0"/>
          </a:p>
        </p:txBody>
      </p:sp>
      <p:sp>
        <p:nvSpPr>
          <p:cNvPr id="17" name="Text 15"/>
          <p:cNvSpPr/>
          <p:nvPr/>
        </p:nvSpPr>
        <p:spPr>
          <a:xfrm>
            <a:off x="4160520" y="3474720"/>
            <a:ext cx="192024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69.93%</a:t>
            </a:r>
            <a:endParaRPr lang="en-US" sz="1050" dirty="0"/>
          </a:p>
        </p:txBody>
      </p:sp>
      <p:sp>
        <p:nvSpPr>
          <p:cNvPr id="18" name="Text 16"/>
          <p:cNvSpPr/>
          <p:nvPr/>
        </p:nvSpPr>
        <p:spPr>
          <a:xfrm>
            <a:off x="6080760" y="3474720"/>
            <a:ext cx="155448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2.51</a:t>
            </a:r>
            <a:endParaRPr lang="en-US" sz="1050" dirty="0"/>
          </a:p>
        </p:txBody>
      </p:sp>
      <p:sp>
        <p:nvSpPr>
          <p:cNvPr id="19" name="Text 17"/>
          <p:cNvSpPr/>
          <p:nvPr/>
        </p:nvSpPr>
        <p:spPr>
          <a:xfrm>
            <a:off x="7635240" y="3474720"/>
            <a:ext cx="347472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A single tree overfits noisy per-sample splits</a:t>
            </a:r>
            <a:endParaRPr lang="en-US" sz="1050" dirty="0"/>
          </a:p>
        </p:txBody>
      </p:sp>
      <p:sp>
        <p:nvSpPr>
          <p:cNvPr id="20" name="Shape 18"/>
          <p:cNvSpPr/>
          <p:nvPr/>
        </p:nvSpPr>
        <p:spPr>
          <a:xfrm>
            <a:off x="502920" y="3968496"/>
            <a:ext cx="10607040" cy="493776"/>
          </a:xfrm>
          <a:prstGeom prst="rect">
            <a:avLst/>
          </a:prstGeom>
          <a:solidFill>
            <a:srgbClr val="FFFFFF"/>
          </a:solidFill>
          <a:ln w="9525">
            <a:solidFill>
              <a:srgbClr val="E4E9F1"/>
            </a:solidFill>
            <a:prstDash val="solid"/>
          </a:ln>
        </p:spPr>
      </p:sp>
      <p:sp>
        <p:nvSpPr>
          <p:cNvPr id="21" name="Text 19"/>
          <p:cNvSpPr/>
          <p:nvPr/>
        </p:nvSpPr>
        <p:spPr>
          <a:xfrm>
            <a:off x="502920" y="3968496"/>
            <a:ext cx="3657600" cy="493776"/>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k-NN (k=5)</a:t>
            </a:r>
            <a:endParaRPr lang="en-US" sz="1050" dirty="0"/>
          </a:p>
        </p:txBody>
      </p:sp>
      <p:sp>
        <p:nvSpPr>
          <p:cNvPr id="22" name="Text 20"/>
          <p:cNvSpPr/>
          <p:nvPr/>
        </p:nvSpPr>
        <p:spPr>
          <a:xfrm>
            <a:off x="4160520" y="3968496"/>
            <a:ext cx="192024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71.50%</a:t>
            </a:r>
            <a:endParaRPr lang="en-US" sz="1050" dirty="0"/>
          </a:p>
        </p:txBody>
      </p:sp>
      <p:sp>
        <p:nvSpPr>
          <p:cNvPr id="23" name="Text 21"/>
          <p:cNvSpPr/>
          <p:nvPr/>
        </p:nvSpPr>
        <p:spPr>
          <a:xfrm>
            <a:off x="6080760" y="3968496"/>
            <a:ext cx="155448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2.02</a:t>
            </a:r>
            <a:endParaRPr lang="en-US" sz="1050" dirty="0"/>
          </a:p>
        </p:txBody>
      </p:sp>
      <p:sp>
        <p:nvSpPr>
          <p:cNvPr id="24" name="Text 22"/>
          <p:cNvSpPr/>
          <p:nvPr/>
        </p:nvSpPr>
        <p:spPr>
          <a:xfrm>
            <a:off x="7635240" y="3968496"/>
            <a:ext cx="347472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Struggles once 17 dimensions dilute distance</a:t>
            </a:r>
            <a:endParaRPr lang="en-US" sz="1050" dirty="0"/>
          </a:p>
        </p:txBody>
      </p:sp>
      <p:sp>
        <p:nvSpPr>
          <p:cNvPr id="25" name="Shape 23"/>
          <p:cNvSpPr/>
          <p:nvPr/>
        </p:nvSpPr>
        <p:spPr>
          <a:xfrm>
            <a:off x="502920" y="4462272"/>
            <a:ext cx="10607040" cy="493776"/>
          </a:xfrm>
          <a:prstGeom prst="rect">
            <a:avLst/>
          </a:prstGeom>
          <a:solidFill>
            <a:srgbClr val="EEF2F7"/>
          </a:solidFill>
          <a:ln w="9525">
            <a:solidFill>
              <a:srgbClr val="E4E9F1"/>
            </a:solidFill>
            <a:prstDash val="solid"/>
          </a:ln>
        </p:spPr>
      </p:sp>
      <p:sp>
        <p:nvSpPr>
          <p:cNvPr id="26" name="Text 24"/>
          <p:cNvSpPr/>
          <p:nvPr/>
        </p:nvSpPr>
        <p:spPr>
          <a:xfrm>
            <a:off x="502920" y="4462272"/>
            <a:ext cx="3657600" cy="493776"/>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Logistic Regression</a:t>
            </a:r>
            <a:endParaRPr lang="en-US" sz="1050" dirty="0"/>
          </a:p>
        </p:txBody>
      </p:sp>
      <p:sp>
        <p:nvSpPr>
          <p:cNvPr id="27" name="Text 25"/>
          <p:cNvSpPr/>
          <p:nvPr/>
        </p:nvSpPr>
        <p:spPr>
          <a:xfrm>
            <a:off x="4160520" y="4462272"/>
            <a:ext cx="192024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74.74%</a:t>
            </a:r>
            <a:endParaRPr lang="en-US" sz="1050" dirty="0"/>
          </a:p>
        </p:txBody>
      </p:sp>
      <p:sp>
        <p:nvSpPr>
          <p:cNvPr id="28" name="Text 26"/>
          <p:cNvSpPr/>
          <p:nvPr/>
        </p:nvSpPr>
        <p:spPr>
          <a:xfrm>
            <a:off x="6080760" y="4462272"/>
            <a:ext cx="155448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1.91</a:t>
            </a:r>
            <a:endParaRPr lang="en-US" sz="1050" dirty="0"/>
          </a:p>
        </p:txBody>
      </p:sp>
      <p:sp>
        <p:nvSpPr>
          <p:cNvPr id="29" name="Text 27"/>
          <p:cNvSpPr/>
          <p:nvPr/>
        </p:nvSpPr>
        <p:spPr>
          <a:xfrm>
            <a:off x="7635240" y="4462272"/>
            <a:ext cx="347472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Strong linear baseline, close to SVM-Linear</a:t>
            </a:r>
            <a:endParaRPr lang="en-US" sz="1050" dirty="0"/>
          </a:p>
        </p:txBody>
      </p:sp>
      <p:sp>
        <p:nvSpPr>
          <p:cNvPr id="30" name="Shape 28"/>
          <p:cNvSpPr/>
          <p:nvPr/>
        </p:nvSpPr>
        <p:spPr>
          <a:xfrm>
            <a:off x="502920" y="4956048"/>
            <a:ext cx="10607040" cy="493776"/>
          </a:xfrm>
          <a:prstGeom prst="rect">
            <a:avLst/>
          </a:prstGeom>
          <a:solidFill>
            <a:srgbClr val="FFFFFF"/>
          </a:solidFill>
          <a:ln w="9525">
            <a:solidFill>
              <a:srgbClr val="E4E9F1"/>
            </a:solidFill>
            <a:prstDash val="solid"/>
          </a:ln>
        </p:spPr>
      </p:sp>
      <p:sp>
        <p:nvSpPr>
          <p:cNvPr id="31" name="Text 29"/>
          <p:cNvSpPr/>
          <p:nvPr/>
        </p:nvSpPr>
        <p:spPr>
          <a:xfrm>
            <a:off x="502920" y="4956048"/>
            <a:ext cx="3657600" cy="493776"/>
          </a:xfrm>
          <a:prstGeom prst="rect">
            <a:avLst/>
          </a:prstGeom>
          <a:noFill/>
          <a:ln/>
        </p:spPr>
        <p:txBody>
          <a:bodyPr wrap="square" lIns="0" tIns="177800" rIns="0" bIns="0" rtlCol="0" anchor="ctr"/>
          <a:lstStyle/>
          <a:p>
            <a:pPr marL="0" indent="0" algn="l">
              <a:buNone/>
            </a:pPr>
            <a:r>
              <a:rPr lang="en-US" sz="1050" b="1" dirty="0">
                <a:solidFill>
                  <a:srgbClr val="1E293B"/>
                </a:solidFill>
                <a:latin typeface="Calibri" pitchFamily="34" charset="0"/>
                <a:ea typeface="Calibri" pitchFamily="34" charset="-122"/>
                <a:cs typeface="Calibri" pitchFamily="34" charset="-120"/>
              </a:rPr>
              <a:t> SVM RBF (tuned, this project)</a:t>
            </a:r>
            <a:endParaRPr lang="en-US" sz="1050" dirty="0"/>
          </a:p>
        </p:txBody>
      </p:sp>
      <p:sp>
        <p:nvSpPr>
          <p:cNvPr id="32" name="Text 30"/>
          <p:cNvSpPr/>
          <p:nvPr/>
        </p:nvSpPr>
        <p:spPr>
          <a:xfrm>
            <a:off x="4160520" y="4956048"/>
            <a:ext cx="192024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77.48%</a:t>
            </a:r>
            <a:endParaRPr lang="en-US" sz="1050" dirty="0"/>
          </a:p>
        </p:txBody>
      </p:sp>
      <p:sp>
        <p:nvSpPr>
          <p:cNvPr id="33" name="Text 31"/>
          <p:cNvSpPr/>
          <p:nvPr/>
        </p:nvSpPr>
        <p:spPr>
          <a:xfrm>
            <a:off x="6080760" y="4956048"/>
            <a:ext cx="155448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1.87</a:t>
            </a:r>
            <a:endParaRPr lang="en-US" sz="1050" dirty="0"/>
          </a:p>
        </p:txBody>
      </p:sp>
      <p:sp>
        <p:nvSpPr>
          <p:cNvPr id="34" name="Text 32"/>
          <p:cNvSpPr/>
          <p:nvPr/>
        </p:nvSpPr>
        <p:spPr>
          <a:xfrm>
            <a:off x="7635240" y="4956048"/>
            <a:ext cx="3474720" cy="493776"/>
          </a:xfrm>
          <a:prstGeom prst="rect">
            <a:avLst/>
          </a:prstGeom>
          <a:noFill/>
          <a:ln/>
        </p:spPr>
        <p:txBody>
          <a:bodyPr wrap="square" lIns="0" tIns="0" rIns="0" bIns="0" rtlCol="0" anchor="ctr"/>
          <a:lstStyle/>
          <a:p>
            <a:pPr marL="0" indent="0" algn="ctr">
              <a:buNone/>
            </a:pPr>
            <a:r>
              <a:rPr lang="en-US" sz="1050" dirty="0">
                <a:solidFill>
                  <a:srgbClr val="1E293B"/>
                </a:solidFill>
                <a:latin typeface="Calibri" pitchFamily="34" charset="0"/>
                <a:ea typeface="Calibri" pitchFamily="34" charset="-122"/>
                <a:cs typeface="Calibri" pitchFamily="34" charset="-120"/>
              </a:rPr>
              <a:t>Best mean, competitive variance</a:t>
            </a:r>
            <a:endParaRPr lang="en-US" sz="1050" dirty="0"/>
          </a:p>
        </p:txBody>
      </p:sp>
      <p:sp>
        <p:nvSpPr>
          <p:cNvPr id="35" name="Shape 33"/>
          <p:cNvSpPr/>
          <p:nvPr/>
        </p:nvSpPr>
        <p:spPr>
          <a:xfrm>
            <a:off x="502920" y="5486400"/>
            <a:ext cx="10607040" cy="896112"/>
          </a:xfrm>
          <a:prstGeom prst="roundRect">
            <a:avLst>
              <a:gd name="adj" fmla="val 8163"/>
            </a:avLst>
          </a:prstGeom>
          <a:solidFill>
            <a:srgbClr val="0B1F3A"/>
          </a:solidFill>
          <a:ln/>
          <a:effectLst>
            <a:outerShdw blurRad="114300" dist="38100" dir="2700000" algn="bl" rotWithShape="0">
              <a:srgbClr val="0B1F3A">
                <a:alpha val="14000"/>
              </a:srgbClr>
            </a:outerShdw>
          </a:effectLst>
        </p:spPr>
      </p:sp>
      <p:sp>
        <p:nvSpPr>
          <p:cNvPr id="36" name="Text 34"/>
          <p:cNvSpPr/>
          <p:nvPr/>
        </p:nvSpPr>
        <p:spPr>
          <a:xfrm>
            <a:off x="758952" y="5541264"/>
            <a:ext cx="10104120" cy="804672"/>
          </a:xfrm>
          <a:prstGeom prst="rect">
            <a:avLst/>
          </a:prstGeom>
          <a:noFill/>
          <a:ln/>
        </p:spPr>
        <p:txBody>
          <a:bodyPr wrap="square" lIns="0" tIns="0" rIns="0" bIns="0" rtlCol="0" anchor="t"/>
          <a:lstStyle/>
          <a:p>
            <a:pPr marL="0" indent="0">
              <a:lnSpc>
                <a:spcPct val="116000"/>
              </a:lnSpc>
              <a:buNone/>
            </a:pPr>
            <a:r>
              <a:rPr lang="en-US" sz="930" b="1" dirty="0">
                <a:solidFill>
                  <a:srgbClr val="FFB703"/>
                </a:solidFill>
                <a:latin typeface="Calibri" pitchFamily="34" charset="0"/>
                <a:ea typeface="Calibri" pitchFamily="34" charset="-122"/>
                <a:cs typeface="Calibri" pitchFamily="34" charset="-120"/>
              </a:rPr>
              <a:t>Statistically confirmed: </a:t>
            </a:r>
            <a:r>
              <a:rPr lang="en-US" sz="930" dirty="0">
                <a:solidFill>
                  <a:srgbClr val="E7ECF4"/>
                </a:solidFill>
                <a:latin typeface="Calibri" pitchFamily="34" charset="0"/>
                <a:ea typeface="Calibri" pitchFamily="34" charset="-122"/>
                <a:cs typeface="Calibri" pitchFamily="34" charset="-120"/>
              </a:rPr>
              <a:t>a paired test across the same 15 splits shows SVM beats the runner-up (Logistic Regression) by 2.75 points on average, winning 14 of 15 seeds (paired t-test, p = 0.00006 — not chance).
</a:t>
            </a:r>
          </a:p>
          <a:p>
            <a:pPr marL="0" indent="0">
              <a:lnSpc>
                <a:spcPct val="116000"/>
              </a:lnSpc>
              <a:buNone/>
            </a:pPr>
            <a:endParaRPr lang="en-US" sz="930" b="1" dirty="0">
              <a:solidFill>
                <a:srgbClr val="E7ECF4"/>
              </a:solidFill>
              <a:latin typeface="Calibri" pitchFamily="34" charset="0"/>
              <a:ea typeface="Calibri" pitchFamily="34" charset="-122"/>
              <a:cs typeface="Calibri" pitchFamily="34" charset="-120"/>
            </a:endParaRPr>
          </a:p>
          <a:p>
            <a:pPr marL="0" indent="0">
              <a:lnSpc>
                <a:spcPct val="116000"/>
              </a:lnSpc>
              <a:buNone/>
            </a:pPr>
            <a:r>
              <a:rPr lang="en-US" sz="930" b="1" dirty="0">
                <a:solidFill>
                  <a:srgbClr val="FFB703"/>
                </a:solidFill>
                <a:latin typeface="Calibri" pitchFamily="34" charset="0"/>
                <a:ea typeface="Calibri" pitchFamily="34" charset="-122"/>
                <a:cs typeface="Calibri" pitchFamily="34" charset="-120"/>
              </a:rPr>
              <a:t>Honest caveat: </a:t>
            </a:r>
            <a:r>
              <a:rPr lang="en-US" sz="930" dirty="0">
                <a:solidFill>
                  <a:srgbClr val="E7ECF4"/>
                </a:solidFill>
                <a:latin typeface="Calibri" pitchFamily="34" charset="0"/>
                <a:ea typeface="Calibri" pitchFamily="34" charset="-122"/>
                <a:cs typeface="Calibri" pitchFamily="34" charset="-120"/>
              </a:rPr>
              <a:t>only the SVM was hyperparameter-tuned via GridSearchCV here; the others use library defaults, so this is a first-pass comparison, not a fully tuned bake-off.</a:t>
            </a:r>
            <a:endParaRPr lang="en-US" sz="930" dirty="0"/>
          </a:p>
        </p:txBody>
      </p:sp>
      <p:sp>
        <p:nvSpPr>
          <p:cNvPr id="37" name="Text 3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8" name="Text 3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Support Vector Machines: The Big Idea</a:t>
            </a:r>
            <a:endParaRPr lang="en-US" sz="3000" dirty="0"/>
          </a:p>
        </p:txBody>
      </p:sp>
      <p:sp>
        <p:nvSpPr>
          <p:cNvPr id="4" name="Text 2"/>
          <p:cNvSpPr/>
          <p:nvPr/>
        </p:nvSpPr>
        <p:spPr>
          <a:xfrm>
            <a:off x="502920" y="1828800"/>
            <a:ext cx="10607040" cy="914400"/>
          </a:xfrm>
          <a:prstGeom prst="rect">
            <a:avLst/>
          </a:prstGeom>
          <a:noFill/>
          <a:ln/>
        </p:spPr>
        <p:txBody>
          <a:bodyPr wrap="square" lIns="0" tIns="0" rIns="0" bIns="0" rtlCol="0" anchor="ctr"/>
          <a:lstStyle/>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An SVM looks at labeled examples in feature space and draws the boundary that separates classes with the </a:t>
            </a:r>
            <a:r>
              <a:rPr lang="en-US" sz="1400" b="1" dirty="0">
                <a:solidFill>
                  <a:srgbClr val="0B1F3A"/>
                </a:solidFill>
                <a:latin typeface="Calibri" pitchFamily="34" charset="0"/>
                <a:ea typeface="Calibri" pitchFamily="34" charset="-122"/>
                <a:cs typeface="Calibri" pitchFamily="34" charset="-120"/>
              </a:rPr>
              <a:t>widest possible margin</a:t>
            </a:r>
            <a:r>
              <a:rPr lang="en-US" sz="1400" dirty="0">
                <a:solidFill>
                  <a:srgbClr val="1E293B"/>
                </a:solidFill>
                <a:latin typeface="Calibri" pitchFamily="34" charset="0"/>
                <a:ea typeface="Calibri" pitchFamily="34" charset="-122"/>
                <a:cs typeface="Calibri" pitchFamily="34" charset="-120"/>
              </a:rPr>
              <a:t> — not just any line that works, but the one furthest from the nearest points of each class.</a:t>
            </a:r>
            <a:endParaRPr lang="en-US" sz="1400" dirty="0"/>
          </a:p>
        </p:txBody>
      </p:sp>
      <p:sp>
        <p:nvSpPr>
          <p:cNvPr id="5" name="Shape 3"/>
          <p:cNvSpPr/>
          <p:nvPr/>
        </p:nvSpPr>
        <p:spPr>
          <a:xfrm>
            <a:off x="502920" y="2926080"/>
            <a:ext cx="530352" cy="530352"/>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handright_00B4D8.png"/>
          <p:cNvPicPr>
            <a:picLocks noChangeAspect="1"/>
          </p:cNvPicPr>
          <p:nvPr/>
        </p:nvPicPr>
        <p:blipFill>
          <a:blip r:embed="rId3"/>
          <a:stretch>
            <a:fillRect/>
          </a:stretch>
        </p:blipFill>
        <p:spPr>
          <a:xfrm>
            <a:off x="574518" y="2997678"/>
            <a:ext cx="387157" cy="387157"/>
          </a:xfrm>
          <a:prstGeom prst="rect">
            <a:avLst/>
          </a:prstGeom>
        </p:spPr>
      </p:pic>
      <p:sp>
        <p:nvSpPr>
          <p:cNvPr id="7" name="Text 4"/>
          <p:cNvSpPr/>
          <p:nvPr/>
        </p:nvSpPr>
        <p:spPr>
          <a:xfrm>
            <a:off x="1234440" y="2907792"/>
            <a:ext cx="9784080" cy="777240"/>
          </a:xfrm>
          <a:prstGeom prst="rect">
            <a:avLst/>
          </a:prstGeom>
          <a:noFill/>
          <a:ln/>
        </p:spPr>
        <p:txBody>
          <a:bodyPr wrap="square" lIns="0" tIns="0" rIns="0" bIns="0" rtlCol="0" anchor="ctr"/>
          <a:lstStyle/>
          <a:p>
            <a:pPr marL="0" indent="0">
              <a:lnSpc>
                <a:spcPct val="122000"/>
              </a:lnSpc>
              <a:buNone/>
            </a:pPr>
            <a:r>
              <a:rPr lang="en-US" sz="1200" b="1" dirty="0">
                <a:solidFill>
                  <a:srgbClr val="0B1F3A"/>
                </a:solidFill>
                <a:latin typeface="Calibri" pitchFamily="34" charset="0"/>
                <a:ea typeface="Calibri" pitchFamily="34" charset="-122"/>
                <a:cs typeface="Calibri" pitchFamily="34" charset="-120"/>
              </a:rPr>
              <a:t>Support vectors:  </a:t>
            </a:r>
            <a:r>
              <a:rPr lang="en-US" sz="1200" dirty="0">
                <a:solidFill>
                  <a:srgbClr val="64748B"/>
                </a:solidFill>
                <a:latin typeface="Calibri" pitchFamily="34" charset="0"/>
                <a:ea typeface="Calibri" pitchFamily="34" charset="-122"/>
                <a:cs typeface="Calibri" pitchFamily="34" charset="-120"/>
              </a:rPr>
              <a:t>Only the closest points to the boundary matter for defining it — these are the “support vectors” that give the algorithm its name.</a:t>
            </a:r>
            <a:endParaRPr lang="en-US" sz="1200" dirty="0"/>
          </a:p>
        </p:txBody>
      </p:sp>
      <p:sp>
        <p:nvSpPr>
          <p:cNvPr id="8" name="Shape 5"/>
          <p:cNvSpPr/>
          <p:nvPr/>
        </p:nvSpPr>
        <p:spPr>
          <a:xfrm>
            <a:off x="502920" y="3886200"/>
            <a:ext cx="530352" cy="530352"/>
          </a:xfrm>
          <a:prstGeom prst="ellipse">
            <a:avLst/>
          </a:prstGeom>
          <a:solidFill>
            <a:srgbClr val="0B1F3A"/>
          </a:solidFill>
          <a:ln/>
          <a:effectLst>
            <a:outerShdw blurRad="114300" dist="38100" dir="2700000" algn="bl" rotWithShape="0">
              <a:srgbClr val="0B1F3A">
                <a:alpha val="14000"/>
              </a:srgbClr>
            </a:outerShdw>
          </a:effectLst>
        </p:spPr>
      </p:sp>
      <p:pic>
        <p:nvPicPr>
          <p:cNvPr id="9" name="Image 1" descr="/sessions/blissful-zealous-babbage/mnt/outputs/ppt/icons/balance_00B4D8.png"/>
          <p:cNvPicPr>
            <a:picLocks noChangeAspect="1"/>
          </p:cNvPicPr>
          <p:nvPr/>
        </p:nvPicPr>
        <p:blipFill>
          <a:blip r:embed="rId4"/>
          <a:stretch>
            <a:fillRect/>
          </a:stretch>
        </p:blipFill>
        <p:spPr>
          <a:xfrm>
            <a:off x="574518" y="3957798"/>
            <a:ext cx="387157" cy="387157"/>
          </a:xfrm>
          <a:prstGeom prst="rect">
            <a:avLst/>
          </a:prstGeom>
        </p:spPr>
      </p:pic>
      <p:sp>
        <p:nvSpPr>
          <p:cNvPr id="10" name="Text 6"/>
          <p:cNvSpPr/>
          <p:nvPr/>
        </p:nvSpPr>
        <p:spPr>
          <a:xfrm>
            <a:off x="1234440" y="3867912"/>
            <a:ext cx="9784080" cy="777240"/>
          </a:xfrm>
          <a:prstGeom prst="rect">
            <a:avLst/>
          </a:prstGeom>
          <a:noFill/>
          <a:ln/>
        </p:spPr>
        <p:txBody>
          <a:bodyPr wrap="square" lIns="0" tIns="0" rIns="0" bIns="0" rtlCol="0" anchor="ctr"/>
          <a:lstStyle/>
          <a:p>
            <a:pPr marL="0" indent="0">
              <a:lnSpc>
                <a:spcPct val="122000"/>
              </a:lnSpc>
              <a:buNone/>
            </a:pPr>
            <a:r>
              <a:rPr lang="en-US" sz="1200" b="1" dirty="0">
                <a:solidFill>
                  <a:srgbClr val="0B1F3A"/>
                </a:solidFill>
                <a:latin typeface="Calibri" pitchFamily="34" charset="0"/>
                <a:ea typeface="Calibri" pitchFamily="34" charset="-122"/>
                <a:cs typeface="Calibri" pitchFamily="34" charset="-120"/>
              </a:rPr>
              <a:t>Margin maximization:  </a:t>
            </a:r>
            <a:r>
              <a:rPr lang="en-US" sz="1200" dirty="0">
                <a:solidFill>
                  <a:srgbClr val="64748B"/>
                </a:solidFill>
                <a:latin typeface="Calibri" pitchFamily="34" charset="0"/>
                <a:ea typeface="Calibri" pitchFamily="34" charset="-122"/>
                <a:cs typeface="Calibri" pitchFamily="34" charset="-120"/>
              </a:rPr>
              <a:t>A wider margin between classes tends to generalize better to new, unseen data than a boundary that barely squeezes between them.</a:t>
            </a:r>
            <a:endParaRPr lang="en-US" sz="1200" dirty="0"/>
          </a:p>
        </p:txBody>
      </p:sp>
      <p:sp>
        <p:nvSpPr>
          <p:cNvPr id="11" name="Shape 7"/>
          <p:cNvSpPr/>
          <p:nvPr/>
        </p:nvSpPr>
        <p:spPr>
          <a:xfrm>
            <a:off x="502920" y="4846320"/>
            <a:ext cx="530352" cy="530352"/>
          </a:xfrm>
          <a:prstGeom prst="ellipse">
            <a:avLst/>
          </a:prstGeom>
          <a:solidFill>
            <a:srgbClr val="0B1F3A"/>
          </a:solidFill>
          <a:ln/>
          <a:effectLst>
            <a:outerShdw blurRad="114300" dist="38100" dir="2700000" algn="bl" rotWithShape="0">
              <a:srgbClr val="0B1F3A">
                <a:alpha val="14000"/>
              </a:srgbClr>
            </a:outerShdw>
          </a:effectLst>
        </p:spPr>
      </p:sp>
      <p:pic>
        <p:nvPicPr>
          <p:cNvPr id="12" name="Image 2" descr="/sessions/blissful-zealous-babbage/mnt/outputs/ppt/icons/puzzle_00B4D8.png"/>
          <p:cNvPicPr>
            <a:picLocks noChangeAspect="1"/>
          </p:cNvPicPr>
          <p:nvPr/>
        </p:nvPicPr>
        <p:blipFill>
          <a:blip r:embed="rId5"/>
          <a:stretch>
            <a:fillRect/>
          </a:stretch>
        </p:blipFill>
        <p:spPr>
          <a:xfrm>
            <a:off x="574518" y="4917918"/>
            <a:ext cx="387157" cy="387157"/>
          </a:xfrm>
          <a:prstGeom prst="rect">
            <a:avLst/>
          </a:prstGeom>
        </p:spPr>
      </p:pic>
      <p:sp>
        <p:nvSpPr>
          <p:cNvPr id="13" name="Text 8"/>
          <p:cNvSpPr/>
          <p:nvPr/>
        </p:nvSpPr>
        <p:spPr>
          <a:xfrm>
            <a:off x="1234440" y="4828032"/>
            <a:ext cx="9784080" cy="777240"/>
          </a:xfrm>
          <a:prstGeom prst="rect">
            <a:avLst/>
          </a:prstGeom>
          <a:noFill/>
          <a:ln/>
        </p:spPr>
        <p:txBody>
          <a:bodyPr wrap="square" lIns="0" tIns="0" rIns="0" bIns="0" rtlCol="0" anchor="ctr"/>
          <a:lstStyle/>
          <a:p>
            <a:pPr marL="0" indent="0">
              <a:lnSpc>
                <a:spcPct val="122000"/>
              </a:lnSpc>
              <a:buNone/>
            </a:pPr>
            <a:r>
              <a:rPr lang="en-US" sz="1200" b="1" dirty="0">
                <a:solidFill>
                  <a:srgbClr val="0B1F3A"/>
                </a:solidFill>
                <a:latin typeface="Calibri" pitchFamily="34" charset="0"/>
                <a:ea typeface="Calibri" pitchFamily="34" charset="-122"/>
                <a:cs typeface="Calibri" pitchFamily="34" charset="-120"/>
              </a:rPr>
              <a:t>The kernel question:  </a:t>
            </a:r>
            <a:r>
              <a:rPr lang="en-US" sz="1200" dirty="0">
                <a:solidFill>
                  <a:srgbClr val="64748B"/>
                </a:solidFill>
                <a:latin typeface="Calibri" pitchFamily="34" charset="0"/>
                <a:ea typeface="Calibri" pitchFamily="34" charset="-122"/>
                <a:cs typeface="Calibri" pitchFamily="34" charset="-120"/>
              </a:rPr>
              <a:t>Real data is rarely separable with a straight line — the next slide covers how SVMs handle that.</a:t>
            </a:r>
            <a:endParaRPr lang="en-US" sz="120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SVM Math: Hyperplanes &amp; Margins</a:t>
            </a:r>
            <a:endParaRPr lang="en-US" sz="3000" dirty="0"/>
          </a:p>
        </p:txBody>
      </p:sp>
      <p:sp>
        <p:nvSpPr>
          <p:cNvPr id="4" name="Shape 2"/>
          <p:cNvSpPr/>
          <p:nvPr/>
        </p:nvSpPr>
        <p:spPr>
          <a:xfrm>
            <a:off x="502920" y="1828800"/>
            <a:ext cx="10607040" cy="1874520"/>
          </a:xfrm>
          <a:prstGeom prst="roundRect">
            <a:avLst>
              <a:gd name="adj" fmla="val 3902"/>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65960"/>
            <a:ext cx="10058400" cy="1600200"/>
          </a:xfrm>
          <a:prstGeom prst="rect">
            <a:avLst/>
          </a:prstGeom>
          <a:noFill/>
          <a:ln/>
        </p:spPr>
        <p:txBody>
          <a:bodyPr wrap="square" lIns="0" tIns="0" rIns="0" bIns="0" rtlCol="0" anchor="ctr"/>
          <a:lstStyle/>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Decision boundary:   w . x + b = 0</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Classify:            sign(w . x + b)</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Margin width:        2 / ||w||          (maximize this)</a:t>
            </a:r>
            <a:endParaRPr lang="en-US" sz="1400" dirty="0"/>
          </a:p>
          <a:p>
            <a:pPr marL="0" indent="0" algn="l">
              <a:lnSpc>
                <a:spcPct val="140000"/>
              </a:lnSpc>
              <a:buNone/>
            </a:pPr>
            <a:r>
              <a:rPr lang="en-US" sz="1400" dirty="0">
                <a:solidFill>
                  <a:srgbClr val="E7ECF4"/>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6" name="Text 4"/>
          <p:cNvSpPr/>
          <p:nvPr/>
        </p:nvSpPr>
        <p:spPr>
          <a:xfrm>
            <a:off x="502920" y="3977640"/>
            <a:ext cx="10607040" cy="1005840"/>
          </a:xfrm>
          <a:prstGeom prst="rect">
            <a:avLst/>
          </a:prstGeom>
          <a:noFill/>
          <a:ln/>
        </p:spPr>
        <p:txBody>
          <a:bodyPr wrap="square" lIns="0" tIns="0" rIns="0" bIns="0" rtlCol="0" anchor="ctr"/>
          <a:lstStyle/>
          <a:p>
            <a:pPr marL="0" indent="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r>
              <a:rPr lang="en-US" sz="1250" dirty="0">
                <a:solidFill>
                  <a:srgbClr val="1E293B"/>
                </a:solidFill>
                <a:latin typeface="Calibri" pitchFamily="34" charset="0"/>
                <a:ea typeface="Calibri" pitchFamily="34" charset="-122"/>
                <a:cs typeface="Calibri" pitchFamily="34" charset="-120"/>
              </a:rPr>
              <a:t> is a weight vector (one number per feature) and </a:t>
            </a:r>
            <a:r>
              <a:rPr lang="en-US" sz="1250" b="1" dirty="0">
                <a:solidFill>
                  <a:srgbClr val="0B1F3A"/>
                </a:solidFill>
                <a:latin typeface="Courier New" pitchFamily="34" charset="0"/>
                <a:ea typeface="Courier New" pitchFamily="34" charset="-122"/>
                <a:cs typeface="Courier New" pitchFamily="34" charset="-120"/>
              </a:rPr>
              <a:t>b</a:t>
            </a:r>
            <a:r>
              <a:rPr lang="en-US" sz="1250" dirty="0">
                <a:solidFill>
                  <a:srgbClr val="1E293B"/>
                </a:solidFill>
                <a:latin typeface="Calibri" pitchFamily="34" charset="0"/>
                <a:ea typeface="Calibri" pitchFamily="34" charset="-122"/>
                <a:cs typeface="Calibri" pitchFamily="34" charset="-120"/>
              </a:rPr>
              <a:t> is a bias term. In the linear-kernel model, the size of each weight in </a:t>
            </a:r>
            <a:r>
              <a:rPr lang="en-US" sz="1250" b="1" dirty="0">
                <a:solidFill>
                  <a:srgbClr val="0B1F3A"/>
                </a:solidFill>
                <a:latin typeface="Courier New" pitchFamily="34" charset="0"/>
                <a:ea typeface="Courier New" pitchFamily="34" charset="-122"/>
                <a:cs typeface="Courier New" pitchFamily="34" charset="-120"/>
              </a:rPr>
              <a:t>w</a:t>
            </a:r>
            <a:r>
              <a:rPr lang="en-US" sz="1250" dirty="0">
                <a:solidFill>
                  <a:srgbClr val="1E293B"/>
                </a:solidFill>
                <a:latin typeface="Calibri" pitchFamily="34" charset="0"/>
                <a:ea typeface="Calibri" pitchFamily="34" charset="-122"/>
                <a:cs typeface="Calibri" pitchFamily="34" charset="-120"/>
              </a:rPr>
              <a:t> is literally what the Feature Importance chart (in Results) is built from — larger |weight| means that feature moves the boundary more.</a:t>
            </a:r>
            <a:endParaRPr lang="en-US" sz="1250" dirty="0"/>
          </a:p>
        </p:txBody>
      </p:sp>
      <p:sp>
        <p:nvSpPr>
          <p:cNvPr id="7" name="Shape 5"/>
          <p:cNvSpPr/>
          <p:nvPr/>
        </p:nvSpPr>
        <p:spPr>
          <a:xfrm>
            <a:off x="502920" y="5257800"/>
            <a:ext cx="11185855" cy="502920"/>
          </a:xfrm>
          <a:prstGeom prst="roundRect">
            <a:avLst>
              <a:gd name="adj" fmla="val 10909"/>
            </a:avLst>
          </a:prstGeom>
          <a:solidFill>
            <a:srgbClr val="FFF8E8"/>
          </a:solidFill>
          <a:ln w="12700">
            <a:solidFill>
              <a:srgbClr val="F0C24B"/>
            </a:solidFill>
            <a:prstDash val="solid"/>
          </a:ln>
        </p:spPr>
      </p:sp>
      <p:sp>
        <p:nvSpPr>
          <p:cNvPr id="8" name="Text 6"/>
          <p:cNvSpPr/>
          <p:nvPr/>
        </p:nvSpPr>
        <p:spPr>
          <a:xfrm>
            <a:off x="667512" y="5257800"/>
            <a:ext cx="10856671" cy="502920"/>
          </a:xfrm>
          <a:prstGeom prst="rect">
            <a:avLst/>
          </a:prstGeom>
          <a:noFill/>
          <a:ln/>
        </p:spPr>
        <p:txBody>
          <a:bodyPr wrap="square" lIns="0" tIns="0" rIns="0" bIns="0" rtlCol="0" anchor="ctr"/>
          <a:lstStyle/>
          <a:p>
            <a:pPr marL="0" indent="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a:t>
            </a:r>
            <a:r>
              <a:rPr lang="en-US" sz="950" dirty="0">
                <a:solidFill>
                  <a:srgbClr val="3D3620"/>
                </a:solidFill>
                <a:latin typeface="Calibri" pitchFamily="34" charset="0"/>
                <a:ea typeface="Calibri" pitchFamily="34" charset="-122"/>
                <a:cs typeface="Calibri"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The Kernel Trick</a:t>
            </a:r>
            <a:endParaRPr lang="en-US" sz="3000" dirty="0"/>
          </a:p>
        </p:txBody>
      </p:sp>
      <p:sp>
        <p:nvSpPr>
          <p:cNvPr id="4" name="Text 2"/>
          <p:cNvSpPr/>
          <p:nvPr/>
        </p:nvSpPr>
        <p:spPr>
          <a:xfrm>
            <a:off x="502920" y="1783080"/>
            <a:ext cx="10607040" cy="868680"/>
          </a:xfrm>
          <a:prstGeom prst="rect">
            <a:avLst/>
          </a:prstGeom>
          <a:noFill/>
          <a:ln/>
        </p:spPr>
        <p:txBody>
          <a:bodyPr wrap="square" lIns="0" tIns="0" rIns="0" bIns="0" rtlCol="0" anchor="ctr"/>
          <a:lstStyle/>
          <a:p>
            <a:pPr marL="0" indent="0">
              <a:lnSpc>
                <a:spcPct val="128000"/>
              </a:lnSpc>
              <a:buNone/>
            </a:pPr>
            <a:r>
              <a:rPr lang="en-US" sz="1300" dirty="0">
                <a:solidFill>
                  <a:srgbClr val="1E293B"/>
                </a:solidFill>
                <a:latin typeface="Calibri" pitchFamily="34" charset="0"/>
                <a:ea typeface="Calibri" pitchFamily="34" charset="-122"/>
                <a:cs typeface="Calibri"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5" name="Shape 3"/>
          <p:cNvSpPr/>
          <p:nvPr/>
        </p:nvSpPr>
        <p:spPr>
          <a:xfrm>
            <a:off x="502920" y="2743200"/>
            <a:ext cx="10607040" cy="566928"/>
          </a:xfrm>
          <a:prstGeom prst="roundRect">
            <a:avLst>
              <a:gd name="adj" fmla="val 9677"/>
            </a:avLst>
          </a:prstGeom>
          <a:solidFill>
            <a:srgbClr val="0B1F3A"/>
          </a:solidFill>
          <a:ln/>
        </p:spPr>
      </p:sp>
      <p:sp>
        <p:nvSpPr>
          <p:cNvPr id="6" name="Text 4"/>
          <p:cNvSpPr/>
          <p:nvPr/>
        </p:nvSpPr>
        <p:spPr>
          <a:xfrm>
            <a:off x="502920" y="2743200"/>
            <a:ext cx="2194560" cy="566928"/>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Kernel</a:t>
            </a:r>
            <a:endParaRPr lang="en-US" sz="1200" dirty="0"/>
          </a:p>
        </p:txBody>
      </p:sp>
      <p:sp>
        <p:nvSpPr>
          <p:cNvPr id="7" name="Text 5"/>
          <p:cNvSpPr/>
          <p:nvPr/>
        </p:nvSpPr>
        <p:spPr>
          <a:xfrm>
            <a:off x="2697480" y="2743200"/>
            <a:ext cx="51206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Similarity function K(x, x')</a:t>
            </a:r>
            <a:endParaRPr lang="en-US" sz="1200" dirty="0"/>
          </a:p>
        </p:txBody>
      </p:sp>
      <p:sp>
        <p:nvSpPr>
          <p:cNvPr id="8" name="Text 6"/>
          <p:cNvSpPr/>
          <p:nvPr/>
        </p:nvSpPr>
        <p:spPr>
          <a:xfrm>
            <a:off x="7818120" y="2743200"/>
            <a:ext cx="32918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Shape of boundary</a:t>
            </a:r>
            <a:endParaRPr lang="en-US" sz="1200" dirty="0"/>
          </a:p>
        </p:txBody>
      </p:sp>
      <p:sp>
        <p:nvSpPr>
          <p:cNvPr id="9" name="Shape 7"/>
          <p:cNvSpPr/>
          <p:nvPr/>
        </p:nvSpPr>
        <p:spPr>
          <a:xfrm>
            <a:off x="502920" y="3310128"/>
            <a:ext cx="10607040" cy="566928"/>
          </a:xfrm>
          <a:prstGeom prst="rect">
            <a:avLst/>
          </a:prstGeom>
          <a:solidFill>
            <a:srgbClr val="FFFFFF"/>
          </a:solidFill>
          <a:ln w="9525">
            <a:solidFill>
              <a:srgbClr val="E4E9F1"/>
            </a:solidFill>
            <a:prstDash val="solid"/>
          </a:ln>
        </p:spPr>
      </p:sp>
      <p:sp>
        <p:nvSpPr>
          <p:cNvPr id="10" name="Text 8"/>
          <p:cNvSpPr/>
          <p:nvPr/>
        </p:nvSpPr>
        <p:spPr>
          <a:xfrm>
            <a:off x="502920" y="3310128"/>
            <a:ext cx="2194560" cy="566928"/>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Linear</a:t>
            </a:r>
            <a:endParaRPr lang="en-US" sz="1200" dirty="0"/>
          </a:p>
        </p:txBody>
      </p:sp>
      <p:sp>
        <p:nvSpPr>
          <p:cNvPr id="11" name="Text 9"/>
          <p:cNvSpPr/>
          <p:nvPr/>
        </p:nvSpPr>
        <p:spPr>
          <a:xfrm>
            <a:off x="2697480" y="3310128"/>
            <a:ext cx="5120640" cy="56692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x . x'</a:t>
            </a:r>
            <a:endParaRPr lang="en-US" sz="1200" dirty="0"/>
          </a:p>
        </p:txBody>
      </p:sp>
      <p:sp>
        <p:nvSpPr>
          <p:cNvPr id="12" name="Text 10"/>
          <p:cNvSpPr/>
          <p:nvPr/>
        </p:nvSpPr>
        <p:spPr>
          <a:xfrm>
            <a:off x="7818120" y="3310128"/>
            <a:ext cx="3291840" cy="56692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Straight line / flat plane</a:t>
            </a:r>
            <a:endParaRPr lang="en-US" sz="1200" dirty="0"/>
          </a:p>
        </p:txBody>
      </p:sp>
      <p:sp>
        <p:nvSpPr>
          <p:cNvPr id="13" name="Shape 11"/>
          <p:cNvSpPr/>
          <p:nvPr/>
        </p:nvSpPr>
        <p:spPr>
          <a:xfrm>
            <a:off x="502920" y="3877056"/>
            <a:ext cx="10607040" cy="566928"/>
          </a:xfrm>
          <a:prstGeom prst="rect">
            <a:avLst/>
          </a:prstGeom>
          <a:solidFill>
            <a:srgbClr val="EEF2F7"/>
          </a:solidFill>
          <a:ln w="9525">
            <a:solidFill>
              <a:srgbClr val="E4E9F1"/>
            </a:solidFill>
            <a:prstDash val="solid"/>
          </a:ln>
        </p:spPr>
      </p:sp>
      <p:sp>
        <p:nvSpPr>
          <p:cNvPr id="14" name="Text 12"/>
          <p:cNvSpPr/>
          <p:nvPr/>
        </p:nvSpPr>
        <p:spPr>
          <a:xfrm>
            <a:off x="502920" y="3877056"/>
            <a:ext cx="2194560" cy="566928"/>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RBF</a:t>
            </a:r>
            <a:endParaRPr lang="en-US" sz="1200" dirty="0"/>
          </a:p>
        </p:txBody>
      </p:sp>
      <p:sp>
        <p:nvSpPr>
          <p:cNvPr id="15" name="Text 13"/>
          <p:cNvSpPr/>
          <p:nvPr/>
        </p:nvSpPr>
        <p:spPr>
          <a:xfrm>
            <a:off x="2697480" y="3877056"/>
            <a:ext cx="5120640" cy="56692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exp( -gamma * ||x - x'||^2 )</a:t>
            </a:r>
            <a:endParaRPr lang="en-US" sz="1200" dirty="0"/>
          </a:p>
        </p:txBody>
      </p:sp>
      <p:sp>
        <p:nvSpPr>
          <p:cNvPr id="16" name="Text 14"/>
          <p:cNvSpPr/>
          <p:nvPr/>
        </p:nvSpPr>
        <p:spPr>
          <a:xfrm>
            <a:off x="7818120" y="3877056"/>
            <a:ext cx="3291840" cy="56692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Smooth, flexible curve</a:t>
            </a:r>
            <a:endParaRPr lang="en-US" sz="1200" dirty="0"/>
          </a:p>
        </p:txBody>
      </p:sp>
      <p:sp>
        <p:nvSpPr>
          <p:cNvPr id="17" name="Shape 15"/>
          <p:cNvSpPr/>
          <p:nvPr/>
        </p:nvSpPr>
        <p:spPr>
          <a:xfrm>
            <a:off x="502920" y="4443984"/>
            <a:ext cx="10607040" cy="566928"/>
          </a:xfrm>
          <a:prstGeom prst="rect">
            <a:avLst/>
          </a:prstGeom>
          <a:solidFill>
            <a:srgbClr val="FFFFFF"/>
          </a:solidFill>
          <a:ln w="9525">
            <a:solidFill>
              <a:srgbClr val="E4E9F1"/>
            </a:solidFill>
            <a:prstDash val="solid"/>
          </a:ln>
        </p:spPr>
      </p:sp>
      <p:sp>
        <p:nvSpPr>
          <p:cNvPr id="18" name="Text 16"/>
          <p:cNvSpPr/>
          <p:nvPr/>
        </p:nvSpPr>
        <p:spPr>
          <a:xfrm>
            <a:off x="502920" y="4443984"/>
            <a:ext cx="2194560" cy="566928"/>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Polynomial</a:t>
            </a:r>
            <a:endParaRPr lang="en-US" sz="1200" dirty="0"/>
          </a:p>
        </p:txBody>
      </p:sp>
      <p:sp>
        <p:nvSpPr>
          <p:cNvPr id="19" name="Text 17"/>
          <p:cNvSpPr/>
          <p:nvPr/>
        </p:nvSpPr>
        <p:spPr>
          <a:xfrm>
            <a:off x="2697480" y="4443984"/>
            <a:ext cx="5120640" cy="56692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(gamma * x . x' + r)^d</a:t>
            </a:r>
            <a:endParaRPr lang="en-US" sz="1200" dirty="0"/>
          </a:p>
        </p:txBody>
      </p:sp>
      <p:sp>
        <p:nvSpPr>
          <p:cNvPr id="20" name="Text 18"/>
          <p:cNvSpPr/>
          <p:nvPr/>
        </p:nvSpPr>
        <p:spPr>
          <a:xfrm>
            <a:off x="7818120" y="4443984"/>
            <a:ext cx="3291840" cy="56692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Curved, degree-d surface</a:t>
            </a:r>
            <a:endParaRPr lang="en-US" sz="1200" dirty="0"/>
          </a:p>
        </p:txBody>
      </p:sp>
      <p:sp>
        <p:nvSpPr>
          <p:cNvPr id="21" name="Text 19"/>
          <p:cNvSpPr/>
          <p:nvPr/>
        </p:nvSpPr>
        <p:spPr>
          <a:xfrm>
            <a:off x="502920" y="4983480"/>
            <a:ext cx="12801600" cy="566928"/>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gamma controls how far a single training example's influence reaches — this project's tuned RBF model uses gamma = 0.1.</a:t>
            </a:r>
            <a:endParaRPr lang="en-US" sz="1150" dirty="0"/>
          </a:p>
        </p:txBody>
      </p:sp>
      <p:sp>
        <p:nvSpPr>
          <p:cNvPr id="22" name="Shape 20"/>
          <p:cNvSpPr/>
          <p:nvPr/>
        </p:nvSpPr>
        <p:spPr>
          <a:xfrm>
            <a:off x="338328" y="5550408"/>
            <a:ext cx="11185855" cy="457200"/>
          </a:xfrm>
          <a:prstGeom prst="roundRect">
            <a:avLst>
              <a:gd name="adj" fmla="val 12000"/>
            </a:avLst>
          </a:prstGeom>
          <a:solidFill>
            <a:srgbClr val="FFF8E8"/>
          </a:solidFill>
          <a:ln w="12700">
            <a:solidFill>
              <a:srgbClr val="F0C24B"/>
            </a:solidFill>
            <a:prstDash val="solid"/>
          </a:ln>
        </p:spPr>
      </p:sp>
      <p:sp>
        <p:nvSpPr>
          <p:cNvPr id="23" name="Text 21"/>
          <p:cNvSpPr/>
          <p:nvPr/>
        </p:nvSpPr>
        <p:spPr>
          <a:xfrm>
            <a:off x="502920" y="5567203"/>
            <a:ext cx="10856671" cy="457200"/>
          </a:xfrm>
          <a:prstGeom prst="rect">
            <a:avLst/>
          </a:prstGeom>
          <a:noFill/>
          <a:ln/>
        </p:spPr>
        <p:txBody>
          <a:bodyPr wrap="square" lIns="0" tIns="0" rIns="0" bIns="0" rtlCol="0" anchor="ctr"/>
          <a:lstStyle/>
          <a:p>
            <a:pPr marL="0" indent="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  </a:t>
            </a:r>
            <a:r>
              <a:rPr lang="en-US" sz="950" dirty="0">
                <a:solidFill>
                  <a:srgbClr val="3D3620"/>
                </a:solidFill>
                <a:latin typeface="Calibri" pitchFamily="34" charset="0"/>
                <a:ea typeface="Calibri" pitchFamily="34" charset="-122"/>
                <a:cs typeface="Calibri" pitchFamily="34" charset="-120"/>
              </a:rPr>
              <a:t>A "kernel" is just the shape of boundary the model is allowed to draw between classes — Linear is a straight cut, RBF and Polynomial can bend to fit curvier data.</a:t>
            </a:r>
            <a:endParaRPr lang="en-US" sz="950" dirty="0"/>
          </a:p>
        </p:txBody>
      </p:sp>
      <p:sp>
        <p:nvSpPr>
          <p:cNvPr id="24" name="Text 22"/>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3"/>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Multi-Class Strategy: One-vs-One</a:t>
            </a:r>
            <a:endParaRPr lang="en-US" sz="3000" dirty="0"/>
          </a:p>
        </p:txBody>
      </p:sp>
      <p:sp>
        <p:nvSpPr>
          <p:cNvPr id="4" name="Text 2"/>
          <p:cNvSpPr/>
          <p:nvPr/>
        </p:nvSpPr>
        <p:spPr>
          <a:xfrm>
            <a:off x="502920" y="1828800"/>
            <a:ext cx="10607040" cy="777240"/>
          </a:xfrm>
          <a:prstGeom prst="rect">
            <a:avLst/>
          </a:prstGeom>
          <a:noFill/>
          <a:ln/>
        </p:spPr>
        <p:txBody>
          <a:bodyPr wrap="square" lIns="0" tIns="0" rIns="0" bIns="0" rtlCol="0" anchor="ctr"/>
          <a:lstStyle/>
          <a:p>
            <a:pPr marL="0" indent="0">
              <a:lnSpc>
                <a:spcPct val="128000"/>
              </a:lnSpc>
              <a:buNone/>
            </a:pPr>
            <a:r>
              <a:rPr lang="en-US" sz="1350" dirty="0">
                <a:solidFill>
                  <a:srgbClr val="1E293B"/>
                </a:solidFill>
                <a:latin typeface="Calibri" pitchFamily="34" charset="0"/>
                <a:ea typeface="Calibri" pitchFamily="34" charset="-122"/>
                <a:cs typeface="Calibri"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5" name="Shape 3"/>
          <p:cNvSpPr/>
          <p:nvPr/>
        </p:nvSpPr>
        <p:spPr>
          <a:xfrm>
            <a:off x="502920" y="2743200"/>
            <a:ext cx="10607040" cy="1234440"/>
          </a:xfrm>
          <a:prstGeom prst="roundRect">
            <a:avLst>
              <a:gd name="adj" fmla="val 5926"/>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2880360"/>
            <a:ext cx="10058400" cy="960120"/>
          </a:xfrm>
          <a:prstGeom prst="rect">
            <a:avLst/>
          </a:prstGeom>
          <a:noFill/>
          <a:ln/>
        </p:spPr>
        <p:txBody>
          <a:bodyPr wrap="square" lIns="0" tIns="0" rIns="0" bIns="0" rtlCol="0" anchor="ctr"/>
          <a:lstStyle/>
          <a:p>
            <a:pPr marL="0" indent="0" algn="l">
              <a:lnSpc>
                <a:spcPct val="140000"/>
              </a:lnSpc>
              <a:buNone/>
            </a:pPr>
            <a:r>
              <a:rPr lang="en-US" sz="1500" dirty="0">
                <a:solidFill>
                  <a:srgbClr val="E7ECF4"/>
                </a:solidFill>
                <a:latin typeface="Courier New" pitchFamily="34" charset="0"/>
                <a:ea typeface="Courier New" pitchFamily="34" charset="-122"/>
                <a:cs typeface="Courier New" pitchFamily="34" charset="-120"/>
              </a:rPr>
              <a:t>Number of binary classifiers = C(20, 2) = 20*19 / 2 = 190</a:t>
            </a:r>
            <a:endParaRPr lang="en-US" sz="1500" dirty="0"/>
          </a:p>
          <a:p>
            <a:pPr marL="0" indent="0" algn="l">
              <a:lnSpc>
                <a:spcPct val="140000"/>
              </a:lnSpc>
              <a:buNone/>
            </a:pPr>
            <a:r>
              <a:rPr lang="en-US" sz="1500" dirty="0">
                <a:solidFill>
                  <a:srgbClr val="E7ECF4"/>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7" name="Text 5"/>
          <p:cNvSpPr/>
          <p:nvPr/>
        </p:nvSpPr>
        <p:spPr>
          <a:xfrm>
            <a:off x="502920" y="4251960"/>
            <a:ext cx="10607040" cy="822960"/>
          </a:xfrm>
          <a:prstGeom prst="rect">
            <a:avLst/>
          </a:prstGeom>
          <a:noFill/>
          <a:ln/>
        </p:spPr>
        <p:txBody>
          <a:bodyPr wrap="square" lIns="0" tIns="0" rIns="0" bIns="0" rtlCol="0" anchor="ctr"/>
          <a:lstStyle/>
          <a:p>
            <a:pPr marL="0" indent="0">
              <a:lnSpc>
                <a:spcPct val="130000"/>
              </a:lnSpc>
              <a:buNone/>
            </a:pPr>
            <a:r>
              <a:rPr lang="en-US" sz="1250" dirty="0">
                <a:solidFill>
                  <a:srgbClr val="000000"/>
                </a:solidFill>
                <a:latin typeface="Calibri" pitchFamily="34" charset="0"/>
                <a:ea typeface="Calibri" pitchFamily="34" charset="-122"/>
                <a:cs typeface="Calibri" pitchFamily="34" charset="-120"/>
              </a:rPr>
              <a:t>Each of the 190 mini-classifiers votes on which of its two classes a sample looks more like; the class with the most votes wins. </a:t>
            </a:r>
            <a:r>
              <a:rPr lang="en-US" sz="1250" dirty="0">
                <a:solidFill>
                  <a:srgbClr val="64748B"/>
                </a:solidFill>
                <a:latin typeface="Calibri" pitchFamily="34" charset="0"/>
                <a:ea typeface="Calibri" pitchFamily="34" charset="-122"/>
                <a:cs typeface="Calibri" pitchFamily="34" charset="-120"/>
              </a:rPr>
              <a:t>This is what lets a single SVC model handle a 20-way problem without any special multi-class math of its own.</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 · STEP 1: BASELINE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Baseline Results — Before Any Tuning</a:t>
            </a:r>
            <a:endParaRPr lang="en-US" sz="3000" dirty="0"/>
          </a:p>
        </p:txBody>
      </p:sp>
      <p:sp>
        <p:nvSpPr>
          <p:cNvPr id="4" name="Text 2"/>
          <p:cNvSpPr/>
          <p:nvPr/>
        </p:nvSpPr>
        <p:spPr>
          <a:xfrm>
            <a:off x="502920" y="1783080"/>
            <a:ext cx="10607040" cy="777240"/>
          </a:xfrm>
          <a:prstGeom prst="rect">
            <a:avLst/>
          </a:prstGeom>
          <a:noFill/>
          <a:ln/>
        </p:spPr>
        <p:txBody>
          <a:bodyPr wrap="square" lIns="0" tIns="0" rIns="0" bIns="0" rtlCol="0" anchor="ctr"/>
          <a:lstStyle/>
          <a:p>
            <a:pPr marL="0" indent="0">
              <a:lnSpc>
                <a:spcPct val="128000"/>
              </a:lnSpc>
              <a:buNone/>
            </a:pPr>
            <a:r>
              <a:rPr lang="en-US" sz="1300" dirty="0">
                <a:solidFill>
                  <a:srgbClr val="1E293B"/>
                </a:solidFill>
                <a:latin typeface="Calibri" pitchFamily="34" charset="0"/>
                <a:ea typeface="Calibri" pitchFamily="34" charset="-122"/>
                <a:cs typeface="Calibri" pitchFamily="34" charset="-120"/>
              </a:rPr>
              <a:t>Before touching a single hyperparameter, all three kernels are trained with scikit-learn's near-default settings </a:t>
            </a:r>
            <a:r>
              <a:rPr lang="en-US" sz="1300" b="1" dirty="0">
                <a:solidFill>
                  <a:srgbClr val="0B1F3A"/>
                </a:solidFill>
                <a:latin typeface="Courier New" pitchFamily="34" charset="0"/>
                <a:ea typeface="Courier New" pitchFamily="34" charset="-122"/>
                <a:cs typeface="Courier New" pitchFamily="34" charset="-120"/>
              </a:rPr>
              <a:t>(C=1.0, gamma="scale")</a:t>
            </a:r>
            <a:r>
              <a:rPr lang="en-US" sz="1300" dirty="0">
                <a:solidFill>
                  <a:srgbClr val="1E293B"/>
                </a:solidFill>
                <a:latin typeface="Calibri" pitchFamily="34" charset="0"/>
                <a:ea typeface="Calibri" pitchFamily="34" charset="-122"/>
                <a:cs typeface="Calibri" pitchFamily="34" charset="-120"/>
              </a:rPr>
              <a:t> on the same 80/20 split. This is the honest starting point every improvement from here on is measured against.</a:t>
            </a:r>
            <a:endParaRPr lang="en-US" sz="1300" dirty="0"/>
          </a:p>
        </p:txBody>
      </p:sp>
      <p:sp>
        <p:nvSpPr>
          <p:cNvPr id="5" name="Shape 3"/>
          <p:cNvSpPr/>
          <p:nvPr/>
        </p:nvSpPr>
        <p:spPr>
          <a:xfrm>
            <a:off x="502920" y="2697480"/>
            <a:ext cx="3429000" cy="2834640"/>
          </a:xfrm>
          <a:prstGeom prst="roundRect">
            <a:avLst>
              <a:gd name="adj" fmla="val 2903"/>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6" name="Shape 4"/>
          <p:cNvSpPr/>
          <p:nvPr/>
        </p:nvSpPr>
        <p:spPr>
          <a:xfrm>
            <a:off x="1906524" y="295351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7" name="Image 0" descr="/sessions/blissful-zealous-babbage/mnt/outputs/ppt/icons/chartline_00B4D8.png"/>
          <p:cNvPicPr>
            <a:picLocks noChangeAspect="1"/>
          </p:cNvPicPr>
          <p:nvPr/>
        </p:nvPicPr>
        <p:blipFill>
          <a:blip r:embed="rId3"/>
          <a:stretch>
            <a:fillRect/>
          </a:stretch>
        </p:blipFill>
        <p:spPr>
          <a:xfrm>
            <a:off x="1990466" y="3037454"/>
            <a:ext cx="453908" cy="453908"/>
          </a:xfrm>
          <a:prstGeom prst="rect">
            <a:avLst/>
          </a:prstGeom>
        </p:spPr>
      </p:pic>
      <p:sp>
        <p:nvSpPr>
          <p:cNvPr id="8" name="Text 5"/>
          <p:cNvSpPr/>
          <p:nvPr/>
        </p:nvSpPr>
        <p:spPr>
          <a:xfrm>
            <a:off x="502920" y="3703320"/>
            <a:ext cx="3429000"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9" name="Text 6"/>
          <p:cNvSpPr/>
          <p:nvPr/>
        </p:nvSpPr>
        <p:spPr>
          <a:xfrm>
            <a:off x="640080" y="4114800"/>
            <a:ext cx="3154680" cy="502920"/>
          </a:xfrm>
          <a:prstGeom prst="rect">
            <a:avLst/>
          </a:prstGeom>
          <a:noFill/>
          <a:ln/>
        </p:spPr>
        <p:txBody>
          <a:bodyPr wrap="square" lIns="0" tIns="0" rIns="0" bIns="0" rtlCol="0" anchor="ctr"/>
          <a:lstStyle/>
          <a:p>
            <a:pPr marL="0" indent="0" algn="ctr">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SVC(kernel="linear", C=1.0)</a:t>
            </a:r>
            <a:endParaRPr lang="en-US" sz="870" dirty="0"/>
          </a:p>
        </p:txBody>
      </p:sp>
      <p:sp>
        <p:nvSpPr>
          <p:cNvPr id="10" name="Text 7"/>
          <p:cNvSpPr/>
          <p:nvPr/>
        </p:nvSpPr>
        <p:spPr>
          <a:xfrm>
            <a:off x="502920" y="4754880"/>
            <a:ext cx="3429000" cy="548640"/>
          </a:xfrm>
          <a:prstGeom prst="rect">
            <a:avLst/>
          </a:prstGeom>
          <a:noFill/>
          <a:ln/>
        </p:spPr>
        <p:txBody>
          <a:bodyPr wrap="square" lIns="0" tIns="0" rIns="0" bIns="0" rtlCol="0" anchor="ctr"/>
          <a:lstStyle/>
          <a:p>
            <a:pPr marL="0" indent="0" algn="ctr">
              <a:buNone/>
            </a:pPr>
            <a:r>
              <a:rPr lang="en-US" sz="2600" b="1" dirty="0">
                <a:solidFill>
                  <a:srgbClr val="0B1F3A"/>
                </a:solidFill>
                <a:latin typeface="Cambria" pitchFamily="34" charset="0"/>
                <a:ea typeface="Cambria" pitchFamily="34" charset="-122"/>
                <a:cs typeface="Cambria" pitchFamily="34" charset="-120"/>
              </a:rPr>
              <a:t>77.94%</a:t>
            </a:r>
            <a:endParaRPr lang="en-US" sz="2600" dirty="0"/>
          </a:p>
        </p:txBody>
      </p:sp>
      <p:sp>
        <p:nvSpPr>
          <p:cNvPr id="11" name="Text 8"/>
          <p:cNvSpPr/>
          <p:nvPr/>
        </p:nvSpPr>
        <p:spPr>
          <a:xfrm>
            <a:off x="502920" y="5257800"/>
            <a:ext cx="3429000"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2" name="Shape 9"/>
          <p:cNvSpPr/>
          <p:nvPr/>
        </p:nvSpPr>
        <p:spPr>
          <a:xfrm>
            <a:off x="4251960" y="2697480"/>
            <a:ext cx="3429000" cy="2834640"/>
          </a:xfrm>
          <a:prstGeom prst="roundRect">
            <a:avLst>
              <a:gd name="adj" fmla="val 2903"/>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3" name="Shape 10"/>
          <p:cNvSpPr/>
          <p:nvPr/>
        </p:nvSpPr>
        <p:spPr>
          <a:xfrm>
            <a:off x="5655564" y="295351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14" name="Image 1" descr="/sessions/blissful-zealous-babbage/mnt/outputs/ppt/icons/wave_00B4D8.png"/>
          <p:cNvPicPr>
            <a:picLocks noChangeAspect="1"/>
          </p:cNvPicPr>
          <p:nvPr/>
        </p:nvPicPr>
        <p:blipFill>
          <a:blip r:embed="rId4"/>
          <a:stretch>
            <a:fillRect/>
          </a:stretch>
        </p:blipFill>
        <p:spPr>
          <a:xfrm>
            <a:off x="5739506" y="3037454"/>
            <a:ext cx="453908" cy="453908"/>
          </a:xfrm>
          <a:prstGeom prst="rect">
            <a:avLst/>
          </a:prstGeom>
        </p:spPr>
      </p:pic>
      <p:sp>
        <p:nvSpPr>
          <p:cNvPr id="15" name="Text 11"/>
          <p:cNvSpPr/>
          <p:nvPr/>
        </p:nvSpPr>
        <p:spPr>
          <a:xfrm>
            <a:off x="4251960" y="3703320"/>
            <a:ext cx="3429000"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RBF</a:t>
            </a:r>
            <a:endParaRPr lang="en-US" sz="1700" dirty="0"/>
          </a:p>
        </p:txBody>
      </p:sp>
      <p:sp>
        <p:nvSpPr>
          <p:cNvPr id="16" name="Text 12"/>
          <p:cNvSpPr/>
          <p:nvPr/>
        </p:nvSpPr>
        <p:spPr>
          <a:xfrm>
            <a:off x="4389120" y="4114800"/>
            <a:ext cx="3154680" cy="502920"/>
          </a:xfrm>
          <a:prstGeom prst="rect">
            <a:avLst/>
          </a:prstGeom>
          <a:noFill/>
          <a:ln/>
        </p:spPr>
        <p:txBody>
          <a:bodyPr wrap="square" lIns="0" tIns="0" rIns="0" bIns="0" rtlCol="0" anchor="ctr"/>
          <a:lstStyle/>
          <a:p>
            <a:pPr marL="0" indent="0" algn="ctr">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SVC(kernel="rbf", C=1.0, gamma="scale")</a:t>
            </a:r>
            <a:endParaRPr lang="en-US" sz="870" dirty="0"/>
          </a:p>
        </p:txBody>
      </p:sp>
      <p:sp>
        <p:nvSpPr>
          <p:cNvPr id="17" name="Text 13"/>
          <p:cNvSpPr/>
          <p:nvPr/>
        </p:nvSpPr>
        <p:spPr>
          <a:xfrm>
            <a:off x="4251960" y="4754880"/>
            <a:ext cx="3429000" cy="548640"/>
          </a:xfrm>
          <a:prstGeom prst="rect">
            <a:avLst/>
          </a:prstGeom>
          <a:noFill/>
          <a:ln/>
        </p:spPr>
        <p:txBody>
          <a:bodyPr wrap="square" lIns="0" tIns="0" rIns="0" bIns="0" rtlCol="0" anchor="ctr"/>
          <a:lstStyle/>
          <a:p>
            <a:pPr marL="0" indent="0" algn="ctr">
              <a:buNone/>
            </a:pPr>
            <a:r>
              <a:rPr lang="en-US" sz="2600" b="1" dirty="0">
                <a:solidFill>
                  <a:srgbClr val="0B1F3A"/>
                </a:solidFill>
                <a:latin typeface="Cambria" pitchFamily="34" charset="0"/>
                <a:ea typeface="Cambria" pitchFamily="34" charset="-122"/>
                <a:cs typeface="Cambria" pitchFamily="34" charset="-120"/>
              </a:rPr>
              <a:t>71.08%</a:t>
            </a:r>
            <a:endParaRPr lang="en-US" sz="2600" dirty="0"/>
          </a:p>
        </p:txBody>
      </p:sp>
      <p:sp>
        <p:nvSpPr>
          <p:cNvPr id="18" name="Text 14"/>
          <p:cNvSpPr/>
          <p:nvPr/>
        </p:nvSpPr>
        <p:spPr>
          <a:xfrm>
            <a:off x="4251960" y="5257800"/>
            <a:ext cx="3429000"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9" name="Shape 15"/>
          <p:cNvSpPr/>
          <p:nvPr/>
        </p:nvSpPr>
        <p:spPr>
          <a:xfrm>
            <a:off x="8001000" y="2697480"/>
            <a:ext cx="3429000" cy="2834640"/>
          </a:xfrm>
          <a:prstGeom prst="roundRect">
            <a:avLst>
              <a:gd name="adj" fmla="val 2903"/>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0" name="Shape 16"/>
          <p:cNvSpPr/>
          <p:nvPr/>
        </p:nvSpPr>
        <p:spPr>
          <a:xfrm>
            <a:off x="9404604" y="295351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21" name="Image 2" descr="/sessions/blissful-zealous-babbage/mnt/outputs/ppt/icons/chartbar_00B4D8.png"/>
          <p:cNvPicPr>
            <a:picLocks noChangeAspect="1"/>
          </p:cNvPicPr>
          <p:nvPr/>
        </p:nvPicPr>
        <p:blipFill>
          <a:blip r:embed="rId5"/>
          <a:stretch>
            <a:fillRect/>
          </a:stretch>
        </p:blipFill>
        <p:spPr>
          <a:xfrm>
            <a:off x="9488546" y="3037454"/>
            <a:ext cx="453908" cy="453908"/>
          </a:xfrm>
          <a:prstGeom prst="rect">
            <a:avLst/>
          </a:prstGeom>
        </p:spPr>
      </p:pic>
      <p:sp>
        <p:nvSpPr>
          <p:cNvPr id="22" name="Text 17"/>
          <p:cNvSpPr/>
          <p:nvPr/>
        </p:nvSpPr>
        <p:spPr>
          <a:xfrm>
            <a:off x="8001000" y="3703320"/>
            <a:ext cx="3429000"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3" name="Text 18"/>
          <p:cNvSpPr/>
          <p:nvPr/>
        </p:nvSpPr>
        <p:spPr>
          <a:xfrm>
            <a:off x="8138160" y="4114800"/>
            <a:ext cx="3154680" cy="502920"/>
          </a:xfrm>
          <a:prstGeom prst="rect">
            <a:avLst/>
          </a:prstGeom>
          <a:noFill/>
          <a:ln/>
        </p:spPr>
        <p:txBody>
          <a:bodyPr wrap="square" lIns="0" tIns="0" rIns="0" bIns="0" rtlCol="0" anchor="ctr"/>
          <a:lstStyle/>
          <a:p>
            <a:pPr marL="0" indent="0" algn="ctr">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4" name="Text 19"/>
          <p:cNvSpPr/>
          <p:nvPr/>
        </p:nvSpPr>
        <p:spPr>
          <a:xfrm>
            <a:off x="8001000" y="4754880"/>
            <a:ext cx="3429000" cy="548640"/>
          </a:xfrm>
          <a:prstGeom prst="rect">
            <a:avLst/>
          </a:prstGeom>
          <a:noFill/>
          <a:ln/>
        </p:spPr>
        <p:txBody>
          <a:bodyPr wrap="square" lIns="0" tIns="0" rIns="0" bIns="0" rtlCol="0" anchor="ctr"/>
          <a:lstStyle/>
          <a:p>
            <a:pPr marL="0" indent="0" algn="ctr">
              <a:buNone/>
            </a:pPr>
            <a:r>
              <a:rPr lang="en-US" sz="2600" b="1" dirty="0">
                <a:solidFill>
                  <a:srgbClr val="0B1F3A"/>
                </a:solidFill>
                <a:latin typeface="Cambria" pitchFamily="34" charset="0"/>
                <a:ea typeface="Cambria" pitchFamily="34" charset="-122"/>
                <a:cs typeface="Cambria" pitchFamily="34" charset="-120"/>
              </a:rPr>
              <a:t>75.49%</a:t>
            </a:r>
            <a:endParaRPr lang="en-US" sz="2600" dirty="0"/>
          </a:p>
        </p:txBody>
      </p:sp>
      <p:sp>
        <p:nvSpPr>
          <p:cNvPr id="25" name="Text 20"/>
          <p:cNvSpPr/>
          <p:nvPr/>
        </p:nvSpPr>
        <p:spPr>
          <a:xfrm>
            <a:off x="8001000" y="5257800"/>
            <a:ext cx="3429000"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26" name="Shape 21"/>
          <p:cNvSpPr/>
          <p:nvPr/>
        </p:nvSpPr>
        <p:spPr>
          <a:xfrm>
            <a:off x="502920" y="5760720"/>
            <a:ext cx="10607040" cy="594360"/>
          </a:xfrm>
          <a:prstGeom prst="roundRect">
            <a:avLst>
              <a:gd name="adj" fmla="val 10769"/>
            </a:avLst>
          </a:prstGeom>
          <a:solidFill>
            <a:srgbClr val="EEF2F7"/>
          </a:solidFill>
          <a:ln w="12700">
            <a:solidFill>
              <a:srgbClr val="E4E9F1"/>
            </a:solidFill>
            <a:prstDash val="solid"/>
          </a:ln>
        </p:spPr>
      </p:sp>
      <p:sp>
        <p:nvSpPr>
          <p:cNvPr id="27" name="Text 22"/>
          <p:cNvSpPr/>
          <p:nvPr/>
        </p:nvSpPr>
        <p:spPr>
          <a:xfrm>
            <a:off x="502920" y="5760720"/>
            <a:ext cx="10607040" cy="594360"/>
          </a:xfrm>
          <a:prstGeom prst="rect">
            <a:avLst/>
          </a:prstGeom>
          <a:noFill/>
          <a:ln/>
        </p:spPr>
        <p:txBody>
          <a:bodyPr wrap="square" lIns="0" tIns="0" rIns="0" bIns="0" rtlCol="0" anchor="ctr"/>
          <a:lstStyle/>
          <a:p>
            <a:pPr marL="0" indent="0" algn="ctr">
              <a:buNone/>
            </a:pPr>
            <a:r>
              <a:rPr lang="en-US" sz="1100" i="1" dirty="0">
                <a:solidFill>
                  <a:srgbClr val="0B1F3A"/>
                </a:solidFill>
                <a:latin typeface="Calibri" pitchFamily="34" charset="0"/>
                <a:ea typeface="Calibri" pitchFamily="34" charset="-122"/>
                <a:cs typeface="Calibri" pitchFamily="34" charset="-120"/>
              </a:rPr>
              <a:t>Even untuned, Linear already beats RBF — a sign the 17 hand-engineered features do real work before the classifier even sees them.</a:t>
            </a:r>
            <a:endParaRPr lang="en-US" sz="1100" dirty="0"/>
          </a:p>
        </p:txBody>
      </p:sp>
      <p:sp>
        <p:nvSpPr>
          <p:cNvPr id="28" name="Text 2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Tuning with GridSearchCV</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marL="0" indent="0">
              <a:lnSpc>
                <a:spcPct val="128000"/>
              </a:lnSpc>
              <a:buNone/>
            </a:pPr>
            <a:r>
              <a:rPr lang="en-US" sz="1300" dirty="0">
                <a:solidFill>
                  <a:srgbClr val="1E293B"/>
                </a:solidFill>
                <a:latin typeface="Calibri" pitchFamily="34" charset="0"/>
                <a:ea typeface="Calibri" pitchFamily="34" charset="-122"/>
                <a:cs typeface="Calibri" pitchFamily="34" charset="-120"/>
              </a:rPr>
              <a:t>The baseline numbers leave room on the table — untuned RBF scores only </a:t>
            </a:r>
            <a:r>
              <a:rPr lang="en-US" sz="1300" b="1" dirty="0">
                <a:solidFill>
                  <a:srgbClr val="D9695F"/>
                </a:solidFill>
                <a:latin typeface="Calibri" pitchFamily="34" charset="0"/>
                <a:ea typeface="Calibri" pitchFamily="34" charset="-122"/>
                <a:cs typeface="Calibri" pitchFamily="34" charset="-120"/>
              </a:rPr>
              <a:t>71.1%</a:t>
            </a:r>
            <a:r>
              <a:rPr lang="en-US" sz="1300" dirty="0">
                <a:solidFill>
                  <a:srgbClr val="1E293B"/>
                </a:solidFill>
                <a:latin typeface="Calibri" pitchFamily="34" charset="0"/>
                <a:ea typeface="Calibri" pitchFamily="34" charset="-122"/>
                <a:cs typeface="Calibri" pitchFamily="34" charset="-120"/>
              </a:rPr>
              <a:t>. GridSearchCV exhaustively tries every combination in a grid of hyperparameters, scoring each with 5-fold cross-validation on the training set only.</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1920240" cy="530352"/>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423160" y="2606040"/>
            <a:ext cx="466344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Grid searched</a:t>
            </a:r>
            <a:endParaRPr lang="en-US" sz="1200" dirty="0"/>
          </a:p>
        </p:txBody>
      </p:sp>
      <p:sp>
        <p:nvSpPr>
          <p:cNvPr id="8" name="Text 6"/>
          <p:cNvSpPr/>
          <p:nvPr/>
        </p:nvSpPr>
        <p:spPr>
          <a:xfrm>
            <a:off x="7086600" y="2606040"/>
            <a:ext cx="201168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Combinations</a:t>
            </a:r>
            <a:endParaRPr lang="en-US" sz="1200" dirty="0"/>
          </a:p>
        </p:txBody>
      </p:sp>
      <p:sp>
        <p:nvSpPr>
          <p:cNvPr id="9" name="Text 7"/>
          <p:cNvSpPr/>
          <p:nvPr/>
        </p:nvSpPr>
        <p:spPr>
          <a:xfrm>
            <a:off x="9098280" y="2606040"/>
            <a:ext cx="2011680"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Total fits (x5 folds)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4E9F1"/>
            </a:solidFill>
            <a:prstDash val="solid"/>
          </a:ln>
        </p:spPr>
      </p:sp>
      <p:sp>
        <p:nvSpPr>
          <p:cNvPr id="11" name="Text 9"/>
          <p:cNvSpPr/>
          <p:nvPr/>
        </p:nvSpPr>
        <p:spPr>
          <a:xfrm>
            <a:off x="502920" y="3136392"/>
            <a:ext cx="192024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2" name="Text 10"/>
          <p:cNvSpPr/>
          <p:nvPr/>
        </p:nvSpPr>
        <p:spPr>
          <a:xfrm>
            <a:off x="2423160" y="3136392"/>
            <a:ext cx="46634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 in {0.001 ... 1000} (7 values)</a:t>
            </a:r>
            <a:endParaRPr lang="en-US" sz="1200" dirty="0"/>
          </a:p>
        </p:txBody>
      </p:sp>
      <p:sp>
        <p:nvSpPr>
          <p:cNvPr id="13" name="Text 11"/>
          <p:cNvSpPr/>
          <p:nvPr/>
        </p:nvSpPr>
        <p:spPr>
          <a:xfrm>
            <a:off x="7086600" y="3136392"/>
            <a:ext cx="201168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7</a:t>
            </a:r>
            <a:endParaRPr lang="en-US" sz="1200" dirty="0"/>
          </a:p>
        </p:txBody>
      </p:sp>
      <p:sp>
        <p:nvSpPr>
          <p:cNvPr id="14" name="Text 12"/>
          <p:cNvSpPr/>
          <p:nvPr/>
        </p:nvSpPr>
        <p:spPr>
          <a:xfrm>
            <a:off x="9098280" y="3136392"/>
            <a:ext cx="201168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35</a:t>
            </a:r>
            <a:endParaRPr lang="en-US" sz="1200" dirty="0"/>
          </a:p>
        </p:txBody>
      </p:sp>
      <p:sp>
        <p:nvSpPr>
          <p:cNvPr id="15" name="Shape 13"/>
          <p:cNvSpPr/>
          <p:nvPr/>
        </p:nvSpPr>
        <p:spPr>
          <a:xfrm>
            <a:off x="502920" y="3666744"/>
            <a:ext cx="10607040" cy="530352"/>
          </a:xfrm>
          <a:prstGeom prst="rect">
            <a:avLst/>
          </a:prstGeom>
          <a:solidFill>
            <a:srgbClr val="EEF2F7"/>
          </a:solidFill>
          <a:ln w="9525">
            <a:solidFill>
              <a:srgbClr val="E4E9F1"/>
            </a:solidFill>
            <a:prstDash val="solid"/>
          </a:ln>
        </p:spPr>
      </p:sp>
      <p:sp>
        <p:nvSpPr>
          <p:cNvPr id="16" name="Text 14"/>
          <p:cNvSpPr/>
          <p:nvPr/>
        </p:nvSpPr>
        <p:spPr>
          <a:xfrm>
            <a:off x="502920" y="3666744"/>
            <a:ext cx="192024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7" name="Text 15"/>
          <p:cNvSpPr/>
          <p:nvPr/>
        </p:nvSpPr>
        <p:spPr>
          <a:xfrm>
            <a:off x="2423160" y="3666744"/>
            <a:ext cx="46634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 (5) x gamma (6)</a:t>
            </a:r>
            <a:endParaRPr lang="en-US" sz="1200" dirty="0"/>
          </a:p>
        </p:txBody>
      </p:sp>
      <p:sp>
        <p:nvSpPr>
          <p:cNvPr id="18" name="Text 16"/>
          <p:cNvSpPr/>
          <p:nvPr/>
        </p:nvSpPr>
        <p:spPr>
          <a:xfrm>
            <a:off x="7086600" y="3666744"/>
            <a:ext cx="201168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30</a:t>
            </a:r>
            <a:endParaRPr lang="en-US" sz="1200" dirty="0"/>
          </a:p>
        </p:txBody>
      </p:sp>
      <p:sp>
        <p:nvSpPr>
          <p:cNvPr id="19" name="Text 17"/>
          <p:cNvSpPr/>
          <p:nvPr/>
        </p:nvSpPr>
        <p:spPr>
          <a:xfrm>
            <a:off x="9098280" y="3666744"/>
            <a:ext cx="201168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150</a:t>
            </a:r>
            <a:endParaRPr lang="en-US" sz="1200" dirty="0"/>
          </a:p>
        </p:txBody>
      </p:sp>
      <p:sp>
        <p:nvSpPr>
          <p:cNvPr id="20" name="Shape 18"/>
          <p:cNvSpPr/>
          <p:nvPr/>
        </p:nvSpPr>
        <p:spPr>
          <a:xfrm>
            <a:off x="502920" y="4197096"/>
            <a:ext cx="10607040" cy="530352"/>
          </a:xfrm>
          <a:prstGeom prst="rect">
            <a:avLst/>
          </a:prstGeom>
          <a:solidFill>
            <a:srgbClr val="FFFFFF"/>
          </a:solidFill>
          <a:ln w="9525">
            <a:solidFill>
              <a:srgbClr val="E4E9F1"/>
            </a:solidFill>
            <a:prstDash val="solid"/>
          </a:ln>
        </p:spPr>
      </p:sp>
      <p:sp>
        <p:nvSpPr>
          <p:cNvPr id="21" name="Text 19"/>
          <p:cNvSpPr/>
          <p:nvPr/>
        </p:nvSpPr>
        <p:spPr>
          <a:xfrm>
            <a:off x="502920" y="4197096"/>
            <a:ext cx="1920240" cy="530352"/>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22" name="Text 20"/>
          <p:cNvSpPr/>
          <p:nvPr/>
        </p:nvSpPr>
        <p:spPr>
          <a:xfrm>
            <a:off x="2423160" y="4197096"/>
            <a:ext cx="466344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C (4) x gamma (3) x degree (2)</a:t>
            </a:r>
            <a:endParaRPr lang="en-US" sz="1200" dirty="0"/>
          </a:p>
        </p:txBody>
      </p:sp>
      <p:sp>
        <p:nvSpPr>
          <p:cNvPr id="23" name="Text 21"/>
          <p:cNvSpPr/>
          <p:nvPr/>
        </p:nvSpPr>
        <p:spPr>
          <a:xfrm>
            <a:off x="7086600" y="4197096"/>
            <a:ext cx="201168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24</a:t>
            </a:r>
            <a:endParaRPr lang="en-US" sz="1200" dirty="0"/>
          </a:p>
        </p:txBody>
      </p:sp>
      <p:sp>
        <p:nvSpPr>
          <p:cNvPr id="24" name="Text 22"/>
          <p:cNvSpPr/>
          <p:nvPr/>
        </p:nvSpPr>
        <p:spPr>
          <a:xfrm>
            <a:off x="9098280" y="4197096"/>
            <a:ext cx="2011680" cy="530352"/>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120</a:t>
            </a:r>
            <a:endParaRPr lang="en-US" sz="1200" dirty="0"/>
          </a:p>
        </p:txBody>
      </p:sp>
      <p:sp>
        <p:nvSpPr>
          <p:cNvPr id="25" name="Shape 23"/>
          <p:cNvSpPr/>
          <p:nvPr/>
        </p:nvSpPr>
        <p:spPr>
          <a:xfrm>
            <a:off x="502920" y="4892040"/>
            <a:ext cx="10607040" cy="777240"/>
          </a:xfrm>
          <a:prstGeom prst="roundRect">
            <a:avLst>
              <a:gd name="adj" fmla="val 9412"/>
            </a:avLst>
          </a:prstGeom>
          <a:solidFill>
            <a:srgbClr val="0B1F3A"/>
          </a:solidFill>
          <a:ln/>
          <a:effectLst>
            <a:outerShdw blurRad="114300" dist="38100" dir="2700000" algn="bl" rotWithShape="0">
              <a:srgbClr val="0B1F3A">
                <a:alpha val="14000"/>
              </a:srgbClr>
            </a:outerShdw>
          </a:effectLst>
        </p:spPr>
      </p:sp>
      <p:sp>
        <p:nvSpPr>
          <p:cNvPr id="26" name="Text 24"/>
          <p:cNvSpPr/>
          <p:nvPr/>
        </p:nvSpPr>
        <p:spPr>
          <a:xfrm>
            <a:off x="822960" y="4892040"/>
            <a:ext cx="9966960" cy="777240"/>
          </a:xfrm>
          <a:prstGeom prst="rect">
            <a:avLst/>
          </a:prstGeom>
          <a:noFill/>
          <a:ln/>
        </p:spPr>
        <p:txBody>
          <a:bodyPr wrap="square" lIns="0" tIns="0" rIns="0" bIns="0" rtlCol="0" anchor="ctr"/>
          <a:lstStyle/>
          <a:p>
            <a:pPr marL="0" indent="0">
              <a:lnSpc>
                <a:spcPct val="120000"/>
              </a:lnSpc>
              <a:buNone/>
            </a:pPr>
            <a:r>
              <a:rPr lang="en-US" sz="1250" b="1" dirty="0">
                <a:solidFill>
                  <a:srgbClr val="FFB703"/>
                </a:solidFill>
                <a:latin typeface="Calibri" pitchFamily="34" charset="0"/>
                <a:ea typeface="Calibri" pitchFamily="34" charset="-122"/>
                <a:cs typeface="Calibri" pitchFamily="34" charset="-120"/>
              </a:rPr>
              <a:t>305 total model fits searched</a:t>
            </a:r>
            <a:r>
              <a:rPr lang="en-US" sz="1250" dirty="0">
                <a:solidFill>
                  <a:srgbClr val="E7ECF4"/>
                </a:solidFill>
                <a:latin typeface="Calibri" pitchFamily="34" charset="0"/>
                <a:ea typeface="Calibri" pitchFamily="34" charset="-122"/>
                <a:cs typeface="Calibri" pitchFamily="34" charset="-120"/>
              </a:rPr>
              <a:t>  — best RBF found: C=100, gamma=0.1, lifting it from 71.1% to 76.96% before the topology rule.</a:t>
            </a:r>
            <a:endParaRPr lang="en-US" sz="12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5-Fold Cross-Validation?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marL="0" indent="0">
              <a:lnSpc>
                <a:spcPct val="128000"/>
              </a:lnSpc>
              <a:buNone/>
            </a:pPr>
            <a:r>
              <a:rPr lang="en-US" sz="1300" dirty="0">
                <a:solidFill>
                  <a:srgbClr val="1E293B"/>
                </a:solidFill>
                <a:latin typeface="Calibri" pitchFamily="34" charset="0"/>
                <a:ea typeface="Calibri" pitchFamily="34" charset="-122"/>
                <a:cs typeface="Calibri"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5" name="Shape 3"/>
          <p:cNvSpPr/>
          <p:nvPr/>
        </p:nvSpPr>
        <p:spPr>
          <a:xfrm>
            <a:off x="502920" y="2697480"/>
            <a:ext cx="1920240" cy="475488"/>
          </a:xfrm>
          <a:prstGeom prst="roundRect">
            <a:avLst>
              <a:gd name="adj" fmla="val 9615"/>
            </a:avLst>
          </a:prstGeom>
          <a:solidFill>
            <a:srgbClr val="FFB703"/>
          </a:solidFill>
          <a:ln w="12700">
            <a:solidFill>
              <a:srgbClr val="FFB703"/>
            </a:solidFill>
            <a:prstDash val="solid"/>
          </a:ln>
        </p:spPr>
      </p:sp>
      <p:sp>
        <p:nvSpPr>
          <p:cNvPr id="6" name="Text 4"/>
          <p:cNvSpPr/>
          <p:nvPr/>
        </p:nvSpPr>
        <p:spPr>
          <a:xfrm>
            <a:off x="502920" y="2697480"/>
            <a:ext cx="1920240" cy="475488"/>
          </a:xfrm>
          <a:prstGeom prst="rect">
            <a:avLst/>
          </a:prstGeom>
          <a:no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7" name="Shape 5"/>
          <p:cNvSpPr/>
          <p:nvPr/>
        </p:nvSpPr>
        <p:spPr>
          <a:xfrm>
            <a:off x="2560320" y="2697480"/>
            <a:ext cx="1920240" cy="475488"/>
          </a:xfrm>
          <a:prstGeom prst="roundRect">
            <a:avLst>
              <a:gd name="adj" fmla="val 9615"/>
            </a:avLst>
          </a:prstGeom>
          <a:solidFill>
            <a:srgbClr val="DCE6F5"/>
          </a:solidFill>
          <a:ln w="12700">
            <a:solidFill>
              <a:srgbClr val="C3D2E8"/>
            </a:solidFill>
            <a:prstDash val="solid"/>
          </a:ln>
        </p:spPr>
      </p:sp>
      <p:sp>
        <p:nvSpPr>
          <p:cNvPr id="8" name="Text 6"/>
          <p:cNvSpPr/>
          <p:nvPr/>
        </p:nvSpPr>
        <p:spPr>
          <a:xfrm>
            <a:off x="2560320" y="2697480"/>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9" name="Shape 7"/>
          <p:cNvSpPr/>
          <p:nvPr/>
        </p:nvSpPr>
        <p:spPr>
          <a:xfrm>
            <a:off x="4617720" y="2697480"/>
            <a:ext cx="1920240" cy="475488"/>
          </a:xfrm>
          <a:prstGeom prst="roundRect">
            <a:avLst>
              <a:gd name="adj" fmla="val 9615"/>
            </a:avLst>
          </a:prstGeom>
          <a:solidFill>
            <a:srgbClr val="DCE6F5"/>
          </a:solidFill>
          <a:ln w="12700">
            <a:solidFill>
              <a:srgbClr val="C3D2E8"/>
            </a:solidFill>
            <a:prstDash val="solid"/>
          </a:ln>
        </p:spPr>
      </p:sp>
      <p:sp>
        <p:nvSpPr>
          <p:cNvPr id="10" name="Text 8"/>
          <p:cNvSpPr/>
          <p:nvPr/>
        </p:nvSpPr>
        <p:spPr>
          <a:xfrm>
            <a:off x="4617720" y="2697480"/>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1" name="Shape 9"/>
          <p:cNvSpPr/>
          <p:nvPr/>
        </p:nvSpPr>
        <p:spPr>
          <a:xfrm>
            <a:off x="6675120" y="2697480"/>
            <a:ext cx="1920240" cy="475488"/>
          </a:xfrm>
          <a:prstGeom prst="roundRect">
            <a:avLst>
              <a:gd name="adj" fmla="val 9615"/>
            </a:avLst>
          </a:prstGeom>
          <a:solidFill>
            <a:srgbClr val="DCE6F5"/>
          </a:solidFill>
          <a:ln w="12700">
            <a:solidFill>
              <a:srgbClr val="C3D2E8"/>
            </a:solidFill>
            <a:prstDash val="solid"/>
          </a:ln>
        </p:spPr>
      </p:sp>
      <p:sp>
        <p:nvSpPr>
          <p:cNvPr id="12" name="Text 10"/>
          <p:cNvSpPr/>
          <p:nvPr/>
        </p:nvSpPr>
        <p:spPr>
          <a:xfrm>
            <a:off x="6675120" y="2697480"/>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3" name="Shape 11"/>
          <p:cNvSpPr/>
          <p:nvPr/>
        </p:nvSpPr>
        <p:spPr>
          <a:xfrm>
            <a:off x="8732520" y="2697480"/>
            <a:ext cx="1920240" cy="475488"/>
          </a:xfrm>
          <a:prstGeom prst="roundRect">
            <a:avLst>
              <a:gd name="adj" fmla="val 9615"/>
            </a:avLst>
          </a:prstGeom>
          <a:solidFill>
            <a:srgbClr val="DCE6F5"/>
          </a:solidFill>
          <a:ln w="12700">
            <a:solidFill>
              <a:srgbClr val="C3D2E8"/>
            </a:solidFill>
            <a:prstDash val="solid"/>
          </a:ln>
        </p:spPr>
      </p:sp>
      <p:sp>
        <p:nvSpPr>
          <p:cNvPr id="14" name="Text 12"/>
          <p:cNvSpPr/>
          <p:nvPr/>
        </p:nvSpPr>
        <p:spPr>
          <a:xfrm>
            <a:off x="8732520" y="2697480"/>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5" name="Shape 13"/>
          <p:cNvSpPr/>
          <p:nvPr/>
        </p:nvSpPr>
        <p:spPr>
          <a:xfrm>
            <a:off x="502920" y="3264408"/>
            <a:ext cx="1920240" cy="475488"/>
          </a:xfrm>
          <a:prstGeom prst="roundRect">
            <a:avLst>
              <a:gd name="adj" fmla="val 9615"/>
            </a:avLst>
          </a:prstGeom>
          <a:solidFill>
            <a:srgbClr val="DCE6F5"/>
          </a:solidFill>
          <a:ln w="12700">
            <a:solidFill>
              <a:srgbClr val="C3D2E8"/>
            </a:solidFill>
            <a:prstDash val="solid"/>
          </a:ln>
        </p:spPr>
      </p:sp>
      <p:sp>
        <p:nvSpPr>
          <p:cNvPr id="16" name="Text 14"/>
          <p:cNvSpPr/>
          <p:nvPr/>
        </p:nvSpPr>
        <p:spPr>
          <a:xfrm>
            <a:off x="502920" y="3264408"/>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7" name="Shape 15"/>
          <p:cNvSpPr/>
          <p:nvPr/>
        </p:nvSpPr>
        <p:spPr>
          <a:xfrm>
            <a:off x="2560320" y="3264408"/>
            <a:ext cx="1920240" cy="475488"/>
          </a:xfrm>
          <a:prstGeom prst="roundRect">
            <a:avLst>
              <a:gd name="adj" fmla="val 9615"/>
            </a:avLst>
          </a:prstGeom>
          <a:solidFill>
            <a:srgbClr val="FFB703"/>
          </a:solidFill>
          <a:ln w="12700">
            <a:solidFill>
              <a:srgbClr val="FFB703"/>
            </a:solidFill>
            <a:prstDash val="solid"/>
          </a:ln>
        </p:spPr>
      </p:sp>
      <p:sp>
        <p:nvSpPr>
          <p:cNvPr id="18" name="Text 16"/>
          <p:cNvSpPr/>
          <p:nvPr/>
        </p:nvSpPr>
        <p:spPr>
          <a:xfrm>
            <a:off x="2560320" y="3264408"/>
            <a:ext cx="1920240" cy="475488"/>
          </a:xfrm>
          <a:prstGeom prst="rect">
            <a:avLst/>
          </a:prstGeom>
          <a:no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19" name="Shape 17"/>
          <p:cNvSpPr/>
          <p:nvPr/>
        </p:nvSpPr>
        <p:spPr>
          <a:xfrm>
            <a:off x="4617720" y="3264408"/>
            <a:ext cx="1920240" cy="475488"/>
          </a:xfrm>
          <a:prstGeom prst="roundRect">
            <a:avLst>
              <a:gd name="adj" fmla="val 9615"/>
            </a:avLst>
          </a:prstGeom>
          <a:solidFill>
            <a:srgbClr val="DCE6F5"/>
          </a:solidFill>
          <a:ln w="12700">
            <a:solidFill>
              <a:srgbClr val="C3D2E8"/>
            </a:solidFill>
            <a:prstDash val="solid"/>
          </a:ln>
        </p:spPr>
      </p:sp>
      <p:sp>
        <p:nvSpPr>
          <p:cNvPr id="20" name="Text 18"/>
          <p:cNvSpPr/>
          <p:nvPr/>
        </p:nvSpPr>
        <p:spPr>
          <a:xfrm>
            <a:off x="4617720" y="3264408"/>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6675120" y="3264408"/>
            <a:ext cx="1920240" cy="475488"/>
          </a:xfrm>
          <a:prstGeom prst="roundRect">
            <a:avLst>
              <a:gd name="adj" fmla="val 9615"/>
            </a:avLst>
          </a:prstGeom>
          <a:solidFill>
            <a:srgbClr val="DCE6F5"/>
          </a:solidFill>
          <a:ln w="12700">
            <a:solidFill>
              <a:srgbClr val="C3D2E8"/>
            </a:solidFill>
            <a:prstDash val="solid"/>
          </a:ln>
        </p:spPr>
      </p:sp>
      <p:sp>
        <p:nvSpPr>
          <p:cNvPr id="22" name="Text 20"/>
          <p:cNvSpPr/>
          <p:nvPr/>
        </p:nvSpPr>
        <p:spPr>
          <a:xfrm>
            <a:off x="6675120" y="3264408"/>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3" name="Shape 21"/>
          <p:cNvSpPr/>
          <p:nvPr/>
        </p:nvSpPr>
        <p:spPr>
          <a:xfrm>
            <a:off x="8732520" y="3264408"/>
            <a:ext cx="1920240" cy="475488"/>
          </a:xfrm>
          <a:prstGeom prst="roundRect">
            <a:avLst>
              <a:gd name="adj" fmla="val 9615"/>
            </a:avLst>
          </a:prstGeom>
          <a:solidFill>
            <a:srgbClr val="DCE6F5"/>
          </a:solidFill>
          <a:ln w="12700">
            <a:solidFill>
              <a:srgbClr val="C3D2E8"/>
            </a:solidFill>
            <a:prstDash val="solid"/>
          </a:ln>
        </p:spPr>
      </p:sp>
      <p:sp>
        <p:nvSpPr>
          <p:cNvPr id="24" name="Text 22"/>
          <p:cNvSpPr/>
          <p:nvPr/>
        </p:nvSpPr>
        <p:spPr>
          <a:xfrm>
            <a:off x="8732520" y="3264408"/>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5" name="Shape 23"/>
          <p:cNvSpPr/>
          <p:nvPr/>
        </p:nvSpPr>
        <p:spPr>
          <a:xfrm>
            <a:off x="502920" y="3831336"/>
            <a:ext cx="1920240" cy="475488"/>
          </a:xfrm>
          <a:prstGeom prst="roundRect">
            <a:avLst>
              <a:gd name="adj" fmla="val 9615"/>
            </a:avLst>
          </a:prstGeom>
          <a:solidFill>
            <a:srgbClr val="DCE6F5"/>
          </a:solidFill>
          <a:ln w="12700">
            <a:solidFill>
              <a:srgbClr val="C3D2E8"/>
            </a:solidFill>
            <a:prstDash val="solid"/>
          </a:ln>
        </p:spPr>
      </p:sp>
      <p:sp>
        <p:nvSpPr>
          <p:cNvPr id="26" name="Text 24"/>
          <p:cNvSpPr/>
          <p:nvPr/>
        </p:nvSpPr>
        <p:spPr>
          <a:xfrm>
            <a:off x="502920" y="3831336"/>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7" name="Shape 25"/>
          <p:cNvSpPr/>
          <p:nvPr/>
        </p:nvSpPr>
        <p:spPr>
          <a:xfrm>
            <a:off x="2560320" y="3831336"/>
            <a:ext cx="1920240" cy="475488"/>
          </a:xfrm>
          <a:prstGeom prst="roundRect">
            <a:avLst>
              <a:gd name="adj" fmla="val 9615"/>
            </a:avLst>
          </a:prstGeom>
          <a:solidFill>
            <a:srgbClr val="DCE6F5"/>
          </a:solidFill>
          <a:ln w="12700">
            <a:solidFill>
              <a:srgbClr val="C3D2E8"/>
            </a:solidFill>
            <a:prstDash val="solid"/>
          </a:ln>
        </p:spPr>
      </p:sp>
      <p:sp>
        <p:nvSpPr>
          <p:cNvPr id="28" name="Text 26"/>
          <p:cNvSpPr/>
          <p:nvPr/>
        </p:nvSpPr>
        <p:spPr>
          <a:xfrm>
            <a:off x="2560320" y="3831336"/>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9" name="Shape 27"/>
          <p:cNvSpPr/>
          <p:nvPr/>
        </p:nvSpPr>
        <p:spPr>
          <a:xfrm>
            <a:off x="4617720" y="3831336"/>
            <a:ext cx="1920240" cy="475488"/>
          </a:xfrm>
          <a:prstGeom prst="roundRect">
            <a:avLst>
              <a:gd name="adj" fmla="val 9615"/>
            </a:avLst>
          </a:prstGeom>
          <a:solidFill>
            <a:srgbClr val="FFB703"/>
          </a:solidFill>
          <a:ln w="12700">
            <a:solidFill>
              <a:srgbClr val="FFB703"/>
            </a:solidFill>
            <a:prstDash val="solid"/>
          </a:ln>
        </p:spPr>
      </p:sp>
      <p:sp>
        <p:nvSpPr>
          <p:cNvPr id="30" name="Text 28"/>
          <p:cNvSpPr/>
          <p:nvPr/>
        </p:nvSpPr>
        <p:spPr>
          <a:xfrm>
            <a:off x="4617720" y="3831336"/>
            <a:ext cx="1920240" cy="475488"/>
          </a:xfrm>
          <a:prstGeom prst="rect">
            <a:avLst/>
          </a:prstGeom>
          <a:no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31" name="Shape 29"/>
          <p:cNvSpPr/>
          <p:nvPr/>
        </p:nvSpPr>
        <p:spPr>
          <a:xfrm>
            <a:off x="6675120" y="3831336"/>
            <a:ext cx="1920240" cy="475488"/>
          </a:xfrm>
          <a:prstGeom prst="roundRect">
            <a:avLst>
              <a:gd name="adj" fmla="val 9615"/>
            </a:avLst>
          </a:prstGeom>
          <a:solidFill>
            <a:srgbClr val="DCE6F5"/>
          </a:solidFill>
          <a:ln w="12700">
            <a:solidFill>
              <a:srgbClr val="C3D2E8"/>
            </a:solidFill>
            <a:prstDash val="solid"/>
          </a:ln>
        </p:spPr>
      </p:sp>
      <p:sp>
        <p:nvSpPr>
          <p:cNvPr id="32" name="Text 30"/>
          <p:cNvSpPr/>
          <p:nvPr/>
        </p:nvSpPr>
        <p:spPr>
          <a:xfrm>
            <a:off x="6675120" y="3831336"/>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3" name="Shape 31"/>
          <p:cNvSpPr/>
          <p:nvPr/>
        </p:nvSpPr>
        <p:spPr>
          <a:xfrm>
            <a:off x="8732520" y="3831336"/>
            <a:ext cx="1920240" cy="475488"/>
          </a:xfrm>
          <a:prstGeom prst="roundRect">
            <a:avLst>
              <a:gd name="adj" fmla="val 9615"/>
            </a:avLst>
          </a:prstGeom>
          <a:solidFill>
            <a:srgbClr val="DCE6F5"/>
          </a:solidFill>
          <a:ln w="12700">
            <a:solidFill>
              <a:srgbClr val="C3D2E8"/>
            </a:solidFill>
            <a:prstDash val="solid"/>
          </a:ln>
        </p:spPr>
      </p:sp>
      <p:sp>
        <p:nvSpPr>
          <p:cNvPr id="34" name="Text 32"/>
          <p:cNvSpPr/>
          <p:nvPr/>
        </p:nvSpPr>
        <p:spPr>
          <a:xfrm>
            <a:off x="8732520" y="3831336"/>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5" name="Shape 33"/>
          <p:cNvSpPr/>
          <p:nvPr/>
        </p:nvSpPr>
        <p:spPr>
          <a:xfrm>
            <a:off x="502920" y="4398264"/>
            <a:ext cx="1920240" cy="475488"/>
          </a:xfrm>
          <a:prstGeom prst="roundRect">
            <a:avLst>
              <a:gd name="adj" fmla="val 9615"/>
            </a:avLst>
          </a:prstGeom>
          <a:solidFill>
            <a:srgbClr val="DCE6F5"/>
          </a:solidFill>
          <a:ln w="12700">
            <a:solidFill>
              <a:srgbClr val="C3D2E8"/>
            </a:solidFill>
            <a:prstDash val="solid"/>
          </a:ln>
        </p:spPr>
      </p:sp>
      <p:sp>
        <p:nvSpPr>
          <p:cNvPr id="36" name="Text 34"/>
          <p:cNvSpPr/>
          <p:nvPr/>
        </p:nvSpPr>
        <p:spPr>
          <a:xfrm>
            <a:off x="502920" y="4398264"/>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7" name="Shape 35"/>
          <p:cNvSpPr/>
          <p:nvPr/>
        </p:nvSpPr>
        <p:spPr>
          <a:xfrm>
            <a:off x="2560320" y="4398264"/>
            <a:ext cx="1920240" cy="475488"/>
          </a:xfrm>
          <a:prstGeom prst="roundRect">
            <a:avLst>
              <a:gd name="adj" fmla="val 9615"/>
            </a:avLst>
          </a:prstGeom>
          <a:solidFill>
            <a:srgbClr val="DCE6F5"/>
          </a:solidFill>
          <a:ln w="12700">
            <a:solidFill>
              <a:srgbClr val="C3D2E8"/>
            </a:solidFill>
            <a:prstDash val="solid"/>
          </a:ln>
        </p:spPr>
      </p:sp>
      <p:sp>
        <p:nvSpPr>
          <p:cNvPr id="38" name="Text 36"/>
          <p:cNvSpPr/>
          <p:nvPr/>
        </p:nvSpPr>
        <p:spPr>
          <a:xfrm>
            <a:off x="2560320" y="4398264"/>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9" name="Shape 37"/>
          <p:cNvSpPr/>
          <p:nvPr/>
        </p:nvSpPr>
        <p:spPr>
          <a:xfrm>
            <a:off x="4617720" y="4398264"/>
            <a:ext cx="1920240" cy="475488"/>
          </a:xfrm>
          <a:prstGeom prst="roundRect">
            <a:avLst>
              <a:gd name="adj" fmla="val 9615"/>
            </a:avLst>
          </a:prstGeom>
          <a:solidFill>
            <a:srgbClr val="DCE6F5"/>
          </a:solidFill>
          <a:ln w="12700">
            <a:solidFill>
              <a:srgbClr val="C3D2E8"/>
            </a:solidFill>
            <a:prstDash val="solid"/>
          </a:ln>
        </p:spPr>
      </p:sp>
      <p:sp>
        <p:nvSpPr>
          <p:cNvPr id="40" name="Text 38"/>
          <p:cNvSpPr/>
          <p:nvPr/>
        </p:nvSpPr>
        <p:spPr>
          <a:xfrm>
            <a:off x="4617720" y="4398264"/>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1" name="Shape 39"/>
          <p:cNvSpPr/>
          <p:nvPr/>
        </p:nvSpPr>
        <p:spPr>
          <a:xfrm>
            <a:off x="6675120" y="4398264"/>
            <a:ext cx="1920240" cy="475488"/>
          </a:xfrm>
          <a:prstGeom prst="roundRect">
            <a:avLst>
              <a:gd name="adj" fmla="val 9615"/>
            </a:avLst>
          </a:prstGeom>
          <a:solidFill>
            <a:srgbClr val="FFB703"/>
          </a:solidFill>
          <a:ln w="12700">
            <a:solidFill>
              <a:srgbClr val="FFB703"/>
            </a:solidFill>
            <a:prstDash val="solid"/>
          </a:ln>
        </p:spPr>
      </p:sp>
      <p:sp>
        <p:nvSpPr>
          <p:cNvPr id="42" name="Text 40"/>
          <p:cNvSpPr/>
          <p:nvPr/>
        </p:nvSpPr>
        <p:spPr>
          <a:xfrm>
            <a:off x="6675120" y="4398264"/>
            <a:ext cx="1920240" cy="475488"/>
          </a:xfrm>
          <a:prstGeom prst="rect">
            <a:avLst/>
          </a:prstGeom>
          <a:no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43" name="Shape 41"/>
          <p:cNvSpPr/>
          <p:nvPr/>
        </p:nvSpPr>
        <p:spPr>
          <a:xfrm>
            <a:off x="8732520" y="4398264"/>
            <a:ext cx="1920240" cy="475488"/>
          </a:xfrm>
          <a:prstGeom prst="roundRect">
            <a:avLst>
              <a:gd name="adj" fmla="val 9615"/>
            </a:avLst>
          </a:prstGeom>
          <a:solidFill>
            <a:srgbClr val="DCE6F5"/>
          </a:solidFill>
          <a:ln w="12700">
            <a:solidFill>
              <a:srgbClr val="C3D2E8"/>
            </a:solidFill>
            <a:prstDash val="solid"/>
          </a:ln>
        </p:spPr>
      </p:sp>
      <p:sp>
        <p:nvSpPr>
          <p:cNvPr id="44" name="Text 42"/>
          <p:cNvSpPr/>
          <p:nvPr/>
        </p:nvSpPr>
        <p:spPr>
          <a:xfrm>
            <a:off x="8732520" y="4398264"/>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5" name="Shape 43"/>
          <p:cNvSpPr/>
          <p:nvPr/>
        </p:nvSpPr>
        <p:spPr>
          <a:xfrm>
            <a:off x="502920" y="4965192"/>
            <a:ext cx="1920240" cy="475488"/>
          </a:xfrm>
          <a:prstGeom prst="roundRect">
            <a:avLst>
              <a:gd name="adj" fmla="val 9615"/>
            </a:avLst>
          </a:prstGeom>
          <a:solidFill>
            <a:srgbClr val="DCE6F5"/>
          </a:solidFill>
          <a:ln w="12700">
            <a:solidFill>
              <a:srgbClr val="C3D2E8"/>
            </a:solidFill>
            <a:prstDash val="solid"/>
          </a:ln>
        </p:spPr>
      </p:sp>
      <p:sp>
        <p:nvSpPr>
          <p:cNvPr id="46" name="Text 44"/>
          <p:cNvSpPr/>
          <p:nvPr/>
        </p:nvSpPr>
        <p:spPr>
          <a:xfrm>
            <a:off x="502920" y="4965192"/>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7" name="Shape 45"/>
          <p:cNvSpPr/>
          <p:nvPr/>
        </p:nvSpPr>
        <p:spPr>
          <a:xfrm>
            <a:off x="2560320" y="4965192"/>
            <a:ext cx="1920240" cy="475488"/>
          </a:xfrm>
          <a:prstGeom prst="roundRect">
            <a:avLst>
              <a:gd name="adj" fmla="val 9615"/>
            </a:avLst>
          </a:prstGeom>
          <a:solidFill>
            <a:srgbClr val="DCE6F5"/>
          </a:solidFill>
          <a:ln w="12700">
            <a:solidFill>
              <a:srgbClr val="C3D2E8"/>
            </a:solidFill>
            <a:prstDash val="solid"/>
          </a:ln>
        </p:spPr>
      </p:sp>
      <p:sp>
        <p:nvSpPr>
          <p:cNvPr id="48" name="Text 46"/>
          <p:cNvSpPr/>
          <p:nvPr/>
        </p:nvSpPr>
        <p:spPr>
          <a:xfrm>
            <a:off x="2560320" y="4965192"/>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9" name="Shape 47"/>
          <p:cNvSpPr/>
          <p:nvPr/>
        </p:nvSpPr>
        <p:spPr>
          <a:xfrm>
            <a:off x="4617720" y="4965192"/>
            <a:ext cx="1920240" cy="475488"/>
          </a:xfrm>
          <a:prstGeom prst="roundRect">
            <a:avLst>
              <a:gd name="adj" fmla="val 9615"/>
            </a:avLst>
          </a:prstGeom>
          <a:solidFill>
            <a:srgbClr val="DCE6F5"/>
          </a:solidFill>
          <a:ln w="12700">
            <a:solidFill>
              <a:srgbClr val="C3D2E8"/>
            </a:solidFill>
            <a:prstDash val="solid"/>
          </a:ln>
        </p:spPr>
      </p:sp>
      <p:sp>
        <p:nvSpPr>
          <p:cNvPr id="50" name="Text 48"/>
          <p:cNvSpPr/>
          <p:nvPr/>
        </p:nvSpPr>
        <p:spPr>
          <a:xfrm>
            <a:off x="4617720" y="4965192"/>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1" name="Shape 49"/>
          <p:cNvSpPr/>
          <p:nvPr/>
        </p:nvSpPr>
        <p:spPr>
          <a:xfrm>
            <a:off x="6675120" y="4965192"/>
            <a:ext cx="1920240" cy="475488"/>
          </a:xfrm>
          <a:prstGeom prst="roundRect">
            <a:avLst>
              <a:gd name="adj" fmla="val 9615"/>
            </a:avLst>
          </a:prstGeom>
          <a:solidFill>
            <a:srgbClr val="DCE6F5"/>
          </a:solidFill>
          <a:ln w="12700">
            <a:solidFill>
              <a:srgbClr val="C3D2E8"/>
            </a:solidFill>
            <a:prstDash val="solid"/>
          </a:ln>
        </p:spPr>
      </p:sp>
      <p:sp>
        <p:nvSpPr>
          <p:cNvPr id="52" name="Text 50"/>
          <p:cNvSpPr/>
          <p:nvPr/>
        </p:nvSpPr>
        <p:spPr>
          <a:xfrm>
            <a:off x="6675120" y="4965192"/>
            <a:ext cx="1920240" cy="475488"/>
          </a:xfrm>
          <a:prstGeom prst="rect">
            <a:avLst/>
          </a:prstGeom>
          <a:noFill/>
          <a:ln/>
        </p:spPr>
        <p:txBody>
          <a:bodyPr wrap="square" lIns="0" tIns="0" rIns="0" bIns="0" rtlCol="0" anchor="ctr"/>
          <a:lstStyle/>
          <a:p>
            <a:pPr marL="0" indent="0" algn="ctr">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3" name="Shape 51"/>
          <p:cNvSpPr/>
          <p:nvPr/>
        </p:nvSpPr>
        <p:spPr>
          <a:xfrm>
            <a:off x="8732520" y="4965192"/>
            <a:ext cx="1920240" cy="475488"/>
          </a:xfrm>
          <a:prstGeom prst="roundRect">
            <a:avLst>
              <a:gd name="adj" fmla="val 9615"/>
            </a:avLst>
          </a:prstGeom>
          <a:solidFill>
            <a:srgbClr val="FFB703"/>
          </a:solidFill>
          <a:ln w="12700">
            <a:solidFill>
              <a:srgbClr val="FFB703"/>
            </a:solidFill>
            <a:prstDash val="solid"/>
          </a:ln>
        </p:spPr>
      </p:sp>
      <p:sp>
        <p:nvSpPr>
          <p:cNvPr id="54" name="Text 52"/>
          <p:cNvSpPr/>
          <p:nvPr/>
        </p:nvSpPr>
        <p:spPr>
          <a:xfrm>
            <a:off x="8732520" y="4965192"/>
            <a:ext cx="1920240" cy="475488"/>
          </a:xfrm>
          <a:prstGeom prst="rect">
            <a:avLst/>
          </a:prstGeom>
          <a:noFill/>
          <a:ln/>
        </p:spPr>
        <p:txBody>
          <a:bodyPr wrap="square" lIns="0" tIns="0" rIns="0" bIns="0" rtlCol="0" anchor="ctr"/>
          <a:lstStyle/>
          <a:p>
            <a:pPr marL="0" indent="0" algn="ctr">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55" name="Text 53"/>
          <p:cNvSpPr/>
          <p:nvPr/>
        </p:nvSpPr>
        <p:spPr>
          <a:xfrm>
            <a:off x="502920" y="5623560"/>
            <a:ext cx="10607040" cy="731520"/>
          </a:xfrm>
          <a:prstGeom prst="rect">
            <a:avLst/>
          </a:prstGeom>
          <a:noFill/>
          <a:ln/>
        </p:spPr>
        <p:txBody>
          <a:bodyPr wrap="square" lIns="0" tIns="0" rIns="0" bIns="0" rtlCol="0" anchor="ctr"/>
          <a:lstStyle/>
          <a:p>
            <a:pPr marL="0" indent="0">
              <a:lnSpc>
                <a:spcPct val="125000"/>
              </a:lnSpc>
              <a:buNone/>
            </a:pPr>
            <a:r>
              <a:rPr lang="en-US" sz="1100" dirty="0">
                <a:solidFill>
                  <a:srgbClr val="64748B"/>
                </a:solidFill>
                <a:latin typeface="Calibri" pitchFamily="34" charset="0"/>
                <a:ea typeface="Calibri" pitchFamily="34" charset="-122"/>
                <a:cs typeface="Calibri"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Tuned Results — What GridSearchCV Bought Us</a:t>
            </a:r>
            <a:endParaRPr lang="en-US" sz="3000" dirty="0"/>
          </a:p>
        </p:txBody>
      </p:sp>
      <p:sp>
        <p:nvSpPr>
          <p:cNvPr id="4" name="Shape 2"/>
          <p:cNvSpPr/>
          <p:nvPr/>
        </p:nvSpPr>
        <p:spPr>
          <a:xfrm>
            <a:off x="502920" y="1828800"/>
            <a:ext cx="3429000" cy="3703320"/>
          </a:xfrm>
          <a:prstGeom prst="roundRect">
            <a:avLst>
              <a:gd name="adj" fmla="val 240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1888236" y="2103120"/>
            <a:ext cx="658368" cy="658368"/>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chartline_00B4D8.png"/>
          <p:cNvPicPr>
            <a:picLocks noChangeAspect="1"/>
          </p:cNvPicPr>
          <p:nvPr/>
        </p:nvPicPr>
        <p:blipFill>
          <a:blip r:embed="rId3"/>
          <a:stretch>
            <a:fillRect/>
          </a:stretch>
        </p:blipFill>
        <p:spPr>
          <a:xfrm>
            <a:off x="1977116" y="2192000"/>
            <a:ext cx="480609" cy="480609"/>
          </a:xfrm>
          <a:prstGeom prst="rect">
            <a:avLst/>
          </a:prstGeom>
        </p:spPr>
      </p:pic>
      <p:sp>
        <p:nvSpPr>
          <p:cNvPr id="7" name="Text 4"/>
          <p:cNvSpPr/>
          <p:nvPr/>
        </p:nvSpPr>
        <p:spPr>
          <a:xfrm>
            <a:off x="502920" y="2880360"/>
            <a:ext cx="3429000"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8" name="Text 5"/>
          <p:cNvSpPr/>
          <p:nvPr/>
        </p:nvSpPr>
        <p:spPr>
          <a:xfrm>
            <a:off x="502920" y="3337560"/>
            <a:ext cx="3429000" cy="365760"/>
          </a:xfrm>
          <a:prstGeom prst="rect">
            <a:avLst/>
          </a:prstGeom>
          <a:noFill/>
          <a:ln/>
        </p:spPr>
        <p:txBody>
          <a:bodyPr wrap="square" lIns="0" tIns="0" rIns="0" bIns="0" rtlCol="0" anchor="ctr"/>
          <a:lstStyle/>
          <a:p>
            <a:pPr marL="0" indent="0" algn="ctr">
              <a:buNone/>
            </a:pPr>
            <a:r>
              <a:rPr lang="en-US" sz="1300" dirty="0">
                <a:solidFill>
                  <a:srgbClr val="9FB1C8"/>
                </a:solidFill>
                <a:latin typeface="Calibri" pitchFamily="34" charset="0"/>
                <a:ea typeface="Calibri" pitchFamily="34" charset="-122"/>
                <a:cs typeface="Calibri" pitchFamily="34" charset="-120"/>
              </a:rPr>
              <a:t>77.94%  -&gt;  </a:t>
            </a:r>
            <a:r>
              <a:rPr lang="en-US" sz="1300" b="1" dirty="0">
                <a:solidFill>
                  <a:srgbClr val="0B1F3A"/>
                </a:solidFill>
                <a:latin typeface="Calibri" pitchFamily="34" charset="0"/>
                <a:ea typeface="Calibri" pitchFamily="34" charset="-122"/>
                <a:cs typeface="Calibri" pitchFamily="34" charset="-120"/>
              </a:rPr>
              <a:t>77.45%</a:t>
            </a:r>
            <a:endParaRPr lang="en-US" sz="1300" dirty="0"/>
          </a:p>
        </p:txBody>
      </p:sp>
      <p:sp>
        <p:nvSpPr>
          <p:cNvPr id="9" name="Text 6"/>
          <p:cNvSpPr/>
          <p:nvPr/>
        </p:nvSpPr>
        <p:spPr>
          <a:xfrm>
            <a:off x="502920" y="3794760"/>
            <a:ext cx="3429000" cy="320040"/>
          </a:xfrm>
          <a:prstGeom prst="rect">
            <a:avLst/>
          </a:prstGeom>
          <a:noFill/>
          <a:ln/>
        </p:spPr>
        <p:txBody>
          <a:bodyPr wrap="square" lIns="0" tIns="0" rIns="0" bIns="0" rtlCol="0" anchor="ctr"/>
          <a:lstStyle/>
          <a:p>
            <a:pPr marL="0" indent="0" algn="ctr">
              <a:buNone/>
            </a:pPr>
            <a:r>
              <a:rPr lang="en-US" sz="1000" dirty="0">
                <a:solidFill>
                  <a:srgbClr val="D9695F"/>
                </a:solidFill>
                <a:latin typeface="Calibri" pitchFamily="34" charset="0"/>
                <a:ea typeface="Calibri" pitchFamily="34" charset="-122"/>
                <a:cs typeface="Calibri" pitchFamily="34" charset="-120"/>
              </a:rPr>
              <a:t>-0.49 pts vs. baseline</a:t>
            </a:r>
            <a:endParaRPr lang="en-US" sz="1000" dirty="0"/>
          </a:p>
        </p:txBody>
      </p:sp>
      <p:sp>
        <p:nvSpPr>
          <p:cNvPr id="10" name="Shape 7"/>
          <p:cNvSpPr/>
          <p:nvPr/>
        </p:nvSpPr>
        <p:spPr>
          <a:xfrm>
            <a:off x="4251960" y="1828800"/>
            <a:ext cx="3429000" cy="3703320"/>
          </a:xfrm>
          <a:prstGeom prst="roundRect">
            <a:avLst>
              <a:gd name="adj" fmla="val 2400"/>
            </a:avLst>
          </a:prstGeom>
          <a:solidFill>
            <a:srgbClr val="0B1F3A"/>
          </a:solidFill>
          <a:ln w="12700">
            <a:solidFill>
              <a:srgbClr val="0B1F3A"/>
            </a:solidFill>
            <a:prstDash val="solid"/>
          </a:ln>
          <a:effectLst>
            <a:outerShdw blurRad="177800" dist="38100" dir="2700000" algn="bl" rotWithShape="0">
              <a:srgbClr val="0B1F3A">
                <a:alpha val="22000"/>
              </a:srgbClr>
            </a:outerShdw>
          </a:effectLst>
        </p:spPr>
      </p:sp>
      <p:sp>
        <p:nvSpPr>
          <p:cNvPr id="11" name="Text 8"/>
          <p:cNvSpPr/>
          <p:nvPr/>
        </p:nvSpPr>
        <p:spPr>
          <a:xfrm>
            <a:off x="4251960" y="2011680"/>
            <a:ext cx="3429000" cy="274320"/>
          </a:xfrm>
          <a:prstGeom prst="rect">
            <a:avLst/>
          </a:prstGeom>
          <a:noFill/>
          <a:ln/>
        </p:spPr>
        <p:txBody>
          <a:bodyPr wrap="square" lIns="0" tIns="0" rIns="0" bIns="0" rtlCol="0" anchor="ctr"/>
          <a:lstStyle/>
          <a:p>
            <a:pPr marL="0" indent="0" algn="ctr">
              <a:buNone/>
            </a:pPr>
            <a:r>
              <a:rPr lang="en-US" sz="1050" b="1" kern="0" spc="150" dirty="0">
                <a:solidFill>
                  <a:srgbClr val="FFB703"/>
                </a:solidFill>
                <a:latin typeface="Calibri" pitchFamily="34" charset="0"/>
                <a:ea typeface="Calibri" pitchFamily="34" charset="-122"/>
                <a:cs typeface="Calibri" pitchFamily="34" charset="-120"/>
              </a:rPr>
              <a:t>BEST MODEL</a:t>
            </a:r>
            <a:endParaRPr lang="en-US" sz="1050" dirty="0"/>
          </a:p>
        </p:txBody>
      </p:sp>
      <p:sp>
        <p:nvSpPr>
          <p:cNvPr id="12" name="Shape 9"/>
          <p:cNvSpPr/>
          <p:nvPr/>
        </p:nvSpPr>
        <p:spPr>
          <a:xfrm>
            <a:off x="5637276" y="2331720"/>
            <a:ext cx="658368" cy="658368"/>
          </a:xfrm>
          <a:prstGeom prst="ellipse">
            <a:avLst/>
          </a:prstGeom>
          <a:solidFill>
            <a:srgbClr val="00B4D8"/>
          </a:solidFill>
          <a:ln/>
          <a:effectLst>
            <a:outerShdw blurRad="114300" dist="38100" dir="2700000" algn="bl" rotWithShape="0">
              <a:srgbClr val="0B1F3A">
                <a:alpha val="14000"/>
              </a:srgbClr>
            </a:outerShdw>
          </a:effectLst>
        </p:spPr>
      </p:sp>
      <p:pic>
        <p:nvPicPr>
          <p:cNvPr id="13" name="Image 1" descr="/sessions/blissful-zealous-babbage/mnt/outputs/ppt/icons/wave_0B1F3A.png"/>
          <p:cNvPicPr>
            <a:picLocks noChangeAspect="1"/>
          </p:cNvPicPr>
          <p:nvPr/>
        </p:nvPicPr>
        <p:blipFill>
          <a:blip r:embed="rId4"/>
          <a:stretch>
            <a:fillRect/>
          </a:stretch>
        </p:blipFill>
        <p:spPr>
          <a:xfrm>
            <a:off x="5726156" y="2420600"/>
            <a:ext cx="480609" cy="480609"/>
          </a:xfrm>
          <a:prstGeom prst="rect">
            <a:avLst/>
          </a:prstGeom>
        </p:spPr>
      </p:pic>
      <p:sp>
        <p:nvSpPr>
          <p:cNvPr id="14" name="Text 10"/>
          <p:cNvSpPr/>
          <p:nvPr/>
        </p:nvSpPr>
        <p:spPr>
          <a:xfrm>
            <a:off x="4251960" y="3108960"/>
            <a:ext cx="342900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RBF</a:t>
            </a:r>
            <a:endParaRPr lang="en-US" sz="1700" dirty="0"/>
          </a:p>
        </p:txBody>
      </p:sp>
      <p:sp>
        <p:nvSpPr>
          <p:cNvPr id="15" name="Text 11"/>
          <p:cNvSpPr/>
          <p:nvPr/>
        </p:nvSpPr>
        <p:spPr>
          <a:xfrm>
            <a:off x="4251960" y="3566160"/>
            <a:ext cx="3429000" cy="365760"/>
          </a:xfrm>
          <a:prstGeom prst="rect">
            <a:avLst/>
          </a:prstGeom>
          <a:noFill/>
          <a:ln/>
        </p:spPr>
        <p:txBody>
          <a:bodyPr wrap="square" lIns="0" tIns="0" rIns="0" bIns="0" rtlCol="0" anchor="ctr"/>
          <a:lstStyle/>
          <a:p>
            <a:pPr marL="0" indent="0" algn="ctr">
              <a:buNone/>
            </a:pPr>
            <a:r>
              <a:rPr lang="en-US" sz="1300" dirty="0">
                <a:solidFill>
                  <a:srgbClr val="8899B5"/>
                </a:solidFill>
                <a:latin typeface="Calibri" pitchFamily="34" charset="0"/>
                <a:ea typeface="Calibri" pitchFamily="34" charset="-122"/>
                <a:cs typeface="Calibri" pitchFamily="34" charset="-120"/>
              </a:rPr>
              <a:t>71.08%  -&gt;  </a:t>
            </a:r>
            <a:r>
              <a:rPr lang="en-US" sz="1300" b="1" dirty="0">
                <a:solidFill>
                  <a:srgbClr val="FFB703"/>
                </a:solidFill>
                <a:latin typeface="Calibri" pitchFamily="34" charset="0"/>
                <a:ea typeface="Calibri" pitchFamily="34" charset="-122"/>
                <a:cs typeface="Calibri" pitchFamily="34" charset="-120"/>
              </a:rPr>
              <a:t>78.43%</a:t>
            </a:r>
            <a:endParaRPr lang="en-US" sz="1300" dirty="0"/>
          </a:p>
        </p:txBody>
      </p:sp>
      <p:sp>
        <p:nvSpPr>
          <p:cNvPr id="16" name="Text 12"/>
          <p:cNvSpPr/>
          <p:nvPr/>
        </p:nvSpPr>
        <p:spPr>
          <a:xfrm>
            <a:off x="4251960" y="4023360"/>
            <a:ext cx="3429000" cy="320040"/>
          </a:xfrm>
          <a:prstGeom prst="rect">
            <a:avLst/>
          </a:prstGeom>
          <a:noFill/>
          <a:ln/>
        </p:spPr>
        <p:txBody>
          <a:bodyPr wrap="square" lIns="0" tIns="0" rIns="0" bIns="0" rtlCol="0" anchor="ctr"/>
          <a:lstStyle/>
          <a:p>
            <a:pPr marL="0" indent="0" algn="ctr">
              <a:buNone/>
            </a:pPr>
            <a:r>
              <a:rPr lang="en-US" sz="1000" dirty="0">
                <a:solidFill>
                  <a:srgbClr val="C9D6E8"/>
                </a:solidFill>
                <a:latin typeface="Calibri" pitchFamily="34" charset="0"/>
                <a:ea typeface="Calibri" pitchFamily="34" charset="-122"/>
                <a:cs typeface="Calibri" pitchFamily="34" charset="-120"/>
              </a:rPr>
              <a:t>+7.35 pts vs. baseline</a:t>
            </a:r>
            <a:endParaRPr lang="en-US" sz="1000" dirty="0"/>
          </a:p>
        </p:txBody>
      </p:sp>
      <p:sp>
        <p:nvSpPr>
          <p:cNvPr id="17" name="Shape 13"/>
          <p:cNvSpPr/>
          <p:nvPr/>
        </p:nvSpPr>
        <p:spPr>
          <a:xfrm>
            <a:off x="8001000" y="1828800"/>
            <a:ext cx="3429000" cy="3703320"/>
          </a:xfrm>
          <a:prstGeom prst="roundRect">
            <a:avLst>
              <a:gd name="adj" fmla="val 240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8" name="Shape 14"/>
          <p:cNvSpPr/>
          <p:nvPr/>
        </p:nvSpPr>
        <p:spPr>
          <a:xfrm>
            <a:off x="9386316" y="2103120"/>
            <a:ext cx="658368" cy="658368"/>
          </a:xfrm>
          <a:prstGeom prst="ellipse">
            <a:avLst/>
          </a:prstGeom>
          <a:solidFill>
            <a:srgbClr val="0B1F3A"/>
          </a:solidFill>
          <a:ln/>
          <a:effectLst>
            <a:outerShdw blurRad="114300" dist="38100" dir="2700000" algn="bl" rotWithShape="0">
              <a:srgbClr val="0B1F3A">
                <a:alpha val="14000"/>
              </a:srgbClr>
            </a:outerShdw>
          </a:effectLst>
        </p:spPr>
      </p:sp>
      <p:pic>
        <p:nvPicPr>
          <p:cNvPr id="19" name="Image 2" descr="/sessions/blissful-zealous-babbage/mnt/outputs/ppt/icons/chartbar_00B4D8.png"/>
          <p:cNvPicPr>
            <a:picLocks noChangeAspect="1"/>
          </p:cNvPicPr>
          <p:nvPr/>
        </p:nvPicPr>
        <p:blipFill>
          <a:blip r:embed="rId5"/>
          <a:stretch>
            <a:fillRect/>
          </a:stretch>
        </p:blipFill>
        <p:spPr>
          <a:xfrm>
            <a:off x="9475196" y="2192000"/>
            <a:ext cx="480609" cy="480609"/>
          </a:xfrm>
          <a:prstGeom prst="rect">
            <a:avLst/>
          </a:prstGeom>
        </p:spPr>
      </p:pic>
      <p:sp>
        <p:nvSpPr>
          <p:cNvPr id="20" name="Text 15"/>
          <p:cNvSpPr/>
          <p:nvPr/>
        </p:nvSpPr>
        <p:spPr>
          <a:xfrm>
            <a:off x="8001000" y="2880360"/>
            <a:ext cx="3429000" cy="365760"/>
          </a:xfrm>
          <a:prstGeom prst="rect">
            <a:avLst/>
          </a:prstGeom>
          <a:noFill/>
          <a:ln/>
        </p:spPr>
        <p:txBody>
          <a:bodyPr wrap="square" lIns="0" tIns="0" rIns="0" bIns="0" rtlCol="0" anchor="ctr"/>
          <a:lstStyle/>
          <a:p>
            <a:pPr marL="0" indent="0" algn="ctr">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1" name="Text 16"/>
          <p:cNvSpPr/>
          <p:nvPr/>
        </p:nvSpPr>
        <p:spPr>
          <a:xfrm>
            <a:off x="8001000" y="3337560"/>
            <a:ext cx="3429000" cy="365760"/>
          </a:xfrm>
          <a:prstGeom prst="rect">
            <a:avLst/>
          </a:prstGeom>
          <a:noFill/>
          <a:ln/>
        </p:spPr>
        <p:txBody>
          <a:bodyPr wrap="square" lIns="0" tIns="0" rIns="0" bIns="0" rtlCol="0" anchor="ctr"/>
          <a:lstStyle/>
          <a:p>
            <a:pPr marL="0" indent="0" algn="ctr">
              <a:buNone/>
            </a:pPr>
            <a:r>
              <a:rPr lang="en-US" sz="1300" dirty="0">
                <a:solidFill>
                  <a:srgbClr val="9FB1C8"/>
                </a:solidFill>
                <a:latin typeface="Calibri" pitchFamily="34" charset="0"/>
                <a:ea typeface="Calibri" pitchFamily="34" charset="-122"/>
                <a:cs typeface="Calibri" pitchFamily="34" charset="-120"/>
              </a:rPr>
              <a:t>75.49%  -&gt;  </a:t>
            </a:r>
            <a:r>
              <a:rPr lang="en-US" sz="1300" b="1" dirty="0">
                <a:solidFill>
                  <a:srgbClr val="0B1F3A"/>
                </a:solidFill>
                <a:latin typeface="Calibri" pitchFamily="34" charset="0"/>
                <a:ea typeface="Calibri" pitchFamily="34" charset="-122"/>
                <a:cs typeface="Calibri" pitchFamily="34" charset="-120"/>
              </a:rPr>
              <a:t>77.94%</a:t>
            </a:r>
            <a:endParaRPr lang="en-US" sz="1300" dirty="0"/>
          </a:p>
        </p:txBody>
      </p:sp>
      <p:sp>
        <p:nvSpPr>
          <p:cNvPr id="22" name="Text 17"/>
          <p:cNvSpPr/>
          <p:nvPr/>
        </p:nvSpPr>
        <p:spPr>
          <a:xfrm>
            <a:off x="8001000" y="3794760"/>
            <a:ext cx="3429000" cy="320040"/>
          </a:xfrm>
          <a:prstGeom prst="rect">
            <a:avLst/>
          </a:prstGeom>
          <a:noFill/>
          <a:ln/>
        </p:spPr>
        <p:txBody>
          <a:bodyPr wrap="square" lIns="0" tIns="0" rIns="0" bIns="0" rtlCol="0" anchor="ctr"/>
          <a:lstStyle/>
          <a:p>
            <a:pPr marL="0" indent="0" algn="ctr">
              <a:buNone/>
            </a:pPr>
            <a:r>
              <a:rPr lang="en-US" sz="1000" dirty="0">
                <a:solidFill>
                  <a:srgbClr val="5EAE7A"/>
                </a:solidFill>
                <a:latin typeface="Calibri" pitchFamily="34" charset="0"/>
                <a:ea typeface="Calibri" pitchFamily="34" charset="-122"/>
                <a:cs typeface="Calibri" pitchFamily="34" charset="-120"/>
              </a:rPr>
              <a:t>+2.45 pts vs. baseline</a:t>
            </a:r>
            <a:endParaRPr lang="en-US" sz="1000" dirty="0"/>
          </a:p>
        </p:txBody>
      </p:sp>
      <p:sp>
        <p:nvSpPr>
          <p:cNvPr id="23" name="Text 18"/>
          <p:cNvSpPr/>
          <p:nvPr/>
        </p:nvSpPr>
        <p:spPr>
          <a:xfrm>
            <a:off x="502920" y="5669280"/>
            <a:ext cx="10607040" cy="640080"/>
          </a:xfrm>
          <a:prstGeom prst="rect">
            <a:avLst/>
          </a:prstGeom>
          <a:noFill/>
          <a:ln/>
        </p:spPr>
        <p:txBody>
          <a:bodyPr wrap="square" lIns="0" tIns="0" rIns="0" bIns="0" rtlCol="0" anchor="ctr"/>
          <a:lstStyle/>
          <a:p>
            <a:pPr marL="0" indent="0">
              <a:lnSpc>
                <a:spcPct val="122000"/>
              </a:lnSpc>
              <a:buNone/>
            </a:pPr>
            <a:r>
              <a:rPr lang="en-US" sz="1030" b="1" dirty="0">
                <a:solidFill>
                  <a:srgbClr val="0B1F3A"/>
                </a:solidFill>
                <a:latin typeface="Calibri" pitchFamily="34" charset="0"/>
                <a:ea typeface="Calibri" pitchFamily="34" charset="-122"/>
                <a:cs typeface="Calibri" pitchFamily="34" charset="-120"/>
              </a:rPr>
              <a:t>Note: </a:t>
            </a:r>
            <a:r>
              <a:rPr lang="en-US" sz="1030" dirty="0">
                <a:solidFill>
                  <a:srgbClr val="64748B"/>
                </a:solidFill>
                <a:latin typeface="Calibri" pitchFamily="34" charset="0"/>
                <a:ea typeface="Calibri" pitchFamily="34" charset="-122"/>
                <a:cs typeface="Calibri"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4" name="Text 1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Diagnosing a Blind Spot: RC_open vs. RC_short</a:t>
            </a:r>
            <a:endParaRPr lang="en-US" sz="3000" dirty="0"/>
          </a:p>
        </p:txBody>
      </p:sp>
      <p:sp>
        <p:nvSpPr>
          <p:cNvPr id="4" name="Text 2"/>
          <p:cNvSpPr/>
          <p:nvPr/>
        </p:nvSpPr>
        <p:spPr>
          <a:xfrm>
            <a:off x="502920" y="1783080"/>
            <a:ext cx="10607040" cy="914400"/>
          </a:xfrm>
          <a:prstGeom prst="rect">
            <a:avLst/>
          </a:prstGeom>
          <a:noFill/>
          <a:ln/>
        </p:spPr>
        <p:txBody>
          <a:bodyPr wrap="square" lIns="0" tIns="0" rIns="0" bIns="0" rtlCol="0" anchor="ctr"/>
          <a:lstStyle/>
          <a:p>
            <a:pPr marL="0" indent="0">
              <a:lnSpc>
                <a:spcPct val="130000"/>
              </a:lnSpc>
              <a:buNone/>
            </a:pPr>
            <a:r>
              <a:rPr lang="en-US" sz="1350" dirty="0">
                <a:solidFill>
                  <a:srgbClr val="1E293B"/>
                </a:solidFill>
                <a:latin typeface="Calibri" pitchFamily="34" charset="0"/>
                <a:ea typeface="Calibri" pitchFamily="34" charset="-122"/>
                <a:cs typeface="Calibri" pitchFamily="34" charset="-120"/>
              </a:rPr>
              <a:t>With the original 16 features, RC_open and RC_short were completely confused — </a:t>
            </a:r>
            <a:r>
              <a:rPr lang="en-US" sz="1350" b="1" dirty="0">
                <a:solidFill>
                  <a:srgbClr val="D9695F"/>
                </a:solidFill>
                <a:latin typeface="Calibri" pitchFamily="34" charset="0"/>
                <a:ea typeface="Calibri" pitchFamily="34" charset="-122"/>
                <a:cs typeface="Calibri" pitchFamily="34" charset="-120"/>
              </a:rPr>
              <a:t>F1 = 0.000</a:t>
            </a:r>
            <a:r>
              <a:rPr lang="en-US" sz="1350" dirty="0">
                <a:solidFill>
                  <a:srgbClr val="1E293B"/>
                </a:solidFill>
                <a:latin typeface="Calibri" pitchFamily="34" charset="0"/>
                <a:ea typeface="Calibri" pitchFamily="34" charset="-122"/>
                <a:cs typeface="Calibri" pitchFamily="34" charset="-120"/>
              </a:rPr>
              <a:t>. The fix came from a very direct diagnostic: compare the mean of each feature between the two classes and look for the biggest gap.</a:t>
            </a:r>
            <a:endParaRPr lang="en-US" sz="1350" dirty="0"/>
          </a:p>
        </p:txBody>
      </p:sp>
      <p:sp>
        <p:nvSpPr>
          <p:cNvPr id="5" name="Shape 3"/>
          <p:cNvSpPr/>
          <p:nvPr/>
        </p:nvSpPr>
        <p:spPr>
          <a:xfrm>
            <a:off x="502920" y="2880360"/>
            <a:ext cx="10607040" cy="548640"/>
          </a:xfrm>
          <a:prstGeom prst="roundRect">
            <a:avLst>
              <a:gd name="adj" fmla="val 10000"/>
            </a:avLst>
          </a:prstGeom>
          <a:solidFill>
            <a:srgbClr val="0B1F3A"/>
          </a:solidFill>
          <a:ln/>
        </p:spPr>
      </p:sp>
      <p:sp>
        <p:nvSpPr>
          <p:cNvPr id="6" name="Text 4"/>
          <p:cNvSpPr/>
          <p:nvPr/>
        </p:nvSpPr>
        <p:spPr>
          <a:xfrm>
            <a:off x="502920" y="2880360"/>
            <a:ext cx="2743200" cy="548640"/>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Feature </a:t>
            </a:r>
            <a:endParaRPr lang="en-US" sz="1200" dirty="0"/>
          </a:p>
        </p:txBody>
      </p:sp>
      <p:sp>
        <p:nvSpPr>
          <p:cNvPr id="7" name="Text 5"/>
          <p:cNvSpPr/>
          <p:nvPr/>
        </p:nvSpPr>
        <p:spPr>
          <a:xfrm>
            <a:off x="3246120" y="2880360"/>
            <a:ext cx="274320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RC_open mean</a:t>
            </a:r>
            <a:endParaRPr lang="en-US" sz="1200" dirty="0"/>
          </a:p>
        </p:txBody>
      </p:sp>
      <p:sp>
        <p:nvSpPr>
          <p:cNvPr id="8" name="Text 6"/>
          <p:cNvSpPr/>
          <p:nvPr/>
        </p:nvSpPr>
        <p:spPr>
          <a:xfrm>
            <a:off x="5989320" y="2880360"/>
            <a:ext cx="274320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RC_short mean</a:t>
            </a:r>
            <a:endParaRPr lang="en-US" sz="1200" dirty="0"/>
          </a:p>
        </p:txBody>
      </p:sp>
      <p:sp>
        <p:nvSpPr>
          <p:cNvPr id="9" name="Text 7"/>
          <p:cNvSpPr/>
          <p:nvPr/>
        </p:nvSpPr>
        <p:spPr>
          <a:xfrm>
            <a:off x="8732520" y="2880360"/>
            <a:ext cx="237744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Separable?</a:t>
            </a:r>
            <a:endParaRPr lang="en-US" sz="1200" dirty="0"/>
          </a:p>
        </p:txBody>
      </p:sp>
      <p:sp>
        <p:nvSpPr>
          <p:cNvPr id="10" name="Shape 8"/>
          <p:cNvSpPr/>
          <p:nvPr/>
        </p:nvSpPr>
        <p:spPr>
          <a:xfrm>
            <a:off x="502920" y="3429000"/>
            <a:ext cx="10607040" cy="548640"/>
          </a:xfrm>
          <a:prstGeom prst="rect">
            <a:avLst/>
          </a:prstGeom>
          <a:solidFill>
            <a:srgbClr val="FFFFFF"/>
          </a:solidFill>
          <a:ln w="9525">
            <a:solidFill>
              <a:srgbClr val="E4E9F1"/>
            </a:solidFill>
            <a:prstDash val="solid"/>
          </a:ln>
        </p:spPr>
      </p:sp>
      <p:sp>
        <p:nvSpPr>
          <p:cNvPr id="11" name="Text 9"/>
          <p:cNvSpPr/>
          <p:nvPr/>
        </p:nvSpPr>
        <p:spPr>
          <a:xfrm>
            <a:off x="502920" y="3429000"/>
            <a:ext cx="2743200" cy="548640"/>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a:t>
            </a:r>
            <a:r>
              <a:rPr lang="en-US" sz="1200" b="1" dirty="0" err="1">
                <a:solidFill>
                  <a:srgbClr val="1E293B"/>
                </a:solidFill>
                <a:latin typeface="Calibri" pitchFamily="34" charset="0"/>
                <a:ea typeface="Calibri" pitchFamily="34" charset="-122"/>
                <a:cs typeface="Calibri" pitchFamily="34" charset="-120"/>
              </a:rPr>
              <a:t>peak_voltage</a:t>
            </a:r>
            <a:endParaRPr lang="en-US" sz="1200" dirty="0"/>
          </a:p>
        </p:txBody>
      </p:sp>
      <p:sp>
        <p:nvSpPr>
          <p:cNvPr id="12" name="Text 10"/>
          <p:cNvSpPr/>
          <p:nvPr/>
        </p:nvSpPr>
        <p:spPr>
          <a:xfrm>
            <a:off x="3246120" y="3429000"/>
            <a:ext cx="274320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13" name="Text 11"/>
          <p:cNvSpPr/>
          <p:nvPr/>
        </p:nvSpPr>
        <p:spPr>
          <a:xfrm>
            <a:off x="5989320" y="3429000"/>
            <a:ext cx="274320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14" name="Text 12"/>
          <p:cNvSpPr/>
          <p:nvPr/>
        </p:nvSpPr>
        <p:spPr>
          <a:xfrm>
            <a:off x="8732520" y="3429000"/>
            <a:ext cx="237744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Yes — but noisy</a:t>
            </a:r>
            <a:endParaRPr lang="en-US" sz="1200" dirty="0"/>
          </a:p>
        </p:txBody>
      </p:sp>
      <p:sp>
        <p:nvSpPr>
          <p:cNvPr id="15" name="Shape 13"/>
          <p:cNvSpPr/>
          <p:nvPr/>
        </p:nvSpPr>
        <p:spPr>
          <a:xfrm>
            <a:off x="502920" y="3977640"/>
            <a:ext cx="10607040" cy="548640"/>
          </a:xfrm>
          <a:prstGeom prst="rect">
            <a:avLst/>
          </a:prstGeom>
          <a:solidFill>
            <a:srgbClr val="EEF2F7"/>
          </a:solidFill>
          <a:ln w="9525">
            <a:solidFill>
              <a:srgbClr val="E4E9F1"/>
            </a:solidFill>
            <a:prstDash val="solid"/>
          </a:ln>
        </p:spPr>
      </p:sp>
      <p:sp>
        <p:nvSpPr>
          <p:cNvPr id="16" name="Text 14"/>
          <p:cNvSpPr/>
          <p:nvPr/>
        </p:nvSpPr>
        <p:spPr>
          <a:xfrm>
            <a:off x="502920" y="3977640"/>
            <a:ext cx="2743200" cy="548640"/>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a:t>
            </a:r>
            <a:r>
              <a:rPr lang="en-US" sz="1200" b="1" dirty="0" err="1">
                <a:solidFill>
                  <a:srgbClr val="1E293B"/>
                </a:solidFill>
                <a:latin typeface="Calibri" pitchFamily="34" charset="0"/>
                <a:ea typeface="Calibri" pitchFamily="34" charset="-122"/>
                <a:cs typeface="Calibri" pitchFamily="34" charset="-120"/>
              </a:rPr>
              <a:t>rise_time</a:t>
            </a:r>
            <a:endParaRPr lang="en-US" sz="1200" dirty="0"/>
          </a:p>
        </p:txBody>
      </p:sp>
      <p:sp>
        <p:nvSpPr>
          <p:cNvPr id="17" name="Text 15"/>
          <p:cNvSpPr/>
          <p:nvPr/>
        </p:nvSpPr>
        <p:spPr>
          <a:xfrm>
            <a:off x="3246120" y="3977640"/>
            <a:ext cx="274320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~0.095 s (never rises)</a:t>
            </a:r>
            <a:endParaRPr lang="en-US" sz="1200" dirty="0"/>
          </a:p>
        </p:txBody>
      </p:sp>
      <p:sp>
        <p:nvSpPr>
          <p:cNvPr id="18" name="Text 16"/>
          <p:cNvSpPr/>
          <p:nvPr/>
        </p:nvSpPr>
        <p:spPr>
          <a:xfrm>
            <a:off x="5989320" y="3977640"/>
            <a:ext cx="274320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~0.000002 s (instant)</a:t>
            </a:r>
            <a:endParaRPr lang="en-US" sz="1200" dirty="0"/>
          </a:p>
        </p:txBody>
      </p:sp>
      <p:sp>
        <p:nvSpPr>
          <p:cNvPr id="19" name="Text 17"/>
          <p:cNvSpPr/>
          <p:nvPr/>
        </p:nvSpPr>
        <p:spPr>
          <a:xfrm>
            <a:off x="8732520" y="3977640"/>
            <a:ext cx="237744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Marginal</a:t>
            </a:r>
            <a:endParaRPr lang="en-US" sz="1200" dirty="0"/>
          </a:p>
        </p:txBody>
      </p:sp>
      <p:sp>
        <p:nvSpPr>
          <p:cNvPr id="20" name="Shape 18"/>
          <p:cNvSpPr/>
          <p:nvPr/>
        </p:nvSpPr>
        <p:spPr>
          <a:xfrm>
            <a:off x="502920" y="4526280"/>
            <a:ext cx="10607040" cy="548640"/>
          </a:xfrm>
          <a:prstGeom prst="rect">
            <a:avLst/>
          </a:prstGeom>
          <a:solidFill>
            <a:srgbClr val="FFFFFF"/>
          </a:solidFill>
          <a:ln w="9525">
            <a:solidFill>
              <a:srgbClr val="E4E9F1"/>
            </a:solidFill>
            <a:prstDash val="solid"/>
          </a:ln>
        </p:spPr>
      </p:sp>
      <p:sp>
        <p:nvSpPr>
          <p:cNvPr id="21" name="Text 19"/>
          <p:cNvSpPr/>
          <p:nvPr/>
        </p:nvSpPr>
        <p:spPr>
          <a:xfrm>
            <a:off x="502920" y="4526280"/>
            <a:ext cx="2743200" cy="548640"/>
          </a:xfrm>
          <a:prstGeom prst="rect">
            <a:avLst/>
          </a:prstGeom>
          <a:noFill/>
          <a:ln/>
        </p:spPr>
        <p:txBody>
          <a:bodyPr wrap="square" lIns="0" tIns="177800" rIns="0" bIns="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 </a:t>
            </a:r>
            <a:r>
              <a:rPr lang="en-US" sz="1200" b="1" dirty="0" err="1">
                <a:solidFill>
                  <a:srgbClr val="1E293B"/>
                </a:solidFill>
                <a:latin typeface="Calibri" pitchFamily="34" charset="0"/>
                <a:ea typeface="Calibri" pitchFamily="34" charset="-122"/>
                <a:cs typeface="Calibri" pitchFamily="34" charset="-120"/>
              </a:rPr>
              <a:t>dc_level</a:t>
            </a:r>
            <a:r>
              <a:rPr lang="en-US" sz="1200" b="1" dirty="0">
                <a:solidFill>
                  <a:srgbClr val="1E293B"/>
                </a:solidFill>
                <a:latin typeface="Calibri" pitchFamily="34" charset="0"/>
                <a:ea typeface="Calibri" pitchFamily="34" charset="-122"/>
                <a:cs typeface="Calibri" pitchFamily="34" charset="-120"/>
              </a:rPr>
              <a:t> (new)</a:t>
            </a:r>
            <a:endParaRPr lang="en-US" sz="1200" dirty="0"/>
          </a:p>
        </p:txBody>
      </p:sp>
      <p:sp>
        <p:nvSpPr>
          <p:cNvPr id="22" name="Text 20"/>
          <p:cNvSpPr/>
          <p:nvPr/>
        </p:nvSpPr>
        <p:spPr>
          <a:xfrm>
            <a:off x="3246120" y="4526280"/>
            <a:ext cx="274320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23" name="Text 21"/>
          <p:cNvSpPr/>
          <p:nvPr/>
        </p:nvSpPr>
        <p:spPr>
          <a:xfrm>
            <a:off x="5989320" y="4526280"/>
            <a:ext cx="274320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24" name="Text 22"/>
          <p:cNvSpPr/>
          <p:nvPr/>
        </p:nvSpPr>
        <p:spPr>
          <a:xfrm>
            <a:off x="8732520" y="4526280"/>
            <a:ext cx="2377440" cy="548640"/>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Yes — cleanly</a:t>
            </a:r>
            <a:endParaRPr lang="en-US" sz="1200" dirty="0"/>
          </a:p>
        </p:txBody>
      </p:sp>
      <p:sp>
        <p:nvSpPr>
          <p:cNvPr id="25" name="Text 23"/>
          <p:cNvSpPr/>
          <p:nvPr/>
        </p:nvSpPr>
        <p:spPr>
          <a:xfrm>
            <a:off x="502920" y="4892040"/>
            <a:ext cx="10607040" cy="548640"/>
          </a:xfrm>
          <a:prstGeom prst="rect">
            <a:avLst/>
          </a:prstGeom>
          <a:noFill/>
          <a:ln/>
        </p:spPr>
        <p:txBody>
          <a:bodyPr wrap="square" lIns="0" tIns="0" rIns="0" bIns="0" rtlCol="0" anchor="ctr"/>
          <a:lstStyle/>
          <a:p>
            <a:pPr marL="0" indent="0">
              <a:lnSpc>
                <a:spcPct val="120000"/>
              </a:lnSpc>
              <a:buNone/>
            </a:pPr>
            <a:r>
              <a:rPr lang="en-US" sz="1150" i="1" dirty="0">
                <a:solidFill>
                  <a:srgbClr val="64748B"/>
                </a:solidFill>
                <a:latin typeface="Calibri" pitchFamily="34" charset="0"/>
                <a:ea typeface="Calibri" pitchFamily="34" charset="-122"/>
                <a:cs typeface="Calibri" pitchFamily="34" charset="-120"/>
              </a:rPr>
              <a:t>Both circuits settle to a flat line by the end of the observation window — the existing features just weren't capturing where that flat line actually sat.</a:t>
            </a:r>
            <a:endParaRPr lang="en-US" sz="11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The Fix: A 17th Feature, dc_level</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blurRad="114300" dist="38100" dir="2700000" algn="bl" rotWithShape="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marL="0" indent="0" algn="l">
              <a:lnSpc>
                <a:spcPct val="140000"/>
              </a:lnSpc>
              <a:buNone/>
            </a:pPr>
            <a:r>
              <a:rPr lang="en-US" sz="1500" dirty="0">
                <a:solidFill>
                  <a:srgbClr val="E7ECF4"/>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6" name="Shape 4"/>
          <p:cNvSpPr/>
          <p:nvPr/>
        </p:nvSpPr>
        <p:spPr>
          <a:xfrm>
            <a:off x="502920" y="3063240"/>
            <a:ext cx="5166360" cy="2880360"/>
          </a:xfrm>
          <a:prstGeom prst="roundRect">
            <a:avLst>
              <a:gd name="adj" fmla="val 2857"/>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7" name="Shape 5"/>
          <p:cNvSpPr/>
          <p:nvPr/>
        </p:nvSpPr>
        <p:spPr>
          <a:xfrm>
            <a:off x="777240" y="333756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8" name="Image 0" descr="/sessions/blissful-zealous-babbage/mnt/outputs/ppt/icons/plug_00B4D8.png"/>
          <p:cNvPicPr>
            <a:picLocks noChangeAspect="1"/>
          </p:cNvPicPr>
          <p:nvPr/>
        </p:nvPicPr>
        <p:blipFill>
          <a:blip r:embed="rId3"/>
          <a:stretch>
            <a:fillRect/>
          </a:stretch>
        </p:blipFill>
        <p:spPr>
          <a:xfrm>
            <a:off x="851306" y="3411626"/>
            <a:ext cx="400507" cy="400507"/>
          </a:xfrm>
          <a:prstGeom prst="rect">
            <a:avLst/>
          </a:prstGeom>
        </p:spPr>
      </p:pic>
      <p:sp>
        <p:nvSpPr>
          <p:cNvPr id="9" name="Text 6"/>
          <p:cNvSpPr/>
          <p:nvPr/>
        </p:nvSpPr>
        <p:spPr>
          <a:xfrm>
            <a:off x="1463040" y="3383280"/>
            <a:ext cx="397764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RC_open</a:t>
            </a:r>
            <a:endParaRPr lang="en-US" sz="1600" dirty="0"/>
          </a:p>
        </p:txBody>
      </p:sp>
      <p:sp>
        <p:nvSpPr>
          <p:cNvPr id="10" name="Text 7"/>
          <p:cNvSpPr/>
          <p:nvPr/>
        </p:nvSpPr>
        <p:spPr>
          <a:xfrm>
            <a:off x="777240" y="4023360"/>
            <a:ext cx="4617720" cy="164592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Never charges within the 95ms window, so its steady-state DC level sits near 0V.</a:t>
            </a:r>
            <a:endParaRPr lang="en-US" sz="1150" dirty="0"/>
          </a:p>
        </p:txBody>
      </p:sp>
      <p:sp>
        <p:nvSpPr>
          <p:cNvPr id="11" name="Shape 8"/>
          <p:cNvSpPr/>
          <p:nvPr/>
        </p:nvSpPr>
        <p:spPr>
          <a:xfrm>
            <a:off x="6126480" y="3063240"/>
            <a:ext cx="5166360" cy="2880360"/>
          </a:xfrm>
          <a:prstGeom prst="roundRect">
            <a:avLst>
              <a:gd name="adj" fmla="val 2857"/>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2" name="Shape 9"/>
          <p:cNvSpPr/>
          <p:nvPr/>
        </p:nvSpPr>
        <p:spPr>
          <a:xfrm>
            <a:off x="6400800" y="3337560"/>
            <a:ext cx="548640" cy="548640"/>
          </a:xfrm>
          <a:prstGeom prst="ellipse">
            <a:avLst/>
          </a:prstGeom>
          <a:solidFill>
            <a:srgbClr val="D9695F"/>
          </a:solidFill>
          <a:ln/>
          <a:effectLst>
            <a:outerShdw blurRad="114300" dist="38100" dir="2700000" algn="bl" rotWithShape="0">
              <a:srgbClr val="0B1F3A">
                <a:alpha val="14000"/>
              </a:srgbClr>
            </a:outerShdw>
          </a:effectLst>
        </p:spPr>
      </p:sp>
      <p:pic>
        <p:nvPicPr>
          <p:cNvPr id="13" name="Image 1" descr="/sessions/blissful-zealous-babbage/mnt/outputs/ppt/icons/bolt_FFFFFF.png"/>
          <p:cNvPicPr>
            <a:picLocks noChangeAspect="1"/>
          </p:cNvPicPr>
          <p:nvPr/>
        </p:nvPicPr>
        <p:blipFill>
          <a:blip r:embed="rId4"/>
          <a:stretch>
            <a:fillRect/>
          </a:stretch>
        </p:blipFill>
        <p:spPr>
          <a:xfrm>
            <a:off x="6474866" y="3411626"/>
            <a:ext cx="400507" cy="400507"/>
          </a:xfrm>
          <a:prstGeom prst="rect">
            <a:avLst/>
          </a:prstGeom>
        </p:spPr>
      </p:pic>
      <p:sp>
        <p:nvSpPr>
          <p:cNvPr id="14" name="Text 10"/>
          <p:cNvSpPr/>
          <p:nvPr/>
        </p:nvSpPr>
        <p:spPr>
          <a:xfrm>
            <a:off x="7086600" y="3383280"/>
            <a:ext cx="397764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RC_short</a:t>
            </a:r>
            <a:endParaRPr lang="en-US" sz="1600" dirty="0"/>
          </a:p>
        </p:txBody>
      </p:sp>
      <p:sp>
        <p:nvSpPr>
          <p:cNvPr id="15" name="Text 11"/>
          <p:cNvSpPr/>
          <p:nvPr/>
        </p:nvSpPr>
        <p:spPr>
          <a:xfrm>
            <a:off x="6400800" y="4023360"/>
            <a:ext cx="4617720" cy="164592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Charges almost instantly with a collapsed time constant, so its steady-state DC level sits near 5V.</a:t>
            </a:r>
            <a:endParaRPr lang="en-US" sz="1150" dirty="0"/>
          </a:p>
        </p:txBody>
      </p:sp>
      <p:sp>
        <p:nvSpPr>
          <p:cNvPr id="16" name="Text 12"/>
          <p:cNvSpPr/>
          <p:nvPr/>
        </p:nvSpPr>
        <p:spPr>
          <a:xfrm>
            <a:off x="502920" y="6035040"/>
            <a:ext cx="10607040" cy="457200"/>
          </a:xfrm>
          <a:prstGeom prst="rect">
            <a:avLst/>
          </a:prstGeom>
          <a:noFill/>
          <a:ln/>
        </p:spPr>
        <p:txBody>
          <a:bodyPr wrap="square" lIns="0" tIns="0" rIns="0" bIns="0" rtlCol="0" anchor="ctr"/>
          <a:lstStyle/>
          <a:p>
            <a:pPr marL="0" indent="0">
              <a:buNone/>
            </a:pPr>
            <a:r>
              <a:rPr lang="en-US" sz="1150" b="1" i="1" dirty="0">
                <a:solidFill>
                  <a:srgbClr val="0B1F3A"/>
                </a:solidFill>
                <a:latin typeface="Calibri" pitchFamily="34" charset="0"/>
                <a:ea typeface="Calibri" pitchFamily="34" charset="-122"/>
                <a:cs typeface="Calibri" pitchFamily="34" charset="-120"/>
              </a:rPr>
              <a:t>One new feature, directly targeting a diagnosed failure mode, fixed a class pair the other 16 features couldn't separate.</a:t>
            </a:r>
            <a:endParaRPr lang="en-US" sz="115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Topology-Aware Post-Processing</a:t>
            </a:r>
            <a:endParaRPr lang="en-US" sz="3000" dirty="0"/>
          </a:p>
        </p:txBody>
      </p:sp>
      <p:sp>
        <p:nvSpPr>
          <p:cNvPr id="4" name="Shape 2"/>
          <p:cNvSpPr/>
          <p:nvPr/>
        </p:nvSpPr>
        <p:spPr>
          <a:xfrm>
            <a:off x="502920" y="1783080"/>
            <a:ext cx="10607040" cy="1600200"/>
          </a:xfrm>
          <a:prstGeom prst="roundRect">
            <a:avLst>
              <a:gd name="adj" fmla="val 5143"/>
            </a:avLst>
          </a:prstGeom>
          <a:solidFill>
            <a:srgbClr val="0B1F3A"/>
          </a:solidFill>
          <a:ln/>
          <a:effectLst>
            <a:outerShdw blurRad="114300" dist="38100" dir="2700000" algn="bl" rotWithShape="0">
              <a:srgbClr val="0B1F3A">
                <a:alpha val="14000"/>
              </a:srgbClr>
            </a:outerShdw>
          </a:effectLst>
        </p:spPr>
      </p:sp>
      <p:sp>
        <p:nvSpPr>
          <p:cNvPr id="5" name="Shape 3"/>
          <p:cNvSpPr/>
          <p:nvPr/>
        </p:nvSpPr>
        <p:spPr>
          <a:xfrm>
            <a:off x="777240" y="2048256"/>
            <a:ext cx="621792" cy="621792"/>
          </a:xfrm>
          <a:prstGeom prst="ellipse">
            <a:avLst/>
          </a:prstGeom>
          <a:solidFill>
            <a:srgbClr val="00B4D8"/>
          </a:solidFill>
          <a:ln/>
          <a:effectLst>
            <a:outerShdw blurRad="114300" dist="38100" dir="2700000" algn="bl" rotWithShape="0">
              <a:srgbClr val="0B1F3A">
                <a:alpha val="14000"/>
              </a:srgbClr>
            </a:outerShdw>
          </a:effectLst>
        </p:spPr>
      </p:sp>
      <p:pic>
        <p:nvPicPr>
          <p:cNvPr id="6" name="Image 0" descr="/sessions/blissful-zealous-babbage/mnt/outputs/ppt/icons/tools_0B1F3A.png"/>
          <p:cNvPicPr>
            <a:picLocks noChangeAspect="1"/>
          </p:cNvPicPr>
          <p:nvPr/>
        </p:nvPicPr>
        <p:blipFill>
          <a:blip r:embed="rId3"/>
          <a:stretch>
            <a:fillRect/>
          </a:stretch>
        </p:blipFill>
        <p:spPr>
          <a:xfrm>
            <a:off x="861182" y="2132198"/>
            <a:ext cx="453908" cy="453908"/>
          </a:xfrm>
          <a:prstGeom prst="rect">
            <a:avLst/>
          </a:prstGeom>
        </p:spPr>
      </p:pic>
      <p:sp>
        <p:nvSpPr>
          <p:cNvPr id="7" name="Text 4"/>
          <p:cNvSpPr/>
          <p:nvPr/>
        </p:nvSpPr>
        <p:spPr>
          <a:xfrm>
            <a:off x="1554480" y="1920240"/>
            <a:ext cx="9235440" cy="1371600"/>
          </a:xfrm>
          <a:prstGeom prst="rect">
            <a:avLst/>
          </a:prstGeom>
          <a:noFill/>
          <a:ln/>
        </p:spPr>
        <p:txBody>
          <a:bodyPr wrap="square" lIns="0" tIns="0" rIns="0" bIns="0" rtlCol="0" anchor="ctr"/>
          <a:lstStyle/>
          <a:p>
            <a:pPr marL="0" indent="0">
              <a:lnSpc>
                <a:spcPct val="128000"/>
              </a:lnSpc>
              <a:buNone/>
            </a:pPr>
            <a:r>
              <a:rPr lang="en-US" sz="1200" dirty="0">
                <a:solidFill>
                  <a:srgbClr val="E7ECF4"/>
                </a:solidFill>
                <a:latin typeface="Calibri" pitchFamily="34" charset="0"/>
                <a:ea typeface="Calibri" pitchFamily="34" charset="-122"/>
                <a:cs typeface="Calibri" pitchFamily="34" charset="-120"/>
              </a:rPr>
              <a:t>A plain SVM can output a physically impossible label — e.g. </a:t>
            </a:r>
            <a:r>
              <a:rPr lang="en-US" sz="1200" dirty="0">
                <a:solidFill>
                  <a:srgbClr val="FFB703"/>
                </a:solidFill>
                <a:latin typeface="Courier New" pitchFamily="34" charset="0"/>
                <a:ea typeface="Courier New" pitchFamily="34" charset="-122"/>
                <a:cs typeface="Courier New" pitchFamily="34" charset="-120"/>
              </a:rPr>
              <a:t>"RLC_open"</a:t>
            </a:r>
            <a:r>
              <a:rPr lang="en-US" sz="1200" dirty="0">
                <a:solidFill>
                  <a:srgbClr val="E7ECF4"/>
                </a:solidFill>
                <a:latin typeface="Calibri" pitchFamily="34" charset="0"/>
                <a:ea typeface="Calibri" pitchFamily="34" charset="-122"/>
                <a:cs typeface="Calibri" pitchFamily="34" charset="-120"/>
              </a:rPr>
              <a:t> for a sample known to come from the RC circuit, which has no inductor to open at all.
</a:t>
            </a:r>
            <a:r>
              <a:rPr lang="en-US" sz="1200" b="1" dirty="0">
                <a:solidFill>
                  <a:srgbClr val="FFB703"/>
                </a:solidFill>
                <a:latin typeface="Calibri" pitchFamily="34" charset="0"/>
                <a:ea typeface="Calibri" pitchFamily="34" charset="-122"/>
                <a:cs typeface="Calibri" pitchFamily="34" charset="-120"/>
              </a:rPr>
              <a:t>Rule: </a:t>
            </a:r>
            <a:r>
              <a:rPr lang="en-US" sz="1200" dirty="0">
                <a:solidFill>
                  <a:srgbClr val="E7ECF4"/>
                </a:solidFill>
                <a:latin typeface="Calibri" pitchFamily="34" charset="0"/>
                <a:ea typeface="Calibri" pitchFamily="34" charset="-122"/>
                <a:cs typeface="Calibri" pitchFamily="34" charset="-120"/>
              </a:rPr>
              <a:t>when the predicted class's circuit prefix doesn't match the sample's known true circuit, remap the fault type onto that circuit instead — e.g. RLC_open -&gt; RC_open.</a:t>
            </a:r>
            <a:endParaRPr lang="en-US" sz="1200" dirty="0"/>
          </a:p>
        </p:txBody>
      </p:sp>
      <p:sp>
        <p:nvSpPr>
          <p:cNvPr id="8" name="Shape 5"/>
          <p:cNvSpPr/>
          <p:nvPr/>
        </p:nvSpPr>
        <p:spPr>
          <a:xfrm>
            <a:off x="502920" y="3657600"/>
            <a:ext cx="10607040" cy="685800"/>
          </a:xfrm>
          <a:prstGeom prst="roundRect">
            <a:avLst>
              <a:gd name="adj" fmla="val 10667"/>
            </a:avLst>
          </a:prstGeom>
          <a:solidFill>
            <a:srgbClr val="EEF2F7"/>
          </a:solidFill>
          <a:ln w="12700">
            <a:solidFill>
              <a:srgbClr val="E4E9F1"/>
            </a:solidFill>
            <a:prstDash val="solid"/>
          </a:ln>
        </p:spPr>
      </p:sp>
      <p:sp>
        <p:nvSpPr>
          <p:cNvPr id="9" name="Text 6"/>
          <p:cNvSpPr/>
          <p:nvPr/>
        </p:nvSpPr>
        <p:spPr>
          <a:xfrm>
            <a:off x="502920" y="3657600"/>
            <a:ext cx="10607040" cy="685800"/>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+1.47 points from this rule alone:  76.96%  -&gt;  78.43%</a:t>
            </a:r>
            <a:endParaRPr lang="en-US" sz="1400" dirty="0"/>
          </a:p>
        </p:txBody>
      </p:sp>
      <p:sp>
        <p:nvSpPr>
          <p:cNvPr id="10" name="Shape 7"/>
          <p:cNvSpPr/>
          <p:nvPr/>
        </p:nvSpPr>
        <p:spPr>
          <a:xfrm>
            <a:off x="502920" y="4572000"/>
            <a:ext cx="10607040" cy="1463040"/>
          </a:xfrm>
          <a:prstGeom prst="roundRect">
            <a:avLst>
              <a:gd name="adj" fmla="val 562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1" name="Shape 8"/>
          <p:cNvSpPr/>
          <p:nvPr/>
        </p:nvSpPr>
        <p:spPr>
          <a:xfrm>
            <a:off x="777240" y="4828032"/>
            <a:ext cx="548640" cy="548640"/>
          </a:xfrm>
          <a:prstGeom prst="ellipse">
            <a:avLst/>
          </a:prstGeom>
          <a:solidFill>
            <a:srgbClr val="D9695F"/>
          </a:solidFill>
          <a:ln/>
          <a:effectLst>
            <a:outerShdw blurRad="114300" dist="38100" dir="2700000" algn="bl" rotWithShape="0">
              <a:srgbClr val="0B1F3A">
                <a:alpha val="14000"/>
              </a:srgbClr>
            </a:outerShdw>
          </a:effectLst>
        </p:spPr>
      </p:sp>
      <p:pic>
        <p:nvPicPr>
          <p:cNvPr id="12" name="Image 1" descr="/sessions/blissful-zealous-babbage/mnt/outputs/ppt/icons/warn_FFFFFF.png"/>
          <p:cNvPicPr>
            <a:picLocks noChangeAspect="1"/>
          </p:cNvPicPr>
          <p:nvPr/>
        </p:nvPicPr>
        <p:blipFill>
          <a:blip r:embed="rId4"/>
          <a:stretch>
            <a:fillRect/>
          </a:stretch>
        </p:blipFill>
        <p:spPr>
          <a:xfrm>
            <a:off x="851306" y="4902098"/>
            <a:ext cx="400507" cy="400507"/>
          </a:xfrm>
          <a:prstGeom prst="rect">
            <a:avLst/>
          </a:prstGeom>
        </p:spPr>
      </p:pic>
      <p:sp>
        <p:nvSpPr>
          <p:cNvPr id="13" name="Text 9"/>
          <p:cNvSpPr/>
          <p:nvPr/>
        </p:nvSpPr>
        <p:spPr>
          <a:xfrm>
            <a:off x="1463040" y="4709160"/>
            <a:ext cx="9509760" cy="1234440"/>
          </a:xfrm>
          <a:prstGeom prst="rect">
            <a:avLst/>
          </a:prstGeom>
          <a:noFill/>
          <a:ln/>
        </p:spPr>
        <p:txBody>
          <a:bodyPr wrap="square" lIns="0" tIns="0" rIns="0" bIns="0" rtlCol="0" anchor="ctr"/>
          <a:lstStyle/>
          <a:p>
            <a:pPr marL="0" indent="0">
              <a:lnSpc>
                <a:spcPct val="125000"/>
              </a:lnSpc>
              <a:buNone/>
            </a:pPr>
            <a:r>
              <a:rPr lang="en-US" sz="1100" b="1" dirty="0">
                <a:solidFill>
                  <a:srgbClr val="0B1F3A"/>
                </a:solidFill>
                <a:latin typeface="Calibri" pitchFamily="34" charset="0"/>
                <a:ea typeface="Calibri" pitchFamily="34" charset="-122"/>
                <a:cs typeface="Calibri" pitchFamily="34" charset="-120"/>
              </a:rPr>
              <a:t>An honest limit: </a:t>
            </a:r>
            <a:r>
              <a:rPr lang="en-US" sz="1100" dirty="0">
                <a:solidFill>
                  <a:srgbClr val="64748B"/>
                </a:solidFill>
                <a:latin typeface="Calibri" pitchFamily="34" charset="0"/>
                <a:ea typeface="Calibri" pitchFamily="34" charset="-122"/>
                <a:cs typeface="Calibri"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next two slides for a more principled fix.</a:t>
            </a:r>
            <a:endParaRPr lang="en-US" sz="11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An Honest Clarification: Is This Circular?</a:t>
            </a:r>
            <a:endParaRPr lang="en-US" sz="3000" dirty="0"/>
          </a:p>
        </p:txBody>
      </p:sp>
      <p:sp>
        <p:nvSpPr>
          <p:cNvPr id="4" name="Text 2"/>
          <p:cNvSpPr/>
          <p:nvPr/>
        </p:nvSpPr>
        <p:spPr>
          <a:xfrm>
            <a:off x="502920" y="1691640"/>
            <a:ext cx="10607040" cy="548640"/>
          </a:xfrm>
          <a:prstGeom prst="rect">
            <a:avLst/>
          </a:prstGeom>
          <a:noFill/>
          <a:ln/>
        </p:spPr>
        <p:txBody>
          <a:bodyPr wrap="square" lIns="0" tIns="0" rIns="0" bIns="0" rtlCol="0" anchor="ctr"/>
          <a:lstStyle/>
          <a:p>
            <a:pPr marL="0" indent="0">
              <a:lnSpc>
                <a:spcPct val="128000"/>
              </a:lnSpc>
              <a:buNone/>
            </a:pPr>
            <a:r>
              <a:rPr lang="en-US" sz="1350" b="1" dirty="0">
                <a:solidFill>
                  <a:srgbClr val="0B1F3A"/>
                </a:solidFill>
                <a:latin typeface="Calibri" pitchFamily="34" charset="0"/>
                <a:ea typeface="Calibri" pitchFamily="34" charset="-122"/>
                <a:cs typeface="Calibri" pitchFamily="34" charset="-120"/>
              </a:rPr>
              <a:t>Fair question: </a:t>
            </a:r>
            <a:r>
              <a:rPr lang="en-US" sz="1350" dirty="0">
                <a:solidFill>
                  <a:srgbClr val="1E293B"/>
                </a:solidFill>
                <a:latin typeface="Calibri" pitchFamily="34" charset="0"/>
                <a:ea typeface="Calibri" pitchFamily="34" charset="-122"/>
                <a:cs typeface="Calibri" pitchFamily="34" charset="-120"/>
              </a:rPr>
              <a:t>if the correction rule already needs the true circuit, why train a 20-way classifier that predicts circuit and fault together at all?</a:t>
            </a:r>
            <a:endParaRPr lang="en-US" sz="1350" dirty="0"/>
          </a:p>
        </p:txBody>
      </p:sp>
      <p:sp>
        <p:nvSpPr>
          <p:cNvPr id="5" name="Shape 3"/>
          <p:cNvSpPr/>
          <p:nvPr/>
        </p:nvSpPr>
        <p:spPr>
          <a:xfrm>
            <a:off x="502920" y="2423160"/>
            <a:ext cx="5166360" cy="2148840"/>
          </a:xfrm>
          <a:prstGeom prst="roundRect">
            <a:avLst>
              <a:gd name="adj" fmla="val 383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6" name="Shape 4"/>
          <p:cNvSpPr/>
          <p:nvPr/>
        </p:nvSpPr>
        <p:spPr>
          <a:xfrm>
            <a:off x="777240" y="2679192"/>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7" name="Image 0" descr="/sessions/blissful-zealous-babbage/mnt/outputs/ppt/icons/search_00B4D8.png"/>
          <p:cNvPicPr>
            <a:picLocks noChangeAspect="1"/>
          </p:cNvPicPr>
          <p:nvPr/>
        </p:nvPicPr>
        <p:blipFill>
          <a:blip r:embed="rId3"/>
          <a:stretch>
            <a:fillRect/>
          </a:stretch>
        </p:blipFill>
        <p:spPr>
          <a:xfrm>
            <a:off x="853775" y="2755727"/>
            <a:ext cx="413857" cy="413857"/>
          </a:xfrm>
          <a:prstGeom prst="rect">
            <a:avLst/>
          </a:prstGeom>
        </p:spPr>
      </p:pic>
      <p:sp>
        <p:nvSpPr>
          <p:cNvPr id="8" name="Text 5"/>
          <p:cNvSpPr/>
          <p:nvPr/>
        </p:nvSpPr>
        <p:spPr>
          <a:xfrm>
            <a:off x="1508760" y="2715768"/>
            <a:ext cx="388620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The real deployment task</a:t>
            </a:r>
            <a:endParaRPr lang="en-US" sz="1350" dirty="0"/>
          </a:p>
        </p:txBody>
      </p:sp>
      <p:sp>
        <p:nvSpPr>
          <p:cNvPr id="9" name="Text 6"/>
          <p:cNvSpPr/>
          <p:nvPr/>
        </p:nvSpPr>
        <p:spPr>
          <a:xfrm>
            <a:off x="777240" y="3291840"/>
            <a:ext cx="4617720" cy="1188720"/>
          </a:xfrm>
          <a:prstGeom prst="rect">
            <a:avLst/>
          </a:prstGeom>
          <a:noFill/>
          <a:ln/>
        </p:spPr>
        <p:txBody>
          <a:bodyPr wrap="square" lIns="0" tIns="0" rIns="0" bIns="0" rtlCol="0" anchor="ctr"/>
          <a:lstStyle/>
          <a:p>
            <a:pPr marL="0" indent="0">
              <a:lnSpc>
                <a:spcPct val="125000"/>
              </a:lnSpc>
              <a:buNone/>
            </a:pPr>
            <a:r>
              <a:rPr lang="en-US" sz="1080" dirty="0">
                <a:solidFill>
                  <a:srgbClr val="64748B"/>
                </a:solidFill>
                <a:latin typeface="Calibri" pitchFamily="34" charset="0"/>
                <a:ea typeface="Calibri" pitchFamily="34" charset="-122"/>
                <a:cs typeface="Calibri" pitchFamily="34" charset="-120"/>
              </a:rPr>
              <a:t>A technician testing a board already knows it's "the RC filter" — what they don't know is whether it's healthy, drifting, open, shorted or noisy. The circuit identity is a given; the fault is the unknown. The live app reflects exactly this: the user picks the circuit from a dropdown.</a:t>
            </a:r>
            <a:endParaRPr lang="en-US" sz="1080" dirty="0"/>
          </a:p>
        </p:txBody>
      </p:sp>
      <p:sp>
        <p:nvSpPr>
          <p:cNvPr id="10" name="Shape 7"/>
          <p:cNvSpPr/>
          <p:nvPr/>
        </p:nvSpPr>
        <p:spPr>
          <a:xfrm>
            <a:off x="6126480" y="2423160"/>
            <a:ext cx="5166360" cy="2148840"/>
          </a:xfrm>
          <a:prstGeom prst="roundRect">
            <a:avLst>
              <a:gd name="adj" fmla="val 383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1" name="Shape 8"/>
          <p:cNvSpPr/>
          <p:nvPr/>
        </p:nvSpPr>
        <p:spPr>
          <a:xfrm>
            <a:off x="6400800" y="2679192"/>
            <a:ext cx="566928" cy="566928"/>
          </a:xfrm>
          <a:prstGeom prst="ellipse">
            <a:avLst/>
          </a:prstGeom>
          <a:solidFill>
            <a:srgbClr val="0B1F3A"/>
          </a:solidFill>
          <a:ln/>
          <a:effectLst>
            <a:outerShdw blurRad="114300" dist="38100" dir="2700000" algn="bl" rotWithShape="0">
              <a:srgbClr val="0B1F3A">
                <a:alpha val="14000"/>
              </a:srgbClr>
            </a:outerShdw>
          </a:effectLst>
        </p:spPr>
      </p:sp>
      <p:pic>
        <p:nvPicPr>
          <p:cNvPr id="12" name="Image 1" descr="/sessions/blissful-zealous-babbage/mnt/outputs/ppt/icons/balance_00B4D8.png"/>
          <p:cNvPicPr>
            <a:picLocks noChangeAspect="1"/>
          </p:cNvPicPr>
          <p:nvPr/>
        </p:nvPicPr>
        <p:blipFill>
          <a:blip r:embed="rId4"/>
          <a:stretch>
            <a:fillRect/>
          </a:stretch>
        </p:blipFill>
        <p:spPr>
          <a:xfrm>
            <a:off x="6477335" y="2755727"/>
            <a:ext cx="413857" cy="413857"/>
          </a:xfrm>
          <a:prstGeom prst="rect">
            <a:avLst/>
          </a:prstGeom>
        </p:spPr>
      </p:pic>
      <p:sp>
        <p:nvSpPr>
          <p:cNvPr id="13" name="Text 9"/>
          <p:cNvSpPr/>
          <p:nvPr/>
        </p:nvSpPr>
        <p:spPr>
          <a:xfrm>
            <a:off x="7132320" y="2715768"/>
            <a:ext cx="388620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Why train the harder, blind version anyway</a:t>
            </a:r>
            <a:endParaRPr lang="en-US" sz="1350" dirty="0"/>
          </a:p>
        </p:txBody>
      </p:sp>
      <p:sp>
        <p:nvSpPr>
          <p:cNvPr id="14" name="Text 10"/>
          <p:cNvSpPr/>
          <p:nvPr/>
        </p:nvSpPr>
        <p:spPr>
          <a:xfrm>
            <a:off x="6400800" y="3291840"/>
            <a:ext cx="4617720" cy="1188720"/>
          </a:xfrm>
          <a:prstGeom prst="rect">
            <a:avLst/>
          </a:prstGeom>
          <a:noFill/>
          <a:ln/>
        </p:spPr>
        <p:txBody>
          <a:bodyPr wrap="square" lIns="0" tIns="0" rIns="0" bIns="0" rtlCol="0" anchor="ctr"/>
          <a:lstStyle/>
          <a:p>
            <a:pPr marL="0" indent="0">
              <a:lnSpc>
                <a:spcPct val="125000"/>
              </a:lnSpc>
              <a:buNone/>
            </a:pPr>
            <a:r>
              <a:rPr lang="en-US" sz="1080" dirty="0">
                <a:solidFill>
                  <a:srgbClr val="64748B"/>
                </a:solidFill>
                <a:latin typeface="Calibri" pitchFamily="34" charset="0"/>
                <a:ea typeface="Calibri" pitchFamily="34" charset="-122"/>
                <a:cs typeface="Calibri" pitchFamily="34" charset="-120"/>
              </a:rPr>
              <a:t>The 20-way SVM is trained and scored on the full blind problem — circuit and fault together — as the rigorous headline result. That number, 76.96% before correction, is what the model can do with zero outside help.</a:t>
            </a:r>
            <a:endParaRPr lang="en-US" sz="1080" dirty="0"/>
          </a:p>
        </p:txBody>
      </p:sp>
      <p:sp>
        <p:nvSpPr>
          <p:cNvPr id="15" name="Shape 11"/>
          <p:cNvSpPr/>
          <p:nvPr/>
        </p:nvSpPr>
        <p:spPr>
          <a:xfrm>
            <a:off x="502920" y="4892040"/>
            <a:ext cx="10607040" cy="1234440"/>
          </a:xfrm>
          <a:prstGeom prst="roundRect">
            <a:avLst>
              <a:gd name="adj" fmla="val 6667"/>
            </a:avLst>
          </a:prstGeom>
          <a:solidFill>
            <a:srgbClr val="0B1F3A"/>
          </a:solidFill>
          <a:ln/>
          <a:effectLst>
            <a:outerShdw blurRad="114300" dist="38100" dir="2700000" algn="bl" rotWithShape="0">
              <a:srgbClr val="0B1F3A">
                <a:alpha val="14000"/>
              </a:srgbClr>
            </a:outerShdw>
          </a:effectLst>
        </p:spPr>
      </p:sp>
      <p:sp>
        <p:nvSpPr>
          <p:cNvPr id="16" name="Text 12"/>
          <p:cNvSpPr/>
          <p:nvPr/>
        </p:nvSpPr>
        <p:spPr>
          <a:xfrm>
            <a:off x="777240" y="5029200"/>
            <a:ext cx="10058400" cy="1005840"/>
          </a:xfrm>
          <a:prstGeom prst="rect">
            <a:avLst/>
          </a:prstGeom>
          <a:noFill/>
          <a:ln/>
        </p:spPr>
        <p:txBody>
          <a:bodyPr wrap="square" lIns="0" tIns="0" rIns="0" bIns="0" rtlCol="0" anchor="ctr"/>
          <a:lstStyle/>
          <a:p>
            <a:pPr marL="0" indent="0">
              <a:lnSpc>
                <a:spcPct val="122000"/>
              </a:lnSpc>
              <a:buNone/>
            </a:pPr>
            <a:r>
              <a:rPr lang="en-US" sz="1100" b="1" dirty="0">
                <a:solidFill>
                  <a:srgbClr val="FFB703"/>
                </a:solidFill>
                <a:latin typeface="Calibri" pitchFamily="34" charset="0"/>
                <a:ea typeface="Calibri" pitchFamily="34" charset="-122"/>
                <a:cs typeface="Calibri" pitchFamily="34" charset="-120"/>
              </a:rPr>
              <a:t>Why this isn't leakage: </a:t>
            </a:r>
            <a:r>
              <a:rPr lang="en-US" sz="1100" dirty="0">
                <a:solidFill>
                  <a:srgbClr val="E7ECF4"/>
                </a:solidFill>
                <a:latin typeface="Calibri" pitchFamily="34" charset="0"/>
                <a:ea typeface="Calibri" pitchFamily="34" charset="-122"/>
                <a:cs typeface="Calibri" pitchFamily="34" charset="-120"/>
              </a:rPr>
              <a:t>the correction never looks at the predicted fault type — only the independently-known circuit identity — to rule out physically impossible combinations. It's equivalent to a technician saying "I know this is the RC board, so it can't be an RLC fault," not information leaking from the label being predicted. Two honest numbers are reported side by side: </a:t>
            </a:r>
            <a:r>
              <a:rPr lang="en-US" sz="1100" b="1" dirty="0">
                <a:solidFill>
                  <a:srgbClr val="FFFFFF"/>
                </a:solidFill>
                <a:latin typeface="Calibri" pitchFamily="34" charset="0"/>
                <a:ea typeface="Calibri" pitchFamily="34" charset="-122"/>
                <a:cs typeface="Calibri" pitchFamily="34" charset="-120"/>
              </a:rPr>
              <a:t>76.96% blind, 78.43% with the known-topology assumption applied.</a:t>
            </a:r>
            <a:endParaRPr lang="en-US" sz="110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6. THE SMART FIXES · PART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Beyond the Patch: A Principled Alternative</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marL="0" indent="0">
              <a:lnSpc>
                <a:spcPct val="128000"/>
              </a:lnSpc>
              <a:buNone/>
            </a:pPr>
            <a:r>
              <a:rPr lang="en-US" sz="1300" dirty="0">
                <a:solidFill>
                  <a:srgbClr val="1E293B"/>
                </a:solidFill>
                <a:latin typeface="Calibri" pitchFamily="34" charset="0"/>
                <a:ea typeface="Calibri" pitchFamily="34" charset="-122"/>
                <a:cs typeface="Calibri" pitchFamily="34" charset="-120"/>
              </a:rPr>
              <a:t>The correction rule is a patch: it repairs a mistake after a flat 20-way classifier already made it. A cleaner design would make the mistake </a:t>
            </a:r>
            <a:r>
              <a:rPr lang="en-US" sz="1300" b="1" dirty="0">
                <a:solidFill>
                  <a:srgbClr val="0B1F3A"/>
                </a:solidFill>
                <a:latin typeface="Calibri" pitchFamily="34" charset="0"/>
                <a:ea typeface="Calibri" pitchFamily="34" charset="-122"/>
                <a:cs typeface="Calibri" pitchFamily="34" charset="-120"/>
              </a:rPr>
              <a:t>structurally impossible</a:t>
            </a:r>
            <a:r>
              <a:rPr lang="en-US" sz="1300" dirty="0">
                <a:solidFill>
                  <a:srgbClr val="1E293B"/>
                </a:solidFill>
                <a:latin typeface="Calibri" pitchFamily="34" charset="0"/>
                <a:ea typeface="Calibri" pitchFamily="34" charset="-122"/>
                <a:cs typeface="Calibri" pitchFamily="34" charset="-120"/>
              </a:rPr>
              <a:t> in the first place, by splitting the problem into two honest, separately-trained stages:</a:t>
            </a:r>
            <a:endParaRPr lang="en-US" sz="1300" dirty="0"/>
          </a:p>
        </p:txBody>
      </p:sp>
      <p:sp>
        <p:nvSpPr>
          <p:cNvPr id="5" name="Shape 3"/>
          <p:cNvSpPr/>
          <p:nvPr/>
        </p:nvSpPr>
        <p:spPr>
          <a:xfrm>
            <a:off x="502920" y="2606040"/>
            <a:ext cx="5166360" cy="2743200"/>
          </a:xfrm>
          <a:prstGeom prst="roundRect">
            <a:avLst>
              <a:gd name="adj" fmla="val 3000"/>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2834640"/>
            <a:ext cx="4617720" cy="274320"/>
          </a:xfrm>
          <a:prstGeom prst="rect">
            <a:avLst/>
          </a:prstGeom>
          <a:noFill/>
          <a:ln/>
        </p:spPr>
        <p:txBody>
          <a:bodyPr wrap="square" lIns="0" tIns="0" rIns="0" bIns="0" rtlCol="0" anchor="ctr"/>
          <a:lstStyle/>
          <a:p>
            <a:pPr marL="0" indent="0">
              <a:buNone/>
            </a:pPr>
            <a:r>
              <a:rPr lang="en-US" sz="1100" b="1" kern="0" spc="150" dirty="0">
                <a:solidFill>
                  <a:srgbClr val="FFB703"/>
                </a:solidFill>
                <a:latin typeface="Calibri" pitchFamily="34" charset="0"/>
                <a:ea typeface="Calibri" pitchFamily="34" charset="-122"/>
                <a:cs typeface="Calibri" pitchFamily="34" charset="-120"/>
              </a:rPr>
              <a:t>STAGE 1</a:t>
            </a:r>
            <a:endParaRPr lang="en-US" sz="1100" dirty="0"/>
          </a:p>
        </p:txBody>
      </p:sp>
      <p:sp>
        <p:nvSpPr>
          <p:cNvPr id="7" name="Shape 5"/>
          <p:cNvSpPr/>
          <p:nvPr/>
        </p:nvSpPr>
        <p:spPr>
          <a:xfrm>
            <a:off x="777240" y="3172968"/>
            <a:ext cx="640080" cy="640080"/>
          </a:xfrm>
          <a:prstGeom prst="ellipse">
            <a:avLst/>
          </a:prstGeom>
          <a:solidFill>
            <a:srgbClr val="00B4D8"/>
          </a:solidFill>
          <a:ln/>
          <a:effectLst>
            <a:outerShdw blurRad="114300" dist="38100" dir="2700000" algn="bl" rotWithShape="0">
              <a:srgbClr val="0B1F3A">
                <a:alpha val="14000"/>
              </a:srgbClr>
            </a:outerShdw>
          </a:effectLst>
        </p:spPr>
      </p:sp>
      <p:pic>
        <p:nvPicPr>
          <p:cNvPr id="8" name="Image 0" descr="/sessions/blissful-zealous-babbage/mnt/outputs/ppt/icons/sitemap_0B1F3A.png"/>
          <p:cNvPicPr>
            <a:picLocks noChangeAspect="1"/>
          </p:cNvPicPr>
          <p:nvPr/>
        </p:nvPicPr>
        <p:blipFill>
          <a:blip r:embed="rId3"/>
          <a:stretch>
            <a:fillRect/>
          </a:stretch>
        </p:blipFill>
        <p:spPr>
          <a:xfrm>
            <a:off x="863651" y="3259379"/>
            <a:ext cx="467258" cy="467258"/>
          </a:xfrm>
          <a:prstGeom prst="rect">
            <a:avLst/>
          </a:prstGeom>
        </p:spPr>
      </p:pic>
      <p:sp>
        <p:nvSpPr>
          <p:cNvPr id="9" name="Text 6"/>
          <p:cNvSpPr/>
          <p:nvPr/>
        </p:nvSpPr>
        <p:spPr>
          <a:xfrm>
            <a:off x="1600200" y="3227832"/>
            <a:ext cx="379476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Which circuit?</a:t>
            </a:r>
            <a:endParaRPr lang="en-US" sz="1700" dirty="0"/>
          </a:p>
        </p:txBody>
      </p:sp>
      <p:sp>
        <p:nvSpPr>
          <p:cNvPr id="10" name="Text 7"/>
          <p:cNvSpPr/>
          <p:nvPr/>
        </p:nvSpPr>
        <p:spPr>
          <a:xfrm>
            <a:off x="777240" y="3977640"/>
            <a:ext cx="4617720" cy="1234440"/>
          </a:xfrm>
          <a:prstGeom prst="rect">
            <a:avLst/>
          </a:prstGeom>
          <a:noFill/>
          <a:ln/>
        </p:spPr>
        <p:txBody>
          <a:bodyPr wrap="square" lIns="0" tIns="0" rIns="0" bIns="0" rtlCol="0" anchor="ctr"/>
          <a:lstStyle/>
          <a:p>
            <a:pPr marL="0" indent="0">
              <a:lnSpc>
                <a:spcPct val="128000"/>
              </a:lnSpc>
              <a:buNone/>
            </a:pPr>
            <a:r>
              <a:rPr lang="en-US" sz="1100" dirty="0">
                <a:solidFill>
                  <a:srgbClr val="E7ECF4"/>
                </a:solidFill>
                <a:latin typeface="Calibri" pitchFamily="34" charset="0"/>
                <a:ea typeface="Calibri" pitchFamily="34" charset="-122"/>
                <a:cs typeface="Calibri" pitchFamily="34" charset="-120"/>
              </a:rPr>
              <a:t>A 4-way SVM trained on all 17 features, deciding only RC vs. RLC vs. Sallen-Key vs. RC Ladder — nothing about the fault yet.</a:t>
            </a:r>
            <a:endParaRPr lang="en-US" sz="1100" dirty="0"/>
          </a:p>
        </p:txBody>
      </p:sp>
      <p:sp>
        <p:nvSpPr>
          <p:cNvPr id="11" name="Shape 8"/>
          <p:cNvSpPr/>
          <p:nvPr/>
        </p:nvSpPr>
        <p:spPr>
          <a:xfrm>
            <a:off x="6126480" y="2606040"/>
            <a:ext cx="5166360" cy="2743200"/>
          </a:xfrm>
          <a:prstGeom prst="roundRect">
            <a:avLst>
              <a:gd name="adj" fmla="val 3000"/>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2" name="Text 9"/>
          <p:cNvSpPr/>
          <p:nvPr/>
        </p:nvSpPr>
        <p:spPr>
          <a:xfrm>
            <a:off x="6400800" y="2834640"/>
            <a:ext cx="4617720" cy="274320"/>
          </a:xfrm>
          <a:prstGeom prst="rect">
            <a:avLst/>
          </a:prstGeom>
          <a:noFill/>
          <a:ln/>
        </p:spPr>
        <p:txBody>
          <a:bodyPr wrap="square" lIns="0" tIns="0" rIns="0" bIns="0" rtlCol="0" anchor="ctr"/>
          <a:lstStyle/>
          <a:p>
            <a:pPr marL="0" indent="0">
              <a:buNone/>
            </a:pPr>
            <a:r>
              <a:rPr lang="en-US" sz="1100" b="1" kern="0" spc="150" dirty="0">
                <a:solidFill>
                  <a:srgbClr val="8695AB"/>
                </a:solidFill>
                <a:latin typeface="Calibri" pitchFamily="34" charset="0"/>
                <a:ea typeface="Calibri" pitchFamily="34" charset="-122"/>
                <a:cs typeface="Calibri" pitchFamily="34" charset="-120"/>
              </a:rPr>
              <a:t>STAGE 2</a:t>
            </a:r>
            <a:endParaRPr lang="en-US" sz="1100" dirty="0"/>
          </a:p>
        </p:txBody>
      </p:sp>
      <p:sp>
        <p:nvSpPr>
          <p:cNvPr id="13" name="Shape 10"/>
          <p:cNvSpPr/>
          <p:nvPr/>
        </p:nvSpPr>
        <p:spPr>
          <a:xfrm>
            <a:off x="6400800" y="3172968"/>
            <a:ext cx="640080" cy="640080"/>
          </a:xfrm>
          <a:prstGeom prst="ellipse">
            <a:avLst/>
          </a:prstGeom>
          <a:solidFill>
            <a:srgbClr val="00B4D8"/>
          </a:solidFill>
          <a:ln/>
          <a:effectLst>
            <a:outerShdw blurRad="114300" dist="38100" dir="2700000" algn="bl" rotWithShape="0">
              <a:srgbClr val="0B1F3A">
                <a:alpha val="14000"/>
              </a:srgbClr>
            </a:outerShdw>
          </a:effectLst>
        </p:spPr>
      </p:sp>
      <p:pic>
        <p:nvPicPr>
          <p:cNvPr id="14" name="Image 1" descr="/sessions/blissful-zealous-babbage/mnt/outputs/ppt/icons/search_0B1F3A.png"/>
          <p:cNvPicPr>
            <a:picLocks noChangeAspect="1"/>
          </p:cNvPicPr>
          <p:nvPr/>
        </p:nvPicPr>
        <p:blipFill>
          <a:blip r:embed="rId4"/>
          <a:stretch>
            <a:fillRect/>
          </a:stretch>
        </p:blipFill>
        <p:spPr>
          <a:xfrm>
            <a:off x="6487211" y="3259379"/>
            <a:ext cx="467258" cy="467258"/>
          </a:xfrm>
          <a:prstGeom prst="rect">
            <a:avLst/>
          </a:prstGeom>
        </p:spPr>
      </p:pic>
      <p:sp>
        <p:nvSpPr>
          <p:cNvPr id="15" name="Text 11"/>
          <p:cNvSpPr/>
          <p:nvPr/>
        </p:nvSpPr>
        <p:spPr>
          <a:xfrm>
            <a:off x="7223760" y="3154680"/>
            <a:ext cx="3794760" cy="640080"/>
          </a:xfrm>
          <a:prstGeom prst="rect">
            <a:avLst/>
          </a:prstGeom>
          <a:noFill/>
          <a:ln/>
        </p:spPr>
        <p:txBody>
          <a:bodyPr wrap="square" lIns="0" tIns="0" rIns="0" bIns="0" rtlCol="0" anchor="ctr"/>
          <a:lstStyle/>
          <a:p>
            <a:pPr marL="0" indent="0">
              <a:lnSpc>
                <a:spcPct val="105000"/>
              </a:lnSpc>
              <a:buNone/>
            </a:pPr>
            <a:r>
              <a:rPr lang="en-US" sz="1650" b="1" dirty="0">
                <a:solidFill>
                  <a:srgbClr val="0B1F3A"/>
                </a:solidFill>
                <a:latin typeface="Cambria" pitchFamily="34" charset="0"/>
                <a:ea typeface="Cambria" pitchFamily="34" charset="-122"/>
                <a:cs typeface="Cambria" pitchFamily="34" charset="-120"/>
              </a:rPr>
              <a:t>Which fault, given that circuit?</a:t>
            </a:r>
            <a:endParaRPr lang="en-US" sz="1650" dirty="0"/>
          </a:p>
        </p:txBody>
      </p:sp>
      <p:sp>
        <p:nvSpPr>
          <p:cNvPr id="16" name="Text 12"/>
          <p:cNvSpPr/>
          <p:nvPr/>
        </p:nvSpPr>
        <p:spPr>
          <a:xfrm>
            <a:off x="6400800" y="3977640"/>
            <a:ext cx="4617720" cy="1234440"/>
          </a:xfrm>
          <a:prstGeom prst="rect">
            <a:avLst/>
          </a:prstGeom>
          <a:noFill/>
          <a:ln/>
        </p:spPr>
        <p:txBody>
          <a:bodyPr wrap="square" lIns="0" tIns="0" rIns="0" bIns="0" rtlCol="0" anchor="ctr"/>
          <a:lstStyle/>
          <a:p>
            <a:pPr marL="0" indent="0">
              <a:lnSpc>
                <a:spcPct val="128000"/>
              </a:lnSpc>
              <a:buNone/>
            </a:pPr>
            <a:r>
              <a:rPr lang="en-US" sz="1100" dirty="0">
                <a:solidFill>
                  <a:srgbClr val="64748B"/>
                </a:solidFill>
                <a:latin typeface="Calibri" pitchFamily="34" charset="0"/>
                <a:ea typeface="Calibri" pitchFamily="34" charset="-122"/>
                <a:cs typeface="Calibri" pitchFamily="34" charset="-120"/>
              </a:rPr>
              <a:t>A separate 5-way SVM per circuit, trained only on that circuit's own samples. By construction, the RC model can never output an RLC label — there's no such option in its vocabulary.</a:t>
            </a:r>
            <a:endParaRPr lang="en-US" sz="110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6. THE SMART FIXES · PART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The Hierarchical Result: 88.56% vs. 78.43%</a:t>
            </a:r>
            <a:endParaRPr lang="en-US" sz="3000" dirty="0"/>
          </a:p>
        </p:txBody>
      </p:sp>
      <p:sp>
        <p:nvSpPr>
          <p:cNvPr id="4" name="Shape 2"/>
          <p:cNvSpPr/>
          <p:nvPr/>
        </p:nvSpPr>
        <p:spPr>
          <a:xfrm>
            <a:off x="502920" y="1783080"/>
            <a:ext cx="10607040" cy="621792"/>
          </a:xfrm>
          <a:prstGeom prst="roundRect">
            <a:avLst>
              <a:gd name="adj" fmla="val 8824"/>
            </a:avLst>
          </a:prstGeom>
          <a:solidFill>
            <a:srgbClr val="0B1F3A"/>
          </a:solidFill>
          <a:ln/>
        </p:spPr>
      </p:sp>
      <p:sp>
        <p:nvSpPr>
          <p:cNvPr id="5" name="Text 3"/>
          <p:cNvSpPr/>
          <p:nvPr/>
        </p:nvSpPr>
        <p:spPr>
          <a:xfrm>
            <a:off x="502920" y="1783080"/>
            <a:ext cx="3931920" cy="621792"/>
          </a:xfrm>
          <a:prstGeom prst="rect">
            <a:avLst/>
          </a:prstGeom>
          <a:noFill/>
          <a:ln/>
        </p:spPr>
        <p:txBody>
          <a:bodyPr wrap="square" lIns="0" tIns="17780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p>
        </p:txBody>
      </p:sp>
      <p:sp>
        <p:nvSpPr>
          <p:cNvPr id="6" name="Text 4"/>
          <p:cNvSpPr/>
          <p:nvPr/>
        </p:nvSpPr>
        <p:spPr>
          <a:xfrm>
            <a:off x="4434840" y="1783080"/>
            <a:ext cx="283464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p>
        </p:txBody>
      </p:sp>
      <p:sp>
        <p:nvSpPr>
          <p:cNvPr id="7" name="Text 5"/>
          <p:cNvSpPr/>
          <p:nvPr/>
        </p:nvSpPr>
        <p:spPr>
          <a:xfrm>
            <a:off x="7269480" y="1783080"/>
            <a:ext cx="384048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8" name="Shape 6"/>
          <p:cNvSpPr/>
          <p:nvPr/>
        </p:nvSpPr>
        <p:spPr>
          <a:xfrm>
            <a:off x="502920" y="2404872"/>
            <a:ext cx="10607040" cy="621792"/>
          </a:xfrm>
          <a:prstGeom prst="rect">
            <a:avLst/>
          </a:prstGeom>
          <a:solidFill>
            <a:srgbClr val="FFFFFF"/>
          </a:solidFill>
          <a:ln w="9525">
            <a:solidFill>
              <a:srgbClr val="E4E9F1"/>
            </a:solidFill>
            <a:prstDash val="solid"/>
          </a:ln>
        </p:spPr>
      </p:sp>
      <p:sp>
        <p:nvSpPr>
          <p:cNvPr id="9" name="Text 7"/>
          <p:cNvSpPr/>
          <p:nvPr/>
        </p:nvSpPr>
        <p:spPr>
          <a:xfrm>
            <a:off x="502920" y="2404872"/>
            <a:ext cx="3931920" cy="621792"/>
          </a:xfrm>
          <a:prstGeom prst="rect">
            <a:avLst/>
          </a:prstGeom>
          <a:noFill/>
          <a:ln/>
        </p:spPr>
        <p:txBody>
          <a:bodyPr wrap="square" lIns="0" tIns="17780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Flat 20-way, fully blind</a:t>
            </a:r>
            <a:endParaRPr lang="en-US" sz="1100" dirty="0"/>
          </a:p>
        </p:txBody>
      </p:sp>
      <p:sp>
        <p:nvSpPr>
          <p:cNvPr id="10" name="Text 8"/>
          <p:cNvSpPr/>
          <p:nvPr/>
        </p:nvSpPr>
        <p:spPr>
          <a:xfrm>
            <a:off x="4434840" y="2404872"/>
            <a:ext cx="283464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77.52%  (avg)</a:t>
            </a:r>
            <a:endParaRPr lang="en-US" sz="1100" dirty="0"/>
          </a:p>
        </p:txBody>
      </p:sp>
      <p:sp>
        <p:nvSpPr>
          <p:cNvPr id="11" name="Text 9"/>
          <p:cNvSpPr/>
          <p:nvPr/>
        </p:nvSpPr>
        <p:spPr>
          <a:xfrm>
            <a:off x="7269480" y="2404872"/>
            <a:ext cx="384048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No topology information used at all</a:t>
            </a:r>
            <a:endParaRPr lang="en-US" sz="1100" dirty="0"/>
          </a:p>
        </p:txBody>
      </p:sp>
      <p:sp>
        <p:nvSpPr>
          <p:cNvPr id="12" name="Shape 10"/>
          <p:cNvSpPr/>
          <p:nvPr/>
        </p:nvSpPr>
        <p:spPr>
          <a:xfrm>
            <a:off x="502920" y="3026664"/>
            <a:ext cx="10607040" cy="621792"/>
          </a:xfrm>
          <a:prstGeom prst="rect">
            <a:avLst/>
          </a:prstGeom>
          <a:solidFill>
            <a:srgbClr val="EEF2F7"/>
          </a:solidFill>
          <a:ln w="9525">
            <a:solidFill>
              <a:srgbClr val="E4E9F1"/>
            </a:solidFill>
            <a:prstDash val="solid"/>
          </a:ln>
        </p:spPr>
      </p:sp>
      <p:sp>
        <p:nvSpPr>
          <p:cNvPr id="13" name="Text 11"/>
          <p:cNvSpPr/>
          <p:nvPr/>
        </p:nvSpPr>
        <p:spPr>
          <a:xfrm>
            <a:off x="502920" y="3026664"/>
            <a:ext cx="3931920" cy="621792"/>
          </a:xfrm>
          <a:prstGeom prst="rect">
            <a:avLst/>
          </a:prstGeom>
          <a:noFill/>
          <a:ln/>
        </p:spPr>
        <p:txBody>
          <a:bodyPr wrap="square" lIns="0" tIns="17780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Flat 20-way + correction rule</a:t>
            </a:r>
            <a:endParaRPr lang="en-US" sz="1100" dirty="0"/>
          </a:p>
        </p:txBody>
      </p:sp>
      <p:sp>
        <p:nvSpPr>
          <p:cNvPr id="14" name="Text 12"/>
          <p:cNvSpPr/>
          <p:nvPr/>
        </p:nvSpPr>
        <p:spPr>
          <a:xfrm>
            <a:off x="4434840" y="3026664"/>
            <a:ext cx="283464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78.43%  /  80.54% (avg)</a:t>
            </a:r>
            <a:endParaRPr lang="en-US" sz="1100" dirty="0"/>
          </a:p>
        </p:txBody>
      </p:sp>
      <p:sp>
        <p:nvSpPr>
          <p:cNvPr id="15" name="Text 13"/>
          <p:cNvSpPr/>
          <p:nvPr/>
        </p:nvSpPr>
        <p:spPr>
          <a:xfrm>
            <a:off x="7269480" y="3026664"/>
            <a:ext cx="384048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The original approach — patches mistakes after the fact</a:t>
            </a:r>
            <a:endParaRPr lang="en-US" sz="1100" dirty="0"/>
          </a:p>
        </p:txBody>
      </p:sp>
      <p:sp>
        <p:nvSpPr>
          <p:cNvPr id="16" name="Shape 14"/>
          <p:cNvSpPr/>
          <p:nvPr/>
        </p:nvSpPr>
        <p:spPr>
          <a:xfrm>
            <a:off x="502920" y="3648456"/>
            <a:ext cx="10607040" cy="621792"/>
          </a:xfrm>
          <a:prstGeom prst="rect">
            <a:avLst/>
          </a:prstGeom>
          <a:solidFill>
            <a:srgbClr val="FFFFFF"/>
          </a:solidFill>
          <a:ln w="9525">
            <a:solidFill>
              <a:srgbClr val="E4E9F1"/>
            </a:solidFill>
            <a:prstDash val="solid"/>
          </a:ln>
        </p:spPr>
      </p:sp>
      <p:sp>
        <p:nvSpPr>
          <p:cNvPr id="17" name="Text 15"/>
          <p:cNvSpPr/>
          <p:nvPr/>
        </p:nvSpPr>
        <p:spPr>
          <a:xfrm>
            <a:off x="502920" y="3648456"/>
            <a:ext cx="3931920" cy="621792"/>
          </a:xfrm>
          <a:prstGeom prst="rect">
            <a:avLst/>
          </a:prstGeom>
          <a:noFill/>
          <a:ln/>
        </p:spPr>
        <p:txBody>
          <a:bodyPr wrap="square" lIns="0" tIns="17780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Hierarchical, fully blind</a:t>
            </a:r>
            <a:endParaRPr lang="en-US" sz="1100" dirty="0"/>
          </a:p>
        </p:txBody>
      </p:sp>
      <p:sp>
        <p:nvSpPr>
          <p:cNvPr id="18" name="Text 16"/>
          <p:cNvSpPr/>
          <p:nvPr/>
        </p:nvSpPr>
        <p:spPr>
          <a:xfrm>
            <a:off x="4434840" y="3648456"/>
            <a:ext cx="283464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78.01%  (avg)</a:t>
            </a:r>
            <a:endParaRPr lang="en-US" sz="1100" dirty="0"/>
          </a:p>
        </p:txBody>
      </p:sp>
      <p:sp>
        <p:nvSpPr>
          <p:cNvPr id="19" name="Text 17"/>
          <p:cNvSpPr/>
          <p:nvPr/>
        </p:nvSpPr>
        <p:spPr>
          <a:xfrm>
            <a:off x="7269480" y="3648456"/>
            <a:ext cx="384048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Stage 1 predicts circuit itself — about the same as flat blind</a:t>
            </a:r>
            <a:endParaRPr lang="en-US" sz="1100" dirty="0"/>
          </a:p>
        </p:txBody>
      </p:sp>
      <p:sp>
        <p:nvSpPr>
          <p:cNvPr id="20" name="Shape 18"/>
          <p:cNvSpPr/>
          <p:nvPr/>
        </p:nvSpPr>
        <p:spPr>
          <a:xfrm>
            <a:off x="502920" y="4270248"/>
            <a:ext cx="10607040" cy="621792"/>
          </a:xfrm>
          <a:prstGeom prst="rect">
            <a:avLst/>
          </a:prstGeom>
          <a:solidFill>
            <a:srgbClr val="EEF2F7"/>
          </a:solidFill>
          <a:ln w="9525">
            <a:solidFill>
              <a:srgbClr val="E4E9F1"/>
            </a:solidFill>
            <a:prstDash val="solid"/>
          </a:ln>
        </p:spPr>
      </p:sp>
      <p:sp>
        <p:nvSpPr>
          <p:cNvPr id="21" name="Text 19"/>
          <p:cNvSpPr/>
          <p:nvPr/>
        </p:nvSpPr>
        <p:spPr>
          <a:xfrm>
            <a:off x="502920" y="4270248"/>
            <a:ext cx="3931920" cy="621792"/>
          </a:xfrm>
          <a:prstGeom prst="rect">
            <a:avLst/>
          </a:prstGeom>
          <a:noFill/>
          <a:ln/>
        </p:spPr>
        <p:txBody>
          <a:bodyPr wrap="square" lIns="0" tIns="17780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Hierarchical, known circuit</a:t>
            </a:r>
            <a:endParaRPr lang="en-US" sz="1100" dirty="0"/>
          </a:p>
        </p:txBody>
      </p:sp>
      <p:sp>
        <p:nvSpPr>
          <p:cNvPr id="22" name="Text 20"/>
          <p:cNvSpPr/>
          <p:nvPr/>
        </p:nvSpPr>
        <p:spPr>
          <a:xfrm>
            <a:off x="4434840" y="4270248"/>
            <a:ext cx="283464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88.56%  (avg)</a:t>
            </a:r>
            <a:endParaRPr lang="en-US" sz="1100" dirty="0"/>
          </a:p>
        </p:txBody>
      </p:sp>
      <p:sp>
        <p:nvSpPr>
          <p:cNvPr id="23" name="Text 21"/>
          <p:cNvSpPr/>
          <p:nvPr/>
        </p:nvSpPr>
        <p:spPr>
          <a:xfrm>
            <a:off x="7269480" y="4270248"/>
            <a:ext cx="3840480" cy="621792"/>
          </a:xfrm>
          <a:prstGeom prst="rect">
            <a:avLst/>
          </a:prstGeom>
          <a:noFill/>
          <a:ln/>
        </p:spPr>
        <p:txBody>
          <a:bodyPr wrap="square" lIns="0" tIns="0" rIns="0" bIns="0" rtlCol="0" anchor="ctr"/>
          <a:lstStyle/>
          <a:p>
            <a:pPr marL="0" indent="0" algn="ctr">
              <a:buNone/>
            </a:pPr>
            <a:r>
              <a:rPr lang="en-US" sz="1100" dirty="0">
                <a:solidFill>
                  <a:srgbClr val="1E293B"/>
                </a:solidFill>
                <a:latin typeface="Calibri" pitchFamily="34" charset="0"/>
                <a:ea typeface="Calibri" pitchFamily="34" charset="-122"/>
                <a:cs typeface="Calibri" pitchFamily="34" charset="-120"/>
              </a:rPr>
              <a:t>Same deployment assumption as the correction rule</a:t>
            </a:r>
            <a:endParaRPr lang="en-US" sz="1100" dirty="0"/>
          </a:p>
        </p:txBody>
      </p:sp>
      <p:sp>
        <p:nvSpPr>
          <p:cNvPr id="24" name="Shape 22"/>
          <p:cNvSpPr/>
          <p:nvPr/>
        </p:nvSpPr>
        <p:spPr>
          <a:xfrm>
            <a:off x="502920" y="4434840"/>
            <a:ext cx="10607040" cy="960120"/>
          </a:xfrm>
          <a:prstGeom prst="roundRect">
            <a:avLst>
              <a:gd name="adj" fmla="val 8571"/>
            </a:avLst>
          </a:prstGeom>
          <a:solidFill>
            <a:srgbClr val="0B1F3A"/>
          </a:solidFill>
          <a:ln/>
          <a:effectLst>
            <a:outerShdw blurRad="114300" dist="38100" dir="2700000" algn="bl" rotWithShape="0">
              <a:srgbClr val="0B1F3A">
                <a:alpha val="14000"/>
              </a:srgbClr>
            </a:outerShdw>
          </a:effectLst>
        </p:spPr>
      </p:sp>
      <p:sp>
        <p:nvSpPr>
          <p:cNvPr id="25" name="Text 23"/>
          <p:cNvSpPr/>
          <p:nvPr/>
        </p:nvSpPr>
        <p:spPr>
          <a:xfrm>
            <a:off x="777240" y="4526280"/>
            <a:ext cx="10058400" cy="822960"/>
          </a:xfrm>
          <a:prstGeom prst="rect">
            <a:avLst/>
          </a:prstGeom>
          <a:noFill/>
          <a:ln/>
        </p:spPr>
        <p:txBody>
          <a:bodyPr wrap="square" lIns="0" tIns="0" rIns="0" bIns="0" rtlCol="0" anchor="ctr"/>
          <a:lstStyle/>
          <a:p>
            <a:pPr marL="0" indent="0">
              <a:lnSpc>
                <a:spcPct val="122000"/>
              </a:lnSpc>
              <a:buNone/>
            </a:pPr>
            <a:r>
              <a:rPr lang="en-US" sz="1100" b="1" dirty="0">
                <a:solidFill>
                  <a:srgbClr val="FFB703"/>
                </a:solidFill>
                <a:latin typeface="Calibri" pitchFamily="34" charset="0"/>
                <a:ea typeface="Calibri" pitchFamily="34" charset="-122"/>
                <a:cs typeface="Calibri" pitchFamily="34" charset="-120"/>
              </a:rPr>
              <a:t>Why the jump: </a:t>
            </a:r>
            <a:r>
              <a:rPr lang="en-US" sz="1100" dirty="0">
                <a:solidFill>
                  <a:srgbClr val="E7ECF4"/>
                </a:solidFill>
                <a:latin typeface="Calibri" pitchFamily="34" charset="0"/>
                <a:ea typeface="Calibri" pitchFamily="34" charset="-122"/>
                <a:cs typeface="Calibri" pitchFamily="34" charset="-120"/>
              </a:rPr>
              <a:t>a per-circuit fault classifier only ever has to separate 5 classes using that circuit's own waveform statistics, instead of fighting cross-circuit noise inside one shared 20-way boundary. The correction rule could only repair mistakes after they happened; this architecture prevents most of them from happening at all.</a:t>
            </a:r>
            <a:endParaRPr lang="en-US" sz="1100" dirty="0"/>
          </a:p>
        </p:txBody>
      </p:sp>
      <p:sp>
        <p:nvSpPr>
          <p:cNvPr id="26" name="Text 24"/>
          <p:cNvSpPr/>
          <p:nvPr/>
        </p:nvSpPr>
        <p:spPr>
          <a:xfrm>
            <a:off x="502920" y="5532120"/>
            <a:ext cx="10607040" cy="868680"/>
          </a:xfrm>
          <a:prstGeom prst="rect">
            <a:avLst/>
          </a:prstGeom>
          <a:noFill/>
          <a:ln/>
        </p:spPr>
        <p:txBody>
          <a:bodyPr wrap="square" lIns="0" tIns="0" rIns="0" bIns="0" rtlCol="0" anchor="ctr"/>
          <a:lstStyle/>
          <a:p>
            <a:pPr marL="0" indent="0">
              <a:lnSpc>
                <a:spcPct val="122000"/>
              </a:lnSpc>
              <a:buNone/>
            </a:pPr>
            <a:r>
              <a:rPr lang="en-US" sz="1030" b="1" dirty="0">
                <a:solidFill>
                  <a:srgbClr val="0B1F3A"/>
                </a:solidFill>
                <a:latin typeface="Calibri" pitchFamily="34" charset="0"/>
                <a:ea typeface="Calibri" pitchFamily="34" charset="-122"/>
                <a:cs typeface="Calibri" pitchFamily="34" charset="-120"/>
              </a:rPr>
              <a:t>Honest framing: </a:t>
            </a:r>
            <a:r>
              <a:rPr lang="en-US" sz="1030" dirty="0">
                <a:solidFill>
                  <a:srgbClr val="64748B"/>
                </a:solidFill>
                <a:latin typeface="Calibri" pitchFamily="34" charset="0"/>
                <a:ea typeface="Calibri" pitchFamily="34" charset="-122"/>
                <a:cs typeface="Calibri" pitchFamily="34" charset="-120"/>
              </a:rPr>
              <a:t>this comparison wasn't in the original project — it's a direct response to asking whether the correction rule could be replaced with something more principled. All four numbers above were computed the same way, on the same features_v2.csv, averaged over 15 random splits. It's a clear, concrete direction for the next revision of this pipeline, not a retroactive rewrite of the original result.</a:t>
            </a:r>
            <a:endParaRPr lang="en-US" sz="103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0332720" y="822960"/>
            <a:ext cx="822960" cy="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FFB703"/>
                </a:solidFill>
                <a:latin typeface="Calibri" pitchFamily="34" charset="0"/>
                <a:ea typeface="Calibri" pitchFamily="34" charset="-122"/>
                <a:cs typeface="Calibri" pitchFamily="34" charset="-120"/>
              </a:rPr>
              <a:t>7. RESULTS &amp; DEEP ANALYSIS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Headline Number</a:t>
            </a:r>
            <a:endParaRPr lang="en-US" sz="3000" dirty="0"/>
          </a:p>
        </p:txBody>
      </p:sp>
      <p:sp>
        <p:nvSpPr>
          <p:cNvPr id="11" name="Text 9"/>
          <p:cNvSpPr/>
          <p:nvPr/>
        </p:nvSpPr>
        <p:spPr>
          <a:xfrm>
            <a:off x="502920" y="1920240"/>
            <a:ext cx="8229600" cy="1463040"/>
          </a:xfrm>
          <a:prstGeom prst="rect">
            <a:avLst/>
          </a:prstGeom>
          <a:noFill/>
          <a:ln/>
        </p:spPr>
        <p:txBody>
          <a:bodyPr wrap="square" lIns="0" tIns="0" rIns="0" bIns="0" rtlCol="0" anchor="ctr"/>
          <a:lstStyle/>
          <a:p>
            <a:pPr marL="0" indent="0">
              <a:buNone/>
            </a:pPr>
            <a:r>
              <a:rPr lang="en-US" sz="8800" b="1" dirty="0">
                <a:solidFill>
                  <a:srgbClr val="FFB703"/>
                </a:solidFill>
                <a:latin typeface="Cambria" pitchFamily="34" charset="0"/>
                <a:ea typeface="Cambria" pitchFamily="34" charset="-122"/>
                <a:cs typeface="Cambria" pitchFamily="34" charset="-120"/>
              </a:rPr>
              <a:t>78.43%</a:t>
            </a:r>
            <a:endParaRPr lang="en-US" sz="8800" dirty="0"/>
          </a:p>
        </p:txBody>
      </p:sp>
      <p:sp>
        <p:nvSpPr>
          <p:cNvPr id="12" name="Text 10"/>
          <p:cNvSpPr/>
          <p:nvPr/>
        </p:nvSpPr>
        <p:spPr>
          <a:xfrm>
            <a:off x="502920" y="3429000"/>
            <a:ext cx="8229600" cy="457200"/>
          </a:xfrm>
          <a:prstGeom prst="rect">
            <a:avLst/>
          </a:prstGeom>
          <a:noFill/>
          <a:ln/>
        </p:spPr>
        <p:txBody>
          <a:bodyPr wrap="square" lIns="0" tIns="0" rIns="0" bIns="0" rtlCol="0" anchor="ctr"/>
          <a:lstStyle/>
          <a:p>
            <a:pPr marL="0" indent="0">
              <a:buNone/>
            </a:pPr>
            <a:r>
              <a:rPr lang="en-US" sz="1500" i="1" dirty="0">
                <a:solidFill>
                  <a:srgbClr val="C9D6E8"/>
                </a:solidFill>
                <a:latin typeface="Calibri" pitchFamily="34" charset="0"/>
                <a:ea typeface="Calibri" pitchFamily="34" charset="-122"/>
                <a:cs typeface="Calibri" pitchFamily="34" charset="-120"/>
              </a:rPr>
              <a:t>test accuracy on a 20-class problem, from real physics-based data alone</a:t>
            </a:r>
            <a:endParaRPr lang="en-US" sz="1500" dirty="0"/>
          </a:p>
        </p:txBody>
      </p:sp>
      <p:sp>
        <p:nvSpPr>
          <p:cNvPr id="13" name="Text 11"/>
          <p:cNvSpPr/>
          <p:nvPr/>
        </p:nvSpPr>
        <p:spPr>
          <a:xfrm>
            <a:off x="502920" y="4114800"/>
            <a:ext cx="8412480" cy="1280160"/>
          </a:xfrm>
          <a:prstGeom prst="rect">
            <a:avLst/>
          </a:prstGeom>
          <a:noFill/>
          <a:ln/>
        </p:spPr>
        <p:txBody>
          <a:bodyPr wrap="square" lIns="0" tIns="0" rIns="0" bIns="0" rtlCol="0" anchor="ctr"/>
          <a:lstStyle/>
          <a:p>
            <a:pPr marL="0" indent="0">
              <a:lnSpc>
                <a:spcPct val="132000"/>
              </a:lnSpc>
              <a:buNone/>
            </a:pPr>
            <a:r>
              <a:rPr lang="en-US" sz="1350" dirty="0">
                <a:solidFill>
                  <a:srgbClr val="9FB1C8"/>
                </a:solidFill>
                <a:latin typeface="Calibri" pitchFamily="34" charset="0"/>
                <a:ea typeface="Calibri" pitchFamily="34" charset="-122"/>
                <a:cs typeface="Calibri" pitchFamily="34" charset="-120"/>
              </a:rPr>
              <a:t>A random guess would score 5%. </a:t>
            </a:r>
            <a:r>
              <a:rPr lang="en-US" sz="1350" dirty="0">
                <a:solidFill>
                  <a:srgbClr val="E7ECF4"/>
                </a:solidFill>
                <a:latin typeface="Calibri" pitchFamily="34" charset="0"/>
                <a:ea typeface="Calibri" pitchFamily="34" charset="-122"/>
                <a:cs typeface="Calibri"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4" name="Shape 12"/>
          <p:cNvSpPr/>
          <p:nvPr/>
        </p:nvSpPr>
        <p:spPr>
          <a:xfrm>
            <a:off x="9692640" y="3931920"/>
            <a:ext cx="1371600" cy="1371600"/>
          </a:xfrm>
          <a:prstGeom prst="ellipse">
            <a:avLst/>
          </a:prstGeom>
          <a:solidFill>
            <a:srgbClr val="132A4C"/>
          </a:solidFill>
          <a:ln/>
          <a:effectLst>
            <a:outerShdw blurRad="114300" dist="38100" dir="2700000" algn="bl" rotWithShape="0">
              <a:srgbClr val="0B1F3A">
                <a:alpha val="14000"/>
              </a:srgbClr>
            </a:outerShdw>
          </a:effectLst>
        </p:spPr>
      </p:sp>
      <p:pic>
        <p:nvPicPr>
          <p:cNvPr id="15" name="Image 0" descr="/sessions/blissful-zealous-babbage/mnt/outputs/ppt/icons/chartbar_FFB703.png"/>
          <p:cNvPicPr>
            <a:picLocks noChangeAspect="1"/>
          </p:cNvPicPr>
          <p:nvPr/>
        </p:nvPicPr>
        <p:blipFill>
          <a:blip r:embed="rId3"/>
          <a:stretch>
            <a:fillRect/>
          </a:stretch>
        </p:blipFill>
        <p:spPr>
          <a:xfrm>
            <a:off x="987780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RBF + Topology Rule Wins: 78.43%</a:t>
            </a:r>
            <a:endParaRPr lang="en-US" sz="3000" dirty="0"/>
          </a:p>
        </p:txBody>
      </p:sp>
      <p:graphicFrame>
        <p:nvGraphicFramePr>
          <p:cNvPr id="4" name="Chart 0"/>
          <p:cNvGraphicFramePr/>
          <p:nvPr/>
        </p:nvGraphicFramePr>
        <p:xfrm>
          <a:off x="502920" y="1691640"/>
          <a:ext cx="106070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6" name="Text 3"/>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How Robust Is 78.43%? A 30-Run Replication</a:t>
            </a:r>
            <a:endParaRPr lang="en-US" sz="3000" dirty="0"/>
          </a:p>
        </p:txBody>
      </p:sp>
      <p:sp>
        <p:nvSpPr>
          <p:cNvPr id="4" name="Text 2"/>
          <p:cNvSpPr/>
          <p:nvPr/>
        </p:nvSpPr>
        <p:spPr>
          <a:xfrm>
            <a:off x="502920" y="1691640"/>
            <a:ext cx="10607040" cy="594360"/>
          </a:xfrm>
          <a:prstGeom prst="rect">
            <a:avLst/>
          </a:prstGeom>
          <a:noFill/>
          <a:ln/>
        </p:spPr>
        <p:txBody>
          <a:bodyPr wrap="square" lIns="0" tIns="0" rIns="0" bIns="0" rtlCol="0" anchor="ctr"/>
          <a:lstStyle/>
          <a:p>
            <a:pPr marL="0" indent="0">
              <a:lnSpc>
                <a:spcPct val="125000"/>
              </a:lnSpc>
              <a:buNone/>
            </a:pPr>
            <a:r>
              <a:rPr lang="en-US" sz="1250" dirty="0">
                <a:solidFill>
                  <a:srgbClr val="1E293B"/>
                </a:solidFill>
                <a:latin typeface="Calibri" pitchFamily="34" charset="0"/>
                <a:ea typeface="Calibri" pitchFamily="34" charset="-122"/>
                <a:cs typeface="Calibri" pitchFamily="34" charset="-120"/>
              </a:rPr>
              <a:t>The headline number comes from one fixed 80/20 split (random_state=42). To check how much that could vary by chance, the same train-tune-evaluate pipeline was independently re-run across </a:t>
            </a:r>
            <a:r>
              <a:rPr lang="en-US" sz="1250" b="1" dirty="0">
                <a:solidFill>
                  <a:srgbClr val="0B1F3A"/>
                </a:solidFill>
                <a:latin typeface="Calibri" pitchFamily="34" charset="0"/>
                <a:ea typeface="Calibri" pitchFamily="34" charset="-122"/>
                <a:cs typeface="Calibri" pitchFamily="34" charset="-120"/>
              </a:rPr>
              <a:t>30 different random splits</a:t>
            </a:r>
            <a:r>
              <a:rPr lang="en-US" sz="1250" dirty="0">
                <a:solidFill>
                  <a:srgbClr val="1E293B"/>
                </a:solidFill>
                <a:latin typeface="Calibri" pitchFamily="34" charset="0"/>
                <a:ea typeface="Calibri" pitchFamily="34" charset="-122"/>
                <a:cs typeface="Calibri" pitchFamily="34" charset="-120"/>
              </a:rPr>
              <a:t>:</a:t>
            </a:r>
            <a:endParaRPr lang="en-US" sz="1250" dirty="0"/>
          </a:p>
        </p:txBody>
      </p:sp>
      <p:sp>
        <p:nvSpPr>
          <p:cNvPr id="5" name="Shape 3"/>
          <p:cNvSpPr/>
          <p:nvPr/>
        </p:nvSpPr>
        <p:spPr>
          <a:xfrm>
            <a:off x="502920" y="2423160"/>
            <a:ext cx="5166360" cy="1965960"/>
          </a:xfrm>
          <a:prstGeom prst="roundRect">
            <a:avLst>
              <a:gd name="adj" fmla="val 4186"/>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777240" y="2624328"/>
            <a:ext cx="4617720" cy="320040"/>
          </a:xfrm>
          <a:prstGeom prst="rect">
            <a:avLst/>
          </a:prstGeom>
          <a:noFill/>
          <a:ln/>
        </p:spPr>
        <p:txBody>
          <a:bodyPr wrap="square" lIns="0" tIns="0" rIns="0" bIns="0" rtlCol="0" anchor="ctr"/>
          <a:lstStyle/>
          <a:p>
            <a:pPr marL="0" indent="0">
              <a:buNone/>
            </a:pPr>
            <a:r>
              <a:rPr lang="en-US" sz="1250" b="1" dirty="0">
                <a:solidFill>
                  <a:srgbClr val="FFB703"/>
                </a:solidFill>
                <a:latin typeface="Calibri" pitchFamily="34" charset="0"/>
                <a:ea typeface="Calibri" pitchFamily="34" charset="-122"/>
                <a:cs typeface="Calibri" pitchFamily="34" charset="-120"/>
              </a:rPr>
              <a:t>With topology correction</a:t>
            </a:r>
            <a:endParaRPr lang="en-US" sz="1250" dirty="0"/>
          </a:p>
        </p:txBody>
      </p:sp>
      <p:sp>
        <p:nvSpPr>
          <p:cNvPr id="7" name="Text 5"/>
          <p:cNvSpPr/>
          <p:nvPr/>
        </p:nvSpPr>
        <p:spPr>
          <a:xfrm>
            <a:off x="777240" y="2971800"/>
            <a:ext cx="461772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80.54%  ± 3.08</a:t>
            </a:r>
            <a:endParaRPr lang="en-US" sz="3000" dirty="0"/>
          </a:p>
        </p:txBody>
      </p:sp>
      <p:sp>
        <p:nvSpPr>
          <p:cNvPr id="8" name="Text 6"/>
          <p:cNvSpPr/>
          <p:nvPr/>
        </p:nvSpPr>
        <p:spPr>
          <a:xfrm>
            <a:off x="777240" y="3657600"/>
            <a:ext cx="4617720" cy="320040"/>
          </a:xfrm>
          <a:prstGeom prst="rect">
            <a:avLst/>
          </a:prstGeom>
          <a:noFill/>
          <a:ln/>
        </p:spPr>
        <p:txBody>
          <a:bodyPr wrap="square" lIns="0" tIns="0" rIns="0" bIns="0" rtlCol="0" anchor="ctr"/>
          <a:lstStyle/>
          <a:p>
            <a:pPr marL="0" indent="0">
              <a:buNone/>
            </a:pPr>
            <a:r>
              <a:rPr lang="en-US" sz="1000" dirty="0">
                <a:solidFill>
                  <a:srgbClr val="9FB1C8"/>
                </a:solidFill>
                <a:latin typeface="Calibri" pitchFamily="34" charset="0"/>
                <a:ea typeface="Calibri" pitchFamily="34" charset="-122"/>
                <a:cs typeface="Calibri" pitchFamily="34" charset="-120"/>
              </a:rPr>
              <a:t>mean ± std across 30 seeds  ·  range 72.55% - 84.80%</a:t>
            </a:r>
            <a:endParaRPr lang="en-US" sz="1000" dirty="0"/>
          </a:p>
        </p:txBody>
      </p:sp>
      <p:sp>
        <p:nvSpPr>
          <p:cNvPr id="9" name="Text 7"/>
          <p:cNvSpPr/>
          <p:nvPr/>
        </p:nvSpPr>
        <p:spPr>
          <a:xfrm>
            <a:off x="777240" y="3995928"/>
            <a:ext cx="4617720" cy="320040"/>
          </a:xfrm>
          <a:prstGeom prst="rect">
            <a:avLst/>
          </a:prstGeom>
          <a:noFill/>
          <a:ln/>
        </p:spPr>
        <p:txBody>
          <a:bodyPr wrap="square" lIns="0" tIns="0" rIns="0" bIns="0" rtlCol="0" anchor="ctr"/>
          <a:lstStyle/>
          <a:p>
            <a:pPr marL="0" indent="0">
              <a:buNone/>
            </a:pPr>
            <a:r>
              <a:rPr lang="en-US" sz="950" i="1" dirty="0">
                <a:solidFill>
                  <a:srgbClr val="C9D6E8"/>
                </a:solidFill>
                <a:latin typeface="Calibri" pitchFamily="34" charset="0"/>
                <a:ea typeface="Calibri" pitchFamily="34" charset="-122"/>
                <a:cs typeface="Calibri" pitchFamily="34" charset="-120"/>
              </a:rPr>
              <a:t>Original reported run: 78.43% — squarely inside this range.</a:t>
            </a:r>
            <a:endParaRPr lang="en-US" sz="950" dirty="0"/>
          </a:p>
        </p:txBody>
      </p:sp>
      <p:sp>
        <p:nvSpPr>
          <p:cNvPr id="10" name="Shape 8"/>
          <p:cNvSpPr/>
          <p:nvPr/>
        </p:nvSpPr>
        <p:spPr>
          <a:xfrm>
            <a:off x="6126480" y="2423160"/>
            <a:ext cx="5166360" cy="1965960"/>
          </a:xfrm>
          <a:prstGeom prst="roundRect">
            <a:avLst>
              <a:gd name="adj" fmla="val 41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1" name="Text 9"/>
          <p:cNvSpPr/>
          <p:nvPr/>
        </p:nvSpPr>
        <p:spPr>
          <a:xfrm>
            <a:off x="6400800" y="2624328"/>
            <a:ext cx="4617720" cy="320040"/>
          </a:xfrm>
          <a:prstGeom prst="rect">
            <a:avLst/>
          </a:prstGeom>
          <a:noFill/>
          <a:ln/>
        </p:spPr>
        <p:txBody>
          <a:bodyPr wrap="square" lIns="0" tIns="0" rIns="0" bIns="0" rtlCol="0" anchor="ctr"/>
          <a:lstStyle/>
          <a:p>
            <a:pPr marL="0" indent="0">
              <a:buNone/>
            </a:pPr>
            <a:r>
              <a:rPr lang="en-US" sz="1250" b="1" dirty="0">
                <a:solidFill>
                  <a:srgbClr val="0B1F3A"/>
                </a:solidFill>
                <a:latin typeface="Calibri" pitchFamily="34" charset="0"/>
                <a:ea typeface="Calibri" pitchFamily="34" charset="-122"/>
                <a:cs typeface="Calibri" pitchFamily="34" charset="-120"/>
              </a:rPr>
              <a:t>Without topology correction</a:t>
            </a:r>
            <a:endParaRPr lang="en-US" sz="1250" dirty="0"/>
          </a:p>
        </p:txBody>
      </p:sp>
      <p:sp>
        <p:nvSpPr>
          <p:cNvPr id="12" name="Text 10"/>
          <p:cNvSpPr/>
          <p:nvPr/>
        </p:nvSpPr>
        <p:spPr>
          <a:xfrm>
            <a:off x="6400800" y="2971800"/>
            <a:ext cx="4617720" cy="64008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77.52%  ± 1.66</a:t>
            </a:r>
            <a:endParaRPr lang="en-US" sz="3000" dirty="0"/>
          </a:p>
        </p:txBody>
      </p:sp>
      <p:sp>
        <p:nvSpPr>
          <p:cNvPr id="13" name="Text 11"/>
          <p:cNvSpPr/>
          <p:nvPr/>
        </p:nvSpPr>
        <p:spPr>
          <a:xfrm>
            <a:off x="6400800" y="3657600"/>
            <a:ext cx="461772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mean ± std across 30 seeds  ·  range 72.55% - 79.90%</a:t>
            </a:r>
            <a:endParaRPr lang="en-US" sz="1000" dirty="0"/>
          </a:p>
        </p:txBody>
      </p:sp>
      <p:sp>
        <p:nvSpPr>
          <p:cNvPr id="14" name="Text 12"/>
          <p:cNvSpPr/>
          <p:nvPr/>
        </p:nvSpPr>
        <p:spPr>
          <a:xfrm>
            <a:off x="6400800" y="3995928"/>
            <a:ext cx="4617720" cy="320040"/>
          </a:xfrm>
          <a:prstGeom prst="rect">
            <a:avLst/>
          </a:prstGeom>
          <a:noFill/>
          <a:ln/>
        </p:spPr>
        <p:txBody>
          <a:bodyPr wrap="square" lIns="0" tIns="0" rIns="0" bIns="0"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Lower spread — the raw SVM alone is more consistent.</a:t>
            </a:r>
            <a:endParaRPr lang="en-US" sz="950" dirty="0"/>
          </a:p>
        </p:txBody>
      </p:sp>
      <p:sp>
        <p:nvSpPr>
          <p:cNvPr id="15" name="Shape 13"/>
          <p:cNvSpPr/>
          <p:nvPr/>
        </p:nvSpPr>
        <p:spPr>
          <a:xfrm>
            <a:off x="502920" y="4617720"/>
            <a:ext cx="10607040" cy="960120"/>
          </a:xfrm>
          <a:prstGeom prst="roundRect">
            <a:avLst>
              <a:gd name="adj" fmla="val 8571"/>
            </a:avLst>
          </a:prstGeom>
          <a:solidFill>
            <a:srgbClr val="EEF2F7"/>
          </a:solidFill>
          <a:ln w="12700">
            <a:solidFill>
              <a:srgbClr val="E4E9F1"/>
            </a:solidFill>
            <a:prstDash val="solid"/>
          </a:ln>
        </p:spPr>
      </p:sp>
      <p:sp>
        <p:nvSpPr>
          <p:cNvPr id="16" name="Text 14"/>
          <p:cNvSpPr/>
          <p:nvPr/>
        </p:nvSpPr>
        <p:spPr>
          <a:xfrm>
            <a:off x="777240" y="4709160"/>
            <a:ext cx="10058400" cy="822960"/>
          </a:xfrm>
          <a:prstGeom prst="rect">
            <a:avLst/>
          </a:prstGeom>
          <a:noFill/>
          <a:ln/>
        </p:spPr>
        <p:txBody>
          <a:bodyPr wrap="square" lIns="0" tIns="0" rIns="0" bIns="0" rtlCol="0" anchor="ctr"/>
          <a:lstStyle/>
          <a:p>
            <a:pPr marL="0" indent="0">
              <a:lnSpc>
                <a:spcPct val="122000"/>
              </a:lnSpc>
              <a:buNone/>
            </a:pPr>
            <a:r>
              <a:rPr lang="en-US" sz="1100" b="1" dirty="0">
                <a:solidFill>
                  <a:srgbClr val="0B1F3A"/>
                </a:solidFill>
                <a:latin typeface="Calibri" pitchFamily="34" charset="0"/>
                <a:ea typeface="Calibri" pitchFamily="34" charset="-122"/>
                <a:cs typeface="Calibri" pitchFamily="34" charset="-120"/>
              </a:rPr>
              <a:t>An honest nuance: </a:t>
            </a:r>
            <a:r>
              <a:rPr lang="en-US" sz="1100" dirty="0">
                <a:solidFill>
                  <a:srgbClr val="64748B"/>
                </a:solidFill>
                <a:latin typeface="Calibri" pitchFamily="34" charset="0"/>
                <a:ea typeface="Calibri" pitchFamily="34" charset="-122"/>
                <a:cs typeface="Calibri" pitchFamily="34" charset="-120"/>
              </a:rPr>
              <a:t>the topology-aware rule raises average accuracy by about 3 points but also widens the spread (std 3.08 vs. 1.66) — its effect depends on exactly which cross-topology errors each specific split happens to contain. It helps on average, but it isn't a free, uniform boost.</a:t>
            </a:r>
            <a:endParaRPr lang="en-US" sz="1100" dirty="0"/>
          </a:p>
        </p:txBody>
      </p:sp>
      <p:sp>
        <p:nvSpPr>
          <p:cNvPr id="17" name="Text 15"/>
          <p:cNvSpPr/>
          <p:nvPr/>
        </p:nvSpPr>
        <p:spPr>
          <a:xfrm>
            <a:off x="502920" y="5669280"/>
            <a:ext cx="10607040" cy="777240"/>
          </a:xfrm>
          <a:prstGeom prst="rect">
            <a:avLst/>
          </a:prstGeom>
          <a:noFill/>
          <a:ln/>
        </p:spPr>
        <p:txBody>
          <a:bodyPr wrap="square" lIns="0" tIns="0" rIns="0" bIns="0" rtlCol="0" anchor="ctr"/>
          <a:lstStyle/>
          <a:p>
            <a:pPr marL="0" indent="0">
              <a:lnSpc>
                <a:spcPct val="120000"/>
              </a:lnSpc>
              <a:buNone/>
            </a:pPr>
            <a:r>
              <a:rPr lang="en-US" sz="960" b="1" dirty="0">
                <a:solidFill>
                  <a:srgbClr val="0B1F3A"/>
                </a:solidFill>
                <a:latin typeface="Calibri" pitchFamily="34" charset="0"/>
                <a:ea typeface="Calibri" pitchFamily="34" charset="-122"/>
                <a:cs typeface="Calibri" pitchFamily="34" charset="-120"/>
              </a:rPr>
              <a:t>Also verified: </a:t>
            </a:r>
            <a:r>
              <a:rPr lang="en-US" sz="960" dirty="0">
                <a:solidFill>
                  <a:srgbClr val="64748B"/>
                </a:solidFill>
                <a:latin typeface="Calibri" pitchFamily="34" charset="0"/>
                <a:ea typeface="Calibri" pitchFamily="34" charset="-122"/>
                <a:cs typeface="Calibri" pitchFamily="34" charset="-120"/>
              </a:rPr>
              <a:t>an always-predict-the-majority-class baseline scores 4.90% ± 0.00% across the same 30 splits — confirming the "random guess ~5%" comparison used earlier with a directly computed number, not an assumption. (Note: this replication uses the same methodology on features_v2.csv but a fresh randomization call, so exact figures differ slightly from the original day-by-day scripts — the conclusion, that 78.43% is a realistic, non-cherry-picked result, holds either way.)</a:t>
            </a:r>
            <a:endParaRPr lang="en-US" sz="960" dirty="0"/>
          </a:p>
        </p:txBody>
      </p:sp>
      <p:sp>
        <p:nvSpPr>
          <p:cNvPr id="18" name="Text 1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Why These Kernel Results Make Sense</a:t>
            </a:r>
            <a:endParaRPr lang="en-US" sz="3000" dirty="0"/>
          </a:p>
        </p:txBody>
      </p:sp>
      <p:sp>
        <p:nvSpPr>
          <p:cNvPr id="4" name="Shape 2"/>
          <p:cNvSpPr/>
          <p:nvPr/>
        </p:nvSpPr>
        <p:spPr>
          <a:xfrm>
            <a:off x="502920" y="1828800"/>
            <a:ext cx="5166360" cy="4160520"/>
          </a:xfrm>
          <a:prstGeom prst="roundRect">
            <a:avLst>
              <a:gd name="adj" fmla="val 1978"/>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777240" y="2103120"/>
            <a:ext cx="594360" cy="594360"/>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chartline_00B4D8.png"/>
          <p:cNvPicPr>
            <a:picLocks noChangeAspect="1"/>
          </p:cNvPicPr>
          <p:nvPr/>
        </p:nvPicPr>
        <p:blipFill>
          <a:blip r:embed="rId3"/>
          <a:stretch>
            <a:fillRect/>
          </a:stretch>
        </p:blipFill>
        <p:spPr>
          <a:xfrm>
            <a:off x="857479" y="2183359"/>
            <a:ext cx="433883" cy="433883"/>
          </a:xfrm>
          <a:prstGeom prst="rect">
            <a:avLst/>
          </a:prstGeom>
        </p:spPr>
      </p:pic>
      <p:sp>
        <p:nvSpPr>
          <p:cNvPr id="7" name="Text 4"/>
          <p:cNvSpPr/>
          <p:nvPr/>
        </p:nvSpPr>
        <p:spPr>
          <a:xfrm>
            <a:off x="1554480" y="2176272"/>
            <a:ext cx="3886200" cy="594360"/>
          </a:xfrm>
          <a:prstGeom prst="rect">
            <a:avLst/>
          </a:prstGeom>
          <a:noFill/>
          <a:ln/>
        </p:spPr>
        <p:txBody>
          <a:bodyPr wrap="square" lIns="0" tIns="0" rIns="0" bIns="0" rtlCol="0" anchor="ctr"/>
          <a:lstStyle/>
          <a:p>
            <a:pPr marL="0" indent="0">
              <a:lnSpc>
                <a:spcPct val="110000"/>
              </a:lnSpc>
              <a:buNone/>
            </a:pPr>
            <a:r>
              <a:rPr lang="en-US" sz="1350" b="1" dirty="0">
                <a:solidFill>
                  <a:srgbClr val="0B1F3A"/>
                </a:solidFill>
                <a:latin typeface="Calibri" pitchFamily="34" charset="0"/>
                <a:ea typeface="Calibri" pitchFamily="34" charset="-122"/>
                <a:cs typeface="Calibri" pitchFamily="34" charset="-120"/>
              </a:rPr>
              <a:t>Why Linear already scores 77.9%</a:t>
            </a:r>
            <a:endParaRPr lang="en-US" sz="1350" dirty="0"/>
          </a:p>
        </p:txBody>
      </p:sp>
      <p:sp>
        <p:nvSpPr>
          <p:cNvPr id="8" name="Text 5"/>
          <p:cNvSpPr/>
          <p:nvPr/>
        </p:nvSpPr>
        <p:spPr>
          <a:xfrm>
            <a:off x="777240" y="2880360"/>
            <a:ext cx="4617720" cy="288036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9" name="Shape 6"/>
          <p:cNvSpPr/>
          <p:nvPr/>
        </p:nvSpPr>
        <p:spPr>
          <a:xfrm>
            <a:off x="6126480" y="1828800"/>
            <a:ext cx="5166360" cy="4160520"/>
          </a:xfrm>
          <a:prstGeom prst="roundRect">
            <a:avLst>
              <a:gd name="adj" fmla="val 1978"/>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blurRad="114300" dist="38100" dir="2700000" algn="bl" rotWithShape="0">
              <a:srgbClr val="0B1F3A">
                <a:alpha val="14000"/>
              </a:srgbClr>
            </a:outerShdw>
          </a:effectLst>
        </p:spPr>
      </p:sp>
      <p:pic>
        <p:nvPicPr>
          <p:cNvPr id="11" name="Image 1" descr="/sessions/blissful-zealous-babbage/mnt/outputs/ppt/icons/wave_00B4D8.png"/>
          <p:cNvPicPr>
            <a:picLocks noChangeAspect="1"/>
          </p:cNvPicPr>
          <p:nvPr/>
        </p:nvPicPr>
        <p:blipFill>
          <a:blip r:embed="rId4"/>
          <a:stretch>
            <a:fillRect/>
          </a:stretch>
        </p:blipFill>
        <p:spPr>
          <a:xfrm>
            <a:off x="6481039" y="2183359"/>
            <a:ext cx="433883" cy="433883"/>
          </a:xfrm>
          <a:prstGeom prst="rect">
            <a:avLst/>
          </a:prstGeom>
        </p:spPr>
      </p:pic>
      <p:sp>
        <p:nvSpPr>
          <p:cNvPr id="12" name="Text 8"/>
          <p:cNvSpPr/>
          <p:nvPr/>
        </p:nvSpPr>
        <p:spPr>
          <a:xfrm>
            <a:off x="7178040" y="2176272"/>
            <a:ext cx="3886200" cy="594360"/>
          </a:xfrm>
          <a:prstGeom prst="rect">
            <a:avLst/>
          </a:prstGeom>
          <a:noFill/>
          <a:ln/>
        </p:spPr>
        <p:txBody>
          <a:bodyPr wrap="square" lIns="0" tIns="0" rIns="0" bIns="0" rtlCol="0" anchor="ctr"/>
          <a:lstStyle/>
          <a:p>
            <a:pPr marL="0" indent="0">
              <a:lnSpc>
                <a:spcPct val="110000"/>
              </a:lnSpc>
              <a:buNone/>
            </a:pPr>
            <a:r>
              <a:rPr lang="en-US" sz="1350" b="1" dirty="0">
                <a:solidFill>
                  <a:srgbClr val="0B1F3A"/>
                </a:solidFill>
                <a:latin typeface="Calibri" pitchFamily="34" charset="0"/>
                <a:ea typeface="Calibri" pitchFamily="34" charset="-122"/>
                <a:cs typeface="Calibri" pitchFamily="34" charset="-120"/>
              </a:rPr>
              <a:t>Why RBF needed tuning to win</a:t>
            </a:r>
            <a:endParaRPr lang="en-US" sz="1350" dirty="0"/>
          </a:p>
        </p:txBody>
      </p:sp>
      <p:sp>
        <p:nvSpPr>
          <p:cNvPr id="13" name="Text 9"/>
          <p:cNvSpPr/>
          <p:nvPr/>
        </p:nvSpPr>
        <p:spPr>
          <a:xfrm>
            <a:off x="6400800" y="2880360"/>
            <a:ext cx="4617720" cy="288036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Not All Circuits Are Equally Easy to Diagnose</a:t>
            </a:r>
            <a:endParaRPr lang="en-US" sz="3000" dirty="0"/>
          </a:p>
        </p:txBody>
      </p:sp>
      <p:graphicFrame>
        <p:nvGraphicFramePr>
          <p:cNvPr id="4" name="Chart 0"/>
          <p:cNvGraphicFramePr/>
          <p:nvPr/>
        </p:nvGraphicFramePr>
        <p:xfrm>
          <a:off x="502920" y="1691640"/>
          <a:ext cx="60350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60920" y="201168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chartline_00B4D8.png"/>
          <p:cNvPicPr>
            <a:picLocks noChangeAspect="1"/>
          </p:cNvPicPr>
          <p:nvPr/>
        </p:nvPicPr>
        <p:blipFill>
          <a:blip r:embed="rId4"/>
          <a:stretch>
            <a:fillRect/>
          </a:stretch>
        </p:blipFill>
        <p:spPr>
          <a:xfrm>
            <a:off x="7434986" y="2085746"/>
            <a:ext cx="400507" cy="400507"/>
          </a:xfrm>
          <a:prstGeom prst="rect">
            <a:avLst/>
          </a:prstGeom>
        </p:spPr>
      </p:pic>
      <p:sp>
        <p:nvSpPr>
          <p:cNvPr id="7" name="Text 3"/>
          <p:cNvSpPr/>
          <p:nvPr/>
        </p:nvSpPr>
        <p:spPr>
          <a:xfrm>
            <a:off x="8092440" y="1993392"/>
            <a:ext cx="356616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RLC — 100%</a:t>
            </a:r>
            <a:endParaRPr lang="en-US" sz="1350" dirty="0"/>
          </a:p>
        </p:txBody>
      </p:sp>
      <p:sp>
        <p:nvSpPr>
          <p:cNvPr id="8" name="Text 4"/>
          <p:cNvSpPr/>
          <p:nvPr/>
        </p:nvSpPr>
        <p:spPr>
          <a:xfrm>
            <a:off x="8092440" y="2359152"/>
            <a:ext cx="3566160" cy="118872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Its oscillatory, underdamped response makes each fault look distinctly different from the others.</a:t>
            </a:r>
            <a:endParaRPr lang="en-US" sz="1050" dirty="0"/>
          </a:p>
        </p:txBody>
      </p:sp>
      <p:sp>
        <p:nvSpPr>
          <p:cNvPr id="9" name="Shape 5"/>
          <p:cNvSpPr/>
          <p:nvPr/>
        </p:nvSpPr>
        <p:spPr>
          <a:xfrm>
            <a:off x="7360920" y="374904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0" name="Image 1" descr="/sessions/blissful-zealous-babbage/mnt/outputs/ppt/icons/warn_00B4D8.png"/>
          <p:cNvPicPr>
            <a:picLocks noChangeAspect="1"/>
          </p:cNvPicPr>
          <p:nvPr/>
        </p:nvPicPr>
        <p:blipFill>
          <a:blip r:embed="rId5"/>
          <a:stretch>
            <a:fillRect/>
          </a:stretch>
        </p:blipFill>
        <p:spPr>
          <a:xfrm>
            <a:off x="7434986" y="3823106"/>
            <a:ext cx="400507" cy="400507"/>
          </a:xfrm>
          <a:prstGeom prst="rect">
            <a:avLst/>
          </a:prstGeom>
        </p:spPr>
      </p:pic>
      <p:sp>
        <p:nvSpPr>
          <p:cNvPr id="11" name="Text 6"/>
          <p:cNvSpPr/>
          <p:nvPr/>
        </p:nvSpPr>
        <p:spPr>
          <a:xfrm>
            <a:off x="8092440" y="3730752"/>
            <a:ext cx="356616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RC &amp; RC Ladder — harder</a:t>
            </a:r>
            <a:endParaRPr lang="en-US" sz="1350" dirty="0"/>
          </a:p>
        </p:txBody>
      </p:sp>
      <p:sp>
        <p:nvSpPr>
          <p:cNvPr id="12" name="Text 7"/>
          <p:cNvSpPr/>
          <p:nvPr/>
        </p:nvSpPr>
        <p:spPr>
          <a:xfrm>
            <a:off x="8092440" y="4096512"/>
            <a:ext cx="3566160" cy="118872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Smoother, more similar-looking passive responses make drift/normal/short faults subtler to tell apart.</a:t>
            </a:r>
            <a:endParaRPr lang="en-US" sz="1050" dirty="0"/>
          </a:p>
        </p:txBody>
      </p:sp>
      <p:sp>
        <p:nvSpPr>
          <p:cNvPr id="13" name="Text 8"/>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9"/>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Deep Dive: RLC's Perfect Score</a:t>
            </a:r>
            <a:endParaRPr lang="en-US" sz="3000" dirty="0"/>
          </a:p>
        </p:txBody>
      </p:sp>
      <p:sp>
        <p:nvSpPr>
          <p:cNvPr id="4" name="Text 2"/>
          <p:cNvSpPr/>
          <p:nvPr/>
        </p:nvSpPr>
        <p:spPr>
          <a:xfrm>
            <a:off x="502920" y="1737360"/>
            <a:ext cx="10607040" cy="36576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Every one of the 5 fault types on the RLC circuit was classified perfectly in the test set:</a:t>
            </a:r>
            <a:endParaRPr lang="en-US" sz="1300" dirty="0"/>
          </a:p>
        </p:txBody>
      </p:sp>
      <p:sp>
        <p:nvSpPr>
          <p:cNvPr id="5" name="Shape 3"/>
          <p:cNvSpPr/>
          <p:nvPr/>
        </p:nvSpPr>
        <p:spPr>
          <a:xfrm>
            <a:off x="502920" y="2331720"/>
            <a:ext cx="1965960" cy="1188720"/>
          </a:xfrm>
          <a:prstGeom prst="roundRect">
            <a:avLst>
              <a:gd name="adj" fmla="val 6923"/>
            </a:avLst>
          </a:prstGeom>
          <a:solidFill>
            <a:srgbClr val="0B1F3A"/>
          </a:solidFill>
          <a:ln/>
          <a:effectLst>
            <a:outerShdw blurRad="114300" dist="38100" dir="2700000" algn="bl" rotWithShape="0">
              <a:srgbClr val="0B1F3A">
                <a:alpha val="14000"/>
              </a:srgbClr>
            </a:outerShdw>
          </a:effectLst>
        </p:spPr>
      </p:sp>
      <p:sp>
        <p:nvSpPr>
          <p:cNvPr id="6" name="Text 4"/>
          <p:cNvSpPr/>
          <p:nvPr/>
        </p:nvSpPr>
        <p:spPr>
          <a:xfrm>
            <a:off x="502920" y="2468880"/>
            <a:ext cx="1965960" cy="548640"/>
          </a:xfrm>
          <a:prstGeom prst="rect">
            <a:avLst/>
          </a:prstGeom>
          <a:noFill/>
          <a:ln/>
        </p:spPr>
        <p:txBody>
          <a:bodyPr wrap="square" lIns="0" tIns="0" rIns="0" bIns="0" rtlCol="0" anchor="ctr"/>
          <a:lstStyle/>
          <a:p>
            <a:pPr marL="0" indent="0" algn="ctr">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7" name="Text 5"/>
          <p:cNvSpPr/>
          <p:nvPr/>
        </p:nvSpPr>
        <p:spPr>
          <a:xfrm>
            <a:off x="502920" y="3044952"/>
            <a:ext cx="196596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Normal</a:t>
            </a:r>
            <a:endParaRPr lang="en-US" sz="1150" dirty="0"/>
          </a:p>
        </p:txBody>
      </p:sp>
      <p:sp>
        <p:nvSpPr>
          <p:cNvPr id="8" name="Shape 6"/>
          <p:cNvSpPr/>
          <p:nvPr/>
        </p:nvSpPr>
        <p:spPr>
          <a:xfrm>
            <a:off x="2651760" y="2331720"/>
            <a:ext cx="1965960" cy="1188720"/>
          </a:xfrm>
          <a:prstGeom prst="roundRect">
            <a:avLst>
              <a:gd name="adj" fmla="val 6923"/>
            </a:avLst>
          </a:prstGeom>
          <a:solidFill>
            <a:srgbClr val="0B1F3A"/>
          </a:solidFill>
          <a:ln/>
          <a:effectLst>
            <a:outerShdw blurRad="114300" dist="38100" dir="2700000" algn="bl" rotWithShape="0">
              <a:srgbClr val="0B1F3A">
                <a:alpha val="14000"/>
              </a:srgbClr>
            </a:outerShdw>
          </a:effectLst>
        </p:spPr>
      </p:sp>
      <p:sp>
        <p:nvSpPr>
          <p:cNvPr id="9" name="Text 7"/>
          <p:cNvSpPr/>
          <p:nvPr/>
        </p:nvSpPr>
        <p:spPr>
          <a:xfrm>
            <a:off x="2651760" y="2468880"/>
            <a:ext cx="1965960" cy="548640"/>
          </a:xfrm>
          <a:prstGeom prst="rect">
            <a:avLst/>
          </a:prstGeom>
          <a:noFill/>
          <a:ln/>
        </p:spPr>
        <p:txBody>
          <a:bodyPr wrap="square" lIns="0" tIns="0" rIns="0" bIns="0" rtlCol="0" anchor="ctr"/>
          <a:lstStyle/>
          <a:p>
            <a:pPr marL="0" indent="0" algn="ctr">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0" name="Text 8"/>
          <p:cNvSpPr/>
          <p:nvPr/>
        </p:nvSpPr>
        <p:spPr>
          <a:xfrm>
            <a:off x="2651760" y="3044952"/>
            <a:ext cx="196596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Drift</a:t>
            </a:r>
            <a:endParaRPr lang="en-US" sz="1150" dirty="0"/>
          </a:p>
        </p:txBody>
      </p:sp>
      <p:sp>
        <p:nvSpPr>
          <p:cNvPr id="11" name="Shape 9"/>
          <p:cNvSpPr/>
          <p:nvPr/>
        </p:nvSpPr>
        <p:spPr>
          <a:xfrm>
            <a:off x="4800600" y="2331720"/>
            <a:ext cx="1965960" cy="1188720"/>
          </a:xfrm>
          <a:prstGeom prst="roundRect">
            <a:avLst>
              <a:gd name="adj" fmla="val 6923"/>
            </a:avLst>
          </a:prstGeom>
          <a:solidFill>
            <a:srgbClr val="0B1F3A"/>
          </a:solidFill>
          <a:ln/>
          <a:effectLst>
            <a:outerShdw blurRad="114300" dist="38100" dir="2700000" algn="bl" rotWithShape="0">
              <a:srgbClr val="0B1F3A">
                <a:alpha val="14000"/>
              </a:srgbClr>
            </a:outerShdw>
          </a:effectLst>
        </p:spPr>
      </p:sp>
      <p:sp>
        <p:nvSpPr>
          <p:cNvPr id="12" name="Text 10"/>
          <p:cNvSpPr/>
          <p:nvPr/>
        </p:nvSpPr>
        <p:spPr>
          <a:xfrm>
            <a:off x="4800600" y="2468880"/>
            <a:ext cx="1965960" cy="548640"/>
          </a:xfrm>
          <a:prstGeom prst="rect">
            <a:avLst/>
          </a:prstGeom>
          <a:noFill/>
          <a:ln/>
        </p:spPr>
        <p:txBody>
          <a:bodyPr wrap="square" lIns="0" tIns="0" rIns="0" bIns="0" rtlCol="0" anchor="ctr"/>
          <a:lstStyle/>
          <a:p>
            <a:pPr marL="0" indent="0" algn="ctr">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3" name="Text 11"/>
          <p:cNvSpPr/>
          <p:nvPr/>
        </p:nvSpPr>
        <p:spPr>
          <a:xfrm>
            <a:off x="4800600" y="3044952"/>
            <a:ext cx="196596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Open</a:t>
            </a:r>
            <a:endParaRPr lang="en-US" sz="1150" dirty="0"/>
          </a:p>
        </p:txBody>
      </p:sp>
      <p:sp>
        <p:nvSpPr>
          <p:cNvPr id="14" name="Shape 12"/>
          <p:cNvSpPr/>
          <p:nvPr/>
        </p:nvSpPr>
        <p:spPr>
          <a:xfrm>
            <a:off x="6949440" y="2331720"/>
            <a:ext cx="1965960" cy="1188720"/>
          </a:xfrm>
          <a:prstGeom prst="roundRect">
            <a:avLst>
              <a:gd name="adj" fmla="val 6923"/>
            </a:avLst>
          </a:prstGeom>
          <a:solidFill>
            <a:srgbClr val="0B1F3A"/>
          </a:solidFill>
          <a:ln/>
          <a:effectLst>
            <a:outerShdw blurRad="114300" dist="38100" dir="2700000" algn="bl" rotWithShape="0">
              <a:srgbClr val="0B1F3A">
                <a:alpha val="14000"/>
              </a:srgbClr>
            </a:outerShdw>
          </a:effectLst>
        </p:spPr>
      </p:sp>
      <p:sp>
        <p:nvSpPr>
          <p:cNvPr id="15" name="Text 13"/>
          <p:cNvSpPr/>
          <p:nvPr/>
        </p:nvSpPr>
        <p:spPr>
          <a:xfrm>
            <a:off x="6949440" y="2468880"/>
            <a:ext cx="1965960" cy="548640"/>
          </a:xfrm>
          <a:prstGeom prst="rect">
            <a:avLst/>
          </a:prstGeom>
          <a:noFill/>
          <a:ln/>
        </p:spPr>
        <p:txBody>
          <a:bodyPr wrap="square" lIns="0" tIns="0" rIns="0" bIns="0" rtlCol="0" anchor="ctr"/>
          <a:lstStyle/>
          <a:p>
            <a:pPr marL="0" indent="0" algn="ctr">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6" name="Text 14"/>
          <p:cNvSpPr/>
          <p:nvPr/>
        </p:nvSpPr>
        <p:spPr>
          <a:xfrm>
            <a:off x="6949440" y="3044952"/>
            <a:ext cx="196596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Short</a:t>
            </a:r>
            <a:endParaRPr lang="en-US" sz="1150" dirty="0"/>
          </a:p>
        </p:txBody>
      </p:sp>
      <p:sp>
        <p:nvSpPr>
          <p:cNvPr id="17" name="Shape 15"/>
          <p:cNvSpPr/>
          <p:nvPr/>
        </p:nvSpPr>
        <p:spPr>
          <a:xfrm>
            <a:off x="9098280" y="2331720"/>
            <a:ext cx="1965960" cy="1188720"/>
          </a:xfrm>
          <a:prstGeom prst="roundRect">
            <a:avLst>
              <a:gd name="adj" fmla="val 6923"/>
            </a:avLst>
          </a:prstGeom>
          <a:solidFill>
            <a:srgbClr val="0B1F3A"/>
          </a:solidFill>
          <a:ln/>
          <a:effectLst>
            <a:outerShdw blurRad="114300" dist="38100" dir="2700000" algn="bl" rotWithShape="0">
              <a:srgbClr val="0B1F3A">
                <a:alpha val="14000"/>
              </a:srgbClr>
            </a:outerShdw>
          </a:effectLst>
        </p:spPr>
      </p:sp>
      <p:sp>
        <p:nvSpPr>
          <p:cNvPr id="18" name="Text 16"/>
          <p:cNvSpPr/>
          <p:nvPr/>
        </p:nvSpPr>
        <p:spPr>
          <a:xfrm>
            <a:off x="9098280" y="2468880"/>
            <a:ext cx="1965960" cy="548640"/>
          </a:xfrm>
          <a:prstGeom prst="rect">
            <a:avLst/>
          </a:prstGeom>
          <a:noFill/>
          <a:ln/>
        </p:spPr>
        <p:txBody>
          <a:bodyPr wrap="square" lIns="0" tIns="0" rIns="0" bIns="0" rtlCol="0" anchor="ctr"/>
          <a:lstStyle/>
          <a:p>
            <a:pPr marL="0" indent="0" algn="ctr">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9" name="Text 17"/>
          <p:cNvSpPr/>
          <p:nvPr/>
        </p:nvSpPr>
        <p:spPr>
          <a:xfrm>
            <a:off x="9098280" y="3044952"/>
            <a:ext cx="196596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Noise</a:t>
            </a:r>
            <a:endParaRPr lang="en-US" sz="1150" dirty="0"/>
          </a:p>
        </p:txBody>
      </p:sp>
      <p:sp>
        <p:nvSpPr>
          <p:cNvPr id="20" name="Text 18"/>
          <p:cNvSpPr/>
          <p:nvPr/>
        </p:nvSpPr>
        <p:spPr>
          <a:xfrm>
            <a:off x="502920" y="3840480"/>
            <a:ext cx="10607040" cy="1554480"/>
          </a:xfrm>
          <a:prstGeom prst="rect">
            <a:avLst/>
          </a:prstGeom>
          <a:noFill/>
          <a:ln/>
        </p:spPr>
        <p:txBody>
          <a:bodyPr wrap="square" lIns="0" tIns="0" rIns="0" bIns="0" rtlCol="0" anchor="ctr"/>
          <a:lstStyle/>
          <a:p>
            <a:pPr marL="0" indent="0">
              <a:lnSpc>
                <a:spcPct val="132000"/>
              </a:lnSpc>
              <a:buNone/>
            </a:pPr>
            <a:r>
              <a:rPr lang="en-US" sz="1250" b="1" dirty="0">
                <a:solidFill>
                  <a:srgbClr val="0B1F3A"/>
                </a:solidFill>
                <a:latin typeface="Calibri" pitchFamily="34" charset="0"/>
                <a:ea typeface="Calibri" pitchFamily="34" charset="-122"/>
                <a:cs typeface="Calibri" pitchFamily="34" charset="-120"/>
              </a:rPr>
              <a:t>Why: </a:t>
            </a:r>
            <a:r>
              <a:rPr lang="en-US" sz="1250" dirty="0">
                <a:solidFill>
                  <a:srgbClr val="64748B"/>
                </a:solidFill>
                <a:latin typeface="Calibri" pitchFamily="34" charset="0"/>
                <a:ea typeface="Calibri" pitchFamily="34" charset="-122"/>
                <a:cs typeface="Calibri"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Deep Dive: Why RC &amp; RC Ladder Are Harder</a:t>
            </a:r>
            <a:endParaRPr lang="en-US" sz="3000" dirty="0"/>
          </a:p>
        </p:txBody>
      </p:sp>
      <p:sp>
        <p:nvSpPr>
          <p:cNvPr id="4" name="Shape 2"/>
          <p:cNvSpPr/>
          <p:nvPr/>
        </p:nvSpPr>
        <p:spPr>
          <a:xfrm>
            <a:off x="502920" y="1828800"/>
            <a:ext cx="10607040" cy="713232"/>
          </a:xfrm>
          <a:prstGeom prst="roundRect">
            <a:avLst>
              <a:gd name="adj" fmla="val 8974"/>
            </a:avLst>
          </a:prstGeom>
          <a:solidFill>
            <a:srgbClr val="FFFFFF"/>
          </a:solidFill>
          <a:ln w="12700">
            <a:solidFill>
              <a:srgbClr val="E4E9F1"/>
            </a:solidFill>
            <a:prstDash val="solid"/>
          </a:ln>
          <a:effectLst>
            <a:outerShdw blurRad="63500" dist="38100" dir="2700000" algn="bl" rotWithShape="0">
              <a:srgbClr val="0B1F3A">
                <a:alpha val="6000"/>
              </a:srgbClr>
            </a:outerShdw>
          </a:effectLst>
        </p:spPr>
      </p:sp>
      <p:sp>
        <p:nvSpPr>
          <p:cNvPr id="5" name="Text 3"/>
          <p:cNvSpPr/>
          <p:nvPr/>
        </p:nvSpPr>
        <p:spPr>
          <a:xfrm>
            <a:off x="731520" y="1828800"/>
            <a:ext cx="2560320" cy="713232"/>
          </a:xfrm>
          <a:prstGeom prst="rect">
            <a:avLst/>
          </a:prstGeom>
          <a:noFill/>
          <a:ln/>
        </p:spPr>
        <p:txBody>
          <a:bodyPr wrap="square" lIns="0" tIns="0" rIns="0" bIns="0" rtlCol="0" anchor="ctr"/>
          <a:lstStyle/>
          <a:p>
            <a:pPr marL="0" indent="0">
              <a:buNone/>
            </a:pPr>
            <a:r>
              <a:rPr lang="en-US" sz="1300" b="1" dirty="0">
                <a:solidFill>
                  <a:srgbClr val="0B1F3A"/>
                </a:solidFill>
                <a:latin typeface="Courier New" pitchFamily="34" charset="0"/>
                <a:ea typeface="Courier New" pitchFamily="34" charset="-122"/>
                <a:cs typeface="Courier New" pitchFamily="34" charset="-120"/>
              </a:rPr>
              <a:t>RC_drift</a:t>
            </a:r>
            <a:endParaRPr lang="en-US" sz="1300" dirty="0"/>
          </a:p>
        </p:txBody>
      </p:sp>
      <p:sp>
        <p:nvSpPr>
          <p:cNvPr id="6" name="Text 4"/>
          <p:cNvSpPr/>
          <p:nvPr/>
        </p:nvSpPr>
        <p:spPr>
          <a:xfrm>
            <a:off x="3246120" y="1828800"/>
            <a:ext cx="1188720" cy="713232"/>
          </a:xfrm>
          <a:prstGeom prst="rect">
            <a:avLst/>
          </a:prstGeom>
          <a:noFill/>
          <a:ln/>
        </p:spPr>
        <p:txBody>
          <a:bodyPr wrap="square" lIns="0" tIns="0" rIns="0" bIns="0" rtlCol="0" anchor="ctr"/>
          <a:lstStyle/>
          <a:p>
            <a:pPr marL="0" indent="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7" name="Text 5"/>
          <p:cNvSpPr/>
          <p:nvPr/>
        </p:nvSpPr>
        <p:spPr>
          <a:xfrm>
            <a:off x="4526280" y="1828800"/>
            <a:ext cx="6400800" cy="713232"/>
          </a:xfrm>
          <a:prstGeom prst="rect">
            <a:avLst/>
          </a:prstGeom>
          <a:noFill/>
          <a:ln/>
        </p:spPr>
        <p:txBody>
          <a:bodyPr wrap="square" lIns="0" tIns="0" rIns="0" bIns="0" rtlCol="0" anchor="ctr"/>
          <a:lstStyle/>
          <a:p>
            <a:pPr marL="0" indent="0">
              <a:buNone/>
            </a:pPr>
            <a:r>
              <a:rPr lang="en-US" sz="1130" dirty="0">
                <a:solidFill>
                  <a:srgbClr val="64748B"/>
                </a:solidFill>
                <a:latin typeface="Calibri" pitchFamily="34" charset="0"/>
                <a:ea typeface="Calibri" pitchFamily="34" charset="-122"/>
                <a:cs typeface="Calibri" pitchFamily="34" charset="-120"/>
              </a:rPr>
              <a:t>correct — 60% misread as RC_normal</a:t>
            </a:r>
            <a:endParaRPr lang="en-US" sz="1130" dirty="0"/>
          </a:p>
        </p:txBody>
      </p:sp>
      <p:sp>
        <p:nvSpPr>
          <p:cNvPr id="8" name="Shape 6"/>
          <p:cNvSpPr/>
          <p:nvPr/>
        </p:nvSpPr>
        <p:spPr>
          <a:xfrm>
            <a:off x="502920" y="2670048"/>
            <a:ext cx="10607040" cy="713232"/>
          </a:xfrm>
          <a:prstGeom prst="roundRect">
            <a:avLst>
              <a:gd name="adj" fmla="val 8974"/>
            </a:avLst>
          </a:prstGeom>
          <a:solidFill>
            <a:srgbClr val="FFFFFF"/>
          </a:solidFill>
          <a:ln w="12700">
            <a:solidFill>
              <a:srgbClr val="E4E9F1"/>
            </a:solidFill>
            <a:prstDash val="solid"/>
          </a:ln>
          <a:effectLst>
            <a:outerShdw blurRad="63500" dist="38100" dir="2700000" algn="bl" rotWithShape="0">
              <a:srgbClr val="0B1F3A">
                <a:alpha val="6000"/>
              </a:srgbClr>
            </a:outerShdw>
          </a:effectLst>
        </p:spPr>
      </p:sp>
      <p:sp>
        <p:nvSpPr>
          <p:cNvPr id="9" name="Text 7"/>
          <p:cNvSpPr/>
          <p:nvPr/>
        </p:nvSpPr>
        <p:spPr>
          <a:xfrm>
            <a:off x="731520" y="2670048"/>
            <a:ext cx="2560320" cy="713232"/>
          </a:xfrm>
          <a:prstGeom prst="rect">
            <a:avLst/>
          </a:prstGeom>
          <a:noFill/>
          <a:ln/>
        </p:spPr>
        <p:txBody>
          <a:bodyPr wrap="square" lIns="0" tIns="0" rIns="0" bIns="0" rtlCol="0" anchor="ctr"/>
          <a:lstStyle/>
          <a:p>
            <a:pPr marL="0" indent="0">
              <a:buNone/>
            </a:pPr>
            <a:r>
              <a:rPr lang="en-US" sz="1300" b="1" dirty="0">
                <a:solidFill>
                  <a:srgbClr val="0B1F3A"/>
                </a:solidFill>
                <a:latin typeface="Courier New" pitchFamily="34" charset="0"/>
                <a:ea typeface="Courier New" pitchFamily="34" charset="-122"/>
                <a:cs typeface="Courier New" pitchFamily="34" charset="-120"/>
              </a:rPr>
              <a:t>RC_open</a:t>
            </a:r>
            <a:endParaRPr lang="en-US" sz="1300" dirty="0"/>
          </a:p>
        </p:txBody>
      </p:sp>
      <p:sp>
        <p:nvSpPr>
          <p:cNvPr id="10" name="Text 8"/>
          <p:cNvSpPr/>
          <p:nvPr/>
        </p:nvSpPr>
        <p:spPr>
          <a:xfrm>
            <a:off x="3246120" y="2670048"/>
            <a:ext cx="1188720" cy="713232"/>
          </a:xfrm>
          <a:prstGeom prst="rect">
            <a:avLst/>
          </a:prstGeom>
          <a:noFill/>
          <a:ln/>
        </p:spPr>
        <p:txBody>
          <a:bodyPr wrap="square" lIns="0" tIns="0" rIns="0" bIns="0" rtlCol="0" anchor="ctr"/>
          <a:lstStyle/>
          <a:p>
            <a:pPr marL="0" indent="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1" name="Text 9"/>
          <p:cNvSpPr/>
          <p:nvPr/>
        </p:nvSpPr>
        <p:spPr>
          <a:xfrm>
            <a:off x="4526280" y="2670048"/>
            <a:ext cx="6400800" cy="713232"/>
          </a:xfrm>
          <a:prstGeom prst="rect">
            <a:avLst/>
          </a:prstGeom>
          <a:noFill/>
          <a:ln/>
        </p:spPr>
        <p:txBody>
          <a:bodyPr wrap="square" lIns="0" tIns="0" rIns="0" bIns="0" rtlCol="0" anchor="ctr"/>
          <a:lstStyle/>
          <a:p>
            <a:pPr marL="0" indent="0">
              <a:buNone/>
            </a:pPr>
            <a:r>
              <a:rPr lang="en-US" sz="1130" dirty="0">
                <a:solidFill>
                  <a:srgbClr val="64748B"/>
                </a:solidFill>
                <a:latin typeface="Calibri" pitchFamily="34" charset="0"/>
                <a:ea typeface="Calibri" pitchFamily="34" charset="-122"/>
                <a:cs typeface="Calibri" pitchFamily="34" charset="-120"/>
              </a:rPr>
              <a:t>correct — 70% misread as RLC_open (cross-topology)</a:t>
            </a:r>
            <a:endParaRPr lang="en-US" sz="1130" dirty="0"/>
          </a:p>
        </p:txBody>
      </p:sp>
      <p:sp>
        <p:nvSpPr>
          <p:cNvPr id="12" name="Shape 10"/>
          <p:cNvSpPr/>
          <p:nvPr/>
        </p:nvSpPr>
        <p:spPr>
          <a:xfrm>
            <a:off x="502920" y="3511296"/>
            <a:ext cx="10607040" cy="713232"/>
          </a:xfrm>
          <a:prstGeom prst="roundRect">
            <a:avLst>
              <a:gd name="adj" fmla="val 8974"/>
            </a:avLst>
          </a:prstGeom>
          <a:solidFill>
            <a:srgbClr val="FFFFFF"/>
          </a:solidFill>
          <a:ln w="12700">
            <a:solidFill>
              <a:srgbClr val="E4E9F1"/>
            </a:solidFill>
            <a:prstDash val="solid"/>
          </a:ln>
          <a:effectLst>
            <a:outerShdw blurRad="63500" dist="38100" dir="2700000" algn="bl" rotWithShape="0">
              <a:srgbClr val="0B1F3A">
                <a:alpha val="6000"/>
              </a:srgbClr>
            </a:outerShdw>
          </a:effectLst>
        </p:spPr>
      </p:sp>
      <p:sp>
        <p:nvSpPr>
          <p:cNvPr id="13" name="Text 11"/>
          <p:cNvSpPr/>
          <p:nvPr/>
        </p:nvSpPr>
        <p:spPr>
          <a:xfrm>
            <a:off x="731520" y="3511296"/>
            <a:ext cx="2560320" cy="713232"/>
          </a:xfrm>
          <a:prstGeom prst="rect">
            <a:avLst/>
          </a:prstGeom>
          <a:noFill/>
          <a:ln/>
        </p:spPr>
        <p:txBody>
          <a:bodyPr wrap="square" lIns="0" tIns="0" rIns="0" bIns="0" rtlCol="0" anchor="ctr"/>
          <a:lstStyle/>
          <a:p>
            <a:pPr marL="0" indent="0">
              <a:buNone/>
            </a:pPr>
            <a:r>
              <a:rPr lang="en-US" sz="1300" b="1" dirty="0">
                <a:solidFill>
                  <a:srgbClr val="0B1F3A"/>
                </a:solidFill>
                <a:latin typeface="Courier New" pitchFamily="34" charset="0"/>
                <a:ea typeface="Courier New" pitchFamily="34" charset="-122"/>
                <a:cs typeface="Courier New" pitchFamily="34" charset="-120"/>
              </a:rPr>
              <a:t>RC_LADDER_drift</a:t>
            </a:r>
            <a:endParaRPr lang="en-US" sz="1300" dirty="0"/>
          </a:p>
        </p:txBody>
      </p:sp>
      <p:sp>
        <p:nvSpPr>
          <p:cNvPr id="14" name="Text 12"/>
          <p:cNvSpPr/>
          <p:nvPr/>
        </p:nvSpPr>
        <p:spPr>
          <a:xfrm>
            <a:off x="3246120" y="3511296"/>
            <a:ext cx="1188720" cy="713232"/>
          </a:xfrm>
          <a:prstGeom prst="rect">
            <a:avLst/>
          </a:prstGeom>
          <a:noFill/>
          <a:ln/>
        </p:spPr>
        <p:txBody>
          <a:bodyPr wrap="square" lIns="0" tIns="0" rIns="0" bIns="0" rtlCol="0" anchor="ctr"/>
          <a:lstStyle/>
          <a:p>
            <a:pPr marL="0" indent="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5" name="Text 13"/>
          <p:cNvSpPr/>
          <p:nvPr/>
        </p:nvSpPr>
        <p:spPr>
          <a:xfrm>
            <a:off x="4526280" y="3511296"/>
            <a:ext cx="6400800" cy="713232"/>
          </a:xfrm>
          <a:prstGeom prst="rect">
            <a:avLst/>
          </a:prstGeom>
          <a:noFill/>
          <a:ln/>
        </p:spPr>
        <p:txBody>
          <a:bodyPr wrap="square" lIns="0" tIns="0" rIns="0" bIns="0" rtlCol="0" anchor="ctr"/>
          <a:lstStyle/>
          <a:p>
            <a:pPr marL="0" indent="0">
              <a:buNone/>
            </a:pPr>
            <a:r>
              <a:rPr lang="en-US" sz="1130" dirty="0">
                <a:solidFill>
                  <a:srgbClr val="64748B"/>
                </a:solidFill>
                <a:latin typeface="Calibri" pitchFamily="34" charset="0"/>
                <a:ea typeface="Calibri" pitchFamily="34" charset="-122"/>
                <a:cs typeface="Calibri" pitchFamily="34" charset="-120"/>
              </a:rPr>
              <a:t>correct — 70% misread as RC_LADDER_normal</a:t>
            </a:r>
            <a:endParaRPr lang="en-US" sz="1130" dirty="0"/>
          </a:p>
        </p:txBody>
      </p:sp>
      <p:sp>
        <p:nvSpPr>
          <p:cNvPr id="16" name="Shape 14"/>
          <p:cNvSpPr/>
          <p:nvPr/>
        </p:nvSpPr>
        <p:spPr>
          <a:xfrm>
            <a:off x="502920" y="4352544"/>
            <a:ext cx="10607040" cy="713232"/>
          </a:xfrm>
          <a:prstGeom prst="roundRect">
            <a:avLst>
              <a:gd name="adj" fmla="val 8974"/>
            </a:avLst>
          </a:prstGeom>
          <a:solidFill>
            <a:srgbClr val="FFFFFF"/>
          </a:solidFill>
          <a:ln w="12700">
            <a:solidFill>
              <a:srgbClr val="E4E9F1"/>
            </a:solidFill>
            <a:prstDash val="solid"/>
          </a:ln>
          <a:effectLst>
            <a:outerShdw blurRad="63500" dist="38100" dir="2700000" algn="bl" rotWithShape="0">
              <a:srgbClr val="0B1F3A">
                <a:alpha val="6000"/>
              </a:srgbClr>
            </a:outerShdw>
          </a:effectLst>
        </p:spPr>
      </p:sp>
      <p:sp>
        <p:nvSpPr>
          <p:cNvPr id="17" name="Text 15"/>
          <p:cNvSpPr/>
          <p:nvPr/>
        </p:nvSpPr>
        <p:spPr>
          <a:xfrm>
            <a:off x="731520" y="4352544"/>
            <a:ext cx="2560320" cy="713232"/>
          </a:xfrm>
          <a:prstGeom prst="rect">
            <a:avLst/>
          </a:prstGeom>
          <a:noFill/>
          <a:ln/>
        </p:spPr>
        <p:txBody>
          <a:bodyPr wrap="square" lIns="0" tIns="0" rIns="0" bIns="0" rtlCol="0" anchor="ctr"/>
          <a:lstStyle/>
          <a:p>
            <a:pPr marL="0" indent="0">
              <a:buNone/>
            </a:pPr>
            <a:r>
              <a:rPr lang="en-US" sz="1300" b="1" dirty="0">
                <a:solidFill>
                  <a:srgbClr val="0B1F3A"/>
                </a:solidFill>
                <a:latin typeface="Courier New" pitchFamily="34" charset="0"/>
                <a:ea typeface="Courier New" pitchFamily="34" charset="-122"/>
                <a:cs typeface="Courier New" pitchFamily="34" charset="-120"/>
              </a:rPr>
              <a:t>RC_LADDER_short</a:t>
            </a:r>
            <a:endParaRPr lang="en-US" sz="1300" dirty="0"/>
          </a:p>
        </p:txBody>
      </p:sp>
      <p:sp>
        <p:nvSpPr>
          <p:cNvPr id="18" name="Text 16"/>
          <p:cNvSpPr/>
          <p:nvPr/>
        </p:nvSpPr>
        <p:spPr>
          <a:xfrm>
            <a:off x="3246120" y="4352544"/>
            <a:ext cx="1188720" cy="713232"/>
          </a:xfrm>
          <a:prstGeom prst="rect">
            <a:avLst/>
          </a:prstGeom>
          <a:noFill/>
          <a:ln/>
        </p:spPr>
        <p:txBody>
          <a:bodyPr wrap="square" lIns="0" tIns="0" rIns="0" bIns="0" rtlCol="0" anchor="ctr"/>
          <a:lstStyle/>
          <a:p>
            <a:pPr marL="0" indent="0">
              <a:buNone/>
            </a:pPr>
            <a:r>
              <a:rPr lang="en-US" sz="1700" b="1" dirty="0">
                <a:solidFill>
                  <a:srgbClr val="D9695F"/>
                </a:solidFill>
                <a:latin typeface="Cambria" pitchFamily="34" charset="0"/>
                <a:ea typeface="Cambria" pitchFamily="34" charset="-122"/>
                <a:cs typeface="Cambria" pitchFamily="34" charset="-120"/>
              </a:rPr>
              <a:t>10%</a:t>
            </a:r>
            <a:endParaRPr lang="en-US" sz="1700" dirty="0"/>
          </a:p>
        </p:txBody>
      </p:sp>
      <p:sp>
        <p:nvSpPr>
          <p:cNvPr id="19" name="Text 17"/>
          <p:cNvSpPr/>
          <p:nvPr/>
        </p:nvSpPr>
        <p:spPr>
          <a:xfrm>
            <a:off x="4526280" y="4352544"/>
            <a:ext cx="6400800" cy="713232"/>
          </a:xfrm>
          <a:prstGeom prst="rect">
            <a:avLst/>
          </a:prstGeom>
          <a:noFill/>
          <a:ln/>
        </p:spPr>
        <p:txBody>
          <a:bodyPr wrap="square" lIns="0" tIns="0" rIns="0" bIns="0" rtlCol="0" anchor="ctr"/>
          <a:lstStyle/>
          <a:p>
            <a:pPr marL="0" indent="0">
              <a:buNone/>
            </a:pPr>
            <a:r>
              <a:rPr lang="en-US" sz="1130" dirty="0">
                <a:solidFill>
                  <a:srgbClr val="64748B"/>
                </a:solidFill>
                <a:latin typeface="Calibri" pitchFamily="34" charset="0"/>
                <a:ea typeface="Calibri" pitchFamily="34" charset="-122"/>
                <a:cs typeface="Calibri" pitchFamily="34" charset="-120"/>
              </a:rPr>
              <a:t>correct — 90% misread as RC_short (cross-topology)</a:t>
            </a:r>
            <a:endParaRPr lang="en-US" sz="1130" dirty="0"/>
          </a:p>
        </p:txBody>
      </p:sp>
      <p:sp>
        <p:nvSpPr>
          <p:cNvPr id="20" name="Text 18"/>
          <p:cNvSpPr/>
          <p:nvPr/>
        </p:nvSpPr>
        <p:spPr>
          <a:xfrm>
            <a:off x="502920" y="5330952"/>
            <a:ext cx="10607040" cy="731520"/>
          </a:xfrm>
          <a:prstGeom prst="rect">
            <a:avLst/>
          </a:prstGeom>
          <a:noFill/>
          <a:ln/>
        </p:spPr>
        <p:txBody>
          <a:bodyPr wrap="square" lIns="0" tIns="0" rIns="0" bIns="0" rtlCol="0" anchor="ctr"/>
          <a:lstStyle/>
          <a:p>
            <a:pPr marL="0" indent="0">
              <a:lnSpc>
                <a:spcPct val="125000"/>
              </a:lnSpc>
              <a:buNone/>
            </a:pPr>
            <a:r>
              <a:rPr lang="en-US" sz="1180" b="1" dirty="0">
                <a:solidFill>
                  <a:srgbClr val="0B1F3A"/>
                </a:solidFill>
                <a:latin typeface="Calibri" pitchFamily="34" charset="0"/>
                <a:ea typeface="Calibri" pitchFamily="34" charset="-122"/>
                <a:cs typeface="Calibri" pitchFamily="34" charset="-120"/>
              </a:rPr>
              <a:t>The pattern: </a:t>
            </a:r>
            <a:r>
              <a:rPr lang="en-US" sz="1180" dirty="0">
                <a:solidFill>
                  <a:srgbClr val="64748B"/>
                </a:solidFill>
                <a:latin typeface="Calibri" pitchFamily="34" charset="0"/>
                <a:ea typeface="Calibri" pitchFamily="34" charset="-122"/>
                <a:cs typeface="Calibri"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What the Model Weighs — and Where It Excels</a:t>
            </a:r>
            <a:endParaRPr lang="en-US" sz="3000" dirty="0"/>
          </a:p>
        </p:txBody>
      </p:sp>
      <p:sp>
        <p:nvSpPr>
          <p:cNvPr id="4" name="Shape 2"/>
          <p:cNvSpPr/>
          <p:nvPr/>
        </p:nvSpPr>
        <p:spPr>
          <a:xfrm>
            <a:off x="502920" y="1783080"/>
            <a:ext cx="5166360" cy="4251960"/>
          </a:xfrm>
          <a:prstGeom prst="roundRect">
            <a:avLst>
              <a:gd name="adj" fmla="val 150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pic>
        <p:nvPicPr>
          <p:cNvPr id="5" name="Image 0" descr="panel_featimp.png"/>
          <p:cNvPicPr>
            <a:picLocks noChangeAspect="1"/>
          </p:cNvPicPr>
          <p:nvPr/>
        </p:nvPicPr>
        <p:blipFill>
          <a:blip r:embed="rId3"/>
          <a:srcRect/>
          <a:stretch/>
        </p:blipFill>
        <p:spPr>
          <a:xfrm>
            <a:off x="640080" y="1920240"/>
            <a:ext cx="4892040" cy="3346704"/>
          </a:xfrm>
          <a:prstGeom prst="rect">
            <a:avLst/>
          </a:prstGeom>
        </p:spPr>
      </p:pic>
      <p:sp>
        <p:nvSpPr>
          <p:cNvPr id="6" name="Text 3"/>
          <p:cNvSpPr/>
          <p:nvPr/>
        </p:nvSpPr>
        <p:spPr>
          <a:xfrm>
            <a:off x="685800" y="5623560"/>
            <a:ext cx="489204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rise_time and std_voltage carry the most weight in the linear model's decisions.</a:t>
            </a:r>
            <a:endParaRPr lang="en-US" sz="1000" dirty="0"/>
          </a:p>
        </p:txBody>
      </p:sp>
      <p:sp>
        <p:nvSpPr>
          <p:cNvPr id="7" name="Shape 4"/>
          <p:cNvSpPr/>
          <p:nvPr/>
        </p:nvSpPr>
        <p:spPr>
          <a:xfrm>
            <a:off x="5943600" y="1783080"/>
            <a:ext cx="5166360" cy="4251960"/>
          </a:xfrm>
          <a:prstGeom prst="roundRect">
            <a:avLst>
              <a:gd name="adj" fmla="val 150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pic>
        <p:nvPicPr>
          <p:cNvPr id="8" name="Image 1" descr="panel_f1.png"/>
          <p:cNvPicPr>
            <a:picLocks noChangeAspect="1"/>
          </p:cNvPicPr>
          <p:nvPr/>
        </p:nvPicPr>
        <p:blipFill>
          <a:blip r:embed="rId4"/>
          <a:srcRect/>
          <a:stretch/>
        </p:blipFill>
        <p:spPr>
          <a:xfrm>
            <a:off x="6080760" y="1920240"/>
            <a:ext cx="4892040" cy="3346704"/>
          </a:xfrm>
          <a:prstGeom prst="rect">
            <a:avLst/>
          </a:prstGeom>
        </p:spPr>
      </p:pic>
      <p:sp>
        <p:nvSpPr>
          <p:cNvPr id="9" name="Text 5"/>
          <p:cNvSpPr/>
          <p:nvPr/>
        </p:nvSpPr>
        <p:spPr>
          <a:xfrm>
            <a:off x="6126480" y="5623560"/>
            <a:ext cx="489204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10 of 20 classes hit a perfect or near-perfect F1 score; RC/RC-Ladder faults trail behind.</a:t>
            </a:r>
            <a:endParaRPr lang="en-US" sz="1000" dirty="0"/>
          </a:p>
        </p:txBody>
      </p:sp>
      <p:sp>
        <p:nvSpPr>
          <p:cNvPr id="10" name="Text 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Every Prediction, At a Glance</a:t>
            </a:r>
            <a:endParaRPr lang="en-US" sz="3000" dirty="0"/>
          </a:p>
        </p:txBody>
      </p:sp>
      <p:sp>
        <p:nvSpPr>
          <p:cNvPr id="4" name="Shape 2"/>
          <p:cNvSpPr/>
          <p:nvPr/>
        </p:nvSpPr>
        <p:spPr>
          <a:xfrm>
            <a:off x="502920" y="1691640"/>
            <a:ext cx="10607040" cy="4480560"/>
          </a:xfrm>
          <a:prstGeom prst="roundRect">
            <a:avLst>
              <a:gd name="adj" fmla="val 1429"/>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pic>
        <p:nvPicPr>
          <p:cNvPr id="5" name="Image 0" descr="panel_confmat.png"/>
          <p:cNvPicPr>
            <a:picLocks noChangeAspect="1"/>
          </p:cNvPicPr>
          <p:nvPr/>
        </p:nvPicPr>
        <p:blipFill>
          <a:blip r:embed="rId3"/>
          <a:srcRect/>
          <a:stretch/>
        </p:blipFill>
        <p:spPr>
          <a:xfrm>
            <a:off x="685800" y="1828800"/>
            <a:ext cx="10241280" cy="4160520"/>
          </a:xfrm>
          <a:prstGeom prst="rect">
            <a:avLst/>
          </a:prstGeom>
        </p:spPr>
      </p:pic>
      <p:sp>
        <p:nvSpPr>
          <p:cNvPr id="6" name="Text 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Confusion Matrix Deep Dive: Three Error Patterns</a:t>
            </a:r>
            <a:endParaRPr lang="en-US" sz="3000" dirty="0"/>
          </a:p>
        </p:txBody>
      </p:sp>
      <p:sp>
        <p:nvSpPr>
          <p:cNvPr id="4" name="Shape 2"/>
          <p:cNvSpPr/>
          <p:nvPr/>
        </p:nvSpPr>
        <p:spPr>
          <a:xfrm>
            <a:off x="502920" y="182880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5" name="Image 0" descr="/sessions/blissful-zealous-babbage/mnt/outputs/ppt/icons/chartline_00B4D8.png"/>
          <p:cNvPicPr>
            <a:picLocks noChangeAspect="1"/>
          </p:cNvPicPr>
          <p:nvPr/>
        </p:nvPicPr>
        <p:blipFill>
          <a:blip r:embed="rId3"/>
          <a:stretch>
            <a:fillRect/>
          </a:stretch>
        </p:blipFill>
        <p:spPr>
          <a:xfrm>
            <a:off x="576986" y="1902866"/>
            <a:ext cx="400507" cy="400507"/>
          </a:xfrm>
          <a:prstGeom prst="rect">
            <a:avLst/>
          </a:prstGeom>
        </p:spPr>
      </p:pic>
      <p:sp>
        <p:nvSpPr>
          <p:cNvPr id="6" name="Text 3"/>
          <p:cNvSpPr/>
          <p:nvPr/>
        </p:nvSpPr>
        <p:spPr>
          <a:xfrm>
            <a:off x="1234440" y="1801368"/>
            <a:ext cx="978408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1. Drift blends into Normal</a:t>
            </a:r>
            <a:endParaRPr lang="en-US" sz="1350" dirty="0"/>
          </a:p>
        </p:txBody>
      </p:sp>
      <p:sp>
        <p:nvSpPr>
          <p:cNvPr id="7" name="Text 4"/>
          <p:cNvSpPr/>
          <p:nvPr/>
        </p:nvSpPr>
        <p:spPr>
          <a:xfrm>
            <a:off x="1234440" y="2157984"/>
            <a:ext cx="9784080" cy="868680"/>
          </a:xfrm>
          <a:prstGeom prst="rect">
            <a:avLst/>
          </a:prstGeom>
          <a:noFill/>
          <a:ln/>
        </p:spPr>
        <p:txBody>
          <a:bodyPr wrap="square" lIns="0" tIns="0" rIns="0" bIns="0" rtlCol="0" anchor="ctr"/>
          <a:lstStyle/>
          <a:p>
            <a:pPr marL="0" indent="0">
              <a:lnSpc>
                <a:spcPct val="122000"/>
              </a:lnSpc>
              <a:buNone/>
            </a:pPr>
            <a:r>
              <a:rPr lang="en-US" sz="1100" dirty="0">
                <a:solidFill>
                  <a:srgbClr val="64748B"/>
                </a:solidFill>
                <a:latin typeface="Calibri" pitchFamily="34" charset="0"/>
                <a:ea typeface="Calibri" pitchFamily="34" charset="-122"/>
                <a:cs typeface="Calibri"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8" name="Shape 5"/>
          <p:cNvSpPr/>
          <p:nvPr/>
        </p:nvSpPr>
        <p:spPr>
          <a:xfrm>
            <a:off x="502920" y="320040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9" name="Image 1" descr="/sessions/blissful-zealous-babbage/mnt/outputs/ppt/icons/random_00B4D8.png"/>
          <p:cNvPicPr>
            <a:picLocks noChangeAspect="1"/>
          </p:cNvPicPr>
          <p:nvPr/>
        </p:nvPicPr>
        <p:blipFill>
          <a:blip r:embed="rId4"/>
          <a:stretch>
            <a:fillRect/>
          </a:stretch>
        </p:blipFill>
        <p:spPr>
          <a:xfrm>
            <a:off x="576986" y="3274466"/>
            <a:ext cx="400507" cy="400507"/>
          </a:xfrm>
          <a:prstGeom prst="rect">
            <a:avLst/>
          </a:prstGeom>
        </p:spPr>
      </p:pic>
      <p:sp>
        <p:nvSpPr>
          <p:cNvPr id="10" name="Text 6"/>
          <p:cNvSpPr/>
          <p:nvPr/>
        </p:nvSpPr>
        <p:spPr>
          <a:xfrm>
            <a:off x="1234440" y="3172968"/>
            <a:ext cx="978408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2. Same fault, wrong circuit (same family)</a:t>
            </a:r>
            <a:endParaRPr lang="en-US" sz="1350" dirty="0"/>
          </a:p>
        </p:txBody>
      </p:sp>
      <p:sp>
        <p:nvSpPr>
          <p:cNvPr id="11" name="Text 7"/>
          <p:cNvSpPr/>
          <p:nvPr/>
        </p:nvSpPr>
        <p:spPr>
          <a:xfrm>
            <a:off x="1234440" y="3529584"/>
            <a:ext cx="9784080" cy="868680"/>
          </a:xfrm>
          <a:prstGeom prst="rect">
            <a:avLst/>
          </a:prstGeom>
          <a:noFill/>
          <a:ln/>
        </p:spPr>
        <p:txBody>
          <a:bodyPr wrap="square" lIns="0" tIns="0" rIns="0" bIns="0" rtlCol="0" anchor="ctr"/>
          <a:lstStyle/>
          <a:p>
            <a:pPr marL="0" indent="0">
              <a:lnSpc>
                <a:spcPct val="122000"/>
              </a:lnSpc>
              <a:buNone/>
            </a:pPr>
            <a:r>
              <a:rPr lang="en-US" sz="1100" dirty="0">
                <a:solidFill>
                  <a:srgbClr val="64748B"/>
                </a:solidFill>
                <a:latin typeface="Calibri" pitchFamily="34" charset="0"/>
                <a:ea typeface="Calibri" pitchFamily="34" charset="-122"/>
                <a:cs typeface="Calibri"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2" name="Shape 8"/>
          <p:cNvSpPr/>
          <p:nvPr/>
        </p:nvSpPr>
        <p:spPr>
          <a:xfrm>
            <a:off x="502920" y="457200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3" name="Image 2" descr="/sessions/blissful-zealous-babbage/mnt/outputs/ppt/icons/warn_00B4D8.png"/>
          <p:cNvPicPr>
            <a:picLocks noChangeAspect="1"/>
          </p:cNvPicPr>
          <p:nvPr/>
        </p:nvPicPr>
        <p:blipFill>
          <a:blip r:embed="rId5"/>
          <a:stretch>
            <a:fillRect/>
          </a:stretch>
        </p:blipFill>
        <p:spPr>
          <a:xfrm>
            <a:off x="576986" y="4646066"/>
            <a:ext cx="400507" cy="400507"/>
          </a:xfrm>
          <a:prstGeom prst="rect">
            <a:avLst/>
          </a:prstGeom>
        </p:spPr>
      </p:pic>
      <p:sp>
        <p:nvSpPr>
          <p:cNvPr id="14" name="Text 9"/>
          <p:cNvSpPr/>
          <p:nvPr/>
        </p:nvSpPr>
        <p:spPr>
          <a:xfrm>
            <a:off x="1234440" y="4544568"/>
            <a:ext cx="9784080" cy="365760"/>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3. A limit the topology rule can't reach</a:t>
            </a:r>
            <a:endParaRPr lang="en-US" sz="1350" dirty="0"/>
          </a:p>
        </p:txBody>
      </p:sp>
      <p:sp>
        <p:nvSpPr>
          <p:cNvPr id="15" name="Text 10"/>
          <p:cNvSpPr/>
          <p:nvPr/>
        </p:nvSpPr>
        <p:spPr>
          <a:xfrm>
            <a:off x="1234440" y="4901184"/>
            <a:ext cx="9784080" cy="868680"/>
          </a:xfrm>
          <a:prstGeom prst="rect">
            <a:avLst/>
          </a:prstGeom>
          <a:noFill/>
          <a:ln/>
        </p:spPr>
        <p:txBody>
          <a:bodyPr wrap="square" lIns="0" tIns="0" rIns="0" bIns="0" rtlCol="0" anchor="ctr"/>
          <a:lstStyle/>
          <a:p>
            <a:pPr marL="0" indent="0">
              <a:lnSpc>
                <a:spcPct val="122000"/>
              </a:lnSpc>
              <a:buNone/>
            </a:pPr>
            <a:r>
              <a:rPr lang="en-US" sz="1100" dirty="0">
                <a:solidFill>
                  <a:srgbClr val="64748B"/>
                </a:solidFill>
                <a:latin typeface="Calibri" pitchFamily="34" charset="0"/>
                <a:ea typeface="Calibri" pitchFamily="34" charset="-122"/>
                <a:cs typeface="Calibri"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6" name="Text 11"/>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2"/>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Precision vs. Recall: What the Numbers Really Mean</a:t>
            </a:r>
            <a:endParaRPr lang="en-US" sz="3000" dirty="0"/>
          </a:p>
        </p:txBody>
      </p:sp>
      <p:sp>
        <p:nvSpPr>
          <p:cNvPr id="4" name="Shape 2"/>
          <p:cNvSpPr/>
          <p:nvPr/>
        </p:nvSpPr>
        <p:spPr>
          <a:xfrm>
            <a:off x="502920" y="1828800"/>
            <a:ext cx="5166360" cy="4023360"/>
          </a:xfrm>
          <a:prstGeom prst="roundRect">
            <a:avLst>
              <a:gd name="adj" fmla="val 204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Text 3"/>
          <p:cNvSpPr/>
          <p:nvPr/>
        </p:nvSpPr>
        <p:spPr>
          <a:xfrm>
            <a:off x="777240" y="2057400"/>
            <a:ext cx="4617720" cy="36576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RC_LADDER_short</a:t>
            </a:r>
            <a:endParaRPr lang="en-US" sz="1600" dirty="0"/>
          </a:p>
        </p:txBody>
      </p:sp>
      <p:sp>
        <p:nvSpPr>
          <p:cNvPr id="6" name="Text 4"/>
          <p:cNvSpPr/>
          <p:nvPr/>
        </p:nvSpPr>
        <p:spPr>
          <a:xfrm>
            <a:off x="777240" y="2514600"/>
            <a:ext cx="4617720" cy="365760"/>
          </a:xfrm>
          <a:prstGeom prst="rect">
            <a:avLst/>
          </a:prstGeom>
          <a:noFill/>
          <a:ln/>
        </p:spPr>
        <p:txBody>
          <a:bodyPr wrap="square" lIns="0" tIns="0" rIns="0" bIns="0" rtlCol="0" anchor="ctr"/>
          <a:lstStyle/>
          <a:p>
            <a:pPr marL="0" indent="0">
              <a:buNone/>
            </a:pPr>
            <a:r>
              <a:rPr lang="en-US" sz="1300" b="1" dirty="0">
                <a:solidFill>
                  <a:srgbClr val="5EAE7A"/>
                </a:solidFill>
                <a:latin typeface="Calibri" pitchFamily="34" charset="0"/>
                <a:ea typeface="Calibri" pitchFamily="34" charset="-122"/>
                <a:cs typeface="Calibri" pitchFamily="34" charset="-120"/>
              </a:rPr>
              <a:t>Precision = 1.000</a:t>
            </a:r>
            <a:r>
              <a:rPr lang="en-US" sz="1300" b="1" dirty="0">
                <a:solidFill>
                  <a:srgbClr val="D9695F"/>
                </a:solidFill>
                <a:latin typeface="Calibri" pitchFamily="34" charset="0"/>
                <a:ea typeface="Calibri" pitchFamily="34" charset="-122"/>
                <a:cs typeface="Calibri" pitchFamily="34" charset="-120"/>
              </a:rPr>
              <a:t>   Recall = 0.100</a:t>
            </a:r>
            <a:endParaRPr lang="en-US" sz="1300" dirty="0"/>
          </a:p>
        </p:txBody>
      </p:sp>
      <p:sp>
        <p:nvSpPr>
          <p:cNvPr id="7" name="Text 5"/>
          <p:cNvSpPr/>
          <p:nvPr/>
        </p:nvSpPr>
        <p:spPr>
          <a:xfrm>
            <a:off x="777240" y="3017520"/>
            <a:ext cx="4617720" cy="2651760"/>
          </a:xfrm>
          <a:prstGeom prst="rect">
            <a:avLst/>
          </a:prstGeom>
          <a:noFill/>
          <a:ln/>
        </p:spPr>
        <p:txBody>
          <a:bodyPr wrap="square" lIns="0" tIns="0" rIns="0" bIns="0" rtlCol="0" anchor="ctr"/>
          <a:lstStyle/>
          <a:p>
            <a:pPr marL="0" indent="0">
              <a:lnSpc>
                <a:spcPct val="130000"/>
              </a:lnSpc>
              <a:buNone/>
            </a:pPr>
            <a:r>
              <a:rPr lang="en-US" sz="1150" dirty="0">
                <a:solidFill>
                  <a:srgbClr val="64748B"/>
                </a:solidFill>
                <a:latin typeface="Calibri" pitchFamily="34" charset="0"/>
                <a:ea typeface="Calibri" pitchFamily="34" charset="-122"/>
                <a:cs typeface="Calibri"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8" name="Shape 6"/>
          <p:cNvSpPr/>
          <p:nvPr/>
        </p:nvSpPr>
        <p:spPr>
          <a:xfrm>
            <a:off x="6126480" y="1828800"/>
            <a:ext cx="5166360" cy="4023360"/>
          </a:xfrm>
          <a:prstGeom prst="roundRect">
            <a:avLst>
              <a:gd name="adj" fmla="val 2045"/>
            </a:avLst>
          </a:prstGeom>
          <a:solidFill>
            <a:srgbClr val="0B1F3A"/>
          </a:solidFill>
          <a:ln/>
          <a:effectLst>
            <a:outerShdw blurRad="114300" dist="38100" dir="2700000" algn="bl" rotWithShape="0">
              <a:srgbClr val="0B1F3A">
                <a:alpha val="14000"/>
              </a:srgbClr>
            </a:outerShdw>
          </a:effectLst>
        </p:spPr>
      </p:sp>
      <p:sp>
        <p:nvSpPr>
          <p:cNvPr id="9" name="Text 7"/>
          <p:cNvSpPr/>
          <p:nvPr/>
        </p:nvSpPr>
        <p:spPr>
          <a:xfrm>
            <a:off x="6400800" y="2057400"/>
            <a:ext cx="461772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Why this distinction matters</a:t>
            </a:r>
            <a:endParaRPr lang="en-US" sz="1600" dirty="0"/>
          </a:p>
        </p:txBody>
      </p:sp>
      <p:sp>
        <p:nvSpPr>
          <p:cNvPr id="10" name="Text 8"/>
          <p:cNvSpPr/>
          <p:nvPr/>
        </p:nvSpPr>
        <p:spPr>
          <a:xfrm>
            <a:off x="6400800" y="2514600"/>
            <a:ext cx="4617720" cy="3108960"/>
          </a:xfrm>
          <a:prstGeom prst="rect">
            <a:avLst/>
          </a:prstGeom>
          <a:noFill/>
          <a:ln/>
        </p:spPr>
        <p:txBody>
          <a:bodyPr wrap="square" lIns="0" tIns="0" rIns="0" bIns="0" rtlCol="0" anchor="ctr"/>
          <a:lstStyle/>
          <a:p>
            <a:pPr marL="0" indent="0">
              <a:lnSpc>
                <a:spcPct val="130000"/>
              </a:lnSpc>
              <a:buNone/>
            </a:pPr>
            <a:r>
              <a:rPr lang="en-US" sz="1150" dirty="0">
                <a:solidFill>
                  <a:srgbClr val="E7ECF4"/>
                </a:solidFill>
                <a:latin typeface="Calibri" pitchFamily="34" charset="0"/>
                <a:ea typeface="Calibri" pitchFamily="34" charset="-122"/>
                <a:cs typeface="Calibri" pitchFamily="34" charset="-120"/>
              </a:rPr>
              <a:t>A single accuracy number (78.43%) hides this. F1 combines precision and recall into one score exactly so that a class like this — perfectly precise but rarely triggered — doesn't get miscounted as “working fine.” </a:t>
            </a:r>
            <a:r>
              <a:rPr lang="en-US" sz="1150" b="1" dirty="0">
                <a:solidFill>
                  <a:srgbClr val="FFB703"/>
                </a:solidFill>
                <a:latin typeface="Calibri" pitchFamily="34" charset="0"/>
                <a:ea typeface="Calibri" pitchFamily="34" charset="-122"/>
                <a:cs typeface="Calibri" pitchFamily="34" charset="-120"/>
              </a:rPr>
              <a:t>This is why the Results section leans on F1 and the confusion matrix, not accuracy alone.</a:t>
            </a:r>
            <a:endParaRPr lang="en-US" sz="115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2" name="Text 10"/>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0332720" y="822960"/>
            <a:ext cx="822960" cy="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FFB703"/>
                </a:solidFill>
                <a:latin typeface="Calibri" pitchFamily="34" charset="0"/>
                <a:ea typeface="Calibri" pitchFamily="34" charset="-122"/>
                <a:cs typeface="Calibri" pitchFamily="34" charset="-120"/>
              </a:rPr>
              <a:t>8. KEY FINDING &amp; LIMITS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When Higher Accuracy Is the Wrong Answer</a:t>
            </a:r>
            <a:endParaRPr lang="en-US" sz="3000" dirty="0"/>
          </a:p>
        </p:txBody>
      </p:sp>
      <p:sp>
        <p:nvSpPr>
          <p:cNvPr id="11" name="Text 9"/>
          <p:cNvSpPr/>
          <p:nvPr/>
        </p:nvSpPr>
        <p:spPr>
          <a:xfrm>
            <a:off x="502920" y="1874520"/>
            <a:ext cx="8229600" cy="1280160"/>
          </a:xfrm>
          <a:prstGeom prst="rect">
            <a:avLst/>
          </a:prstGeom>
          <a:noFill/>
          <a:ln/>
        </p:spPr>
        <p:txBody>
          <a:bodyPr wrap="square" lIns="0" tIns="0" rIns="0" bIns="0" rtlCol="0" anchor="ctr"/>
          <a:lstStyle/>
          <a:p>
            <a:pPr marL="0" indent="0">
              <a:buNone/>
            </a:pPr>
            <a:r>
              <a:rPr lang="en-US" sz="6800" b="1" dirty="0">
                <a:solidFill>
                  <a:srgbClr val="8B99AF"/>
                </a:solidFill>
                <a:latin typeface="Cambria" pitchFamily="34" charset="0"/>
                <a:ea typeface="Cambria" pitchFamily="34" charset="-122"/>
                <a:cs typeface="Cambria" pitchFamily="34" charset="-120"/>
              </a:rPr>
              <a:t>91%</a:t>
            </a:r>
            <a:r>
              <a:rPr lang="en-US" sz="4400" b="1" dirty="0">
                <a:solidFill>
                  <a:srgbClr val="5A6B87"/>
                </a:solidFill>
                <a:latin typeface="Cambria" pitchFamily="34" charset="0"/>
                <a:ea typeface="Cambria" pitchFamily="34" charset="-122"/>
                <a:cs typeface="Cambria" pitchFamily="34" charset="-120"/>
              </a:rPr>
              <a:t>  -&gt;  </a:t>
            </a:r>
            <a:r>
              <a:rPr lang="en-US" sz="6800" b="1" dirty="0">
                <a:solidFill>
                  <a:srgbClr val="FFB703"/>
                </a:solidFill>
                <a:latin typeface="Cambria" pitchFamily="34" charset="0"/>
                <a:ea typeface="Cambria" pitchFamily="34" charset="-122"/>
                <a:cs typeface="Cambria" pitchFamily="34" charset="-120"/>
              </a:rPr>
              <a:t>76%</a:t>
            </a:r>
            <a:endParaRPr lang="en-US" sz="6800" dirty="0"/>
          </a:p>
        </p:txBody>
      </p:sp>
      <p:sp>
        <p:nvSpPr>
          <p:cNvPr id="12" name="Text 10"/>
          <p:cNvSpPr/>
          <p:nvPr/>
        </p:nvSpPr>
        <p:spPr>
          <a:xfrm>
            <a:off x="502920" y="3017520"/>
            <a:ext cx="8229600" cy="365760"/>
          </a:xfrm>
          <a:prstGeom prst="rect">
            <a:avLst/>
          </a:prstGeom>
          <a:noFill/>
          <a:ln/>
        </p:spPr>
        <p:txBody>
          <a:bodyPr wrap="square" lIns="0" tIns="0" rIns="0" bIns="0" rtlCol="0" anchor="ctr"/>
          <a:lstStyle/>
          <a:p>
            <a:pPr marL="0" indent="0">
              <a:buNone/>
            </a:pPr>
            <a:r>
              <a:rPr lang="en-US" sz="1300" i="1" dirty="0">
                <a:solidFill>
                  <a:srgbClr val="9FB1C8"/>
                </a:solidFill>
                <a:latin typeface="Calibri" pitchFamily="34" charset="0"/>
                <a:ea typeface="Calibri" pitchFamily="34" charset="-122"/>
                <a:cs typeface="Calibri" pitchFamily="34" charset="-120"/>
              </a:rPr>
              <a:t>reported accuracy, before vs. after removing synthetic data augmentation</a:t>
            </a:r>
            <a:endParaRPr lang="en-US" sz="1300" dirty="0"/>
          </a:p>
        </p:txBody>
      </p:sp>
      <p:sp>
        <p:nvSpPr>
          <p:cNvPr id="13" name="Text 11"/>
          <p:cNvSpPr/>
          <p:nvPr/>
        </p:nvSpPr>
        <p:spPr>
          <a:xfrm>
            <a:off x="502920" y="3611880"/>
            <a:ext cx="7863840" cy="2468880"/>
          </a:xfrm>
          <a:prstGeom prst="rect">
            <a:avLst/>
          </a:prstGeom>
          <a:noFill/>
          <a:ln/>
        </p:spPr>
        <p:txBody>
          <a:bodyPr wrap="square" lIns="0" tIns="0" rIns="0" bIns="0" rtlCol="0" anchor="ctr"/>
          <a:lstStyle/>
          <a:p>
            <a:pPr marL="0" indent="0">
              <a:lnSpc>
                <a:spcPct val="135000"/>
              </a:lnSpc>
              <a:buNone/>
            </a:pPr>
            <a:r>
              <a:rPr lang="en-US" sz="1400" dirty="0">
                <a:solidFill>
                  <a:srgbClr val="E7ECF4"/>
                </a:solidFill>
                <a:latin typeface="Calibri" pitchFamily="34" charset="0"/>
                <a:ea typeface="Calibri" pitchFamily="34" charset="-122"/>
                <a:cs typeface="Calibri" pitchFamily="34" charset="-120"/>
              </a:rPr>
              <a:t>An earlier version of this pipeline trained on </a:t>
            </a:r>
            <a:r>
              <a:rPr lang="en-US" sz="1400" b="1" dirty="0">
                <a:solidFill>
                  <a:srgbClr val="FFFFFF"/>
                </a:solidFill>
                <a:latin typeface="Calibri" pitchFamily="34" charset="0"/>
                <a:ea typeface="Calibri" pitchFamily="34" charset="-122"/>
                <a:cs typeface="Calibri" pitchFamily="34" charset="-120"/>
              </a:rPr>
              <a:t>Python-augmented synthetic data</a:t>
            </a:r>
            <a:r>
              <a:rPr lang="en-US" sz="1400" dirty="0">
                <a:solidFill>
                  <a:srgbClr val="E7ECF4"/>
                </a:solidFill>
                <a:latin typeface="Calibri" pitchFamily="34" charset="0"/>
                <a:ea typeface="Calibri" pitchFamily="34" charset="-122"/>
                <a:cs typeface="Calibri" pitchFamily="34" charset="-120"/>
              </a:rPr>
              <a:t> and reported 91% accuracy. Replacing it with pure </a:t>
            </a:r>
            <a:r>
              <a:rPr lang="en-US" sz="1400" b="1" dirty="0">
                <a:solidFill>
                  <a:srgbClr val="FFFFFF"/>
                </a:solidFill>
                <a:latin typeface="Calibri" pitchFamily="34" charset="0"/>
                <a:ea typeface="Calibri" pitchFamily="34" charset="-122"/>
                <a:cs typeface="Calibri" pitchFamily="34" charset="-120"/>
              </a:rPr>
              <a:t>physics-based LTspice sweep data</a:t>
            </a:r>
            <a:r>
              <a:rPr lang="en-US" sz="1400" dirty="0">
                <a:solidFill>
                  <a:srgbClr val="E7ECF4"/>
                </a:solidFill>
                <a:latin typeface="Calibri" pitchFamily="34" charset="0"/>
                <a:ea typeface="Calibri" pitchFamily="34" charset="-122"/>
                <a:cs typeface="Calibri" pitchFamily="34" charset="-120"/>
              </a:rPr>
              <a:t> — real simulation variation, no synthetic shortcuts — dropped accuracy to ~76%.
</a:t>
            </a:r>
            <a:r>
              <a:rPr lang="en-US" sz="1400" i="1" dirty="0">
                <a:solidFill>
                  <a:srgbClr val="FFB703"/>
                </a:solidFill>
                <a:latin typeface="Calibri" pitchFamily="34" charset="0"/>
                <a:ea typeface="Calibri" pitchFamily="34" charset="-122"/>
                <a:cs typeface="Calibri" pitchFamily="34" charset="-120"/>
              </a:rPr>
              <a:t>The model hadn't learned circuit fault physics — it had learned to recognise the augmentation transform itself. The lower, honest number is the more trustworthy result.</a:t>
            </a:r>
            <a:endParaRPr lang="en-US" sz="1400" dirty="0"/>
          </a:p>
        </p:txBody>
      </p:sp>
      <p:sp>
        <p:nvSpPr>
          <p:cNvPr id="14" name="Shape 12"/>
          <p:cNvSpPr/>
          <p:nvPr/>
        </p:nvSpPr>
        <p:spPr>
          <a:xfrm>
            <a:off x="9509760" y="3931920"/>
            <a:ext cx="1371600" cy="1371600"/>
          </a:xfrm>
          <a:prstGeom prst="ellipse">
            <a:avLst/>
          </a:prstGeom>
          <a:solidFill>
            <a:srgbClr val="132A4C"/>
          </a:solidFill>
          <a:ln/>
          <a:effectLst>
            <a:outerShdw blurRad="114300" dist="38100" dir="2700000" algn="bl" rotWithShape="0">
              <a:srgbClr val="0B1F3A">
                <a:alpha val="14000"/>
              </a:srgbClr>
            </a:outerShdw>
          </a:effectLst>
        </p:spPr>
      </p:sp>
      <p:pic>
        <p:nvPicPr>
          <p:cNvPr id="15" name="Image 0" descr="/sessions/blissful-zealous-babbage/mnt/outputs/ppt/icons/bulb_FFB703.png"/>
          <p:cNvPicPr>
            <a:picLocks noChangeAspect="1"/>
          </p:cNvPicPr>
          <p:nvPr/>
        </p:nvPicPr>
        <p:blipFill>
          <a:blip r:embed="rId3"/>
          <a:stretch>
            <a:fillRect/>
          </a:stretch>
        </p:blipFill>
        <p:spPr>
          <a:xfrm>
            <a:off x="969492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8. KEY FINDING &amp; LIMITS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Where the Model Still Struggles</a:t>
            </a:r>
            <a:endParaRPr lang="en-US" sz="3000" dirty="0"/>
          </a:p>
        </p:txBody>
      </p:sp>
      <p:sp>
        <p:nvSpPr>
          <p:cNvPr id="4" name="Shape 2"/>
          <p:cNvSpPr/>
          <p:nvPr/>
        </p:nvSpPr>
        <p:spPr>
          <a:xfrm>
            <a:off x="502920" y="1783080"/>
            <a:ext cx="5166360" cy="1691640"/>
          </a:xfrm>
          <a:prstGeom prst="roundRect">
            <a:avLst>
              <a:gd name="adj" fmla="val 486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758952" y="2039112"/>
            <a:ext cx="621792" cy="621792"/>
          </a:xfrm>
          <a:prstGeom prst="ellipse">
            <a:avLst/>
          </a:prstGeom>
          <a:solidFill>
            <a:srgbClr val="D9695F"/>
          </a:solidFill>
          <a:ln/>
          <a:effectLst>
            <a:outerShdw blurRad="114300" dist="38100" dir="2700000" algn="bl" rotWithShape="0">
              <a:srgbClr val="0B1F3A">
                <a:alpha val="14000"/>
              </a:srgbClr>
            </a:outerShdw>
          </a:effectLst>
        </p:spPr>
      </p:sp>
      <p:pic>
        <p:nvPicPr>
          <p:cNvPr id="6" name="Image 0" descr="/sessions/blissful-zealous-babbage/mnt/outputs/ppt/icons/warn_FFFFFF.png"/>
          <p:cNvPicPr>
            <a:picLocks noChangeAspect="1"/>
          </p:cNvPicPr>
          <p:nvPr/>
        </p:nvPicPr>
        <p:blipFill>
          <a:blip r:embed="rId3"/>
          <a:stretch>
            <a:fillRect/>
          </a:stretch>
        </p:blipFill>
        <p:spPr>
          <a:xfrm>
            <a:off x="842894" y="2123054"/>
            <a:ext cx="453908" cy="453908"/>
          </a:xfrm>
          <a:prstGeom prst="rect">
            <a:avLst/>
          </a:prstGeom>
        </p:spPr>
      </p:pic>
      <p:sp>
        <p:nvSpPr>
          <p:cNvPr id="7" name="Text 4"/>
          <p:cNvSpPr/>
          <p:nvPr/>
        </p:nvSpPr>
        <p:spPr>
          <a:xfrm>
            <a:off x="1536192" y="2039112"/>
            <a:ext cx="3904488" cy="438912"/>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Small per-class test sets</a:t>
            </a:r>
            <a:endParaRPr lang="en-US" sz="1350" dirty="0"/>
          </a:p>
        </p:txBody>
      </p:sp>
      <p:sp>
        <p:nvSpPr>
          <p:cNvPr id="8" name="Text 5"/>
          <p:cNvSpPr/>
          <p:nvPr/>
        </p:nvSpPr>
        <p:spPr>
          <a:xfrm>
            <a:off x="777240" y="2679192"/>
            <a:ext cx="4617720" cy="73152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Only ~10 test samples per class — a couple of misses can swing an F1 score sharply (e.g. RC_LADDER_short F1 = 0.18).</a:t>
            </a:r>
            <a:endParaRPr lang="en-US" sz="1050" dirty="0"/>
          </a:p>
        </p:txBody>
      </p:sp>
      <p:sp>
        <p:nvSpPr>
          <p:cNvPr id="9" name="Shape 6"/>
          <p:cNvSpPr/>
          <p:nvPr/>
        </p:nvSpPr>
        <p:spPr>
          <a:xfrm>
            <a:off x="6126480" y="1783080"/>
            <a:ext cx="5166360" cy="1691640"/>
          </a:xfrm>
          <a:prstGeom prst="roundRect">
            <a:avLst>
              <a:gd name="adj" fmla="val 486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0" name="Shape 7"/>
          <p:cNvSpPr/>
          <p:nvPr/>
        </p:nvSpPr>
        <p:spPr>
          <a:xfrm>
            <a:off x="6382512" y="2039112"/>
            <a:ext cx="621792" cy="621792"/>
          </a:xfrm>
          <a:prstGeom prst="ellipse">
            <a:avLst/>
          </a:prstGeom>
          <a:solidFill>
            <a:srgbClr val="D9695F"/>
          </a:solidFill>
          <a:ln/>
          <a:effectLst>
            <a:outerShdw blurRad="114300" dist="38100" dir="2700000" algn="bl" rotWithShape="0">
              <a:srgbClr val="0B1F3A">
                <a:alpha val="14000"/>
              </a:srgbClr>
            </a:outerShdw>
          </a:effectLst>
        </p:spPr>
      </p:sp>
      <p:pic>
        <p:nvPicPr>
          <p:cNvPr id="11" name="Image 1" descr="/sessions/blissful-zealous-babbage/mnt/outputs/ppt/icons/random_FFFFFF.png"/>
          <p:cNvPicPr>
            <a:picLocks noChangeAspect="1"/>
          </p:cNvPicPr>
          <p:nvPr/>
        </p:nvPicPr>
        <p:blipFill>
          <a:blip r:embed="rId4"/>
          <a:stretch>
            <a:fillRect/>
          </a:stretch>
        </p:blipFill>
        <p:spPr>
          <a:xfrm>
            <a:off x="6466454" y="2123054"/>
            <a:ext cx="453908" cy="453908"/>
          </a:xfrm>
          <a:prstGeom prst="rect">
            <a:avLst/>
          </a:prstGeom>
        </p:spPr>
      </p:pic>
      <p:sp>
        <p:nvSpPr>
          <p:cNvPr id="12" name="Text 8"/>
          <p:cNvSpPr/>
          <p:nvPr/>
        </p:nvSpPr>
        <p:spPr>
          <a:xfrm>
            <a:off x="7159752" y="2039112"/>
            <a:ext cx="3904488" cy="438912"/>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Drift is the hardest fault everywhere</a:t>
            </a:r>
            <a:endParaRPr lang="en-US" sz="1350" dirty="0"/>
          </a:p>
        </p:txBody>
      </p:sp>
      <p:sp>
        <p:nvSpPr>
          <p:cNvPr id="13" name="Text 9"/>
          <p:cNvSpPr/>
          <p:nvPr/>
        </p:nvSpPr>
        <p:spPr>
          <a:xfrm>
            <a:off x="6400800" y="2679192"/>
            <a:ext cx="4617720" cy="73152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Across every circuit, drift is the fault type most often confused with normal — it's inherently a point on a continuum, not a discrete change.</a:t>
            </a:r>
            <a:endParaRPr lang="en-US" sz="1050" dirty="0"/>
          </a:p>
        </p:txBody>
      </p:sp>
      <p:sp>
        <p:nvSpPr>
          <p:cNvPr id="14" name="Shape 10"/>
          <p:cNvSpPr/>
          <p:nvPr/>
        </p:nvSpPr>
        <p:spPr>
          <a:xfrm>
            <a:off x="502920" y="3675888"/>
            <a:ext cx="5166360" cy="1691640"/>
          </a:xfrm>
          <a:prstGeom prst="roundRect">
            <a:avLst>
              <a:gd name="adj" fmla="val 486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5" name="Shape 11"/>
          <p:cNvSpPr/>
          <p:nvPr/>
        </p:nvSpPr>
        <p:spPr>
          <a:xfrm>
            <a:off x="758952" y="3931920"/>
            <a:ext cx="621792" cy="621792"/>
          </a:xfrm>
          <a:prstGeom prst="ellipse">
            <a:avLst/>
          </a:prstGeom>
          <a:solidFill>
            <a:srgbClr val="D9695F"/>
          </a:solidFill>
          <a:ln/>
          <a:effectLst>
            <a:outerShdw blurRad="114300" dist="38100" dir="2700000" algn="bl" rotWithShape="0">
              <a:srgbClr val="0B1F3A">
                <a:alpha val="14000"/>
              </a:srgbClr>
            </a:outerShdw>
          </a:effectLst>
        </p:spPr>
      </p:sp>
      <p:pic>
        <p:nvPicPr>
          <p:cNvPr id="16" name="Image 2" descr="/sessions/blissful-zealous-babbage/mnt/outputs/ppt/icons/sitemap_FFFFFF.png"/>
          <p:cNvPicPr>
            <a:picLocks noChangeAspect="1"/>
          </p:cNvPicPr>
          <p:nvPr/>
        </p:nvPicPr>
        <p:blipFill>
          <a:blip r:embed="rId5"/>
          <a:stretch>
            <a:fillRect/>
          </a:stretch>
        </p:blipFill>
        <p:spPr>
          <a:xfrm>
            <a:off x="842894" y="4015862"/>
            <a:ext cx="453908" cy="453908"/>
          </a:xfrm>
          <a:prstGeom prst="rect">
            <a:avLst/>
          </a:prstGeom>
        </p:spPr>
      </p:pic>
      <p:sp>
        <p:nvSpPr>
          <p:cNvPr id="17" name="Text 12"/>
          <p:cNvSpPr/>
          <p:nvPr/>
        </p:nvSpPr>
        <p:spPr>
          <a:xfrm>
            <a:off x="1536192" y="3931920"/>
            <a:ext cx="3904488" cy="438912"/>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Limited topology scope</a:t>
            </a:r>
            <a:endParaRPr lang="en-US" sz="1350" dirty="0"/>
          </a:p>
        </p:txBody>
      </p:sp>
      <p:sp>
        <p:nvSpPr>
          <p:cNvPr id="18" name="Text 13"/>
          <p:cNvSpPr/>
          <p:nvPr/>
        </p:nvSpPr>
        <p:spPr>
          <a:xfrm>
            <a:off x="777240" y="4572000"/>
            <a:ext cx="4617720" cy="73152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Only 4 topologies and 5 fault types studied so far — real analog designs are far more diverse.</a:t>
            </a:r>
            <a:endParaRPr lang="en-US" sz="1050" dirty="0"/>
          </a:p>
        </p:txBody>
      </p:sp>
      <p:sp>
        <p:nvSpPr>
          <p:cNvPr id="19" name="Shape 14"/>
          <p:cNvSpPr/>
          <p:nvPr/>
        </p:nvSpPr>
        <p:spPr>
          <a:xfrm>
            <a:off x="6126480" y="3675888"/>
            <a:ext cx="5166360" cy="1691640"/>
          </a:xfrm>
          <a:prstGeom prst="roundRect">
            <a:avLst>
              <a:gd name="adj" fmla="val 4865"/>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0" name="Shape 15"/>
          <p:cNvSpPr/>
          <p:nvPr/>
        </p:nvSpPr>
        <p:spPr>
          <a:xfrm>
            <a:off x="6382512" y="3931920"/>
            <a:ext cx="621792" cy="621792"/>
          </a:xfrm>
          <a:prstGeom prst="ellipse">
            <a:avLst/>
          </a:prstGeom>
          <a:solidFill>
            <a:srgbClr val="D9695F"/>
          </a:solidFill>
          <a:ln/>
          <a:effectLst>
            <a:outerShdw blurRad="114300" dist="38100" dir="2700000" algn="bl" rotWithShape="0">
              <a:srgbClr val="0B1F3A">
                <a:alpha val="14000"/>
              </a:srgbClr>
            </a:outerShdw>
          </a:effectLst>
        </p:spPr>
      </p:sp>
      <p:pic>
        <p:nvPicPr>
          <p:cNvPr id="21" name="Image 3" descr="/sessions/blissful-zealous-babbage/mnt/outputs/ppt/icons/flask_FFFFFF.png"/>
          <p:cNvPicPr>
            <a:picLocks noChangeAspect="1"/>
          </p:cNvPicPr>
          <p:nvPr/>
        </p:nvPicPr>
        <p:blipFill>
          <a:blip r:embed="rId6"/>
          <a:stretch>
            <a:fillRect/>
          </a:stretch>
        </p:blipFill>
        <p:spPr>
          <a:xfrm>
            <a:off x="6466454" y="4015862"/>
            <a:ext cx="453908" cy="453908"/>
          </a:xfrm>
          <a:prstGeom prst="rect">
            <a:avLst/>
          </a:prstGeom>
        </p:spPr>
      </p:pic>
      <p:sp>
        <p:nvSpPr>
          <p:cNvPr id="22" name="Text 16"/>
          <p:cNvSpPr/>
          <p:nvPr/>
        </p:nvSpPr>
        <p:spPr>
          <a:xfrm>
            <a:off x="7159752" y="3931920"/>
            <a:ext cx="3904488" cy="438912"/>
          </a:xfrm>
          <a:prstGeom prst="rect">
            <a:avLst/>
          </a:prstGeom>
          <a:noFill/>
          <a:ln/>
        </p:spPr>
        <p:txBody>
          <a:bodyPr wrap="square" lIns="0" tIns="0" rIns="0" bIns="0" rtlCol="0" anchor="ctr"/>
          <a:lstStyle/>
          <a:p>
            <a:pPr marL="0" indent="0">
              <a:buNone/>
            </a:pPr>
            <a:r>
              <a:rPr lang="en-US" sz="1350" b="1" dirty="0">
                <a:solidFill>
                  <a:srgbClr val="0B1F3A"/>
                </a:solidFill>
                <a:latin typeface="Calibri" pitchFamily="34" charset="0"/>
                <a:ea typeface="Calibri" pitchFamily="34" charset="-122"/>
                <a:cs typeface="Calibri" pitchFamily="34" charset="-120"/>
              </a:rPr>
              <a:t>Simulation-only validation</a:t>
            </a:r>
            <a:endParaRPr lang="en-US" sz="1350" dirty="0"/>
          </a:p>
        </p:txBody>
      </p:sp>
      <p:sp>
        <p:nvSpPr>
          <p:cNvPr id="23" name="Text 17"/>
          <p:cNvSpPr/>
          <p:nvPr/>
        </p:nvSpPr>
        <p:spPr>
          <a:xfrm>
            <a:off x="6400800" y="4572000"/>
            <a:ext cx="4617720" cy="73152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Entirely LTspice-based — no real hardware fault injection has been performed yet, so the simulation-to-reality gap is untested.</a:t>
            </a:r>
            <a:endParaRPr lang="en-US" sz="1050" dirty="0"/>
          </a:p>
        </p:txBody>
      </p:sp>
      <p:sp>
        <p:nvSpPr>
          <p:cNvPr id="24" name="Shape 18"/>
          <p:cNvSpPr/>
          <p:nvPr/>
        </p:nvSpPr>
        <p:spPr>
          <a:xfrm>
            <a:off x="502920" y="5779008"/>
            <a:ext cx="10607040" cy="621792"/>
          </a:xfrm>
          <a:prstGeom prst="roundRect">
            <a:avLst>
              <a:gd name="adj" fmla="val 11765"/>
            </a:avLst>
          </a:prstGeom>
          <a:solidFill>
            <a:srgbClr val="0B1F3A"/>
          </a:solidFill>
          <a:ln/>
          <a:effectLst>
            <a:outerShdw blurRad="114300" dist="38100" dir="2700000" algn="bl" rotWithShape="0">
              <a:srgbClr val="0B1F3A">
                <a:alpha val="14000"/>
              </a:srgbClr>
            </a:outerShdw>
          </a:effectLst>
        </p:spPr>
      </p:sp>
      <p:sp>
        <p:nvSpPr>
          <p:cNvPr id="25" name="Text 19"/>
          <p:cNvSpPr/>
          <p:nvPr/>
        </p:nvSpPr>
        <p:spPr>
          <a:xfrm>
            <a:off x="777240" y="5779008"/>
            <a:ext cx="10058400" cy="621792"/>
          </a:xfrm>
          <a:prstGeom prst="rect">
            <a:avLst/>
          </a:prstGeom>
          <a:noFill/>
          <a:ln/>
        </p:spPr>
        <p:txBody>
          <a:bodyPr wrap="square" lIns="0" tIns="0" rIns="0" bIns="0" rtlCol="0" anchor="ctr"/>
          <a:lstStyle/>
          <a:p>
            <a:pPr marL="0" indent="0">
              <a:lnSpc>
                <a:spcPct val="115000"/>
              </a:lnSpc>
              <a:buNone/>
            </a:pPr>
            <a:r>
              <a:rPr lang="en-US" sz="1000" b="1" dirty="0">
                <a:solidFill>
                  <a:srgbClr val="FFB703"/>
                </a:solidFill>
                <a:latin typeface="Calibri" pitchFamily="34" charset="0"/>
                <a:ea typeface="Calibri" pitchFamily="34" charset="-122"/>
                <a:cs typeface="Calibri" pitchFamily="34" charset="-120"/>
              </a:rPr>
              <a:t>How uncertain is 78.43%, really?  </a:t>
            </a:r>
            <a:r>
              <a:rPr lang="en-US" sz="1000" dirty="0">
                <a:solidFill>
                  <a:srgbClr val="E7ECF4"/>
                </a:solidFill>
                <a:latin typeface="Calibri" pitchFamily="34" charset="0"/>
                <a:ea typeface="Calibri" pitchFamily="34" charset="-122"/>
                <a:cs typeface="Calibri" pitchFamily="34" charset="-120"/>
              </a:rPr>
              <a:t>A 30-run replication (Results, Section 7) measured </a:t>
            </a:r>
            <a:r>
              <a:rPr lang="en-US" sz="1000" b="1" dirty="0">
                <a:solidFill>
                  <a:srgbClr val="FFFFFF"/>
                </a:solidFill>
                <a:latin typeface="Calibri" pitchFamily="34" charset="0"/>
                <a:ea typeface="Calibri" pitchFamily="34" charset="-122"/>
                <a:cs typeface="Calibri" pitchFamily="34" charset="-120"/>
              </a:rPr>
              <a:t>80.5% ± 3.1 points</a:t>
            </a:r>
            <a:r>
              <a:rPr lang="en-US" sz="1000" dirty="0">
                <a:solidFill>
                  <a:srgbClr val="E7ECF4"/>
                </a:solidFill>
                <a:latin typeface="Calibri" pitchFamily="34" charset="0"/>
                <a:ea typeface="Calibri" pitchFamily="34" charset="-122"/>
                <a:cs typeface="Calibri" pitchFamily="34" charset="-120"/>
              </a:rPr>
              <a:t> across random splits, range 72.6%-84.8% — the reported 78.43% sits comfortably inside that spread, not cherry-picked.</a:t>
            </a:r>
            <a:endParaRPr lang="en-US" sz="1000" dirty="0"/>
          </a:p>
        </p:txBody>
      </p:sp>
      <p:sp>
        <p:nvSpPr>
          <p:cNvPr id="26" name="Text 20"/>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1"/>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Try It Yourself: Live Web App</a:t>
            </a:r>
            <a:endParaRPr lang="en-US" sz="3000" dirty="0"/>
          </a:p>
        </p:txBody>
      </p:sp>
      <p:sp>
        <p:nvSpPr>
          <p:cNvPr id="4" name="Shape 2"/>
          <p:cNvSpPr/>
          <p:nvPr/>
        </p:nvSpPr>
        <p:spPr>
          <a:xfrm>
            <a:off x="502920" y="1783080"/>
            <a:ext cx="6035040" cy="4251960"/>
          </a:xfrm>
          <a:prstGeom prst="roundRect">
            <a:avLst>
              <a:gd name="adj" fmla="val 1505"/>
            </a:avLst>
          </a:prstGeom>
          <a:solidFill>
            <a:srgbClr val="EAEEF4"/>
          </a:solidFill>
          <a:ln w="15875">
            <a:solidFill>
              <a:srgbClr val="9FB1C8"/>
            </a:solidFill>
            <a:prstDash val="dash"/>
          </a:ln>
        </p:spPr>
      </p:sp>
      <p:pic>
        <p:nvPicPr>
          <p:cNvPr id="5" name="Image 0" descr="/sessions/blissful-zealous-babbage/mnt/outputs/ppt/icons/laptop_64748B.png"/>
          <p:cNvPicPr>
            <a:picLocks noChangeAspect="1"/>
          </p:cNvPicPr>
          <p:nvPr/>
        </p:nvPicPr>
        <p:blipFill>
          <a:blip r:embed="rId3"/>
          <a:stretch>
            <a:fillRect/>
          </a:stretch>
        </p:blipFill>
        <p:spPr>
          <a:xfrm>
            <a:off x="3236976" y="2520086"/>
            <a:ext cx="566928" cy="566928"/>
          </a:xfrm>
          <a:prstGeom prst="rect">
            <a:avLst/>
          </a:prstGeom>
        </p:spPr>
      </p:pic>
      <p:sp>
        <p:nvSpPr>
          <p:cNvPr id="6" name="Text 3"/>
          <p:cNvSpPr/>
          <p:nvPr/>
        </p:nvSpPr>
        <p:spPr>
          <a:xfrm>
            <a:off x="685800" y="3001975"/>
            <a:ext cx="5669280" cy="365760"/>
          </a:xfrm>
          <a:prstGeom prst="rect">
            <a:avLst/>
          </a:prstGeom>
          <a:noFill/>
          <a:ln/>
        </p:spPr>
        <p:txBody>
          <a:bodyPr wrap="square" lIns="0" tIns="0" rIns="0" bIns="0" rtlCol="0" anchor="ctr"/>
          <a:lstStyle/>
          <a:p>
            <a:pPr marL="0" indent="0" algn="ctr">
              <a:buNone/>
            </a:pPr>
            <a:r>
              <a:rPr lang="en-US" sz="1300" b="1" dirty="0">
                <a:solidFill>
                  <a:srgbClr val="5B6B84"/>
                </a:solidFill>
                <a:latin typeface="Calibri" pitchFamily="34" charset="0"/>
                <a:ea typeface="Calibri" pitchFamily="34" charset="-122"/>
                <a:cs typeface="Calibri" pitchFamily="34" charset="-120"/>
              </a:rPr>
              <a:t>APP SCREENSHOT</a:t>
            </a:r>
            <a:endParaRPr lang="en-US" sz="1300" dirty="0"/>
          </a:p>
        </p:txBody>
      </p:sp>
      <p:sp>
        <p:nvSpPr>
          <p:cNvPr id="7" name="Text 4"/>
          <p:cNvSpPr/>
          <p:nvPr/>
        </p:nvSpPr>
        <p:spPr>
          <a:xfrm>
            <a:off x="777240" y="3349447"/>
            <a:ext cx="5486400" cy="1360627"/>
          </a:xfrm>
          <a:prstGeom prst="rect">
            <a:avLst/>
          </a:prstGeom>
          <a:noFill/>
          <a:ln/>
        </p:spPr>
        <p:txBody>
          <a:bodyPr wrap="square" lIns="0" tIns="0" rIns="0" bIns="0" rtlCol="0" anchor="ctr"/>
          <a:lstStyle/>
          <a:p>
            <a:pPr marL="0" indent="0" algn="ctr">
              <a:buNone/>
            </a:pPr>
            <a:r>
              <a:rPr lang="en-US" sz="1050" i="1" dirty="0">
                <a:solidFill>
                  <a:srgbClr val="8695AB"/>
                </a:solidFill>
                <a:latin typeface="Calibri" pitchFamily="34" charset="0"/>
                <a:ea typeface="Calibri" pitchFamily="34" charset="-122"/>
                <a:cs typeface="Calibri" pitchFamily="34" charset="-120"/>
              </a:rPr>
              <a:t>e.g. screenshot of the Streamlit</a:t>
            </a:r>
            <a:endParaRPr lang="en-US" sz="1050" dirty="0"/>
          </a:p>
          <a:p>
            <a:pPr marL="0" indent="0" algn="ctr">
              <a:buNone/>
            </a:pPr>
            <a:r>
              <a:rPr lang="en-US" sz="1050" i="1" dirty="0">
                <a:solidFill>
                  <a:srgbClr val="8695AB"/>
                </a:solidFill>
                <a:latin typeface="Calibri" pitchFamily="34" charset="0"/>
                <a:ea typeface="Calibri" pitchFamily="34" charset="-122"/>
                <a:cs typeface="Calibri" pitchFamily="34" charset="-120"/>
              </a:rPr>
              <a:t>dashboard / prediction tab</a:t>
            </a:r>
            <a:endParaRPr lang="en-US" sz="1050" dirty="0"/>
          </a:p>
        </p:txBody>
      </p:sp>
      <p:pic>
        <p:nvPicPr>
          <p:cNvPr id="25" name="Picture 24">
            <a:extLst>
              <a:ext uri="{FF2B5EF4-FFF2-40B4-BE49-F238E27FC236}">
                <a16:creationId xmlns:a16="http://schemas.microsoft.com/office/drawing/2014/main" id="{A545E3C2-549B-72B0-E608-DEF395962E9D}"/>
              </a:ext>
            </a:extLst>
          </p:cNvPr>
          <p:cNvPicPr>
            <a:picLocks noChangeAspect="1"/>
          </p:cNvPicPr>
          <p:nvPr/>
        </p:nvPicPr>
        <p:blipFill>
          <a:blip r:embed="rId4"/>
          <a:stretch>
            <a:fillRect/>
          </a:stretch>
        </p:blipFill>
        <p:spPr>
          <a:xfrm>
            <a:off x="502920" y="1783080"/>
            <a:ext cx="6035040" cy="4251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Shape 5"/>
          <p:cNvSpPr/>
          <p:nvPr/>
        </p:nvSpPr>
        <p:spPr>
          <a:xfrm>
            <a:off x="6903720" y="1828800"/>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9" name="Image 1" descr="/sessions/blissful-zealous-babbage/mnt/outputs/ppt/icons/chartbar_00B4D8.png"/>
          <p:cNvPicPr>
            <a:picLocks noChangeAspect="1"/>
          </p:cNvPicPr>
          <p:nvPr/>
        </p:nvPicPr>
        <p:blipFill>
          <a:blip r:embed="rId5"/>
          <a:stretch>
            <a:fillRect/>
          </a:stretch>
        </p:blipFill>
        <p:spPr>
          <a:xfrm>
            <a:off x="6977786" y="1902866"/>
            <a:ext cx="400507" cy="400507"/>
          </a:xfrm>
          <a:prstGeom prst="rect">
            <a:avLst/>
          </a:prstGeom>
        </p:spPr>
      </p:pic>
      <p:sp>
        <p:nvSpPr>
          <p:cNvPr id="10" name="Text 6"/>
          <p:cNvSpPr/>
          <p:nvPr/>
        </p:nvSpPr>
        <p:spPr>
          <a:xfrm>
            <a:off x="7635240" y="1810512"/>
            <a:ext cx="356616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Dashboard</a:t>
            </a:r>
            <a:endParaRPr lang="en-US" sz="1400" dirty="0"/>
          </a:p>
        </p:txBody>
      </p:sp>
      <p:sp>
        <p:nvSpPr>
          <p:cNvPr id="11" name="Text 7"/>
          <p:cNvSpPr/>
          <p:nvPr/>
        </p:nvSpPr>
        <p:spPr>
          <a:xfrm>
            <a:off x="7635240" y="2176272"/>
            <a:ext cx="3566160" cy="82296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All results — kernel comparison, per-circuit accuracy, confusion matrix — in one view.</a:t>
            </a:r>
            <a:endParaRPr lang="en-US" sz="1050" dirty="0"/>
          </a:p>
        </p:txBody>
      </p:sp>
      <p:sp>
        <p:nvSpPr>
          <p:cNvPr id="12" name="Shape 8"/>
          <p:cNvSpPr/>
          <p:nvPr/>
        </p:nvSpPr>
        <p:spPr>
          <a:xfrm>
            <a:off x="6903720" y="3127248"/>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3" name="Image 2" descr="/sessions/blissful-zealous-babbage/mnt/outputs/ppt/icons/search_00B4D8.png"/>
          <p:cNvPicPr>
            <a:picLocks noChangeAspect="1"/>
          </p:cNvPicPr>
          <p:nvPr/>
        </p:nvPicPr>
        <p:blipFill>
          <a:blip r:embed="rId6"/>
          <a:stretch>
            <a:fillRect/>
          </a:stretch>
        </p:blipFill>
        <p:spPr>
          <a:xfrm>
            <a:off x="6977786" y="3201314"/>
            <a:ext cx="400507" cy="400507"/>
          </a:xfrm>
          <a:prstGeom prst="rect">
            <a:avLst/>
          </a:prstGeom>
        </p:spPr>
      </p:pic>
      <p:sp>
        <p:nvSpPr>
          <p:cNvPr id="14" name="Text 9"/>
          <p:cNvSpPr/>
          <p:nvPr/>
        </p:nvSpPr>
        <p:spPr>
          <a:xfrm>
            <a:off x="7635240" y="3108960"/>
            <a:ext cx="356616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Try Prediction</a:t>
            </a:r>
            <a:endParaRPr lang="en-US" sz="1400" dirty="0"/>
          </a:p>
        </p:txBody>
      </p:sp>
      <p:sp>
        <p:nvSpPr>
          <p:cNvPr id="15" name="Text 10"/>
          <p:cNvSpPr/>
          <p:nvPr/>
        </p:nvSpPr>
        <p:spPr>
          <a:xfrm>
            <a:off x="7635240" y="3474720"/>
            <a:ext cx="3566160" cy="82296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Pick a sample or enter feature values manually and get an instant fault classification with confidence scores.</a:t>
            </a:r>
            <a:endParaRPr lang="en-US" sz="1050" dirty="0"/>
          </a:p>
        </p:txBody>
      </p:sp>
      <p:sp>
        <p:nvSpPr>
          <p:cNvPr id="16" name="Shape 11"/>
          <p:cNvSpPr/>
          <p:nvPr/>
        </p:nvSpPr>
        <p:spPr>
          <a:xfrm>
            <a:off x="6903720" y="4425696"/>
            <a:ext cx="548640" cy="548640"/>
          </a:xfrm>
          <a:prstGeom prst="ellipse">
            <a:avLst/>
          </a:prstGeom>
          <a:solidFill>
            <a:srgbClr val="0B1F3A"/>
          </a:solidFill>
          <a:ln/>
          <a:effectLst>
            <a:outerShdw blurRad="114300" dist="38100" dir="2700000" algn="bl" rotWithShape="0">
              <a:srgbClr val="0B1F3A">
                <a:alpha val="14000"/>
              </a:srgbClr>
            </a:outerShdw>
          </a:effectLst>
        </p:spPr>
      </p:sp>
      <p:pic>
        <p:nvPicPr>
          <p:cNvPr id="17" name="Image 3" descr="/sessions/blissful-zealous-babbage/mnt/outputs/ppt/icons/database_00B4D8.png"/>
          <p:cNvPicPr>
            <a:picLocks noChangeAspect="1"/>
          </p:cNvPicPr>
          <p:nvPr/>
        </p:nvPicPr>
        <p:blipFill>
          <a:blip r:embed="rId7"/>
          <a:stretch>
            <a:fillRect/>
          </a:stretch>
        </p:blipFill>
        <p:spPr>
          <a:xfrm>
            <a:off x="6977786" y="4499762"/>
            <a:ext cx="400507" cy="400507"/>
          </a:xfrm>
          <a:prstGeom prst="rect">
            <a:avLst/>
          </a:prstGeom>
        </p:spPr>
      </p:pic>
      <p:sp>
        <p:nvSpPr>
          <p:cNvPr id="18" name="Text 12"/>
          <p:cNvSpPr/>
          <p:nvPr/>
        </p:nvSpPr>
        <p:spPr>
          <a:xfrm>
            <a:off x="7635240" y="4407408"/>
            <a:ext cx="356616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Dataset</a:t>
            </a:r>
            <a:endParaRPr lang="en-US" sz="1400" dirty="0"/>
          </a:p>
        </p:txBody>
      </p:sp>
      <p:sp>
        <p:nvSpPr>
          <p:cNvPr id="19" name="Text 13"/>
          <p:cNvSpPr/>
          <p:nvPr/>
        </p:nvSpPr>
        <p:spPr>
          <a:xfrm>
            <a:off x="7635240" y="4773168"/>
            <a:ext cx="3566160" cy="822960"/>
          </a:xfrm>
          <a:prstGeom prst="rect">
            <a:avLst/>
          </a:prstGeom>
          <a:noFill/>
          <a:ln/>
        </p:spPr>
        <p:txBody>
          <a:bodyPr wrap="square" lIns="0" tIns="0" rIns="0" bIns="0" rtlCol="0" anchor="ctr"/>
          <a:lstStyle/>
          <a:p>
            <a:pPr marL="0" indent="0">
              <a:lnSpc>
                <a:spcPct val="122000"/>
              </a:lnSpc>
              <a:buNone/>
            </a:pPr>
            <a:r>
              <a:rPr lang="en-US" sz="1050" dirty="0">
                <a:solidFill>
                  <a:srgbClr val="64748B"/>
                </a:solidFill>
                <a:latin typeface="Calibri" pitchFamily="34" charset="0"/>
                <a:ea typeface="Calibri" pitchFamily="34" charset="-122"/>
                <a:cs typeface="Calibri" pitchFamily="34" charset="-120"/>
              </a:rPr>
              <a:t>Browse all 1,019 samples and their 17 extracted features directly in the browser.</a:t>
            </a:r>
            <a:endParaRPr lang="en-US" sz="1050" dirty="0"/>
          </a:p>
        </p:txBody>
      </p:sp>
      <p:sp>
        <p:nvSpPr>
          <p:cNvPr id="20" name="Shape 14"/>
          <p:cNvSpPr/>
          <p:nvPr/>
        </p:nvSpPr>
        <p:spPr>
          <a:xfrm>
            <a:off x="6903720" y="5815584"/>
            <a:ext cx="3931920" cy="566928"/>
          </a:xfrm>
          <a:prstGeom prst="roundRect">
            <a:avLst>
              <a:gd name="adj" fmla="val 50000"/>
            </a:avLst>
          </a:prstGeom>
          <a:solidFill>
            <a:srgbClr val="0B1F3A"/>
          </a:solidFill>
          <a:ln/>
          <a:effectLst>
            <a:outerShdw blurRad="114300" dist="38100" dir="2700000" algn="bl" rotWithShape="0">
              <a:srgbClr val="0B1F3A">
                <a:alpha val="14000"/>
              </a:srgbClr>
            </a:outerShdw>
          </a:effectLst>
        </p:spPr>
      </p:sp>
      <p:sp>
        <p:nvSpPr>
          <p:cNvPr id="21" name="Text 15">
            <a:hlinkClick r:id="rId8"/>
          </p:cNvPr>
          <p:cNvSpPr/>
          <p:nvPr/>
        </p:nvSpPr>
        <p:spPr>
          <a:xfrm>
            <a:off x="6903720" y="5815584"/>
            <a:ext cx="3931920" cy="566928"/>
          </a:xfrm>
          <a:prstGeom prst="rect">
            <a:avLst/>
          </a:prstGeom>
          <a:noFill/>
          <a:ln/>
        </p:spPr>
        <p:txBody>
          <a:bodyPr wrap="square" lIns="0" tIns="0" rIns="0" bIns="0" rtlCol="0" anchor="ctr"/>
          <a:lstStyle/>
          <a:p>
            <a:pPr marL="0" indent="0" algn="ctr">
              <a:buNone/>
            </a:pPr>
            <a:r>
              <a:rPr lang="en-US" sz="1150" b="1" u="sng" dirty="0">
                <a:solidFill>
                  <a:srgbClr val="00B4D8"/>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2" name="Text 16"/>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3" name="Text 17"/>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Tech Stack &amp; Tools</a:t>
            </a:r>
            <a:endParaRPr lang="en-US" sz="3000" dirty="0"/>
          </a:p>
        </p:txBody>
      </p:sp>
      <p:sp>
        <p:nvSpPr>
          <p:cNvPr id="4" name="Shape 2"/>
          <p:cNvSpPr/>
          <p:nvPr/>
        </p:nvSpPr>
        <p:spPr>
          <a:xfrm>
            <a:off x="502920" y="182880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5" name="Shape 3"/>
          <p:cNvSpPr/>
          <p:nvPr/>
        </p:nvSpPr>
        <p:spPr>
          <a:xfrm>
            <a:off x="1435608" y="208483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6" name="Image 0" descr="/sessions/blissful-zealous-babbage/mnt/outputs/ppt/icons/flask_00B4D8.png"/>
          <p:cNvPicPr>
            <a:picLocks noChangeAspect="1"/>
          </p:cNvPicPr>
          <p:nvPr/>
        </p:nvPicPr>
        <p:blipFill>
          <a:blip r:embed="rId3"/>
          <a:stretch>
            <a:fillRect/>
          </a:stretch>
        </p:blipFill>
        <p:spPr>
          <a:xfrm>
            <a:off x="1519550" y="2168774"/>
            <a:ext cx="453908" cy="453908"/>
          </a:xfrm>
          <a:prstGeom prst="rect">
            <a:avLst/>
          </a:prstGeom>
        </p:spPr>
      </p:pic>
      <p:sp>
        <p:nvSpPr>
          <p:cNvPr id="7" name="Text 4"/>
          <p:cNvSpPr/>
          <p:nvPr/>
        </p:nvSpPr>
        <p:spPr>
          <a:xfrm>
            <a:off x="640080" y="281635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LTspice XVII</a:t>
            </a:r>
            <a:endParaRPr lang="en-US" sz="1250" dirty="0"/>
          </a:p>
        </p:txBody>
      </p:sp>
      <p:sp>
        <p:nvSpPr>
          <p:cNvPr id="8" name="Text 5"/>
          <p:cNvSpPr/>
          <p:nvPr/>
        </p:nvSpPr>
        <p:spPr>
          <a:xfrm>
            <a:off x="640080" y="316382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Circuit simulation &amp; parameter sweeps</a:t>
            </a:r>
            <a:endParaRPr lang="en-US" sz="900" dirty="0"/>
          </a:p>
        </p:txBody>
      </p:sp>
      <p:sp>
        <p:nvSpPr>
          <p:cNvPr id="9" name="Shape 6"/>
          <p:cNvSpPr/>
          <p:nvPr/>
        </p:nvSpPr>
        <p:spPr>
          <a:xfrm>
            <a:off x="3209544" y="182880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0" name="Shape 7"/>
          <p:cNvSpPr/>
          <p:nvPr/>
        </p:nvSpPr>
        <p:spPr>
          <a:xfrm>
            <a:off x="4142232" y="208483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11" name="Image 1" descr="/sessions/blissful-zealous-babbage/mnt/outputs/ppt/icons/code_00B4D8.png"/>
          <p:cNvPicPr>
            <a:picLocks noChangeAspect="1"/>
          </p:cNvPicPr>
          <p:nvPr/>
        </p:nvPicPr>
        <p:blipFill>
          <a:blip r:embed="rId4"/>
          <a:stretch>
            <a:fillRect/>
          </a:stretch>
        </p:blipFill>
        <p:spPr>
          <a:xfrm>
            <a:off x="4226174" y="2168774"/>
            <a:ext cx="453908" cy="453908"/>
          </a:xfrm>
          <a:prstGeom prst="rect">
            <a:avLst/>
          </a:prstGeom>
        </p:spPr>
      </p:pic>
      <p:sp>
        <p:nvSpPr>
          <p:cNvPr id="12" name="Text 8"/>
          <p:cNvSpPr/>
          <p:nvPr/>
        </p:nvSpPr>
        <p:spPr>
          <a:xfrm>
            <a:off x="3346704" y="281635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Python</a:t>
            </a:r>
            <a:endParaRPr lang="en-US" sz="1250" dirty="0"/>
          </a:p>
        </p:txBody>
      </p:sp>
      <p:sp>
        <p:nvSpPr>
          <p:cNvPr id="13" name="Text 9"/>
          <p:cNvSpPr/>
          <p:nvPr/>
        </p:nvSpPr>
        <p:spPr>
          <a:xfrm>
            <a:off x="3346704" y="316382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The glue for the entire pipeline</a:t>
            </a:r>
            <a:endParaRPr lang="en-US" sz="900" dirty="0"/>
          </a:p>
        </p:txBody>
      </p:sp>
      <p:sp>
        <p:nvSpPr>
          <p:cNvPr id="14" name="Shape 10"/>
          <p:cNvSpPr/>
          <p:nvPr/>
        </p:nvSpPr>
        <p:spPr>
          <a:xfrm>
            <a:off x="5916168" y="182880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5" name="Shape 11"/>
          <p:cNvSpPr/>
          <p:nvPr/>
        </p:nvSpPr>
        <p:spPr>
          <a:xfrm>
            <a:off x="6848856" y="208483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16" name="Image 2" descr="/sessions/blissful-zealous-babbage/mnt/outputs/ppt/icons/database_00B4D8.png"/>
          <p:cNvPicPr>
            <a:picLocks noChangeAspect="1"/>
          </p:cNvPicPr>
          <p:nvPr/>
        </p:nvPicPr>
        <p:blipFill>
          <a:blip r:embed="rId5"/>
          <a:stretch>
            <a:fillRect/>
          </a:stretch>
        </p:blipFill>
        <p:spPr>
          <a:xfrm>
            <a:off x="6932798" y="2168774"/>
            <a:ext cx="453908" cy="453908"/>
          </a:xfrm>
          <a:prstGeom prst="rect">
            <a:avLst/>
          </a:prstGeom>
        </p:spPr>
      </p:pic>
      <p:sp>
        <p:nvSpPr>
          <p:cNvPr id="17" name="Text 12"/>
          <p:cNvSpPr/>
          <p:nvPr/>
        </p:nvSpPr>
        <p:spPr>
          <a:xfrm>
            <a:off x="6053328" y="281635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pandas / NumPy</a:t>
            </a:r>
            <a:endParaRPr lang="en-US" sz="1250" dirty="0"/>
          </a:p>
        </p:txBody>
      </p:sp>
      <p:sp>
        <p:nvSpPr>
          <p:cNvPr id="18" name="Text 13"/>
          <p:cNvSpPr/>
          <p:nvPr/>
        </p:nvSpPr>
        <p:spPr>
          <a:xfrm>
            <a:off x="6053328" y="316382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Data wrangling &amp; numeric computation</a:t>
            </a:r>
            <a:endParaRPr lang="en-US" sz="900" dirty="0"/>
          </a:p>
        </p:txBody>
      </p:sp>
      <p:sp>
        <p:nvSpPr>
          <p:cNvPr id="19" name="Shape 14"/>
          <p:cNvSpPr/>
          <p:nvPr/>
        </p:nvSpPr>
        <p:spPr>
          <a:xfrm>
            <a:off x="8622792" y="182880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0" name="Shape 15"/>
          <p:cNvSpPr/>
          <p:nvPr/>
        </p:nvSpPr>
        <p:spPr>
          <a:xfrm>
            <a:off x="9555480" y="208483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21" name="Image 3" descr="/sessions/blissful-zealous-babbage/mnt/outputs/ppt/icons/chartline_00B4D8.png"/>
          <p:cNvPicPr>
            <a:picLocks noChangeAspect="1"/>
          </p:cNvPicPr>
          <p:nvPr/>
        </p:nvPicPr>
        <p:blipFill>
          <a:blip r:embed="rId6"/>
          <a:stretch>
            <a:fillRect/>
          </a:stretch>
        </p:blipFill>
        <p:spPr>
          <a:xfrm>
            <a:off x="9639422" y="2168774"/>
            <a:ext cx="453908" cy="453908"/>
          </a:xfrm>
          <a:prstGeom prst="rect">
            <a:avLst/>
          </a:prstGeom>
        </p:spPr>
      </p:pic>
      <p:sp>
        <p:nvSpPr>
          <p:cNvPr id="22" name="Text 16"/>
          <p:cNvSpPr/>
          <p:nvPr/>
        </p:nvSpPr>
        <p:spPr>
          <a:xfrm>
            <a:off x="8759952" y="281635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SciPy</a:t>
            </a:r>
            <a:endParaRPr lang="en-US" sz="1250" dirty="0"/>
          </a:p>
        </p:txBody>
      </p:sp>
      <p:sp>
        <p:nvSpPr>
          <p:cNvPr id="23" name="Text 17"/>
          <p:cNvSpPr/>
          <p:nvPr/>
        </p:nvSpPr>
        <p:spPr>
          <a:xfrm>
            <a:off x="8759952" y="316382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FFT, skewness/kurtosis, interpolation</a:t>
            </a:r>
            <a:endParaRPr lang="en-US" sz="900" dirty="0"/>
          </a:p>
        </p:txBody>
      </p:sp>
      <p:sp>
        <p:nvSpPr>
          <p:cNvPr id="24" name="Shape 18"/>
          <p:cNvSpPr/>
          <p:nvPr/>
        </p:nvSpPr>
        <p:spPr>
          <a:xfrm>
            <a:off x="502920" y="397764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25" name="Shape 19"/>
          <p:cNvSpPr/>
          <p:nvPr/>
        </p:nvSpPr>
        <p:spPr>
          <a:xfrm>
            <a:off x="1435608" y="423367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26" name="Image 4" descr="/sessions/blissful-zealous-babbage/mnt/outputs/ppt/icons/brain_00B4D8.png"/>
          <p:cNvPicPr>
            <a:picLocks noChangeAspect="1"/>
          </p:cNvPicPr>
          <p:nvPr/>
        </p:nvPicPr>
        <p:blipFill>
          <a:blip r:embed="rId7"/>
          <a:stretch>
            <a:fillRect/>
          </a:stretch>
        </p:blipFill>
        <p:spPr>
          <a:xfrm>
            <a:off x="1519550" y="4317614"/>
            <a:ext cx="453908" cy="453908"/>
          </a:xfrm>
          <a:prstGeom prst="rect">
            <a:avLst/>
          </a:prstGeom>
        </p:spPr>
      </p:pic>
      <p:sp>
        <p:nvSpPr>
          <p:cNvPr id="27" name="Text 20"/>
          <p:cNvSpPr/>
          <p:nvPr/>
        </p:nvSpPr>
        <p:spPr>
          <a:xfrm>
            <a:off x="640080" y="496519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scikit-learn</a:t>
            </a:r>
            <a:endParaRPr lang="en-US" sz="1250" dirty="0"/>
          </a:p>
        </p:txBody>
      </p:sp>
      <p:sp>
        <p:nvSpPr>
          <p:cNvPr id="28" name="Text 21"/>
          <p:cNvSpPr/>
          <p:nvPr/>
        </p:nvSpPr>
        <p:spPr>
          <a:xfrm>
            <a:off x="640080" y="531266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SVM, GridSearchCV, StandardScaler</a:t>
            </a:r>
            <a:endParaRPr lang="en-US" sz="900" dirty="0"/>
          </a:p>
        </p:txBody>
      </p:sp>
      <p:sp>
        <p:nvSpPr>
          <p:cNvPr id="29" name="Shape 22"/>
          <p:cNvSpPr/>
          <p:nvPr/>
        </p:nvSpPr>
        <p:spPr>
          <a:xfrm>
            <a:off x="3209544" y="397764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30" name="Shape 23"/>
          <p:cNvSpPr/>
          <p:nvPr/>
        </p:nvSpPr>
        <p:spPr>
          <a:xfrm>
            <a:off x="4142232" y="423367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31" name="Image 5" descr="/sessions/blissful-zealous-babbage/mnt/outputs/ppt/icons/chartbar_00B4D8.png"/>
          <p:cNvPicPr>
            <a:picLocks noChangeAspect="1"/>
          </p:cNvPicPr>
          <p:nvPr/>
        </p:nvPicPr>
        <p:blipFill>
          <a:blip r:embed="rId8"/>
          <a:stretch>
            <a:fillRect/>
          </a:stretch>
        </p:blipFill>
        <p:spPr>
          <a:xfrm>
            <a:off x="4226174" y="4317614"/>
            <a:ext cx="453908" cy="453908"/>
          </a:xfrm>
          <a:prstGeom prst="rect">
            <a:avLst/>
          </a:prstGeom>
        </p:spPr>
      </p:pic>
      <p:sp>
        <p:nvSpPr>
          <p:cNvPr id="32" name="Text 24"/>
          <p:cNvSpPr/>
          <p:nvPr/>
        </p:nvSpPr>
        <p:spPr>
          <a:xfrm>
            <a:off x="3346704" y="496519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Matplotlib / Seaborn</a:t>
            </a:r>
            <a:endParaRPr lang="en-US" sz="1250" dirty="0"/>
          </a:p>
        </p:txBody>
      </p:sp>
      <p:sp>
        <p:nvSpPr>
          <p:cNvPr id="33" name="Text 25"/>
          <p:cNvSpPr/>
          <p:nvPr/>
        </p:nvSpPr>
        <p:spPr>
          <a:xfrm>
            <a:off x="3346704" y="531266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Results dashboard &amp; confusion matrix</a:t>
            </a:r>
            <a:endParaRPr lang="en-US" sz="900" dirty="0"/>
          </a:p>
        </p:txBody>
      </p:sp>
      <p:sp>
        <p:nvSpPr>
          <p:cNvPr id="34" name="Shape 26"/>
          <p:cNvSpPr/>
          <p:nvPr/>
        </p:nvSpPr>
        <p:spPr>
          <a:xfrm>
            <a:off x="5916168" y="397764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35" name="Shape 27"/>
          <p:cNvSpPr/>
          <p:nvPr/>
        </p:nvSpPr>
        <p:spPr>
          <a:xfrm>
            <a:off x="6848856" y="423367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36" name="Image 6" descr="/sessions/blissful-zealous-babbage/mnt/outputs/ppt/icons/laptop_00B4D8.png"/>
          <p:cNvPicPr>
            <a:picLocks noChangeAspect="1"/>
          </p:cNvPicPr>
          <p:nvPr/>
        </p:nvPicPr>
        <p:blipFill>
          <a:blip r:embed="rId9"/>
          <a:stretch>
            <a:fillRect/>
          </a:stretch>
        </p:blipFill>
        <p:spPr>
          <a:xfrm>
            <a:off x="6932798" y="4317614"/>
            <a:ext cx="453908" cy="453908"/>
          </a:xfrm>
          <a:prstGeom prst="rect">
            <a:avLst/>
          </a:prstGeom>
        </p:spPr>
      </p:pic>
      <p:sp>
        <p:nvSpPr>
          <p:cNvPr id="37" name="Text 28"/>
          <p:cNvSpPr/>
          <p:nvPr/>
        </p:nvSpPr>
        <p:spPr>
          <a:xfrm>
            <a:off x="6053328" y="496519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Streamlit</a:t>
            </a:r>
            <a:endParaRPr lang="en-US" sz="1250" dirty="0"/>
          </a:p>
        </p:txBody>
      </p:sp>
      <p:sp>
        <p:nvSpPr>
          <p:cNvPr id="38" name="Text 29"/>
          <p:cNvSpPr/>
          <p:nvPr/>
        </p:nvSpPr>
        <p:spPr>
          <a:xfrm>
            <a:off x="6053328" y="531266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The live interactive web app</a:t>
            </a:r>
            <a:endParaRPr lang="en-US" sz="900" dirty="0"/>
          </a:p>
        </p:txBody>
      </p:sp>
      <p:sp>
        <p:nvSpPr>
          <p:cNvPr id="39" name="Shape 30"/>
          <p:cNvSpPr/>
          <p:nvPr/>
        </p:nvSpPr>
        <p:spPr>
          <a:xfrm>
            <a:off x="8622792" y="3977640"/>
            <a:ext cx="2487168" cy="1920240"/>
          </a:xfrm>
          <a:prstGeom prst="roundRect">
            <a:avLst>
              <a:gd name="adj" fmla="val 4286"/>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40" name="Shape 31"/>
          <p:cNvSpPr/>
          <p:nvPr/>
        </p:nvSpPr>
        <p:spPr>
          <a:xfrm>
            <a:off x="9555480" y="4233672"/>
            <a:ext cx="621792" cy="621792"/>
          </a:xfrm>
          <a:prstGeom prst="ellipse">
            <a:avLst/>
          </a:prstGeom>
          <a:solidFill>
            <a:srgbClr val="0B1F3A"/>
          </a:solidFill>
          <a:ln/>
          <a:effectLst>
            <a:outerShdw blurRad="114300" dist="38100" dir="2700000" algn="bl" rotWithShape="0">
              <a:srgbClr val="0B1F3A">
                <a:alpha val="14000"/>
              </a:srgbClr>
            </a:outerShdw>
          </a:effectLst>
        </p:spPr>
      </p:sp>
      <p:pic>
        <p:nvPicPr>
          <p:cNvPr id="41" name="Image 7" descr="/sessions/blissful-zealous-babbage/mnt/outputs/ppt/icons/github_00B4D8.png"/>
          <p:cNvPicPr>
            <a:picLocks noChangeAspect="1"/>
          </p:cNvPicPr>
          <p:nvPr/>
        </p:nvPicPr>
        <p:blipFill>
          <a:blip r:embed="rId10"/>
          <a:stretch>
            <a:fillRect/>
          </a:stretch>
        </p:blipFill>
        <p:spPr>
          <a:xfrm>
            <a:off x="9639422" y="4317614"/>
            <a:ext cx="453908" cy="453908"/>
          </a:xfrm>
          <a:prstGeom prst="rect">
            <a:avLst/>
          </a:prstGeom>
        </p:spPr>
      </p:pic>
      <p:sp>
        <p:nvSpPr>
          <p:cNvPr id="42" name="Text 32"/>
          <p:cNvSpPr/>
          <p:nvPr/>
        </p:nvSpPr>
        <p:spPr>
          <a:xfrm>
            <a:off x="8759952" y="4965192"/>
            <a:ext cx="2212848" cy="36576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Git</a:t>
            </a:r>
            <a:endParaRPr lang="en-US" sz="1250" dirty="0"/>
          </a:p>
        </p:txBody>
      </p:sp>
      <p:sp>
        <p:nvSpPr>
          <p:cNvPr id="43" name="Text 33"/>
          <p:cNvSpPr/>
          <p:nvPr/>
        </p:nvSpPr>
        <p:spPr>
          <a:xfrm>
            <a:off x="8759952" y="5312664"/>
            <a:ext cx="2212848" cy="502920"/>
          </a:xfrm>
          <a:prstGeom prst="rect">
            <a:avLst/>
          </a:prstGeom>
          <a:noFill/>
          <a:ln/>
        </p:spPr>
        <p:txBody>
          <a:bodyPr wrap="square" lIns="0" tIns="0" rIns="0" bIns="0" rtlCol="0" anchor="ctr"/>
          <a:lstStyle/>
          <a:p>
            <a:pPr marL="0" indent="0" algn="ctr">
              <a:lnSpc>
                <a:spcPct val="115000"/>
              </a:lnSpc>
              <a:buNone/>
            </a:pPr>
            <a:r>
              <a:rPr lang="en-US" sz="900" dirty="0">
                <a:solidFill>
                  <a:srgbClr val="64748B"/>
                </a:solidFill>
                <a:latin typeface="Calibri" pitchFamily="34" charset="0"/>
                <a:ea typeface="Calibri" pitchFamily="34" charset="-122"/>
                <a:cs typeface="Calibri" pitchFamily="34" charset="-120"/>
              </a:rPr>
              <a:t>Version control across the project</a:t>
            </a:r>
            <a:endParaRPr lang="en-US" sz="900" dirty="0"/>
          </a:p>
        </p:txBody>
      </p:sp>
      <p:sp>
        <p:nvSpPr>
          <p:cNvPr id="44" name="Text 34"/>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5" name="Text 35"/>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Conclusion &amp; What's Next</a:t>
            </a:r>
            <a:endParaRPr lang="en-US" sz="3000" dirty="0"/>
          </a:p>
        </p:txBody>
      </p:sp>
      <p:sp>
        <p:nvSpPr>
          <p:cNvPr id="4" name="Shape 2"/>
          <p:cNvSpPr/>
          <p:nvPr/>
        </p:nvSpPr>
        <p:spPr>
          <a:xfrm>
            <a:off x="502920" y="1828800"/>
            <a:ext cx="5166360" cy="4206240"/>
          </a:xfrm>
          <a:prstGeom prst="roundRect">
            <a:avLst>
              <a:gd name="adj" fmla="val 1957"/>
            </a:avLst>
          </a:prstGeom>
          <a:solidFill>
            <a:srgbClr val="0B1F3A"/>
          </a:solidFill>
          <a:ln/>
          <a:effectLst>
            <a:outerShdw blurRad="114300" dist="38100" dir="2700000" algn="bl" rotWithShape="0">
              <a:srgbClr val="0B1F3A">
                <a:alpha val="14000"/>
              </a:srgbClr>
            </a:outerShdw>
          </a:effectLst>
        </p:spPr>
      </p:sp>
      <p:sp>
        <p:nvSpPr>
          <p:cNvPr id="5" name="Shape 3"/>
          <p:cNvSpPr/>
          <p:nvPr/>
        </p:nvSpPr>
        <p:spPr>
          <a:xfrm>
            <a:off x="777240" y="2103120"/>
            <a:ext cx="594360" cy="594360"/>
          </a:xfrm>
          <a:prstGeom prst="ellipse">
            <a:avLst/>
          </a:prstGeom>
          <a:solidFill>
            <a:srgbClr val="00B4D8"/>
          </a:solidFill>
          <a:ln/>
          <a:effectLst>
            <a:outerShdw blurRad="114300" dist="38100" dir="2700000" algn="bl" rotWithShape="0">
              <a:srgbClr val="0B1F3A">
                <a:alpha val="14000"/>
              </a:srgbClr>
            </a:outerShdw>
          </a:effectLst>
        </p:spPr>
      </p:sp>
      <p:pic>
        <p:nvPicPr>
          <p:cNvPr id="6" name="Image 0" descr="/sessions/blissful-zealous-babbage/mnt/outputs/ppt/icons/flag_0B1F3A.png"/>
          <p:cNvPicPr>
            <a:picLocks noChangeAspect="1"/>
          </p:cNvPicPr>
          <p:nvPr/>
        </p:nvPicPr>
        <p:blipFill>
          <a:blip r:embed="rId3"/>
          <a:stretch>
            <a:fillRect/>
          </a:stretch>
        </p:blipFill>
        <p:spPr>
          <a:xfrm>
            <a:off x="857479" y="2183359"/>
            <a:ext cx="433883" cy="433883"/>
          </a:xfrm>
          <a:prstGeom prst="rect">
            <a:avLst/>
          </a:prstGeom>
        </p:spPr>
      </p:pic>
      <p:sp>
        <p:nvSpPr>
          <p:cNvPr id="7" name="Text 4"/>
          <p:cNvSpPr/>
          <p:nvPr/>
        </p:nvSpPr>
        <p:spPr>
          <a:xfrm>
            <a:off x="1508760" y="2176272"/>
            <a:ext cx="3886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p>
        </p:txBody>
      </p:sp>
      <p:sp>
        <p:nvSpPr>
          <p:cNvPr id="8" name="Text 5"/>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7ECF4"/>
                </a:solidFill>
                <a:latin typeface="Calibri" pitchFamily="34" charset="0"/>
                <a:ea typeface="Calibri" pitchFamily="34" charset="-122"/>
                <a:cs typeface="Calibri" pitchFamily="34" charset="-120"/>
              </a:rPr>
              <a:t>A live, interactive Streamlit demo anyone can try.</a:t>
            </a:r>
            <a:endParaRPr lang="en-US" sz="1200" dirty="0"/>
          </a:p>
        </p:txBody>
      </p:sp>
      <p:sp>
        <p:nvSpPr>
          <p:cNvPr id="9" name="Shape 6"/>
          <p:cNvSpPr/>
          <p:nvPr/>
        </p:nvSpPr>
        <p:spPr>
          <a:xfrm>
            <a:off x="6126480" y="1828800"/>
            <a:ext cx="5166360" cy="4206240"/>
          </a:xfrm>
          <a:prstGeom prst="roundRect">
            <a:avLst>
              <a:gd name="adj" fmla="val 1957"/>
            </a:avLst>
          </a:prstGeom>
          <a:solidFill>
            <a:srgbClr val="FFFFFF"/>
          </a:solidFill>
          <a:ln w="12700">
            <a:solidFill>
              <a:srgbClr val="E4E9F1"/>
            </a:solidFill>
            <a:prstDash val="solid"/>
          </a:ln>
          <a:effectLst>
            <a:outerShdw blurRad="88900" dist="38100" dir="2700000" algn="bl" rotWithShape="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blurRad="114300" dist="38100" dir="2700000" algn="bl" rotWithShape="0">
              <a:srgbClr val="0B1F3A">
                <a:alpha val="14000"/>
              </a:srgbClr>
            </a:outerShdw>
          </a:effectLst>
        </p:spPr>
      </p:sp>
      <p:pic>
        <p:nvPicPr>
          <p:cNvPr id="11" name="Image 1" descr="/sessions/blissful-zealous-babbage/mnt/outputs/ppt/icons/rocket_00B4D8.png"/>
          <p:cNvPicPr>
            <a:picLocks noChangeAspect="1"/>
          </p:cNvPicPr>
          <p:nvPr/>
        </p:nvPicPr>
        <p:blipFill>
          <a:blip r:embed="rId4"/>
          <a:stretch>
            <a:fillRect/>
          </a:stretch>
        </p:blipFill>
        <p:spPr>
          <a:xfrm>
            <a:off x="6481039" y="2183359"/>
            <a:ext cx="433883" cy="433883"/>
          </a:xfrm>
          <a:prstGeom prst="rect">
            <a:avLst/>
          </a:prstGeom>
        </p:spPr>
      </p:pic>
      <p:sp>
        <p:nvSpPr>
          <p:cNvPr id="12" name="Text 8"/>
          <p:cNvSpPr/>
          <p:nvPr/>
        </p:nvSpPr>
        <p:spPr>
          <a:xfrm>
            <a:off x="7132320" y="2176272"/>
            <a:ext cx="3886200" cy="45720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Where It Goes Next</a:t>
            </a:r>
            <a:endParaRPr lang="en-US" sz="1500" dirty="0"/>
          </a:p>
        </p:txBody>
      </p:sp>
      <p:sp>
        <p:nvSpPr>
          <p:cNvPr id="13" name="Text 9"/>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1E293B"/>
                </a:solidFill>
                <a:latin typeface="Calibri" pitchFamily="34" charset="0"/>
                <a:ea typeface="Calibri" pitchFamily="34" charset="-122"/>
                <a:cs typeface="Calibri" pitchFamily="34" charset="-120"/>
              </a:rPr>
              <a:t>Extend to more topologies — Wien bridge, active high-pass, and beyond.</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14400" y="914400"/>
            <a:ext cx="905256" cy="0"/>
          </a:xfrm>
          <a:prstGeom prst="line">
            <a:avLst/>
          </a:prstGeom>
          <a:noFill/>
          <a:ln w="15875">
            <a:solidFill>
              <a:srgbClr val="00B4D8">
                <a:alpha val="70000"/>
              </a:srgbClr>
            </a:solidFill>
            <a:prstDash val="solid"/>
          </a:ln>
        </p:spPr>
      </p:sp>
      <p:sp>
        <p:nvSpPr>
          <p:cNvPr id="3" name="Shape 1"/>
          <p:cNvSpPr/>
          <p:nvPr/>
        </p:nvSpPr>
        <p:spPr>
          <a:xfrm>
            <a:off x="1819656" y="411480"/>
            <a:ext cx="0" cy="1106424"/>
          </a:xfrm>
          <a:prstGeom prst="line">
            <a:avLst/>
          </a:prstGeom>
          <a:noFill/>
          <a:ln w="15875">
            <a:solidFill>
              <a:srgbClr val="00B4D8">
                <a:alpha val="70000"/>
              </a:srgbClr>
            </a:solidFill>
            <a:prstDash val="solid"/>
          </a:ln>
        </p:spPr>
      </p:sp>
      <p:sp>
        <p:nvSpPr>
          <p:cNvPr id="4" name="Shape 2"/>
          <p:cNvSpPr/>
          <p:nvPr/>
        </p:nvSpPr>
        <p:spPr>
          <a:xfrm>
            <a:off x="1819656" y="1517904"/>
            <a:ext cx="804672" cy="0"/>
          </a:xfrm>
          <a:prstGeom prst="line">
            <a:avLst/>
          </a:prstGeom>
          <a:noFill/>
          <a:ln w="15875">
            <a:solidFill>
              <a:srgbClr val="00B4D8">
                <a:alpha val="70000"/>
              </a:srgbClr>
            </a:solidFill>
            <a:prstDash val="solid"/>
          </a:ln>
        </p:spPr>
      </p:sp>
      <p:sp>
        <p:nvSpPr>
          <p:cNvPr id="5" name="Shape 3"/>
          <p:cNvSpPr/>
          <p:nvPr/>
        </p:nvSpPr>
        <p:spPr>
          <a:xfrm>
            <a:off x="869137" y="869137"/>
            <a:ext cx="90526" cy="90526"/>
          </a:xfrm>
          <a:prstGeom prst="ellipse">
            <a:avLst/>
          </a:prstGeom>
          <a:solidFill>
            <a:srgbClr val="00B4D8"/>
          </a:solidFill>
          <a:ln w="12700">
            <a:solidFill>
              <a:srgbClr val="00B4D8"/>
            </a:solidFill>
            <a:prstDash val="solid"/>
          </a:ln>
        </p:spPr>
      </p:sp>
      <p:sp>
        <p:nvSpPr>
          <p:cNvPr id="6" name="Shape 4"/>
          <p:cNvSpPr/>
          <p:nvPr/>
        </p:nvSpPr>
        <p:spPr>
          <a:xfrm>
            <a:off x="1774393" y="366217"/>
            <a:ext cx="90526" cy="90526"/>
          </a:xfrm>
          <a:prstGeom prst="ellipse">
            <a:avLst/>
          </a:prstGeom>
          <a:solidFill>
            <a:srgbClr val="00B4D8"/>
          </a:solidFill>
          <a:ln w="12700">
            <a:solidFill>
              <a:srgbClr val="00B4D8"/>
            </a:solidFill>
            <a:prstDash val="solid"/>
          </a:ln>
        </p:spPr>
      </p:sp>
      <p:sp>
        <p:nvSpPr>
          <p:cNvPr id="7" name="Shape 5"/>
          <p:cNvSpPr/>
          <p:nvPr/>
        </p:nvSpPr>
        <p:spPr>
          <a:xfrm>
            <a:off x="1774393" y="1472641"/>
            <a:ext cx="90526" cy="90526"/>
          </a:xfrm>
          <a:prstGeom prst="ellipse">
            <a:avLst/>
          </a:prstGeom>
          <a:solidFill>
            <a:srgbClr val="00B4D8"/>
          </a:solidFill>
          <a:ln w="12700">
            <a:solidFill>
              <a:srgbClr val="00B4D8"/>
            </a:solidFill>
            <a:prstDash val="solid"/>
          </a:ln>
        </p:spPr>
      </p:sp>
      <p:sp>
        <p:nvSpPr>
          <p:cNvPr id="8" name="Shape 6"/>
          <p:cNvSpPr/>
          <p:nvPr/>
        </p:nvSpPr>
        <p:spPr>
          <a:xfrm>
            <a:off x="2579065" y="969721"/>
            <a:ext cx="90526" cy="90526"/>
          </a:xfrm>
          <a:prstGeom prst="ellipse">
            <a:avLst/>
          </a:prstGeom>
          <a:solidFill>
            <a:srgbClr val="00B4D8"/>
          </a:solidFill>
          <a:ln w="12700">
            <a:solidFill>
              <a:srgbClr val="00B4D8"/>
            </a:solidFill>
            <a:prstDash val="solid"/>
          </a:ln>
        </p:spPr>
      </p:sp>
      <p:sp>
        <p:nvSpPr>
          <p:cNvPr id="9" name="Shape 7"/>
          <p:cNvSpPr/>
          <p:nvPr/>
        </p:nvSpPr>
        <p:spPr>
          <a:xfrm>
            <a:off x="10058400" y="4937760"/>
            <a:ext cx="699516" cy="0"/>
          </a:xfrm>
          <a:prstGeom prst="line">
            <a:avLst/>
          </a:prstGeom>
          <a:noFill/>
          <a:ln w="15875">
            <a:solidFill>
              <a:srgbClr val="FFB703">
                <a:alpha val="70000"/>
              </a:srgbClr>
            </a:solidFill>
            <a:prstDash val="solid"/>
          </a:ln>
        </p:spPr>
      </p:sp>
      <p:sp>
        <p:nvSpPr>
          <p:cNvPr id="10" name="Shape 8"/>
          <p:cNvSpPr/>
          <p:nvPr/>
        </p:nvSpPr>
        <p:spPr>
          <a:xfrm>
            <a:off x="10757916" y="4549140"/>
            <a:ext cx="0" cy="854964"/>
          </a:xfrm>
          <a:prstGeom prst="line">
            <a:avLst/>
          </a:prstGeom>
          <a:noFill/>
          <a:ln w="15875">
            <a:solidFill>
              <a:srgbClr val="FFB703">
                <a:alpha val="70000"/>
              </a:srgbClr>
            </a:solidFill>
            <a:prstDash val="solid"/>
          </a:ln>
        </p:spPr>
      </p:sp>
      <p:sp>
        <p:nvSpPr>
          <p:cNvPr id="11" name="Shape 9"/>
          <p:cNvSpPr/>
          <p:nvPr/>
        </p:nvSpPr>
        <p:spPr>
          <a:xfrm>
            <a:off x="10757916" y="5404104"/>
            <a:ext cx="621792" cy="0"/>
          </a:xfrm>
          <a:prstGeom prst="line">
            <a:avLst/>
          </a:prstGeom>
          <a:noFill/>
          <a:ln w="15875">
            <a:solidFill>
              <a:srgbClr val="FFB703">
                <a:alpha val="70000"/>
              </a:srgbClr>
            </a:solidFill>
            <a:prstDash val="solid"/>
          </a:ln>
        </p:spPr>
      </p:sp>
      <p:sp>
        <p:nvSpPr>
          <p:cNvPr id="12" name="Shape 10"/>
          <p:cNvSpPr/>
          <p:nvPr/>
        </p:nvSpPr>
        <p:spPr>
          <a:xfrm>
            <a:off x="10023424" y="4902784"/>
            <a:ext cx="69952" cy="69952"/>
          </a:xfrm>
          <a:prstGeom prst="ellipse">
            <a:avLst/>
          </a:prstGeom>
          <a:solidFill>
            <a:srgbClr val="FFB703"/>
          </a:solidFill>
          <a:ln w="12700">
            <a:solidFill>
              <a:srgbClr val="FFB703"/>
            </a:solidFill>
            <a:prstDash val="solid"/>
          </a:ln>
        </p:spPr>
      </p:sp>
      <p:sp>
        <p:nvSpPr>
          <p:cNvPr id="13" name="Shape 11"/>
          <p:cNvSpPr/>
          <p:nvPr/>
        </p:nvSpPr>
        <p:spPr>
          <a:xfrm>
            <a:off x="10722940" y="4514164"/>
            <a:ext cx="69952" cy="69952"/>
          </a:xfrm>
          <a:prstGeom prst="ellipse">
            <a:avLst/>
          </a:prstGeom>
          <a:solidFill>
            <a:srgbClr val="FFB703"/>
          </a:solidFill>
          <a:ln w="12700">
            <a:solidFill>
              <a:srgbClr val="FFB703"/>
            </a:solidFill>
            <a:prstDash val="solid"/>
          </a:ln>
        </p:spPr>
      </p:sp>
      <p:sp>
        <p:nvSpPr>
          <p:cNvPr id="14" name="Shape 12"/>
          <p:cNvSpPr/>
          <p:nvPr/>
        </p:nvSpPr>
        <p:spPr>
          <a:xfrm>
            <a:off x="10722940" y="5369128"/>
            <a:ext cx="69952" cy="69952"/>
          </a:xfrm>
          <a:prstGeom prst="ellipse">
            <a:avLst/>
          </a:prstGeom>
          <a:solidFill>
            <a:srgbClr val="FFB703"/>
          </a:solidFill>
          <a:ln w="12700">
            <a:solidFill>
              <a:srgbClr val="FFB703"/>
            </a:solidFill>
            <a:prstDash val="solid"/>
          </a:ln>
        </p:spPr>
      </p:sp>
      <p:sp>
        <p:nvSpPr>
          <p:cNvPr id="15" name="Shape 13"/>
          <p:cNvSpPr/>
          <p:nvPr/>
        </p:nvSpPr>
        <p:spPr>
          <a:xfrm>
            <a:off x="11344732" y="4980508"/>
            <a:ext cx="69952" cy="69952"/>
          </a:xfrm>
          <a:prstGeom prst="ellipse">
            <a:avLst/>
          </a:prstGeom>
          <a:solidFill>
            <a:srgbClr val="FFB703"/>
          </a:solidFill>
          <a:ln w="12700">
            <a:solidFill>
              <a:srgbClr val="FFB703"/>
            </a:solidFill>
            <a:prstDash val="solid"/>
          </a:ln>
        </p:spPr>
      </p:sp>
      <p:sp>
        <p:nvSpPr>
          <p:cNvPr id="16" name="Text 14"/>
          <p:cNvSpPr/>
          <p:nvPr/>
        </p:nvSpPr>
        <p:spPr>
          <a:xfrm>
            <a:off x="502920" y="1579626"/>
            <a:ext cx="9144000" cy="1300734"/>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marL="0" indent="0">
              <a:buNone/>
            </a:pPr>
            <a:r>
              <a:rPr lang="en-US" sz="1600" i="1" dirty="0">
                <a:solidFill>
                  <a:srgbClr val="C9D6E8"/>
                </a:solidFill>
                <a:latin typeface="Calibri" pitchFamily="34" charset="0"/>
                <a:ea typeface="Calibri" pitchFamily="34" charset="-122"/>
                <a:cs typeface="Calibri"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00B4D8"/>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marL="0" indent="0">
              <a:lnSpc>
                <a:spcPct val="140000"/>
              </a:lnSpc>
              <a:buNone/>
            </a:pPr>
            <a:r>
              <a:rPr lang="en-US" sz="1400" b="1" dirty="0">
                <a:solidFill>
                  <a:srgbClr val="FFFFFF"/>
                </a:solidFill>
                <a:latin typeface="Calibri" pitchFamily="34" charset="0"/>
                <a:ea typeface="Calibri" pitchFamily="34" charset="-122"/>
                <a:cs typeface="Calibri" pitchFamily="34" charset="-120"/>
              </a:rPr>
              <a:t>Karan Kaushik</a:t>
            </a:r>
            <a:r>
              <a:rPr lang="en-US" sz="1400" dirty="0">
                <a:solidFill>
                  <a:srgbClr val="9FB1C8"/>
                </a:solidFill>
                <a:latin typeface="Calibri" pitchFamily="34" charset="0"/>
                <a:ea typeface="Calibri" pitchFamily="34" charset="-122"/>
                <a:cs typeface="Calibri" pitchFamily="34" charset="-120"/>
              </a:rPr>
              <a:t>   |   B.Tech ECE, NIT Silchar
Guided by Dr. Anish Kumar Saha
</a:t>
            </a:r>
            <a:r>
              <a:rPr lang="en-US" sz="1400" i="1" dirty="0">
                <a:solidFill>
                  <a:srgbClr val="6B7A94"/>
                </a:solidFill>
                <a:latin typeface="Calibri" pitchFamily="34" charset="0"/>
                <a:ea typeface="Calibri" pitchFamily="34" charset="-122"/>
                <a:cs typeface="Calibri" pitchFamily="34" charset="-120"/>
              </a:rPr>
              <a:t>SN Bose Summer Internship 2026, NIT Silchar</a:t>
            </a:r>
            <a:endParaRPr lang="en-US" sz="1400" dirty="0"/>
          </a:p>
        </p:txBody>
      </p:sp>
      <p:sp>
        <p:nvSpPr>
          <p:cNvPr id="20" name="Shape 18"/>
          <p:cNvSpPr/>
          <p:nvPr/>
        </p:nvSpPr>
        <p:spPr>
          <a:xfrm>
            <a:off x="502920" y="5120640"/>
            <a:ext cx="457200" cy="457200"/>
          </a:xfrm>
          <a:prstGeom prst="ellipse">
            <a:avLst/>
          </a:prstGeom>
          <a:solidFill>
            <a:srgbClr val="132A4C"/>
          </a:solidFill>
          <a:ln/>
          <a:effectLst>
            <a:outerShdw blurRad="114300" dist="38100" dir="2700000" algn="bl" rotWithShape="0">
              <a:srgbClr val="0B1F3A">
                <a:alpha val="14000"/>
              </a:srgbClr>
            </a:outerShdw>
          </a:effectLst>
        </p:spPr>
      </p:sp>
      <p:pic>
        <p:nvPicPr>
          <p:cNvPr id="21" name="Image 0" descr="/sessions/blissful-zealous-babbage/mnt/outputs/ppt/icons/envelope_00B4D8.png"/>
          <p:cNvPicPr>
            <a:picLocks noChangeAspect="1"/>
          </p:cNvPicPr>
          <p:nvPr/>
        </p:nvPicPr>
        <p:blipFill>
          <a:blip r:embed="rId3"/>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karankaushik01234@gmail.com</a:t>
            </a:r>
            <a:endParaRPr lang="en-US" sz="1250" dirty="0"/>
          </a:p>
        </p:txBody>
      </p:sp>
      <p:sp>
        <p:nvSpPr>
          <p:cNvPr id="23" name="Shape 20"/>
          <p:cNvSpPr/>
          <p:nvPr/>
        </p:nvSpPr>
        <p:spPr>
          <a:xfrm>
            <a:off x="502920" y="5715000"/>
            <a:ext cx="457200" cy="457200"/>
          </a:xfrm>
          <a:prstGeom prst="ellipse">
            <a:avLst/>
          </a:prstGeom>
          <a:solidFill>
            <a:srgbClr val="132A4C"/>
          </a:solidFill>
          <a:ln/>
          <a:effectLst>
            <a:outerShdw blurRad="114300" dist="38100" dir="2700000" algn="bl" rotWithShape="0">
              <a:srgbClr val="0B1F3A">
                <a:alpha val="14000"/>
              </a:srgbClr>
            </a:outerShdw>
          </a:effectLst>
        </p:spPr>
      </p:sp>
      <p:pic>
        <p:nvPicPr>
          <p:cNvPr id="24" name="Image 1" descr="/sessions/blissful-zealous-babbage/mnt/outputs/ppt/icons/laptop_00B4D8.png"/>
          <p:cNvPicPr>
            <a:picLocks noChangeAspect="1"/>
          </p:cNvPicPr>
          <p:nvPr/>
        </p:nvPicPr>
        <p:blipFill>
          <a:blip r:embed="rId4"/>
          <a:stretch>
            <a:fillRect/>
          </a:stretch>
        </p:blipFill>
        <p:spPr>
          <a:xfrm>
            <a:off x="564642" y="5776722"/>
            <a:ext cx="333756" cy="333756"/>
          </a:xfrm>
          <a:prstGeom prst="rect">
            <a:avLst/>
          </a:prstGeom>
        </p:spPr>
      </p:pic>
      <p:sp>
        <p:nvSpPr>
          <p:cNvPr id="25" name="Text 21">
            <a:hlinkClick r:id="rId5"/>
          </p:cNvPr>
          <p:cNvSpPr/>
          <p:nvPr/>
        </p:nvSpPr>
        <p:spPr>
          <a:xfrm>
            <a:off x="1097280" y="5715000"/>
            <a:ext cx="5486400" cy="457200"/>
          </a:xfrm>
          <a:prstGeom prst="rect">
            <a:avLst/>
          </a:prstGeom>
          <a:noFill/>
          <a:ln/>
        </p:spPr>
        <p:txBody>
          <a:bodyPr wrap="square" lIns="0" tIns="0" rIns="0" bIns="0" rtlCol="0" anchor="ctr"/>
          <a:lstStyle/>
          <a:p>
            <a:pPr marL="0" indent="0">
              <a:buNone/>
            </a:pPr>
            <a:r>
              <a:rPr lang="en-US" sz="1250" u="sng" dirty="0">
                <a:solidFill>
                  <a:srgbClr val="00B4D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0332720" y="822960"/>
            <a:ext cx="822960" cy="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FFB703"/>
                </a:solidFill>
                <a:latin typeface="Calibri" pitchFamily="34" charset="0"/>
                <a:ea typeface="Calibri" pitchFamily="34" charset="-122"/>
                <a:cs typeface="Calibri" pitchFamily="34" charset="-120"/>
              </a:rPr>
              <a:t>CODE APPENDIX</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Reference: The Project's Source Code</a:t>
            </a:r>
            <a:endParaRPr lang="en-US" sz="3000" dirty="0"/>
          </a:p>
        </p:txBody>
      </p:sp>
      <p:sp>
        <p:nvSpPr>
          <p:cNvPr id="11" name="Text 9"/>
          <p:cNvSpPr/>
          <p:nvPr/>
        </p:nvSpPr>
        <p:spPr>
          <a:xfrm>
            <a:off x="502919" y="1828800"/>
            <a:ext cx="11185855" cy="3954780"/>
          </a:xfrm>
          <a:prstGeom prst="rect">
            <a:avLst/>
          </a:prstGeom>
          <a:noFill/>
          <a:ln/>
        </p:spPr>
        <p:txBody>
          <a:bodyPr wrap="square" lIns="0" tIns="0" rIns="0" bIns="0" rtlCol="0" anchor="ctr"/>
          <a:lstStyle/>
          <a:p>
            <a:pPr marL="0" indent="0">
              <a:lnSpc>
                <a:spcPct val="135000"/>
              </a:lnSpc>
              <a:buNone/>
            </a:pPr>
            <a:r>
              <a:rPr lang="en-US" sz="2400" dirty="0">
                <a:solidFill>
                  <a:schemeClr val="accent4">
                    <a:lumMod val="60000"/>
                    <a:lumOff val="40000"/>
                  </a:schemeClr>
                </a:solidFill>
                <a:latin typeface="Calibri" pitchFamily="34" charset="0"/>
                <a:ea typeface="Calibri" pitchFamily="34" charset="-122"/>
                <a:cs typeface="Calibri" pitchFamily="34" charset="-120"/>
              </a:rPr>
              <a:t>The following slides show the actual Python source files behind every step of this pipeline, presented in the same order the project was built — from raw LTspice parsing through to the deployed web app.</a:t>
            </a:r>
            <a:r>
              <a:rPr lang="en-US" sz="1400" dirty="0">
                <a:solidFill>
                  <a:srgbClr val="E7ECF4"/>
                </a:solidFill>
                <a:latin typeface="Calibri" pitchFamily="34" charset="0"/>
                <a:ea typeface="Calibri" pitchFamily="34" charset="-122"/>
                <a:cs typeface="Calibri" pitchFamily="34" charset="-120"/>
              </a:rPr>
              <a:t>
</a:t>
            </a:r>
            <a:endParaRPr lang="en-US" sz="1400" dirty="0"/>
          </a:p>
        </p:txBody>
      </p:sp>
      <p:sp>
        <p:nvSpPr>
          <p:cNvPr id="12" name="Shape 10"/>
          <p:cNvSpPr/>
          <p:nvPr/>
        </p:nvSpPr>
        <p:spPr>
          <a:xfrm>
            <a:off x="9692640" y="4114800"/>
            <a:ext cx="1280160" cy="1280160"/>
          </a:xfrm>
          <a:prstGeom prst="ellipse">
            <a:avLst/>
          </a:prstGeom>
          <a:solidFill>
            <a:srgbClr val="132A4C"/>
          </a:solidFill>
          <a:ln/>
          <a:effectLst>
            <a:outerShdw blurRad="114300" dist="38100" dir="2700000" algn="bl" rotWithShape="0">
              <a:srgbClr val="0B1F3A">
                <a:alpha val="14000"/>
              </a:srgbClr>
            </a:outerShdw>
          </a:effectLst>
        </p:spPr>
      </p:sp>
      <p:pic>
        <p:nvPicPr>
          <p:cNvPr id="13" name="Image 0" descr="/sessions/blissful-zealous-babbage/mnt/outputs/ppt/icons/code_FFB703.png"/>
          <p:cNvPicPr>
            <a:picLocks noChangeAspect="1"/>
          </p:cNvPicPr>
          <p:nvPr/>
        </p:nvPicPr>
        <p:blipFill>
          <a:blip r:embed="rId3"/>
          <a:stretch>
            <a:fillRect/>
          </a:stretch>
        </p:blipFill>
        <p:spPr>
          <a:xfrm>
            <a:off x="9865462" y="4287622"/>
            <a:ext cx="934517" cy="934517"/>
          </a:xfrm>
          <a:prstGeom prst="rect">
            <a:avLst/>
          </a:prstGeom>
        </p:spPr>
      </p:pic>
      <p:sp>
        <p:nvSpPr>
          <p:cNvPr id="14" name="Text 11"/>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2"/>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Parsing LTspice Sweeps into a Dataset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day12_build_sweep_dataset.py  </a:t>
            </a:r>
            <a:r>
              <a:rPr lang="en-US" sz="1100" dirty="0">
                <a:solidFill>
                  <a:srgbClr val="64748B"/>
                </a:solidFill>
                <a:latin typeface="Calibri" pitchFamily="34" charset="0"/>
                <a:ea typeface="Calibri" pitchFamily="34" charset="-122"/>
                <a:cs typeface="Calibri" pitchFamily="34" charset="-120"/>
              </a:rPr>
              <a:t>— Reads exported .step sweep files, splits them into individual runs, resamples each to 200 points -&gt; master_dataset_sweep.csv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day12_build_sweep_dataset.py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Rebuilds the master dataset from REAL LTspice parameter sweeps.</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scipy.interpolate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interp1d</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Config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Bose\Sweeps"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T_END  =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0.095</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0.095</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0.095</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0.020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N_PTS  = </a:t>
            </a:r>
            <a:r>
              <a:rPr lang="en-US" sz="830" dirty="0">
                <a:solidFill>
                  <a:srgbClr val="E38B7A"/>
                </a:solidFill>
                <a:latin typeface="Consolas" pitchFamily="34" charset="0"/>
                <a:ea typeface="Consolas" pitchFamily="34" charset="0"/>
                <a:cs typeface="Consolas" pitchFamily="34" charset="0"/>
              </a:rPr>
              <a:t>200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CIRCS  =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FAULTS = [</a:t>
            </a:r>
            <a:r>
              <a:rPr lang="en-US" sz="830" dirty="0">
                <a:solidFill>
                  <a:srgbClr val="FFC94D"/>
                </a:solidFill>
                <a:latin typeface="Consolas" pitchFamily="34" charset="0"/>
                <a:ea typeface="Consolas" pitchFamily="34" charset="0"/>
                <a:cs typeface="Consolas" pitchFamily="34" charset="0"/>
              </a:rPr>
              <a:t>"normal"</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"drift"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"open"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"short"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File finder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find_sweep_file</a:t>
            </a:r>
            <a:r>
              <a:rPr lang="en-US" sz="830" dirty="0">
                <a:solidFill>
                  <a:srgbClr val="D7E3F4"/>
                </a:solidFill>
                <a:latin typeface="Consolas" pitchFamily="34" charset="0"/>
                <a:ea typeface="Consolas" pitchFamily="34" charset="0"/>
                <a:cs typeface="Consolas" pitchFamily="34" charset="0"/>
              </a:rPr>
              <a:t>(folder, circuit, fault):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stems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circuit.lower()</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fault</a:t>
            </a:r>
            <a:r>
              <a:rPr lang="en-US" sz="830" dirty="0">
                <a:solidFill>
                  <a:srgbClr val="FFC94D"/>
                </a:solidFill>
                <a:latin typeface="Consolas" pitchFamily="34" charset="0"/>
                <a:ea typeface="Consolas" pitchFamily="34" charset="0"/>
                <a:cs typeface="Consolas" pitchFamily="34" charset="0"/>
              </a:rPr>
              <a:t>}_sweep"</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circuit</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fault</a:t>
            </a:r>
            <a:r>
              <a:rPr lang="en-US" sz="830" dirty="0">
                <a:solidFill>
                  <a:srgbClr val="FFC94D"/>
                </a:solidFill>
                <a:latin typeface="Consolas" pitchFamily="34" charset="0"/>
                <a:ea typeface="Consolas" pitchFamily="34" charset="0"/>
                <a:cs typeface="Consolas" pitchFamily="34" charset="0"/>
              </a:rPr>
              <a:t>}_sweep"</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f"Sallen_key_{</a:t>
            </a:r>
            <a:r>
              <a:rPr lang="en-US" sz="830" dirty="0">
                <a:solidFill>
                  <a:srgbClr val="D7E3F4"/>
                </a:solidFill>
                <a:latin typeface="Consolas" pitchFamily="34" charset="0"/>
                <a:ea typeface="Consolas" pitchFamily="34" charset="0"/>
                <a:cs typeface="Consolas" pitchFamily="34" charset="0"/>
              </a:rPr>
              <a:t>fault</a:t>
            </a:r>
            <a:r>
              <a:rPr lang="en-US" sz="830" dirty="0">
                <a:solidFill>
                  <a:srgbClr val="FFC94D"/>
                </a:solidFill>
                <a:latin typeface="Consolas" pitchFamily="34" charset="0"/>
                <a:ea typeface="Consolas" pitchFamily="34" charset="0"/>
                <a:cs typeface="Consolas" pitchFamily="34" charset="0"/>
              </a:rPr>
              <a:t>}_sweep"</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f"sallen_key_{</a:t>
            </a:r>
            <a:r>
              <a:rPr lang="en-US" sz="830" dirty="0">
                <a:solidFill>
                  <a:srgbClr val="D7E3F4"/>
                </a:solidFill>
                <a:latin typeface="Consolas" pitchFamily="34" charset="0"/>
                <a:ea typeface="Consolas" pitchFamily="34" charset="0"/>
                <a:cs typeface="Consolas" pitchFamily="34" charset="0"/>
              </a:rPr>
              <a:t>fault</a:t>
            </a:r>
            <a:r>
              <a:rPr lang="en-US" sz="830" dirty="0">
                <a:solidFill>
                  <a:srgbClr val="FFC94D"/>
                </a:solidFill>
                <a:latin typeface="Consolas" pitchFamily="34" charset="0"/>
                <a:ea typeface="Consolas" pitchFamily="34" charset="0"/>
                <a:cs typeface="Consolas" pitchFamily="34" charset="0"/>
              </a:rPr>
              <a:t>}_sweep"</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exts = [</a:t>
            </a:r>
            <a:r>
              <a:rPr lang="en-US" sz="830" dirty="0">
                <a:solidFill>
                  <a:srgbClr val="FFC94D"/>
                </a:solidFill>
                <a:latin typeface="Consolas" pitchFamily="34" charset="0"/>
                <a:ea typeface="Consolas" pitchFamily="34" charset="0"/>
                <a:cs typeface="Consolas" pitchFamily="34" charset="0"/>
              </a:rPr>
              <a:t>".txt"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s in stems: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e in exts: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 = os.path.join(folder, s + 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os.path.isfile(p) and os.path.getsize(p) &gt; </a:t>
            </a:r>
            <a:r>
              <a:rPr lang="en-US" sz="830" dirty="0">
                <a:solidFill>
                  <a:srgbClr val="E38B7A"/>
                </a:solidFill>
                <a:latin typeface="Consolas" pitchFamily="34" charset="0"/>
                <a:ea typeface="Consolas" pitchFamily="34" charset="0"/>
                <a:cs typeface="Consolas" pitchFamily="34" charset="0"/>
              </a:rPr>
              <a:t>10_000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p</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None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Parsing LTspice Sweeps into a Dataset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Parser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parse_step_file</a:t>
            </a:r>
            <a:r>
              <a:rPr lang="en-US" sz="830" dirty="0">
                <a:solidFill>
                  <a:srgbClr val="D7E3F4"/>
                </a:solidFill>
                <a:latin typeface="Consolas" pitchFamily="34" charset="0"/>
                <a:ea typeface="Consolas" pitchFamily="34" charset="0"/>
                <a:cs typeface="Consolas" pitchFamily="34" charset="0"/>
              </a:rPr>
              <a:t>(fpath):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runs, cur_t, cur_v, cur_p, prev_t = [], [], [], </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None</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flush</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nonlocal</a:t>
            </a:r>
            <a:r>
              <a:rPr lang="en-US" sz="830" dirty="0">
                <a:solidFill>
                  <a:srgbClr val="D7E3F4"/>
                </a:solidFill>
                <a:latin typeface="Consolas" pitchFamily="34" charset="0"/>
                <a:ea typeface="Consolas" pitchFamily="34" charset="0"/>
                <a:cs typeface="Consolas" pitchFamily="34" charset="0"/>
              </a:rPr>
              <a:t> cur_t, cur_v, cur_p</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(cur_t) &gt; </a:t>
            </a:r>
            <a:r>
              <a:rPr lang="en-US" sz="830" dirty="0">
                <a:solidFill>
                  <a:srgbClr val="E38B7A"/>
                </a:solidFill>
                <a:latin typeface="Consolas" pitchFamily="34" charset="0"/>
                <a:ea typeface="Consolas" pitchFamily="34" charset="0"/>
                <a:cs typeface="Consolas" pitchFamily="34" charset="0"/>
              </a:rPr>
              <a:t>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runs.append((cur_p, np.array(cur_t, dtype=</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np.array(cur_v, dtype=</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cur_t, cur_v = [], []</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open</a:t>
            </a:r>
            <a:r>
              <a:rPr lang="en-US" sz="830" dirty="0">
                <a:solidFill>
                  <a:srgbClr val="D7E3F4"/>
                </a:solidFill>
                <a:latin typeface="Consolas" pitchFamily="34" charset="0"/>
                <a:ea typeface="Consolas" pitchFamily="34" charset="0"/>
                <a:cs typeface="Consolas" pitchFamily="34" charset="0"/>
              </a:rPr>
              <a:t>(fpath, </a:t>
            </a:r>
            <a:r>
              <a:rPr lang="en-US" sz="830" dirty="0">
                <a:solidFill>
                  <a:srgbClr val="FFC94D"/>
                </a:solidFill>
                <a:latin typeface="Consolas" pitchFamily="34" charset="0"/>
                <a:ea typeface="Consolas" pitchFamily="34" charset="0"/>
                <a:cs typeface="Consolas" pitchFamily="34" charset="0"/>
              </a:rPr>
              <a:t>"r"</a:t>
            </a:r>
            <a:r>
              <a:rPr lang="en-US" sz="830" dirty="0">
                <a:solidFill>
                  <a:srgbClr val="D7E3F4"/>
                </a:solidFill>
                <a:latin typeface="Consolas" pitchFamily="34" charset="0"/>
                <a:ea typeface="Consolas" pitchFamily="34" charset="0"/>
                <a:cs typeface="Consolas" pitchFamily="34" charset="0"/>
              </a:rPr>
              <a:t>, errors=</a:t>
            </a:r>
            <a:r>
              <a:rPr lang="en-US" sz="830" dirty="0">
                <a:solidFill>
                  <a:srgbClr val="FFC94D"/>
                </a:solidFill>
                <a:latin typeface="Consolas" pitchFamily="34" charset="0"/>
                <a:ea typeface="Consolas" pitchFamily="34" charset="0"/>
                <a:cs typeface="Consolas" pitchFamily="34" charset="0"/>
              </a:rPr>
              <a:t>"ignore"</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fh: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raw in fh: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line = raw.strip()</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not line: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lo = line.lower()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lo.startswith(</a:t>
            </a:r>
            <a:r>
              <a:rPr lang="en-US" sz="830" dirty="0">
                <a:solidFill>
                  <a:srgbClr val="FFC94D"/>
                </a:solidFill>
                <a:latin typeface="Consolas" pitchFamily="34" charset="0"/>
                <a:ea typeface="Consolas" pitchFamily="34" charset="0"/>
                <a:cs typeface="Consolas" pitchFamily="34" charset="0"/>
              </a:rPr>
              <a:t>"step information"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flush()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try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cur_p =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(line.split(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].split()[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].rstrip(</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except</a:t>
            </a:r>
            <a:r>
              <a:rPr lang="en-US" sz="830" dirty="0">
                <a:solidFill>
                  <a:srgbClr val="D7E3F4"/>
                </a:solidFill>
                <a:latin typeface="Consolas" pitchFamily="34" charset="0"/>
                <a:ea typeface="Consolas" pitchFamily="34" charset="0"/>
                <a:cs typeface="Consolas" pitchFamily="34" charset="0"/>
              </a:rPr>
              <a:t> Exception: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cur_p = np.nan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prev_t = </a:t>
            </a:r>
            <a:r>
              <a:rPr lang="en-US" sz="830" b="1" dirty="0">
                <a:solidFill>
                  <a:srgbClr val="4FC3E8"/>
                </a:solidFill>
                <a:latin typeface="Consolas" pitchFamily="34" charset="0"/>
                <a:ea typeface="Consolas" pitchFamily="34" charset="0"/>
                <a:cs typeface="Consolas" pitchFamily="34" charset="0"/>
              </a:rPr>
              <a:t>None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lo.startswith(</a:t>
            </a:r>
            <a:r>
              <a:rPr lang="en-US" sz="830" dirty="0">
                <a:solidFill>
                  <a:srgbClr val="FFC94D"/>
                </a:solidFill>
                <a:latin typeface="Consolas" pitchFamily="34" charset="0"/>
                <a:ea typeface="Consolas" pitchFamily="34" charset="0"/>
                <a:cs typeface="Consolas" pitchFamily="34" charset="0"/>
              </a:rPr>
              <a:t>"time"</a:t>
            </a:r>
            <a:r>
              <a:rPr lang="en-US" sz="830" dirty="0">
                <a:solidFill>
                  <a:srgbClr val="D7E3F4"/>
                </a:solidFill>
                <a:latin typeface="Consolas" pitchFamily="34" charset="0"/>
                <a:ea typeface="Consolas" pitchFamily="34" charset="0"/>
                <a:cs typeface="Consolas" pitchFamily="34" charset="0"/>
              </a:rPr>
              <a:t>) or lo.startswith(</a:t>
            </a:r>
            <a:r>
              <a:rPr lang="en-US" sz="830" dirty="0">
                <a:solidFill>
                  <a:srgbClr val="FFC94D"/>
                </a:solidFill>
                <a:latin typeface="Consolas" pitchFamily="34" charset="0"/>
                <a:ea typeface="Consolas" pitchFamily="34" charset="0"/>
                <a:cs typeface="Consolas" pitchFamily="34" charset="0"/>
              </a:rPr>
              <a:t>"step"</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parts = line.replace(</a:t>
            </a:r>
            <a:r>
              <a:rPr lang="en-US" sz="830" dirty="0">
                <a:solidFill>
                  <a:srgbClr val="FFC94D"/>
                </a:solidFill>
                <a:latin typeface="Consolas" pitchFamily="34" charset="0"/>
                <a:ea typeface="Consolas" pitchFamily="34" charset="0"/>
                <a:cs typeface="Consolas" pitchFamily="34" charset="0"/>
              </a:rPr>
              <a:t>"\t"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).replace(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).split()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(parts) &lt; </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Parsing LTspice Sweeps into a Dataset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try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 v =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(parts[</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(parts[</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except</a:t>
            </a:r>
            <a:r>
              <a:rPr lang="en-US" sz="830" dirty="0">
                <a:solidFill>
                  <a:srgbClr val="D7E3F4"/>
                </a:solidFill>
                <a:latin typeface="Consolas" pitchFamily="34" charset="0"/>
                <a:ea typeface="Consolas" pitchFamily="34" charset="0"/>
                <a:cs typeface="Consolas" pitchFamily="34" charset="0"/>
              </a:rPr>
              <a:t> ValueError: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prev_t is not </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 and t &lt; prev_t - </a:t>
            </a:r>
            <a:r>
              <a:rPr lang="en-US" sz="830" dirty="0">
                <a:solidFill>
                  <a:srgbClr val="E38B7A"/>
                </a:solidFill>
                <a:latin typeface="Consolas" pitchFamily="34" charset="0"/>
                <a:ea typeface="Consolas" pitchFamily="34" charset="0"/>
                <a:cs typeface="Consolas" pitchFamily="34" charset="0"/>
              </a:rPr>
              <a:t>1e-12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flush()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cur_p = </a:t>
            </a:r>
            <a:r>
              <a:rPr lang="en-US" sz="830" b="1" dirty="0">
                <a:solidFill>
                  <a:srgbClr val="4FC3E8"/>
                </a:solidFill>
                <a:latin typeface="Consolas" pitchFamily="34" charset="0"/>
                <a:ea typeface="Consolas" pitchFamily="34" charset="0"/>
                <a:cs typeface="Consolas" pitchFamily="34" charset="0"/>
              </a:rPr>
              <a:t>None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cur_t.append(t); cur_v.append(v); prev_t = 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flush()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runs</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Resample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resample</a:t>
            </a:r>
            <a:r>
              <a:rPr lang="en-US" sz="830" dirty="0">
                <a:solidFill>
                  <a:srgbClr val="D7E3F4"/>
                </a:solidFill>
                <a:latin typeface="Consolas" pitchFamily="34" charset="0"/>
                <a:ea typeface="Consolas" pitchFamily="34" charset="0"/>
                <a:cs typeface="Consolas" pitchFamily="34" charset="0"/>
              </a:rPr>
              <a:t>(t, v, t_end, n=N_PTS):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grid = np.linspace(</a:t>
            </a:r>
            <a:r>
              <a:rPr lang="en-US" sz="830" dirty="0">
                <a:solidFill>
                  <a:srgbClr val="E38B7A"/>
                </a:solidFill>
                <a:latin typeface="Consolas" pitchFamily="34" charset="0"/>
                <a:ea typeface="Consolas" pitchFamily="34" charset="0"/>
                <a:cs typeface="Consolas" pitchFamily="34" charset="0"/>
              </a:rPr>
              <a:t>0.0</a:t>
            </a:r>
            <a:r>
              <a:rPr lang="en-US" sz="830" dirty="0">
                <a:solidFill>
                  <a:srgbClr val="D7E3F4"/>
                </a:solidFill>
                <a:latin typeface="Consolas" pitchFamily="34" charset="0"/>
                <a:ea typeface="Consolas" pitchFamily="34" charset="0"/>
                <a:cs typeface="Consolas" pitchFamily="34" charset="0"/>
              </a:rPr>
              <a:t>, t_end, 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grid = np.clip(grid, t.min(), t.max())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interp1d(t, v, kind=</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bounds_error=</a:t>
            </a:r>
            <a:r>
              <a:rPr lang="en-US" sz="830" b="1" dirty="0">
                <a:solidFill>
                  <a:srgbClr val="4FC3E8"/>
                </a:solidFill>
                <a:latin typeface="Consolas" pitchFamily="34" charset="0"/>
                <a:ea typeface="Consolas" pitchFamily="34" charset="0"/>
                <a:cs typeface="Consolas" pitchFamily="34" charset="0"/>
              </a:rPr>
              <a:t>False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fill_value=(v[</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v[-</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]))(grid)</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Build dataset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rows, sid = [], </a:t>
            </a:r>
            <a:r>
              <a:rPr lang="en-US" sz="830" dirty="0">
                <a:solidFill>
                  <a:srgbClr val="E38B7A"/>
                </a:solidFill>
                <a:latin typeface="Consolas" pitchFamily="34" charset="0"/>
                <a:ea typeface="Consolas" pitchFamily="34" charset="0"/>
                <a:cs typeface="Consolas" pitchFamily="34" charset="0"/>
              </a:rPr>
              <a:t>0</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circ in CIRCS: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cdir = os.path.join(BASE, circ)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fault in FAULTS: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fpath = find_sweep_file(cdir, circ, fault)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fpath is </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f"[MISSING] {</a:t>
            </a:r>
            <a:r>
              <a:rPr lang="en-US" sz="830" dirty="0">
                <a:solidFill>
                  <a:srgbClr val="D7E3F4"/>
                </a:solidFill>
                <a:latin typeface="Consolas" pitchFamily="34" charset="0"/>
                <a:ea typeface="Consolas" pitchFamily="34" charset="0"/>
                <a:cs typeface="Consolas" pitchFamily="34" charset="0"/>
              </a:rPr>
              <a:t>circ</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fault</a:t>
            </a:r>
            <a:r>
              <a:rPr lang="en-US" sz="830" dirty="0">
                <a:solidFill>
                  <a:srgbClr val="FFC94D"/>
                </a:solidFill>
                <a:latin typeface="Consolas" pitchFamily="34" charset="0"/>
                <a:ea typeface="Consolas" pitchFamily="34" charset="0"/>
                <a:cs typeface="Consolas" pitchFamily="34" charset="0"/>
              </a:rPr>
              <a:t>} — no file found in {</a:t>
            </a:r>
            <a:r>
              <a:rPr lang="en-US" sz="830" dirty="0">
                <a:solidFill>
                  <a:srgbClr val="D7E3F4"/>
                </a:solidFill>
                <a:latin typeface="Consolas" pitchFamily="34" charset="0"/>
                <a:ea typeface="Consolas" pitchFamily="34" charset="0"/>
                <a:cs typeface="Consolas" pitchFamily="34" charset="0"/>
              </a:rPr>
              <a:t>cdir</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Parsing LTspice Sweeps into a Dataset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f"[reading] {</a:t>
            </a:r>
            <a:r>
              <a:rPr lang="en-US" sz="830" dirty="0">
                <a:solidFill>
                  <a:srgbClr val="D7E3F4"/>
                </a:solidFill>
                <a:latin typeface="Consolas" pitchFamily="34" charset="0"/>
                <a:ea typeface="Consolas" pitchFamily="34" charset="0"/>
                <a:cs typeface="Consolas" pitchFamily="34" charset="0"/>
              </a:rPr>
              <a:t>circ</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fault</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os.path.basename(fpath)</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  ({</a:t>
            </a:r>
            <a:r>
              <a:rPr lang="en-US" sz="830" dirty="0">
                <a:solidFill>
                  <a:srgbClr val="D7E3F4"/>
                </a:solidFill>
                <a:latin typeface="Consolas" pitchFamily="34" charset="0"/>
                <a:ea typeface="Consolas" pitchFamily="34" charset="0"/>
                <a:cs typeface="Consolas" pitchFamily="34" charset="0"/>
              </a:rPr>
              <a:t>os.path.getsize(fpath)//</a:t>
            </a:r>
            <a:r>
              <a:rPr lang="en-US" sz="830" dirty="0">
                <a:solidFill>
                  <a:srgbClr val="E38B7A"/>
                </a:solidFill>
                <a:latin typeface="Consolas" pitchFamily="34" charset="0"/>
                <a:ea typeface="Consolas" pitchFamily="34" charset="0"/>
                <a:cs typeface="Consolas" pitchFamily="34" charset="0"/>
              </a:rPr>
              <a:t>1024</a:t>
            </a:r>
            <a:r>
              <a:rPr lang="en-US" sz="830" dirty="0">
                <a:solidFill>
                  <a:srgbClr val="FFC94D"/>
                </a:solidFill>
                <a:latin typeface="Consolas" pitchFamily="34" charset="0"/>
                <a:ea typeface="Consolas" pitchFamily="34" charset="0"/>
                <a:cs typeface="Consolas" pitchFamily="34" charset="0"/>
              </a:rPr>
              <a:t>} KB)"</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runs = parse_step_file(fpath)</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-&gt;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(runs)</a:t>
            </a:r>
            <a:r>
              <a:rPr lang="en-US" sz="830" dirty="0">
                <a:solidFill>
                  <a:srgbClr val="FFC94D"/>
                </a:solidFill>
                <a:latin typeface="Consolas" pitchFamily="34" charset="0"/>
                <a:ea typeface="Consolas" pitchFamily="34" charset="0"/>
                <a:cs typeface="Consolas" pitchFamily="34" charset="0"/>
              </a:rPr>
              <a:t>} runs parsed"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pval, t, v in runs: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wave = resample(t, v, T_END[circ])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row = {</a:t>
            </a:r>
            <a:r>
              <a:rPr lang="en-US" sz="830" dirty="0">
                <a:solidFill>
                  <a:srgbClr val="FFC94D"/>
                </a:solidFill>
                <a:latin typeface="Consolas" pitchFamily="34" charset="0"/>
                <a:ea typeface="Consolas" pitchFamily="34" charset="0"/>
                <a:cs typeface="Consolas" pitchFamily="34" charset="0"/>
              </a:rPr>
              <a:t>"sample_id"</a:t>
            </a:r>
            <a:r>
              <a:rPr lang="en-US" sz="830" dirty="0">
                <a:solidFill>
                  <a:srgbClr val="D7E3F4"/>
                </a:solidFill>
                <a:latin typeface="Consolas" pitchFamily="34" charset="0"/>
                <a:ea typeface="Consolas" pitchFamily="34" charset="0"/>
                <a:cs typeface="Consolas" pitchFamily="34" charset="0"/>
              </a:rPr>
              <a:t>: sid, </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circ,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 fault, </a:t>
            </a:r>
            <a:r>
              <a:rPr lang="en-US" sz="830" dirty="0">
                <a:solidFill>
                  <a:srgbClr val="FFC94D"/>
                </a:solidFill>
                <a:latin typeface="Consolas" pitchFamily="34" charset="0"/>
                <a:ea typeface="Consolas" pitchFamily="34" charset="0"/>
                <a:cs typeface="Consolas" pitchFamily="34" charset="0"/>
              </a:rPr>
              <a:t>"param_value"</a:t>
            </a:r>
            <a:r>
              <a:rPr lang="en-US" sz="830" dirty="0">
                <a:solidFill>
                  <a:srgbClr val="D7E3F4"/>
                </a:solidFill>
                <a:latin typeface="Consolas" pitchFamily="34" charset="0"/>
                <a:ea typeface="Consolas" pitchFamily="34" charset="0"/>
                <a:cs typeface="Consolas" pitchFamily="34" charset="0"/>
              </a:rPr>
              <a:t>: pval}</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row.update({</a:t>
            </a:r>
            <a:r>
              <a:rPr lang="en-US" sz="830" dirty="0">
                <a:solidFill>
                  <a:srgbClr val="FFC94D"/>
                </a:solidFill>
                <a:latin typeface="Consolas" pitchFamily="34" charset="0"/>
                <a:ea typeface="Consolas" pitchFamily="34" charset="0"/>
                <a:cs typeface="Consolas" pitchFamily="34" charset="0"/>
              </a:rPr>
              <a:t>f"v{</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wave[i]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rows.append(row); sid += </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pd.DataFrame(rows)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 = os.path.join(os.path.dirname(BASE), </a:t>
            </a:r>
            <a:r>
              <a:rPr lang="en-US" sz="830" dirty="0">
                <a:solidFill>
                  <a:srgbClr val="FFC94D"/>
                </a:solidFill>
                <a:latin typeface="Consolas" pitchFamily="34" charset="0"/>
                <a:ea typeface="Consolas" pitchFamily="34" charset="0"/>
                <a:cs typeface="Consolas" pitchFamily="34" charset="0"/>
              </a:rPr>
              <a:t>"master_dataset_sweep.csv"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df.to_csv(out, index=</a:t>
            </a:r>
            <a:r>
              <a:rPr lang="en-US" sz="830" b="1" dirty="0">
                <a:solidFill>
                  <a:srgbClr val="4FC3E8"/>
                </a:solidFill>
                <a:latin typeface="Consolas" pitchFamily="34" charset="0"/>
                <a:ea typeface="Consolas" pitchFamily="34" charset="0"/>
                <a:cs typeface="Consolas" pitchFamily="34" charset="0"/>
              </a:rPr>
              <a:t>False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50</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f"Saved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 samples  -&gt;  {</a:t>
            </a:r>
            <a:r>
              <a:rPr lang="en-US" sz="830" dirty="0">
                <a:solidFill>
                  <a:srgbClr val="D7E3F4"/>
                </a:solidFill>
                <a:latin typeface="Consolas" pitchFamily="34" charset="0"/>
                <a:ea typeface="Consolas" pitchFamily="34" charset="0"/>
                <a:cs typeface="Consolas" pitchFamily="34" charset="0"/>
              </a:rPr>
              <a:t>out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f"Columns: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(df.columns)</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f"\nSamples per class:"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(df.groupby([</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Noise-Fault Samples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day12b_generate_noise_samples.py  </a:t>
            </a:r>
            <a:r>
              <a:rPr lang="en-US" sz="1100" dirty="0">
                <a:solidFill>
                  <a:srgbClr val="64748B"/>
                </a:solidFill>
                <a:latin typeface="Calibri" pitchFamily="34" charset="0"/>
                <a:ea typeface="Calibri" pitchFamily="34" charset="-122"/>
                <a:cs typeface="Calibri" pitchFamily="34" charset="-120"/>
              </a:rPr>
              <a:t>— Adds seeded Gaussian noise (SNR = 25 dB) onto NORMAL waveforms to create the fifth fault class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day12b_generate_noise_samples.py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Generates noise-fault samples per circuit by injecting</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Gaussian noise onto the NORMAL sweep waveforms.</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Noise is physically justified: real circuit noise is stochastic,</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not a deterministic component shift.</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Config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CSV_IN   = os.path.join(BASE, </a:t>
            </a:r>
            <a:r>
              <a:rPr lang="en-US" sz="830" dirty="0">
                <a:solidFill>
                  <a:srgbClr val="FFC94D"/>
                </a:solidFill>
                <a:latin typeface="Consolas" pitchFamily="34" charset="0"/>
                <a:ea typeface="Consolas" pitchFamily="34" charset="0"/>
                <a:cs typeface="Consolas" pitchFamily="34" charset="0"/>
              </a:rPr>
              <a:t>"master_dataset_sweep.csv"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SNR_DB   = </a:t>
            </a:r>
            <a:r>
              <a:rPr lang="en-US" sz="830" dirty="0">
                <a:solidFill>
                  <a:srgbClr val="E38B7A"/>
                </a:solidFill>
                <a:latin typeface="Consolas" pitchFamily="34" charset="0"/>
                <a:ea typeface="Consolas" pitchFamily="34" charset="0"/>
                <a:cs typeface="Consolas" pitchFamily="34" charset="0"/>
              </a:rPr>
              <a:t>25</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SEED     = </a:t>
            </a:r>
            <a:r>
              <a:rPr lang="en-US" sz="830" dirty="0">
                <a:solidFill>
                  <a:srgbClr val="E38B7A"/>
                </a:solidFill>
                <a:latin typeface="Consolas" pitchFamily="34" charset="0"/>
                <a:ea typeface="Consolas" pitchFamily="34" charset="0"/>
                <a:cs typeface="Consolas" pitchFamily="34" charset="0"/>
              </a:rPr>
              <a:t>42</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CIRCUITS =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N_PTS    = </a:t>
            </a:r>
            <a:r>
              <a:rPr lang="en-US" sz="830" dirty="0">
                <a:solidFill>
                  <a:srgbClr val="E38B7A"/>
                </a:solidFill>
                <a:latin typeface="Consolas" pitchFamily="34" charset="0"/>
                <a:ea typeface="Consolas" pitchFamily="34" charset="0"/>
                <a:cs typeface="Consolas" pitchFamily="34" charset="0"/>
              </a:rPr>
              <a:t>200</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rng = np.random.default_rng(SEED)</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Load existing dataset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pd.read_csv(CSV_IN)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wave_cols = [</a:t>
            </a:r>
            <a:r>
              <a:rPr lang="en-US" sz="830" dirty="0">
                <a:solidFill>
                  <a:srgbClr val="FFC94D"/>
                </a:solidFill>
                <a:latin typeface="Consolas" pitchFamily="34" charset="0"/>
                <a:ea typeface="Consolas" pitchFamily="34" charset="0"/>
                <a:cs typeface="Consolas" pitchFamily="34" charset="0"/>
              </a:rPr>
              <a:t>f"v{</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next_id   = df[</a:t>
            </a:r>
            <a:r>
              <a:rPr lang="en-US" sz="830" dirty="0">
                <a:solidFill>
                  <a:srgbClr val="FFC94D"/>
                </a:solidFill>
                <a:latin typeface="Consolas" pitchFamily="34" charset="0"/>
                <a:ea typeface="Consolas" pitchFamily="34" charset="0"/>
                <a:cs typeface="Consolas" pitchFamily="34" charset="0"/>
              </a:rPr>
              <a:t>"sample_id"</a:t>
            </a:r>
            <a:r>
              <a:rPr lang="en-US" sz="830" dirty="0">
                <a:solidFill>
                  <a:srgbClr val="D7E3F4"/>
                </a:solidFill>
                <a:latin typeface="Consolas" pitchFamily="34" charset="0"/>
                <a:ea typeface="Consolas" pitchFamily="34" charset="0"/>
                <a:cs typeface="Consolas" pitchFamily="34" charset="0"/>
              </a:rPr>
              <a:t>].max() + </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noise_rows = []</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circ in CIRCUITS: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normals      = df[(df[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circ) &amp;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"normal"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n_noise      =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(normals)          </a:t>
            </a:r>
            <a:r>
              <a:rPr lang="en-US" sz="830" i="1" dirty="0">
                <a:solidFill>
                  <a:srgbClr val="6B7A99"/>
                </a:solidFill>
                <a:latin typeface="Consolas" pitchFamily="34" charset="0"/>
                <a:ea typeface="Consolas" pitchFamily="34" charset="0"/>
                <a:cs typeface="Consolas" pitchFamily="34" charset="0"/>
              </a:rPr>
              <a:t># match exactly — 51 per circuit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Noise-Fault Samples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day12b_generate_noise_samples.py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normal_waves = normals[wave_cols].values</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(n_noise):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base        = normal_waves[i %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(normal_waves)]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sig_power   = np.mean(base ** </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noise_power = sig_power /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 (SNR_DB /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noise_std   = np.sqrt(noise_power)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noisy       = base + rng.normal(</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noise_std, size=N_PTS)</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row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"sample_id"</a:t>
            </a:r>
            <a:r>
              <a:rPr lang="en-US" sz="830" dirty="0">
                <a:solidFill>
                  <a:srgbClr val="D7E3F4"/>
                </a:solidFill>
                <a:latin typeface="Consolas" pitchFamily="34" charset="0"/>
                <a:ea typeface="Consolas" pitchFamily="34" charset="0"/>
                <a:cs typeface="Consolas" pitchFamily="34" charset="0"/>
              </a:rPr>
              <a:t>:   next_id,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circ,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"noise"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"param_value"</a:t>
            </a:r>
            <a:r>
              <a:rPr lang="en-US" sz="830" dirty="0">
                <a:solidFill>
                  <a:srgbClr val="D7E3F4"/>
                </a:solidFill>
                <a:latin typeface="Consolas" pitchFamily="34" charset="0"/>
                <a:ea typeface="Consolas" pitchFamily="34" charset="0"/>
                <a:cs typeface="Consolas" pitchFamily="34" charset="0"/>
              </a:rPr>
              <a:t>: SNR_DB</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row.update({</a:t>
            </a:r>
            <a:r>
              <a:rPr lang="en-US" sz="830" dirty="0">
                <a:solidFill>
                  <a:srgbClr val="FFC94D"/>
                </a:solidFill>
                <a:latin typeface="Consolas" pitchFamily="34" charset="0"/>
                <a:ea typeface="Consolas" pitchFamily="34" charset="0"/>
                <a:cs typeface="Consolas" pitchFamily="34" charset="0"/>
              </a:rPr>
              <a:t>f"v{</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noisy[i]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noise_rows.append(row)</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next_id += </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circ</a:t>
            </a:r>
            <a:r>
              <a:rPr lang="en-US" sz="830" dirty="0">
                <a:solidFill>
                  <a:srgbClr val="FFC94D"/>
                </a:solidFill>
                <a:latin typeface="Consolas" pitchFamily="34" charset="0"/>
                <a:ea typeface="Consolas" pitchFamily="34" charset="0"/>
                <a:cs typeface="Consolas" pitchFamily="34" charset="0"/>
              </a:rPr>
              <a:t>}/noise: {</a:t>
            </a:r>
            <a:r>
              <a:rPr lang="en-US" sz="830" dirty="0">
                <a:solidFill>
                  <a:srgbClr val="D7E3F4"/>
                </a:solidFill>
                <a:latin typeface="Consolas" pitchFamily="34" charset="0"/>
                <a:ea typeface="Consolas" pitchFamily="34" charset="0"/>
                <a:cs typeface="Consolas" pitchFamily="34" charset="0"/>
              </a:rPr>
              <a:t>n_noise</a:t>
            </a:r>
            <a:r>
              <a:rPr lang="en-US" sz="830" dirty="0">
                <a:solidFill>
                  <a:srgbClr val="FFC94D"/>
                </a:solidFill>
                <a:latin typeface="Consolas" pitchFamily="34" charset="0"/>
                <a:ea typeface="Consolas" pitchFamily="34" charset="0"/>
                <a:cs typeface="Consolas" pitchFamily="34" charset="0"/>
              </a:rPr>
              <a:t>} samples generated at {</a:t>
            </a:r>
            <a:r>
              <a:rPr lang="en-US" sz="830" dirty="0">
                <a:solidFill>
                  <a:srgbClr val="D7E3F4"/>
                </a:solidFill>
                <a:latin typeface="Consolas" pitchFamily="34" charset="0"/>
                <a:ea typeface="Consolas" pitchFamily="34" charset="0"/>
                <a:cs typeface="Consolas" pitchFamily="34" charset="0"/>
              </a:rPr>
              <a:t>SNR_DB</a:t>
            </a:r>
            <a:r>
              <a:rPr lang="en-US" sz="830" dirty="0">
                <a:solidFill>
                  <a:srgbClr val="FFC94D"/>
                </a:solidFill>
                <a:latin typeface="Consolas" pitchFamily="34" charset="0"/>
                <a:ea typeface="Consolas" pitchFamily="34" charset="0"/>
                <a:cs typeface="Consolas" pitchFamily="34" charset="0"/>
              </a:rPr>
              <a:t>} dB SNR"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Append and save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df_noise  = pd.DataFrame(noise_rows)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df_final  = pd.concat([df, df_noise], ignore_index=</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 = os.path.join(BASE, </a:t>
            </a:r>
            <a:r>
              <a:rPr lang="en-US" sz="830" dirty="0">
                <a:solidFill>
                  <a:srgbClr val="FFC94D"/>
                </a:solidFill>
                <a:latin typeface="Consolas" pitchFamily="34" charset="0"/>
                <a:ea typeface="Consolas" pitchFamily="34" charset="0"/>
                <a:cs typeface="Consolas" pitchFamily="34" charset="0"/>
              </a:rPr>
              <a:t>"master_dataset_sweep.csv"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df_final.to_csv(out, index=</a:t>
            </a:r>
            <a:r>
              <a:rPr lang="en-US" sz="830" b="1" dirty="0">
                <a:solidFill>
                  <a:srgbClr val="4FC3E8"/>
                </a:solidFill>
                <a:latin typeface="Consolas" pitchFamily="34" charset="0"/>
                <a:ea typeface="Consolas" pitchFamily="34" charset="0"/>
                <a:cs typeface="Consolas" pitchFamily="34" charset="0"/>
              </a:rPr>
              <a:t>False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f"\nFinal dataset: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(df_final)</a:t>
            </a:r>
            <a:r>
              <a:rPr lang="en-US" sz="830" dirty="0">
                <a:solidFill>
                  <a:srgbClr val="FFC94D"/>
                </a:solidFill>
                <a:latin typeface="Consolas" pitchFamily="34" charset="0"/>
                <a:ea typeface="Consolas" pitchFamily="34" charset="0"/>
                <a:cs typeface="Consolas" pitchFamily="34" charset="0"/>
              </a:rPr>
              <a:t>} samples"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(df_final.groupby([</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Extracting 17 Features per Waveform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day13_v2.py  </a:t>
            </a:r>
            <a:r>
              <a:rPr lang="en-US" sz="1100" dirty="0">
                <a:solidFill>
                  <a:srgbClr val="64748B"/>
                </a:solidFill>
                <a:latin typeface="Calibri" pitchFamily="34" charset="0"/>
                <a:ea typeface="Calibri" pitchFamily="34" charset="-122"/>
                <a:cs typeface="Calibri" pitchFamily="34" charset="-120"/>
              </a:rPr>
              <a:t>— Turns each 200-point waveform into the 17 time-, frequency-domain and structural features -&gt; features_v2.csv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day13_feature_extraction_v2.py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Extracts 17 features (16 original + f17_dc_level) from every waveform.</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f17_dc_level = mean of last 20 points — directly separates RC_open (near 0V)</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from RC_short (near 5V), fixing the F1=0 failure identified in Day 16.</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scipy.stats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skew, kurtosis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scipy.fft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rfft, rfftfreq</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CSV_IN  = os.path.join(BASE, </a:t>
            </a:r>
            <a:r>
              <a:rPr lang="en-US" sz="830" dirty="0">
                <a:solidFill>
                  <a:srgbClr val="FFC94D"/>
                </a:solidFill>
                <a:latin typeface="Consolas" pitchFamily="34" charset="0"/>
                <a:ea typeface="Consolas" pitchFamily="34" charset="0"/>
                <a:cs typeface="Consolas" pitchFamily="34" charset="0"/>
              </a:rPr>
              <a:t>"master_dataset_sweep.csv"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CSV_OUT = os.path.join(BASE, </a:t>
            </a:r>
            <a:r>
              <a:rPr lang="en-US" sz="830" dirty="0">
                <a:solidFill>
                  <a:srgbClr val="FFC94D"/>
                </a:solidFill>
                <a:latin typeface="Consolas" pitchFamily="34" charset="0"/>
                <a:ea typeface="Consolas" pitchFamily="34" charset="0"/>
                <a:cs typeface="Consolas" pitchFamily="34" charset="0"/>
              </a:rPr>
              <a:t>"features_v2.csv"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N_PTS   = </a:t>
            </a:r>
            <a:r>
              <a:rPr lang="en-US" sz="830" dirty="0">
                <a:solidFill>
                  <a:srgbClr val="E38B7A"/>
                </a:solidFill>
                <a:latin typeface="Consolas" pitchFamily="34" charset="0"/>
                <a:ea typeface="Consolas" pitchFamily="34" charset="0"/>
                <a:cs typeface="Consolas" pitchFamily="34" charset="0"/>
              </a:rPr>
              <a:t>200</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T_END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0.095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0.095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0.095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0.020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f1_peak_voltage</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(np.max(v))</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f2_rms_value</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(np.sqrt(np.mean(v**</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f3_mean_voltage</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(np.mean(v))</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f4_std_voltage</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(np.std(v))</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f5_rise_time</a:t>
            </a:r>
            <a:r>
              <a:rPr lang="en-US" sz="830" dirty="0">
                <a:solidFill>
                  <a:srgbClr val="D7E3F4"/>
                </a:solidFill>
                <a:latin typeface="Consolas" pitchFamily="34" charset="0"/>
                <a:ea typeface="Consolas" pitchFamily="34" charset="0"/>
                <a:cs typeface="Consolas" pitchFamily="34" charset="0"/>
              </a:rPr>
              <a:t>(t, 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peak = np.max(v)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Extracting 17 Features per Waveform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peak &lt; </a:t>
            </a:r>
            <a:r>
              <a:rPr lang="en-US" sz="830" dirty="0">
                <a:solidFill>
                  <a:srgbClr val="E38B7A"/>
                </a:solidFill>
                <a:latin typeface="Consolas" pitchFamily="34" charset="0"/>
                <a:ea typeface="Consolas" pitchFamily="34" charset="0"/>
                <a:cs typeface="Consolas" pitchFamily="34" charset="0"/>
              </a:rPr>
              <a:t>1e-6</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idx_lo = np.argmax(v &gt;=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*peak)</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idx_hi = np.argmax(v &gt;= </a:t>
            </a:r>
            <a:r>
              <a:rPr lang="en-US" sz="830" dirty="0">
                <a:solidFill>
                  <a:srgbClr val="E38B7A"/>
                </a:solidFill>
                <a:latin typeface="Consolas" pitchFamily="34" charset="0"/>
                <a:ea typeface="Consolas" pitchFamily="34" charset="0"/>
                <a:cs typeface="Consolas" pitchFamily="34" charset="0"/>
              </a:rPr>
              <a:t>0.9</a:t>
            </a:r>
            <a:r>
              <a:rPr lang="en-US" sz="830" dirty="0">
                <a:solidFill>
                  <a:srgbClr val="D7E3F4"/>
                </a:solidFill>
                <a:latin typeface="Consolas" pitchFamily="34" charset="0"/>
                <a:ea typeface="Consolas" pitchFamily="34" charset="0"/>
                <a:cs typeface="Consolas" pitchFamily="34" charset="0"/>
              </a:rPr>
              <a:t>*peak)</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idx_hi &lt;= idx_lo: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(t[idx_hi]-t[idx_lo])</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f6_settling_time</a:t>
            </a:r>
            <a:r>
              <a:rPr lang="en-US" sz="830" dirty="0">
                <a:solidFill>
                  <a:srgbClr val="D7E3F4"/>
                </a:solidFill>
                <a:latin typeface="Consolas" pitchFamily="34" charset="0"/>
                <a:ea typeface="Consolas" pitchFamily="34" charset="0"/>
                <a:cs typeface="Consolas" pitchFamily="34" charset="0"/>
              </a:rPr>
              <a:t>(t, 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final = v[-</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abs</a:t>
            </a:r>
            <a:r>
              <a:rPr lang="en-US" sz="830" dirty="0">
                <a:solidFill>
                  <a:srgbClr val="D7E3F4"/>
                </a:solidFill>
                <a:latin typeface="Consolas" pitchFamily="34" charset="0"/>
                <a:ea typeface="Consolas" pitchFamily="34" charset="0"/>
                <a:cs typeface="Consolas" pitchFamily="34" charset="0"/>
              </a:rPr>
              <a:t>(final) &lt; </a:t>
            </a:r>
            <a:r>
              <a:rPr lang="en-US" sz="830" dirty="0">
                <a:solidFill>
                  <a:srgbClr val="E38B7A"/>
                </a:solidFill>
                <a:latin typeface="Consolas" pitchFamily="34" charset="0"/>
                <a:ea typeface="Consolas" pitchFamily="34" charset="0"/>
                <a:cs typeface="Consolas" pitchFamily="34" charset="0"/>
              </a:rPr>
              <a:t>1e-6</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outside = np.where(np.abs(v-final) &gt; </a:t>
            </a:r>
            <a:r>
              <a:rPr lang="en-US" sz="830" dirty="0">
                <a:solidFill>
                  <a:srgbClr val="E38B7A"/>
                </a:solidFill>
                <a:latin typeface="Consolas" pitchFamily="34" charset="0"/>
                <a:ea typeface="Consolas" pitchFamily="34" charset="0"/>
                <a:cs typeface="Consolas" pitchFamily="34" charset="0"/>
              </a:rPr>
              <a:t>0.02</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abs</a:t>
            </a:r>
            <a:r>
              <a:rPr lang="en-US" sz="830" dirty="0">
                <a:solidFill>
                  <a:srgbClr val="D7E3F4"/>
                </a:solidFill>
                <a:latin typeface="Consolas" pitchFamily="34" charset="0"/>
                <a:ea typeface="Consolas" pitchFamily="34" charset="0"/>
                <a:cs typeface="Consolas" pitchFamily="34" charset="0"/>
              </a:rPr>
              <a:t>(final))[</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(outside)==</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(t[outside[-</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f7_skewness</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(skew(v))</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f8_kurtosis</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(kurtosis(v))</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f9_dominant_freq</a:t>
            </a:r>
            <a:r>
              <a:rPr lang="en-US" sz="830" dirty="0">
                <a:solidFill>
                  <a:srgbClr val="D7E3F4"/>
                </a:solidFill>
                <a:latin typeface="Consolas" pitchFamily="34" charset="0"/>
                <a:ea typeface="Consolas" pitchFamily="34" charset="0"/>
                <a:cs typeface="Consolas" pitchFamily="34" charset="0"/>
              </a:rPr>
              <a:t>(v, t_end, 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dt=t_end/(n-</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freq=rfftfreq(n,d=dt); mag=np.abs(rfft(v))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mask=(freq&gt;=</a:t>
            </a:r>
            <a:r>
              <a:rPr lang="en-US" sz="830" dirty="0">
                <a:solidFill>
                  <a:srgbClr val="E38B7A"/>
                </a:solidFill>
                <a:latin typeface="Consolas" pitchFamily="34" charset="0"/>
                <a:ea typeface="Consolas" pitchFamily="34" charset="0"/>
                <a:cs typeface="Consolas" pitchFamily="34" charset="0"/>
              </a:rPr>
              <a:t>50</a:t>
            </a:r>
            <a:r>
              <a:rPr lang="en-US" sz="830" dirty="0">
                <a:solidFill>
                  <a:srgbClr val="D7E3F4"/>
                </a:solidFill>
                <a:latin typeface="Consolas" pitchFamily="34" charset="0"/>
                <a:ea typeface="Consolas" pitchFamily="34" charset="0"/>
                <a:cs typeface="Consolas" pitchFamily="34" charset="0"/>
              </a:rPr>
              <a:t>)&amp;(freq&lt;=</a:t>
            </a:r>
            <a:r>
              <a:rPr lang="en-US" sz="830" dirty="0">
                <a:solidFill>
                  <a:srgbClr val="E38B7A"/>
                </a:solidFill>
                <a:latin typeface="Consolas" pitchFamily="34" charset="0"/>
                <a:ea typeface="Consolas" pitchFamily="34" charset="0"/>
                <a:cs typeface="Consolas" pitchFamily="34" charset="0"/>
              </a:rPr>
              <a:t>2000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not np.any(mask):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(freq[np.argmax(mag)])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(freq[mask][np.argmax(mag[mask])])</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f10_spectral_energy</a:t>
            </a:r>
            <a:r>
              <a:rPr lang="en-US" sz="830" dirty="0">
                <a:solidFill>
                  <a:srgbClr val="D7E3F4"/>
                </a:solidFill>
                <a:latin typeface="Consolas" pitchFamily="34" charset="0"/>
                <a:ea typeface="Consolas" pitchFamily="34" charset="0"/>
                <a:cs typeface="Consolas" pitchFamily="34" charset="0"/>
              </a:rPr>
              <a:t>(v, t_end, 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mag=np.abs(rfft(v));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(np.sum(mag**</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f11_spectral_centroid</a:t>
            </a:r>
            <a:r>
              <a:rPr lang="en-US" sz="830" dirty="0">
                <a:solidFill>
                  <a:srgbClr val="D7E3F4"/>
                </a:solidFill>
                <a:latin typeface="Consolas" pitchFamily="34" charset="0"/>
                <a:ea typeface="Consolas" pitchFamily="34" charset="0"/>
                <a:cs typeface="Consolas" pitchFamily="34" charset="0"/>
              </a:rPr>
              <a:t>(v, t_end, 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dt=t_end/(n-</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freq=rfftfreq(n,d=dt); mag=np.abs(rfft(v))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denom=np.sum(mag)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denom&lt;</a:t>
            </a:r>
            <a:r>
              <a:rPr lang="en-US" sz="830" dirty="0">
                <a:solidFill>
                  <a:srgbClr val="E38B7A"/>
                </a:solidFill>
                <a:latin typeface="Consolas" pitchFamily="34" charset="0"/>
                <a:ea typeface="Consolas" pitchFamily="34" charset="0"/>
                <a:cs typeface="Consolas" pitchFamily="34" charset="0"/>
              </a:rPr>
              <a:t>1e-12</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(np.sum(freq*mag)/denom)</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Extracting 17 Features per Waveform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f12_bandwidth</a:t>
            </a:r>
            <a:r>
              <a:rPr lang="en-US" sz="830" dirty="0">
                <a:solidFill>
                  <a:srgbClr val="D7E3F4"/>
                </a:solidFill>
                <a:latin typeface="Consolas" pitchFamily="34" charset="0"/>
                <a:ea typeface="Consolas" pitchFamily="34" charset="0"/>
                <a:cs typeface="Consolas" pitchFamily="34" charset="0"/>
              </a:rPr>
              <a:t>(v, t_end, 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dt=t_end/(n-</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freq=rfftfreq(n,d=dt); mag=np.abs(rfft(v))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denom=np.sum(mag)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denom&lt;</a:t>
            </a:r>
            <a:r>
              <a:rPr lang="en-US" sz="830" dirty="0">
                <a:solidFill>
                  <a:srgbClr val="E38B7A"/>
                </a:solidFill>
                <a:latin typeface="Consolas" pitchFamily="34" charset="0"/>
                <a:ea typeface="Consolas" pitchFamily="34" charset="0"/>
                <a:cs typeface="Consolas" pitchFamily="34" charset="0"/>
              </a:rPr>
              <a:t>1e-12</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c=np.sum(freq*mag)/denom</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(np.sqrt(np.sum(((freq-c)**</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)*mag)/denom))</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f13_spectral_entropy</a:t>
            </a:r>
            <a:r>
              <a:rPr lang="en-US" sz="830" dirty="0">
                <a:solidFill>
                  <a:srgbClr val="D7E3F4"/>
                </a:solidFill>
                <a:latin typeface="Consolas" pitchFamily="34" charset="0"/>
                <a:ea typeface="Consolas" pitchFamily="34" charset="0"/>
                <a:cs typeface="Consolas" pitchFamily="34" charset="0"/>
              </a:rPr>
              <a:t>(v, t_end, 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mag=np.abs(rfft(v))**</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 total=np.sum(mag)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total&lt;</a:t>
            </a:r>
            <a:r>
              <a:rPr lang="en-US" sz="830" dirty="0">
                <a:solidFill>
                  <a:srgbClr val="E38B7A"/>
                </a:solidFill>
                <a:latin typeface="Consolas" pitchFamily="34" charset="0"/>
                <a:ea typeface="Consolas" pitchFamily="34" charset="0"/>
                <a:cs typeface="Consolas" pitchFamily="34" charset="0"/>
              </a:rPr>
              <a:t>1e-12</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p=mag/total; p=p[p&gt;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(-np.sum(p*np.log2(p)))</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f14_energy</a:t>
            </a:r>
            <a:r>
              <a:rPr lang="en-US" sz="830" dirty="0">
                <a:solidFill>
                  <a:srgbClr val="D7E3F4"/>
                </a:solidFill>
                <a:latin typeface="Consolas" pitchFamily="34" charset="0"/>
                <a:ea typeface="Consolas" pitchFamily="34" charset="0"/>
                <a:cs typeface="Consolas" pitchFamily="34" charset="0"/>
              </a:rPr>
              <a:t>(v):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(np.sum(v**</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f15_zero_crossing_rate</a:t>
            </a:r>
            <a:r>
              <a:rPr lang="en-US" sz="830" dirty="0">
                <a:solidFill>
                  <a:srgbClr val="D7E3F4"/>
                </a:solidFill>
                <a:latin typeface="Consolas" pitchFamily="34" charset="0"/>
                <a:ea typeface="Consolas" pitchFamily="34" charset="0"/>
                <a:cs typeface="Consolas" pitchFamily="34" charset="0"/>
              </a:rPr>
              <a: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(np.sum(np.diff(np.sign(v-np.mean(v)))!=</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(v))</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f16_crest_factor</a:t>
            </a:r>
            <a:r>
              <a:rPr lang="en-US" sz="830" dirty="0">
                <a:solidFill>
                  <a:srgbClr val="D7E3F4"/>
                </a:solidFill>
                <a:latin typeface="Consolas" pitchFamily="34" charset="0"/>
                <a:ea typeface="Consolas" pitchFamily="34" charset="0"/>
                <a:cs typeface="Consolas" pitchFamily="34" charset="0"/>
              </a:rPr>
              <a: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rms=np.sqrt(np.mean(v**</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rms&lt;</a:t>
            </a:r>
            <a:r>
              <a:rPr lang="en-US" sz="830" dirty="0">
                <a:solidFill>
                  <a:srgbClr val="E38B7A"/>
                </a:solidFill>
                <a:latin typeface="Consolas" pitchFamily="34" charset="0"/>
                <a:ea typeface="Consolas" pitchFamily="34" charset="0"/>
                <a:cs typeface="Consolas" pitchFamily="34" charset="0"/>
              </a:rPr>
              <a:t>1e-12</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(np.max(np.abs(v))/rms)</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f17_dc_level</a:t>
            </a:r>
            <a:r>
              <a:rPr lang="en-US" sz="830" dirty="0">
                <a:solidFill>
                  <a:srgbClr val="D7E3F4"/>
                </a:solidFill>
                <a:latin typeface="Consolas" pitchFamily="34" charset="0"/>
                <a:ea typeface="Consolas" pitchFamily="34" charset="0"/>
                <a:cs typeface="Consolas" pitchFamily="34" charset="0"/>
              </a:rPr>
              <a: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Mean of last 20 points = steady-state DC level.</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RC_open: near 0V (capacitor never charges in 95ms window)</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RC_short: near 5V (capacitor charges instantly)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This directly separates the two previously confused classes.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(np.mean(v[-</a:t>
            </a:r>
            <a:r>
              <a:rPr lang="en-US" sz="830" dirty="0">
                <a:solidFill>
                  <a:srgbClr val="E38B7A"/>
                </a:solidFill>
                <a:latin typeface="Consolas" pitchFamily="34" charset="0"/>
                <a:ea typeface="Consolas" pitchFamily="34" charset="0"/>
                <a:cs typeface="Consolas" pitchFamily="34" charset="0"/>
              </a:rPr>
              <a:t>20</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Extracting 17 Features per Waveform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df_raw    = pd.read_csv(CSV_IN)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wave_cols = [</a:t>
            </a:r>
            <a:r>
              <a:rPr lang="en-US" sz="830" dirty="0">
                <a:solidFill>
                  <a:srgbClr val="FFC94D"/>
                </a:solidFill>
                <a:latin typeface="Consolas" pitchFamily="34" charset="0"/>
                <a:ea typeface="Consolas" pitchFamily="34" charset="0"/>
                <a:cs typeface="Consolas" pitchFamily="34" charset="0"/>
              </a:rPr>
              <a:t>f"v{</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records   = []</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idx, row in df_raw.iterrows():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circ  = row[</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t_end = T_END[circ]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v     = row[wave_cols].values.astype(</a:t>
            </a:r>
            <a:r>
              <a:rPr lang="en-US" sz="830" dirty="0">
                <a:solidFill>
                  <a:srgbClr val="4FC3E8"/>
                </a:solidFill>
                <a:latin typeface="Consolas" pitchFamily="34" charset="0"/>
                <a:ea typeface="Consolas" pitchFamily="34" charset="0"/>
                <a:cs typeface="Consolas" pitchFamily="34" charset="0"/>
              </a:rPr>
              <a:t>float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     = np.linspace(</a:t>
            </a:r>
            <a:r>
              <a:rPr lang="en-US" sz="830" dirty="0">
                <a:solidFill>
                  <a:srgbClr val="E38B7A"/>
                </a:solidFill>
                <a:latin typeface="Consolas" pitchFamily="34" charset="0"/>
                <a:ea typeface="Consolas" pitchFamily="34" charset="0"/>
                <a:cs typeface="Consolas" pitchFamily="34" charset="0"/>
              </a:rPr>
              <a:t>0.0</a:t>
            </a:r>
            <a:r>
              <a:rPr lang="en-US" sz="830" dirty="0">
                <a:solidFill>
                  <a:srgbClr val="D7E3F4"/>
                </a:solidFill>
                <a:latin typeface="Consolas" pitchFamily="34" charset="0"/>
                <a:ea typeface="Consolas" pitchFamily="34" charset="0"/>
                <a:cs typeface="Consolas" pitchFamily="34" charset="0"/>
              </a:rPr>
              <a:t>, t_end, 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rec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"sample_id"</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int</a:t>
            </a:r>
            <a:r>
              <a:rPr lang="en-US" sz="830" dirty="0">
                <a:solidFill>
                  <a:srgbClr val="D7E3F4"/>
                </a:solidFill>
                <a:latin typeface="Consolas" pitchFamily="34" charset="0"/>
                <a:ea typeface="Consolas" pitchFamily="34" charset="0"/>
                <a:cs typeface="Consolas" pitchFamily="34" charset="0"/>
              </a:rPr>
              <a:t>(row[</a:t>
            </a:r>
            <a:r>
              <a:rPr lang="en-US" sz="830" dirty="0">
                <a:solidFill>
                  <a:srgbClr val="FFC94D"/>
                </a:solidFill>
                <a:latin typeface="Consolas" pitchFamily="34" charset="0"/>
                <a:ea typeface="Consolas" pitchFamily="34" charset="0"/>
                <a:cs typeface="Consolas" pitchFamily="34" charset="0"/>
              </a:rPr>
              <a:t>"sample_id"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circ,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     row[</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f1_peak_voltage(v),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"f2"</a:t>
            </a:r>
            <a:r>
              <a:rPr lang="en-US" sz="830" dirty="0">
                <a:solidFill>
                  <a:srgbClr val="D7E3F4"/>
                </a:solidFill>
                <a:latin typeface="Consolas" pitchFamily="34" charset="0"/>
                <a:ea typeface="Consolas" pitchFamily="34" charset="0"/>
                <a:cs typeface="Consolas" pitchFamily="34" charset="0"/>
              </a:rPr>
              <a:t>:  f2_rms_value(v),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"f3"</a:t>
            </a:r>
            <a:r>
              <a:rPr lang="en-US" sz="830" dirty="0">
                <a:solidFill>
                  <a:srgbClr val="D7E3F4"/>
                </a:solidFill>
                <a:latin typeface="Consolas" pitchFamily="34" charset="0"/>
                <a:ea typeface="Consolas" pitchFamily="34" charset="0"/>
                <a:cs typeface="Consolas" pitchFamily="34" charset="0"/>
              </a:rPr>
              <a:t>:  f3_mean_voltage(v),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"f4"</a:t>
            </a:r>
            <a:r>
              <a:rPr lang="en-US" sz="830" dirty="0">
                <a:solidFill>
                  <a:srgbClr val="D7E3F4"/>
                </a:solidFill>
                <a:latin typeface="Consolas" pitchFamily="34" charset="0"/>
                <a:ea typeface="Consolas" pitchFamily="34" charset="0"/>
                <a:cs typeface="Consolas" pitchFamily="34" charset="0"/>
              </a:rPr>
              <a:t>:  f4_std_voltage(v),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"f5"</a:t>
            </a:r>
            <a:r>
              <a:rPr lang="en-US" sz="830" dirty="0">
                <a:solidFill>
                  <a:srgbClr val="D7E3F4"/>
                </a:solidFill>
                <a:latin typeface="Consolas" pitchFamily="34" charset="0"/>
                <a:ea typeface="Consolas" pitchFamily="34" charset="0"/>
                <a:cs typeface="Consolas" pitchFamily="34" charset="0"/>
              </a:rPr>
              <a:t>:  f5_rise_time(t,v),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"f6"</a:t>
            </a:r>
            <a:r>
              <a:rPr lang="en-US" sz="830" dirty="0">
                <a:solidFill>
                  <a:srgbClr val="D7E3F4"/>
                </a:solidFill>
                <a:latin typeface="Consolas" pitchFamily="34" charset="0"/>
                <a:ea typeface="Consolas" pitchFamily="34" charset="0"/>
                <a:cs typeface="Consolas" pitchFamily="34" charset="0"/>
              </a:rPr>
              <a:t>:  f6_settling_time(t,v),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"f7"</a:t>
            </a:r>
            <a:r>
              <a:rPr lang="en-US" sz="830" dirty="0">
                <a:solidFill>
                  <a:srgbClr val="D7E3F4"/>
                </a:solidFill>
                <a:latin typeface="Consolas" pitchFamily="34" charset="0"/>
                <a:ea typeface="Consolas" pitchFamily="34" charset="0"/>
                <a:cs typeface="Consolas" pitchFamily="34" charset="0"/>
              </a:rPr>
              <a:t>:  f7_skewness(v),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"f8"</a:t>
            </a:r>
            <a:r>
              <a:rPr lang="en-US" sz="830" dirty="0">
                <a:solidFill>
                  <a:srgbClr val="D7E3F4"/>
                </a:solidFill>
                <a:latin typeface="Consolas" pitchFamily="34" charset="0"/>
                <a:ea typeface="Consolas" pitchFamily="34" charset="0"/>
                <a:cs typeface="Consolas" pitchFamily="34" charset="0"/>
              </a:rPr>
              <a:t>:  f8_kurtosis(v),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"f9"</a:t>
            </a:r>
            <a:r>
              <a:rPr lang="en-US" sz="830" dirty="0">
                <a:solidFill>
                  <a:srgbClr val="D7E3F4"/>
                </a:solidFill>
                <a:latin typeface="Consolas" pitchFamily="34" charset="0"/>
                <a:ea typeface="Consolas" pitchFamily="34" charset="0"/>
                <a:cs typeface="Consolas" pitchFamily="34" charset="0"/>
              </a:rPr>
              <a:t>:  f9_dominant_freq(v,t_end,N_PTS),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"f10"</a:t>
            </a:r>
            <a:r>
              <a:rPr lang="en-US" sz="830" dirty="0">
                <a:solidFill>
                  <a:srgbClr val="D7E3F4"/>
                </a:solidFill>
                <a:latin typeface="Consolas" pitchFamily="34" charset="0"/>
                <a:ea typeface="Consolas" pitchFamily="34" charset="0"/>
                <a:cs typeface="Consolas" pitchFamily="34" charset="0"/>
              </a:rPr>
              <a:t>: f10_spectral_energy(v,t_end,N_PTS),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"f11"</a:t>
            </a:r>
            <a:r>
              <a:rPr lang="en-US" sz="830" dirty="0">
                <a:solidFill>
                  <a:srgbClr val="D7E3F4"/>
                </a:solidFill>
                <a:latin typeface="Consolas" pitchFamily="34" charset="0"/>
                <a:ea typeface="Consolas" pitchFamily="34" charset="0"/>
                <a:cs typeface="Consolas" pitchFamily="34" charset="0"/>
              </a:rPr>
              <a:t>: f11_spectral_centroid(v,t_end,N_PTS),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"f12"</a:t>
            </a:r>
            <a:r>
              <a:rPr lang="en-US" sz="830" dirty="0">
                <a:solidFill>
                  <a:srgbClr val="D7E3F4"/>
                </a:solidFill>
                <a:latin typeface="Consolas" pitchFamily="34" charset="0"/>
                <a:ea typeface="Consolas" pitchFamily="34" charset="0"/>
                <a:cs typeface="Consolas" pitchFamily="34" charset="0"/>
              </a:rPr>
              <a:t>: f12_bandwidth(v,t_end,N_PTS),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"f13"</a:t>
            </a:r>
            <a:r>
              <a:rPr lang="en-US" sz="830" dirty="0">
                <a:solidFill>
                  <a:srgbClr val="D7E3F4"/>
                </a:solidFill>
                <a:latin typeface="Consolas" pitchFamily="34" charset="0"/>
                <a:ea typeface="Consolas" pitchFamily="34" charset="0"/>
                <a:cs typeface="Consolas" pitchFamily="34" charset="0"/>
              </a:rPr>
              <a:t>: f13_spectral_entropy(v,t_end,N_PTS),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"f14"</a:t>
            </a:r>
            <a:r>
              <a:rPr lang="en-US" sz="830" dirty="0">
                <a:solidFill>
                  <a:srgbClr val="D7E3F4"/>
                </a:solidFill>
                <a:latin typeface="Consolas" pitchFamily="34" charset="0"/>
                <a:ea typeface="Consolas" pitchFamily="34" charset="0"/>
                <a:cs typeface="Consolas" pitchFamily="34" charset="0"/>
              </a:rPr>
              <a:t>: f14_energy(v),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"f15"</a:t>
            </a:r>
            <a:r>
              <a:rPr lang="en-US" sz="830" dirty="0">
                <a:solidFill>
                  <a:srgbClr val="D7E3F4"/>
                </a:solidFill>
                <a:latin typeface="Consolas" pitchFamily="34" charset="0"/>
                <a:ea typeface="Consolas" pitchFamily="34" charset="0"/>
                <a:cs typeface="Consolas" pitchFamily="34" charset="0"/>
              </a:rPr>
              <a:t>: f15_zero_crossing_rate(v),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"f16"</a:t>
            </a:r>
            <a:r>
              <a:rPr lang="en-US" sz="830" dirty="0">
                <a:solidFill>
                  <a:srgbClr val="D7E3F4"/>
                </a:solidFill>
                <a:latin typeface="Consolas" pitchFamily="34" charset="0"/>
                <a:ea typeface="Consolas" pitchFamily="34" charset="0"/>
                <a:cs typeface="Consolas" pitchFamily="34" charset="0"/>
              </a:rPr>
              <a:t>: f16_crest_factor(v),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Extracting 17 Features per Waveform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"f17"</a:t>
            </a:r>
            <a:r>
              <a:rPr lang="en-US" sz="830" dirty="0">
                <a:solidFill>
                  <a:srgbClr val="D7E3F4"/>
                </a:solidFill>
                <a:latin typeface="Consolas" pitchFamily="34" charset="0"/>
                <a:ea typeface="Consolas" pitchFamily="34" charset="0"/>
                <a:cs typeface="Consolas" pitchFamily="34" charset="0"/>
              </a:rPr>
              <a:t>: f17_dc_level(v),
    }
    records.append(rec)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(idx+</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processed {</a:t>
            </a:r>
            <a:r>
              <a:rPr lang="en-US" sz="830" dirty="0">
                <a:solidFill>
                  <a:srgbClr val="D7E3F4"/>
                </a:solidFill>
                <a:latin typeface="Consolas" pitchFamily="34" charset="0"/>
                <a:ea typeface="Consolas" pitchFamily="34" charset="0"/>
                <a:cs typeface="Consolas" pitchFamily="34" charset="0"/>
              </a:rPr>
              <a:t>idx+</a:t>
            </a:r>
            <a:r>
              <a:rPr lang="en-US" sz="830" dirty="0">
                <a:solidFill>
                  <a:srgbClr val="E38B7A"/>
                </a:solidFill>
                <a:latin typeface="Consolas" pitchFamily="34" charset="0"/>
                <a:ea typeface="Consolas" pitchFamily="34" charset="0"/>
                <a:cs typeface="Consolas" pitchFamily="34" charset="0"/>
              </a:rPr>
              <a:t>1</a:t>
            </a:r>
            <a:r>
              <a:rPr lang="en-US" sz="830" dirty="0">
                <a:solidFill>
                  <a:srgbClr val="FFC94D"/>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(df_raw)</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df_feat = pd.DataFrame(records)
df_feat.to_csv(CSV_OUT, index=</a:t>
            </a:r>
            <a:r>
              <a:rPr lang="en-US" sz="830" b="1" dirty="0">
                <a:solidFill>
                  <a:srgbClr val="4FC3E8"/>
                </a:solidFill>
                <a:latin typeface="Consolas" pitchFamily="34" charset="0"/>
                <a:ea typeface="Consolas" pitchFamily="34" charset="0"/>
                <a:cs typeface="Consolas" pitchFamily="34" charset="0"/>
              </a:rPr>
              <a:t>False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f"\nSaved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(df_feat)</a:t>
            </a:r>
            <a:r>
              <a:rPr lang="en-US" sz="830" dirty="0">
                <a:solidFill>
                  <a:srgbClr val="FFC94D"/>
                </a:solidFill>
                <a:latin typeface="Consolas" pitchFamily="34" charset="0"/>
                <a:ea typeface="Consolas" pitchFamily="34" charset="0"/>
                <a:cs typeface="Consolas" pitchFamily="34" charset="0"/>
              </a:rPr>
              <a:t>} rows -&gt; {</a:t>
            </a:r>
            <a:r>
              <a:rPr lang="en-US" sz="830" dirty="0">
                <a:solidFill>
                  <a:srgbClr val="D7E3F4"/>
                </a:solidFill>
                <a:latin typeface="Consolas" pitchFamily="34" charset="0"/>
                <a:ea typeface="Consolas" pitchFamily="34" charset="0"/>
                <a:cs typeface="Consolas" pitchFamily="34" charset="0"/>
              </a:rPr>
              <a:t>CSV_OUT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f"Columns: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(df_feat.columns)</a:t>
            </a:r>
            <a:r>
              <a:rPr lang="en-US" sz="830" dirty="0">
                <a:solidFill>
                  <a:srgbClr val="FFC94D"/>
                </a:solidFill>
                <a:latin typeface="Consolas" pitchFamily="34" charset="0"/>
                <a:ea typeface="Consolas" pitchFamily="34" charset="0"/>
                <a:cs typeface="Consolas" pitchFamily="34" charset="0"/>
              </a:rPr>
              <a:t>} (sample_id + circuit + fault + f1-f17)"</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Quick diagnosis: RC_open vs RC_short on f17</a:t>
            </a:r>
            <a:r>
              <a:rPr lang="en-US" sz="830" dirty="0">
                <a:solidFill>
                  <a:srgbClr val="D7E3F4"/>
                </a:solidFill>
                <a:latin typeface="Consolas" pitchFamily="34" charset="0"/>
                <a:ea typeface="Consolas" pitchFamily="34" charset="0"/>
                <a:cs typeface="Consolas" pitchFamily="34" charset="0"/>
              </a:rPr>
              <a:t>
rc_open  = df_feat[(df_feat[</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)&amp;(df_feat[</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"open"</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"f17"</a:t>
            </a:r>
            <a:r>
              <a:rPr lang="en-US" sz="830" dirty="0">
                <a:solidFill>
                  <a:srgbClr val="D7E3F4"/>
                </a:solidFill>
                <a:latin typeface="Consolas" pitchFamily="34" charset="0"/>
                <a:ea typeface="Consolas" pitchFamily="34" charset="0"/>
                <a:cs typeface="Consolas" pitchFamily="34" charset="0"/>
              </a:rPr>
              <a:t>].mean()
rc_short = df_feat[(df_feat[</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)&amp;(df_feat[</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"short"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"f17"</a:t>
            </a:r>
            <a:r>
              <a:rPr lang="en-US" sz="830" dirty="0">
                <a:solidFill>
                  <a:srgbClr val="D7E3F4"/>
                </a:solidFill>
                <a:latin typeface="Consolas" pitchFamily="34" charset="0"/>
                <a:ea typeface="Consolas" pitchFamily="34" charset="0"/>
                <a:cs typeface="Consolas" pitchFamily="34" charset="0"/>
              </a:rPr>
              <a:t>].mean()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f"\nf17 diagnosis:"</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RC_open  mean dc_level = {</a:t>
            </a:r>
            <a:r>
              <a:rPr lang="en-US" sz="830" dirty="0">
                <a:solidFill>
                  <a:srgbClr val="D7E3F4"/>
                </a:solidFill>
                <a:latin typeface="Consolas" pitchFamily="34" charset="0"/>
                <a:ea typeface="Consolas" pitchFamily="34" charset="0"/>
                <a:cs typeface="Consolas" pitchFamily="34" charset="0"/>
              </a:rPr>
              <a:t>rc_open</a:t>
            </a:r>
            <a:r>
              <a:rPr lang="en-US" sz="830" dirty="0">
                <a:solidFill>
                  <a:srgbClr val="FFC94D"/>
                </a:solidFill>
                <a:latin typeface="Consolas" pitchFamily="34" charset="0"/>
                <a:ea typeface="Consolas" pitchFamily="34" charset="0"/>
                <a:cs typeface="Consolas" pitchFamily="34" charset="0"/>
              </a:rPr>
              <a:t>:.4f} V"</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RC_short mean dc_level = {</a:t>
            </a:r>
            <a:r>
              <a:rPr lang="en-US" sz="830" dirty="0">
                <a:solidFill>
                  <a:srgbClr val="D7E3F4"/>
                </a:solidFill>
                <a:latin typeface="Consolas" pitchFamily="34" charset="0"/>
                <a:ea typeface="Consolas" pitchFamily="34" charset="0"/>
                <a:cs typeface="Consolas" pitchFamily="34" charset="0"/>
              </a:rPr>
              <a:t>rc_short</a:t>
            </a:r>
            <a:r>
              <a:rPr lang="en-US" sz="830" dirty="0">
                <a:solidFill>
                  <a:srgbClr val="FFC94D"/>
                </a:solidFill>
                <a:latin typeface="Consolas" pitchFamily="34" charset="0"/>
                <a:ea typeface="Consolas" pitchFamily="34" charset="0"/>
                <a:cs typeface="Consolas" pitchFamily="34" charset="0"/>
              </a:rPr>
              <a:t>:.4f} V"</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Separation gap = {</a:t>
            </a:r>
            <a:r>
              <a:rPr lang="en-US" sz="830" dirty="0">
                <a:solidFill>
                  <a:srgbClr val="4FC3E8"/>
                </a:solidFill>
                <a:latin typeface="Consolas" pitchFamily="34" charset="0"/>
                <a:ea typeface="Consolas" pitchFamily="34" charset="0"/>
                <a:cs typeface="Consolas" pitchFamily="34" charset="0"/>
              </a:rPr>
              <a:t>abs</a:t>
            </a:r>
            <a:r>
              <a:rPr lang="en-US" sz="830" dirty="0">
                <a:solidFill>
                  <a:srgbClr val="D7E3F4"/>
                </a:solidFill>
                <a:latin typeface="Consolas" pitchFamily="34" charset="0"/>
                <a:ea typeface="Consolas" pitchFamily="34" charset="0"/>
                <a:cs typeface="Consolas" pitchFamily="34" charset="0"/>
              </a:rPr>
              <a:t>(rc_open-rc_short)</a:t>
            </a:r>
            <a:r>
              <a:rPr lang="en-US" sz="830" dirty="0">
                <a:solidFill>
                  <a:srgbClr val="FFC94D"/>
                </a:solidFill>
                <a:latin typeface="Consolas" pitchFamily="34" charset="0"/>
                <a:ea typeface="Consolas" pitchFamily="34" charset="0"/>
                <a:cs typeface="Consolas" pitchFamily="34" charset="0"/>
              </a:rPr>
              <a:t>:.4f} V"</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Separable: {'YES'</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abs</a:t>
            </a:r>
            <a:r>
              <a:rPr lang="en-US" sz="830" dirty="0">
                <a:solidFill>
                  <a:srgbClr val="D7E3F4"/>
                </a:solidFill>
                <a:latin typeface="Consolas" pitchFamily="34" charset="0"/>
                <a:ea typeface="Consolas" pitchFamily="34" charset="0"/>
                <a:cs typeface="Consolas" pitchFamily="34" charset="0"/>
              </a:rPr>
              <a:t>(rc_open-rc_short) &gt;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'MARGINAL'}"</a:t>
            </a:r>
            <a:r>
              <a:rPr lang="en-US" sz="830" dirty="0">
                <a:solidFill>
                  <a:srgbClr val="D7E3F4"/>
                </a:solidFill>
                <a:latin typeface="Consolas" pitchFamily="34" charset="0"/>
                <a:ea typeface="Consolas" pitchFamily="34" charset="0"/>
                <a:cs typeface="Consolas" pitchFamily="34" charset="0"/>
              </a:rPr>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Baseline SVM Training (Default Hyperparameters)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day14_svm_baseline.py  </a:t>
            </a:r>
            <a:r>
              <a:rPr lang="en-US" sz="1100" dirty="0">
                <a:solidFill>
                  <a:srgbClr val="64748B"/>
                </a:solidFill>
                <a:latin typeface="Calibri" pitchFamily="34" charset="0"/>
                <a:ea typeface="Calibri" pitchFamily="34" charset="-122"/>
                <a:cs typeface="Calibri" pitchFamily="34" charset="-120"/>
              </a:rPr>
              <a:t>— Trains Linear / RBF / Polynomial kernels with near-default settings — the Section 5 baseline numbers come from here</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day14_svm_baseline.py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Honest SVM baseline on real LTspice sweep features.</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Trains Linear, RBF, and Polynomial SVMs on features.csv</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and reports per-class and overall performance.</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sklearn.svm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SVC</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sklearn.preprocessing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StandardScaler, LabelEncoder</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sklearn.model_selection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train_test_split, cross_val_score</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sklearn.metrics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(accuracy_score, classification_report,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confusion_matrix)</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warnings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warnings.filterwarnings(</a:t>
            </a:r>
            <a:r>
              <a:rPr lang="en-US" sz="830" dirty="0">
                <a:solidFill>
                  <a:srgbClr val="FFC94D"/>
                </a:solidFill>
                <a:latin typeface="Consolas" pitchFamily="34" charset="0"/>
                <a:ea typeface="Consolas" pitchFamily="34" charset="0"/>
                <a:cs typeface="Consolas" pitchFamily="34" charset="0"/>
              </a:rPr>
              <a:t>"ignore"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Config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CSV_IN   = os.path.join(BASE, </a:t>
            </a:r>
            <a:r>
              <a:rPr lang="en-US" sz="830" dirty="0">
                <a:solidFill>
                  <a:srgbClr val="FFC94D"/>
                </a:solidFill>
                <a:latin typeface="Consolas" pitchFamily="34" charset="0"/>
                <a:ea typeface="Consolas" pitchFamily="34" charset="0"/>
                <a:cs typeface="Consolas" pitchFamily="34" charset="0"/>
              </a:rPr>
              <a:t>"features.csv"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OUT_FILE = os.path.join(BASE, </a:t>
            </a:r>
            <a:r>
              <a:rPr lang="en-US" sz="830" dirty="0">
                <a:solidFill>
                  <a:srgbClr val="FFC94D"/>
                </a:solidFill>
                <a:latin typeface="Consolas" pitchFamily="34" charset="0"/>
                <a:ea typeface="Consolas" pitchFamily="34" charset="0"/>
                <a:cs typeface="Consolas" pitchFamily="34" charset="0"/>
              </a:rPr>
              <a:t>"day14_results.txt"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FEATURE_COLS =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17</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RANDOM_STATE = </a:t>
            </a:r>
            <a:r>
              <a:rPr lang="en-US" sz="830" dirty="0">
                <a:solidFill>
                  <a:srgbClr val="E38B7A"/>
                </a:solidFill>
                <a:latin typeface="Consolas" pitchFamily="34" charset="0"/>
                <a:ea typeface="Consolas" pitchFamily="34" charset="0"/>
                <a:cs typeface="Consolas" pitchFamily="34" charset="0"/>
              </a:rPr>
              <a:t>42</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TEST_SIZE    = </a:t>
            </a:r>
            <a:r>
              <a:rPr lang="en-US" sz="830" dirty="0">
                <a:solidFill>
                  <a:srgbClr val="E38B7A"/>
                </a:solidFill>
                <a:latin typeface="Consolas" pitchFamily="34" charset="0"/>
                <a:ea typeface="Consolas" pitchFamily="34" charset="0"/>
                <a:cs typeface="Consolas" pitchFamily="34" charset="0"/>
              </a:rPr>
              <a:t>0.20</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Load data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pd.read_csv(CSV_IN)</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f"Loaded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 samples,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(FEATURE_COLS)</a:t>
            </a:r>
            <a:r>
              <a:rPr lang="en-US" sz="830" dirty="0">
                <a:solidFill>
                  <a:srgbClr val="FFC94D"/>
                </a:solidFill>
                <a:latin typeface="Consolas" pitchFamily="34" charset="0"/>
                <a:ea typeface="Consolas" pitchFamily="34" charset="0"/>
                <a:cs typeface="Consolas" pitchFamily="34" charset="0"/>
              </a:rPr>
              <a:t>} features"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f"Classes: {</a:t>
            </a:r>
            <a:r>
              <a:rPr lang="en-US" sz="830" dirty="0">
                <a:solidFill>
                  <a:srgbClr val="4FC3E8"/>
                </a:solidFill>
                <a:latin typeface="Consolas" pitchFamily="34" charset="0"/>
                <a:ea typeface="Consolas" pitchFamily="34" charset="0"/>
                <a:cs typeface="Consolas" pitchFamily="34" charset="0"/>
              </a:rPr>
              <a:t>sorted</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].unique())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f"Circuits: {</a:t>
            </a:r>
            <a:r>
              <a:rPr lang="en-US" sz="830" dirty="0">
                <a:solidFill>
                  <a:srgbClr val="4FC3E8"/>
                </a:solidFill>
                <a:latin typeface="Consolas" pitchFamily="34" charset="0"/>
                <a:ea typeface="Consolas" pitchFamily="34" charset="0"/>
                <a:cs typeface="Consolas" pitchFamily="34" charset="0"/>
              </a:rPr>
              <a:t>sorted</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].unique())</a:t>
            </a:r>
            <a:r>
              <a:rPr lang="en-US" sz="830" dirty="0">
                <a:solidFill>
                  <a:srgbClr val="FFC94D"/>
                </a:solidFill>
                <a:latin typeface="Consolas" pitchFamily="34" charset="0"/>
                <a:ea typeface="Consolas" pitchFamily="34" charset="0"/>
                <a:cs typeface="Consolas" pitchFamily="34" charset="0"/>
              </a:rPr>
              <a:t>}\n"</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Baseline SVM Training (Default Hyperparameters)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Create combined label: circuit_fault (20 classes)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f"Total unique labels: {</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].nunique()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(df.groupby(</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).size().to_string())</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Encode and split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le = LabelEncoder()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  = le.fit_transform(df[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  = df[FEATURE_COLS].values</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X_test, y_train, y_test = train_test_split(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X, y, test_size=TEST_SIZE, random_state=RANDOM_STATE, stratify=y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f"Train: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(X_train)</a:t>
            </a:r>
            <a:r>
              <a:rPr lang="en-US" sz="830" dirty="0">
                <a:solidFill>
                  <a:srgbClr val="FFC94D"/>
                </a:solidFill>
                <a:latin typeface="Consolas" pitchFamily="34" charset="0"/>
                <a:ea typeface="Consolas" pitchFamily="34" charset="0"/>
                <a:cs typeface="Consolas" pitchFamily="34" charset="0"/>
              </a:rPr>
              <a:t>} samples | Test: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(X_test)</a:t>
            </a:r>
            <a:r>
              <a:rPr lang="en-US" sz="830" dirty="0">
                <a:solidFill>
                  <a:srgbClr val="FFC94D"/>
                </a:solidFill>
                <a:latin typeface="Consolas" pitchFamily="34" charset="0"/>
                <a:ea typeface="Consolas" pitchFamily="34" charset="0"/>
                <a:cs typeface="Consolas" pitchFamily="34" charset="0"/>
              </a:rPr>
              <a:t>} samples\n"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Scale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scaler  = StandardScaler()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 scaler.fit_transform(X_train)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X_test  = scaler.transform(X_test)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Define three kernels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kernels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FFC94D"/>
                </a:solidFill>
                <a:latin typeface="Consolas" pitchFamily="34" charset="0"/>
                <a:ea typeface="Consolas" pitchFamily="34" charset="0"/>
                <a:cs typeface="Consolas" pitchFamily="34" charset="0"/>
              </a:rPr>
              <a:t>"scale"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"poly"</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FFC94D"/>
                </a:solidFill>
                <a:latin typeface="Consolas" pitchFamily="34" charset="0"/>
                <a:ea typeface="Consolas" pitchFamily="34" charset="0"/>
                <a:cs typeface="Consolas" pitchFamily="34" charset="0"/>
              </a:rPr>
              <a:t>"scale"</a:t>
            </a:r>
            <a:r>
              <a:rPr lang="en-US" sz="830" dirty="0">
                <a:solidFill>
                  <a:srgbClr val="D7E3F4"/>
                </a:solidFill>
                <a:latin typeface="Consolas" pitchFamily="34" charset="0"/>
                <a:ea typeface="Consolas" pitchFamily="34" charset="0"/>
                <a:cs typeface="Consolas" pitchFamily="34" charset="0"/>
              </a:rPr>
              <a:t>, degree=</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 coef0=</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Baseline SVM Training (Default Hyperparameters)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 Train, evaluate, report --------------------------------------</a:t>
            </a:r>
            <a:r>
              <a:rPr lang="en-US" sz="830" dirty="0">
                <a:solidFill>
                  <a:srgbClr val="D7E3F4"/>
                </a:solidFill>
                <a:latin typeface="Consolas" pitchFamily="34" charset="0"/>
                <a:ea typeface="Consolas" pitchFamily="34" charset="0"/>
                <a:cs typeface="Consolas" pitchFamily="34" charset="0"/>
              </a:rPr>
              <a:t>
results = {}
output_lines = []
</a:t>
            </a: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log</a:t>
            </a:r>
            <a:r>
              <a:rPr lang="en-US" sz="830" dirty="0">
                <a:solidFill>
                  <a:srgbClr val="D7E3F4"/>
                </a:solidFill>
                <a:latin typeface="Consolas" pitchFamily="34" charset="0"/>
                <a:ea typeface="Consolas" pitchFamily="34" charset="0"/>
                <a:cs typeface="Consolas" pitchFamily="34" charset="0"/>
              </a:rPr>
              <a:t>(line=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(line)
    output_lines.append(line)
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"DAY 14 —  SVM BASELINE ON REAL SWEPT DATA"</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f"Dataset :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 samples |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(FEATURE_COLS)</a:t>
            </a:r>
            <a:r>
              <a:rPr lang="en-US" sz="830" dirty="0">
                <a:solidFill>
                  <a:srgbClr val="FFC94D"/>
                </a:solidFill>
                <a:latin typeface="Consolas" pitchFamily="34" charset="0"/>
                <a:ea typeface="Consolas" pitchFamily="34" charset="0"/>
                <a:cs typeface="Consolas" pitchFamily="34" charset="0"/>
              </a:rPr>
              <a:t>} features | 20 classes"</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f"Split   : {</a:t>
            </a:r>
            <a:r>
              <a:rPr lang="en-US" sz="830" dirty="0">
                <a:solidFill>
                  <a:srgbClr val="4FC3E8"/>
                </a:solidFill>
                <a:latin typeface="Consolas" pitchFamily="34" charset="0"/>
                <a:ea typeface="Consolas" pitchFamily="34" charset="0"/>
                <a:cs typeface="Consolas" pitchFamily="34" charset="0"/>
              </a:rPr>
              <a:t>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-TEST_SIZE)*</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train / {</a:t>
            </a:r>
            <a:r>
              <a:rPr lang="en-US" sz="830" dirty="0">
                <a:solidFill>
                  <a:srgbClr val="4FC3E8"/>
                </a:solidFill>
                <a:latin typeface="Consolas" pitchFamily="34" charset="0"/>
                <a:ea typeface="Consolas" pitchFamily="34" charset="0"/>
                <a:cs typeface="Consolas" pitchFamily="34" charset="0"/>
              </a:rPr>
              <a:t>int</a:t>
            </a:r>
            <a:r>
              <a:rPr lang="en-US" sz="830" dirty="0">
                <a:solidFill>
                  <a:srgbClr val="D7E3F4"/>
                </a:solidFill>
                <a:latin typeface="Consolas" pitchFamily="34" charset="0"/>
                <a:ea typeface="Consolas" pitchFamily="34" charset="0"/>
                <a:cs typeface="Consolas" pitchFamily="34" charset="0"/>
              </a:rPr>
              <a:t>(TEST_SIZE*</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test | stratified"</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f"Scaling : StandardScaler (zero mean, unit variance)"</a:t>
            </a:r>
            <a:r>
              <a:rPr lang="en-US" sz="830" dirty="0">
                <a:solidFill>
                  <a:srgbClr val="D7E3F4"/>
                </a:solidFill>
                <a:latin typeface="Consolas" pitchFamily="34" charset="0"/>
                <a:ea typeface="Consolas" pitchFamily="34" charset="0"/>
                <a:cs typeface="Consolas" pitchFamily="34" charset="0"/>
              </a:rPr>
              <a:t>)
log()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name, clf in kernels.items():
    log(</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f"KERNEL: {</a:t>
            </a:r>
            <a:r>
              <a:rPr lang="en-US" sz="830" dirty="0">
                <a:solidFill>
                  <a:srgbClr val="D7E3F4"/>
                </a:solidFill>
                <a:latin typeface="Consolas" pitchFamily="34" charset="0"/>
                <a:ea typeface="Consolas" pitchFamily="34" charset="0"/>
                <a:cs typeface="Consolas" pitchFamily="34" charset="0"/>
              </a:rPr>
              <a:t>name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Train</a:t>
            </a:r>
            <a:r>
              <a:rPr lang="en-US" sz="830" dirty="0">
                <a:solidFill>
                  <a:srgbClr val="D7E3F4"/>
                </a:solidFill>
                <a:latin typeface="Consolas" pitchFamily="34" charset="0"/>
                <a:ea typeface="Consolas" pitchFamily="34" charset="0"/>
                <a:cs typeface="Consolas" pitchFamily="34" charset="0"/>
              </a:rPr>
              <a:t>
    clf.fit(X_train, y_train)
    </a:t>
            </a:r>
            <a:r>
              <a:rPr lang="en-US" sz="830" i="1" dirty="0">
                <a:solidFill>
                  <a:srgbClr val="6B7A99"/>
                </a:solidFill>
                <a:latin typeface="Consolas" pitchFamily="34" charset="0"/>
                <a:ea typeface="Consolas" pitchFamily="34" charset="0"/>
                <a:cs typeface="Consolas" pitchFamily="34" charset="0"/>
              </a:rPr>
              <a:t># Test accuracy</a:t>
            </a:r>
            <a:r>
              <a:rPr lang="en-US" sz="830" dirty="0">
                <a:solidFill>
                  <a:srgbClr val="D7E3F4"/>
                </a:solidFill>
                <a:latin typeface="Consolas" pitchFamily="34" charset="0"/>
                <a:ea typeface="Consolas" pitchFamily="34" charset="0"/>
                <a:cs typeface="Consolas" pitchFamily="34" charset="0"/>
              </a:rPr>
              <a:t>
    y_pred    = clf.predict(X_test)
    test_acc  = accuracy_score(y_test, y_pred)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Baseline SVM Training (Default Hyperparameters)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5-fold cross-validation on full dataset</a:t>
            </a:r>
            <a:r>
              <a:rPr lang="en-US" sz="830" dirty="0">
                <a:solidFill>
                  <a:srgbClr val="D7E3F4"/>
                </a:solidFill>
                <a:latin typeface="Consolas" pitchFamily="34" charset="0"/>
                <a:ea typeface="Consolas" pitchFamily="34" charset="0"/>
                <a:cs typeface="Consolas" pitchFamily="34" charset="0"/>
              </a:rPr>
              <a:t>
    cv_scores = cross_val_score(clf, X_train, y_train, cv=</a:t>
            </a:r>
            <a:r>
              <a:rPr lang="en-US" sz="830" dirty="0">
                <a:solidFill>
                  <a:srgbClr val="E38B7A"/>
                </a:solidFill>
                <a:latin typeface="Consolas" pitchFamily="34" charset="0"/>
                <a:ea typeface="Consolas" pitchFamily="34" charset="0"/>
                <a:cs typeface="Consolas" pitchFamily="34" charset="0"/>
              </a:rPr>
              <a:t>5</a:t>
            </a:r>
            <a:r>
              <a:rPr lang="en-US" sz="830" dirty="0">
                <a:solidFill>
                  <a:srgbClr val="D7E3F4"/>
                </a:solidFill>
                <a:latin typeface="Consolas" pitchFamily="34" charset="0"/>
                <a:ea typeface="Consolas" pitchFamily="34" charset="0"/>
                <a:cs typeface="Consolas" pitchFamily="34" charset="0"/>
              </a:rPr>
              <a:t>, scoring=</a:t>
            </a:r>
            <a:r>
              <a:rPr lang="en-US" sz="830" dirty="0">
                <a:solidFill>
                  <a:srgbClr val="FFC94D"/>
                </a:solidFill>
                <a:latin typeface="Consolas" pitchFamily="34" charset="0"/>
                <a:ea typeface="Consolas" pitchFamily="34" charset="0"/>
                <a:cs typeface="Consolas" pitchFamily="34" charset="0"/>
              </a:rPr>
              <a:t>"accuracy"</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f"Test  Accuracy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f"CV    Accuracy : {</a:t>
            </a:r>
            <a:r>
              <a:rPr lang="en-US" sz="830" dirty="0">
                <a:solidFill>
                  <a:srgbClr val="D7E3F4"/>
                </a:solidFill>
                <a:latin typeface="Consolas" pitchFamily="34" charset="0"/>
                <a:ea typeface="Consolas" pitchFamily="34" charset="0"/>
                <a:cs typeface="Consolas" pitchFamily="34" charset="0"/>
              </a:rPr>
              <a:t>cv_scores.mean()*</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 ± {</a:t>
            </a:r>
            <a:r>
              <a:rPr lang="en-US" sz="830" dirty="0">
                <a:solidFill>
                  <a:srgbClr val="D7E3F4"/>
                </a:solidFill>
                <a:latin typeface="Consolas" pitchFamily="34" charset="0"/>
                <a:ea typeface="Consolas" pitchFamily="34" charset="0"/>
                <a:cs typeface="Consolas" pitchFamily="34" charset="0"/>
              </a:rPr>
              <a:t>cv_scores.std()*</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
    log()
    </a:t>
            </a:r>
            <a:r>
              <a:rPr lang="en-US" sz="830" i="1" dirty="0">
                <a:solidFill>
                  <a:srgbClr val="6B7A99"/>
                </a:solidFill>
                <a:latin typeface="Consolas" pitchFamily="34" charset="0"/>
                <a:ea typeface="Consolas" pitchFamily="34" charset="0"/>
                <a:cs typeface="Consolas" pitchFamily="34" charset="0"/>
              </a:rPr>
              <a:t># Per-class report</a:t>
            </a:r>
            <a:r>
              <a:rPr lang="en-US" sz="830" dirty="0">
                <a:solidFill>
                  <a:srgbClr val="D7E3F4"/>
                </a:solidFill>
                <a:latin typeface="Consolas" pitchFamily="34" charset="0"/>
                <a:ea typeface="Consolas" pitchFamily="34" charset="0"/>
                <a:cs typeface="Consolas" pitchFamily="34" charset="0"/>
              </a:rPr>
              <a:t>
    report = classification_report(
        y_test, y_pred,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
    )
    log(</a:t>
            </a:r>
            <a:r>
              <a:rPr lang="en-US" sz="830" dirty="0">
                <a:solidFill>
                  <a:srgbClr val="FFC94D"/>
                </a:solidFill>
                <a:latin typeface="Consolas" pitchFamily="34" charset="0"/>
                <a:ea typeface="Consolas" pitchFamily="34" charset="0"/>
                <a:cs typeface="Consolas" pitchFamily="34" charset="0"/>
              </a:rPr>
              <a:t>"Classification Report:"</a:t>
            </a:r>
            <a:r>
              <a:rPr lang="en-US" sz="830" dirty="0">
                <a:solidFill>
                  <a:srgbClr val="D7E3F4"/>
                </a:solidFill>
                <a:latin typeface="Consolas" pitchFamily="34" charset="0"/>
                <a:ea typeface="Consolas" pitchFamily="34" charset="0"/>
                <a:cs typeface="Consolas" pitchFamily="34" charset="0"/>
              </a:rPr>
              <a:t>)
    log(report)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(1/8)</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day15_gridsearch.py  </a:t>
            </a:r>
            <a:r>
              <a:rPr lang="en-US" sz="1100" dirty="0">
                <a:solidFill>
                  <a:srgbClr val="64748B"/>
                </a:solidFill>
                <a:latin typeface="Calibri" pitchFamily="34" charset="0"/>
                <a:ea typeface="Calibri" pitchFamily="34" charset="-122"/>
                <a:cs typeface="Calibri" pitchFamily="34" charset="-120"/>
              </a:rPr>
              <a:t>— Exhaustive grid search over C, gamma and degree for each kernel, scored with 5-fold cross-validation</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day15_gridsearch.py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GridSearchCV hyperparameter tuning for Linear, RBF, and Polynomial SVMs.</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Finds optimal C, gamma, degree for each kernel.</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Test set never touched during search — only used for final evaluation.</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sklearn.svm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SVC</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sklearn.preprocessing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StandardScaler, LabelEncoder</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sklearn.model_selection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train_test_split, GridSearchCV</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sklearn.metrics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accuracy_score, classification_report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warnings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warnings.filterwarnings(</a:t>
            </a:r>
            <a:r>
              <a:rPr lang="en-US" sz="830" dirty="0">
                <a:solidFill>
                  <a:srgbClr val="FFC94D"/>
                </a:solidFill>
                <a:latin typeface="Consolas" pitchFamily="34" charset="0"/>
                <a:ea typeface="Consolas" pitchFamily="34" charset="0"/>
                <a:cs typeface="Consolas" pitchFamily="34" charset="0"/>
              </a:rPr>
              <a:t>"ignore"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Config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CSV_IN   = os.path.join(BASE, </a:t>
            </a:r>
            <a:r>
              <a:rPr lang="en-US" sz="830" dirty="0">
                <a:solidFill>
                  <a:srgbClr val="FFC94D"/>
                </a:solidFill>
                <a:latin typeface="Consolas" pitchFamily="34" charset="0"/>
                <a:ea typeface="Consolas" pitchFamily="34" charset="0"/>
                <a:cs typeface="Consolas" pitchFamily="34" charset="0"/>
              </a:rPr>
              <a:t>"features.csv"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OUT_FILE = os.path.join(BASE, </a:t>
            </a:r>
            <a:r>
              <a:rPr lang="en-US" sz="830" dirty="0">
                <a:solidFill>
                  <a:srgbClr val="FFC94D"/>
                </a:solidFill>
                <a:latin typeface="Consolas" pitchFamily="34" charset="0"/>
                <a:ea typeface="Consolas" pitchFamily="34" charset="0"/>
                <a:cs typeface="Consolas" pitchFamily="34" charset="0"/>
              </a:rPr>
              <a:t>"day15_results.txt"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FEATURE_COLS =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17</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RANDOM_STATE = </a:t>
            </a:r>
            <a:r>
              <a:rPr lang="en-US" sz="830" dirty="0">
                <a:solidFill>
                  <a:srgbClr val="E38B7A"/>
                </a:solidFill>
                <a:latin typeface="Consolas" pitchFamily="34" charset="0"/>
                <a:ea typeface="Consolas" pitchFamily="34" charset="0"/>
                <a:cs typeface="Consolas" pitchFamily="34" charset="0"/>
              </a:rPr>
              <a:t>42</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TEST_SIZE    = </a:t>
            </a:r>
            <a:r>
              <a:rPr lang="en-US" sz="830" dirty="0">
                <a:solidFill>
                  <a:srgbClr val="E38B7A"/>
                </a:solidFill>
                <a:latin typeface="Consolas" pitchFamily="34" charset="0"/>
                <a:ea typeface="Consolas" pitchFamily="34" charset="0"/>
                <a:cs typeface="Consolas" pitchFamily="34" charset="0"/>
              </a:rPr>
              <a:t>0.20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CV_FOLDS     = </a:t>
            </a:r>
            <a:r>
              <a:rPr lang="en-US" sz="830" dirty="0">
                <a:solidFill>
                  <a:srgbClr val="E38B7A"/>
                </a:solidFill>
                <a:latin typeface="Consolas" pitchFamily="34" charset="0"/>
                <a:ea typeface="Consolas" pitchFamily="34" charset="0"/>
                <a:cs typeface="Consolas" pitchFamily="34" charset="0"/>
              </a:rPr>
              <a:t>5</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 14 baseline for comparison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DAY14 = {</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76.47</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70.59</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74.02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Search grids -------------------------------------------------</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Wide log-scale search for C and gamma</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(2/8)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PARAM_GRIDS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0.01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"degree"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"coef0"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Load and prepare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pd.read_csv(CSV_IN)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le = LabelEncoder()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  = le.fit_transform(df[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  = df[FEATURE_COLS].values</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X_test, y_train, y_test = train_test_split(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X, y, test_size=TEST_SIZE, random_state=RANDOM_STATE, stratify=y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scaler  = StandardScaler()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 scaler.fit_transform(X_train)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(3/8)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X_test  = scaler.transform(X_test)</a:t>
            </a:r>
            <a:endParaRPr lang="en-US" sz="830" dirty="0"/>
          </a:p>
          <a:p>
            <a:pPr marL="0" indent="0">
              <a:lnSpc>
                <a:spcPct val="105000"/>
              </a:lnSpc>
              <a:buNone/>
            </a:pP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f"Train: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(X_train)</a:t>
            </a:r>
            <a:r>
              <a:rPr lang="en-US" sz="830" dirty="0">
                <a:solidFill>
                  <a:srgbClr val="FFC94D"/>
                </a:solidFill>
                <a:latin typeface="Consolas" pitchFamily="34" charset="0"/>
                <a:ea typeface="Consolas" pitchFamily="34" charset="0"/>
                <a:cs typeface="Consolas" pitchFamily="34" charset="0"/>
              </a:rPr>
              <a:t>} | Test: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(X_test)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f"Search grids:"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k, g in PARAM_GRIDS.items():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 = </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v in g.values(): n *=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a:t>
            </a:r>
            <a:r>
              <a:rPr lang="en-US" sz="830" dirty="0">
                <a:solidFill>
                  <a:srgbClr val="D7E3F4"/>
                </a:solidFill>
                <a:latin typeface="Consolas" pitchFamily="34" charset="0"/>
                <a:ea typeface="Consolas" pitchFamily="34" charset="0"/>
                <a:cs typeface="Consolas" pitchFamily="34" charset="0"/>
              </a:rPr>
              <a:t>k</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n</a:t>
            </a:r>
            <a:r>
              <a:rPr lang="en-US" sz="830" dirty="0">
                <a:solidFill>
                  <a:srgbClr val="FFC94D"/>
                </a:solidFill>
                <a:latin typeface="Consolas" pitchFamily="34" charset="0"/>
                <a:ea typeface="Consolas" pitchFamily="34" charset="0"/>
                <a:cs typeface="Consolas" pitchFamily="34" charset="0"/>
              </a:rPr>
              <a:t>} combinations × {</a:t>
            </a:r>
            <a:r>
              <a:rPr lang="en-US" sz="830" dirty="0">
                <a:solidFill>
                  <a:srgbClr val="D7E3F4"/>
                </a:solidFill>
                <a:latin typeface="Consolas" pitchFamily="34" charset="0"/>
                <a:ea typeface="Consolas" pitchFamily="34" charset="0"/>
                <a:cs typeface="Consolas" pitchFamily="34" charset="0"/>
              </a:rPr>
              <a:t>CV_FOLDS</a:t>
            </a:r>
            <a:r>
              <a:rPr lang="en-US" sz="830" dirty="0">
                <a:solidFill>
                  <a:srgbClr val="FFC94D"/>
                </a:solidFill>
                <a:latin typeface="Consolas" pitchFamily="34" charset="0"/>
                <a:ea typeface="Consolas" pitchFamily="34" charset="0"/>
                <a:cs typeface="Consolas" pitchFamily="34" charset="0"/>
              </a:rPr>
              <a:t>} folds = {</a:t>
            </a:r>
            <a:r>
              <a:rPr lang="en-US" sz="830" dirty="0">
                <a:solidFill>
                  <a:srgbClr val="D7E3F4"/>
                </a:solidFill>
                <a:latin typeface="Consolas" pitchFamily="34" charset="0"/>
                <a:ea typeface="Consolas" pitchFamily="34" charset="0"/>
                <a:cs typeface="Consolas" pitchFamily="34" charset="0"/>
              </a:rPr>
              <a:t>n*CV_FOLDS</a:t>
            </a:r>
            <a:r>
              <a:rPr lang="en-US" sz="830" dirty="0">
                <a:solidFill>
                  <a:srgbClr val="FFC94D"/>
                </a:solidFill>
                <a:latin typeface="Consolas" pitchFamily="34" charset="0"/>
                <a:ea typeface="Consolas" pitchFamily="34" charset="0"/>
                <a:cs typeface="Consolas" pitchFamily="34" charset="0"/>
              </a:rPr>
              <a:t>} fits"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Run GridSearchCV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output_lines = []</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log</a:t>
            </a:r>
            <a:r>
              <a:rPr lang="en-US" sz="830" dirty="0">
                <a:solidFill>
                  <a:srgbClr val="D7E3F4"/>
                </a:solidFill>
                <a:latin typeface="Consolas" pitchFamily="34" charset="0"/>
                <a:ea typeface="Consolas" pitchFamily="34" charset="0"/>
                <a:cs typeface="Consolas" pitchFamily="34" charset="0"/>
              </a:rPr>
              <a:t>(line=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(line)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output_lines.append(line)</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"DAY 15 — GRIDSEARCHCV HYPERPARAMETER TUNING"</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f"Dataset : 1019 samples | 16 features | 20 classes"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f"Split   : 80/20 stratified | CV folds: {</a:t>
            </a:r>
            <a:r>
              <a:rPr lang="en-US" sz="830" dirty="0">
                <a:solidFill>
                  <a:srgbClr val="D7E3F4"/>
                </a:solidFill>
                <a:latin typeface="Consolas" pitchFamily="34" charset="0"/>
                <a:ea typeface="Consolas" pitchFamily="34" charset="0"/>
                <a:cs typeface="Consolas" pitchFamily="34" charset="0"/>
              </a:rPr>
              <a:t>CV_FOLDS</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tuned_results = {}</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Linear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"KERNEL: Linear"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(4/8)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f"Search grid: C = {</a:t>
            </a:r>
            <a:r>
              <a:rPr lang="en-US" sz="830" dirty="0">
                <a:solidFill>
                  <a:srgbClr val="D7E3F4"/>
                </a:solidFill>
                <a:latin typeface="Consolas" pitchFamily="34" charset="0"/>
                <a:ea typeface="Consolas" pitchFamily="34" charset="0"/>
                <a:cs typeface="Consolas" pitchFamily="34" charset="0"/>
              </a:rPr>
              <a:t>PARAM_GRIDS[</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gs_linear = GridSearchCV(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param_grid={</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cv=CV_FOLDS, scoring=</a:t>
            </a:r>
            <a:r>
              <a:rPr lang="en-US" sz="830" dirty="0">
                <a:solidFill>
                  <a:srgbClr val="FFC94D"/>
                </a:solidFill>
                <a:latin typeface="Consolas" pitchFamily="34" charset="0"/>
                <a:ea typeface="Consolas" pitchFamily="34" charset="0"/>
                <a:cs typeface="Consolas" pitchFamily="34" charset="0"/>
              </a:rPr>
              <a:t>"accuracy"</a:t>
            </a:r>
            <a:r>
              <a:rPr lang="en-US" sz="830" dirty="0">
                <a:solidFill>
                  <a:srgbClr val="D7E3F4"/>
                </a:solidFill>
                <a:latin typeface="Consolas" pitchFamily="34" charset="0"/>
                <a:ea typeface="Consolas" pitchFamily="34" charset="0"/>
                <a:cs typeface="Consolas" pitchFamily="34" charset="0"/>
              </a:rPr>
              <a:t>, n_jobs=-</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verbose=</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gs_linear.fit(X_train, y_train)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best_linear = gs_linear.best_estimator_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y_pred      = best_linear.predict(X_test)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test_acc    = accuracy_score(y_test, y_pred)</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params : C = {</a:t>
            </a:r>
            <a:r>
              <a:rPr lang="en-US" sz="830" dirty="0">
                <a:solidFill>
                  <a:srgbClr val="D7E3F4"/>
                </a:solidFill>
                <a:latin typeface="Consolas" pitchFamily="34" charset="0"/>
                <a:ea typeface="Consolas" pitchFamily="34" charset="0"/>
                <a:cs typeface="Consolas" pitchFamily="34" charset="0"/>
              </a:rPr>
              <a:t>gs_linear.best_params_[</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CV acc : {</a:t>
            </a:r>
            <a:r>
              <a:rPr lang="en-US" sz="830" dirty="0">
                <a:solidFill>
                  <a:srgbClr val="D7E3F4"/>
                </a:solidFill>
                <a:latin typeface="Consolas" pitchFamily="34" charset="0"/>
                <a:ea typeface="Consolas" pitchFamily="34" charset="0"/>
                <a:cs typeface="Consolas" pitchFamily="34" charset="0"/>
              </a:rPr>
              <a:t>gs_linear.best_score_*</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f"Test acc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  (Day14 default: {</a:t>
            </a:r>
            <a:r>
              <a:rPr lang="en-US" sz="830" dirty="0">
                <a:solidFill>
                  <a:srgbClr val="D7E3F4"/>
                </a:solidFill>
                <a:latin typeface="Consolas" pitchFamily="34" charset="0"/>
                <a:ea typeface="Consolas" pitchFamily="34" charset="0"/>
                <a:cs typeface="Consolas" pitchFamily="34" charset="0"/>
              </a:rPr>
              <a:t>DAY14[</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f"Improvement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 DAY14[</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"Classification Report:"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log(classification_report(y_test,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tuned_results[</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"best_params"</a:t>
            </a:r>
            <a:r>
              <a:rPr lang="en-US" sz="830" dirty="0">
                <a:solidFill>
                  <a:srgbClr val="D7E3F4"/>
                </a:solidFill>
                <a:latin typeface="Consolas" pitchFamily="34" charset="0"/>
                <a:ea typeface="Consolas" pitchFamily="34" charset="0"/>
                <a:cs typeface="Consolas" pitchFamily="34" charset="0"/>
              </a:rPr>
              <a:t>: gs_linear.best_params_,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"best_cv"</a:t>
            </a:r>
            <a:r>
              <a:rPr lang="en-US" sz="830" dirty="0">
                <a:solidFill>
                  <a:srgbClr val="D7E3F4"/>
                </a:solidFill>
                <a:latin typeface="Consolas" pitchFamily="34" charset="0"/>
                <a:ea typeface="Consolas" pitchFamily="34" charset="0"/>
                <a:cs typeface="Consolas" pitchFamily="34" charset="0"/>
              </a:rPr>
              <a:t>:     gs_linear.best_score_,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    test_acc,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"report"</a:t>
            </a:r>
            <a:r>
              <a:rPr lang="en-US" sz="830" dirty="0">
                <a:solidFill>
                  <a:srgbClr val="D7E3F4"/>
                </a:solidFill>
                <a:latin typeface="Consolas" pitchFamily="34" charset="0"/>
                <a:ea typeface="Consolas" pitchFamily="34" charset="0"/>
                <a:cs typeface="Consolas" pitchFamily="34" charset="0"/>
              </a:rPr>
              <a:t>:      classification_report(y_test,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RBF</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(5/8)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"KERNEL: RBF"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f"Search grid: C = {</a:t>
            </a:r>
            <a:r>
              <a:rPr lang="en-US" sz="830" dirty="0">
                <a:solidFill>
                  <a:srgbClr val="D7E3F4"/>
                </a:solidFill>
                <a:latin typeface="Consolas" pitchFamily="34" charset="0"/>
                <a:ea typeface="Consolas" pitchFamily="34" charset="0"/>
                <a:cs typeface="Consolas" pitchFamily="34" charset="0"/>
              </a:rPr>
              <a:t>PARAM_GRIDS[</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f"gamma = {</a:t>
            </a:r>
            <a:r>
              <a:rPr lang="en-US" sz="830" dirty="0">
                <a:solidFill>
                  <a:srgbClr val="D7E3F4"/>
                </a:solidFill>
                <a:latin typeface="Consolas" pitchFamily="34" charset="0"/>
                <a:ea typeface="Consolas" pitchFamily="34" charset="0"/>
                <a:cs typeface="Consolas" pitchFamily="34" charset="0"/>
              </a:rPr>
              <a:t>PARAM_GRIDS[</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gs_rbf = GridSearchCV(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param_grid={</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cv=CV_FOLDS, scoring=</a:t>
            </a:r>
            <a:r>
              <a:rPr lang="en-US" sz="830" dirty="0">
                <a:solidFill>
                  <a:srgbClr val="FFC94D"/>
                </a:solidFill>
                <a:latin typeface="Consolas" pitchFamily="34" charset="0"/>
                <a:ea typeface="Consolas" pitchFamily="34" charset="0"/>
                <a:cs typeface="Consolas" pitchFamily="34" charset="0"/>
              </a:rPr>
              <a:t>"accuracy"</a:t>
            </a:r>
            <a:r>
              <a:rPr lang="en-US" sz="830" dirty="0">
                <a:solidFill>
                  <a:srgbClr val="D7E3F4"/>
                </a:solidFill>
                <a:latin typeface="Consolas" pitchFamily="34" charset="0"/>
                <a:ea typeface="Consolas" pitchFamily="34" charset="0"/>
                <a:cs typeface="Consolas" pitchFamily="34" charset="0"/>
              </a:rPr>
              <a:t>, n_jobs=-</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verbose=</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gs_rbf.fit(X_train, y_train)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best_rbf = gs_rbf.best_estimator_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y_pred   = best_rbf.predict(X_test)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test_acc = accuracy_score(y_test, y_pred)</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params : C = {</a:t>
            </a:r>
            <a:r>
              <a:rPr lang="en-US" sz="830" dirty="0">
                <a:solidFill>
                  <a:srgbClr val="D7E3F4"/>
                </a:solidFill>
                <a:latin typeface="Consolas" pitchFamily="34" charset="0"/>
                <a:ea typeface="Consolas" pitchFamily="34" charset="0"/>
                <a:cs typeface="Consolas" pitchFamily="34" charset="0"/>
              </a:rPr>
              <a:t>gs_rbf.best_params_[</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f"gamma = {</a:t>
            </a:r>
            <a:r>
              <a:rPr lang="en-US" sz="830" dirty="0">
                <a:solidFill>
                  <a:srgbClr val="D7E3F4"/>
                </a:solidFill>
                <a:latin typeface="Consolas" pitchFamily="34" charset="0"/>
                <a:ea typeface="Consolas" pitchFamily="34" charset="0"/>
                <a:cs typeface="Consolas" pitchFamily="34" charset="0"/>
              </a:rPr>
              <a:t>gs_rbf.best_params_[</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CV acc : {</a:t>
            </a:r>
            <a:r>
              <a:rPr lang="en-US" sz="830" dirty="0">
                <a:solidFill>
                  <a:srgbClr val="D7E3F4"/>
                </a:solidFill>
                <a:latin typeface="Consolas" pitchFamily="34" charset="0"/>
                <a:ea typeface="Consolas" pitchFamily="34" charset="0"/>
                <a:cs typeface="Consolas" pitchFamily="34" charset="0"/>
              </a:rPr>
              <a:t>gs_rbf.best_score_*</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f"Test acc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  (Day14 default: {</a:t>
            </a:r>
            <a:r>
              <a:rPr lang="en-US" sz="830" dirty="0">
                <a:solidFill>
                  <a:srgbClr val="D7E3F4"/>
                </a:solidFill>
                <a:latin typeface="Consolas" pitchFamily="34" charset="0"/>
                <a:ea typeface="Consolas" pitchFamily="34" charset="0"/>
                <a:cs typeface="Consolas" pitchFamily="34" charset="0"/>
              </a:rPr>
              <a:t>DAY14[</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f"Improvement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 DAY14[</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"Classification Report:"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log(classification_report(y_test,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tuned_results[</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"best_params"</a:t>
            </a:r>
            <a:r>
              <a:rPr lang="en-US" sz="830" dirty="0">
                <a:solidFill>
                  <a:srgbClr val="D7E3F4"/>
                </a:solidFill>
                <a:latin typeface="Consolas" pitchFamily="34" charset="0"/>
                <a:ea typeface="Consolas" pitchFamily="34" charset="0"/>
                <a:cs typeface="Consolas" pitchFamily="34" charset="0"/>
              </a:rPr>
              <a:t>: gs_rbf.best_params_,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"best_cv"</a:t>
            </a:r>
            <a:r>
              <a:rPr lang="en-US" sz="830" dirty="0">
                <a:solidFill>
                  <a:srgbClr val="D7E3F4"/>
                </a:solidFill>
                <a:latin typeface="Consolas" pitchFamily="34" charset="0"/>
                <a:ea typeface="Consolas" pitchFamily="34" charset="0"/>
                <a:cs typeface="Consolas" pitchFamily="34" charset="0"/>
              </a:rPr>
              <a:t>:     gs_rbf.best_score_,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    test_acc,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"report"</a:t>
            </a:r>
            <a:r>
              <a:rPr lang="en-US" sz="830" dirty="0">
                <a:solidFill>
                  <a:srgbClr val="D7E3F4"/>
                </a:solidFill>
                <a:latin typeface="Consolas" pitchFamily="34" charset="0"/>
                <a:ea typeface="Consolas" pitchFamily="34" charset="0"/>
                <a:cs typeface="Consolas" pitchFamily="34" charset="0"/>
              </a:rPr>
              <a:t>:      classification_report(y_test, y_pred,</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(6/8)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Polynomial</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"KERNEL: Polynomial"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f"Search grid: C={</a:t>
            </a:r>
            <a:r>
              <a:rPr lang="en-US" sz="830" dirty="0">
                <a:solidFill>
                  <a:srgbClr val="D7E3F4"/>
                </a:solidFill>
                <a:latin typeface="Consolas" pitchFamily="34" charset="0"/>
                <a:ea typeface="Consolas" pitchFamily="34" charset="0"/>
                <a:cs typeface="Consolas" pitchFamily="34" charset="0"/>
              </a:rPr>
              <a:t>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f"gamma={</a:t>
            </a:r>
            <a:r>
              <a:rPr lang="en-US" sz="830" dirty="0">
                <a:solidFill>
                  <a:srgbClr val="D7E3F4"/>
                </a:solidFill>
                <a:latin typeface="Consolas" pitchFamily="34" charset="0"/>
                <a:ea typeface="Consolas" pitchFamily="34" charset="0"/>
                <a:cs typeface="Consolas" pitchFamily="34" charset="0"/>
              </a:rPr>
              <a:t>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f"degree={</a:t>
            </a:r>
            <a:r>
              <a:rPr lang="en-US" sz="830" dirty="0">
                <a:solidFill>
                  <a:srgbClr val="D7E3F4"/>
                </a:solidFill>
                <a:latin typeface="Consolas" pitchFamily="34" charset="0"/>
                <a:ea typeface="Consolas" pitchFamily="34" charset="0"/>
                <a:cs typeface="Consolas" pitchFamily="34" charset="0"/>
              </a:rPr>
              <a:t>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'degree'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gs_poly = GridSearchCV(</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"poly"</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param_grid={</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"degree"</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"degree"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"coef0"</a:t>
            </a:r>
            <a:r>
              <a:rPr lang="en-US" sz="830" dirty="0">
                <a:solidFill>
                  <a:srgbClr val="D7E3F4"/>
                </a:solidFill>
                <a:latin typeface="Consolas" pitchFamily="34" charset="0"/>
                <a:ea typeface="Consolas" pitchFamily="34" charset="0"/>
                <a:cs typeface="Consolas" pitchFamily="34" charset="0"/>
              </a:rPr>
              <a:t>:  PARAM_GRIDS[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"coef0"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cv=CV_FOLDS, scoring=</a:t>
            </a:r>
            <a:r>
              <a:rPr lang="en-US" sz="830" dirty="0">
                <a:solidFill>
                  <a:srgbClr val="FFC94D"/>
                </a:solidFill>
                <a:latin typeface="Consolas" pitchFamily="34" charset="0"/>
                <a:ea typeface="Consolas" pitchFamily="34" charset="0"/>
                <a:cs typeface="Consolas" pitchFamily="34" charset="0"/>
              </a:rPr>
              <a:t>"accuracy"</a:t>
            </a:r>
            <a:r>
              <a:rPr lang="en-US" sz="830" dirty="0">
                <a:solidFill>
                  <a:srgbClr val="D7E3F4"/>
                </a:solidFill>
                <a:latin typeface="Consolas" pitchFamily="34" charset="0"/>
                <a:ea typeface="Consolas" pitchFamily="34" charset="0"/>
                <a:cs typeface="Consolas" pitchFamily="34" charset="0"/>
              </a:rPr>
              <a:t>, n_jobs=-</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verbose=</a:t>
            </a:r>
            <a:r>
              <a:rPr lang="en-US" sz="830" dirty="0">
                <a:solidFill>
                  <a:srgbClr val="E38B7A"/>
                </a:solidFill>
                <a:latin typeface="Consolas" pitchFamily="34" charset="0"/>
                <a:ea typeface="Consolas" pitchFamily="34" charset="0"/>
                <a:cs typeface="Consolas" pitchFamily="34" charset="0"/>
              </a:rPr>
              <a:t>1</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gs_poly.fit(X_train, y_train)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best_poly = gs_poly.best_estimator_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y_pred    = best_poly.predict(X_test)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test_acc  = accuracy_score(y_test, y_pred)</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params : C={</a:t>
            </a:r>
            <a:r>
              <a:rPr lang="en-US" sz="830" dirty="0">
                <a:solidFill>
                  <a:srgbClr val="D7E3F4"/>
                </a:solidFill>
                <a:latin typeface="Consolas" pitchFamily="34" charset="0"/>
                <a:ea typeface="Consolas" pitchFamily="34" charset="0"/>
                <a:cs typeface="Consolas" pitchFamily="34" charset="0"/>
              </a:rPr>
              <a:t>gs_poly.best_params_[</a:t>
            </a:r>
            <a:r>
              <a:rPr lang="en-US" sz="830" dirty="0">
                <a:solidFill>
                  <a:srgbClr val="FFC94D"/>
                </a:solidFill>
                <a:latin typeface="Consolas" pitchFamily="34" charset="0"/>
                <a:ea typeface="Consolas" pitchFamily="34" charset="0"/>
                <a:cs typeface="Consolas" pitchFamily="34" charset="0"/>
              </a:rPr>
              <a:t>'C'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f"gamma={</a:t>
            </a:r>
            <a:r>
              <a:rPr lang="en-US" sz="830" dirty="0">
                <a:solidFill>
                  <a:srgbClr val="D7E3F4"/>
                </a:solidFill>
                <a:latin typeface="Consolas" pitchFamily="34" charset="0"/>
                <a:ea typeface="Consolas" pitchFamily="34" charset="0"/>
                <a:cs typeface="Consolas" pitchFamily="34" charset="0"/>
              </a:rPr>
              <a:t>gs_poly.best_params_[</a:t>
            </a:r>
            <a:r>
              <a:rPr lang="en-US" sz="830" dirty="0">
                <a:solidFill>
                  <a:srgbClr val="FFC94D"/>
                </a:solidFill>
                <a:latin typeface="Consolas" pitchFamily="34" charset="0"/>
                <a:ea typeface="Consolas" pitchFamily="34" charset="0"/>
                <a:cs typeface="Consolas" pitchFamily="34" charset="0"/>
              </a:rPr>
              <a:t>'gamma'</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f"degree={</a:t>
            </a:r>
            <a:r>
              <a:rPr lang="en-US" sz="830" dirty="0">
                <a:solidFill>
                  <a:srgbClr val="D7E3F4"/>
                </a:solidFill>
                <a:latin typeface="Consolas" pitchFamily="34" charset="0"/>
                <a:ea typeface="Consolas" pitchFamily="34" charset="0"/>
                <a:cs typeface="Consolas" pitchFamily="34" charset="0"/>
              </a:rPr>
              <a:t>gs_poly.best_params_[</a:t>
            </a:r>
            <a:r>
              <a:rPr lang="en-US" sz="830" dirty="0">
                <a:solidFill>
                  <a:srgbClr val="FFC94D"/>
                </a:solidFill>
                <a:latin typeface="Consolas" pitchFamily="34" charset="0"/>
                <a:ea typeface="Consolas" pitchFamily="34" charset="0"/>
                <a:cs typeface="Consolas" pitchFamily="34" charset="0"/>
              </a:rPr>
              <a:t>'degree'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f"coef0={</a:t>
            </a:r>
            <a:r>
              <a:rPr lang="en-US" sz="830" dirty="0">
                <a:solidFill>
                  <a:srgbClr val="D7E3F4"/>
                </a:solidFill>
                <a:latin typeface="Consolas" pitchFamily="34" charset="0"/>
                <a:ea typeface="Consolas" pitchFamily="34" charset="0"/>
                <a:cs typeface="Consolas" pitchFamily="34" charset="0"/>
              </a:rPr>
              <a:t>gs_poly.best_params_[</a:t>
            </a:r>
            <a:r>
              <a:rPr lang="en-US" sz="830" dirty="0">
                <a:solidFill>
                  <a:srgbClr val="FFC94D"/>
                </a:solidFill>
                <a:latin typeface="Consolas" pitchFamily="34" charset="0"/>
                <a:ea typeface="Consolas" pitchFamily="34" charset="0"/>
                <a:cs typeface="Consolas" pitchFamily="34" charset="0"/>
              </a:rPr>
              <a:t>'coef0'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CV acc : {</a:t>
            </a:r>
            <a:r>
              <a:rPr lang="en-US" sz="830" dirty="0">
                <a:solidFill>
                  <a:srgbClr val="D7E3F4"/>
                </a:solidFill>
                <a:latin typeface="Consolas" pitchFamily="34" charset="0"/>
                <a:ea typeface="Consolas" pitchFamily="34" charset="0"/>
                <a:cs typeface="Consolas" pitchFamily="34" charset="0"/>
              </a:rPr>
              <a:t>gs_poly.best_score_*</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f"Test acc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  (Day14 default: {</a:t>
            </a:r>
            <a:r>
              <a:rPr lang="en-US" sz="830" dirty="0">
                <a:solidFill>
                  <a:srgbClr val="D7E3F4"/>
                </a:solidFill>
                <a:latin typeface="Consolas" pitchFamily="34" charset="0"/>
                <a:ea typeface="Consolas" pitchFamily="34" charset="0"/>
                <a:cs typeface="Consolas" pitchFamily="34" charset="0"/>
              </a:rPr>
              <a:t>DAY14[</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(7/8)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f"Improvement :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 DAY14[</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"Classification Report:"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log(classification_report(y_test,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tuned_results[</a:t>
            </a:r>
            <a:r>
              <a:rPr lang="en-US" sz="830" dirty="0">
                <a:solidFill>
                  <a:srgbClr val="FFC94D"/>
                </a:solidFill>
                <a:latin typeface="Consolas" pitchFamily="34" charset="0"/>
                <a:ea typeface="Consolas" pitchFamily="34" charset="0"/>
                <a:cs typeface="Consolas" pitchFamily="34" charset="0"/>
              </a:rPr>
              <a:t>"Polynomial"</a:t>
            </a:r>
            <a:r>
              <a:rPr lang="en-US" sz="830" dirty="0">
                <a:solidFill>
                  <a:srgbClr val="D7E3F4"/>
                </a:solidFill>
                <a:latin typeface="Consolas" pitchFamily="34" charset="0"/>
                <a:ea typeface="Consolas" pitchFamily="34" charset="0"/>
                <a:cs typeface="Consolas" pitchFamily="34" charset="0"/>
              </a:rPr>
              <a:t>]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"best_params"</a:t>
            </a:r>
            <a:r>
              <a:rPr lang="en-US" sz="830" dirty="0">
                <a:solidFill>
                  <a:srgbClr val="D7E3F4"/>
                </a:solidFill>
                <a:latin typeface="Consolas" pitchFamily="34" charset="0"/>
                <a:ea typeface="Consolas" pitchFamily="34" charset="0"/>
                <a:cs typeface="Consolas" pitchFamily="34" charset="0"/>
              </a:rPr>
              <a:t>: gs_poly.best_params_,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"best_cv"</a:t>
            </a:r>
            <a:r>
              <a:rPr lang="en-US" sz="830" dirty="0">
                <a:solidFill>
                  <a:srgbClr val="D7E3F4"/>
                </a:solidFill>
                <a:latin typeface="Consolas" pitchFamily="34" charset="0"/>
                <a:ea typeface="Consolas" pitchFamily="34" charset="0"/>
                <a:cs typeface="Consolas" pitchFamily="34" charset="0"/>
              </a:rPr>
              <a:t>:     gs_poly.best_score_,</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    test_acc,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"report"</a:t>
            </a:r>
            <a:r>
              <a:rPr lang="en-US" sz="830" dirty="0">
                <a:solidFill>
                  <a:srgbClr val="D7E3F4"/>
                </a:solidFill>
                <a:latin typeface="Consolas" pitchFamily="34" charset="0"/>
                <a:ea typeface="Consolas" pitchFamily="34" charset="0"/>
                <a:cs typeface="Consolas" pitchFamily="34" charset="0"/>
              </a:rPr>
              <a:t>:      classification_report(y_test,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target_names=le.classes_,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Final summary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"FINAL SUMMARY — DEFAULT vs TUNED"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f"{'Kernel':&lt;14} {'Default':&gt;10} {'Tuned':&gt;10} {'Gain':&gt;10} {'Best Params'}"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14</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30</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name, r in tuned_results.items():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gain = r[</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 DAY14[name]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params_str = </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.join(</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k</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v</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k,v in r[</a:t>
            </a:r>
            <a:r>
              <a:rPr lang="en-US" sz="830" dirty="0">
                <a:solidFill>
                  <a:srgbClr val="FFC94D"/>
                </a:solidFill>
                <a:latin typeface="Consolas" pitchFamily="34" charset="0"/>
                <a:ea typeface="Consolas" pitchFamily="34" charset="0"/>
                <a:cs typeface="Consolas" pitchFamily="34" charset="0"/>
              </a:rPr>
              <a:t>'best_params'</a:t>
            </a:r>
            <a:r>
              <a:rPr lang="en-US" sz="830" dirty="0">
                <a:solidFill>
                  <a:srgbClr val="D7E3F4"/>
                </a:solidFill>
                <a:latin typeface="Consolas" pitchFamily="34" charset="0"/>
                <a:ea typeface="Consolas" pitchFamily="34" charset="0"/>
                <a:cs typeface="Consolas" pitchFamily="34" charset="0"/>
              </a:rPr>
              <a:t>].items())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log(</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name</a:t>
            </a:r>
            <a:r>
              <a:rPr lang="en-US" sz="830" dirty="0">
                <a:solidFill>
                  <a:srgbClr val="FFC94D"/>
                </a:solidFill>
                <a:latin typeface="Consolas" pitchFamily="34" charset="0"/>
                <a:ea typeface="Consolas" pitchFamily="34" charset="0"/>
                <a:cs typeface="Consolas" pitchFamily="34" charset="0"/>
              </a:rPr>
              <a:t>:&lt;14} {</a:t>
            </a:r>
            <a:r>
              <a:rPr lang="en-US" sz="830" dirty="0">
                <a:solidFill>
                  <a:srgbClr val="D7E3F4"/>
                </a:solidFill>
                <a:latin typeface="Consolas" pitchFamily="34" charset="0"/>
                <a:ea typeface="Consolas" pitchFamily="34" charset="0"/>
                <a:cs typeface="Consolas" pitchFamily="34" charset="0"/>
              </a:rPr>
              <a:t>DAY14[name]</a:t>
            </a:r>
            <a:r>
              <a:rPr lang="en-US" sz="830" dirty="0">
                <a:solidFill>
                  <a:srgbClr val="FFC94D"/>
                </a:solidFill>
                <a:latin typeface="Consolas" pitchFamily="34" charset="0"/>
                <a:ea typeface="Consolas" pitchFamily="34" charset="0"/>
                <a:cs typeface="Consolas" pitchFamily="34" charset="0"/>
              </a:rPr>
              <a:t>:&gt;9.2f}%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r[</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:&gt;9.2f}%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gain</a:t>
            </a:r>
            <a:r>
              <a:rPr lang="en-US" sz="830" dirty="0">
                <a:solidFill>
                  <a:srgbClr val="FFC94D"/>
                </a:solidFill>
                <a:latin typeface="Consolas" pitchFamily="34" charset="0"/>
                <a:ea typeface="Consolas" pitchFamily="34" charset="0"/>
                <a:cs typeface="Consolas" pitchFamily="34" charset="0"/>
              </a:rPr>
              <a:t>:&gt;+9.2f}%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params_str</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best_kernel = </a:t>
            </a:r>
            <a:r>
              <a:rPr lang="en-US" sz="830" dirty="0">
                <a:solidFill>
                  <a:srgbClr val="4FC3E8"/>
                </a:solidFill>
                <a:latin typeface="Consolas" pitchFamily="34" charset="0"/>
                <a:ea typeface="Consolas" pitchFamily="34" charset="0"/>
                <a:cs typeface="Consolas" pitchFamily="34" charset="0"/>
              </a:rPr>
              <a:t>max</a:t>
            </a:r>
            <a:r>
              <a:rPr lang="en-US" sz="830" dirty="0">
                <a:solidFill>
                  <a:srgbClr val="D7E3F4"/>
                </a:solidFill>
                <a:latin typeface="Consolas" pitchFamily="34" charset="0"/>
                <a:ea typeface="Consolas" pitchFamily="34" charset="0"/>
                <a:cs typeface="Consolas" pitchFamily="34" charset="0"/>
              </a:rPr>
              <a:t>(tuned_results, key=</a:t>
            </a:r>
            <a:r>
              <a:rPr lang="en-US" sz="830" b="1" dirty="0">
                <a:solidFill>
                  <a:srgbClr val="4FC3E8"/>
                </a:solidFill>
                <a:latin typeface="Consolas" pitchFamily="34" charset="0"/>
                <a:ea typeface="Consolas" pitchFamily="34" charset="0"/>
                <a:cs typeface="Consolas" pitchFamily="34" charset="0"/>
              </a:rPr>
              <a:t>lambda</a:t>
            </a:r>
            <a:r>
              <a:rPr lang="en-US" sz="830" dirty="0">
                <a:solidFill>
                  <a:srgbClr val="D7E3F4"/>
                </a:solidFill>
                <a:latin typeface="Consolas" pitchFamily="34" charset="0"/>
                <a:ea typeface="Consolas" pitchFamily="34" charset="0"/>
                <a:cs typeface="Consolas" pitchFamily="34" charset="0"/>
              </a:rPr>
              <a:t> k: tuned_results[k][</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log(</a:t>
            </a:r>
            <a:r>
              <a:rPr lang="en-US" sz="830" dirty="0">
                <a:solidFill>
                  <a:srgbClr val="FFC94D"/>
                </a:solidFill>
                <a:latin typeface="Consolas" pitchFamily="34" charset="0"/>
                <a:ea typeface="Consolas" pitchFamily="34" charset="0"/>
                <a:cs typeface="Consolas" pitchFamily="34" charset="0"/>
              </a:rPr>
              <a:t>f"Best overall kernel (tuned): {</a:t>
            </a:r>
            <a:r>
              <a:rPr lang="en-US" sz="830" dirty="0">
                <a:solidFill>
                  <a:srgbClr val="D7E3F4"/>
                </a:solidFill>
                <a:latin typeface="Consolas" pitchFamily="34" charset="0"/>
                <a:ea typeface="Consolas" pitchFamily="34" charset="0"/>
                <a:cs typeface="Consolas" pitchFamily="34" charset="0"/>
              </a:rPr>
              <a:t>best_kernel</a:t>
            </a:r>
            <a:r>
              <a:rPr lang="en-US" sz="830" dirty="0">
                <a:solidFill>
                  <a:srgbClr val="FFC94D"/>
                </a:solidFill>
                <a:latin typeface="Consolas" pitchFamily="34" charset="0"/>
                <a:ea typeface="Consolas" pitchFamily="34" charset="0"/>
                <a:cs typeface="Consolas" pitchFamily="34" charset="0"/>
              </a:rPr>
              <a:t>}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Hyperparameter Tuning with GridSearchCV  (8/8)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tuned_results[best_kernel][</a:t>
            </a:r>
            <a:r>
              <a:rPr lang="en-US" sz="830" dirty="0">
                <a:solidFill>
                  <a:srgbClr val="FFC94D"/>
                </a:solidFill>
                <a:latin typeface="Consolas" pitchFamily="34" charset="0"/>
                <a:ea typeface="Consolas" pitchFamily="34" charset="0"/>
                <a:cs typeface="Consolas" pitchFamily="34" charset="0"/>
              </a:rPr>
              <a:t>'test_acc'</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 Save ---------------------------------------------------------</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open</a:t>
            </a:r>
            <a:r>
              <a:rPr lang="en-US" sz="830" dirty="0">
                <a:solidFill>
                  <a:srgbClr val="D7E3F4"/>
                </a:solidFill>
                <a:latin typeface="Consolas" pitchFamily="34" charset="0"/>
                <a:ea typeface="Consolas" pitchFamily="34" charset="0"/>
                <a:cs typeface="Consolas" pitchFamily="34" charset="0"/>
              </a:rPr>
              <a:t>(OUT_FILE, </a:t>
            </a:r>
            <a:r>
              <a:rPr lang="en-US" sz="830" dirty="0">
                <a:solidFill>
                  <a:srgbClr val="FFC94D"/>
                </a:solidFill>
                <a:latin typeface="Consolas" pitchFamily="34" charset="0"/>
                <a:ea typeface="Consolas" pitchFamily="34" charset="0"/>
                <a:cs typeface="Consolas" pitchFamily="34" charset="0"/>
              </a:rPr>
              <a:t>"w"</a:t>
            </a:r>
            <a:r>
              <a:rPr lang="en-US" sz="830" dirty="0">
                <a:solidFill>
                  <a:srgbClr val="D7E3F4"/>
                </a:solidFill>
                <a:latin typeface="Consolas" pitchFamily="34" charset="0"/>
                <a:ea typeface="Consolas" pitchFamily="34" charset="0"/>
                <a:cs typeface="Consolas" pitchFamily="34" charset="0"/>
              </a:rPr>
              <a:t>, encoding=</a:t>
            </a:r>
            <a:r>
              <a:rPr lang="en-US" sz="830" dirty="0">
                <a:solidFill>
                  <a:srgbClr val="FFC94D"/>
                </a:solidFill>
                <a:latin typeface="Consolas" pitchFamily="34" charset="0"/>
                <a:ea typeface="Consolas" pitchFamily="34" charset="0"/>
                <a:cs typeface="Consolas" pitchFamily="34" charset="0"/>
              </a:rPr>
              <a:t>"utf-8"</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f:
    f.write(</a:t>
            </a:r>
            <a:r>
              <a:rPr lang="en-US" sz="830" dirty="0">
                <a:solidFill>
                  <a:srgbClr val="FFC94D"/>
                </a:solidFill>
                <a:latin typeface="Consolas" pitchFamily="34" charset="0"/>
                <a:ea typeface="Consolas" pitchFamily="34" charset="0"/>
                <a:cs typeface="Consolas" pitchFamily="34" charset="0"/>
              </a:rPr>
              <a:t>"\n"</a:t>
            </a:r>
            <a:r>
              <a:rPr lang="en-US" sz="830" dirty="0">
                <a:solidFill>
                  <a:srgbClr val="D7E3F4"/>
                </a:solidFill>
                <a:latin typeface="Consolas" pitchFamily="34" charset="0"/>
                <a:ea typeface="Consolas" pitchFamily="34" charset="0"/>
                <a:cs typeface="Consolas" pitchFamily="34" charset="0"/>
              </a:rPr>
              <a:t>.join(output_lines))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f"\nResults saved -&gt; {</a:t>
            </a:r>
            <a:r>
              <a:rPr lang="en-US" sz="830" dirty="0">
                <a:solidFill>
                  <a:srgbClr val="D7E3F4"/>
                </a:solidFill>
                <a:latin typeface="Consolas" pitchFamily="34" charset="0"/>
                <a:ea typeface="Consolas" pitchFamily="34" charset="0"/>
                <a:cs typeface="Consolas" pitchFamily="34" charset="0"/>
              </a:rPr>
              <a:t>OUT_FILE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(1/7)</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day16_confusion_analysis.py  </a:t>
            </a:r>
            <a:r>
              <a:rPr lang="en-US" sz="1100" dirty="0">
                <a:solidFill>
                  <a:srgbClr val="64748B"/>
                </a:solidFill>
                <a:latin typeface="Calibri" pitchFamily="34" charset="0"/>
                <a:ea typeface="Calibri" pitchFamily="34" charset="-122"/>
                <a:cs typeface="Calibri" pitchFamily="34" charset="-120"/>
              </a:rPr>
              <a:t>— Generates the confusion matrix, per-class F1 chart, and the RC_open vs. RC_short / Normal vs. Drift feature diagnosis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day16_confusion_analysis.py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Full confusion matrix analysis and error diagnosis</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using the best model from Day 15: RBF C=100, gamma=0.1</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matplotlib</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matplotlib.use(</a:t>
            </a:r>
            <a:r>
              <a:rPr lang="en-US" sz="830" dirty="0">
                <a:solidFill>
                  <a:srgbClr val="FFC94D"/>
                </a:solidFill>
                <a:latin typeface="Consolas" pitchFamily="34" charset="0"/>
                <a:ea typeface="Consolas" pitchFamily="34" charset="0"/>
                <a:cs typeface="Consolas" pitchFamily="34" charset="0"/>
              </a:rPr>
              <a:t>'Agg'</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non-interactive backend for saving</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matplotlib.pyplot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plt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seaborn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sns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sklearn.svm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SVC</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sklearn.preprocessing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StandardScaler, LabelEncoder</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sklearn.model_selection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train_test_split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sklearn.metrics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(accuracy_score, classification_report,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confusion_matrix, f1_score)</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warnings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warnings.filterwarnings(</a:t>
            </a:r>
            <a:r>
              <a:rPr lang="en-US" sz="830" dirty="0">
                <a:solidFill>
                  <a:srgbClr val="FFC94D"/>
                </a:solidFill>
                <a:latin typeface="Consolas" pitchFamily="34" charset="0"/>
                <a:ea typeface="Consolas" pitchFamily="34" charset="0"/>
                <a:cs typeface="Consolas" pitchFamily="34" charset="0"/>
              </a:rPr>
              <a:t>"ignore"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Config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CSV_IN   = os.path.join(BASE, </a:t>
            </a:r>
            <a:r>
              <a:rPr lang="en-US" sz="830" dirty="0">
                <a:solidFill>
                  <a:srgbClr val="FFC94D"/>
                </a:solidFill>
                <a:latin typeface="Consolas" pitchFamily="34" charset="0"/>
                <a:ea typeface="Consolas" pitchFamily="34" charset="0"/>
                <a:cs typeface="Consolas" pitchFamily="34" charset="0"/>
              </a:rPr>
              <a:t>"features.csv"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OUT_DIR  = os.path.join(BASE, </a:t>
            </a:r>
            <a:r>
              <a:rPr lang="en-US" sz="830" dirty="0">
                <a:solidFill>
                  <a:srgbClr val="FFC94D"/>
                </a:solidFill>
                <a:latin typeface="Consolas" pitchFamily="34" charset="0"/>
                <a:ea typeface="Consolas" pitchFamily="34" charset="0"/>
                <a:cs typeface="Consolas" pitchFamily="34" charset="0"/>
              </a:rPr>
              <a:t>"Day16_Analysis"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os.makedirs(OUT_DIR, exist_ok=</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FEATURE_COLS =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17</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RANDOM_STATE = </a:t>
            </a:r>
            <a:r>
              <a:rPr lang="en-US" sz="830" dirty="0">
                <a:solidFill>
                  <a:srgbClr val="E38B7A"/>
                </a:solidFill>
                <a:latin typeface="Consolas" pitchFamily="34" charset="0"/>
                <a:ea typeface="Consolas" pitchFamily="34" charset="0"/>
                <a:cs typeface="Consolas" pitchFamily="34" charset="0"/>
              </a:rPr>
              <a:t>42</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TEST_SIZE    = </a:t>
            </a:r>
            <a:r>
              <a:rPr lang="en-US" sz="830" dirty="0">
                <a:solidFill>
                  <a:srgbClr val="E38B7A"/>
                </a:solidFill>
                <a:latin typeface="Consolas" pitchFamily="34" charset="0"/>
                <a:ea typeface="Consolas" pitchFamily="34" charset="0"/>
                <a:cs typeface="Consolas" pitchFamily="34" charset="0"/>
              </a:rPr>
              <a:t>0.20</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Load and prepare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(2/7)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pd.read_csv(CSV_IN)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le = LabelEncoder()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  = le.fit_transform(df[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  = df[FEATURE_COLS].values</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X_test, y_train, y_test = train_test_split(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X, y, test_size=TEST_SIZE, random_state=RANDOM_STATE, stratify=y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scaler  = StandardScaler()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 scaler.fit_transform(X_train)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X_test  = scaler.transform(X_test)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Train best model (RBF tuned)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"Training best model: RBF C=100, gamma=0.1 ..."</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clf = SVC(kernel=</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random_state=RANDOM_STATE)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clf.fit(X_train, y_train)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y_pred   = clf.predict(X_test)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test_acc = accuracy_score(y_test, y_pred)</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f"Test accuracy: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---- 1. Full 20x20 Confusion Matrix heatmap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"Generating confusion matrix heatmap..."</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cm     = confusion_matrix(y_test,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labels = le.classes_</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fig, ax = plt.subplots(figsize=(</a:t>
            </a:r>
            <a:r>
              <a:rPr lang="en-US" sz="830" dirty="0">
                <a:solidFill>
                  <a:srgbClr val="E38B7A"/>
                </a:solidFill>
                <a:latin typeface="Consolas" pitchFamily="34" charset="0"/>
                <a:ea typeface="Consolas" pitchFamily="34" charset="0"/>
                <a:cs typeface="Consolas" pitchFamily="34" charset="0"/>
              </a:rPr>
              <a:t>18</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15</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(3/7)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sns.heatmap(cm, annot=</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 fmt=</a:t>
            </a:r>
            <a:r>
              <a:rPr lang="en-US" sz="830" dirty="0">
                <a:solidFill>
                  <a:srgbClr val="FFC94D"/>
                </a:solidFill>
                <a:latin typeface="Consolas" pitchFamily="34" charset="0"/>
                <a:ea typeface="Consolas" pitchFamily="34" charset="0"/>
                <a:cs typeface="Consolas" pitchFamily="34" charset="0"/>
              </a:rPr>
              <a:t>'d'</a:t>
            </a:r>
            <a:r>
              <a:rPr lang="en-US" sz="830" dirty="0">
                <a:solidFill>
                  <a:srgbClr val="D7E3F4"/>
                </a:solidFill>
                <a:latin typeface="Consolas" pitchFamily="34" charset="0"/>
                <a:ea typeface="Consolas" pitchFamily="34" charset="0"/>
                <a:cs typeface="Consolas" pitchFamily="34" charset="0"/>
              </a:rPr>
              <a:t>, cmap=</a:t>
            </a:r>
            <a:r>
              <a:rPr lang="en-US" sz="830" dirty="0">
                <a:solidFill>
                  <a:srgbClr val="FFC94D"/>
                </a:solidFill>
                <a:latin typeface="Consolas" pitchFamily="34" charset="0"/>
                <a:ea typeface="Consolas" pitchFamily="34" charset="0"/>
                <a:cs typeface="Consolas" pitchFamily="34" charset="0"/>
              </a:rPr>
              <a:t>'Blues'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xticklabels=labels, yticklabels=labels,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linewidths=</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ax=ax)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ax.set_xlabel(</a:t>
            </a:r>
            <a:r>
              <a:rPr lang="en-US" sz="830" dirty="0">
                <a:solidFill>
                  <a:srgbClr val="FFC94D"/>
                </a:solidFill>
                <a:latin typeface="Consolas" pitchFamily="34" charset="0"/>
                <a:ea typeface="Consolas" pitchFamily="34" charset="0"/>
                <a:cs typeface="Consolas" pitchFamily="34" charset="0"/>
              </a:rPr>
              <a:t>"Predicted Label"</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ax.set_ylabel(</a:t>
            </a:r>
            <a:r>
              <a:rPr lang="en-US" sz="830" dirty="0">
                <a:solidFill>
                  <a:srgbClr val="FFC94D"/>
                </a:solidFill>
                <a:latin typeface="Consolas" pitchFamily="34" charset="0"/>
                <a:ea typeface="Consolas" pitchFamily="34" charset="0"/>
                <a:cs typeface="Consolas" pitchFamily="34" charset="0"/>
              </a:rPr>
              <a:t>"True Label"</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ax.set_title(</a:t>
            </a:r>
            <a:r>
              <a:rPr lang="en-US" sz="830" dirty="0">
                <a:solidFill>
                  <a:srgbClr val="FFC94D"/>
                </a:solidFill>
                <a:latin typeface="Consolas" pitchFamily="34" charset="0"/>
                <a:ea typeface="Consolas" pitchFamily="34" charset="0"/>
                <a:cs typeface="Consolas" pitchFamily="34" charset="0"/>
              </a:rPr>
              <a:t>f"Confusion Matrix — RBF SVM (C=100, γ=0.1)\nTest Accuracy: {</a:t>
            </a:r>
            <a:r>
              <a:rPr lang="en-US" sz="830" dirty="0">
                <a:solidFill>
                  <a:srgbClr val="D7E3F4"/>
                </a:solidFill>
                <a:latin typeface="Consolas" pitchFamily="34" charset="0"/>
                <a:ea typeface="Consolas" pitchFamily="34" charset="0"/>
                <a:cs typeface="Consolas" pitchFamily="34" charset="0"/>
              </a:rPr>
              <a:t>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14</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plt.xticks(rotation=</a:t>
            </a:r>
            <a:r>
              <a:rPr lang="en-US" sz="830" dirty="0">
                <a:solidFill>
                  <a:srgbClr val="E38B7A"/>
                </a:solidFill>
                <a:latin typeface="Consolas" pitchFamily="34" charset="0"/>
                <a:ea typeface="Consolas" pitchFamily="34" charset="0"/>
                <a:cs typeface="Consolas" pitchFamily="34" charset="0"/>
              </a:rPr>
              <a:t>45</a:t>
            </a:r>
            <a:r>
              <a:rPr lang="en-US" sz="830" dirty="0">
                <a:solidFill>
                  <a:srgbClr val="D7E3F4"/>
                </a:solidFill>
                <a:latin typeface="Consolas" pitchFamily="34" charset="0"/>
                <a:ea typeface="Consolas" pitchFamily="34" charset="0"/>
                <a:cs typeface="Consolas" pitchFamily="34" charset="0"/>
              </a:rPr>
              <a:t>, ha=</a:t>
            </a:r>
            <a:r>
              <a:rPr lang="en-US" sz="830" dirty="0">
                <a:solidFill>
                  <a:srgbClr val="FFC94D"/>
                </a:solidFill>
                <a:latin typeface="Consolas" pitchFamily="34" charset="0"/>
                <a:ea typeface="Consolas" pitchFamily="34" charset="0"/>
                <a:cs typeface="Consolas" pitchFamily="34" charset="0"/>
              </a:rPr>
              <a:t>'right'</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plt.yticks(rotation=</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plt.tight_layout()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path1 = os.path.join(OUT_DIR, </a:t>
            </a:r>
            <a:r>
              <a:rPr lang="en-US" sz="830" dirty="0">
                <a:solidFill>
                  <a:srgbClr val="FFC94D"/>
                </a:solidFill>
                <a:latin typeface="Consolas" pitchFamily="34" charset="0"/>
                <a:ea typeface="Consolas" pitchFamily="34" charset="0"/>
                <a:cs typeface="Consolas" pitchFamily="34" charset="0"/>
              </a:rPr>
              <a:t>"confusion_matrix.png"</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plt.savefig(path1, dpi=</a:t>
            </a:r>
            <a:r>
              <a:rPr lang="en-US" sz="830" dirty="0">
                <a:solidFill>
                  <a:srgbClr val="E38B7A"/>
                </a:solidFill>
                <a:latin typeface="Consolas" pitchFamily="34" charset="0"/>
                <a:ea typeface="Consolas" pitchFamily="34" charset="0"/>
                <a:cs typeface="Consolas" pitchFamily="34" charset="0"/>
              </a:rPr>
              <a:t>150</a:t>
            </a:r>
            <a:r>
              <a:rPr lang="en-US" sz="830" dirty="0">
                <a:solidFill>
                  <a:srgbClr val="D7E3F4"/>
                </a:solidFill>
                <a:latin typeface="Consolas" pitchFamily="34" charset="0"/>
                <a:ea typeface="Consolas" pitchFamily="34" charset="0"/>
                <a:cs typeface="Consolas" pitchFamily="34" charset="0"/>
              </a:rPr>
              <a:t>, bbox_inches=</a:t>
            </a:r>
            <a:r>
              <a:rPr lang="en-US" sz="830" dirty="0">
                <a:solidFill>
                  <a:srgbClr val="FFC94D"/>
                </a:solidFill>
                <a:latin typeface="Consolas" pitchFamily="34" charset="0"/>
                <a:ea typeface="Consolas" pitchFamily="34" charset="0"/>
                <a:cs typeface="Consolas" pitchFamily="34" charset="0"/>
              </a:rPr>
              <a:t>'tight'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plt.close()</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f"Saved: {</a:t>
            </a:r>
            <a:r>
              <a:rPr lang="en-US" sz="830" dirty="0">
                <a:solidFill>
                  <a:srgbClr val="D7E3F4"/>
                </a:solidFill>
                <a:latin typeface="Consolas" pitchFamily="34" charset="0"/>
                <a:ea typeface="Consolas" pitchFamily="34" charset="0"/>
                <a:cs typeface="Consolas" pitchFamily="34" charset="0"/>
              </a:rPr>
              <a:t>path1</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---- 2. Per-class F1 bar chart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"Generating per-class F1 chart..."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f1_scores = f1_score(y_test, y_pred, average=</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f1_df     = pd.DataFrame({</a:t>
            </a:r>
            <a:r>
              <a:rPr lang="en-US" sz="830" dirty="0">
                <a:solidFill>
                  <a:srgbClr val="FFC94D"/>
                </a:solidFill>
                <a:latin typeface="Consolas" pitchFamily="34" charset="0"/>
                <a:ea typeface="Consolas" pitchFamily="34" charset="0"/>
                <a:cs typeface="Consolas" pitchFamily="34" charset="0"/>
              </a:rPr>
              <a:t>"class"</a:t>
            </a:r>
            <a:r>
              <a:rPr lang="en-US" sz="830" dirty="0">
                <a:solidFill>
                  <a:srgbClr val="D7E3F4"/>
                </a:solidFill>
                <a:latin typeface="Consolas" pitchFamily="34" charset="0"/>
                <a:ea typeface="Consolas" pitchFamily="34" charset="0"/>
                <a:cs typeface="Consolas" pitchFamily="34" charset="0"/>
              </a:rPr>
              <a:t>: labels, </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f1_scores})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f1_df     = f1_df.sort_values(</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ascending=</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colors = [</a:t>
            </a:r>
            <a:r>
              <a:rPr lang="en-US" sz="830" dirty="0">
                <a:solidFill>
                  <a:srgbClr val="FFC94D"/>
                </a:solidFill>
                <a:latin typeface="Consolas" pitchFamily="34" charset="0"/>
                <a:ea typeface="Consolas" pitchFamily="34" charset="0"/>
                <a:cs typeface="Consolas" pitchFamily="34" charset="0"/>
              </a:rPr>
              <a:t>"#d32f2f"</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 &lt; </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"#f57c00"</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 &lt; </a:t>
            </a:r>
            <a:r>
              <a:rPr lang="en-US" sz="830" dirty="0">
                <a:solidFill>
                  <a:srgbClr val="E38B7A"/>
                </a:solidFill>
                <a:latin typeface="Consolas" pitchFamily="34" charset="0"/>
                <a:ea typeface="Consolas" pitchFamily="34" charset="0"/>
                <a:cs typeface="Consolas" pitchFamily="34" charset="0"/>
              </a:rPr>
              <a:t>0.8</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"#388e3c"</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f in f1_df[</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fig, ax = plt.subplots(figsize=(</a:t>
            </a:r>
            <a:r>
              <a:rPr lang="en-US" sz="830" dirty="0">
                <a:solidFill>
                  <a:srgbClr val="E38B7A"/>
                </a:solidFill>
                <a:latin typeface="Consolas" pitchFamily="34" charset="0"/>
                <a:ea typeface="Consolas" pitchFamily="34" charset="0"/>
                <a:cs typeface="Consolas" pitchFamily="34" charset="0"/>
              </a:rPr>
              <a:t>12</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bars = ax.barh(f1_df[</a:t>
            </a:r>
            <a:r>
              <a:rPr lang="en-US" sz="830" dirty="0">
                <a:solidFill>
                  <a:srgbClr val="FFC94D"/>
                </a:solidFill>
                <a:latin typeface="Consolas" pitchFamily="34" charset="0"/>
                <a:ea typeface="Consolas" pitchFamily="34" charset="0"/>
                <a:cs typeface="Consolas" pitchFamily="34" charset="0"/>
              </a:rPr>
              <a:t>"class"</a:t>
            </a:r>
            <a:r>
              <a:rPr lang="en-US" sz="830" dirty="0">
                <a:solidFill>
                  <a:srgbClr val="D7E3F4"/>
                </a:solidFill>
                <a:latin typeface="Consolas" pitchFamily="34" charset="0"/>
                <a:ea typeface="Consolas" pitchFamily="34" charset="0"/>
                <a:cs typeface="Consolas" pitchFamily="34" charset="0"/>
              </a:rPr>
              <a:t>], f1_df[</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color=colors)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ax.axvline(x=</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color=</a:t>
            </a:r>
            <a:r>
              <a:rPr lang="en-US" sz="830" dirty="0">
                <a:solidFill>
                  <a:srgbClr val="FFC94D"/>
                </a:solidFill>
                <a:latin typeface="Consolas" pitchFamily="34" charset="0"/>
                <a:ea typeface="Consolas" pitchFamily="34" charset="0"/>
                <a:cs typeface="Consolas" pitchFamily="34" charset="0"/>
              </a:rPr>
              <a:t>'red'</a:t>
            </a:r>
            <a:r>
              <a:rPr lang="en-US" sz="830" dirty="0">
                <a:solidFill>
                  <a:srgbClr val="D7E3F4"/>
                </a:solidFill>
                <a:latin typeface="Consolas" pitchFamily="34" charset="0"/>
                <a:ea typeface="Consolas" pitchFamily="34" charset="0"/>
                <a:cs typeface="Consolas" pitchFamily="34" charset="0"/>
              </a:rPr>
              <a:t>, linestyle=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alpha=</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label=</a:t>
            </a:r>
            <a:r>
              <a:rPr lang="en-US" sz="830" dirty="0">
                <a:solidFill>
                  <a:srgbClr val="FFC94D"/>
                </a:solidFill>
                <a:latin typeface="Consolas" pitchFamily="34" charset="0"/>
                <a:ea typeface="Consolas" pitchFamily="34" charset="0"/>
                <a:cs typeface="Consolas" pitchFamily="34" charset="0"/>
              </a:rPr>
              <a:t>'F1=0.5 threshold'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ax.axvline(x=</a:t>
            </a:r>
            <a:r>
              <a:rPr lang="en-US" sz="830" dirty="0">
                <a:solidFill>
                  <a:srgbClr val="E38B7A"/>
                </a:solidFill>
                <a:latin typeface="Consolas" pitchFamily="34" charset="0"/>
                <a:ea typeface="Consolas" pitchFamily="34" charset="0"/>
                <a:cs typeface="Consolas" pitchFamily="34" charset="0"/>
              </a:rPr>
              <a:t>0.8</a:t>
            </a:r>
            <a:r>
              <a:rPr lang="en-US" sz="830" dirty="0">
                <a:solidFill>
                  <a:srgbClr val="D7E3F4"/>
                </a:solidFill>
                <a:latin typeface="Consolas" pitchFamily="34" charset="0"/>
                <a:ea typeface="Consolas" pitchFamily="34" charset="0"/>
                <a:cs typeface="Consolas" pitchFamily="34" charset="0"/>
              </a:rPr>
              <a:t>, color=</a:t>
            </a:r>
            <a:r>
              <a:rPr lang="en-US" sz="830" dirty="0">
                <a:solidFill>
                  <a:srgbClr val="FFC94D"/>
                </a:solidFill>
                <a:latin typeface="Consolas" pitchFamily="34" charset="0"/>
                <a:ea typeface="Consolas" pitchFamily="34" charset="0"/>
                <a:cs typeface="Consolas" pitchFamily="34" charset="0"/>
              </a:rPr>
              <a:t>'orange'</a:t>
            </a:r>
            <a:r>
              <a:rPr lang="en-US" sz="830" dirty="0">
                <a:solidFill>
                  <a:srgbClr val="D7E3F4"/>
                </a:solidFill>
                <a:latin typeface="Consolas" pitchFamily="34" charset="0"/>
                <a:ea typeface="Consolas" pitchFamily="34" charset="0"/>
                <a:cs typeface="Consolas" pitchFamily="34" charset="0"/>
              </a:rPr>
              <a:t>, linestyle=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alpha=</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label=</a:t>
            </a:r>
            <a:r>
              <a:rPr lang="en-US" sz="830" dirty="0">
                <a:solidFill>
                  <a:srgbClr val="FFC94D"/>
                </a:solidFill>
                <a:latin typeface="Consolas" pitchFamily="34" charset="0"/>
                <a:ea typeface="Consolas" pitchFamily="34" charset="0"/>
                <a:cs typeface="Consolas" pitchFamily="34" charset="0"/>
              </a:rPr>
              <a:t>'F1=0.8 threshold'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bar, val in </a:t>
            </a:r>
            <a:r>
              <a:rPr lang="en-US" sz="830" dirty="0">
                <a:solidFill>
                  <a:srgbClr val="4FC3E8"/>
                </a:solidFill>
                <a:latin typeface="Consolas" pitchFamily="34" charset="0"/>
                <a:ea typeface="Consolas" pitchFamily="34" charset="0"/>
                <a:cs typeface="Consolas" pitchFamily="34" charset="0"/>
              </a:rPr>
              <a:t>zip</a:t>
            </a:r>
            <a:r>
              <a:rPr lang="en-US" sz="830" dirty="0">
                <a:solidFill>
                  <a:srgbClr val="D7E3F4"/>
                </a:solidFill>
                <a:latin typeface="Consolas" pitchFamily="34" charset="0"/>
                <a:ea typeface="Consolas" pitchFamily="34" charset="0"/>
                <a:cs typeface="Consolas" pitchFamily="34" charset="0"/>
              </a:rPr>
              <a:t>(bars, f1_df[</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ax.text(bar.get_width() + </a:t>
            </a:r>
            <a:r>
              <a:rPr lang="en-US" sz="830" dirty="0">
                <a:solidFill>
                  <a:srgbClr val="E38B7A"/>
                </a:solidFill>
                <a:latin typeface="Consolas" pitchFamily="34" charset="0"/>
                <a:ea typeface="Consolas" pitchFamily="34" charset="0"/>
                <a:cs typeface="Consolas" pitchFamily="34" charset="0"/>
              </a:rPr>
              <a:t>0.01</a:t>
            </a:r>
            <a:r>
              <a:rPr lang="en-US" sz="830" dirty="0">
                <a:solidFill>
                  <a:srgbClr val="D7E3F4"/>
                </a:solidFill>
                <a:latin typeface="Consolas" pitchFamily="34" charset="0"/>
                <a:ea typeface="Consolas" pitchFamily="34" charset="0"/>
                <a:cs typeface="Consolas" pitchFamily="34" charset="0"/>
              </a:rPr>
              <a:t>, bar.get_y() + bar.get_height()/</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(4/7)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val</a:t>
            </a:r>
            <a:r>
              <a:rPr lang="en-US" sz="830" dirty="0">
                <a:solidFill>
                  <a:srgbClr val="FFC94D"/>
                </a:solidFill>
                <a:latin typeface="Consolas" pitchFamily="34" charset="0"/>
                <a:ea typeface="Consolas" pitchFamily="34" charset="0"/>
                <a:cs typeface="Consolas" pitchFamily="34" charset="0"/>
              </a:rPr>
              <a:t>:.3f}'</a:t>
            </a:r>
            <a:r>
              <a:rPr lang="en-US" sz="830" dirty="0">
                <a:solidFill>
                  <a:srgbClr val="D7E3F4"/>
                </a:solidFill>
                <a:latin typeface="Consolas" pitchFamily="34" charset="0"/>
                <a:ea typeface="Consolas" pitchFamily="34" charset="0"/>
                <a:cs typeface="Consolas" pitchFamily="34" charset="0"/>
              </a:rPr>
              <a:t>, va=</a:t>
            </a:r>
            <a:r>
              <a:rPr lang="en-US" sz="830" dirty="0">
                <a:solidFill>
                  <a:srgbClr val="FFC94D"/>
                </a:solidFill>
                <a:latin typeface="Consolas" pitchFamily="34" charset="0"/>
                <a:ea typeface="Consolas" pitchFamily="34" charset="0"/>
                <a:cs typeface="Consolas" pitchFamily="34" charset="0"/>
              </a:rPr>
              <a:t>'center'</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9</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ax.set_xlabel(</a:t>
            </a:r>
            <a:r>
              <a:rPr lang="en-US" sz="830" dirty="0">
                <a:solidFill>
                  <a:srgbClr val="FFC94D"/>
                </a:solidFill>
                <a:latin typeface="Consolas" pitchFamily="34" charset="0"/>
                <a:ea typeface="Consolas" pitchFamily="34" charset="0"/>
                <a:cs typeface="Consolas" pitchFamily="34" charset="0"/>
              </a:rPr>
              <a:t>"F1 Score"</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ax.set_title(</a:t>
            </a:r>
            <a:r>
              <a:rPr lang="en-US" sz="830" dirty="0">
                <a:solidFill>
                  <a:srgbClr val="FFC94D"/>
                </a:solidFill>
                <a:latin typeface="Consolas" pitchFamily="34" charset="0"/>
                <a:ea typeface="Consolas" pitchFamily="34" charset="0"/>
                <a:cs typeface="Consolas" pitchFamily="34" charset="0"/>
              </a:rPr>
              <a:t>"Per-Class F1 Score — RBF SVM (C=100, γ=0.1)"</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14</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ax.set_xlim(</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1.15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ax.legend(fontsize=</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plt.tight_layout()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path2 = os.path.join(OUT_DIR, </a:t>
            </a:r>
            <a:r>
              <a:rPr lang="en-US" sz="830" dirty="0">
                <a:solidFill>
                  <a:srgbClr val="FFC94D"/>
                </a:solidFill>
                <a:latin typeface="Consolas" pitchFamily="34" charset="0"/>
                <a:ea typeface="Consolas" pitchFamily="34" charset="0"/>
                <a:cs typeface="Consolas" pitchFamily="34" charset="0"/>
              </a:rPr>
              <a:t>"f1_per_class.png"</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plt.savefig(path2, dpi=</a:t>
            </a:r>
            <a:r>
              <a:rPr lang="en-US" sz="830" dirty="0">
                <a:solidFill>
                  <a:srgbClr val="E38B7A"/>
                </a:solidFill>
                <a:latin typeface="Consolas" pitchFamily="34" charset="0"/>
                <a:ea typeface="Consolas" pitchFamily="34" charset="0"/>
                <a:cs typeface="Consolas" pitchFamily="34" charset="0"/>
              </a:rPr>
              <a:t>150</a:t>
            </a:r>
            <a:r>
              <a:rPr lang="en-US" sz="830" dirty="0">
                <a:solidFill>
                  <a:srgbClr val="D7E3F4"/>
                </a:solidFill>
                <a:latin typeface="Consolas" pitchFamily="34" charset="0"/>
                <a:ea typeface="Consolas" pitchFamily="34" charset="0"/>
                <a:cs typeface="Consolas" pitchFamily="34" charset="0"/>
              </a:rPr>
              <a:t>, bbox_inches=</a:t>
            </a:r>
            <a:r>
              <a:rPr lang="en-US" sz="830" dirty="0">
                <a:solidFill>
                  <a:srgbClr val="FFC94D"/>
                </a:solidFill>
                <a:latin typeface="Consolas" pitchFamily="34" charset="0"/>
                <a:ea typeface="Consolas" pitchFamily="34" charset="0"/>
                <a:cs typeface="Consolas" pitchFamily="34" charset="0"/>
              </a:rPr>
              <a:t>'tight'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plt.close()</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f"Saved: {</a:t>
            </a:r>
            <a:r>
              <a:rPr lang="en-US" sz="830" dirty="0">
                <a:solidFill>
                  <a:srgbClr val="D7E3F4"/>
                </a:solidFill>
                <a:latin typeface="Consolas" pitchFamily="34" charset="0"/>
                <a:ea typeface="Consolas" pitchFamily="34" charset="0"/>
                <a:cs typeface="Consolas" pitchFamily="34" charset="0"/>
              </a:rPr>
              <a:t>path2</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---- 3. Top confused pairs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"\nTop 10 most confused class pairs:"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f"{'Actual':&lt;25} {'Predicted':&lt;25} {'Count':&gt;6}"</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58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confused =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(labels)):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j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(labels)):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i != j and cm[i, j] &gt; </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confused.append((labels[i], labels[j], cm[i, j]))</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confused.sort(key=</a:t>
            </a:r>
            <a:r>
              <a:rPr lang="en-US" sz="830" b="1" dirty="0">
                <a:solidFill>
                  <a:srgbClr val="4FC3E8"/>
                </a:solidFill>
                <a:latin typeface="Consolas" pitchFamily="34" charset="0"/>
                <a:ea typeface="Consolas" pitchFamily="34" charset="0"/>
                <a:cs typeface="Consolas" pitchFamily="34" charset="0"/>
              </a:rPr>
              <a:t>lambda</a:t>
            </a:r>
            <a:r>
              <a:rPr lang="en-US" sz="830" dirty="0">
                <a:solidFill>
                  <a:srgbClr val="D7E3F4"/>
                </a:solidFill>
                <a:latin typeface="Consolas" pitchFamily="34" charset="0"/>
                <a:ea typeface="Consolas" pitchFamily="34" charset="0"/>
                <a:cs typeface="Consolas" pitchFamily="34" charset="0"/>
              </a:rPr>
              <a:t> x: -x[</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actual, predicted, count in confused[:</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actual</a:t>
            </a:r>
            <a:r>
              <a:rPr lang="en-US" sz="830" dirty="0">
                <a:solidFill>
                  <a:srgbClr val="FFC94D"/>
                </a:solidFill>
                <a:latin typeface="Consolas" pitchFamily="34" charset="0"/>
                <a:ea typeface="Consolas" pitchFamily="34" charset="0"/>
                <a:cs typeface="Consolas" pitchFamily="34" charset="0"/>
              </a:rPr>
              <a:t>:&lt;25} {</a:t>
            </a:r>
            <a:r>
              <a:rPr lang="en-US" sz="830" dirty="0">
                <a:solidFill>
                  <a:srgbClr val="D7E3F4"/>
                </a:solidFill>
                <a:latin typeface="Consolas" pitchFamily="34" charset="0"/>
                <a:ea typeface="Consolas" pitchFamily="34" charset="0"/>
                <a:cs typeface="Consolas" pitchFamily="34" charset="0"/>
              </a:rPr>
              <a:t>predicted</a:t>
            </a:r>
            <a:r>
              <a:rPr lang="en-US" sz="830" dirty="0">
                <a:solidFill>
                  <a:srgbClr val="FFC94D"/>
                </a:solidFill>
                <a:latin typeface="Consolas" pitchFamily="34" charset="0"/>
                <a:ea typeface="Consolas" pitchFamily="34" charset="0"/>
                <a:cs typeface="Consolas" pitchFamily="34" charset="0"/>
              </a:rPr>
              <a:t>:&lt;25} {</a:t>
            </a:r>
            <a:r>
              <a:rPr lang="en-US" sz="830" dirty="0">
                <a:solidFill>
                  <a:srgbClr val="D7E3F4"/>
                </a:solidFill>
                <a:latin typeface="Consolas" pitchFamily="34" charset="0"/>
                <a:ea typeface="Consolas" pitchFamily="34" charset="0"/>
                <a:cs typeface="Consolas" pitchFamily="34" charset="0"/>
              </a:rPr>
              <a:t>count</a:t>
            </a:r>
            <a:r>
              <a:rPr lang="en-US" sz="830" dirty="0">
                <a:solidFill>
                  <a:srgbClr val="FFC94D"/>
                </a:solidFill>
                <a:latin typeface="Consolas" pitchFamily="34" charset="0"/>
                <a:ea typeface="Consolas" pitchFamily="34" charset="0"/>
                <a:cs typeface="Consolas" pitchFamily="34" charset="0"/>
              </a:rPr>
              <a:t>:&gt;6}"</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---- 4. Per-circuit accuracy breakdown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"\nPer-circuit accuracy:"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f"{'Circuit':&lt;15} {'Accuracy':&gt;10} {'Correct':&gt;8} {'Total':&gt;8}"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45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Map test indices back to circuit labels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(5/7)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df_test = df.iloc[</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pd.Series(</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(df))).sample(frac=TEST_SIZE,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random_state=RANDOM_STATE).sort_values().index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circuits =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y_test_labels   = le.inverse_transform(y_test)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y_pred_labels   = le.inverse_transform(y_pred)</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circ in circuits: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mask    = np.array([circ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in l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l in y_test_labels])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mask.sum() == </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continue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correct = np.sum(y_test_labels[mask] == y_pred_labels[mask])</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total   = mask.sum()</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acc     = correct / total * </a:t>
            </a:r>
            <a:r>
              <a:rPr lang="en-US" sz="830" dirty="0">
                <a:solidFill>
                  <a:srgbClr val="E38B7A"/>
                </a:solidFill>
                <a:latin typeface="Consolas" pitchFamily="34" charset="0"/>
                <a:ea typeface="Consolas" pitchFamily="34" charset="0"/>
                <a:cs typeface="Consolas" pitchFamily="34" charset="0"/>
              </a:rPr>
              <a:t>100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circ</a:t>
            </a:r>
            <a:r>
              <a:rPr lang="en-US" sz="830" dirty="0">
                <a:solidFill>
                  <a:srgbClr val="FFC94D"/>
                </a:solidFill>
                <a:latin typeface="Consolas" pitchFamily="34" charset="0"/>
                <a:ea typeface="Consolas" pitchFamily="34" charset="0"/>
                <a:cs typeface="Consolas" pitchFamily="34" charset="0"/>
              </a:rPr>
              <a:t>:&lt;15} {</a:t>
            </a:r>
            <a:r>
              <a:rPr lang="en-US" sz="830" dirty="0">
                <a:solidFill>
                  <a:srgbClr val="D7E3F4"/>
                </a:solidFill>
                <a:latin typeface="Consolas" pitchFamily="34" charset="0"/>
                <a:ea typeface="Consolas" pitchFamily="34" charset="0"/>
                <a:cs typeface="Consolas" pitchFamily="34" charset="0"/>
              </a:rPr>
              <a:t>acc</a:t>
            </a:r>
            <a:r>
              <a:rPr lang="en-US" sz="830" dirty="0">
                <a:solidFill>
                  <a:srgbClr val="FFC94D"/>
                </a:solidFill>
                <a:latin typeface="Consolas" pitchFamily="34" charset="0"/>
                <a:ea typeface="Consolas" pitchFamily="34" charset="0"/>
                <a:cs typeface="Consolas" pitchFamily="34" charset="0"/>
              </a:rPr>
              <a:t>:&gt;9.2f}% {</a:t>
            </a:r>
            <a:r>
              <a:rPr lang="en-US" sz="830" dirty="0">
                <a:solidFill>
                  <a:srgbClr val="D7E3F4"/>
                </a:solidFill>
                <a:latin typeface="Consolas" pitchFamily="34" charset="0"/>
                <a:ea typeface="Consolas" pitchFamily="34" charset="0"/>
                <a:cs typeface="Consolas" pitchFamily="34" charset="0"/>
              </a:rPr>
              <a:t>correct</a:t>
            </a:r>
            <a:r>
              <a:rPr lang="en-US" sz="830" dirty="0">
                <a:solidFill>
                  <a:srgbClr val="FFC94D"/>
                </a:solidFill>
                <a:latin typeface="Consolas" pitchFamily="34" charset="0"/>
                <a:ea typeface="Consolas" pitchFamily="34" charset="0"/>
                <a:cs typeface="Consolas" pitchFamily="34" charset="0"/>
              </a:rPr>
              <a:t>:&gt;8} {</a:t>
            </a:r>
            <a:r>
              <a:rPr lang="en-US" sz="830" dirty="0">
                <a:solidFill>
                  <a:srgbClr val="D7E3F4"/>
                </a:solidFill>
                <a:latin typeface="Consolas" pitchFamily="34" charset="0"/>
                <a:ea typeface="Consolas" pitchFamily="34" charset="0"/>
                <a:cs typeface="Consolas" pitchFamily="34" charset="0"/>
              </a:rPr>
              <a:t>total</a:t>
            </a:r>
            <a:r>
              <a:rPr lang="en-US" sz="830" dirty="0">
                <a:solidFill>
                  <a:srgbClr val="FFC94D"/>
                </a:solidFill>
                <a:latin typeface="Consolas" pitchFamily="34" charset="0"/>
                <a:ea typeface="Consolas" pitchFamily="34" charset="0"/>
                <a:cs typeface="Consolas" pitchFamily="34" charset="0"/>
              </a:rPr>
              <a:t>:&gt;8}"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---- 5. RC_open diagnosis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"\n--- RC_open vs RC_short Feature Diagnosis ---"</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rc_open  = df[(df[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&amp;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"open"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rc_short = df[(df[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&amp;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"short"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key_features = [</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"f2"</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"f3"</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"f4"</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"f5"</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"f14"</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feat_names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"peak_voltage"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"f2"</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"rms_value"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"f3"</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"mean_voltage"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"f4"</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"std_voltage"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"f5"</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"rise_time"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"f14"</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"energy"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f"\n{'Feature':&lt;12} {'RC_open mean':&gt;14} {'RC_short mean':&gt;14} {'Separable?':&gt;12}"</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(6/7)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55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f in key_features: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o_mean = rc_open[f].mean()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s_mean = rc_short[f].mean()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gap    = </a:t>
            </a:r>
            <a:r>
              <a:rPr lang="en-US" sz="830" dirty="0">
                <a:solidFill>
                  <a:srgbClr val="4FC3E8"/>
                </a:solidFill>
                <a:latin typeface="Consolas" pitchFamily="34" charset="0"/>
                <a:ea typeface="Consolas" pitchFamily="34" charset="0"/>
                <a:cs typeface="Consolas" pitchFamily="34" charset="0"/>
              </a:rPr>
              <a:t>abs</a:t>
            </a:r>
            <a:r>
              <a:rPr lang="en-US" sz="830" dirty="0">
                <a:solidFill>
                  <a:srgbClr val="D7E3F4"/>
                </a:solidFill>
                <a:latin typeface="Consolas" pitchFamily="34" charset="0"/>
                <a:ea typeface="Consolas" pitchFamily="34" charset="0"/>
                <a:cs typeface="Consolas" pitchFamily="34" charset="0"/>
              </a:rPr>
              <a:t>(o_mean - s_mean)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sep    = </a:t>
            </a:r>
            <a:r>
              <a:rPr lang="en-US" sz="830" dirty="0">
                <a:solidFill>
                  <a:srgbClr val="FFC94D"/>
                </a:solidFill>
                <a:latin typeface="Consolas" pitchFamily="34" charset="0"/>
                <a:ea typeface="Consolas" pitchFamily="34" charset="0"/>
                <a:cs typeface="Consolas" pitchFamily="34" charset="0"/>
              </a:rPr>
              <a:t>"YES"</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gap &gt; </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"MARGINAL"</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gap &gt;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"NO"</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feat_names[f]</a:t>
            </a:r>
            <a:r>
              <a:rPr lang="en-US" sz="830" dirty="0">
                <a:solidFill>
                  <a:srgbClr val="FFC94D"/>
                </a:solidFill>
                <a:latin typeface="Consolas" pitchFamily="34" charset="0"/>
                <a:ea typeface="Consolas" pitchFamily="34" charset="0"/>
                <a:cs typeface="Consolas" pitchFamily="34" charset="0"/>
              </a:rPr>
              <a:t>:&lt;12} {</a:t>
            </a:r>
            <a:r>
              <a:rPr lang="en-US" sz="830" dirty="0">
                <a:solidFill>
                  <a:srgbClr val="D7E3F4"/>
                </a:solidFill>
                <a:latin typeface="Consolas" pitchFamily="34" charset="0"/>
                <a:ea typeface="Consolas" pitchFamily="34" charset="0"/>
                <a:cs typeface="Consolas" pitchFamily="34" charset="0"/>
              </a:rPr>
              <a:t>o_mean</a:t>
            </a:r>
            <a:r>
              <a:rPr lang="en-US" sz="830" dirty="0">
                <a:solidFill>
                  <a:srgbClr val="FFC94D"/>
                </a:solidFill>
                <a:latin typeface="Consolas" pitchFamily="34" charset="0"/>
                <a:ea typeface="Consolas" pitchFamily="34" charset="0"/>
                <a:cs typeface="Consolas" pitchFamily="34" charset="0"/>
              </a:rPr>
              <a:t>:&gt;14.4f} {</a:t>
            </a:r>
            <a:r>
              <a:rPr lang="en-US" sz="830" dirty="0">
                <a:solidFill>
                  <a:srgbClr val="D7E3F4"/>
                </a:solidFill>
                <a:latin typeface="Consolas" pitchFamily="34" charset="0"/>
                <a:ea typeface="Consolas" pitchFamily="34" charset="0"/>
                <a:cs typeface="Consolas" pitchFamily="34" charset="0"/>
              </a:rPr>
              <a:t>s_mean</a:t>
            </a:r>
            <a:r>
              <a:rPr lang="en-US" sz="830" dirty="0">
                <a:solidFill>
                  <a:srgbClr val="FFC94D"/>
                </a:solidFill>
                <a:latin typeface="Consolas" pitchFamily="34" charset="0"/>
                <a:ea typeface="Consolas" pitchFamily="34" charset="0"/>
                <a:cs typeface="Consolas" pitchFamily="34" charset="0"/>
              </a:rPr>
              <a:t>:&gt;14.4f} {</a:t>
            </a:r>
            <a:r>
              <a:rPr lang="en-US" sz="830" dirty="0">
                <a:solidFill>
                  <a:srgbClr val="D7E3F4"/>
                </a:solidFill>
                <a:latin typeface="Consolas" pitchFamily="34" charset="0"/>
                <a:ea typeface="Consolas" pitchFamily="34" charset="0"/>
                <a:cs typeface="Consolas" pitchFamily="34" charset="0"/>
              </a:rPr>
              <a:t>sep</a:t>
            </a:r>
            <a:r>
              <a:rPr lang="en-US" sz="830" dirty="0">
                <a:solidFill>
                  <a:srgbClr val="FFC94D"/>
                </a:solidFill>
                <a:latin typeface="Consolas" pitchFamily="34" charset="0"/>
                <a:ea typeface="Consolas" pitchFamily="34" charset="0"/>
                <a:cs typeface="Consolas" pitchFamily="34" charset="0"/>
              </a:rPr>
              <a:t>:&gt;12}"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---- 6. Normal vs Drift diagnosis ---------------------------------</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"\n--- Normal vs Drift Feature Diagnosis (all circuits) ---"</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normal = df[df[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"normal"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drift  = df[df[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"drift"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f"\n{'Feature':&lt;12} {'Normal mean':&gt;13} {'Drift mean':&gt;13} {'Separable?':&gt;12}"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52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f in [</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"f2"</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"f3"</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"f5"</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"f6"</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"f9"</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"f13"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n_mean = normal[f].mean()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d_mean = drift[f].mean()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gap    = </a:t>
            </a:r>
            <a:r>
              <a:rPr lang="en-US" sz="830" dirty="0">
                <a:solidFill>
                  <a:srgbClr val="4FC3E8"/>
                </a:solidFill>
                <a:latin typeface="Consolas" pitchFamily="34" charset="0"/>
                <a:ea typeface="Consolas" pitchFamily="34" charset="0"/>
                <a:cs typeface="Consolas" pitchFamily="34" charset="0"/>
              </a:rPr>
              <a:t>abs</a:t>
            </a:r>
            <a:r>
              <a:rPr lang="en-US" sz="830" dirty="0">
                <a:solidFill>
                  <a:srgbClr val="D7E3F4"/>
                </a:solidFill>
                <a:latin typeface="Consolas" pitchFamily="34" charset="0"/>
                <a:ea typeface="Consolas" pitchFamily="34" charset="0"/>
                <a:cs typeface="Consolas" pitchFamily="34" charset="0"/>
              </a:rPr>
              <a:t>(n_mean - d_mean)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sep    = </a:t>
            </a:r>
            <a:r>
              <a:rPr lang="en-US" sz="830" dirty="0">
                <a:solidFill>
                  <a:srgbClr val="FFC94D"/>
                </a:solidFill>
                <a:latin typeface="Consolas" pitchFamily="34" charset="0"/>
                <a:ea typeface="Consolas" pitchFamily="34" charset="0"/>
                <a:cs typeface="Consolas" pitchFamily="34" charset="0"/>
              </a:rPr>
              <a:t>"YES"</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gap &gt; </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"MARGINAL"</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gap &gt; </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"NO"</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f</a:t>
            </a:r>
            <a:r>
              <a:rPr lang="en-US" sz="830" dirty="0">
                <a:solidFill>
                  <a:srgbClr val="FFC94D"/>
                </a:solidFill>
                <a:latin typeface="Consolas" pitchFamily="34" charset="0"/>
                <a:ea typeface="Consolas" pitchFamily="34" charset="0"/>
                <a:cs typeface="Consolas" pitchFamily="34" charset="0"/>
              </a:rPr>
              <a:t>:&lt;12} {</a:t>
            </a:r>
            <a:r>
              <a:rPr lang="en-US" sz="830" dirty="0">
                <a:solidFill>
                  <a:srgbClr val="D7E3F4"/>
                </a:solidFill>
                <a:latin typeface="Consolas" pitchFamily="34" charset="0"/>
                <a:ea typeface="Consolas" pitchFamily="34" charset="0"/>
                <a:cs typeface="Consolas" pitchFamily="34" charset="0"/>
              </a:rPr>
              <a:t>n_mean</a:t>
            </a:r>
            <a:r>
              <a:rPr lang="en-US" sz="830" dirty="0">
                <a:solidFill>
                  <a:srgbClr val="FFC94D"/>
                </a:solidFill>
                <a:latin typeface="Consolas" pitchFamily="34" charset="0"/>
                <a:ea typeface="Consolas" pitchFamily="34" charset="0"/>
                <a:cs typeface="Consolas" pitchFamily="34" charset="0"/>
              </a:rPr>
              <a:t>:&gt;13.4f} {</a:t>
            </a:r>
            <a:r>
              <a:rPr lang="en-US" sz="830" dirty="0">
                <a:solidFill>
                  <a:srgbClr val="D7E3F4"/>
                </a:solidFill>
                <a:latin typeface="Consolas" pitchFamily="34" charset="0"/>
                <a:ea typeface="Consolas" pitchFamily="34" charset="0"/>
                <a:cs typeface="Consolas" pitchFamily="34" charset="0"/>
              </a:rPr>
              <a:t>d_mean</a:t>
            </a:r>
            <a:r>
              <a:rPr lang="en-US" sz="830" dirty="0">
                <a:solidFill>
                  <a:srgbClr val="FFC94D"/>
                </a:solidFill>
                <a:latin typeface="Consolas" pitchFamily="34" charset="0"/>
                <a:ea typeface="Consolas" pitchFamily="34" charset="0"/>
                <a:cs typeface="Consolas" pitchFamily="34" charset="0"/>
              </a:rPr>
              <a:t>:&gt;13.4f} {</a:t>
            </a:r>
            <a:r>
              <a:rPr lang="en-US" sz="830" dirty="0">
                <a:solidFill>
                  <a:srgbClr val="D7E3F4"/>
                </a:solidFill>
                <a:latin typeface="Consolas" pitchFamily="34" charset="0"/>
                <a:ea typeface="Consolas" pitchFamily="34" charset="0"/>
                <a:cs typeface="Consolas" pitchFamily="34" charset="0"/>
              </a:rPr>
              <a:t>sep</a:t>
            </a:r>
            <a:r>
              <a:rPr lang="en-US" sz="830" dirty="0">
                <a:solidFill>
                  <a:srgbClr val="FFC94D"/>
                </a:solidFill>
                <a:latin typeface="Consolas" pitchFamily="34" charset="0"/>
                <a:ea typeface="Consolas" pitchFamily="34" charset="0"/>
                <a:cs typeface="Consolas" pitchFamily="34" charset="0"/>
              </a:rPr>
              <a:t>:&gt;12}"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---- 7. Summary report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report = classification_report(y_test, y_pred,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target_names=labels, digits=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f"\nFull Classification Report:\n{</a:t>
            </a:r>
            <a:r>
              <a:rPr lang="en-US" sz="830" dirty="0">
                <a:solidFill>
                  <a:srgbClr val="D7E3F4"/>
                </a:solidFill>
                <a:latin typeface="Consolas" pitchFamily="34" charset="0"/>
                <a:ea typeface="Consolas" pitchFamily="34" charset="0"/>
                <a:cs typeface="Consolas" pitchFamily="34" charset="0"/>
              </a:rPr>
              <a:t>report</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summary = </a:t>
            </a:r>
            <a:r>
              <a:rPr lang="en-US" sz="830" dirty="0">
                <a:solidFill>
                  <a:srgbClr val="FFC94D"/>
                </a:solidFill>
                <a:latin typeface="Consolas" pitchFamily="34" charset="0"/>
                <a:ea typeface="Consolas" pitchFamily="34" charset="0"/>
                <a:cs typeface="Consolas" pitchFamily="34" charset="0"/>
              </a:rPr>
              <a:t>f"""</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DAY </a:t>
            </a:r>
            <a:r>
              <a:rPr lang="en-US" sz="830" dirty="0">
                <a:solidFill>
                  <a:srgbClr val="E38B7A"/>
                </a:solidFill>
                <a:latin typeface="Consolas" pitchFamily="34" charset="0"/>
                <a:ea typeface="Consolas" pitchFamily="34" charset="0"/>
                <a:cs typeface="Consolas" pitchFamily="34" charset="0"/>
              </a:rPr>
              <a:t>16</a:t>
            </a:r>
            <a:r>
              <a:rPr lang="en-US" sz="830" dirty="0">
                <a:solidFill>
                  <a:srgbClr val="D7E3F4"/>
                </a:solidFill>
                <a:latin typeface="Consolas" pitchFamily="34" charset="0"/>
                <a:ea typeface="Consolas" pitchFamily="34" charset="0"/>
                <a:cs typeface="Consolas" pitchFamily="34" charset="0"/>
              </a:rPr>
              <a:t> ANALYSIS SUMMARY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 Model    : RBF SVM, 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E38B7A"/>
                </a:solidFill>
                <a:latin typeface="Consolas" pitchFamily="34" charset="0"/>
                <a:ea typeface="Consolas" pitchFamily="34" charset="0"/>
                <a:cs typeface="Consolas" pitchFamily="34" charset="0"/>
              </a:rPr>
              <a:t>0.1</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Confusion Matrix &amp; Diagnostic Analysis  (7/7)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 Accuracy : {test_acc*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f}%</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Perfect classes (F1=</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.join([labels[i]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i,f in </a:t>
            </a:r>
            <a:r>
              <a:rPr lang="en-US" sz="830" dirty="0">
                <a:solidFill>
                  <a:srgbClr val="4FC3E8"/>
                </a:solidFill>
                <a:latin typeface="Consolas" pitchFamily="34" charset="0"/>
                <a:ea typeface="Consolas" pitchFamily="34" charset="0"/>
                <a:cs typeface="Consolas" pitchFamily="34" charset="0"/>
              </a:rPr>
              <a:t>enumerate</a:t>
            </a:r>
            <a:r>
              <a:rPr lang="en-US" sz="830" dirty="0">
                <a:solidFill>
                  <a:srgbClr val="D7E3F4"/>
                </a:solidFill>
                <a:latin typeface="Consolas" pitchFamily="34" charset="0"/>
                <a:ea typeface="Consolas" pitchFamily="34" charset="0"/>
                <a:cs typeface="Consolas" pitchFamily="34" charset="0"/>
              </a:rPr>
              <a:t>(f1_scores)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Failed classes (F1=</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.join([labels[i]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i,f in </a:t>
            </a:r>
            <a:r>
              <a:rPr lang="en-US" sz="830" dirty="0">
                <a:solidFill>
                  <a:srgbClr val="4FC3E8"/>
                </a:solidFill>
                <a:latin typeface="Consolas" pitchFamily="34" charset="0"/>
                <a:ea typeface="Consolas" pitchFamily="34" charset="0"/>
                <a:cs typeface="Consolas" pitchFamily="34" charset="0"/>
              </a:rPr>
              <a:t>enumerate</a:t>
            </a:r>
            <a:r>
              <a:rPr lang="en-US" sz="830" dirty="0">
                <a:solidFill>
                  <a:srgbClr val="D7E3F4"/>
                </a:solidFill>
                <a:latin typeface="Consolas" pitchFamily="34" charset="0"/>
                <a:ea typeface="Consolas" pitchFamily="34" charset="0"/>
                <a:cs typeface="Consolas" pitchFamily="34" charset="0"/>
              </a:rPr>
              <a:t>(f1_scores)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a:t>
            </a:r>
            <a:r>
              <a:rPr lang="en-US" sz="830" dirty="0">
                <a:solidFill>
                  <a:srgbClr val="E38B7A"/>
                </a:solidFill>
                <a:latin typeface="Consolas" pitchFamily="34" charset="0"/>
                <a:ea typeface="Consolas" pitchFamily="34" charset="0"/>
                <a:cs typeface="Consolas" pitchFamily="34" charset="0"/>
              </a:rPr>
              <a:t>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Weak classes (F1 &lt; </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.join([labels[i]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i,f in </a:t>
            </a:r>
            <a:r>
              <a:rPr lang="en-US" sz="830" dirty="0">
                <a:solidFill>
                  <a:srgbClr val="4FC3E8"/>
                </a:solidFill>
                <a:latin typeface="Consolas" pitchFamily="34" charset="0"/>
                <a:ea typeface="Consolas" pitchFamily="34" charset="0"/>
                <a:cs typeface="Consolas" pitchFamily="34" charset="0"/>
              </a:rPr>
              <a:t>enumerate</a:t>
            </a:r>
            <a:r>
              <a:rPr lang="en-US" sz="830" dirty="0">
                <a:solidFill>
                  <a:srgbClr val="D7E3F4"/>
                </a:solidFill>
                <a:latin typeface="Consolas" pitchFamily="34" charset="0"/>
                <a:ea typeface="Consolas" pitchFamily="34" charset="0"/>
                <a:cs typeface="Consolas" pitchFamily="34" charset="0"/>
              </a:rPr>
              <a:t>(f1_scores)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&lt; f &lt; </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(summary)</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out_txt = os.path.join(OUT_DIR, </a:t>
            </a:r>
            <a:r>
              <a:rPr lang="en-US" sz="830" dirty="0">
                <a:solidFill>
                  <a:srgbClr val="FFC94D"/>
                </a:solidFill>
                <a:latin typeface="Consolas" pitchFamily="34" charset="0"/>
                <a:ea typeface="Consolas" pitchFamily="34" charset="0"/>
                <a:cs typeface="Consolas" pitchFamily="34" charset="0"/>
              </a:rPr>
              <a:t>"day16_summary.txt"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open</a:t>
            </a:r>
            <a:r>
              <a:rPr lang="en-US" sz="830" dirty="0">
                <a:solidFill>
                  <a:srgbClr val="D7E3F4"/>
                </a:solidFill>
                <a:latin typeface="Consolas" pitchFamily="34" charset="0"/>
                <a:ea typeface="Consolas" pitchFamily="34" charset="0"/>
                <a:cs typeface="Consolas" pitchFamily="34" charset="0"/>
              </a:rPr>
              <a:t>(out_txt, </a:t>
            </a:r>
            <a:r>
              <a:rPr lang="en-US" sz="830" dirty="0">
                <a:solidFill>
                  <a:srgbClr val="FFC94D"/>
                </a:solidFill>
                <a:latin typeface="Consolas" pitchFamily="34" charset="0"/>
                <a:ea typeface="Consolas" pitchFamily="34" charset="0"/>
                <a:cs typeface="Consolas" pitchFamily="34" charset="0"/>
              </a:rPr>
              <a:t>"w"</a:t>
            </a:r>
            <a:r>
              <a:rPr lang="en-US" sz="830" dirty="0">
                <a:solidFill>
                  <a:srgbClr val="D7E3F4"/>
                </a:solidFill>
                <a:latin typeface="Consolas" pitchFamily="34" charset="0"/>
                <a:ea typeface="Consolas" pitchFamily="34" charset="0"/>
                <a:cs typeface="Consolas" pitchFamily="34" charset="0"/>
              </a:rPr>
              <a:t>, encoding=</a:t>
            </a:r>
            <a:r>
              <a:rPr lang="en-US" sz="830" dirty="0">
                <a:solidFill>
                  <a:srgbClr val="FFC94D"/>
                </a:solidFill>
                <a:latin typeface="Consolas" pitchFamily="34" charset="0"/>
                <a:ea typeface="Consolas" pitchFamily="34" charset="0"/>
                <a:cs typeface="Consolas" pitchFamily="34" charset="0"/>
              </a:rPr>
              <a:t>"utf-8"</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f:</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f.write(summary)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f.write(</a:t>
            </a:r>
            <a:r>
              <a:rPr lang="en-US" sz="830" dirty="0">
                <a:solidFill>
                  <a:srgbClr val="FFC94D"/>
                </a:solidFill>
                <a:latin typeface="Consolas" pitchFamily="34" charset="0"/>
                <a:ea typeface="Consolas" pitchFamily="34" charset="0"/>
                <a:cs typeface="Consolas" pitchFamily="34" charset="0"/>
              </a:rPr>
              <a:t>"\nFull Classification Report:\n"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f.write(report)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f.write(</a:t>
            </a:r>
            <a:r>
              <a:rPr lang="en-US" sz="830" dirty="0">
                <a:solidFill>
                  <a:srgbClr val="FFC94D"/>
                </a:solidFill>
                <a:latin typeface="Consolas" pitchFamily="34" charset="0"/>
                <a:ea typeface="Consolas" pitchFamily="34" charset="0"/>
                <a:cs typeface="Consolas" pitchFamily="34" charset="0"/>
              </a:rPr>
              <a:t>"\n\nTop Confused Pairs:\n"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actual, predicted, count in confused[:</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f.write(</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actual</a:t>
            </a:r>
            <a:r>
              <a:rPr lang="en-US" sz="830" dirty="0">
                <a:solidFill>
                  <a:srgbClr val="FFC94D"/>
                </a:solidFill>
                <a:latin typeface="Consolas" pitchFamily="34" charset="0"/>
                <a:ea typeface="Consolas" pitchFamily="34" charset="0"/>
                <a:cs typeface="Consolas" pitchFamily="34" charset="0"/>
              </a:rPr>
              <a:t>} -&gt; {</a:t>
            </a:r>
            <a:r>
              <a:rPr lang="en-US" sz="830" dirty="0">
                <a:solidFill>
                  <a:srgbClr val="D7E3F4"/>
                </a:solidFill>
                <a:latin typeface="Consolas" pitchFamily="34" charset="0"/>
                <a:ea typeface="Consolas" pitchFamily="34" charset="0"/>
                <a:cs typeface="Consolas" pitchFamily="34" charset="0"/>
              </a:rPr>
              <a:t>predicted</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count</a:t>
            </a:r>
            <a:r>
              <a:rPr lang="en-US" sz="830" dirty="0">
                <a:solidFill>
                  <a:srgbClr val="FFC94D"/>
                </a:solidFill>
                <a:latin typeface="Consolas" pitchFamily="34" charset="0"/>
                <a:ea typeface="Consolas" pitchFamily="34" charset="0"/>
                <a:cs typeface="Consolas" pitchFamily="34" charset="0"/>
              </a:rPr>
              <a:t>}\n"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f"\nAll outputs saved to: {</a:t>
            </a:r>
            <a:r>
              <a:rPr lang="en-US" sz="830" dirty="0">
                <a:solidFill>
                  <a:srgbClr val="D7E3F4"/>
                </a:solidFill>
                <a:latin typeface="Consolas" pitchFamily="34" charset="0"/>
                <a:ea typeface="Consolas" pitchFamily="34" charset="0"/>
                <a:cs typeface="Consolas" pitchFamily="34" charset="0"/>
              </a:rPr>
              <a:t>OUT_DIR</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"Files: confusion_matrix.png, f1_per_class.png, day16_summary.txt"</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save_model.py  </a:t>
            </a:r>
            <a:r>
              <a:rPr lang="en-US" sz="1100" dirty="0">
                <a:solidFill>
                  <a:srgbClr val="64748B"/>
                </a:solidFill>
                <a:latin typeface="Calibri" pitchFamily="34" charset="0"/>
                <a:ea typeface="Calibri" pitchFamily="34" charset="-122"/>
                <a:cs typeface="Calibri" pitchFamily="34" charset="-120"/>
              </a:rPr>
              <a:t>— Fits the final tuned RBF model on features_v2.csv and serializes model.pkl / scaler.pkl / label_encoder.pkl</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save_model.py</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Trains the final RBF model with topology rule and saves it</a:t>
            </a: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as .pkl files for deployment in the Streamlit app.</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 warnings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warnings.filterwarnings(</a:t>
            </a:r>
            <a:r>
              <a:rPr lang="en-US" sz="830" dirty="0">
                <a:solidFill>
                  <a:srgbClr val="FFC94D"/>
                </a:solidFill>
                <a:latin typeface="Consolas" pitchFamily="34" charset="0"/>
                <a:ea typeface="Consolas" pitchFamily="34" charset="0"/>
                <a:cs typeface="Consolas" pitchFamily="34" charset="0"/>
              </a:rPr>
              <a:t>'ignore'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joblib</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sklearn.svm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SVC</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sklearn.preprocessing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StandardScaler, LabelEncoder</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sklearn.model_selection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train_test_split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BASE = </a:t>
            </a:r>
            <a:r>
              <a:rPr lang="en-US" sz="830" dirty="0">
                <a:solidFill>
                  <a:srgbClr val="FFC94D"/>
                </a:solidFill>
                <a:latin typeface="Consolas" pitchFamily="34" charset="0"/>
                <a:ea typeface="Consolas" pitchFamily="34" charset="0"/>
                <a:cs typeface="Consolas" pitchFamily="34" charset="0"/>
              </a:rPr>
              <a:t>r"C:\Users\karan\Desktop\May-June_july\Final Sn Bose"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FEATURE_COLS =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Load data</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pd.read_csv(os.path.join(BASE, </a:t>
            </a:r>
            <a:r>
              <a:rPr lang="en-US" sz="830" dirty="0">
                <a:solidFill>
                  <a:srgbClr val="FFC94D"/>
                </a:solidFill>
                <a:latin typeface="Consolas" pitchFamily="34" charset="0"/>
                <a:ea typeface="Consolas" pitchFamily="34" charset="0"/>
                <a:cs typeface="Consolas" pitchFamily="34" charset="0"/>
              </a:rPr>
              <a:t>"features_v2.csv"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Encode labels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le = LabelEncoder()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 = le.fit_transform(df[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 = df[FEATURE_COLS].values</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Split (same random_state as before for consistency)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 X_test, y_train, y_test = train_test_split(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X, y, test_size=</a:t>
            </a:r>
            <a:r>
              <a:rPr lang="en-US" sz="830" dirty="0">
                <a:solidFill>
                  <a:srgbClr val="E38B7A"/>
                </a:solidFill>
                <a:latin typeface="Consolas" pitchFamily="34" charset="0"/>
                <a:ea typeface="Consolas" pitchFamily="34" charset="0"/>
                <a:cs typeface="Consolas" pitchFamily="34" charset="0"/>
              </a:rPr>
              <a:t>0.20</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 stratify=y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Scale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save_model.py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scaler = StandardScaler()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X_train_scaled = scaler.fit_transform(X_train)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X_test_scaled  = scaler.transform(X_test)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Train final model</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model = SVC(kernel=</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 probability=</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model.fit(X_train_scaled, y_train)</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Verify accuracy</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sklearn.metrics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accuracy_score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acc = accuracy_score(y_test, model.predict(X_test_scaled)) * </a:t>
            </a:r>
            <a:r>
              <a:rPr lang="en-US" sz="830" dirty="0">
                <a:solidFill>
                  <a:srgbClr val="E38B7A"/>
                </a:solidFill>
                <a:latin typeface="Consolas" pitchFamily="34" charset="0"/>
                <a:ea typeface="Consolas" pitchFamily="34" charset="0"/>
                <a:cs typeface="Consolas" pitchFamily="34" charset="0"/>
              </a:rPr>
              <a:t>100</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f"Model accuracy on test set: {</a:t>
            </a:r>
            <a:r>
              <a:rPr lang="en-US" sz="830" dirty="0">
                <a:solidFill>
                  <a:srgbClr val="D7E3F4"/>
                </a:solidFill>
                <a:latin typeface="Consolas" pitchFamily="34" charset="0"/>
                <a:ea typeface="Consolas" pitchFamily="34" charset="0"/>
                <a:cs typeface="Consolas" pitchFamily="34" charset="0"/>
              </a:rPr>
              <a:t>acc</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Save everything needed for deployment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SAVE_DIR = os.path.join(BASE, </a:t>
            </a:r>
            <a:r>
              <a:rPr lang="en-US" sz="830" dirty="0">
                <a:solidFill>
                  <a:srgbClr val="FFC94D"/>
                </a:solidFill>
                <a:latin typeface="Consolas" pitchFamily="34" charset="0"/>
                <a:ea typeface="Consolas" pitchFamily="34" charset="0"/>
                <a:cs typeface="Consolas" pitchFamily="34" charset="0"/>
              </a:rPr>
              <a:t>"deployment"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os.makedirs(SAVE_DIR, exist_ok=</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joblib.dump(model, os.path.join(SAVE_DIR, </a:t>
            </a:r>
            <a:r>
              <a:rPr lang="en-US" sz="830" dirty="0">
                <a:solidFill>
                  <a:srgbClr val="FFC94D"/>
                </a:solidFill>
                <a:latin typeface="Consolas" pitchFamily="34" charset="0"/>
                <a:ea typeface="Consolas" pitchFamily="34" charset="0"/>
                <a:cs typeface="Consolas" pitchFamily="34" charset="0"/>
              </a:rPr>
              <a:t>"model.pkl"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joblib.dump(scaler, os.path.join(SAVE_DIR, </a:t>
            </a:r>
            <a:r>
              <a:rPr lang="en-US" sz="830" dirty="0">
                <a:solidFill>
                  <a:srgbClr val="FFC94D"/>
                </a:solidFill>
                <a:latin typeface="Consolas" pitchFamily="34" charset="0"/>
                <a:ea typeface="Consolas" pitchFamily="34" charset="0"/>
                <a:cs typeface="Consolas" pitchFamily="34" charset="0"/>
              </a:rPr>
              <a:t>"scaler.pkl"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joblib.dump(le, os.path.join(SAVE_DIR, </a:t>
            </a:r>
            <a:r>
              <a:rPr lang="en-US" sz="830" dirty="0">
                <a:solidFill>
                  <a:srgbClr val="FFC94D"/>
                </a:solidFill>
                <a:latin typeface="Consolas" pitchFamily="34" charset="0"/>
                <a:ea typeface="Consolas" pitchFamily="34" charset="0"/>
                <a:cs typeface="Consolas" pitchFamily="34" charset="0"/>
              </a:rPr>
              <a:t>"label_encoder.pkl"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Also save a few sample test rows for the demo</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sample_df = df.iloc[X_test.shape[</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5</a:t>
            </a:r>
            <a:r>
              <a:rPr lang="en-US" sz="830" dirty="0">
                <a:solidFill>
                  <a:srgbClr val="D7E3F4"/>
                </a:solidFill>
                <a:latin typeface="Consolas" pitchFamily="34" charset="0"/>
                <a:ea typeface="Consolas" pitchFamily="34" charset="0"/>
                <a:cs typeface="Consolas" pitchFamily="34" charset="0"/>
              </a:rPr>
              <a:t>].copy()  </a:t>
            </a:r>
            <a:r>
              <a:rPr lang="en-US" sz="830" i="1" dirty="0">
                <a:solidFill>
                  <a:srgbClr val="6B7A99"/>
                </a:solidFill>
                <a:latin typeface="Consolas" pitchFamily="34" charset="0"/>
                <a:ea typeface="Consolas" pitchFamily="34" charset="0"/>
                <a:cs typeface="Consolas" pitchFamily="34" charset="0"/>
              </a:rPr>
              <a:t># first 5 rows for demo</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sample_df.to_csv(os.path.join(SAVE_DIR, </a:t>
            </a:r>
            <a:r>
              <a:rPr lang="en-US" sz="830" dirty="0">
                <a:solidFill>
                  <a:srgbClr val="FFC94D"/>
                </a:solidFill>
                <a:latin typeface="Consolas" pitchFamily="34" charset="0"/>
                <a:ea typeface="Consolas" pitchFamily="34" charset="0"/>
                <a:cs typeface="Consolas" pitchFamily="34" charset="0"/>
              </a:rPr>
              <a:t>"sample_input.csv"</a:t>
            </a:r>
            <a:r>
              <a:rPr lang="en-US" sz="830" dirty="0">
                <a:solidFill>
                  <a:srgbClr val="D7E3F4"/>
                </a:solidFill>
                <a:latin typeface="Consolas" pitchFamily="34" charset="0"/>
                <a:ea typeface="Consolas" pitchFamily="34" charset="0"/>
                <a:cs typeface="Consolas" pitchFamily="34" charset="0"/>
              </a:rPr>
              <a:t>), index=</a:t>
            </a:r>
            <a:r>
              <a:rPr lang="en-US" sz="830" b="1" dirty="0">
                <a:solidFill>
                  <a:srgbClr val="4FC3E8"/>
                </a:solidFill>
                <a:latin typeface="Consolas" pitchFamily="34" charset="0"/>
                <a:ea typeface="Consolas" pitchFamily="34" charset="0"/>
                <a:cs typeface="Consolas" pitchFamily="34" charset="0"/>
              </a:rPr>
              <a:t>False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f"\nSaved to: {</a:t>
            </a:r>
            <a:r>
              <a:rPr lang="en-US" sz="830" dirty="0">
                <a:solidFill>
                  <a:srgbClr val="D7E3F4"/>
                </a:solidFill>
                <a:latin typeface="Consolas" pitchFamily="34" charset="0"/>
                <a:ea typeface="Consolas" pitchFamily="34" charset="0"/>
                <a:cs typeface="Consolas" pitchFamily="34" charset="0"/>
              </a:rPr>
              <a:t>SAVE_DIR</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"Files: model.pkl, scaler.pkl, label_encoder.pkl, sample_input.csv"</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the Results Dashboard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regenerate_dashboard.py  </a:t>
            </a:r>
            <a:r>
              <a:rPr lang="en-US" sz="1100" dirty="0">
                <a:solidFill>
                  <a:srgbClr val="64748B"/>
                </a:solidFill>
                <a:latin typeface="Calibri" pitchFamily="34" charset="0"/>
                <a:ea typeface="Calibri" pitchFamily="34" charset="-122"/>
                <a:cs typeface="Calibri" pitchFamily="34" charset="-120"/>
              </a:rPr>
              <a:t>— Builds the 6-panel results_dashboard_FINAL.png used throughout the Results section of this deck</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 warnings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warnings.filterwarnings(</a:t>
            </a:r>
            <a:r>
              <a:rPr lang="en-US" sz="830" dirty="0">
                <a:solidFill>
                  <a:srgbClr val="FFC94D"/>
                </a:solidFill>
                <a:latin typeface="Consolas" pitchFamily="34" charset="0"/>
                <a:ea typeface="Consolas" pitchFamily="34" charset="0"/>
                <a:cs typeface="Consolas" pitchFamily="34" charset="0"/>
              </a:rPr>
              <a:t>'ignore'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matplotlib; matplotlib.use(</a:t>
            </a:r>
            <a:r>
              <a:rPr lang="en-US" sz="830" dirty="0">
                <a:solidFill>
                  <a:srgbClr val="FFC94D"/>
                </a:solidFill>
                <a:latin typeface="Consolas" pitchFamily="34" charset="0"/>
                <a:ea typeface="Consolas" pitchFamily="34" charset="0"/>
                <a:cs typeface="Consolas" pitchFamily="34" charset="0"/>
              </a:rPr>
              <a:t>'Agg'</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matplotlib.pyplot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plt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matplotlib.gridspec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gridspec</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seaborn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sns</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sklearn.svm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SVC</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sklearn.preprocessing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StandardScaler, LabelEncoder</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sklearn.model_selection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train_test_split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sklearn.metrics </a:t>
            </a: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accuracy_score, f1_score, confusion_matrix, classification_report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REPO = </a:t>
            </a:r>
            <a:r>
              <a:rPr lang="en-US" sz="830" dirty="0">
                <a:solidFill>
                  <a:srgbClr val="FFC94D"/>
                </a:solidFill>
                <a:latin typeface="Consolas" pitchFamily="34" charset="0"/>
                <a:ea typeface="Consolas" pitchFamily="34" charset="0"/>
                <a:cs typeface="Consolas" pitchFamily="34" charset="0"/>
              </a:rPr>
              <a:t>r"C:\Users\karan\Desktop\fault-classification-project"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OUT_DIR = os.path.join(REPO, </a:t>
            </a:r>
            <a:r>
              <a:rPr lang="en-US" sz="830" dirty="0">
                <a:solidFill>
                  <a:srgbClr val="FFC94D"/>
                </a:solidFill>
                <a:latin typeface="Consolas" pitchFamily="34" charset="0"/>
                <a:ea typeface="Consolas" pitchFamily="34" charset="0"/>
                <a:cs typeface="Consolas" pitchFamily="34" charset="0"/>
              </a:rPr>
              <a:t>"results"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os.makedirs(OUT_DIR, exist_ok=</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FEATURE_COLS =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FEATURE_NAMES = [</a:t>
            </a:r>
            <a:r>
              <a:rPr lang="en-US" sz="830" dirty="0">
                <a:solidFill>
                  <a:srgbClr val="FFC94D"/>
                </a:solidFill>
                <a:latin typeface="Consolas" pitchFamily="34" charset="0"/>
                <a:ea typeface="Consolas" pitchFamily="34" charset="0"/>
                <a:cs typeface="Consolas" pitchFamily="34" charset="0"/>
              </a:rPr>
              <a:t>'peak_voltage'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'rms_value'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'mean_voltage'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'std_voltage'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'rise_time'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'settling_time'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'skewness'</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'kurtosis'</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'dominant_freq'</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'spectral_energy'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'spec_centroid'</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'bandwidth'</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'spec_entropy'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'energy'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'zero_crossing_rate'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'crest_factor'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'dc_level'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 = pd.read_csv(os.path.join(REPO, </a:t>
            </a:r>
            <a:r>
              <a:rPr lang="en-US" sz="830" dirty="0">
                <a:solidFill>
                  <a:srgbClr val="FFC94D"/>
                </a:solidFill>
                <a:latin typeface="Consolas" pitchFamily="34" charset="0"/>
                <a:ea typeface="Consolas" pitchFamily="34" charset="0"/>
                <a:cs typeface="Consolas" pitchFamily="34" charset="0"/>
              </a:rPr>
              <a:t>"data"</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"features_v2.csv"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le = LabelEncoder()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 = le.fit_transform(df[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 = df[FEATURE_COLS].values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 X_te, y_tr, y_te = train_test_split(X, y, test_size=</a:t>
            </a:r>
            <a:r>
              <a:rPr lang="en-US" sz="830" dirty="0">
                <a:solidFill>
                  <a:srgbClr val="E38B7A"/>
                </a:solidFill>
                <a:latin typeface="Consolas" pitchFamily="34" charset="0"/>
                <a:ea typeface="Consolas" pitchFamily="34" charset="0"/>
                <a:cs typeface="Consolas" pitchFamily="34" charset="0"/>
              </a:rPr>
              <a:t>0.2</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 stratify=y)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sc = StandardScaler()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X_tr = sc.fit_transform(X_tr)</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the Results Dashboard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X_te = sc.transform(X_te)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labels = </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(le.classes_)</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rc_open_idx  = labels.index(</a:t>
            </a:r>
            <a:r>
              <a:rPr lang="en-US" sz="830" dirty="0">
                <a:solidFill>
                  <a:srgbClr val="FFC94D"/>
                </a:solidFill>
                <a:latin typeface="Consolas" pitchFamily="34" charset="0"/>
                <a:ea typeface="Consolas" pitchFamily="34" charset="0"/>
                <a:cs typeface="Consolas" pitchFamily="34" charset="0"/>
              </a:rPr>
              <a:t>'RC_open'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rlc_open_idx = labels.index(</a:t>
            </a:r>
            <a:r>
              <a:rPr lang="en-US" sz="830" dirty="0">
                <a:solidFill>
                  <a:srgbClr val="FFC94D"/>
                </a:solidFill>
                <a:latin typeface="Consolas" pitchFamily="34" charset="0"/>
                <a:ea typeface="Consolas" pitchFamily="34" charset="0"/>
                <a:cs typeface="Consolas" pitchFamily="34" charset="0"/>
              </a:rPr>
              <a:t>'RLC_open'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test_indices = </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(pd.Series(</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(df))).sample(frac=</a:t>
            </a:r>
            <a:r>
              <a:rPr lang="en-US" sz="830" dirty="0">
                <a:solidFill>
                  <a:srgbClr val="E38B7A"/>
                </a:solidFill>
                <a:latin typeface="Consolas" pitchFamily="34" charset="0"/>
                <a:ea typeface="Consolas" pitchFamily="34" charset="0"/>
                <a:cs typeface="Consolas" pitchFamily="34" charset="0"/>
              </a:rPr>
              <a:t>0.2</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).sort_values().index)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test_circuits = df.iloc[test_indices][</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].values</a:t>
            </a:r>
            <a:endParaRPr lang="en-US" sz="830" dirty="0"/>
          </a:p>
          <a:p>
            <a:pPr marL="0" indent="0">
              <a:lnSpc>
                <a:spcPct val="105000"/>
              </a:lnSpc>
              <a:buNone/>
            </a:pP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apply_topology_rule</a:t>
            </a:r>
            <a:r>
              <a:rPr lang="en-US" sz="830" dirty="0">
                <a:solidFill>
                  <a:srgbClr val="D7E3F4"/>
                </a:solidFill>
                <a:latin typeface="Consolas" pitchFamily="34" charset="0"/>
                <a:ea typeface="Consolas" pitchFamily="34" charset="0"/>
                <a:cs typeface="Consolas" pitchFamily="34" charset="0"/>
              </a:rPr>
              <a:t>(pred_array):</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pred = pred_array.tolist()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pred[i] == rlc_open_idx and test_circuits[i] ==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pred[i] = rc_open_idx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np.array(pred)</a:t>
            </a:r>
            <a:endParaRPr lang="en-US" sz="830" dirty="0"/>
          </a:p>
          <a:p>
            <a:pPr marL="0" indent="0">
              <a:lnSpc>
                <a:spcPct val="105000"/>
              </a:lnSpc>
              <a:buNone/>
            </a:pP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'Training models...'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configs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'Linear\n(default)'</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'RBF\n(default)'</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FFC94D"/>
                </a:solidFill>
                <a:latin typeface="Consolas" pitchFamily="34" charset="0"/>
                <a:ea typeface="Consolas" pitchFamily="34" charset="0"/>
                <a:cs typeface="Consolas" pitchFamily="34" charset="0"/>
              </a:rPr>
              <a:t>'scale'</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'Poly\n(default)'</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'poly'</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FFC94D"/>
                </a:solidFill>
                <a:latin typeface="Consolas" pitchFamily="34" charset="0"/>
                <a:ea typeface="Consolas" pitchFamily="34" charset="0"/>
                <a:cs typeface="Consolas" pitchFamily="34" charset="0"/>
              </a:rPr>
              <a:t>'scale'</a:t>
            </a:r>
            <a:r>
              <a:rPr lang="en-US" sz="830" dirty="0">
                <a:solidFill>
                  <a:srgbClr val="D7E3F4"/>
                </a:solidFill>
                <a:latin typeface="Consolas" pitchFamily="34" charset="0"/>
                <a:ea typeface="Consolas" pitchFamily="34" charset="0"/>
                <a:cs typeface="Consolas" pitchFamily="34" charset="0"/>
              </a:rPr>
              <a:t>, degree=</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 coef0=</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'Linear\n(tuned)'</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'linear'</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'RBF\n(tuned)'</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'rbf'</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'Poly\n(tuned)'</a:t>
            </a:r>
            <a:r>
              <a:rPr lang="en-US" sz="830" dirty="0">
                <a:solidFill>
                  <a:srgbClr val="D7E3F4"/>
                </a:solidFill>
                <a:latin typeface="Consolas" pitchFamily="34" charset="0"/>
                <a:ea typeface="Consolas" pitchFamily="34" charset="0"/>
                <a:cs typeface="Consolas" pitchFamily="34" charset="0"/>
              </a:rPr>
              <a:t>:      SVC(kernel=</a:t>
            </a:r>
            <a:r>
              <a:rPr lang="en-US" sz="830" dirty="0">
                <a:solidFill>
                  <a:srgbClr val="FFC94D"/>
                </a:solidFill>
                <a:latin typeface="Consolas" pitchFamily="34" charset="0"/>
                <a:ea typeface="Consolas" pitchFamily="34" charset="0"/>
                <a:cs typeface="Consolas" pitchFamily="34" charset="0"/>
              </a:rPr>
              <a:t>'poly'</a:t>
            </a:r>
            <a:r>
              <a:rPr lang="en-US" sz="830" dirty="0">
                <a:solidFill>
                  <a:srgbClr val="D7E3F4"/>
                </a:solidFill>
                <a:latin typeface="Consolas" pitchFamily="34" charset="0"/>
                <a:ea typeface="Consolas" pitchFamily="34" charset="0"/>
                <a:cs typeface="Consolas" pitchFamily="34" charset="0"/>
              </a:rPr>
              <a:t>,   C=</a:t>
            </a:r>
            <a:r>
              <a:rPr lang="en-US" sz="830" dirty="0">
                <a:solidFill>
                  <a:srgbClr val="E38B7A"/>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 gamma=</a:t>
            </a:r>
            <a:r>
              <a:rPr lang="en-US" sz="830" dirty="0">
                <a:solidFill>
                  <a:srgbClr val="E38B7A"/>
                </a:solidFill>
                <a:latin typeface="Consolas" pitchFamily="34" charset="0"/>
                <a:ea typeface="Consolas" pitchFamily="34" charset="0"/>
                <a:cs typeface="Consolas" pitchFamily="34" charset="0"/>
              </a:rPr>
              <a:t>0.1</a:t>
            </a:r>
            <a:r>
              <a:rPr lang="en-US" sz="830" dirty="0">
                <a:solidFill>
                  <a:srgbClr val="D7E3F4"/>
                </a:solidFill>
                <a:latin typeface="Consolas" pitchFamily="34" charset="0"/>
                <a:ea typeface="Consolas" pitchFamily="34" charset="0"/>
                <a:cs typeface="Consolas" pitchFamily="34" charset="0"/>
              </a:rPr>
              <a:t>, degree=</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 coef0=</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decision_function_shape=</a:t>
            </a:r>
            <a:r>
              <a:rPr lang="en-US" sz="830" dirty="0">
                <a:solidFill>
                  <a:srgbClr val="FFC94D"/>
                </a:solidFill>
                <a:latin typeface="Consolas" pitchFamily="34" charset="0"/>
                <a:ea typeface="Consolas" pitchFamily="34" charset="0"/>
                <a:cs typeface="Consolas" pitchFamily="34" charset="0"/>
              </a:rPr>
              <a:t>'ovo'</a:t>
            </a:r>
            <a:r>
              <a:rPr lang="en-US" sz="830" dirty="0">
                <a:solidFill>
                  <a:srgbClr val="D7E3F4"/>
                </a:solidFill>
                <a:latin typeface="Consolas" pitchFamily="34" charset="0"/>
                <a:ea typeface="Consolas" pitchFamily="34" charset="0"/>
                <a:cs typeface="Consolas" pitchFamily="34" charset="0"/>
              </a:rPr>
              <a:t>, random_state=</a:t>
            </a:r>
            <a:r>
              <a:rPr lang="en-US" sz="830" dirty="0">
                <a:solidFill>
                  <a:srgbClr val="E38B7A"/>
                </a:solidFill>
                <a:latin typeface="Consolas" pitchFamily="34" charset="0"/>
                <a:ea typeface="Consolas" pitchFamily="34" charset="0"/>
                <a:cs typeface="Consolas" pitchFamily="34" charset="0"/>
              </a:rPr>
              <a:t>42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accs =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name, clf in configs.items():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clf.fit(X_tr, y_tr)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pred = apply_topology_rule(clf.predict(X_te))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accs[name] = accuracy_score(y_te, pred)*</a:t>
            </a:r>
            <a:r>
              <a:rPr lang="en-US" sz="830" dirty="0">
                <a:solidFill>
                  <a:srgbClr val="E38B7A"/>
                </a:solidFill>
                <a:latin typeface="Consolas" pitchFamily="34" charset="0"/>
                <a:ea typeface="Consolas" pitchFamily="34" charset="0"/>
                <a:cs typeface="Consolas" pitchFamily="34" charset="0"/>
              </a:rPr>
              <a:t>100</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  {</a:t>
            </a:r>
            <a:r>
              <a:rPr lang="en-US" sz="830" dirty="0">
                <a:solidFill>
                  <a:srgbClr val="D7E3F4"/>
                </a:solidFill>
                <a:latin typeface="Consolas" pitchFamily="34" charset="0"/>
                <a:ea typeface="Consolas" pitchFamily="34" charset="0"/>
                <a:cs typeface="Consolas" pitchFamily="34" charset="0"/>
              </a:rPr>
              <a:t>name.replace(</a:t>
            </a:r>
            <a:r>
              <a:rPr lang="en-US" sz="830" dirty="0">
                <a:solidFill>
                  <a:srgbClr val="4FC3E8"/>
                </a:solidFill>
                <a:latin typeface="Consolas" pitchFamily="34" charset="0"/>
                <a:ea typeface="Consolas" pitchFamily="34" charset="0"/>
                <a:cs typeface="Consolas" pitchFamily="34" charset="0"/>
              </a:rPr>
              <a:t>chr</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 "</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:&lt;22}: {</a:t>
            </a:r>
            <a:r>
              <a:rPr lang="en-US" sz="830" dirty="0">
                <a:solidFill>
                  <a:srgbClr val="D7E3F4"/>
                </a:solidFill>
                <a:latin typeface="Consolas" pitchFamily="34" charset="0"/>
                <a:ea typeface="Consolas" pitchFamily="34" charset="0"/>
                <a:cs typeface="Consolas" pitchFamily="34" charset="0"/>
              </a:rPr>
              <a:t>accs[name]</a:t>
            </a:r>
            <a:r>
              <a:rPr lang="en-US" sz="830" dirty="0">
                <a:solidFill>
                  <a:srgbClr val="FFC94D"/>
                </a:solidFill>
                <a:latin typeface="Consolas" pitchFamily="34" charset="0"/>
                <a:ea typeface="Consolas" pitchFamily="34" charset="0"/>
                <a:cs typeface="Consolas" pitchFamily="34" charset="0"/>
              </a:rPr>
              <a:t>:.2f}%'</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4">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the Results Dashboard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best_clf  = configs[</a:t>
            </a:r>
            <a:r>
              <a:rPr lang="en-US" sz="830" dirty="0">
                <a:solidFill>
                  <a:srgbClr val="FFC94D"/>
                </a:solidFill>
                <a:latin typeface="Consolas" pitchFamily="34" charset="0"/>
                <a:ea typeface="Consolas" pitchFamily="34" charset="0"/>
                <a:cs typeface="Consolas" pitchFamily="34" charset="0"/>
              </a:rPr>
              <a:t>'RBF\n(tuned)'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best_pred = apply_topology_rule(best_clf.predict(X_te))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best_acc  = accs[</a:t>
            </a:r>
            <a:r>
              <a:rPr lang="en-US" sz="830" dirty="0">
                <a:solidFill>
                  <a:srgbClr val="FFC94D"/>
                </a:solidFill>
                <a:latin typeface="Consolas" pitchFamily="34" charset="0"/>
                <a:ea typeface="Consolas" pitchFamily="34" charset="0"/>
                <a:cs typeface="Consolas" pitchFamily="34" charset="0"/>
              </a:rPr>
              <a:t>'RBF\n(tuned)'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cm        = confusion_matrix(y_te, best_pred)</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lin_clf    = configs[</a:t>
            </a:r>
            <a:r>
              <a:rPr lang="en-US" sz="830" dirty="0">
                <a:solidFill>
                  <a:srgbClr val="FFC94D"/>
                </a:solidFill>
                <a:latin typeface="Consolas" pitchFamily="34" charset="0"/>
                <a:ea typeface="Consolas" pitchFamily="34" charset="0"/>
                <a:cs typeface="Consolas" pitchFamily="34" charset="0"/>
              </a:rPr>
              <a:t>'Linear\n(tuned)'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importance = np.mean(np.abs(lin_clf.coef_), axis=</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feat_imp_df = pd.DataFrame({</a:t>
            </a:r>
            <a:r>
              <a:rPr lang="en-US" sz="830" dirty="0">
                <a:solidFill>
                  <a:srgbClr val="FFC94D"/>
                </a:solidFill>
                <a:latin typeface="Consolas" pitchFamily="34" charset="0"/>
                <a:ea typeface="Consolas" pitchFamily="34" charset="0"/>
                <a:cs typeface="Consolas" pitchFamily="34" charset="0"/>
              </a:rPr>
              <a:t>'feature'</a:t>
            </a:r>
            <a:r>
              <a:rPr lang="en-US" sz="830" dirty="0">
                <a:solidFill>
                  <a:srgbClr val="D7E3F4"/>
                </a:solidFill>
                <a:latin typeface="Consolas" pitchFamily="34" charset="0"/>
                <a:ea typeface="Consolas" pitchFamily="34" charset="0"/>
                <a:cs typeface="Consolas" pitchFamily="34" charset="0"/>
              </a:rPr>
              <a:t>:FEATURE_NAMES,</a:t>
            </a:r>
            <a:r>
              <a:rPr lang="en-US" sz="830" dirty="0">
                <a:solidFill>
                  <a:srgbClr val="FFC94D"/>
                </a:solidFill>
                <a:latin typeface="Consolas" pitchFamily="34" charset="0"/>
                <a:ea typeface="Consolas" pitchFamily="34" charset="0"/>
                <a:cs typeface="Consolas" pitchFamily="34" charset="0"/>
              </a:rPr>
              <a:t>'importance'</a:t>
            </a:r>
            <a:r>
              <a:rPr lang="en-US" sz="830" dirty="0">
                <a:solidFill>
                  <a:srgbClr val="D7E3F4"/>
                </a:solidFill>
                <a:latin typeface="Consolas" pitchFamily="34" charset="0"/>
                <a:ea typeface="Consolas" pitchFamily="34" charset="0"/>
                <a:cs typeface="Consolas" pitchFamily="34" charset="0"/>
              </a:rPr>
              <a:t>:importance}).sort_values(</a:t>
            </a:r>
            <a:r>
              <a:rPr lang="en-US" sz="830" dirty="0">
                <a:solidFill>
                  <a:srgbClr val="FFC94D"/>
                </a:solidFill>
                <a:latin typeface="Consolas" pitchFamily="34" charset="0"/>
                <a:ea typeface="Consolas" pitchFamily="34" charset="0"/>
                <a:cs typeface="Consolas" pitchFamily="34" charset="0"/>
              </a:rPr>
              <a:t>'importance'</a:t>
            </a:r>
            <a:r>
              <a:rPr lang="en-US" sz="830" dirty="0">
                <a:solidFill>
                  <a:srgbClr val="D7E3F4"/>
                </a:solidFill>
                <a:latin typeface="Consolas" pitchFamily="34" charset="0"/>
                <a:ea typeface="Consolas" pitchFamily="34" charset="0"/>
                <a:cs typeface="Consolas" pitchFamily="34" charset="0"/>
              </a:rPr>
              <a:t>,ascending=</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y_test_labels = le.inverse_transform(y_te)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y_pred_labels = le.inverse_transform(best_pred)</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circuit_accs  =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circ in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mask = np.array([circ+</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in l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l in y_test_labels])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mask.sum()&gt;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circuit_accs[circ] = np.sum(y_test_labels[mask]==y_pred_labels[mask])/mask.sum()*</a:t>
            </a:r>
            <a:r>
              <a:rPr lang="en-US" sz="830" dirty="0">
                <a:solidFill>
                  <a:srgbClr val="E38B7A"/>
                </a:solidFill>
                <a:latin typeface="Consolas" pitchFamily="34" charset="0"/>
                <a:ea typeface="Consolas" pitchFamily="34" charset="0"/>
                <a:cs typeface="Consolas" pitchFamily="34" charset="0"/>
              </a:rPr>
              <a:t>100</a:t>
            </a:r>
            <a:endParaRPr lang="en-US" sz="830" dirty="0"/>
          </a:p>
          <a:p>
            <a:pPr marL="0" indent="0">
              <a:lnSpc>
                <a:spcPct val="105000"/>
              </a:lnSpc>
              <a:buNone/>
            </a:pPr>
            <a:endParaRPr lang="en-US" sz="830" dirty="0"/>
          </a:p>
          <a:p>
            <a:pPr marL="0" indent="0">
              <a:lnSpc>
                <a:spcPct val="105000"/>
              </a:lnSpc>
              <a:buNone/>
            </a:pP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'\nBuilding final dashboard...'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fig = plt.figure(figsize=(</a:t>
            </a:r>
            <a:r>
              <a:rPr lang="en-US" sz="830" dirty="0">
                <a:solidFill>
                  <a:srgbClr val="E38B7A"/>
                </a:solidFill>
                <a:latin typeface="Consolas" pitchFamily="34" charset="0"/>
                <a:ea typeface="Consolas" pitchFamily="34" charset="0"/>
                <a:cs typeface="Consolas" pitchFamily="34" charset="0"/>
              </a:rPr>
              <a:t>24</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20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fig.patch.set_facecolor(</a:t>
            </a:r>
            <a:r>
              <a:rPr lang="en-US" sz="830" dirty="0">
                <a:solidFill>
                  <a:srgbClr val="FFC94D"/>
                </a:solidFill>
                <a:latin typeface="Consolas" pitchFamily="34" charset="0"/>
                <a:ea typeface="Consolas" pitchFamily="34" charset="0"/>
                <a:cs typeface="Consolas" pitchFamily="34" charset="0"/>
              </a:rPr>
              <a:t>'#f8f9fa'</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gs  = gridspec.GridSpec(</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,figure=fig,hspace=</a:t>
            </a:r>
            <a:r>
              <a:rPr lang="en-US" sz="830" dirty="0">
                <a:solidFill>
                  <a:srgbClr val="E38B7A"/>
                </a:solidFill>
                <a:latin typeface="Consolas" pitchFamily="34" charset="0"/>
                <a:ea typeface="Consolas" pitchFamily="34" charset="0"/>
                <a:cs typeface="Consolas" pitchFamily="34" charset="0"/>
              </a:rPr>
              <a:t>0.45</a:t>
            </a:r>
            <a:r>
              <a:rPr lang="en-US" sz="830" dirty="0">
                <a:solidFill>
                  <a:srgbClr val="D7E3F4"/>
                </a:solidFill>
                <a:latin typeface="Consolas" pitchFamily="34" charset="0"/>
                <a:ea typeface="Consolas" pitchFamily="34" charset="0"/>
                <a:cs typeface="Consolas" pitchFamily="34" charset="0"/>
              </a:rPr>
              <a:t>,wspace=</a:t>
            </a:r>
            <a:r>
              <a:rPr lang="en-US" sz="830" dirty="0">
                <a:solidFill>
                  <a:srgbClr val="E38B7A"/>
                </a:solidFill>
                <a:latin typeface="Consolas" pitchFamily="34" charset="0"/>
                <a:ea typeface="Consolas" pitchFamily="34" charset="0"/>
                <a:cs typeface="Consolas" pitchFamily="34" charset="0"/>
              </a:rPr>
              <a:t>0.35</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TK  = </a:t>
            </a:r>
            <a:r>
              <a:rPr lang="en-US" sz="830" dirty="0">
                <a:solidFill>
                  <a:srgbClr val="4FC3E8"/>
                </a:solidFill>
                <a:latin typeface="Consolas" pitchFamily="34" charset="0"/>
                <a:ea typeface="Consolas" pitchFamily="34" charset="0"/>
                <a:cs typeface="Consolas" pitchFamily="34" charset="0"/>
              </a:rPr>
              <a:t>dict</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13</a:t>
            </a:r>
            <a:r>
              <a:rPr lang="en-US" sz="830" dirty="0">
                <a:solidFill>
                  <a:srgbClr val="D7E3F4"/>
                </a:solidFill>
                <a:latin typeface="Consolas" pitchFamily="34" charset="0"/>
                <a:ea typeface="Consolas" pitchFamily="34" charset="0"/>
                <a:cs typeface="Consolas" pitchFamily="34" charset="0"/>
              </a:rPr>
              <a:t>,fontweight=</a:t>
            </a:r>
            <a:r>
              <a:rPr lang="en-US" sz="830" dirty="0">
                <a:solidFill>
                  <a:srgbClr val="FFC94D"/>
                </a:solidFill>
                <a:latin typeface="Consolas" pitchFamily="34" charset="0"/>
                <a:ea typeface="Consolas" pitchFamily="34" charset="0"/>
                <a:cs typeface="Consolas" pitchFamily="34" charset="0"/>
              </a:rPr>
              <a:t>'bold'</a:t>
            </a:r>
            <a:r>
              <a:rPr lang="en-US" sz="830" dirty="0">
                <a:solidFill>
                  <a:srgbClr val="D7E3F4"/>
                </a:solidFill>
                <a:latin typeface="Consolas" pitchFamily="34" charset="0"/>
                <a:ea typeface="Consolas" pitchFamily="34" charset="0"/>
                <a:cs typeface="Consolas" pitchFamily="34" charset="0"/>
              </a:rPr>
              <a:t>,pad=</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C6  = [</a:t>
            </a:r>
            <a:r>
              <a:rPr lang="en-US" sz="830" dirty="0">
                <a:solidFill>
                  <a:srgbClr val="FFC94D"/>
                </a:solidFill>
                <a:latin typeface="Consolas" pitchFamily="34" charset="0"/>
                <a:ea typeface="Consolas" pitchFamily="34" charset="0"/>
                <a:cs typeface="Consolas" pitchFamily="34" charset="0"/>
              </a:rPr>
              <a:t>'#90caf9'</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'#90caf9'</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'#90caf9'</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'#1565c0'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'#1565c0'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'#1565c0'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ax1 = fig.add_subplot(gs[</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names=</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(accs.keys()); vals=</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(accs.values())</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bars=ax1.bar(names,vals,color=C6,edgecolor=</a:t>
            </a:r>
            <a:r>
              <a:rPr lang="en-US" sz="830" dirty="0">
                <a:solidFill>
                  <a:srgbClr val="FFC94D"/>
                </a:solidFill>
                <a:latin typeface="Consolas" pitchFamily="34" charset="0"/>
                <a:ea typeface="Consolas" pitchFamily="34" charset="0"/>
                <a:cs typeface="Consolas" pitchFamily="34" charset="0"/>
              </a:rPr>
              <a:t>'white'</a:t>
            </a:r>
            <a:r>
              <a:rPr lang="en-US" sz="830" dirty="0">
                <a:solidFill>
                  <a:srgbClr val="D7E3F4"/>
                </a:solidFill>
                <a:latin typeface="Consolas" pitchFamily="34" charset="0"/>
                <a:ea typeface="Consolas" pitchFamily="34" charset="0"/>
                <a:cs typeface="Consolas" pitchFamily="34" charset="0"/>
              </a:rPr>
              <a:t>,linewidth=</a:t>
            </a:r>
            <a:r>
              <a:rPr lang="en-US" sz="830" dirty="0">
                <a:solidFill>
                  <a:srgbClr val="E38B7A"/>
                </a:solidFill>
                <a:latin typeface="Consolas" pitchFamily="34" charset="0"/>
                <a:ea typeface="Consolas" pitchFamily="34" charset="0"/>
                <a:cs typeface="Consolas" pitchFamily="34" charset="0"/>
              </a:rPr>
              <a:t>0.8</a:t>
            </a:r>
            <a:r>
              <a:rPr lang="en-US" sz="830" dirty="0">
                <a:solidFill>
                  <a:srgbClr val="D7E3F4"/>
                </a:solidFill>
                <a:latin typeface="Consolas" pitchFamily="34" charset="0"/>
                <a:ea typeface="Consolas" pitchFamily="34" charset="0"/>
                <a:cs typeface="Consolas" pitchFamily="34" charset="0"/>
              </a:rPr>
              <a:t>,width=</a:t>
            </a:r>
            <a:r>
              <a:rPr lang="en-US" sz="830" dirty="0">
                <a:solidFill>
                  <a:srgbClr val="E38B7A"/>
                </a:solidFill>
                <a:latin typeface="Consolas" pitchFamily="34" charset="0"/>
                <a:ea typeface="Consolas" pitchFamily="34" charset="0"/>
                <a:cs typeface="Consolas" pitchFamily="34" charset="0"/>
              </a:rPr>
              <a:t>0.6</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ax1.axhline(y=best_acc,color=</a:t>
            </a:r>
            <a:r>
              <a:rPr lang="en-US" sz="830" dirty="0">
                <a:solidFill>
                  <a:srgbClr val="FFC94D"/>
                </a:solidFill>
                <a:latin typeface="Consolas" pitchFamily="34" charset="0"/>
                <a:ea typeface="Consolas" pitchFamily="34" charset="0"/>
                <a:cs typeface="Consolas" pitchFamily="34" charset="0"/>
              </a:rPr>
              <a:t>'#d32f2f'</a:t>
            </a:r>
            <a:r>
              <a:rPr lang="en-US" sz="830" dirty="0">
                <a:solidFill>
                  <a:srgbClr val="D7E3F4"/>
                </a:solidFill>
                <a:latin typeface="Consolas" pitchFamily="34" charset="0"/>
                <a:ea typeface="Consolas" pitchFamily="34" charset="0"/>
                <a:cs typeface="Consolas" pitchFamily="34" charset="0"/>
              </a:rPr>
              <a:t>,linestyle=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,linewidth=</a:t>
            </a:r>
            <a:r>
              <a:rPr lang="en-US" sz="830" dirty="0">
                <a:solidFill>
                  <a:srgbClr val="E38B7A"/>
                </a:solidFill>
                <a:latin typeface="Consolas" pitchFamily="34" charset="0"/>
                <a:ea typeface="Consolas" pitchFamily="34" charset="0"/>
                <a:cs typeface="Consolas" pitchFamily="34" charset="0"/>
              </a:rPr>
              <a:t>1.5</a:t>
            </a:r>
            <a:r>
              <a:rPr lang="en-US" sz="830" dirty="0">
                <a:solidFill>
                  <a:srgbClr val="D7E3F4"/>
                </a:solidFill>
                <a:latin typeface="Consolas" pitchFamily="34" charset="0"/>
                <a:ea typeface="Consolas" pitchFamily="34" charset="0"/>
                <a:cs typeface="Consolas" pitchFamily="34" charset="0"/>
              </a:rPr>
              <a:t>,label=</a:t>
            </a:r>
            <a:r>
              <a:rPr lang="en-US" sz="830" dirty="0">
                <a:solidFill>
                  <a:srgbClr val="FFC94D"/>
                </a:solidFill>
                <a:latin typeface="Consolas" pitchFamily="34" charset="0"/>
                <a:ea typeface="Consolas" pitchFamily="34" charset="0"/>
                <a:cs typeface="Consolas" pitchFamily="34" charset="0"/>
              </a:rPr>
              <a:t>f'Best {</a:t>
            </a:r>
            <a:r>
              <a:rPr lang="en-US" sz="830" dirty="0">
                <a:solidFill>
                  <a:srgbClr val="D7E3F4"/>
                </a:solidFill>
                <a:latin typeface="Consolas" pitchFamily="34" charset="0"/>
                <a:ea typeface="Consolas" pitchFamily="34" charset="0"/>
                <a:cs typeface="Consolas" pitchFamily="34" charset="0"/>
              </a:rPr>
              <a:t>best_acc</a:t>
            </a:r>
            <a:r>
              <a:rPr lang="en-US" sz="830" dirty="0">
                <a:solidFill>
                  <a:srgbClr val="FFC94D"/>
                </a:solidFill>
                <a:latin typeface="Consolas" pitchFamily="34" charset="0"/>
                <a:ea typeface="Consolas" pitchFamily="34" charset="0"/>
                <a:cs typeface="Consolas" pitchFamily="34" charset="0"/>
              </a:rPr>
              <a:t>:.1f}%'</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ax1.set_ylim(</a:t>
            </a:r>
            <a:r>
              <a:rPr lang="en-US" sz="830" dirty="0">
                <a:solidFill>
                  <a:srgbClr val="E38B7A"/>
                </a:solidFill>
                <a:latin typeface="Consolas" pitchFamily="34" charset="0"/>
                <a:ea typeface="Consolas" pitchFamily="34" charset="0"/>
                <a:cs typeface="Consolas" pitchFamily="34" charset="0"/>
              </a:rPr>
              <a:t>60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95</a:t>
            </a:r>
            <a:r>
              <a:rPr lang="en-US" sz="830" dirty="0">
                <a:solidFill>
                  <a:srgbClr val="D7E3F4"/>
                </a:solidFill>
                <a:latin typeface="Consolas" pitchFamily="34" charset="0"/>
                <a:ea typeface="Consolas" pitchFamily="34" charset="0"/>
                <a:cs typeface="Consolas" pitchFamily="34" charset="0"/>
              </a:rPr>
              <a:t>); ax1.set_ylabel(</a:t>
            </a:r>
            <a:r>
              <a:rPr lang="en-US" sz="830" dirty="0">
                <a:solidFill>
                  <a:srgbClr val="FFC94D"/>
                </a:solidFill>
                <a:latin typeface="Consolas" pitchFamily="34" charset="0"/>
                <a:ea typeface="Consolas" pitchFamily="34" charset="0"/>
                <a:cs typeface="Consolas" pitchFamily="34" charset="0"/>
              </a:rPr>
              <a:t>'Test Accuracy (%)'</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5">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the Results Dashboard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ax1.set_title(</a:t>
            </a:r>
            <a:r>
              <a:rPr lang="en-US" sz="830" dirty="0">
                <a:solidFill>
                  <a:srgbClr val="FFC94D"/>
                </a:solidFill>
                <a:latin typeface="Consolas" pitchFamily="34" charset="0"/>
                <a:ea typeface="Consolas" pitchFamily="34" charset="0"/>
                <a:cs typeface="Consolas" pitchFamily="34" charset="0"/>
              </a:rPr>
              <a:t>'Kernel Comparison\nDefault vs Tuned + Topology Rule'</a:t>
            </a:r>
            <a:r>
              <a:rPr lang="en-US" sz="830" dirty="0">
                <a:solidFill>
                  <a:srgbClr val="D7E3F4"/>
                </a:solidFill>
                <a:latin typeface="Consolas" pitchFamily="34" charset="0"/>
                <a:ea typeface="Consolas" pitchFamily="34" charset="0"/>
                <a:cs typeface="Consolas" pitchFamily="34" charset="0"/>
              </a:rPr>
              <a:t>,**TK)
ax1.legend(fontsize=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bar,val in </a:t>
            </a:r>
            <a:r>
              <a:rPr lang="en-US" sz="830" dirty="0">
                <a:solidFill>
                  <a:srgbClr val="4FC3E8"/>
                </a:solidFill>
                <a:latin typeface="Consolas" pitchFamily="34" charset="0"/>
                <a:ea typeface="Consolas" pitchFamily="34" charset="0"/>
                <a:cs typeface="Consolas" pitchFamily="34" charset="0"/>
              </a:rPr>
              <a:t>zip</a:t>
            </a:r>
            <a:r>
              <a:rPr lang="en-US" sz="830" dirty="0">
                <a:solidFill>
                  <a:srgbClr val="D7E3F4"/>
                </a:solidFill>
                <a:latin typeface="Consolas" pitchFamily="34" charset="0"/>
                <a:ea typeface="Consolas" pitchFamily="34" charset="0"/>
                <a:cs typeface="Consolas" pitchFamily="34" charset="0"/>
              </a:rPr>
              <a:t>(bars,vals):
    ax1.text(bar.get_x()+bar.get_width()/</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,bar.get_height()+</a:t>
            </a:r>
            <a:r>
              <a:rPr lang="en-US" sz="830" dirty="0">
                <a:solidFill>
                  <a:srgbClr val="E38B7A"/>
                </a:solidFill>
                <a:latin typeface="Consolas" pitchFamily="34" charset="0"/>
                <a:ea typeface="Consolas" pitchFamily="34" charset="0"/>
                <a:cs typeface="Consolas" pitchFamily="34" charset="0"/>
              </a:rPr>
              <a:t>0.3</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val</a:t>
            </a:r>
            <a:r>
              <a:rPr lang="en-US" sz="830" dirty="0">
                <a:solidFill>
                  <a:srgbClr val="FFC94D"/>
                </a:solidFill>
                <a:latin typeface="Consolas" pitchFamily="34" charset="0"/>
                <a:ea typeface="Consolas" pitchFamily="34" charset="0"/>
                <a:cs typeface="Consolas" pitchFamily="34" charset="0"/>
              </a:rPr>
              <a:t>:.1f}%'</a:t>
            </a:r>
            <a:r>
              <a:rPr lang="en-US" sz="830" dirty="0">
                <a:solidFill>
                  <a:srgbClr val="D7E3F4"/>
                </a:solidFill>
                <a:latin typeface="Consolas" pitchFamily="34" charset="0"/>
                <a:ea typeface="Consolas" pitchFamily="34" charset="0"/>
                <a:cs typeface="Consolas" pitchFamily="34" charset="0"/>
              </a:rPr>
              <a:t>,ha=</a:t>
            </a:r>
            <a:r>
              <a:rPr lang="en-US" sz="830" dirty="0">
                <a:solidFill>
                  <a:srgbClr val="FFC94D"/>
                </a:solidFill>
                <a:latin typeface="Consolas" pitchFamily="34" charset="0"/>
                <a:ea typeface="Consolas" pitchFamily="34" charset="0"/>
                <a:cs typeface="Consolas" pitchFamily="34" charset="0"/>
              </a:rPr>
              <a:t>'center'</a:t>
            </a:r>
            <a:r>
              <a:rPr lang="en-US" sz="830" dirty="0">
                <a:solidFill>
                  <a:srgbClr val="D7E3F4"/>
                </a:solidFill>
                <a:latin typeface="Consolas" pitchFamily="34" charset="0"/>
                <a:ea typeface="Consolas" pitchFamily="34" charset="0"/>
                <a:cs typeface="Consolas" pitchFamily="34" charset="0"/>
              </a:rPr>
              <a:t>,va=</a:t>
            </a:r>
            <a:r>
              <a:rPr lang="en-US" sz="830" dirty="0">
                <a:solidFill>
                  <a:srgbClr val="FFC94D"/>
                </a:solidFill>
                <a:latin typeface="Consolas" pitchFamily="34" charset="0"/>
                <a:ea typeface="Consolas" pitchFamily="34" charset="0"/>
                <a:cs typeface="Consolas" pitchFamily="34" charset="0"/>
              </a:rPr>
              <a:t>'bottom'</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,fontweight=</a:t>
            </a:r>
            <a:r>
              <a:rPr lang="en-US" sz="830" dirty="0">
                <a:solidFill>
                  <a:srgbClr val="FFC94D"/>
                </a:solidFill>
                <a:latin typeface="Consolas" pitchFamily="34" charset="0"/>
                <a:ea typeface="Consolas" pitchFamily="34" charset="0"/>
                <a:cs typeface="Consolas" pitchFamily="34" charset="0"/>
              </a:rPr>
              <a:t>'bold'</a:t>
            </a:r>
            <a:r>
              <a:rPr lang="en-US" sz="830" dirty="0">
                <a:solidFill>
                  <a:srgbClr val="D7E3F4"/>
                </a:solidFill>
                <a:latin typeface="Consolas" pitchFamily="34" charset="0"/>
                <a:ea typeface="Consolas" pitchFamily="34" charset="0"/>
                <a:cs typeface="Consolas" pitchFamily="34" charset="0"/>
              </a:rPr>
              <a:t>)
ax1.tick_params(axis=</a:t>
            </a:r>
            <a:r>
              <a:rPr lang="en-US" sz="830" dirty="0">
                <a:solidFill>
                  <a:srgbClr val="FFC94D"/>
                </a:solidFill>
                <a:latin typeface="Consolas" pitchFamily="34" charset="0"/>
                <a:ea typeface="Consolas" pitchFamily="34" charset="0"/>
                <a:cs typeface="Consolas" pitchFamily="34" charset="0"/>
              </a:rPr>
              <a:t>'x'</a:t>
            </a:r>
            <a:r>
              <a:rPr lang="en-US" sz="830" dirty="0">
                <a:solidFill>
                  <a:srgbClr val="D7E3F4"/>
                </a:solidFill>
                <a:latin typeface="Consolas" pitchFamily="34" charset="0"/>
                <a:ea typeface="Consolas" pitchFamily="34" charset="0"/>
                <a:cs typeface="Consolas" pitchFamily="34" charset="0"/>
              </a:rPr>
              <a:t>,labelsize=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 ax1.set_facecolor(</a:t>
            </a:r>
            <a:r>
              <a:rPr lang="en-US" sz="830" dirty="0">
                <a:solidFill>
                  <a:srgbClr val="FFC94D"/>
                </a:solidFill>
                <a:latin typeface="Consolas" pitchFamily="34" charset="0"/>
                <a:ea typeface="Consolas" pitchFamily="34" charset="0"/>
                <a:cs typeface="Consolas" pitchFamily="34" charset="0"/>
              </a:rPr>
              <a:t>'#ffffff'</a:t>
            </a:r>
            <a:r>
              <a:rPr lang="en-US" sz="830" dirty="0">
                <a:solidFill>
                  <a:srgbClr val="D7E3F4"/>
                </a:solidFill>
                <a:latin typeface="Consolas" pitchFamily="34" charset="0"/>
                <a:ea typeface="Consolas" pitchFamily="34" charset="0"/>
                <a:cs typeface="Consolas" pitchFamily="34" charset="0"/>
              </a:rPr>
              <a:t>)
ax2 = fig.add_subplot(gs[</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cn=</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(circuit_accs.keys()); cv=</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(circuit_accs.values())
cc=[</a:t>
            </a:r>
            <a:r>
              <a:rPr lang="en-US" sz="830" dirty="0">
                <a:solidFill>
                  <a:srgbClr val="FFC94D"/>
                </a:solidFill>
                <a:latin typeface="Consolas" pitchFamily="34" charset="0"/>
                <a:ea typeface="Consolas" pitchFamily="34" charset="0"/>
                <a:cs typeface="Consolas" pitchFamily="34" charset="0"/>
              </a:rPr>
              <a:t>'#ef9a9a'</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v&lt;</a:t>
            </a:r>
            <a:r>
              <a:rPr lang="en-US" sz="830" dirty="0">
                <a:solidFill>
                  <a:srgbClr val="E38B7A"/>
                </a:solidFill>
                <a:latin typeface="Consolas" pitchFamily="34" charset="0"/>
                <a:ea typeface="Consolas" pitchFamily="34" charset="0"/>
                <a:cs typeface="Consolas" pitchFamily="34" charset="0"/>
              </a:rPr>
              <a:t>70</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'#fff176'</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v&lt;</a:t>
            </a:r>
            <a:r>
              <a:rPr lang="en-US" sz="830" dirty="0">
                <a:solidFill>
                  <a:srgbClr val="E38B7A"/>
                </a:solidFill>
                <a:latin typeface="Consolas" pitchFamily="34" charset="0"/>
                <a:ea typeface="Consolas" pitchFamily="34" charset="0"/>
                <a:cs typeface="Consolas" pitchFamily="34" charset="0"/>
              </a:rPr>
              <a:t>85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'#a5d6a7'</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v in cv]
bars2=ax2.bar(cn,cv,color=cc,edgecolor=</a:t>
            </a:r>
            <a:r>
              <a:rPr lang="en-US" sz="830" dirty="0">
                <a:solidFill>
                  <a:srgbClr val="FFC94D"/>
                </a:solidFill>
                <a:latin typeface="Consolas" pitchFamily="34" charset="0"/>
                <a:ea typeface="Consolas" pitchFamily="34" charset="0"/>
                <a:cs typeface="Consolas" pitchFamily="34" charset="0"/>
              </a:rPr>
              <a:t>'grey'</a:t>
            </a:r>
            <a:r>
              <a:rPr lang="en-US" sz="830" dirty="0">
                <a:solidFill>
                  <a:srgbClr val="D7E3F4"/>
                </a:solidFill>
                <a:latin typeface="Consolas" pitchFamily="34" charset="0"/>
                <a:ea typeface="Consolas" pitchFamily="34" charset="0"/>
                <a:cs typeface="Consolas" pitchFamily="34" charset="0"/>
              </a:rPr>
              <a:t>,linewidth=</a:t>
            </a:r>
            <a:r>
              <a:rPr lang="en-US" sz="830" dirty="0">
                <a:solidFill>
                  <a:srgbClr val="E38B7A"/>
                </a:solidFill>
                <a:latin typeface="Consolas" pitchFamily="34" charset="0"/>
                <a:ea typeface="Consolas" pitchFamily="34" charset="0"/>
                <a:cs typeface="Consolas" pitchFamily="34" charset="0"/>
              </a:rPr>
              <a:t>0.8</a:t>
            </a:r>
            <a:r>
              <a:rPr lang="en-US" sz="830" dirty="0">
                <a:solidFill>
                  <a:srgbClr val="D7E3F4"/>
                </a:solidFill>
                <a:latin typeface="Consolas" pitchFamily="34" charset="0"/>
                <a:ea typeface="Consolas" pitchFamily="34" charset="0"/>
                <a:cs typeface="Consolas" pitchFamily="34" charset="0"/>
              </a:rPr>
              <a:t>,width=</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ax2.set_ylim(</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115</a:t>
            </a:r>
            <a:r>
              <a:rPr lang="en-US" sz="830" dirty="0">
                <a:solidFill>
                  <a:srgbClr val="D7E3F4"/>
                </a:solidFill>
                <a:latin typeface="Consolas" pitchFamily="34" charset="0"/>
                <a:ea typeface="Consolas" pitchFamily="34" charset="0"/>
                <a:cs typeface="Consolas" pitchFamily="34" charset="0"/>
              </a:rPr>
              <a:t>); ax2.set_ylabel(</a:t>
            </a:r>
            <a:r>
              <a:rPr lang="en-US" sz="830" dirty="0">
                <a:solidFill>
                  <a:srgbClr val="FFC94D"/>
                </a:solidFill>
                <a:latin typeface="Consolas" pitchFamily="34" charset="0"/>
                <a:ea typeface="Consolas" pitchFamily="34" charset="0"/>
                <a:cs typeface="Consolas" pitchFamily="34" charset="0"/>
              </a:rPr>
              <a:t>'Accuracy (%)'</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ax2.set_title(</a:t>
            </a:r>
            <a:r>
              <a:rPr lang="en-US" sz="830" dirty="0">
                <a:solidFill>
                  <a:srgbClr val="FFC94D"/>
                </a:solidFill>
                <a:latin typeface="Consolas" pitchFamily="34" charset="0"/>
                <a:ea typeface="Consolas" pitchFamily="34" charset="0"/>
                <a:cs typeface="Consolas" pitchFamily="34" charset="0"/>
              </a:rPr>
              <a:t>'Per-Circuit Accuracy\n(RBF Tuned + Topology Rule)'</a:t>
            </a:r>
            <a:r>
              <a:rPr lang="en-US" sz="830" dirty="0">
                <a:solidFill>
                  <a:srgbClr val="D7E3F4"/>
                </a:solidFill>
                <a:latin typeface="Consolas" pitchFamily="34" charset="0"/>
                <a:ea typeface="Consolas" pitchFamily="34" charset="0"/>
                <a:cs typeface="Consolas" pitchFamily="34" charset="0"/>
              </a:rPr>
              <a:t>,**TK)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bar,val in </a:t>
            </a:r>
            <a:r>
              <a:rPr lang="en-US" sz="830" dirty="0">
                <a:solidFill>
                  <a:srgbClr val="4FC3E8"/>
                </a:solidFill>
                <a:latin typeface="Consolas" pitchFamily="34" charset="0"/>
                <a:ea typeface="Consolas" pitchFamily="34" charset="0"/>
                <a:cs typeface="Consolas" pitchFamily="34" charset="0"/>
              </a:rPr>
              <a:t>zip</a:t>
            </a:r>
            <a:r>
              <a:rPr lang="en-US" sz="830" dirty="0">
                <a:solidFill>
                  <a:srgbClr val="D7E3F4"/>
                </a:solidFill>
                <a:latin typeface="Consolas" pitchFamily="34" charset="0"/>
                <a:ea typeface="Consolas" pitchFamily="34" charset="0"/>
                <a:cs typeface="Consolas" pitchFamily="34" charset="0"/>
              </a:rPr>
              <a:t>(bars2,cv):
    ax2.text(bar.get_x()+bar.get_width()/</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,bar.get_height()+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val</a:t>
            </a:r>
            <a:r>
              <a:rPr lang="en-US" sz="830" dirty="0">
                <a:solidFill>
                  <a:srgbClr val="FFC94D"/>
                </a:solidFill>
                <a:latin typeface="Consolas" pitchFamily="34" charset="0"/>
                <a:ea typeface="Consolas" pitchFamily="34" charset="0"/>
                <a:cs typeface="Consolas" pitchFamily="34" charset="0"/>
              </a:rPr>
              <a:t>:.1f}%'</a:t>
            </a:r>
            <a:r>
              <a:rPr lang="en-US" sz="830" dirty="0">
                <a:solidFill>
                  <a:srgbClr val="D7E3F4"/>
                </a:solidFill>
                <a:latin typeface="Consolas" pitchFamily="34" charset="0"/>
                <a:ea typeface="Consolas" pitchFamily="34" charset="0"/>
                <a:cs typeface="Consolas" pitchFamily="34" charset="0"/>
              </a:rPr>
              <a:t>,ha=</a:t>
            </a:r>
            <a:r>
              <a:rPr lang="en-US" sz="830" dirty="0">
                <a:solidFill>
                  <a:srgbClr val="FFC94D"/>
                </a:solidFill>
                <a:latin typeface="Consolas" pitchFamily="34" charset="0"/>
                <a:ea typeface="Consolas" pitchFamily="34" charset="0"/>
                <a:cs typeface="Consolas" pitchFamily="34" charset="0"/>
              </a:rPr>
              <a:t>'center'</a:t>
            </a:r>
            <a:r>
              <a:rPr lang="en-US" sz="830" dirty="0">
                <a:solidFill>
                  <a:srgbClr val="D7E3F4"/>
                </a:solidFill>
                <a:latin typeface="Consolas" pitchFamily="34" charset="0"/>
                <a:ea typeface="Consolas" pitchFamily="34" charset="0"/>
                <a:cs typeface="Consolas" pitchFamily="34" charset="0"/>
              </a:rPr>
              <a:t>,va=</a:t>
            </a:r>
            <a:r>
              <a:rPr lang="en-US" sz="830" dirty="0">
                <a:solidFill>
                  <a:srgbClr val="FFC94D"/>
                </a:solidFill>
                <a:latin typeface="Consolas" pitchFamily="34" charset="0"/>
                <a:ea typeface="Consolas" pitchFamily="34" charset="0"/>
                <a:cs typeface="Consolas" pitchFamily="34" charset="0"/>
              </a:rPr>
              <a:t>'bottom'</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9</a:t>
            </a:r>
            <a:r>
              <a:rPr lang="en-US" sz="830" dirty="0">
                <a:solidFill>
                  <a:srgbClr val="D7E3F4"/>
                </a:solidFill>
                <a:latin typeface="Consolas" pitchFamily="34" charset="0"/>
                <a:ea typeface="Consolas" pitchFamily="34" charset="0"/>
                <a:cs typeface="Consolas" pitchFamily="34" charset="0"/>
              </a:rPr>
              <a:t>,fontweight=</a:t>
            </a:r>
            <a:r>
              <a:rPr lang="en-US" sz="830" dirty="0">
                <a:solidFill>
                  <a:srgbClr val="FFC94D"/>
                </a:solidFill>
                <a:latin typeface="Consolas" pitchFamily="34" charset="0"/>
                <a:ea typeface="Consolas" pitchFamily="34" charset="0"/>
                <a:cs typeface="Consolas" pitchFamily="34" charset="0"/>
              </a:rPr>
              <a:t>'bold'</a:t>
            </a:r>
            <a:r>
              <a:rPr lang="en-US" sz="830" dirty="0">
                <a:solidFill>
                  <a:srgbClr val="D7E3F4"/>
                </a:solidFill>
                <a:latin typeface="Consolas" pitchFamily="34" charset="0"/>
                <a:ea typeface="Consolas" pitchFamily="34" charset="0"/>
                <a:cs typeface="Consolas" pitchFamily="34" charset="0"/>
              </a:rPr>
              <a:t>)
ax2.tick_params(axis=</a:t>
            </a:r>
            <a:r>
              <a:rPr lang="en-US" sz="830" dirty="0">
                <a:solidFill>
                  <a:srgbClr val="FFC94D"/>
                </a:solidFill>
                <a:latin typeface="Consolas" pitchFamily="34" charset="0"/>
                <a:ea typeface="Consolas" pitchFamily="34" charset="0"/>
                <a:cs typeface="Consolas" pitchFamily="34" charset="0"/>
              </a:rPr>
              <a:t>'x'</a:t>
            </a:r>
            <a:r>
              <a:rPr lang="en-US" sz="830" dirty="0">
                <a:solidFill>
                  <a:srgbClr val="D7E3F4"/>
                </a:solidFill>
                <a:latin typeface="Consolas" pitchFamily="34" charset="0"/>
                <a:ea typeface="Consolas" pitchFamily="34" charset="0"/>
                <a:cs typeface="Consolas" pitchFamily="34" charset="0"/>
              </a:rPr>
              <a:t>,labelsize=</a:t>
            </a:r>
            <a:r>
              <a:rPr lang="en-US" sz="830" dirty="0">
                <a:solidFill>
                  <a:srgbClr val="E38B7A"/>
                </a:solidFill>
                <a:latin typeface="Consolas" pitchFamily="34" charset="0"/>
                <a:ea typeface="Consolas" pitchFamily="34" charset="0"/>
                <a:cs typeface="Consolas" pitchFamily="34" charset="0"/>
              </a:rPr>
              <a:t>9</a:t>
            </a:r>
            <a:r>
              <a:rPr lang="en-US" sz="830" dirty="0">
                <a:solidFill>
                  <a:srgbClr val="D7E3F4"/>
                </a:solidFill>
                <a:latin typeface="Consolas" pitchFamily="34" charset="0"/>
                <a:ea typeface="Consolas" pitchFamily="34" charset="0"/>
                <a:cs typeface="Consolas" pitchFamily="34" charset="0"/>
              </a:rPr>
              <a:t>); ax2.set_facecolor(</a:t>
            </a:r>
            <a:r>
              <a:rPr lang="en-US" sz="830" dirty="0">
                <a:solidFill>
                  <a:srgbClr val="FFC94D"/>
                </a:solidFill>
                <a:latin typeface="Consolas" pitchFamily="34" charset="0"/>
                <a:ea typeface="Consolas" pitchFamily="34" charset="0"/>
                <a:cs typeface="Consolas" pitchFamily="34" charset="0"/>
              </a:rPr>
              <a:t>'#ffffff'</a:t>
            </a:r>
            <a:r>
              <a:rPr lang="en-US" sz="830" dirty="0">
                <a:solidFill>
                  <a:srgbClr val="D7E3F4"/>
                </a:solidFill>
                <a:latin typeface="Consolas" pitchFamily="34" charset="0"/>
                <a:ea typeface="Consolas" pitchFamily="34" charset="0"/>
                <a:cs typeface="Consolas" pitchFamily="34" charset="0"/>
              </a:rPr>
              <a:t>)
ax3 = fig.add_subplot(gs[</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
fc=df.groupby(</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).size()
ax3.pie(fc.values,labels=fc.index,autopct=</a:t>
            </a:r>
            <a:r>
              <a:rPr lang="en-US" sz="830" dirty="0">
                <a:solidFill>
                  <a:srgbClr val="FFC94D"/>
                </a:solidFill>
                <a:latin typeface="Consolas" pitchFamily="34" charset="0"/>
                <a:ea typeface="Consolas" pitchFamily="34" charset="0"/>
                <a:cs typeface="Consolas" pitchFamily="34" charset="0"/>
              </a:rPr>
              <a:t>'%1.1f%%'</a:t>
            </a:r>
            <a:r>
              <a:rPr lang="en-US" sz="830" dirty="0">
                <a:solidFill>
                  <a:srgbClr val="D7E3F4"/>
                </a:solidFill>
                <a:latin typeface="Consolas" pitchFamily="34" charset="0"/>
                <a:ea typeface="Consolas" pitchFamily="34" charset="0"/>
                <a:cs typeface="Consolas" pitchFamily="34" charset="0"/>
              </a:rPr>
              <a:t>,
        colors=[</a:t>
            </a:r>
            <a:r>
              <a:rPr lang="en-US" sz="830" dirty="0">
                <a:solidFill>
                  <a:srgbClr val="FFC94D"/>
                </a:solidFill>
                <a:latin typeface="Consolas" pitchFamily="34" charset="0"/>
                <a:ea typeface="Consolas" pitchFamily="34" charset="0"/>
                <a:cs typeface="Consolas" pitchFamily="34" charset="0"/>
              </a:rPr>
              <a:t>'#ef5350'</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'#42a5f5'</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'#66bb6a'</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'#ffa726'</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'#ab47bc'</a:t>
            </a:r>
            <a:r>
              <a:rPr lang="en-US" sz="830" dirty="0">
                <a:solidFill>
                  <a:srgbClr val="D7E3F4"/>
                </a:solidFill>
                <a:latin typeface="Consolas" pitchFamily="34" charset="0"/>
                <a:ea typeface="Consolas" pitchFamily="34" charset="0"/>
                <a:cs typeface="Consolas" pitchFamily="34" charset="0"/>
              </a:rPr>
              <a:t>],
        startangle=</a:t>
            </a:r>
            <a:r>
              <a:rPr lang="en-US" sz="830" dirty="0">
                <a:solidFill>
                  <a:srgbClr val="E38B7A"/>
                </a:solidFill>
                <a:latin typeface="Consolas" pitchFamily="34" charset="0"/>
                <a:ea typeface="Consolas" pitchFamily="34" charset="0"/>
                <a:cs typeface="Consolas" pitchFamily="34" charset="0"/>
              </a:rPr>
              <a:t>90</a:t>
            </a:r>
            <a:r>
              <a:rPr lang="en-US" sz="830" dirty="0">
                <a:solidFill>
                  <a:srgbClr val="D7E3F4"/>
                </a:solidFill>
                <a:latin typeface="Consolas" pitchFamily="34" charset="0"/>
                <a:ea typeface="Consolas" pitchFamily="34" charset="0"/>
                <a:cs typeface="Consolas" pitchFamily="34" charset="0"/>
              </a:rPr>
              <a:t>,textprops={</a:t>
            </a:r>
            <a:r>
              <a:rPr lang="en-US" sz="830" dirty="0">
                <a:solidFill>
                  <a:srgbClr val="FFC94D"/>
                </a:solidFill>
                <a:latin typeface="Consolas" pitchFamily="34" charset="0"/>
                <a:ea typeface="Consolas" pitchFamily="34" charset="0"/>
                <a:cs typeface="Consolas" pitchFamily="34" charset="0"/>
              </a:rPr>
              <a:t>'fontsize'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9</a:t>
            </a:r>
            <a:r>
              <a:rPr lang="en-US" sz="830" dirty="0">
                <a:solidFill>
                  <a:srgbClr val="D7E3F4"/>
                </a:solidFill>
                <a:latin typeface="Consolas" pitchFamily="34" charset="0"/>
                <a:ea typeface="Consolas" pitchFamily="34" charset="0"/>
                <a:cs typeface="Consolas" pitchFamily="34" charset="0"/>
              </a:rPr>
              <a:t>})
ax3.set_title(</a:t>
            </a:r>
            <a:r>
              <a:rPr lang="en-US" sz="830" dirty="0">
                <a:solidFill>
                  <a:srgbClr val="FFC94D"/>
                </a:solidFill>
                <a:latin typeface="Consolas" pitchFamily="34" charset="0"/>
                <a:ea typeface="Consolas" pitchFamily="34" charset="0"/>
                <a:cs typeface="Consolas" pitchFamily="34" charset="0"/>
              </a:rPr>
              <a:t>f'Dataset Composition\n({</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 total samples)'</a:t>
            </a:r>
            <a:r>
              <a:rPr lang="en-US" sz="830" dirty="0">
                <a:solidFill>
                  <a:srgbClr val="D7E3F4"/>
                </a:solidFill>
                <a:latin typeface="Consolas" pitchFamily="34" charset="0"/>
                <a:ea typeface="Consolas" pitchFamily="34" charset="0"/>
                <a:cs typeface="Consolas" pitchFamily="34" charset="0"/>
              </a:rPr>
              <a:t>,**TK)
ax4 = fig.add_subplot(gs[</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bc=[</a:t>
            </a:r>
            <a:r>
              <a:rPr lang="en-US" sz="830" dirty="0">
                <a:solidFill>
                  <a:srgbClr val="FFC94D"/>
                </a:solidFill>
                <a:latin typeface="Consolas" pitchFamily="34" charset="0"/>
                <a:ea typeface="Consolas" pitchFamily="34" charset="0"/>
                <a:cs typeface="Consolas" pitchFamily="34" charset="0"/>
              </a:rPr>
              <a:t>'#1565c0'</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v&gt;=feat_imp_df[</a:t>
            </a:r>
            <a:r>
              <a:rPr lang="en-US" sz="830" dirty="0">
                <a:solidFill>
                  <a:srgbClr val="FFC94D"/>
                </a:solidFill>
                <a:latin typeface="Consolas" pitchFamily="34" charset="0"/>
                <a:ea typeface="Consolas" pitchFamily="34" charset="0"/>
                <a:cs typeface="Consolas" pitchFamily="34" charset="0"/>
              </a:rPr>
              <a:t>'importance'</a:t>
            </a:r>
            <a:r>
              <a:rPr lang="en-US" sz="830" dirty="0">
                <a:solidFill>
                  <a:srgbClr val="D7E3F4"/>
                </a:solidFill>
                <a:latin typeface="Consolas" pitchFamily="34" charset="0"/>
                <a:ea typeface="Consolas" pitchFamily="34" charset="0"/>
                <a:cs typeface="Consolas" pitchFamily="34" charset="0"/>
              </a:rPr>
              <a:t>].quantile(</a:t>
            </a:r>
            <a:r>
              <a:rPr lang="en-US" sz="830" dirty="0">
                <a:solidFill>
                  <a:srgbClr val="E38B7A"/>
                </a:solidFill>
                <a:latin typeface="Consolas" pitchFamily="34" charset="0"/>
                <a:ea typeface="Consolas" pitchFamily="34" charset="0"/>
                <a:cs typeface="Consolas" pitchFamily="34" charset="0"/>
              </a:rPr>
              <a:t>0.75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'#90caf9'</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v in feat_imp_df[</a:t>
            </a:r>
            <a:r>
              <a:rPr lang="en-US" sz="830" dirty="0">
                <a:solidFill>
                  <a:srgbClr val="FFC94D"/>
                </a:solidFill>
                <a:latin typeface="Consolas" pitchFamily="34" charset="0"/>
                <a:ea typeface="Consolas" pitchFamily="34" charset="0"/>
                <a:cs typeface="Consolas" pitchFamily="34" charset="0"/>
              </a:rPr>
              <a:t>'importance'</a:t>
            </a:r>
            <a:r>
              <a:rPr lang="en-US" sz="830" dirty="0">
                <a:solidFill>
                  <a:srgbClr val="D7E3F4"/>
                </a:solidFill>
                <a:latin typeface="Consolas" pitchFamily="34" charset="0"/>
                <a:ea typeface="Consolas" pitchFamily="34" charset="0"/>
                <a:cs typeface="Consolas" pitchFamily="34" charset="0"/>
              </a:rPr>
              <a:t>]]
ax4.barh(feat_imp_df[</a:t>
            </a:r>
            <a:r>
              <a:rPr lang="en-US" sz="830" dirty="0">
                <a:solidFill>
                  <a:srgbClr val="FFC94D"/>
                </a:solidFill>
                <a:latin typeface="Consolas" pitchFamily="34" charset="0"/>
                <a:ea typeface="Consolas" pitchFamily="34" charset="0"/>
                <a:cs typeface="Consolas" pitchFamily="34" charset="0"/>
              </a:rPr>
              <a:t>'feature'</a:t>
            </a:r>
            <a:r>
              <a:rPr lang="en-US" sz="830" dirty="0">
                <a:solidFill>
                  <a:srgbClr val="D7E3F4"/>
                </a:solidFill>
                <a:latin typeface="Consolas" pitchFamily="34" charset="0"/>
                <a:ea typeface="Consolas" pitchFamily="34" charset="0"/>
                <a:cs typeface="Consolas" pitchFamily="34" charset="0"/>
              </a:rPr>
              <a:t>],feat_imp_df[</a:t>
            </a:r>
            <a:r>
              <a:rPr lang="en-US" sz="830" dirty="0">
                <a:solidFill>
                  <a:srgbClr val="FFC94D"/>
                </a:solidFill>
                <a:latin typeface="Consolas" pitchFamily="34" charset="0"/>
                <a:ea typeface="Consolas" pitchFamily="34" charset="0"/>
                <a:cs typeface="Consolas" pitchFamily="34" charset="0"/>
              </a:rPr>
              <a:t>'importance'</a:t>
            </a:r>
            <a:r>
              <a:rPr lang="en-US" sz="830" dirty="0">
                <a:solidFill>
                  <a:srgbClr val="D7E3F4"/>
                </a:solidFill>
                <a:latin typeface="Consolas" pitchFamily="34" charset="0"/>
                <a:ea typeface="Consolas" pitchFamily="34" charset="0"/>
                <a:cs typeface="Consolas" pitchFamily="34" charset="0"/>
              </a:rPr>
              <a:t>],color=bc,edgecolor=</a:t>
            </a:r>
            <a:r>
              <a:rPr lang="en-US" sz="830" dirty="0">
                <a:solidFill>
                  <a:srgbClr val="FFC94D"/>
                </a:solidFill>
                <a:latin typeface="Consolas" pitchFamily="34" charset="0"/>
                <a:ea typeface="Consolas" pitchFamily="34" charset="0"/>
                <a:cs typeface="Consolas" pitchFamily="34" charset="0"/>
              </a:rPr>
              <a:t>'white'</a:t>
            </a:r>
            <a:r>
              <a:rPr lang="en-US" sz="830" dirty="0">
                <a:solidFill>
                  <a:srgbClr val="D7E3F4"/>
                </a:solidFill>
                <a:latin typeface="Consolas" pitchFamily="34" charset="0"/>
                <a:ea typeface="Consolas" pitchFamily="34" charset="0"/>
                <a:cs typeface="Consolas" pitchFamily="34" charset="0"/>
              </a:rPr>
              <a:t>)
ax4.set_xlabel(</a:t>
            </a:r>
            <a:r>
              <a:rPr lang="en-US" sz="830" dirty="0">
                <a:solidFill>
                  <a:srgbClr val="FFC94D"/>
                </a:solidFill>
                <a:latin typeface="Consolas" pitchFamily="34" charset="0"/>
                <a:ea typeface="Consolas" pitchFamily="34" charset="0"/>
                <a:cs typeface="Consolas" pitchFamily="34" charset="0"/>
              </a:rPr>
              <a:t>'Mean |Coefficient|'</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ax4.set_title(</a:t>
            </a:r>
            <a:r>
              <a:rPr lang="en-US" sz="830" dirty="0">
                <a:solidFill>
                  <a:srgbClr val="FFC94D"/>
                </a:solidFill>
                <a:latin typeface="Consolas" pitchFamily="34" charset="0"/>
                <a:ea typeface="Consolas" pitchFamily="34" charset="0"/>
                <a:cs typeface="Consolas" pitchFamily="34" charset="0"/>
              </a:rPr>
              <a:t>'Feature Importance\n(Linear SVM Weights)'</a:t>
            </a:r>
            <a:r>
              <a:rPr lang="en-US" sz="830" dirty="0">
                <a:solidFill>
                  <a:srgbClr val="D7E3F4"/>
                </a:solidFill>
                <a:latin typeface="Consolas" pitchFamily="34" charset="0"/>
                <a:ea typeface="Consolas" pitchFamily="34" charset="0"/>
                <a:cs typeface="Consolas" pitchFamily="34" charset="0"/>
              </a:rPr>
              <a:t>,**TK)
ax4.tick_params(axis=</a:t>
            </a:r>
            <a:r>
              <a:rPr lang="en-US" sz="830" dirty="0">
                <a:solidFill>
                  <a:srgbClr val="FFC94D"/>
                </a:solidFill>
                <a:latin typeface="Consolas" pitchFamily="34" charset="0"/>
                <a:ea typeface="Consolas" pitchFamily="34" charset="0"/>
                <a:cs typeface="Consolas" pitchFamily="34" charset="0"/>
              </a:rPr>
              <a:t>'y'</a:t>
            </a:r>
            <a:r>
              <a:rPr lang="en-US" sz="830" dirty="0">
                <a:solidFill>
                  <a:srgbClr val="D7E3F4"/>
                </a:solidFill>
                <a:latin typeface="Consolas" pitchFamily="34" charset="0"/>
                <a:ea typeface="Consolas" pitchFamily="34" charset="0"/>
                <a:cs typeface="Consolas" pitchFamily="34" charset="0"/>
              </a:rPr>
              <a:t>,labelsize=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 ax4.set_facecolor(</a:t>
            </a:r>
            <a:r>
              <a:rPr lang="en-US" sz="830" dirty="0">
                <a:solidFill>
                  <a:srgbClr val="FFC94D"/>
                </a:solidFill>
                <a:latin typeface="Consolas" pitchFamily="34" charset="0"/>
                <a:ea typeface="Consolas" pitchFamily="34" charset="0"/>
                <a:cs typeface="Consolas" pitchFamily="34" charset="0"/>
              </a:rPr>
              <a:t>'#ffffff'</a:t>
            </a:r>
            <a:r>
              <a:rPr lang="en-US" sz="830" dirty="0">
                <a:solidFill>
                  <a:srgbClr val="D7E3F4"/>
                </a:solidFill>
                <a:latin typeface="Consolas" pitchFamily="34" charset="0"/>
                <a:ea typeface="Consolas" pitchFamily="34" charset="0"/>
                <a:cs typeface="Consolas" pitchFamily="34" charset="0"/>
              </a:rPr>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104</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6">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Generating the Results Dashboard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ax5 = fig.add_subplot(gs[</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f1s=f1_score(y_te,best_pred,average=</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
f1_df=pd.DataFrame({</a:t>
            </a:r>
            <a:r>
              <a:rPr lang="en-US" sz="830" dirty="0">
                <a:solidFill>
                  <a:srgbClr val="FFC94D"/>
                </a:solidFill>
                <a:latin typeface="Consolas" pitchFamily="34" charset="0"/>
                <a:ea typeface="Consolas" pitchFamily="34" charset="0"/>
                <a:cs typeface="Consolas" pitchFamily="34" charset="0"/>
              </a:rPr>
              <a:t>'class'</a:t>
            </a:r>
            <a:r>
              <a:rPr lang="en-US" sz="830" dirty="0">
                <a:solidFill>
                  <a:srgbClr val="D7E3F4"/>
                </a:solidFill>
                <a:latin typeface="Consolas" pitchFamily="34" charset="0"/>
                <a:ea typeface="Consolas" pitchFamily="34" charset="0"/>
                <a:cs typeface="Consolas" pitchFamily="34" charset="0"/>
              </a:rPr>
              <a:t>:labels,</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:f1s}).sort_values(</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,ascending=</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
f1c=[</a:t>
            </a:r>
            <a:r>
              <a:rPr lang="en-US" sz="830" dirty="0">
                <a:solidFill>
                  <a:srgbClr val="FFC94D"/>
                </a:solidFill>
                <a:latin typeface="Consolas" pitchFamily="34" charset="0"/>
                <a:ea typeface="Consolas" pitchFamily="34" charset="0"/>
                <a:cs typeface="Consolas" pitchFamily="34" charset="0"/>
              </a:rPr>
              <a:t>'#d32f2f'</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'#ef9a9a'</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f&lt;</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'#fff176'</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f&lt;</a:t>
            </a:r>
            <a:r>
              <a:rPr lang="en-US" sz="830" dirty="0">
                <a:solidFill>
                  <a:srgbClr val="E38B7A"/>
                </a:solidFill>
                <a:latin typeface="Consolas" pitchFamily="34" charset="0"/>
                <a:ea typeface="Consolas" pitchFamily="34" charset="0"/>
                <a:cs typeface="Consolas" pitchFamily="34" charset="0"/>
              </a:rPr>
              <a:t>0.8</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'#a5d6a7'</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f in f1_df[</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
ax5.barh(f1_df[</a:t>
            </a:r>
            <a:r>
              <a:rPr lang="en-US" sz="830" dirty="0">
                <a:solidFill>
                  <a:srgbClr val="FFC94D"/>
                </a:solidFill>
                <a:latin typeface="Consolas" pitchFamily="34" charset="0"/>
                <a:ea typeface="Consolas" pitchFamily="34" charset="0"/>
                <a:cs typeface="Consolas" pitchFamily="34" charset="0"/>
              </a:rPr>
              <a:t>'class'</a:t>
            </a:r>
            <a:r>
              <a:rPr lang="en-US" sz="830" dirty="0">
                <a:solidFill>
                  <a:srgbClr val="D7E3F4"/>
                </a:solidFill>
                <a:latin typeface="Consolas" pitchFamily="34" charset="0"/>
                <a:ea typeface="Consolas" pitchFamily="34" charset="0"/>
                <a:cs typeface="Consolas" pitchFamily="34" charset="0"/>
              </a:rPr>
              <a:t>],f1_df[</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],color=f1c,edgecolor=</a:t>
            </a:r>
            <a:r>
              <a:rPr lang="en-US" sz="830" dirty="0">
                <a:solidFill>
                  <a:srgbClr val="FFC94D"/>
                </a:solidFill>
                <a:latin typeface="Consolas" pitchFamily="34" charset="0"/>
                <a:ea typeface="Consolas" pitchFamily="34" charset="0"/>
                <a:cs typeface="Consolas" pitchFamily="34" charset="0"/>
              </a:rPr>
              <a:t>'white'</a:t>
            </a:r>
            <a:r>
              <a:rPr lang="en-US" sz="830" dirty="0">
                <a:solidFill>
                  <a:srgbClr val="D7E3F4"/>
                </a:solidFill>
                <a:latin typeface="Consolas" pitchFamily="34" charset="0"/>
                <a:ea typeface="Consolas" pitchFamily="34" charset="0"/>
                <a:cs typeface="Consolas" pitchFamily="34" charset="0"/>
              </a:rPr>
              <a:t>,height=</a:t>
            </a:r>
            <a:r>
              <a:rPr lang="en-US" sz="830" dirty="0">
                <a:solidFill>
                  <a:srgbClr val="E38B7A"/>
                </a:solidFill>
                <a:latin typeface="Consolas" pitchFamily="34" charset="0"/>
                <a:ea typeface="Consolas" pitchFamily="34" charset="0"/>
                <a:cs typeface="Consolas" pitchFamily="34" charset="0"/>
              </a:rPr>
              <a:t>0.7</a:t>
            </a:r>
            <a:r>
              <a:rPr lang="en-US" sz="830" dirty="0">
                <a:solidFill>
                  <a:srgbClr val="D7E3F4"/>
                </a:solidFill>
                <a:latin typeface="Consolas" pitchFamily="34" charset="0"/>
                <a:ea typeface="Consolas" pitchFamily="34" charset="0"/>
                <a:cs typeface="Consolas" pitchFamily="34" charset="0"/>
              </a:rPr>
              <a:t>)
ax5.axvline(x=</a:t>
            </a:r>
            <a:r>
              <a:rPr lang="en-US" sz="830" dirty="0">
                <a:solidFill>
                  <a:srgbClr val="E38B7A"/>
                </a:solidFill>
                <a:latin typeface="Consolas" pitchFamily="34" charset="0"/>
                <a:ea typeface="Consolas" pitchFamily="34" charset="0"/>
                <a:cs typeface="Consolas" pitchFamily="34" charset="0"/>
              </a:rPr>
              <a:t>0.5</a:t>
            </a:r>
            <a:r>
              <a:rPr lang="en-US" sz="830" dirty="0">
                <a:solidFill>
                  <a:srgbClr val="D7E3F4"/>
                </a:solidFill>
                <a:latin typeface="Consolas" pitchFamily="34" charset="0"/>
                <a:ea typeface="Consolas" pitchFamily="34" charset="0"/>
                <a:cs typeface="Consolas" pitchFamily="34" charset="0"/>
              </a:rPr>
              <a:t>,color=</a:t>
            </a:r>
            <a:r>
              <a:rPr lang="en-US" sz="830" dirty="0">
                <a:solidFill>
                  <a:srgbClr val="FFC94D"/>
                </a:solidFill>
                <a:latin typeface="Consolas" pitchFamily="34" charset="0"/>
                <a:ea typeface="Consolas" pitchFamily="34" charset="0"/>
                <a:cs typeface="Consolas" pitchFamily="34" charset="0"/>
              </a:rPr>
              <a:t>'orange'</a:t>
            </a:r>
            <a:r>
              <a:rPr lang="en-US" sz="830" dirty="0">
                <a:solidFill>
                  <a:srgbClr val="D7E3F4"/>
                </a:solidFill>
                <a:latin typeface="Consolas" pitchFamily="34" charset="0"/>
                <a:ea typeface="Consolas" pitchFamily="34" charset="0"/>
                <a:cs typeface="Consolas" pitchFamily="34" charset="0"/>
              </a:rPr>
              <a:t>,linestyle=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,alpha=</a:t>
            </a:r>
            <a:r>
              <a:rPr lang="en-US" sz="830" dirty="0">
                <a:solidFill>
                  <a:srgbClr val="E38B7A"/>
                </a:solidFill>
                <a:latin typeface="Consolas" pitchFamily="34" charset="0"/>
                <a:ea typeface="Consolas" pitchFamily="34" charset="0"/>
                <a:cs typeface="Consolas" pitchFamily="34" charset="0"/>
              </a:rPr>
              <a:t>0.7</a:t>
            </a:r>
            <a:r>
              <a:rPr lang="en-US" sz="830" dirty="0">
                <a:solidFill>
                  <a:srgbClr val="D7E3F4"/>
                </a:solidFill>
                <a:latin typeface="Consolas" pitchFamily="34" charset="0"/>
                <a:ea typeface="Consolas" pitchFamily="34" charset="0"/>
                <a:cs typeface="Consolas" pitchFamily="34" charset="0"/>
              </a:rPr>
              <a:t>,linewidth=</a:t>
            </a:r>
            <a:r>
              <a:rPr lang="en-US" sz="830" dirty="0">
                <a:solidFill>
                  <a:srgbClr val="E38B7A"/>
                </a:solidFill>
                <a:latin typeface="Consolas" pitchFamily="34" charset="0"/>
                <a:ea typeface="Consolas" pitchFamily="34" charset="0"/>
                <a:cs typeface="Consolas" pitchFamily="34" charset="0"/>
              </a:rPr>
              <a:t>1.5</a:t>
            </a:r>
            <a:r>
              <a:rPr lang="en-US" sz="830" dirty="0">
                <a:solidFill>
                  <a:srgbClr val="D7E3F4"/>
                </a:solidFill>
                <a:latin typeface="Consolas" pitchFamily="34" charset="0"/>
                <a:ea typeface="Consolas" pitchFamily="34" charset="0"/>
                <a:cs typeface="Consolas" pitchFamily="34" charset="0"/>
              </a:rPr>
              <a:t>)
ax5.axvline(x=</a:t>
            </a:r>
            <a:r>
              <a:rPr lang="en-US" sz="830" dirty="0">
                <a:solidFill>
                  <a:srgbClr val="E38B7A"/>
                </a:solidFill>
                <a:latin typeface="Consolas" pitchFamily="34" charset="0"/>
                <a:ea typeface="Consolas" pitchFamily="34" charset="0"/>
                <a:cs typeface="Consolas" pitchFamily="34" charset="0"/>
              </a:rPr>
              <a:t>0.8</a:t>
            </a:r>
            <a:r>
              <a:rPr lang="en-US" sz="830" dirty="0">
                <a:solidFill>
                  <a:srgbClr val="D7E3F4"/>
                </a:solidFill>
                <a:latin typeface="Consolas" pitchFamily="34" charset="0"/>
                <a:ea typeface="Consolas" pitchFamily="34" charset="0"/>
                <a:cs typeface="Consolas" pitchFamily="34" charset="0"/>
              </a:rPr>
              <a:t>,color=</a:t>
            </a:r>
            <a:r>
              <a:rPr lang="en-US" sz="830" dirty="0">
                <a:solidFill>
                  <a:srgbClr val="FFC94D"/>
                </a:solidFill>
                <a:latin typeface="Consolas" pitchFamily="34" charset="0"/>
                <a:ea typeface="Consolas" pitchFamily="34" charset="0"/>
                <a:cs typeface="Consolas" pitchFamily="34" charset="0"/>
              </a:rPr>
              <a:t>'green'</a:t>
            </a:r>
            <a:r>
              <a:rPr lang="en-US" sz="830" dirty="0">
                <a:solidFill>
                  <a:srgbClr val="D7E3F4"/>
                </a:solidFill>
                <a:latin typeface="Consolas" pitchFamily="34" charset="0"/>
                <a:ea typeface="Consolas" pitchFamily="34" charset="0"/>
                <a:cs typeface="Consolas" pitchFamily="34" charset="0"/>
              </a:rPr>
              <a:t>,linestyle=</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,alpha=</a:t>
            </a:r>
            <a:r>
              <a:rPr lang="en-US" sz="830" dirty="0">
                <a:solidFill>
                  <a:srgbClr val="E38B7A"/>
                </a:solidFill>
                <a:latin typeface="Consolas" pitchFamily="34" charset="0"/>
                <a:ea typeface="Consolas" pitchFamily="34" charset="0"/>
                <a:cs typeface="Consolas" pitchFamily="34" charset="0"/>
              </a:rPr>
              <a:t>0.7</a:t>
            </a:r>
            <a:r>
              <a:rPr lang="en-US" sz="830" dirty="0">
                <a:solidFill>
                  <a:srgbClr val="D7E3F4"/>
                </a:solidFill>
                <a:latin typeface="Consolas" pitchFamily="34" charset="0"/>
                <a:ea typeface="Consolas" pitchFamily="34" charset="0"/>
                <a:cs typeface="Consolas" pitchFamily="34" charset="0"/>
              </a:rPr>
              <a:t>,linewidth=</a:t>
            </a:r>
            <a:r>
              <a:rPr lang="en-US" sz="830" dirty="0">
                <a:solidFill>
                  <a:srgbClr val="E38B7A"/>
                </a:solidFill>
                <a:latin typeface="Consolas" pitchFamily="34" charset="0"/>
                <a:ea typeface="Consolas" pitchFamily="34" charset="0"/>
                <a:cs typeface="Consolas" pitchFamily="34" charset="0"/>
              </a:rPr>
              <a:t>1.5</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i,(_,row) in </a:t>
            </a:r>
            <a:r>
              <a:rPr lang="en-US" sz="830" dirty="0">
                <a:solidFill>
                  <a:srgbClr val="4FC3E8"/>
                </a:solidFill>
                <a:latin typeface="Consolas" pitchFamily="34" charset="0"/>
                <a:ea typeface="Consolas" pitchFamily="34" charset="0"/>
                <a:cs typeface="Consolas" pitchFamily="34" charset="0"/>
              </a:rPr>
              <a:t>enumerate</a:t>
            </a:r>
            <a:r>
              <a:rPr lang="en-US" sz="830" dirty="0">
                <a:solidFill>
                  <a:srgbClr val="D7E3F4"/>
                </a:solidFill>
                <a:latin typeface="Consolas" pitchFamily="34" charset="0"/>
                <a:ea typeface="Consolas" pitchFamily="34" charset="0"/>
                <a:cs typeface="Consolas" pitchFamily="34" charset="0"/>
              </a:rPr>
              <a:t>(f1_df.iterrows()):
    ax5.text(row[</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0.01</a:t>
            </a:r>
            <a:r>
              <a:rPr lang="en-US" sz="830" dirty="0">
                <a:solidFill>
                  <a:srgbClr val="D7E3F4"/>
                </a:solidFill>
                <a:latin typeface="Consolas" pitchFamily="34" charset="0"/>
                <a:ea typeface="Consolas" pitchFamily="34" charset="0"/>
                <a:cs typeface="Consolas" pitchFamily="34" charset="0"/>
              </a:rPr>
              <a:t>,i,</a:t>
            </a:r>
            <a:r>
              <a:rPr lang="en-US" sz="830" dirty="0">
                <a:solidFill>
                  <a:srgbClr val="4FC3E8"/>
                </a:solidFill>
                <a:latin typeface="Consolas" pitchFamily="34" charset="0"/>
                <a:ea typeface="Consolas" pitchFamily="34" charset="0"/>
                <a:cs typeface="Consolas" pitchFamily="34" charset="0"/>
              </a:rPr>
              <a:t>str</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round</a:t>
            </a:r>
            <a:r>
              <a:rPr lang="en-US" sz="830" dirty="0">
                <a:solidFill>
                  <a:srgbClr val="D7E3F4"/>
                </a:solidFill>
                <a:latin typeface="Consolas" pitchFamily="34" charset="0"/>
                <a:ea typeface="Consolas" pitchFamily="34" charset="0"/>
                <a:cs typeface="Consolas" pitchFamily="34" charset="0"/>
              </a:rPr>
              <a:t>(row[</a:t>
            </a:r>
            <a:r>
              <a:rPr lang="en-US" sz="830" dirty="0">
                <a:solidFill>
                  <a:srgbClr val="FFC94D"/>
                </a:solidFill>
                <a:latin typeface="Consolas" pitchFamily="34" charset="0"/>
                <a:ea typeface="Consolas" pitchFamily="34" charset="0"/>
                <a:cs typeface="Consolas" pitchFamily="34" charset="0"/>
              </a:rPr>
              <a:t>'f1'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)),va=</a:t>
            </a:r>
            <a:r>
              <a:rPr lang="en-US" sz="830" dirty="0">
                <a:solidFill>
                  <a:srgbClr val="FFC94D"/>
                </a:solidFill>
                <a:latin typeface="Consolas" pitchFamily="34" charset="0"/>
                <a:ea typeface="Consolas" pitchFamily="34" charset="0"/>
                <a:cs typeface="Consolas" pitchFamily="34" charset="0"/>
              </a:rPr>
              <a:t>'center'</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8</a:t>
            </a:r>
            <a:r>
              <a:rPr lang="en-US" sz="830" dirty="0">
                <a:solidFill>
                  <a:srgbClr val="D7E3F4"/>
                </a:solidFill>
                <a:latin typeface="Consolas" pitchFamily="34" charset="0"/>
                <a:ea typeface="Consolas" pitchFamily="34" charset="0"/>
                <a:cs typeface="Consolas" pitchFamily="34" charset="0"/>
              </a:rPr>
              <a:t>)
ax5.set_xlabel(</a:t>
            </a:r>
            <a:r>
              <a:rPr lang="en-US" sz="830" dirty="0">
                <a:solidFill>
                  <a:srgbClr val="FFC94D"/>
                </a:solidFill>
                <a:latin typeface="Consolas" pitchFamily="34" charset="0"/>
                <a:ea typeface="Consolas" pitchFamily="34" charset="0"/>
                <a:cs typeface="Consolas" pitchFamily="34" charset="0"/>
              </a:rPr>
              <a:t>'F1 Score'</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 ax5.set_xlim(</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1.2</a:t>
            </a:r>
            <a:r>
              <a:rPr lang="en-US" sz="830" dirty="0">
                <a:solidFill>
                  <a:srgbClr val="D7E3F4"/>
                </a:solidFill>
                <a:latin typeface="Consolas" pitchFamily="34" charset="0"/>
                <a:ea typeface="Consolas" pitchFamily="34" charset="0"/>
                <a:cs typeface="Consolas" pitchFamily="34" charset="0"/>
              </a:rPr>
              <a:t>)
ax5.set_title(</a:t>
            </a:r>
            <a:r>
              <a:rPr lang="en-US" sz="830" dirty="0">
                <a:solidFill>
                  <a:srgbClr val="FFC94D"/>
                </a:solidFill>
                <a:latin typeface="Consolas" pitchFamily="34" charset="0"/>
                <a:ea typeface="Consolas" pitchFamily="34" charset="0"/>
                <a:cs typeface="Consolas" pitchFamily="34" charset="0"/>
              </a:rPr>
              <a:t>'Per-Class F1 — RBF + Topology Rule (Final)'</a:t>
            </a:r>
            <a:r>
              <a:rPr lang="en-US" sz="830" dirty="0">
                <a:solidFill>
                  <a:srgbClr val="D7E3F4"/>
                </a:solidFill>
                <a:latin typeface="Consolas" pitchFamily="34" charset="0"/>
                <a:ea typeface="Consolas" pitchFamily="34" charset="0"/>
                <a:cs typeface="Consolas" pitchFamily="34" charset="0"/>
              </a:rPr>
              <a:t>,**TK)
ax5.set_facecolor(</a:t>
            </a:r>
            <a:r>
              <a:rPr lang="en-US" sz="830" dirty="0">
                <a:solidFill>
                  <a:srgbClr val="FFC94D"/>
                </a:solidFill>
                <a:latin typeface="Consolas" pitchFamily="34" charset="0"/>
                <a:ea typeface="Consolas" pitchFamily="34" charset="0"/>
                <a:cs typeface="Consolas" pitchFamily="34" charset="0"/>
              </a:rPr>
              <a:t>'#ffffff'</a:t>
            </a:r>
            <a:r>
              <a:rPr lang="en-US" sz="830" dirty="0">
                <a:solidFill>
                  <a:srgbClr val="D7E3F4"/>
                </a:solidFill>
                <a:latin typeface="Consolas" pitchFamily="34" charset="0"/>
                <a:ea typeface="Consolas" pitchFamily="34" charset="0"/>
                <a:cs typeface="Consolas" pitchFamily="34" charset="0"/>
              </a:rPr>
              <a:t>)
ax6 = fig.add_subplot(gs[</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
sns.heatmap(cm,annot=</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,fmt=</a:t>
            </a:r>
            <a:r>
              <a:rPr lang="en-US" sz="830" dirty="0">
                <a:solidFill>
                  <a:srgbClr val="FFC94D"/>
                </a:solidFill>
                <a:latin typeface="Consolas" pitchFamily="34" charset="0"/>
                <a:ea typeface="Consolas" pitchFamily="34" charset="0"/>
                <a:cs typeface="Consolas" pitchFamily="34" charset="0"/>
              </a:rPr>
              <a:t>'d'</a:t>
            </a:r>
            <a:r>
              <a:rPr lang="en-US" sz="830" dirty="0">
                <a:solidFill>
                  <a:srgbClr val="D7E3F4"/>
                </a:solidFill>
                <a:latin typeface="Consolas" pitchFamily="34" charset="0"/>
                <a:ea typeface="Consolas" pitchFamily="34" charset="0"/>
                <a:cs typeface="Consolas" pitchFamily="34" charset="0"/>
              </a:rPr>
              <a:t>,cmap=</a:t>
            </a:r>
            <a:r>
              <a:rPr lang="en-US" sz="830" dirty="0">
                <a:solidFill>
                  <a:srgbClr val="FFC94D"/>
                </a:solidFill>
                <a:latin typeface="Consolas" pitchFamily="34" charset="0"/>
                <a:ea typeface="Consolas" pitchFamily="34" charset="0"/>
                <a:cs typeface="Consolas" pitchFamily="34" charset="0"/>
              </a:rPr>
              <a:t>'Blues'</a:t>
            </a:r>
            <a:r>
              <a:rPr lang="en-US" sz="830" dirty="0">
                <a:solidFill>
                  <a:srgbClr val="D7E3F4"/>
                </a:solidFill>
                <a:latin typeface="Consolas" pitchFamily="34" charset="0"/>
                <a:ea typeface="Consolas" pitchFamily="34" charset="0"/>
                <a:cs typeface="Consolas" pitchFamily="34" charset="0"/>
              </a:rPr>
              <a:t>,xticklabels=labels,yticklabels=labels,
            linewidths=</a:t>
            </a:r>
            <a:r>
              <a:rPr lang="en-US" sz="830" dirty="0">
                <a:solidFill>
                  <a:srgbClr val="E38B7A"/>
                </a:solidFill>
                <a:latin typeface="Consolas" pitchFamily="34" charset="0"/>
                <a:ea typeface="Consolas" pitchFamily="34" charset="0"/>
                <a:cs typeface="Consolas" pitchFamily="34" charset="0"/>
              </a:rPr>
              <a:t>0.3</a:t>
            </a:r>
            <a:r>
              <a:rPr lang="en-US" sz="830" dirty="0">
                <a:solidFill>
                  <a:srgbClr val="D7E3F4"/>
                </a:solidFill>
                <a:latin typeface="Consolas" pitchFamily="34" charset="0"/>
                <a:ea typeface="Consolas" pitchFamily="34" charset="0"/>
                <a:cs typeface="Consolas" pitchFamily="34" charset="0"/>
              </a:rPr>
              <a:t>,ax=ax6,cbar_kws={</a:t>
            </a:r>
            <a:r>
              <a:rPr lang="en-US" sz="830" dirty="0">
                <a:solidFill>
                  <a:srgbClr val="FFC94D"/>
                </a:solidFill>
                <a:latin typeface="Consolas" pitchFamily="34" charset="0"/>
                <a:ea typeface="Consolas" pitchFamily="34" charset="0"/>
                <a:cs typeface="Consolas" pitchFamily="34" charset="0"/>
              </a:rPr>
              <a:t>'shrink'</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0.8</a:t>
            </a:r>
            <a:r>
              <a:rPr lang="en-US" sz="830" dirty="0">
                <a:solidFill>
                  <a:srgbClr val="D7E3F4"/>
                </a:solidFill>
                <a:latin typeface="Consolas" pitchFamily="34" charset="0"/>
                <a:ea typeface="Consolas" pitchFamily="34" charset="0"/>
                <a:cs typeface="Consolas" pitchFamily="34" charset="0"/>
              </a:rPr>
              <a:t>},annot_kws={</a:t>
            </a:r>
            <a:r>
              <a:rPr lang="en-US" sz="830" dirty="0">
                <a:solidFill>
                  <a:srgbClr val="FFC94D"/>
                </a:solidFill>
                <a:latin typeface="Consolas" pitchFamily="34" charset="0"/>
                <a:ea typeface="Consolas" pitchFamily="34" charset="0"/>
                <a:cs typeface="Consolas" pitchFamily="34" charset="0"/>
              </a:rPr>
              <a:t>'size'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7</a:t>
            </a:r>
            <a:r>
              <a:rPr lang="en-US" sz="830" dirty="0">
                <a:solidFill>
                  <a:srgbClr val="D7E3F4"/>
                </a:solidFill>
                <a:latin typeface="Consolas" pitchFamily="34" charset="0"/>
                <a:ea typeface="Consolas" pitchFamily="34" charset="0"/>
                <a:cs typeface="Consolas" pitchFamily="34" charset="0"/>
              </a:rPr>
              <a:t>})
ax6.set_xlabel(</a:t>
            </a:r>
            <a:r>
              <a:rPr lang="en-US" sz="830" dirty="0">
                <a:solidFill>
                  <a:srgbClr val="FFC94D"/>
                </a:solidFill>
                <a:latin typeface="Consolas" pitchFamily="34" charset="0"/>
                <a:ea typeface="Consolas" pitchFamily="34" charset="0"/>
                <a:cs typeface="Consolas" pitchFamily="34" charset="0"/>
              </a:rPr>
              <a:t>'Predicted'</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11</a:t>
            </a:r>
            <a:r>
              <a:rPr lang="en-US" sz="830" dirty="0">
                <a:solidFill>
                  <a:srgbClr val="D7E3F4"/>
                </a:solidFill>
                <a:latin typeface="Consolas" pitchFamily="34" charset="0"/>
                <a:ea typeface="Consolas" pitchFamily="34" charset="0"/>
                <a:cs typeface="Consolas" pitchFamily="34" charset="0"/>
              </a:rPr>
              <a:t>); ax6.set_ylabel(</a:t>
            </a:r>
            <a:r>
              <a:rPr lang="en-US" sz="830" dirty="0">
                <a:solidFill>
                  <a:srgbClr val="FFC94D"/>
                </a:solidFill>
                <a:latin typeface="Consolas" pitchFamily="34" charset="0"/>
                <a:ea typeface="Consolas" pitchFamily="34" charset="0"/>
                <a:cs typeface="Consolas" pitchFamily="34" charset="0"/>
              </a:rPr>
              <a:t>'Actual'</a:t>
            </a:r>
            <a:r>
              <a:rPr lang="en-US" sz="830" dirty="0">
                <a:solidFill>
                  <a:srgbClr val="D7E3F4"/>
                </a:solidFill>
                <a:latin typeface="Consolas" pitchFamily="34" charset="0"/>
                <a:ea typeface="Consolas" pitchFamily="34" charset="0"/>
                <a:cs typeface="Consolas" pitchFamily="34" charset="0"/>
              </a:rPr>
              <a:t>,fontsize=</a:t>
            </a:r>
            <a:r>
              <a:rPr lang="en-US" sz="830" dirty="0">
                <a:solidFill>
                  <a:srgbClr val="E38B7A"/>
                </a:solidFill>
                <a:latin typeface="Consolas" pitchFamily="34" charset="0"/>
                <a:ea typeface="Consolas" pitchFamily="34" charset="0"/>
                <a:cs typeface="Consolas" pitchFamily="34" charset="0"/>
              </a:rPr>
              <a:t>11</a:t>
            </a:r>
            <a:r>
              <a:rPr lang="en-US" sz="830" dirty="0">
                <a:solidFill>
                  <a:srgbClr val="D7E3F4"/>
                </a:solidFill>
                <a:latin typeface="Consolas" pitchFamily="34" charset="0"/>
                <a:ea typeface="Consolas" pitchFamily="34" charset="0"/>
                <a:cs typeface="Consolas" pitchFamily="34" charset="0"/>
              </a:rPr>
              <a:t>)
ax6.set_title(</a:t>
            </a:r>
            <a:r>
              <a:rPr lang="en-US" sz="830" dirty="0">
                <a:solidFill>
                  <a:srgbClr val="FFC94D"/>
                </a:solidFill>
                <a:latin typeface="Consolas" pitchFamily="34" charset="0"/>
                <a:ea typeface="Consolas" pitchFamily="34" charset="0"/>
                <a:cs typeface="Consolas" pitchFamily="34" charset="0"/>
              </a:rPr>
              <a:t>'Confusion Matrix — RBF + Topology Rule | Accuracy: '</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4FC3E8"/>
                </a:solidFill>
                <a:latin typeface="Consolas" pitchFamily="34" charset="0"/>
                <a:ea typeface="Consolas" pitchFamily="34" charset="0"/>
                <a:cs typeface="Consolas" pitchFamily="34" charset="0"/>
              </a:rPr>
              <a:t>str</a:t>
            </a:r>
            <a:r>
              <a:rPr lang="en-US" sz="830" dirty="0">
                <a:solidFill>
                  <a:srgbClr val="D7E3F4"/>
                </a:solidFill>
                <a:latin typeface="Consolas" pitchFamily="34" charset="0"/>
                <a:ea typeface="Consolas" pitchFamily="34" charset="0"/>
                <a:cs typeface="Consolas" pitchFamily="34" charset="0"/>
              </a:rPr>
              <a:t>(</a:t>
            </a:r>
            <a:r>
              <a:rPr lang="en-US" sz="830" dirty="0">
                <a:solidFill>
                  <a:srgbClr val="4FC3E8"/>
                </a:solidFill>
                <a:latin typeface="Consolas" pitchFamily="34" charset="0"/>
                <a:ea typeface="Consolas" pitchFamily="34" charset="0"/>
                <a:cs typeface="Consolas" pitchFamily="34" charset="0"/>
              </a:rPr>
              <a:t>round</a:t>
            </a:r>
            <a:r>
              <a:rPr lang="en-US" sz="830" dirty="0">
                <a:solidFill>
                  <a:srgbClr val="D7E3F4"/>
                </a:solidFill>
                <a:latin typeface="Consolas" pitchFamily="34" charset="0"/>
                <a:ea typeface="Consolas" pitchFamily="34" charset="0"/>
                <a:cs typeface="Consolas" pitchFamily="34" charset="0"/>
              </a:rPr>
              <a:t>(best_acc,</a:t>
            </a:r>
            <a:r>
              <a:rPr lang="en-US" sz="830" dirty="0">
                <a:solidFill>
                  <a:srgbClr val="E38B7A"/>
                </a:solidFill>
                <a:latin typeface="Consolas" pitchFamily="34" charset="0"/>
                <a:ea typeface="Consolas" pitchFamily="34" charset="0"/>
                <a:cs typeface="Consolas" pitchFamily="34" charset="0"/>
              </a:rPr>
              <a:t>2</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,**TK)
ax6.tick_params(axis=</a:t>
            </a:r>
            <a:r>
              <a:rPr lang="en-US" sz="830" dirty="0">
                <a:solidFill>
                  <a:srgbClr val="FFC94D"/>
                </a:solidFill>
                <a:latin typeface="Consolas" pitchFamily="34" charset="0"/>
                <a:ea typeface="Consolas" pitchFamily="34" charset="0"/>
                <a:cs typeface="Consolas" pitchFamily="34" charset="0"/>
              </a:rPr>
              <a:t>'x'</a:t>
            </a:r>
            <a:r>
              <a:rPr lang="en-US" sz="830" dirty="0">
                <a:solidFill>
                  <a:srgbClr val="D7E3F4"/>
                </a:solidFill>
                <a:latin typeface="Consolas" pitchFamily="34" charset="0"/>
                <a:ea typeface="Consolas" pitchFamily="34" charset="0"/>
                <a:cs typeface="Consolas" pitchFamily="34" charset="0"/>
              </a:rPr>
              <a:t>,labelsize=</a:t>
            </a:r>
            <a:r>
              <a:rPr lang="en-US" sz="830" dirty="0">
                <a:solidFill>
                  <a:srgbClr val="E38B7A"/>
                </a:solidFill>
                <a:latin typeface="Consolas" pitchFamily="34" charset="0"/>
                <a:ea typeface="Consolas" pitchFamily="34" charset="0"/>
                <a:cs typeface="Consolas" pitchFamily="34" charset="0"/>
              </a:rPr>
              <a:t>7</a:t>
            </a:r>
            <a:r>
              <a:rPr lang="en-US" sz="830" dirty="0">
                <a:solidFill>
                  <a:srgbClr val="D7E3F4"/>
                </a:solidFill>
                <a:latin typeface="Consolas" pitchFamily="34" charset="0"/>
                <a:ea typeface="Consolas" pitchFamily="34" charset="0"/>
                <a:cs typeface="Consolas" pitchFamily="34" charset="0"/>
              </a:rPr>
              <a:t>,rotation=</a:t>
            </a:r>
            <a:r>
              <a:rPr lang="en-US" sz="830" dirty="0">
                <a:solidFill>
                  <a:srgbClr val="E38B7A"/>
                </a:solidFill>
                <a:latin typeface="Consolas" pitchFamily="34" charset="0"/>
                <a:ea typeface="Consolas" pitchFamily="34" charset="0"/>
                <a:cs typeface="Consolas" pitchFamily="34" charset="0"/>
              </a:rPr>
              <a:t>45</a:t>
            </a:r>
            <a:r>
              <a:rPr lang="en-US" sz="830" dirty="0">
                <a:solidFill>
                  <a:srgbClr val="D7E3F4"/>
                </a:solidFill>
                <a:latin typeface="Consolas" pitchFamily="34" charset="0"/>
                <a:ea typeface="Consolas" pitchFamily="34" charset="0"/>
                <a:cs typeface="Consolas" pitchFamily="34" charset="0"/>
              </a:rPr>
              <a:t>)
ax6.tick_params(axis=</a:t>
            </a:r>
            <a:r>
              <a:rPr lang="en-US" sz="830" dirty="0">
                <a:solidFill>
                  <a:srgbClr val="FFC94D"/>
                </a:solidFill>
                <a:latin typeface="Consolas" pitchFamily="34" charset="0"/>
                <a:ea typeface="Consolas" pitchFamily="34" charset="0"/>
                <a:cs typeface="Consolas" pitchFamily="34" charset="0"/>
              </a:rPr>
              <a:t>'y'</a:t>
            </a:r>
            <a:r>
              <a:rPr lang="en-US" sz="830" dirty="0">
                <a:solidFill>
                  <a:srgbClr val="D7E3F4"/>
                </a:solidFill>
                <a:latin typeface="Consolas" pitchFamily="34" charset="0"/>
                <a:ea typeface="Consolas" pitchFamily="34" charset="0"/>
                <a:cs typeface="Consolas" pitchFamily="34" charset="0"/>
              </a:rPr>
              <a:t>,labelsize=</a:t>
            </a:r>
            <a:r>
              <a:rPr lang="en-US" sz="830" dirty="0">
                <a:solidFill>
                  <a:srgbClr val="E38B7A"/>
                </a:solidFill>
                <a:latin typeface="Consolas" pitchFamily="34" charset="0"/>
                <a:ea typeface="Consolas" pitchFamily="34" charset="0"/>
                <a:cs typeface="Consolas" pitchFamily="34" charset="0"/>
              </a:rPr>
              <a:t>7</a:t>
            </a:r>
            <a:r>
              <a:rPr lang="en-US" sz="830" dirty="0">
                <a:solidFill>
                  <a:srgbClr val="D7E3F4"/>
                </a:solidFill>
                <a:latin typeface="Consolas" pitchFamily="34" charset="0"/>
                <a:ea typeface="Consolas" pitchFamily="34" charset="0"/>
                <a:cs typeface="Consolas" pitchFamily="34" charset="0"/>
              </a:rPr>
              <a:t>,rotation=</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CORRECTED TITLE - SN Bose Summer Internship, NIT Silchar (not Research Centre)</a:t>
            </a:r>
            <a:r>
              <a:rPr lang="en-US" sz="830" dirty="0">
                <a:solidFill>
                  <a:srgbClr val="D7E3F4"/>
                </a:solidFill>
                <a:latin typeface="Consolas" pitchFamily="34" charset="0"/>
                <a:ea typeface="Consolas" pitchFamily="34" charset="0"/>
                <a:cs typeface="Consolas" pitchFamily="34" charset="0"/>
              </a:rPr>
              <a:t>
fig.suptitle(</a:t>
            </a:r>
            <a:r>
              <a:rPr lang="en-US" sz="830" dirty="0">
                <a:solidFill>
                  <a:srgbClr val="FFC94D"/>
                </a:solidFill>
                <a:latin typeface="Consolas" pitchFamily="34" charset="0"/>
                <a:ea typeface="Consolas" pitchFamily="34" charset="0"/>
                <a:cs typeface="Consolas" pitchFamily="34" charset="0"/>
              </a:rPr>
              <a:t>'Kernel-Based Fault Classification in Analog Circuits\nSN Bose Summer Internship 2026, NIT Silchar — FINAL Results (78.43%, Topology-Aware)'</a:t>
            </a:r>
            <a:r>
              <a:rPr lang="en-US" sz="830" dirty="0">
                <a:solidFill>
                  <a:srgbClr val="D7E3F4"/>
                </a:solidFill>
                <a:latin typeface="Consolas" pitchFamily="34" charset="0"/>
                <a:ea typeface="Consolas" pitchFamily="34" charset="0"/>
                <a:cs typeface="Consolas" pitchFamily="34" charset="0"/>
              </a:rPr>
              <a:t>,
             fontsize=</a:t>
            </a:r>
            <a:r>
              <a:rPr lang="en-US" sz="830" dirty="0">
                <a:solidFill>
                  <a:srgbClr val="E38B7A"/>
                </a:solidFill>
                <a:latin typeface="Consolas" pitchFamily="34" charset="0"/>
                <a:ea typeface="Consolas" pitchFamily="34" charset="0"/>
                <a:cs typeface="Consolas" pitchFamily="34" charset="0"/>
              </a:rPr>
              <a:t>16</a:t>
            </a:r>
            <a:r>
              <a:rPr lang="en-US" sz="830" dirty="0">
                <a:solidFill>
                  <a:srgbClr val="D7E3F4"/>
                </a:solidFill>
                <a:latin typeface="Consolas" pitchFamily="34" charset="0"/>
                <a:ea typeface="Consolas" pitchFamily="34" charset="0"/>
                <a:cs typeface="Consolas" pitchFamily="34" charset="0"/>
              </a:rPr>
              <a:t>,fontweight=</a:t>
            </a:r>
            <a:r>
              <a:rPr lang="en-US" sz="830" dirty="0">
                <a:solidFill>
                  <a:srgbClr val="FFC94D"/>
                </a:solidFill>
                <a:latin typeface="Consolas" pitchFamily="34" charset="0"/>
                <a:ea typeface="Consolas" pitchFamily="34" charset="0"/>
                <a:cs typeface="Consolas" pitchFamily="34" charset="0"/>
              </a:rPr>
              <a:t>'bold'</a:t>
            </a:r>
            <a:r>
              <a:rPr lang="en-US" sz="830" dirty="0">
                <a:solidFill>
                  <a:srgbClr val="D7E3F4"/>
                </a:solidFill>
                <a:latin typeface="Consolas" pitchFamily="34" charset="0"/>
                <a:ea typeface="Consolas" pitchFamily="34" charset="0"/>
                <a:cs typeface="Consolas" pitchFamily="34" charset="0"/>
              </a:rPr>
              <a:t>,y=</a:t>
            </a:r>
            <a:r>
              <a:rPr lang="en-US" sz="830" dirty="0">
                <a:solidFill>
                  <a:srgbClr val="E38B7A"/>
                </a:solidFill>
                <a:latin typeface="Consolas" pitchFamily="34" charset="0"/>
                <a:ea typeface="Consolas" pitchFamily="34" charset="0"/>
                <a:cs typeface="Consolas" pitchFamily="34" charset="0"/>
              </a:rPr>
              <a:t>0.98</a:t>
            </a:r>
            <a:r>
              <a:rPr lang="en-US" sz="830" dirty="0">
                <a:solidFill>
                  <a:srgbClr val="D7E3F4"/>
                </a:solidFill>
                <a:latin typeface="Consolas" pitchFamily="34" charset="0"/>
                <a:ea typeface="Consolas" pitchFamily="34" charset="0"/>
                <a:cs typeface="Consolas" pitchFamily="34" charset="0"/>
              </a:rPr>
              <a:t>)
out_path = os.path.join(OUT_DIR,</a:t>
            </a:r>
            <a:r>
              <a:rPr lang="en-US" sz="830" dirty="0">
                <a:solidFill>
                  <a:srgbClr val="FFC94D"/>
                </a:solidFill>
                <a:latin typeface="Consolas" pitchFamily="34" charset="0"/>
                <a:ea typeface="Consolas" pitchFamily="34" charset="0"/>
                <a:cs typeface="Consolas" pitchFamily="34" charset="0"/>
              </a:rPr>
              <a:t>'results_dashboard_FINAL.png'</a:t>
            </a:r>
            <a:r>
              <a:rPr lang="en-US" sz="830" dirty="0">
                <a:solidFill>
                  <a:srgbClr val="D7E3F4"/>
                </a:solidFill>
                <a:latin typeface="Consolas" pitchFamily="34" charset="0"/>
                <a:ea typeface="Consolas" pitchFamily="34" charset="0"/>
                <a:cs typeface="Consolas" pitchFamily="34" charset="0"/>
              </a:rPr>
              <a:t>)
plt.savefig(out_path,dpi=</a:t>
            </a:r>
            <a:r>
              <a:rPr lang="en-US" sz="830" dirty="0">
                <a:solidFill>
                  <a:srgbClr val="E38B7A"/>
                </a:solidFill>
                <a:latin typeface="Consolas" pitchFamily="34" charset="0"/>
                <a:ea typeface="Consolas" pitchFamily="34" charset="0"/>
                <a:cs typeface="Consolas" pitchFamily="34" charset="0"/>
              </a:rPr>
              <a:t>150</a:t>
            </a:r>
            <a:r>
              <a:rPr lang="en-US" sz="830" dirty="0">
                <a:solidFill>
                  <a:srgbClr val="D7E3F4"/>
                </a:solidFill>
                <a:latin typeface="Consolas" pitchFamily="34" charset="0"/>
                <a:ea typeface="Consolas" pitchFamily="34" charset="0"/>
                <a:cs typeface="Consolas" pitchFamily="34" charset="0"/>
              </a:rPr>
              <a:t>,bbox_inches=</a:t>
            </a:r>
            <a:r>
              <a:rPr lang="en-US" sz="830" dirty="0">
                <a:solidFill>
                  <a:srgbClr val="FFC94D"/>
                </a:solidFill>
                <a:latin typeface="Consolas" pitchFamily="34" charset="0"/>
                <a:ea typeface="Consolas" pitchFamily="34" charset="0"/>
                <a:cs typeface="Consolas" pitchFamily="34" charset="0"/>
              </a:rPr>
              <a:t>'tight'</a:t>
            </a:r>
            <a:r>
              <a:rPr lang="en-US" sz="830" dirty="0">
                <a:solidFill>
                  <a:srgbClr val="D7E3F4"/>
                </a:solidFill>
                <a:latin typeface="Consolas" pitchFamily="34" charset="0"/>
                <a:ea typeface="Consolas" pitchFamily="34" charset="0"/>
                <a:cs typeface="Consolas" pitchFamily="34" charset="0"/>
              </a:rPr>
              <a:t>,facecolor=fig.get_facecolor())
plt.close()
</a:t>
            </a:r>
            <a:r>
              <a:rPr lang="en-US" sz="830" dirty="0">
                <a:solidFill>
                  <a:srgbClr val="4FC3E8"/>
                </a:solidFill>
                <a:latin typeface="Consolas" pitchFamily="34" charset="0"/>
                <a:ea typeface="Consolas" pitchFamily="34" charset="0"/>
                <a:cs typeface="Consolas" pitchFamily="34" charset="0"/>
              </a:rPr>
              <a:t>print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'Dashboard saved -&gt; '</a:t>
            </a:r>
            <a:r>
              <a:rPr lang="en-US" sz="830" dirty="0">
                <a:solidFill>
                  <a:srgbClr val="D7E3F4"/>
                </a:solidFill>
                <a:latin typeface="Consolas" pitchFamily="34" charset="0"/>
                <a:ea typeface="Consolas" pitchFamily="34" charset="0"/>
                <a:cs typeface="Consolas" pitchFamily="34" charset="0"/>
              </a:rPr>
              <a:t> + out_path)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105</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7">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The Streamlit Web App  (1/6)</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marL="0" indent="0">
              <a:lnSpc>
                <a:spcPct val="120000"/>
              </a:lnSpc>
              <a:buNone/>
            </a:pPr>
            <a:r>
              <a:rPr lang="en-US" sz="1100" b="1" dirty="0">
                <a:solidFill>
                  <a:srgbClr val="0B1F3A"/>
                </a:solidFill>
                <a:latin typeface="Consolas" pitchFamily="34" charset="0"/>
                <a:ea typeface="Consolas" pitchFamily="34" charset="-122"/>
                <a:cs typeface="Consolas" pitchFamily="34" charset="-120"/>
              </a:rPr>
              <a:t>app.py  </a:t>
            </a:r>
            <a:r>
              <a:rPr lang="en-US" sz="1100" dirty="0">
                <a:solidFill>
                  <a:srgbClr val="64748B"/>
                </a:solidFill>
                <a:latin typeface="Calibri" pitchFamily="34" charset="0"/>
                <a:ea typeface="Calibri" pitchFamily="34" charset="-122"/>
                <a:cs typeface="Calibri" pitchFamily="34" charset="-120"/>
              </a:rPr>
              <a:t>— The live demo: loads the saved model, applies the topology-aware correction rule, and serves the interactive prediction UI</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streamlit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st</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joblib</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numpy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np</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pandas </a:t>
            </a:r>
            <a:r>
              <a:rPr lang="en-US" sz="830" b="1" dirty="0">
                <a:solidFill>
                  <a:srgbClr val="4FC3E8"/>
                </a:solidFill>
                <a:latin typeface="Consolas" pitchFamily="34" charset="0"/>
                <a:ea typeface="Consolas" pitchFamily="34" charset="0"/>
                <a:cs typeface="Consolas" pitchFamily="34" charset="0"/>
              </a:rPr>
              <a:t>as</a:t>
            </a:r>
            <a:r>
              <a:rPr lang="en-US" sz="830" dirty="0">
                <a:solidFill>
                  <a:srgbClr val="D7E3F4"/>
                </a:solidFill>
                <a:latin typeface="Consolas" pitchFamily="34" charset="0"/>
                <a:ea typeface="Consolas" pitchFamily="34" charset="0"/>
                <a:cs typeface="Consolas" pitchFamily="34" charset="0"/>
              </a:rPr>
              <a:t> pd</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import</a:t>
            </a:r>
            <a:r>
              <a:rPr lang="en-US" sz="830" dirty="0">
                <a:solidFill>
                  <a:srgbClr val="D7E3F4"/>
                </a:solidFill>
                <a:latin typeface="Consolas" pitchFamily="34" charset="0"/>
                <a:ea typeface="Consolas" pitchFamily="34" charset="0"/>
                <a:cs typeface="Consolas" pitchFamily="34" charset="0"/>
              </a:rPr>
              <a:t> os</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st.set_page_config(</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page_title=</a:t>
            </a:r>
            <a:r>
              <a:rPr lang="en-US" sz="830" dirty="0">
                <a:solidFill>
                  <a:srgbClr val="FFC94D"/>
                </a:solidFill>
                <a:latin typeface="Consolas" pitchFamily="34" charset="0"/>
                <a:ea typeface="Consolas" pitchFamily="34" charset="0"/>
                <a:cs typeface="Consolas" pitchFamily="34" charset="0"/>
              </a:rPr>
              <a:t>"Analog Circuit Fault Classifier"</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layout=</a:t>
            </a:r>
            <a:r>
              <a:rPr lang="en-US" sz="830" dirty="0">
                <a:solidFill>
                  <a:srgbClr val="FFC94D"/>
                </a:solidFill>
                <a:latin typeface="Consolas" pitchFamily="34" charset="0"/>
                <a:ea typeface="Consolas" pitchFamily="34" charset="0"/>
                <a:cs typeface="Consolas" pitchFamily="34" charset="0"/>
              </a:rPr>
              <a:t>"wide"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Header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st.title(</a:t>
            </a:r>
            <a:r>
              <a:rPr lang="en-US" sz="830" dirty="0">
                <a:solidFill>
                  <a:srgbClr val="FFC94D"/>
                </a:solidFill>
                <a:latin typeface="Consolas" pitchFamily="34" charset="0"/>
                <a:ea typeface="Consolas" pitchFamily="34" charset="0"/>
                <a:cs typeface="Consolas" pitchFamily="34" charset="0"/>
              </a:rPr>
              <a:t>"Kernel-Based Fault Classification in Analog Circuits"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st.markdown(</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**SVM-based fault classifier** trained on real LTspice parameter sweep simulation data.</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Classifies faults across **</a:t>
            </a:r>
            <a:r>
              <a:rPr lang="en-US" sz="830" dirty="0">
                <a:solidFill>
                  <a:srgbClr val="E38B7A"/>
                </a:solidFill>
                <a:latin typeface="Consolas" pitchFamily="34" charset="0"/>
                <a:ea typeface="Consolas" pitchFamily="34" charset="0"/>
                <a:cs typeface="Consolas" pitchFamily="34" charset="0"/>
              </a:rPr>
              <a:t>4</a:t>
            </a:r>
            <a:r>
              <a:rPr lang="en-US" sz="830" dirty="0">
                <a:solidFill>
                  <a:srgbClr val="D7E3F4"/>
                </a:solidFill>
                <a:latin typeface="Consolas" pitchFamily="34" charset="0"/>
                <a:ea typeface="Consolas" pitchFamily="34" charset="0"/>
                <a:cs typeface="Consolas" pitchFamily="34" charset="0"/>
              </a:rPr>
              <a:t> circuit topologies** (RC, RLC, Sallen-Key, RC Ladder)</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and **</a:t>
            </a:r>
            <a:r>
              <a:rPr lang="en-US" sz="830" dirty="0">
                <a:solidFill>
                  <a:srgbClr val="E38B7A"/>
                </a:solidFill>
                <a:latin typeface="Consolas" pitchFamily="34" charset="0"/>
                <a:ea typeface="Consolas" pitchFamily="34" charset="0"/>
                <a:cs typeface="Consolas" pitchFamily="34" charset="0"/>
              </a:rPr>
              <a:t>5</a:t>
            </a:r>
            <a:r>
              <a:rPr lang="en-US" sz="830" dirty="0">
                <a:solidFill>
                  <a:srgbClr val="D7E3F4"/>
                </a:solidFill>
                <a:latin typeface="Consolas" pitchFamily="34" charset="0"/>
                <a:ea typeface="Consolas" pitchFamily="34" charset="0"/>
                <a:cs typeface="Consolas" pitchFamily="34" charset="0"/>
              </a:rPr>
              <a:t> fault types** (Normal, Drift, Open, Short, Noise).</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**Final accuracy: </a:t>
            </a:r>
            <a:r>
              <a:rPr lang="en-US" sz="830" dirty="0">
                <a:solidFill>
                  <a:srgbClr val="E38B7A"/>
                </a:solidFill>
                <a:latin typeface="Consolas" pitchFamily="34" charset="0"/>
                <a:ea typeface="Consolas" pitchFamily="34" charset="0"/>
                <a:cs typeface="Consolas" pitchFamily="34" charset="0"/>
              </a:rPr>
              <a:t>78.43</a:t>
            </a:r>
            <a:r>
              <a:rPr lang="en-US" sz="830" dirty="0">
                <a:solidFill>
                  <a:srgbClr val="D7E3F4"/>
                </a:solidFill>
                <a:latin typeface="Consolas" pitchFamily="34" charset="0"/>
                <a:ea typeface="Consolas" pitchFamily="34" charset="0"/>
                <a:cs typeface="Consolas" pitchFamily="34" charset="0"/>
              </a:rPr>
              <a:t>%** on </a:t>
            </a:r>
            <a:r>
              <a:rPr lang="en-US" sz="830" dirty="0">
                <a:solidFill>
                  <a:srgbClr val="E38B7A"/>
                </a:solidFill>
                <a:latin typeface="Consolas" pitchFamily="34" charset="0"/>
                <a:ea typeface="Consolas" pitchFamily="34" charset="0"/>
                <a:cs typeface="Consolas" pitchFamily="34" charset="0"/>
              </a:rPr>
              <a:t>20</a:t>
            </a:r>
            <a:r>
              <a:rPr lang="en-US" sz="830" dirty="0">
                <a:solidFill>
                  <a:srgbClr val="D7E3F4"/>
                </a:solidFill>
                <a:latin typeface="Consolas" pitchFamily="34" charset="0"/>
                <a:ea typeface="Consolas" pitchFamily="34" charset="0"/>
                <a:cs typeface="Consolas" pitchFamily="34" charset="0"/>
              </a:rPr>
              <a:t>-</a:t>
            </a:r>
            <a:r>
              <a:rPr lang="en-US" sz="830" b="1" dirty="0">
                <a:solidFill>
                  <a:srgbClr val="4FC3E8"/>
                </a:solidFill>
                <a:latin typeface="Consolas" pitchFamily="34" charset="0"/>
                <a:ea typeface="Consolas" pitchFamily="34" charset="0"/>
                <a:cs typeface="Consolas" pitchFamily="34" charset="0"/>
              </a:rPr>
              <a:t>class</a:t>
            </a:r>
            <a:r>
              <a:rPr lang="en-US" sz="830" b="1" dirty="0">
                <a:solidFill>
                  <a:srgbClr val="FFFFFF"/>
                </a:solidFill>
                <a:latin typeface="Consolas" pitchFamily="34" charset="0"/>
                <a:ea typeface="Consolas" pitchFamily="34" charset="0"/>
                <a:cs typeface="Consolas" pitchFamily="34" charset="0"/>
              </a:rPr>
              <a:t> problem</a:t>
            </a:r>
            <a:r>
              <a:rPr lang="en-US" sz="830" dirty="0">
                <a:solidFill>
                  <a:srgbClr val="D7E3F4"/>
                </a:solidFill>
                <a:latin typeface="Consolas" pitchFamily="34" charset="0"/>
                <a:ea typeface="Consolas" pitchFamily="34" charset="0"/>
                <a:cs typeface="Consolas" pitchFamily="34" charset="0"/>
              </a:rPr>
              <a:t> (RBF kernel + topology-aware correction)</a:t>
            </a:r>
            <a:endParaRPr lang="en-US" sz="830" dirty="0"/>
          </a:p>
          <a:p>
            <a:pPr marL="0" indent="0">
              <a:lnSpc>
                <a:spcPct val="105000"/>
              </a:lnSpc>
              <a:buNone/>
            </a:pP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Load model artifacts ----</a:t>
            </a:r>
            <a:endParaRPr lang="en-US" sz="830" dirty="0"/>
          </a:p>
          <a:p>
            <a:pPr marL="0" indent="0">
              <a:lnSpc>
                <a:spcPct val="105000"/>
              </a:lnSpc>
              <a:buNone/>
            </a:pPr>
            <a:r>
              <a:rPr lang="en-US" sz="830" dirty="0">
                <a:solidFill>
                  <a:srgbClr val="FFC94D"/>
                </a:solidFill>
                <a:latin typeface="Consolas" pitchFamily="34" charset="0"/>
                <a:ea typeface="Consolas" pitchFamily="34" charset="0"/>
                <a:cs typeface="Consolas" pitchFamily="34" charset="0"/>
              </a:rPr>
              <a:t>@st</a:t>
            </a:r>
            <a:r>
              <a:rPr lang="en-US" sz="830" dirty="0">
                <a:solidFill>
                  <a:srgbClr val="D7E3F4"/>
                </a:solidFill>
                <a:latin typeface="Consolas" pitchFamily="34" charset="0"/>
                <a:ea typeface="Consolas" pitchFamily="34" charset="0"/>
                <a:cs typeface="Consolas" pitchFamily="34" charset="0"/>
              </a:rPr>
              <a:t>.cache_resource</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def</a:t>
            </a:r>
            <a:r>
              <a:rPr lang="en-US" sz="830" b="1" dirty="0">
                <a:solidFill>
                  <a:srgbClr val="FFFFFF"/>
                </a:solidFill>
                <a:latin typeface="Consolas" pitchFamily="34" charset="0"/>
                <a:ea typeface="Consolas" pitchFamily="34" charset="0"/>
                <a:cs typeface="Consolas" pitchFamily="34" charset="0"/>
              </a:rPr>
              <a:t> load_artifacts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model  = joblib.load(</a:t>
            </a:r>
            <a:r>
              <a:rPr lang="en-US" sz="830" dirty="0">
                <a:solidFill>
                  <a:srgbClr val="FFC94D"/>
                </a:solidFill>
                <a:latin typeface="Consolas" pitchFamily="34" charset="0"/>
                <a:ea typeface="Consolas" pitchFamily="34" charset="0"/>
                <a:cs typeface="Consolas" pitchFamily="34" charset="0"/>
              </a:rPr>
              <a:t>"model/model.pkl"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scaler = joblib.load(</a:t>
            </a:r>
            <a:r>
              <a:rPr lang="en-US" sz="830" dirty="0">
                <a:solidFill>
                  <a:srgbClr val="FFC94D"/>
                </a:solidFill>
                <a:latin typeface="Consolas" pitchFamily="34" charset="0"/>
                <a:ea typeface="Consolas" pitchFamily="34" charset="0"/>
                <a:cs typeface="Consolas" pitchFamily="34" charset="0"/>
              </a:rPr>
              <a:t>"model/scaler.pkl"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le     = joblib.load(</a:t>
            </a:r>
            <a:r>
              <a:rPr lang="en-US" sz="830" dirty="0">
                <a:solidFill>
                  <a:srgbClr val="FFC94D"/>
                </a:solidFill>
                <a:latin typeface="Consolas" pitchFamily="34" charset="0"/>
                <a:ea typeface="Consolas" pitchFamily="34" charset="0"/>
                <a:cs typeface="Consolas" pitchFamily="34" charset="0"/>
              </a:rPr>
              <a:t>"model/label_encoder.pkl"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return</a:t>
            </a:r>
            <a:r>
              <a:rPr lang="en-US" sz="830" dirty="0">
                <a:solidFill>
                  <a:srgbClr val="D7E3F4"/>
                </a:solidFill>
                <a:latin typeface="Consolas" pitchFamily="34" charset="0"/>
                <a:ea typeface="Consolas" pitchFamily="34" charset="0"/>
                <a:cs typeface="Consolas" pitchFamily="34" charset="0"/>
              </a:rPr>
              <a:t> model, scaler, le</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model, scaler, le = load_artifacts()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8">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The Streamlit Web App  (2/6)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Tabs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tab1, tab2, tab3 = st.tabs([</a:t>
            </a:r>
            <a:r>
              <a:rPr lang="en-US" sz="830" dirty="0">
                <a:solidFill>
                  <a:srgbClr val="FFC94D"/>
                </a:solidFill>
                <a:latin typeface="Consolas" pitchFamily="34" charset="0"/>
                <a:ea typeface="Consolas" pitchFamily="34" charset="0"/>
                <a:cs typeface="Consolas" pitchFamily="34" charset="0"/>
              </a:rPr>
              <a:t>"Dashboard"</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"Try Prediction"</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"Dataset"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TAB 1: Dashboard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tab1:</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st.header(</a:t>
            </a:r>
            <a:r>
              <a:rPr lang="en-US" sz="830" dirty="0">
                <a:solidFill>
                  <a:srgbClr val="FFC94D"/>
                </a:solidFill>
                <a:latin typeface="Consolas" pitchFamily="34" charset="0"/>
                <a:ea typeface="Consolas" pitchFamily="34" charset="0"/>
                <a:cs typeface="Consolas" pitchFamily="34" charset="0"/>
              </a:rPr>
              <a:t>"Results Dashboard"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os.path.exists(</a:t>
            </a:r>
            <a:r>
              <a:rPr lang="en-US" sz="830" dirty="0">
                <a:solidFill>
                  <a:srgbClr val="FFC94D"/>
                </a:solidFill>
                <a:latin typeface="Consolas" pitchFamily="34" charset="0"/>
                <a:ea typeface="Consolas" pitchFamily="34" charset="0"/>
                <a:cs typeface="Consolas" pitchFamily="34" charset="0"/>
              </a:rPr>
              <a:t>"results/results_dashboard_FINAL.png"</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st.image(</a:t>
            </a:r>
            <a:r>
              <a:rPr lang="en-US" sz="830" dirty="0">
                <a:solidFill>
                  <a:srgbClr val="FFC94D"/>
                </a:solidFill>
                <a:latin typeface="Consolas" pitchFamily="34" charset="0"/>
                <a:ea typeface="Consolas" pitchFamily="34" charset="0"/>
                <a:cs typeface="Consolas" pitchFamily="34" charset="0"/>
              </a:rPr>
              <a:t>"results/results_dashboard_FINAL.png"</a:t>
            </a:r>
            <a:r>
              <a:rPr lang="en-US" sz="830" dirty="0">
                <a:solidFill>
                  <a:srgbClr val="D7E3F4"/>
                </a:solidFill>
                <a:latin typeface="Consolas" pitchFamily="34" charset="0"/>
                <a:ea typeface="Consolas" pitchFamily="34" charset="0"/>
                <a:cs typeface="Consolas" pitchFamily="34" charset="0"/>
              </a:rPr>
              <a:t>, use_column_width=</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st.warning(</a:t>
            </a:r>
            <a:r>
              <a:rPr lang="en-US" sz="830" dirty="0">
                <a:solidFill>
                  <a:srgbClr val="FFC94D"/>
                </a:solidFill>
                <a:latin typeface="Consolas" pitchFamily="34" charset="0"/>
                <a:ea typeface="Consolas" pitchFamily="34" charset="0"/>
                <a:cs typeface="Consolas" pitchFamily="34" charset="0"/>
              </a:rPr>
              <a:t>"Dashboard image not found"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st.header(</a:t>
            </a:r>
            <a:r>
              <a:rPr lang="en-US" sz="830" dirty="0">
                <a:solidFill>
                  <a:srgbClr val="FFC94D"/>
                </a:solidFill>
                <a:latin typeface="Consolas" pitchFamily="34" charset="0"/>
                <a:ea typeface="Consolas" pitchFamily="34" charset="0"/>
                <a:cs typeface="Consolas" pitchFamily="34" charset="0"/>
              </a:rPr>
              <a:t>"Final Results Summary"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col1, col2, col3 = st.columns(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col1.metric(</a:t>
            </a:r>
            <a:r>
              <a:rPr lang="en-US" sz="830" dirty="0">
                <a:solidFill>
                  <a:srgbClr val="FFC94D"/>
                </a:solidFill>
                <a:latin typeface="Consolas" pitchFamily="34" charset="0"/>
                <a:ea typeface="Consolas" pitchFamily="34" charset="0"/>
                <a:cs typeface="Consolas" pitchFamily="34" charset="0"/>
              </a:rPr>
              <a:t>"Overall Accuracy"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"78.43%"</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col2.metric(</a:t>
            </a:r>
            <a:r>
              <a:rPr lang="en-US" sz="830" dirty="0">
                <a:solidFill>
                  <a:srgbClr val="FFC94D"/>
                </a:solidFill>
                <a:latin typeface="Consolas" pitchFamily="34" charset="0"/>
                <a:ea typeface="Consolas" pitchFamily="34" charset="0"/>
                <a:cs typeface="Consolas" pitchFamily="34" charset="0"/>
              </a:rPr>
              <a:t>"RLC Accuracy"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"100%"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col3.metric(</a:t>
            </a:r>
            <a:r>
              <a:rPr lang="en-US" sz="830" dirty="0">
                <a:solidFill>
                  <a:srgbClr val="FFC94D"/>
                </a:solidFill>
                <a:latin typeface="Consolas" pitchFamily="34" charset="0"/>
                <a:ea typeface="Consolas" pitchFamily="34" charset="0"/>
                <a:cs typeface="Consolas" pitchFamily="34" charset="0"/>
              </a:rPr>
              <a:t>"RC_open F1 (recovered)"</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"0.462"</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st.markdown(</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 Kernel | Default | Tuned + Topology Rule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 Linear | </a:t>
            </a:r>
            <a:r>
              <a:rPr lang="en-US" sz="830" dirty="0">
                <a:solidFill>
                  <a:srgbClr val="E38B7A"/>
                </a:solidFill>
                <a:latin typeface="Consolas" pitchFamily="34" charset="0"/>
                <a:ea typeface="Consolas" pitchFamily="34" charset="0"/>
                <a:cs typeface="Consolas" pitchFamily="34" charset="0"/>
              </a:rPr>
              <a:t>77.94</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77.45</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 RBF    | </a:t>
            </a:r>
            <a:r>
              <a:rPr lang="en-US" sz="830" dirty="0">
                <a:solidFill>
                  <a:srgbClr val="E38B7A"/>
                </a:solidFill>
                <a:latin typeface="Consolas" pitchFamily="34" charset="0"/>
                <a:ea typeface="Consolas" pitchFamily="34" charset="0"/>
                <a:cs typeface="Consolas" pitchFamily="34" charset="0"/>
              </a:rPr>
              <a:t>71.08</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78.43</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 Polynomial | </a:t>
            </a:r>
            <a:r>
              <a:rPr lang="en-US" sz="830" dirty="0">
                <a:solidFill>
                  <a:srgbClr val="E38B7A"/>
                </a:solidFill>
                <a:latin typeface="Consolas" pitchFamily="34" charset="0"/>
                <a:ea typeface="Consolas" pitchFamily="34" charset="0"/>
                <a:cs typeface="Consolas" pitchFamily="34" charset="0"/>
              </a:rPr>
              <a:t>75.49</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E38B7A"/>
                </a:solidFill>
                <a:latin typeface="Consolas" pitchFamily="34" charset="0"/>
                <a:ea typeface="Consolas" pitchFamily="34" charset="0"/>
                <a:cs typeface="Consolas" pitchFamily="34" charset="0"/>
              </a:rPr>
              <a:t>77.94</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TAB 2: Try Prediction =====</a:t>
            </a:r>
            <a:endParaRPr lang="en-US" sz="830" dirty="0"/>
          </a:p>
          <a:p>
            <a:pPr marL="0" indent="0">
              <a:lnSpc>
                <a:spcPct val="105000"/>
              </a:lnSpc>
              <a:buNone/>
            </a:pP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tab2:</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st.header(</a:t>
            </a:r>
            <a:r>
              <a:rPr lang="en-US" sz="830" dirty="0">
                <a:solidFill>
                  <a:srgbClr val="FFC94D"/>
                </a:solidFill>
                <a:latin typeface="Consolas" pitchFamily="34" charset="0"/>
                <a:ea typeface="Consolas" pitchFamily="34" charset="0"/>
                <a:cs typeface="Consolas" pitchFamily="34" charset="0"/>
              </a:rPr>
              <a:t>"Try a Prediction"</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st.write(</a:t>
            </a:r>
            <a:r>
              <a:rPr lang="en-US" sz="830" dirty="0">
                <a:solidFill>
                  <a:srgbClr val="FFC94D"/>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107</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09">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The Streamlit Web App  (3/6)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Select a sample </a:t>
            </a:r>
            <a:r>
              <a:rPr lang="en-US" sz="830" b="1" dirty="0">
                <a:solidFill>
                  <a:srgbClr val="4FC3E8"/>
                </a:solidFill>
                <a:latin typeface="Consolas" pitchFamily="34" charset="0"/>
                <a:ea typeface="Consolas" pitchFamily="34" charset="0"/>
                <a:cs typeface="Consolas" pitchFamily="34" charset="0"/>
              </a:rPr>
              <a:t>from</a:t>
            </a:r>
            <a:r>
              <a:rPr lang="en-US" sz="830" dirty="0">
                <a:solidFill>
                  <a:srgbClr val="D7E3F4"/>
                </a:solidFill>
                <a:latin typeface="Consolas" pitchFamily="34" charset="0"/>
                <a:ea typeface="Consolas" pitchFamily="34" charset="0"/>
                <a:cs typeface="Consolas" pitchFamily="34" charset="0"/>
              </a:rPr>
              <a:t> the dataset or enter feature values manually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to see the model</a:t>
            </a:r>
            <a:r>
              <a:rPr lang="en-US" sz="830" dirty="0">
                <a:solidFill>
                  <a:srgbClr val="FFC94D"/>
                </a:solidFill>
                <a:latin typeface="Consolas" pitchFamily="34" charset="0"/>
                <a:ea typeface="Consolas" pitchFamily="34" charset="0"/>
                <a:cs typeface="Consolas" pitchFamily="34" charset="0"/>
              </a:rPr>
              <a:t>'s fault classification.</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df = pd.read_csv(</a:t>
            </a:r>
            <a:r>
              <a:rPr lang="en-US" sz="830" dirty="0">
                <a:solidFill>
                  <a:srgbClr val="FFC94D"/>
                </a:solidFill>
                <a:latin typeface="Consolas" pitchFamily="34" charset="0"/>
                <a:ea typeface="Consolas" pitchFamily="34" charset="0"/>
                <a:cs typeface="Consolas" pitchFamily="34" charset="0"/>
              </a:rPr>
              <a:t>"data/features_v2.csv"</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feature_cols =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feature_names =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"peak_voltage"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"rms_value"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"mean_voltage"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"std_voltage"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"rise_time"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"settling_time"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"skewness"</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"kurtosis"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"dominant_freq"</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"spectral_energy"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"spec_centroid"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"bandwidth"</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"spec_entropy"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"energy"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"zero_crossing_rate"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"crest_factor"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"dc_level"</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mode = st.radio(</a:t>
            </a:r>
            <a:r>
              <a:rPr lang="en-US" sz="830" dirty="0">
                <a:solidFill>
                  <a:srgbClr val="FFC94D"/>
                </a:solidFill>
                <a:latin typeface="Consolas" pitchFamily="34" charset="0"/>
                <a:ea typeface="Consolas" pitchFamily="34" charset="0"/>
                <a:cs typeface="Consolas" pitchFamily="34" charset="0"/>
              </a:rPr>
              <a:t>"Input method:"</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"Pick a sample from dataset"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"Enter values manually"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mode == </a:t>
            </a:r>
            <a:r>
              <a:rPr lang="en-US" sz="830" dirty="0">
                <a:solidFill>
                  <a:srgbClr val="FFC94D"/>
                </a:solidFill>
                <a:latin typeface="Consolas" pitchFamily="34" charset="0"/>
                <a:ea typeface="Consolas" pitchFamily="34" charset="0"/>
                <a:cs typeface="Consolas" pitchFamily="34" charset="0"/>
              </a:rPr>
              <a:t>"Pick a sample from dataset"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sample_idx = st.selectbox(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"Choose a sample (shown as circuit_fault, true 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options=df.index,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format_func=</a:t>
            </a:r>
            <a:r>
              <a:rPr lang="en-US" sz="830" b="1" dirty="0">
                <a:solidFill>
                  <a:srgbClr val="4FC3E8"/>
                </a:solidFill>
                <a:latin typeface="Consolas" pitchFamily="34" charset="0"/>
                <a:ea typeface="Consolas" pitchFamily="34" charset="0"/>
                <a:cs typeface="Consolas" pitchFamily="34" charset="0"/>
              </a:rPr>
              <a:t>lambda</a:t>
            </a:r>
            <a:r>
              <a:rPr lang="en-US" sz="830" dirty="0">
                <a:solidFill>
                  <a:srgbClr val="D7E3F4"/>
                </a:solidFill>
                <a:latin typeface="Consolas" pitchFamily="34" charset="0"/>
                <a:ea typeface="Consolas" pitchFamily="34" charset="0"/>
                <a:cs typeface="Consolas" pitchFamily="34" charset="0"/>
              </a:rPr>
              <a:t> i: </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 — {</a:t>
            </a:r>
            <a:r>
              <a:rPr lang="en-US" sz="830" dirty="0">
                <a:solidFill>
                  <a:srgbClr val="D7E3F4"/>
                </a:solidFill>
                <a:latin typeface="Consolas" pitchFamily="34" charset="0"/>
                <a:ea typeface="Consolas" pitchFamily="34" charset="0"/>
                <a:cs typeface="Consolas" pitchFamily="34" charset="0"/>
              </a:rPr>
              <a:t>df.loc[i,</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row = df.loc[sample_idx]</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true_label = row[</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X_input = row[feature_cols].values.reshape(</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circuit_input = row[</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st.write(</a:t>
            </a:r>
            <a:r>
              <a:rPr lang="en-US" sz="830" dirty="0">
                <a:solidFill>
                  <a:srgbClr val="FFC94D"/>
                </a:solidFill>
                <a:latin typeface="Consolas" pitchFamily="34" charset="0"/>
                <a:ea typeface="Consolas" pitchFamily="34" charset="0"/>
                <a:cs typeface="Consolas" pitchFamily="34" charset="0"/>
              </a:rPr>
              <a:t>f"**True label:** {</a:t>
            </a:r>
            <a:r>
              <a:rPr lang="en-US" sz="830" dirty="0">
                <a:solidFill>
                  <a:srgbClr val="D7E3F4"/>
                </a:solidFill>
                <a:latin typeface="Consolas" pitchFamily="34" charset="0"/>
                <a:ea typeface="Consolas" pitchFamily="34" charset="0"/>
                <a:cs typeface="Consolas" pitchFamily="34" charset="0"/>
              </a:rPr>
              <a:t>true_label</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108</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0">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The Streamlit Web App  (4/6)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st.write(</a:t>
            </a:r>
            <a:r>
              <a:rPr lang="en-US" sz="830" dirty="0">
                <a:solidFill>
                  <a:srgbClr val="FFC94D"/>
                </a:solidFill>
                <a:latin typeface="Consolas" pitchFamily="34" charset="0"/>
                <a:ea typeface="Consolas" pitchFamily="34" charset="0"/>
                <a:cs typeface="Consolas" pitchFamily="34" charset="0"/>
              </a:rPr>
              <a:t>"Enter the 17 feature values:"</a:t>
            </a:r>
            <a:r>
              <a:rPr lang="en-US" sz="830" dirty="0">
                <a:solidFill>
                  <a:srgbClr val="D7E3F4"/>
                </a:solidFill>
                <a:latin typeface="Consolas" pitchFamily="34" charset="0"/>
                <a:ea typeface="Consolas" pitchFamily="34" charset="0"/>
                <a:cs typeface="Consolas" pitchFamily="34" charset="0"/>
              </a:rPr>
              <a:t>)
        cols = st.columns(</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
        values = []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fname in </a:t>
            </a:r>
            <a:r>
              <a:rPr lang="en-US" sz="830" dirty="0">
                <a:solidFill>
                  <a:srgbClr val="4FC3E8"/>
                </a:solidFill>
                <a:latin typeface="Consolas" pitchFamily="34" charset="0"/>
                <a:ea typeface="Consolas" pitchFamily="34" charset="0"/>
                <a:cs typeface="Consolas" pitchFamily="34" charset="0"/>
              </a:rPr>
              <a:t>enumerate</a:t>
            </a:r>
            <a:r>
              <a:rPr lang="en-US" sz="830" dirty="0">
                <a:solidFill>
                  <a:srgbClr val="D7E3F4"/>
                </a:solidFill>
                <a:latin typeface="Consolas" pitchFamily="34" charset="0"/>
                <a:ea typeface="Consolas" pitchFamily="34" charset="0"/>
                <a:cs typeface="Consolas" pitchFamily="34" charset="0"/>
              </a:rPr>
              <a:t>(feature_names):
            </a:t>
            </a: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cols[i % </a:t>
            </a:r>
            <a:r>
              <a:rPr lang="en-US" sz="830" dirty="0">
                <a:solidFill>
                  <a:srgbClr val="E38B7A"/>
                </a:solidFill>
                <a:latin typeface="Consolas" pitchFamily="34" charset="0"/>
                <a:ea typeface="Consolas" pitchFamily="34" charset="0"/>
                <a:cs typeface="Consolas" pitchFamily="34" charset="0"/>
              </a:rPr>
              <a:t>3</a:t>
            </a:r>
            <a:r>
              <a:rPr lang="en-US" sz="830" dirty="0">
                <a:solidFill>
                  <a:srgbClr val="D7E3F4"/>
                </a:solidFill>
                <a:latin typeface="Consolas" pitchFamily="34" charset="0"/>
                <a:ea typeface="Consolas" pitchFamily="34" charset="0"/>
                <a:cs typeface="Consolas" pitchFamily="34" charset="0"/>
              </a:rPr>
              <a:t>]:
                val = st.number_input(</a:t>
            </a:r>
            <a:r>
              <a:rPr lang="en-US" sz="830" dirty="0">
                <a:solidFill>
                  <a:srgbClr val="FFC94D"/>
                </a:solidFill>
                <a:latin typeface="Consolas" pitchFamily="34" charset="0"/>
                <a:ea typeface="Consolas" pitchFamily="34" charset="0"/>
                <a:cs typeface="Consolas" pitchFamily="34" charset="0"/>
              </a:rPr>
              <a:t>f"{</a:t>
            </a:r>
            <a:r>
              <a:rPr lang="en-US" sz="830" dirty="0">
                <a:solidFill>
                  <a:srgbClr val="D7E3F4"/>
                </a:solidFill>
                <a:latin typeface="Consolas" pitchFamily="34" charset="0"/>
                <a:ea typeface="Consolas" pitchFamily="34" charset="0"/>
                <a:cs typeface="Consolas" pitchFamily="34" charset="0"/>
              </a:rPr>
              <a:t>fname</a:t>
            </a:r>
            <a:r>
              <a:rPr lang="en-US" sz="830" dirty="0">
                <a:solidFill>
                  <a:srgbClr val="FFC94D"/>
                </a:solidFill>
                <a:latin typeface="Consolas" pitchFamily="34" charset="0"/>
                <a:ea typeface="Consolas" pitchFamily="34" charset="0"/>
                <a:cs typeface="Consolas" pitchFamily="34" charset="0"/>
              </a:rPr>
              <a:t>} (f{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E38B7A"/>
                </a:solidFill>
                <a:latin typeface="Consolas" pitchFamily="34" charset="0"/>
                <a:ea typeface="Consolas" pitchFamily="34" charset="0"/>
                <a:cs typeface="Consolas" pitchFamily="34" charset="0"/>
              </a:rPr>
              <a:t>1</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value=</a:t>
            </a:r>
            <a:r>
              <a:rPr lang="en-US" sz="830" dirty="0">
                <a:solidFill>
                  <a:srgbClr val="E38B7A"/>
                </a:solidFill>
                <a:latin typeface="Consolas" pitchFamily="34" charset="0"/>
                <a:ea typeface="Consolas" pitchFamily="34" charset="0"/>
                <a:cs typeface="Consolas" pitchFamily="34" charset="0"/>
              </a:rPr>
              <a:t>0.0</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format</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"%.4f"</a:t>
            </a:r>
            <a:r>
              <a:rPr lang="en-US" sz="830" dirty="0">
                <a:solidFill>
                  <a:srgbClr val="D7E3F4"/>
                </a:solidFill>
                <a:latin typeface="Consolas" pitchFamily="34" charset="0"/>
                <a:ea typeface="Consolas" pitchFamily="34" charset="0"/>
                <a:cs typeface="Consolas" pitchFamily="34" charset="0"/>
              </a:rPr>
              <a:t>)
                values.append(val)
        X_input = np.array(values).reshape(</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
        circuit_input = st.selectbox(</a:t>
            </a:r>
            <a:r>
              <a:rPr lang="en-US" sz="830" dirty="0">
                <a:solidFill>
                  <a:srgbClr val="FFC94D"/>
                </a:solidFill>
                <a:latin typeface="Consolas" pitchFamily="34" charset="0"/>
                <a:ea typeface="Consolas" pitchFamily="34" charset="0"/>
                <a:cs typeface="Consolas" pitchFamily="34" charset="0"/>
              </a:rPr>
              <a:t>"Circuit type (for topology rule):"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"RLC"</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"SALLEN_KEY"</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"RC_LADDER"</a:t>
            </a:r>
            <a:r>
              <a:rPr lang="en-US" sz="830" dirty="0">
                <a:solidFill>
                  <a:srgbClr val="D7E3F4"/>
                </a:solidFill>
                <a:latin typeface="Consolas" pitchFamily="34" charset="0"/>
                <a:ea typeface="Consolas" pitchFamily="34" charset="0"/>
                <a:cs typeface="Consolas" pitchFamily="34" charset="0"/>
              </a:rPr>
              <a:t>])
        true_label = </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st.button(</a:t>
            </a:r>
            <a:r>
              <a:rPr lang="en-US" sz="830" dirty="0">
                <a:solidFill>
                  <a:srgbClr val="FFC94D"/>
                </a:solidFill>
                <a:latin typeface="Consolas" pitchFamily="34" charset="0"/>
                <a:ea typeface="Consolas" pitchFamily="34" charset="0"/>
                <a:cs typeface="Consolas" pitchFamily="34" charset="0"/>
              </a:rPr>
              <a:t>"Predict Fault Type"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4FC3E8"/>
                </a:solidFill>
                <a:latin typeface="Consolas" pitchFamily="34" charset="0"/>
                <a:ea typeface="Consolas" pitchFamily="34" charset="0"/>
                <a:cs typeface="Consolas" pitchFamily="34" charset="0"/>
              </a:rPr>
              <a:t>type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"primary"</a:t>
            </a:r>
            <a:r>
              <a:rPr lang="en-US" sz="830" dirty="0">
                <a:solidFill>
                  <a:srgbClr val="D7E3F4"/>
                </a:solidFill>
                <a:latin typeface="Consolas" pitchFamily="34" charset="0"/>
                <a:ea typeface="Consolas" pitchFamily="34" charset="0"/>
                <a:cs typeface="Consolas" pitchFamily="34" charset="0"/>
              </a:rPr>
              <a:t>):
        X_scaled = scaler.transform(X_input)
        pred = model.predict(X_scaled)[</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pred_label = le.inverse_transform([pred])[</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Apply topology-aware rule</a:t>
            </a:r>
            <a:r>
              <a:rPr lang="en-US" sz="830" dirty="0">
                <a:solidFill>
                  <a:srgbClr val="D7E3F4"/>
                </a:solidFill>
                <a:latin typeface="Consolas" pitchFamily="34" charset="0"/>
                <a:ea typeface="Consolas" pitchFamily="34" charset="0"/>
                <a:cs typeface="Consolas" pitchFamily="34" charset="0"/>
              </a:rPr>
              <a:t>
        labels_list = </a:t>
            </a:r>
            <a:r>
              <a:rPr lang="en-US" sz="830" dirty="0">
                <a:solidFill>
                  <a:srgbClr val="4FC3E8"/>
                </a:solidFill>
                <a:latin typeface="Consolas" pitchFamily="34" charset="0"/>
                <a:ea typeface="Consolas" pitchFamily="34" charset="0"/>
                <a:cs typeface="Consolas" pitchFamily="34" charset="0"/>
              </a:rPr>
              <a:t>list</a:t>
            </a:r>
            <a:r>
              <a:rPr lang="en-US" sz="830" dirty="0">
                <a:solidFill>
                  <a:srgbClr val="D7E3F4"/>
                </a:solidFill>
                <a:latin typeface="Consolas" pitchFamily="34" charset="0"/>
                <a:ea typeface="Consolas" pitchFamily="34" charset="0"/>
                <a:cs typeface="Consolas" pitchFamily="34" charset="0"/>
              </a:rPr>
              <a:t>(le.classes_)
        rlc_open_idx = labels_list.index(</a:t>
            </a:r>
            <a:r>
              <a:rPr lang="en-US" sz="830" dirty="0">
                <a:solidFill>
                  <a:srgbClr val="FFC94D"/>
                </a:solidFill>
                <a:latin typeface="Consolas" pitchFamily="34" charset="0"/>
                <a:ea typeface="Consolas" pitchFamily="34" charset="0"/>
                <a:cs typeface="Consolas" pitchFamily="34" charset="0"/>
              </a:rPr>
              <a:t>"RLC_open"</a:t>
            </a:r>
            <a:r>
              <a:rPr lang="en-US" sz="830" dirty="0">
                <a:solidFill>
                  <a:srgbClr val="D7E3F4"/>
                </a:solidFill>
                <a:latin typeface="Consolas" pitchFamily="34" charset="0"/>
                <a:ea typeface="Consolas" pitchFamily="34" charset="0"/>
                <a:cs typeface="Consolas" pitchFamily="34" charset="0"/>
              </a:rPr>
              <a:t>)
        rc_open_idx  = labels_list.index(</a:t>
            </a:r>
            <a:r>
              <a:rPr lang="en-US" sz="830" dirty="0">
                <a:solidFill>
                  <a:srgbClr val="FFC94D"/>
                </a:solidFill>
                <a:latin typeface="Consolas" pitchFamily="34" charset="0"/>
                <a:ea typeface="Consolas" pitchFamily="34" charset="0"/>
                <a:cs typeface="Consolas" pitchFamily="34" charset="0"/>
              </a:rPr>
              <a:t>"RC_open"</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pred == rlc_open_idx and circuit_input == </a:t>
            </a:r>
            <a:r>
              <a:rPr lang="en-US" sz="830" dirty="0">
                <a:solidFill>
                  <a:srgbClr val="FFC94D"/>
                </a:solidFill>
                <a:latin typeface="Consolas" pitchFamily="34" charset="0"/>
                <a:ea typeface="Consolas" pitchFamily="34" charset="0"/>
                <a:cs typeface="Consolas" pitchFamily="34" charset="0"/>
              </a:rPr>
              <a:t>"RC"</a:t>
            </a:r>
            <a:r>
              <a:rPr lang="en-US" sz="830" dirty="0">
                <a:solidFill>
                  <a:srgbClr val="D7E3F4"/>
                </a:solidFill>
                <a:latin typeface="Consolas" pitchFamily="34" charset="0"/>
                <a:ea typeface="Consolas" pitchFamily="34" charset="0"/>
                <a:cs typeface="Consolas" pitchFamily="34" charset="0"/>
              </a:rPr>
              <a:t>:
            pred = rc_open_idx
            pred_label = </a:t>
            </a:r>
            <a:r>
              <a:rPr lang="en-US" sz="830" dirty="0">
                <a:solidFill>
                  <a:srgbClr val="FFC94D"/>
                </a:solidFill>
                <a:latin typeface="Consolas" pitchFamily="34" charset="0"/>
                <a:ea typeface="Consolas" pitchFamily="34" charset="0"/>
                <a:cs typeface="Consolas" pitchFamily="34" charset="0"/>
              </a:rPr>
              <a:t>"RC_open"</a:t>
            </a:r>
            <a:r>
              <a:rPr lang="en-US" sz="830" dirty="0">
                <a:solidFill>
                  <a:srgbClr val="D7E3F4"/>
                </a:solidFill>
                <a:latin typeface="Consolas" pitchFamily="34" charset="0"/>
                <a:ea typeface="Consolas" pitchFamily="34" charset="0"/>
                <a:cs typeface="Consolas" pitchFamily="34" charset="0"/>
              </a:rPr>
              <a:t>
            st.info(</a:t>
            </a:r>
            <a:r>
              <a:rPr lang="en-US" sz="830" dirty="0">
                <a:solidFill>
                  <a:srgbClr val="FFC94D"/>
                </a:solidFill>
                <a:latin typeface="Consolas" pitchFamily="34" charset="0"/>
                <a:ea typeface="Consolas" pitchFamily="34" charset="0"/>
                <a:cs typeface="Consolas" pitchFamily="34" charset="0"/>
              </a:rPr>
              <a:t>"Topology-aware correction applied: RLC_open → RC_open "</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"(an RC circuit cannot have an RLC-type fault)"</a:t>
            </a:r>
            <a:r>
              <a:rPr lang="en-US" sz="830" dirty="0">
                <a:solidFill>
                  <a:srgbClr val="D7E3F4"/>
                </a:solidFill>
                <a:latin typeface="Consolas" pitchFamily="34" charset="0"/>
                <a:ea typeface="Consolas" pitchFamily="34" charset="0"/>
                <a:cs typeface="Consolas" pitchFamily="34" charset="0"/>
              </a:rPr>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109</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1">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The Streamlit Web App  (5/6)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st.success(</a:t>
            </a:r>
            <a:r>
              <a:rPr lang="en-US" sz="830" dirty="0">
                <a:solidFill>
                  <a:srgbClr val="FFC94D"/>
                </a:solidFill>
                <a:latin typeface="Consolas" pitchFamily="34" charset="0"/>
                <a:ea typeface="Consolas" pitchFamily="34" charset="0"/>
                <a:cs typeface="Consolas" pitchFamily="34" charset="0"/>
              </a:rPr>
              <a:t>f"**Predicted:** {</a:t>
            </a:r>
            <a:r>
              <a:rPr lang="en-US" sz="830" dirty="0">
                <a:solidFill>
                  <a:srgbClr val="D7E3F4"/>
                </a:solidFill>
                <a:latin typeface="Consolas" pitchFamily="34" charset="0"/>
                <a:ea typeface="Consolas" pitchFamily="34" charset="0"/>
                <a:cs typeface="Consolas" pitchFamily="34" charset="0"/>
              </a:rPr>
              <a:t>pred_label</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true_label is not </a:t>
            </a:r>
            <a:r>
              <a:rPr lang="en-US" sz="830" b="1" dirty="0">
                <a:solidFill>
                  <a:srgbClr val="4FC3E8"/>
                </a:solidFill>
                <a:latin typeface="Consolas" pitchFamily="34" charset="0"/>
                <a:ea typeface="Consolas" pitchFamily="34" charset="0"/>
                <a:cs typeface="Consolas" pitchFamily="34" charset="0"/>
              </a:rPr>
              <a:t>None</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if</a:t>
            </a:r>
            <a:r>
              <a:rPr lang="en-US" sz="830" dirty="0">
                <a:solidFill>
                  <a:srgbClr val="D7E3F4"/>
                </a:solidFill>
                <a:latin typeface="Consolas" pitchFamily="34" charset="0"/>
                <a:ea typeface="Consolas" pitchFamily="34" charset="0"/>
                <a:cs typeface="Consolas" pitchFamily="34" charset="0"/>
              </a:rPr>
              <a:t> pred_label == true_label:
                st.success(</a:t>
            </a:r>
            <a:r>
              <a:rPr lang="en-US" sz="830" dirty="0">
                <a:solidFill>
                  <a:srgbClr val="FFC94D"/>
                </a:solidFill>
                <a:latin typeface="Consolas" pitchFamily="34" charset="0"/>
                <a:ea typeface="Consolas" pitchFamily="34" charset="0"/>
                <a:cs typeface="Consolas" pitchFamily="34" charset="0"/>
              </a:rPr>
              <a:t>"Correct prediction!"</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else</a:t>
            </a:r>
            <a:r>
              <a:rPr lang="en-US" sz="830" dirty="0">
                <a:solidFill>
                  <a:srgbClr val="D7E3F4"/>
                </a:solidFill>
                <a:latin typeface="Consolas" pitchFamily="34" charset="0"/>
                <a:ea typeface="Consolas" pitchFamily="34" charset="0"/>
                <a:cs typeface="Consolas" pitchFamily="34" charset="0"/>
              </a:rPr>
              <a:t>:
                st.error(</a:t>
            </a:r>
            <a:r>
              <a:rPr lang="en-US" sz="830" dirty="0">
                <a:solidFill>
                  <a:srgbClr val="FFC94D"/>
                </a:solidFill>
                <a:latin typeface="Consolas" pitchFamily="34" charset="0"/>
                <a:ea typeface="Consolas" pitchFamily="34" charset="0"/>
                <a:cs typeface="Consolas" pitchFamily="34" charset="0"/>
              </a:rPr>
              <a:t>f"Incorrect — true label was {</a:t>
            </a:r>
            <a:r>
              <a:rPr lang="en-US" sz="830" dirty="0">
                <a:solidFill>
                  <a:srgbClr val="D7E3F4"/>
                </a:solidFill>
                <a:latin typeface="Consolas" pitchFamily="34" charset="0"/>
                <a:ea typeface="Consolas" pitchFamily="34" charset="0"/>
                <a:cs typeface="Consolas" pitchFamily="34" charset="0"/>
              </a:rPr>
              <a:t>true_label</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Show prediction probabilities</a:t>
            </a:r>
            <a:r>
              <a:rPr lang="en-US" sz="830" dirty="0">
                <a:solidFill>
                  <a:srgbClr val="D7E3F4"/>
                </a:solidFill>
                <a:latin typeface="Consolas" pitchFamily="34" charset="0"/>
                <a:ea typeface="Consolas" pitchFamily="34" charset="0"/>
                <a:cs typeface="Consolas" pitchFamily="34" charset="0"/>
              </a:rPr>
              <a:t>
        probs = model.predict_proba(X_scaled)[</a:t>
            </a:r>
            <a:r>
              <a:rPr lang="en-US" sz="830" dirty="0">
                <a:solidFill>
                  <a:srgbClr val="E38B7A"/>
                </a:solidFill>
                <a:latin typeface="Consolas" pitchFamily="34" charset="0"/>
                <a:ea typeface="Consolas" pitchFamily="34" charset="0"/>
                <a:cs typeface="Consolas" pitchFamily="34" charset="0"/>
              </a:rPr>
              <a:t>0</a:t>
            </a:r>
            <a:r>
              <a:rPr lang="en-US" sz="830" dirty="0">
                <a:solidFill>
                  <a:srgbClr val="D7E3F4"/>
                </a:solidFill>
                <a:latin typeface="Consolas" pitchFamily="34" charset="0"/>
                <a:ea typeface="Consolas" pitchFamily="34" charset="0"/>
                <a:cs typeface="Consolas" pitchFamily="34" charset="0"/>
              </a:rPr>
              <a:t>]
        prob_df = pd.DataFrame({
            </a:t>
            </a:r>
            <a:r>
              <a:rPr lang="en-US" sz="830" dirty="0">
                <a:solidFill>
                  <a:srgbClr val="FFC94D"/>
                </a:solidFill>
                <a:latin typeface="Consolas" pitchFamily="34" charset="0"/>
                <a:ea typeface="Consolas" pitchFamily="34" charset="0"/>
                <a:cs typeface="Consolas" pitchFamily="34" charset="0"/>
              </a:rPr>
              <a:t>"Class"</a:t>
            </a:r>
            <a:r>
              <a:rPr lang="en-US" sz="830" dirty="0">
                <a:solidFill>
                  <a:srgbClr val="D7E3F4"/>
                </a:solidFill>
                <a:latin typeface="Consolas" pitchFamily="34" charset="0"/>
                <a:ea typeface="Consolas" pitchFamily="34" charset="0"/>
                <a:cs typeface="Consolas" pitchFamily="34" charset="0"/>
              </a:rPr>
              <a:t>: le.classes_,
            </a:t>
            </a:r>
            <a:r>
              <a:rPr lang="en-US" sz="830" dirty="0">
                <a:solidFill>
                  <a:srgbClr val="FFC94D"/>
                </a:solidFill>
                <a:latin typeface="Consolas" pitchFamily="34" charset="0"/>
                <a:ea typeface="Consolas" pitchFamily="34" charset="0"/>
                <a:cs typeface="Consolas" pitchFamily="34" charset="0"/>
              </a:rPr>
              <a:t>"Probability"</a:t>
            </a:r>
            <a:r>
              <a:rPr lang="en-US" sz="830" dirty="0">
                <a:solidFill>
                  <a:srgbClr val="D7E3F4"/>
                </a:solidFill>
                <a:latin typeface="Consolas" pitchFamily="34" charset="0"/>
                <a:ea typeface="Consolas" pitchFamily="34" charset="0"/>
                <a:cs typeface="Consolas" pitchFamily="34" charset="0"/>
              </a:rPr>
              <a:t>: probs
        }).sort_values(</a:t>
            </a:r>
            <a:r>
              <a:rPr lang="en-US" sz="830" dirty="0">
                <a:solidFill>
                  <a:srgbClr val="FFC94D"/>
                </a:solidFill>
                <a:latin typeface="Consolas" pitchFamily="34" charset="0"/>
                <a:ea typeface="Consolas" pitchFamily="34" charset="0"/>
                <a:cs typeface="Consolas" pitchFamily="34" charset="0"/>
              </a:rPr>
              <a:t>"Probability"</a:t>
            </a:r>
            <a:r>
              <a:rPr lang="en-US" sz="830" dirty="0">
                <a:solidFill>
                  <a:srgbClr val="D7E3F4"/>
                </a:solidFill>
                <a:latin typeface="Consolas" pitchFamily="34" charset="0"/>
                <a:ea typeface="Consolas" pitchFamily="34" charset="0"/>
                <a:cs typeface="Consolas" pitchFamily="34" charset="0"/>
              </a:rPr>
              <a:t>, ascending=</a:t>
            </a:r>
            <a:r>
              <a:rPr lang="en-US" sz="830" b="1" dirty="0">
                <a:solidFill>
                  <a:srgbClr val="4FC3E8"/>
                </a:solidFill>
                <a:latin typeface="Consolas" pitchFamily="34" charset="0"/>
                <a:ea typeface="Consolas" pitchFamily="34" charset="0"/>
                <a:cs typeface="Consolas" pitchFamily="34" charset="0"/>
              </a:rPr>
              <a:t>False</a:t>
            </a:r>
            <a:r>
              <a:rPr lang="en-US" sz="830" dirty="0">
                <a:solidFill>
                  <a:srgbClr val="D7E3F4"/>
                </a:solidFill>
                <a:latin typeface="Consolas" pitchFamily="34" charset="0"/>
                <a:ea typeface="Consolas" pitchFamily="34" charset="0"/>
                <a:cs typeface="Consolas" pitchFamily="34" charset="0"/>
              </a:rPr>
              <a:t>).head(</a:t>
            </a:r>
            <a:r>
              <a:rPr lang="en-US" sz="830" dirty="0">
                <a:solidFill>
                  <a:srgbClr val="E38B7A"/>
                </a:solidFill>
                <a:latin typeface="Consolas" pitchFamily="34" charset="0"/>
                <a:ea typeface="Consolas" pitchFamily="34" charset="0"/>
                <a:cs typeface="Consolas" pitchFamily="34" charset="0"/>
              </a:rPr>
              <a:t>5</a:t>
            </a:r>
            <a:r>
              <a:rPr lang="en-US" sz="830" dirty="0">
                <a:solidFill>
                  <a:srgbClr val="D7E3F4"/>
                </a:solidFill>
                <a:latin typeface="Consolas" pitchFamily="34" charset="0"/>
                <a:ea typeface="Consolas" pitchFamily="34" charset="0"/>
                <a:cs typeface="Consolas" pitchFamily="34" charset="0"/>
              </a:rPr>
              <a:t>)
        st.write(</a:t>
            </a:r>
            <a:r>
              <a:rPr lang="en-US" sz="830" dirty="0">
                <a:solidFill>
                  <a:srgbClr val="FFC94D"/>
                </a:solidFill>
                <a:latin typeface="Consolas" pitchFamily="34" charset="0"/>
                <a:ea typeface="Consolas" pitchFamily="34" charset="0"/>
                <a:cs typeface="Consolas" pitchFamily="34" charset="0"/>
              </a:rPr>
              <a:t>"**Top 5 class probabilities:**"</a:t>
            </a:r>
            <a:r>
              <a:rPr lang="en-US" sz="830" dirty="0">
                <a:solidFill>
                  <a:srgbClr val="D7E3F4"/>
                </a:solidFill>
                <a:latin typeface="Consolas" pitchFamily="34" charset="0"/>
                <a:ea typeface="Consolas" pitchFamily="34" charset="0"/>
                <a:cs typeface="Consolas" pitchFamily="34" charset="0"/>
              </a:rPr>
              <a:t>)
        st.dataframe(prob_df, hide_index=</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
</a:t>
            </a:r>
            <a:r>
              <a:rPr lang="en-US" sz="830" i="1" dirty="0">
                <a:solidFill>
                  <a:srgbClr val="6B7A99"/>
                </a:solidFill>
                <a:latin typeface="Consolas" pitchFamily="34" charset="0"/>
                <a:ea typeface="Consolas" pitchFamily="34" charset="0"/>
                <a:cs typeface="Consolas" pitchFamily="34" charset="0"/>
              </a:rPr>
              <a:t># ===== TAB 3: Dataset =====</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with</a:t>
            </a:r>
            <a:r>
              <a:rPr lang="en-US" sz="830" dirty="0">
                <a:solidFill>
                  <a:srgbClr val="D7E3F4"/>
                </a:solidFill>
                <a:latin typeface="Consolas" pitchFamily="34" charset="0"/>
                <a:ea typeface="Consolas" pitchFamily="34" charset="0"/>
                <a:cs typeface="Consolas" pitchFamily="34" charset="0"/>
              </a:rPr>
              <a:t> tab3:
    st.header(</a:t>
            </a:r>
            <a:r>
              <a:rPr lang="en-US" sz="830" dirty="0">
                <a:solidFill>
                  <a:srgbClr val="FFC94D"/>
                </a:solidFill>
                <a:latin typeface="Consolas" pitchFamily="34" charset="0"/>
                <a:ea typeface="Consolas" pitchFamily="34" charset="0"/>
                <a:cs typeface="Consolas" pitchFamily="34" charset="0"/>
              </a:rPr>
              <a:t>"Dataset Overview"</a:t>
            </a:r>
            <a:r>
              <a:rPr lang="en-US" sz="830" dirty="0">
                <a:solidFill>
                  <a:srgbClr val="D7E3F4"/>
                </a:solidFill>
                <a:latin typeface="Consolas" pitchFamily="34" charset="0"/>
                <a:ea typeface="Consolas" pitchFamily="34" charset="0"/>
                <a:cs typeface="Consolas" pitchFamily="34" charset="0"/>
              </a:rPr>
              <a:t>)
    df = pd.read_csv(</a:t>
            </a:r>
            <a:r>
              <a:rPr lang="en-US" sz="830" dirty="0">
                <a:solidFill>
                  <a:srgbClr val="FFC94D"/>
                </a:solidFill>
                <a:latin typeface="Consolas" pitchFamily="34" charset="0"/>
                <a:ea typeface="Consolas" pitchFamily="34" charset="0"/>
                <a:cs typeface="Consolas" pitchFamily="34" charset="0"/>
              </a:rPr>
              <a:t>"data/features_v2.csv"</a:t>
            </a:r>
            <a:r>
              <a:rPr lang="en-US" sz="830" dirty="0">
                <a:solidFill>
                  <a:srgbClr val="D7E3F4"/>
                </a:solidFill>
                <a:latin typeface="Consolas" pitchFamily="34" charset="0"/>
                <a:ea typeface="Consolas" pitchFamily="34" charset="0"/>
                <a:cs typeface="Consolas" pitchFamily="34" charset="0"/>
              </a:rPr>
              <a:t>)
    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 </a:t>
            </a:r>
            <a:r>
              <a:rPr lang="en-US" sz="830" dirty="0">
                <a:solidFill>
                  <a:srgbClr val="FFC94D"/>
                </a:solidFill>
                <a:latin typeface="Consolas" pitchFamily="34" charset="0"/>
                <a:ea typeface="Consolas" pitchFamily="34" charset="0"/>
                <a:cs typeface="Consolas" pitchFamily="34" charset="0"/>
              </a:rPr>
              <a:t>"_"</a:t>
            </a:r>
            <a:r>
              <a:rPr lang="en-US" sz="830" dirty="0">
                <a:solidFill>
                  <a:srgbClr val="D7E3F4"/>
                </a:solidFill>
                <a:latin typeface="Consolas" pitchFamily="34" charset="0"/>
                <a:ea typeface="Consolas" pitchFamily="34" charset="0"/>
                <a:cs typeface="Consolas" pitchFamily="34" charset="0"/>
              </a:rPr>
              <a:t> + df[</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
    st.write(</a:t>
            </a:r>
            <a:r>
              <a:rPr lang="en-US" sz="830" dirty="0">
                <a:solidFill>
                  <a:srgbClr val="FFC94D"/>
                </a:solidFill>
                <a:latin typeface="Consolas" pitchFamily="34" charset="0"/>
                <a:ea typeface="Consolas" pitchFamily="34" charset="0"/>
                <a:cs typeface="Consolas" pitchFamily="34" charset="0"/>
              </a:rPr>
              <a:t>f"**Total samples:** {</a:t>
            </a:r>
            <a:r>
              <a:rPr lang="en-US" sz="830" dirty="0">
                <a:solidFill>
                  <a:srgbClr val="4FC3E8"/>
                </a:solidFill>
                <a:latin typeface="Consolas" pitchFamily="34" charset="0"/>
                <a:ea typeface="Consolas" pitchFamily="34" charset="0"/>
                <a:cs typeface="Consolas" pitchFamily="34" charset="0"/>
              </a:rPr>
              <a:t>len</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st.write(</a:t>
            </a:r>
            <a:r>
              <a:rPr lang="en-US" sz="830" dirty="0">
                <a:solidFill>
                  <a:srgbClr val="FFC94D"/>
                </a:solidFill>
                <a:latin typeface="Consolas" pitchFamily="34" charset="0"/>
                <a:ea typeface="Consolas" pitchFamily="34" charset="0"/>
                <a:cs typeface="Consolas" pitchFamily="34" charset="0"/>
              </a:rPr>
              <a:t>f"**Classes:** {</a:t>
            </a:r>
            <a:r>
              <a:rPr lang="en-US" sz="830" dirty="0">
                <a:solidFill>
                  <a:srgbClr val="D7E3F4"/>
                </a:solidFill>
                <a:latin typeface="Consolas" pitchFamily="34" charset="0"/>
                <a:ea typeface="Consolas" pitchFamily="34" charset="0"/>
                <a:cs typeface="Consolas" pitchFamily="34" charset="0"/>
              </a:rPr>
              <a:t>df[</a:t>
            </a:r>
            <a:r>
              <a:rPr lang="en-US" sz="830" dirty="0">
                <a:solidFill>
                  <a:srgbClr val="FFC94D"/>
                </a:solidFill>
                <a:latin typeface="Consolas" pitchFamily="34" charset="0"/>
                <a:ea typeface="Consolas" pitchFamily="34" charset="0"/>
                <a:cs typeface="Consolas" pitchFamily="34" charset="0"/>
              </a:rPr>
              <a:t>'label'</a:t>
            </a:r>
            <a:r>
              <a:rPr lang="en-US" sz="830" dirty="0">
                <a:solidFill>
                  <a:srgbClr val="D7E3F4"/>
                </a:solidFill>
                <a:latin typeface="Consolas" pitchFamily="34" charset="0"/>
                <a:ea typeface="Consolas" pitchFamily="34" charset="0"/>
                <a:cs typeface="Consolas" pitchFamily="34" charset="0"/>
              </a:rPr>
              <a:t>].nunique()</a:t>
            </a:r>
            <a:r>
              <a:rPr lang="en-US" sz="830" dirty="0">
                <a:solidFill>
                  <a:srgbClr val="FFC94D"/>
                </a:solidFill>
                <a:latin typeface="Consolas" pitchFamily="34" charset="0"/>
                <a:ea typeface="Consolas" pitchFamily="34" charset="0"/>
                <a:cs typeface="Consolas" pitchFamily="34" charset="0"/>
              </a:rPr>
              <a:t>} (4 circuits × 5 fault types)"</a:t>
            </a:r>
            <a:r>
              <a:rPr lang="en-US" sz="830" dirty="0">
                <a:solidFill>
                  <a:srgbClr val="D7E3F4"/>
                </a:solidFill>
                <a:latin typeface="Consolas" pitchFamily="34" charset="0"/>
                <a:ea typeface="Consolas" pitchFamily="34" charset="0"/>
                <a:cs typeface="Consolas" pitchFamily="34" charset="0"/>
              </a:rPr>
              <a:t>)
    st.subheader(</a:t>
            </a:r>
            <a:r>
              <a:rPr lang="en-US" sz="830" dirty="0">
                <a:solidFill>
                  <a:srgbClr val="FFC94D"/>
                </a:solidFill>
                <a:latin typeface="Consolas" pitchFamily="34" charset="0"/>
                <a:ea typeface="Consolas" pitchFamily="34" charset="0"/>
                <a:cs typeface="Consolas" pitchFamily="34" charset="0"/>
              </a:rPr>
              <a:t>"Samples per class"</a:t>
            </a:r>
            <a:r>
              <a:rPr lang="en-US" sz="830" dirty="0">
                <a:solidFill>
                  <a:srgbClr val="D7E3F4"/>
                </a:solidFill>
                <a:latin typeface="Consolas" pitchFamily="34" charset="0"/>
                <a:ea typeface="Consolas" pitchFamily="34" charset="0"/>
                <a:cs typeface="Consolas" pitchFamily="34" charset="0"/>
              </a:rPr>
              <a:t>)
    counts = df.groupby([</a:t>
            </a:r>
            <a:r>
              <a:rPr lang="en-US" sz="830" dirty="0">
                <a:solidFill>
                  <a:srgbClr val="FFC94D"/>
                </a:solidFill>
                <a:latin typeface="Consolas" pitchFamily="34" charset="0"/>
                <a:ea typeface="Consolas" pitchFamily="34" charset="0"/>
                <a:cs typeface="Consolas" pitchFamily="34" charset="0"/>
              </a:rPr>
              <a:t>"circuit"</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"fault"</a:t>
            </a:r>
            <a:r>
              <a:rPr lang="en-US" sz="830" dirty="0">
                <a:solidFill>
                  <a:srgbClr val="D7E3F4"/>
                </a:solidFill>
                <a:latin typeface="Consolas" pitchFamily="34" charset="0"/>
                <a:ea typeface="Consolas" pitchFamily="34" charset="0"/>
                <a:cs typeface="Consolas" pitchFamily="34" charset="0"/>
              </a:rPr>
              <a:t>]).size().reset_index(name=</a:t>
            </a:r>
            <a:r>
              <a:rPr lang="en-US" sz="830" dirty="0">
                <a:solidFill>
                  <a:srgbClr val="FFC94D"/>
                </a:solidFill>
                <a:latin typeface="Consolas" pitchFamily="34" charset="0"/>
                <a:ea typeface="Consolas" pitchFamily="34" charset="0"/>
                <a:cs typeface="Consolas" pitchFamily="34" charset="0"/>
              </a:rPr>
              <a:t>"count"</a:t>
            </a:r>
            <a:r>
              <a:rPr lang="en-US" sz="830" dirty="0">
                <a:solidFill>
                  <a:srgbClr val="D7E3F4"/>
                </a:solidFill>
                <a:latin typeface="Consolas" pitchFamily="34" charset="0"/>
                <a:ea typeface="Consolas" pitchFamily="34" charset="0"/>
                <a:cs typeface="Consolas" pitchFamily="34" charset="0"/>
              </a:rPr>
              <a:t>)
    st.dataframe(counts, hide_index=</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110</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marL="0" indent="0">
              <a:buNone/>
            </a:pPr>
            <a:r>
              <a:rPr lang="en-US" sz="1300" b="1" kern="0" spc="20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marL="0" indent="0">
              <a:buNone/>
            </a:pPr>
            <a:r>
              <a:rPr lang="en-US" sz="2400" b="1" dirty="0">
                <a:solidFill>
                  <a:srgbClr val="0B1F3A"/>
                </a:solidFill>
                <a:latin typeface="Cambria" pitchFamily="34" charset="0"/>
                <a:ea typeface="Cambria" pitchFamily="34" charset="-122"/>
                <a:cs typeface="Cambria" pitchFamily="34" charset="-120"/>
              </a:rPr>
              <a:t>The Streamlit Web App  (6/6)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marL="0" indent="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st.subheader(</a:t>
            </a:r>
            <a:r>
              <a:rPr lang="en-US" sz="830" dirty="0">
                <a:solidFill>
                  <a:srgbClr val="FFC94D"/>
                </a:solidFill>
                <a:latin typeface="Consolas" pitchFamily="34" charset="0"/>
                <a:ea typeface="Consolas" pitchFamily="34" charset="0"/>
                <a:cs typeface="Consolas" pitchFamily="34" charset="0"/>
              </a:rPr>
              <a:t>"Feature columns (f1-f17)"</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feat_table = pd.DataFrame({</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"Feature"</a:t>
            </a: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f"f{</a:t>
            </a:r>
            <a:r>
              <a:rPr lang="en-US" sz="830" dirty="0">
                <a:solidFill>
                  <a:srgbClr val="D7E3F4"/>
                </a:solidFill>
                <a:latin typeface="Consolas" pitchFamily="34" charset="0"/>
                <a:ea typeface="Consolas" pitchFamily="34" charset="0"/>
                <a:cs typeface="Consolas" pitchFamily="34" charset="0"/>
              </a:rPr>
              <a:t>i</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 </a:t>
            </a:r>
            <a:r>
              <a:rPr lang="en-US" sz="830" b="1" dirty="0">
                <a:solidFill>
                  <a:srgbClr val="4FC3E8"/>
                </a:solidFill>
                <a:latin typeface="Consolas" pitchFamily="34" charset="0"/>
                <a:ea typeface="Consolas" pitchFamily="34" charset="0"/>
                <a:cs typeface="Consolas" pitchFamily="34" charset="0"/>
              </a:rPr>
              <a:t>for</a:t>
            </a:r>
            <a:r>
              <a:rPr lang="en-US" sz="830" dirty="0">
                <a:solidFill>
                  <a:srgbClr val="D7E3F4"/>
                </a:solidFill>
                <a:latin typeface="Consolas" pitchFamily="34" charset="0"/>
                <a:ea typeface="Consolas" pitchFamily="34" charset="0"/>
                <a:cs typeface="Consolas" pitchFamily="34" charset="0"/>
              </a:rPr>
              <a:t> i in </a:t>
            </a:r>
            <a:r>
              <a:rPr lang="en-US" sz="830" dirty="0">
                <a:solidFill>
                  <a:srgbClr val="4FC3E8"/>
                </a:solidFill>
                <a:latin typeface="Consolas" pitchFamily="34" charset="0"/>
                <a:ea typeface="Consolas" pitchFamily="34" charset="0"/>
                <a:cs typeface="Consolas" pitchFamily="34" charset="0"/>
              </a:rPr>
              <a:t>range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a:t>
            </a:r>
            <a:r>
              <a:rPr lang="en-US" sz="830" dirty="0">
                <a:solidFill>
                  <a:srgbClr val="D7E3F4"/>
                </a:solidFill>
                <a:latin typeface="Consolas" pitchFamily="34" charset="0"/>
                <a:ea typeface="Consolas" pitchFamily="34" charset="0"/>
                <a:cs typeface="Consolas" pitchFamily="34" charset="0"/>
              </a:rPr>
              <a:t>,</a:t>
            </a:r>
            <a:r>
              <a:rPr lang="en-US" sz="830" dirty="0">
                <a:solidFill>
                  <a:srgbClr val="E38B7A"/>
                </a:solidFill>
                <a:latin typeface="Consolas" pitchFamily="34" charset="0"/>
                <a:ea typeface="Consolas" pitchFamily="34" charset="0"/>
                <a:cs typeface="Consolas" pitchFamily="34" charset="0"/>
              </a:rPr>
              <a:t>18</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"Name"</a:t>
            </a: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"peak_voltage"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"rms_value"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"mean_voltage"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"std_voltage"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"rise_time"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"settling_time"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"skewness"</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"kurtosis"</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"dominant_freq"</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"spectral_energy"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"spec_centroid"</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"bandwidth"</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"spec_entropy"</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"energy"</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r>
              <a:rPr lang="en-US" sz="830" dirty="0">
                <a:solidFill>
                  <a:srgbClr val="FFC94D"/>
                </a:solidFill>
                <a:latin typeface="Consolas" pitchFamily="34" charset="0"/>
                <a:ea typeface="Consolas" pitchFamily="34" charset="0"/>
                <a:cs typeface="Consolas" pitchFamily="34" charset="0"/>
              </a:rPr>
              <a:t>"zero_crossing_rate"</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"crest_factor"</a:t>
            </a:r>
            <a:r>
              <a:rPr lang="en-US" sz="830" dirty="0">
                <a:solidFill>
                  <a:srgbClr val="D7E3F4"/>
                </a:solidFill>
                <a:latin typeface="Consolas" pitchFamily="34" charset="0"/>
                <a:ea typeface="Consolas" pitchFamily="34" charset="0"/>
                <a:cs typeface="Consolas" pitchFamily="34" charset="0"/>
              </a:rPr>
              <a:t>,</a:t>
            </a:r>
            <a:r>
              <a:rPr lang="en-US" sz="830" dirty="0">
                <a:solidFill>
                  <a:srgbClr val="FFC94D"/>
                </a:solidFill>
                <a:latin typeface="Consolas" pitchFamily="34" charset="0"/>
                <a:ea typeface="Consolas" pitchFamily="34" charset="0"/>
                <a:cs typeface="Consolas" pitchFamily="34" charset="0"/>
              </a:rPr>
              <a:t>"dc_level"</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st.dataframe(feat_table, hide_index=</a:t>
            </a:r>
            <a:r>
              <a:rPr lang="en-US" sz="830" b="1" dirty="0">
                <a:solidFill>
                  <a:srgbClr val="4FC3E8"/>
                </a:solidFill>
                <a:latin typeface="Consolas" pitchFamily="34" charset="0"/>
                <a:ea typeface="Consolas" pitchFamily="34" charset="0"/>
                <a:cs typeface="Consolas" pitchFamily="34" charset="0"/>
              </a:rPr>
              <a:t>True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st.subheader(</a:t>
            </a:r>
            <a:r>
              <a:rPr lang="en-US" sz="830" dirty="0">
                <a:solidFill>
                  <a:srgbClr val="FFC94D"/>
                </a:solidFill>
                <a:latin typeface="Consolas" pitchFamily="34" charset="0"/>
                <a:ea typeface="Consolas" pitchFamily="34" charset="0"/>
                <a:cs typeface="Consolas" pitchFamily="34" charset="0"/>
              </a:rPr>
              <a:t>"Raw data sample"</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    st.dataframe(df.head(</a:t>
            </a:r>
            <a:r>
              <a:rPr lang="en-US" sz="830" dirty="0">
                <a:solidFill>
                  <a:srgbClr val="E38B7A"/>
                </a:solidFill>
                <a:latin typeface="Consolas" pitchFamily="34" charset="0"/>
                <a:ea typeface="Consolas" pitchFamily="34" charset="0"/>
                <a:cs typeface="Consolas" pitchFamily="34" charset="0"/>
              </a:rPr>
              <a:t>10</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endParaRPr lang="en-US" sz="830" dirty="0"/>
          </a:p>
          <a:p>
            <a:pPr marL="0" indent="0">
              <a:lnSpc>
                <a:spcPct val="105000"/>
              </a:lnSpc>
              <a:buNone/>
            </a:pPr>
            <a:r>
              <a:rPr lang="en-US" sz="830" i="1" dirty="0">
                <a:solidFill>
                  <a:srgbClr val="6B7A99"/>
                </a:solidFill>
                <a:latin typeface="Consolas" pitchFamily="34" charset="0"/>
                <a:ea typeface="Consolas" pitchFamily="34" charset="0"/>
                <a:cs typeface="Consolas" pitchFamily="34" charset="0"/>
              </a:rPr>
              <a:t># ---- Footer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st.markdown(</a:t>
            </a:r>
            <a:r>
              <a:rPr lang="en-US" sz="830" dirty="0">
                <a:solidFill>
                  <a:srgbClr val="FFC94D"/>
                </a:solidFill>
                <a:latin typeface="Consolas" pitchFamily="34" charset="0"/>
                <a:ea typeface="Consolas" pitchFamily="34" charset="0"/>
                <a:cs typeface="Consolas" pitchFamily="34" charset="0"/>
              </a:rPr>
              <a:t>"---"</a:t>
            </a:r>
            <a:r>
              <a:rPr lang="en-US" sz="830" dirty="0">
                <a:solidFill>
                  <a:srgbClr val="D7E3F4"/>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st.markdown(</a:t>
            </a:r>
            <a:r>
              <a:rPr lang="en-US" sz="830" dirty="0">
                <a:solidFill>
                  <a:srgbClr val="FFC94D"/>
                </a:solidFill>
                <a:latin typeface="Consolas" pitchFamily="34" charset="0"/>
                <a:ea typeface="Consolas" pitchFamily="34" charset="0"/>
                <a:cs typeface="Consolas" pitchFamily="34" charset="0"/>
              </a:rPr>
              <a:t>"""</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**Project:** SN Bose Summer Internship </a:t>
            </a:r>
            <a:r>
              <a:rPr lang="en-US" sz="830" dirty="0">
                <a:solidFill>
                  <a:srgbClr val="E38B7A"/>
                </a:solidFill>
                <a:latin typeface="Consolas" pitchFamily="34" charset="0"/>
                <a:ea typeface="Consolas" pitchFamily="34" charset="0"/>
                <a:cs typeface="Consolas" pitchFamily="34" charset="0"/>
              </a:rPr>
              <a:t>2026</a:t>
            </a:r>
            <a:r>
              <a:rPr lang="en-US" sz="830" dirty="0">
                <a:solidFill>
                  <a:srgbClr val="D7E3F4"/>
                </a:solidFill>
                <a:latin typeface="Consolas" pitchFamily="34" charset="0"/>
                <a:ea typeface="Consolas" pitchFamily="34" charset="0"/>
                <a:cs typeface="Consolas" pitchFamily="34" charset="0"/>
              </a:rPr>
              <a:t>, NIT Silchar | NIT Silchar  </a:t>
            </a:r>
            <a:endParaRPr lang="en-US" sz="830" dirty="0"/>
          </a:p>
          <a:p>
            <a:pPr marL="0" indent="0">
              <a:lnSpc>
                <a:spcPct val="105000"/>
              </a:lnSpc>
              <a:buNone/>
            </a:pPr>
            <a:r>
              <a:rPr lang="en-US" sz="830" dirty="0">
                <a:solidFill>
                  <a:srgbClr val="D7E3F4"/>
                </a:solidFill>
                <a:latin typeface="Consolas" pitchFamily="34" charset="0"/>
                <a:ea typeface="Consolas" pitchFamily="34" charset="0"/>
                <a:cs typeface="Consolas" pitchFamily="34" charset="0"/>
              </a:rPr>
              <a:t>**Methodology:** LTspice parameter sweeps → </a:t>
            </a:r>
            <a:r>
              <a:rPr lang="en-US" sz="830" dirty="0">
                <a:solidFill>
                  <a:srgbClr val="E38B7A"/>
                </a:solidFill>
                <a:latin typeface="Consolas" pitchFamily="34" charset="0"/>
                <a:ea typeface="Consolas" pitchFamily="34" charset="0"/>
                <a:cs typeface="Consolas" pitchFamily="34" charset="0"/>
              </a:rPr>
              <a:t>17</a:t>
            </a:r>
            <a:r>
              <a:rPr lang="en-US" sz="830" dirty="0">
                <a:solidFill>
                  <a:srgbClr val="D7E3F4"/>
                </a:solidFill>
                <a:latin typeface="Consolas" pitchFamily="34" charset="0"/>
                <a:ea typeface="Consolas" pitchFamily="34" charset="0"/>
                <a:cs typeface="Consolas" pitchFamily="34" charset="0"/>
              </a:rPr>
              <a:t>-feature extraction → SVM kernel comparison → GridSearchCV tuning → topology-aware post-processing</a:t>
            </a:r>
            <a:endParaRPr lang="en-US" sz="830" dirty="0"/>
          </a:p>
          <a:p>
            <a:pPr marL="0" indent="0">
              <a:lnSpc>
                <a:spcPct val="105000"/>
              </a:lnSpc>
              <a:buNone/>
            </a:pPr>
            <a:r>
              <a:rPr lang="en-US" sz="830" dirty="0">
                <a:solidFill>
                  <a:srgbClr val="FFC94D"/>
                </a:solidFill>
                <a:latin typeface="Consolas" pitchFamily="34" charset="0"/>
                <a:ea typeface="Consolas" pitchFamily="34" charset="0"/>
                <a:cs typeface="Consolas" pitchFamily="34" charset="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marL="0" indent="0" algn="l">
              <a:buNone/>
            </a:pPr>
            <a:r>
              <a:rPr lang="en-US" sz="900" kern="0" spc="10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TotalTime>
  <Words>24285</Words>
  <Application>Microsoft Office PowerPoint</Application>
  <PresentationFormat>Widescreen</PresentationFormat>
  <Paragraphs>2378</Paragraphs>
  <Slides>113</Slides>
  <Notes>112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113</vt:i4>
      </vt:variant>
    </vt:vector>
  </HeadingPairs>
  <TitlesOfParts>
    <vt:vector size="119" baseType="lpstr">
      <vt:lpstr>Arial</vt:lpstr>
      <vt:lpstr>Calibri</vt:lpstr>
      <vt:lpstr>Cambria</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5</cp:revision>
  <dcterms:created xsi:type="dcterms:W3CDTF">2026-07-05T21:01:29Z</dcterms:created>
  <dcterms:modified xsi:type="dcterms:W3CDTF">2026-07-06T14:24:06Z</dcterms:modified>
</cp:coreProperties>
</file>