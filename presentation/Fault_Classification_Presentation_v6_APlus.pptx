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3.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5EAE7A"/>
              </a:solidFill>
              <a:effectLst/>
            </c:spPr>
          </c:dPt>
          <c:dPt>
            <c:idx val="1"/>
            <c:bubble3D val="0"/>
            <c:spPr>
              <a:solidFill>
                <a:srgbClr val="00B4D8"/>
              </a:solidFill>
              <a:effectLst/>
            </c:spPr>
          </c:dPt>
          <c:dPt>
            <c:idx val="2"/>
            <c:bubble3D val="0"/>
            <c:spPr>
              <a:solidFill>
                <a:srgbClr val="0B1F3A"/>
              </a:solidFill>
              <a:effectLst/>
            </c:spPr>
          </c:dPt>
          <c:dPt>
            <c:idx val="3"/>
            <c:bubble3D val="0"/>
            <c:spPr>
              <a:solidFill>
                <a:srgbClr val="D9695F"/>
              </a:solidFill>
              <a:effectLst/>
            </c:spPr>
          </c:dPt>
          <c:dPt>
            <c:idx val="4"/>
            <c:bubble3D val="0"/>
            <c:spPr>
              <a:solidFill>
                <a:srgbClr val="8E5AA8"/>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A9C6E8"/>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0B1F3A"/>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7DE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B4D8"/>
            </a:solidFill>
            <a:effectLst/>
          </c:spPr>
          <c:invertIfNegative val="0"/>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6" Type="http://schemas.openxmlformats.org/officeDocument/2006/relationships/slideLayout" Target="../slideLayouts/slideLayout1.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image" Target="../media/image-66-8.png"/><Relationship Id="rId9" Type="http://schemas.openxmlformats.org/officeDocument/2006/relationships/slideLayout" Target="../slideLayouts/slideLayout1.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8-1.png"/><Relationship Id="rId2" Type="http://schemas.openxmlformats.org/officeDocument/2006/relationships/image" Target="../media/image-68-2.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00B4D8">
                <a:alpha val="70000"/>
              </a:srgbClr>
            </a:solidFill>
            <a:prstDash val="solid"/>
          </a:ln>
        </p:spPr>
      </p:sp>
      <p:sp>
        <p:nvSpPr>
          <p:cNvPr id="3" name="Shape 1"/>
          <p:cNvSpPr/>
          <p:nvPr/>
        </p:nvSpPr>
        <p:spPr>
          <a:xfrm>
            <a:off x="11187684" y="388620"/>
            <a:ext cx="0" cy="1156716"/>
          </a:xfrm>
          <a:prstGeom prst="line">
            <a:avLst/>
          </a:prstGeom>
          <a:noFill/>
          <a:ln w="15875">
            <a:solidFill>
              <a:srgbClr val="00B4D8">
                <a:alpha val="70000"/>
              </a:srgbClr>
            </a:solidFill>
            <a:prstDash val="solid"/>
          </a:ln>
        </p:spPr>
      </p:sp>
      <p:sp>
        <p:nvSpPr>
          <p:cNvPr id="4" name="Shape 2"/>
          <p:cNvSpPr/>
          <p:nvPr/>
        </p:nvSpPr>
        <p:spPr>
          <a:xfrm>
            <a:off x="11187684" y="1545336"/>
            <a:ext cx="841248" cy="-525780"/>
          </a:xfrm>
          <a:prstGeom prst="line">
            <a:avLst/>
          </a:prstGeom>
          <a:noFill/>
          <a:ln w="15875">
            <a:solidFill>
              <a:srgbClr val="00B4D8">
                <a:alpha val="70000"/>
              </a:srgbClr>
            </a:solidFill>
            <a:prstDash val="solid"/>
          </a:ln>
        </p:spPr>
      </p:sp>
      <p:sp>
        <p:nvSpPr>
          <p:cNvPr id="5" name="Shape 3"/>
          <p:cNvSpPr/>
          <p:nvPr/>
        </p:nvSpPr>
        <p:spPr>
          <a:xfrm>
            <a:off x="10193960" y="867080"/>
            <a:ext cx="94640" cy="94640"/>
          </a:xfrm>
          <a:prstGeom prst="ellipse">
            <a:avLst/>
          </a:prstGeom>
          <a:solidFill>
            <a:srgbClr val="00B4D8"/>
          </a:solidFill>
          <a:ln w="12700">
            <a:solidFill>
              <a:srgbClr val="00B4D8"/>
            </a:solidFill>
            <a:prstDash val="solid"/>
          </a:ln>
        </p:spPr>
      </p:sp>
      <p:sp>
        <p:nvSpPr>
          <p:cNvPr id="6" name="Shape 4"/>
          <p:cNvSpPr/>
          <p:nvPr/>
        </p:nvSpPr>
        <p:spPr>
          <a:xfrm>
            <a:off x="11140364" y="341300"/>
            <a:ext cx="94640" cy="94640"/>
          </a:xfrm>
          <a:prstGeom prst="ellipse">
            <a:avLst/>
          </a:prstGeom>
          <a:solidFill>
            <a:srgbClr val="00B4D8"/>
          </a:solidFill>
          <a:ln w="12700">
            <a:solidFill>
              <a:srgbClr val="00B4D8"/>
            </a:solidFill>
            <a:prstDash val="solid"/>
          </a:ln>
        </p:spPr>
      </p:sp>
      <p:sp>
        <p:nvSpPr>
          <p:cNvPr id="7" name="Shape 5"/>
          <p:cNvSpPr/>
          <p:nvPr/>
        </p:nvSpPr>
        <p:spPr>
          <a:xfrm>
            <a:off x="11140364" y="1498016"/>
            <a:ext cx="94640" cy="94640"/>
          </a:xfrm>
          <a:prstGeom prst="ellipse">
            <a:avLst/>
          </a:prstGeom>
          <a:solidFill>
            <a:srgbClr val="00B4D8"/>
          </a:solidFill>
          <a:ln w="12700">
            <a:solidFill>
              <a:srgbClr val="00B4D8"/>
            </a:solidFill>
            <a:prstDash val="solid"/>
          </a:ln>
        </p:spPr>
      </p:sp>
      <p:sp>
        <p:nvSpPr>
          <p:cNvPr id="8" name="Shape 6"/>
          <p:cNvSpPr/>
          <p:nvPr/>
        </p:nvSpPr>
        <p:spPr>
          <a:xfrm>
            <a:off x="11981612" y="972236"/>
            <a:ext cx="94640" cy="94640"/>
          </a:xfrm>
          <a:prstGeom prst="ellipse">
            <a:avLst/>
          </a:prstGeom>
          <a:solidFill>
            <a:srgbClr val="00B4D8"/>
          </a:solidFill>
          <a:ln w="12700">
            <a:solidFill>
              <a:srgbClr val="00B4D8"/>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00B4D8"/>
                </a:solidFill>
                <a:latin typeface="Calibri" pitchFamily="34" charset="0"/>
                <a:ea typeface="Calibri" pitchFamily="34" charset="-122"/>
                <a:cs typeface="Calibri"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Kernel-Based Fault Classification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in Analog Circuits</a:t>
            </a:r>
            <a:endParaRPr lang="en-US" sz="4200" dirty="0"/>
          </a:p>
        </p:txBody>
      </p:sp>
      <p:sp>
        <p:nvSpPr>
          <p:cNvPr id="11" name="Text 9"/>
          <p:cNvSpPr/>
          <p:nvPr/>
        </p:nvSpPr>
        <p:spPr>
          <a:xfrm>
            <a:off x="502920" y="3657600"/>
            <a:ext cx="9509760" cy="822960"/>
          </a:xfrm>
          <a:prstGeom prst="rect">
            <a:avLst/>
          </a:prstGeom>
          <a:noFill/>
          <a:ln/>
        </p:spPr>
        <p:txBody>
          <a:bodyPr wrap="square" lIns="0" tIns="0" rIns="0" bIns="0" rtlCol="0" anchor="ctr"/>
          <a:lstStyle/>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A physics-grounded machine learning pipeline for diagnosing Normal, Drift, Open, Short and</a:t>
            </a:r>
            <a:endParaRPr lang="en-US" sz="1450" dirty="0"/>
          </a:p>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00B4D8"/>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Presented by  </a:t>
            </a:r>
            <a:pPr indent="0" marL="0">
              <a:buNone/>
            </a:pPr>
            <a:r>
              <a:rPr lang="en-US" sz="1400" b="1" dirty="0">
                <a:solidFill>
                  <a:srgbClr val="FFFFFF"/>
                </a:solidFill>
                <a:latin typeface="Calibri" pitchFamily="34" charset="0"/>
                <a:ea typeface="Calibri" pitchFamily="34" charset="-122"/>
                <a:cs typeface="Calibri" pitchFamily="34" charset="-120"/>
              </a:rPr>
              <a:t>Karan Kaushik</a:t>
            </a:r>
            <a:pPr indent="0" marL="0">
              <a:buNone/>
            </a:pPr>
            <a:r>
              <a:rPr lang="en-US" sz="1400" dirty="0">
                <a:solidFill>
                  <a:srgbClr val="9FB1C8"/>
                </a:solidFill>
                <a:latin typeface="Calibri" pitchFamily="34" charset="0"/>
                <a:ea typeface="Calibri" pitchFamily="34" charset="-122"/>
                <a:cs typeface="Calibri"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Guided by  </a:t>
            </a:r>
            <a:pPr indent="0" marL="0">
              <a:buNone/>
            </a:pPr>
            <a:r>
              <a:rPr lang="en-US" sz="1400" b="1" dirty="0">
                <a:solidFill>
                  <a:srgbClr val="FFFFFF"/>
                </a:solidFill>
                <a:latin typeface="Calibri" pitchFamily="34" charset="0"/>
                <a:ea typeface="Calibri" pitchFamily="34" charset="-122"/>
                <a:cs typeface="Calibri"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6B7A94"/>
                </a:solidFill>
                <a:latin typeface="Calibri" pitchFamily="34" charset="0"/>
                <a:ea typeface="Calibri" pitchFamily="34" charset="-122"/>
                <a:cs typeface="Calibri" pitchFamily="34" charset="-120"/>
              </a:rPr>
              <a:t>~60 min presentation</a:t>
            </a:r>
            <a:endParaRPr lang="en-US" sz="1050" dirty="0"/>
          </a:p>
        </p:txBody>
      </p:sp>
      <p:sp>
        <p:nvSpPr>
          <p:cNvPr id="16" name="Shape 14"/>
          <p:cNvSpPr/>
          <p:nvPr/>
        </p:nvSpPr>
        <p:spPr>
          <a:xfrm>
            <a:off x="9966960" y="3657600"/>
            <a:ext cx="1554480" cy="155448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7" name="Image 0" descr="/sessions/blissful-zealous-babbage/mnt/outputs/ppt/icons/microchip_00B4D8.png">    </p:cNvPr>
          <p:cNvPicPr>
            <a:picLocks noChangeAspect="1"/>
          </p:cNvPicPr>
          <p:nvPr/>
        </p:nvPicPr>
        <p:blipFill>
          <a:blip r:embed="rId1"/>
          <a:stretch>
            <a:fillRect/>
          </a:stretch>
        </p:blipFill>
        <p:spPr>
          <a:xfrm>
            <a:off x="10176815" y="3867455"/>
            <a:ext cx="1134770" cy="1134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We'll Cover — In Nine Parts</a:t>
            </a:r>
            <a:endParaRPr lang="en-US" sz="3000" dirty="0"/>
          </a:p>
        </p:txBody>
      </p:sp>
      <p:sp>
        <p:nvSpPr>
          <p:cNvPr id="4" name="Shape 2"/>
          <p:cNvSpPr/>
          <p:nvPr/>
        </p:nvSpPr>
        <p:spPr>
          <a:xfrm>
            <a:off x="50292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0408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ulb_00B4D8.png">    </p:cNvPr>
          <p:cNvPicPr>
            <a:picLocks noChangeAspect="1"/>
          </p:cNvPicPr>
          <p:nvPr/>
        </p:nvPicPr>
        <p:blipFill>
          <a:blip r:embed="rId1"/>
          <a:stretch>
            <a:fillRect/>
          </a:stretch>
        </p:blipFill>
        <p:spPr>
          <a:xfrm>
            <a:off x="773217" y="2025945"/>
            <a:ext cx="373807" cy="373807"/>
          </a:xfrm>
          <a:prstGeom prst="rect">
            <a:avLst/>
          </a:prstGeom>
        </p:spPr>
      </p:pic>
      <p:sp>
        <p:nvSpPr>
          <p:cNvPr id="7" name="Text 4"/>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1. Motivation &amp; Problem</a:t>
            </a:r>
            <a:endParaRPr lang="en-US" sz="1200" dirty="0"/>
          </a:p>
        </p:txBody>
      </p:sp>
      <p:sp>
        <p:nvSpPr>
          <p:cNvPr id="8" name="Text 5"/>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Why analog fault diagnosis matters, and why it's hard</a:t>
            </a:r>
            <a:endParaRPr lang="en-US" sz="870" dirty="0"/>
          </a:p>
        </p:txBody>
      </p:sp>
      <p:sp>
        <p:nvSpPr>
          <p:cNvPr id="9" name="Shape 6"/>
          <p:cNvSpPr/>
          <p:nvPr/>
        </p:nvSpPr>
        <p:spPr>
          <a:xfrm>
            <a:off x="425196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45312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sitemap_00B4D8.png">    </p:cNvPr>
          <p:cNvPicPr>
            <a:picLocks noChangeAspect="1"/>
          </p:cNvPicPr>
          <p:nvPr/>
        </p:nvPicPr>
        <p:blipFill>
          <a:blip r:embed="rId2"/>
          <a:stretch>
            <a:fillRect/>
          </a:stretch>
        </p:blipFill>
        <p:spPr>
          <a:xfrm>
            <a:off x="4522257" y="2025945"/>
            <a:ext cx="373807" cy="373807"/>
          </a:xfrm>
          <a:prstGeom prst="rect">
            <a:avLst/>
          </a:prstGeom>
        </p:spPr>
      </p:pic>
      <p:sp>
        <p:nvSpPr>
          <p:cNvPr id="12" name="Text 8"/>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 Circuits &amp; Fault Theory</a:t>
            </a:r>
            <a:endParaRPr lang="en-US" sz="1200" dirty="0"/>
          </a:p>
        </p:txBody>
      </p:sp>
      <p:sp>
        <p:nvSpPr>
          <p:cNvPr id="13" name="Text 9"/>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physics behind 4 topologies and 5 fault types</a:t>
            </a:r>
            <a:endParaRPr lang="en-US" sz="870" dirty="0"/>
          </a:p>
        </p:txBody>
      </p:sp>
      <p:sp>
        <p:nvSpPr>
          <p:cNvPr id="14" name="Shape 10"/>
          <p:cNvSpPr/>
          <p:nvPr/>
        </p:nvSpPr>
        <p:spPr>
          <a:xfrm>
            <a:off x="800100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820216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cogs_00B4D8.png">    </p:cNvPr>
          <p:cNvPicPr>
            <a:picLocks noChangeAspect="1"/>
          </p:cNvPicPr>
          <p:nvPr/>
        </p:nvPicPr>
        <p:blipFill>
          <a:blip r:embed="rId3"/>
          <a:stretch>
            <a:fillRect/>
          </a:stretch>
        </p:blipFill>
        <p:spPr>
          <a:xfrm>
            <a:off x="8271297" y="2025945"/>
            <a:ext cx="373807" cy="373807"/>
          </a:xfrm>
          <a:prstGeom prst="rect">
            <a:avLst/>
          </a:prstGeom>
        </p:spPr>
      </p:pic>
      <p:sp>
        <p:nvSpPr>
          <p:cNvPr id="17" name="Text 12"/>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3. Data Pipeline</a:t>
            </a:r>
            <a:endParaRPr lang="en-US" sz="1200" dirty="0"/>
          </a:p>
        </p:txBody>
      </p:sp>
      <p:sp>
        <p:nvSpPr>
          <p:cNvPr id="18" name="Text 13"/>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LTspice sweeps that generate real, physics-based training data</a:t>
            </a:r>
            <a:endParaRPr lang="en-US" sz="870" dirty="0"/>
          </a:p>
        </p:txBody>
      </p:sp>
      <p:sp>
        <p:nvSpPr>
          <p:cNvPr id="19" name="Shape 14"/>
          <p:cNvSpPr/>
          <p:nvPr/>
        </p:nvSpPr>
        <p:spPr>
          <a:xfrm>
            <a:off x="50292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0408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puzzle_00B4D8.png">    </p:cNvPr>
          <p:cNvPicPr>
            <a:picLocks noChangeAspect="1"/>
          </p:cNvPicPr>
          <p:nvPr/>
        </p:nvPicPr>
        <p:blipFill>
          <a:blip r:embed="rId4"/>
          <a:stretch>
            <a:fillRect/>
          </a:stretch>
        </p:blipFill>
        <p:spPr>
          <a:xfrm>
            <a:off x="773217" y="3470697"/>
            <a:ext cx="373807" cy="373807"/>
          </a:xfrm>
          <a:prstGeom prst="rect">
            <a:avLst/>
          </a:prstGeom>
        </p:spPr>
      </p:pic>
      <p:sp>
        <p:nvSpPr>
          <p:cNvPr id="22" name="Text 16"/>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4. Feature Engineering</a:t>
            </a:r>
            <a:endParaRPr lang="en-US" sz="1200" dirty="0"/>
          </a:p>
        </p:txBody>
      </p:sp>
      <p:sp>
        <p:nvSpPr>
          <p:cNvPr id="23" name="Text 17"/>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formulas turning waveforms into 17 numbers</a:t>
            </a:r>
            <a:endParaRPr lang="en-US" sz="870" dirty="0"/>
          </a:p>
        </p:txBody>
      </p:sp>
      <p:sp>
        <p:nvSpPr>
          <p:cNvPr id="24" name="Shape 18"/>
          <p:cNvSpPr/>
          <p:nvPr/>
        </p:nvSpPr>
        <p:spPr>
          <a:xfrm>
            <a:off x="425196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445312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4522257" y="3470697"/>
            <a:ext cx="373807" cy="373807"/>
          </a:xfrm>
          <a:prstGeom prst="rect">
            <a:avLst/>
          </a:prstGeom>
        </p:spPr>
      </p:pic>
      <p:sp>
        <p:nvSpPr>
          <p:cNvPr id="27" name="Text 20"/>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5. Machine Learning</a:t>
            </a:r>
            <a:endParaRPr lang="en-US" sz="1200" dirty="0"/>
          </a:p>
        </p:txBody>
      </p:sp>
      <p:sp>
        <p:nvSpPr>
          <p:cNvPr id="28" name="Text 21"/>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SVM theory, kernels, GridSearchCV, cross-validation</a:t>
            </a:r>
            <a:endParaRPr lang="en-US" sz="870" dirty="0"/>
          </a:p>
        </p:txBody>
      </p:sp>
      <p:sp>
        <p:nvSpPr>
          <p:cNvPr id="29" name="Shape 22"/>
          <p:cNvSpPr/>
          <p:nvPr/>
        </p:nvSpPr>
        <p:spPr>
          <a:xfrm>
            <a:off x="800100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820216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tools_00B4D8.png">    </p:cNvPr>
          <p:cNvPicPr>
            <a:picLocks noChangeAspect="1"/>
          </p:cNvPicPr>
          <p:nvPr/>
        </p:nvPicPr>
        <p:blipFill>
          <a:blip r:embed="rId6"/>
          <a:stretch>
            <a:fillRect/>
          </a:stretch>
        </p:blipFill>
        <p:spPr>
          <a:xfrm>
            <a:off x="8271297" y="3470697"/>
            <a:ext cx="373807" cy="373807"/>
          </a:xfrm>
          <a:prstGeom prst="rect">
            <a:avLst/>
          </a:prstGeom>
        </p:spPr>
      </p:pic>
      <p:sp>
        <p:nvSpPr>
          <p:cNvPr id="32" name="Text 24"/>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6. The Smart Fixes</a:t>
            </a:r>
            <a:endParaRPr lang="en-US" sz="1200" dirty="0"/>
          </a:p>
        </p:txBody>
      </p:sp>
      <p:sp>
        <p:nvSpPr>
          <p:cNvPr id="33" name="Text 25"/>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Two engineering decisions that pushed accuracy higher</a:t>
            </a:r>
            <a:endParaRPr lang="en-US" sz="870" dirty="0"/>
          </a:p>
        </p:txBody>
      </p:sp>
      <p:sp>
        <p:nvSpPr>
          <p:cNvPr id="34" name="Shape 26"/>
          <p:cNvSpPr/>
          <p:nvPr/>
        </p:nvSpPr>
        <p:spPr>
          <a:xfrm>
            <a:off x="50292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70408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chartbar_00B4D8.png">    </p:cNvPr>
          <p:cNvPicPr>
            <a:picLocks noChangeAspect="1"/>
          </p:cNvPicPr>
          <p:nvPr/>
        </p:nvPicPr>
        <p:blipFill>
          <a:blip r:embed="rId7"/>
          <a:stretch>
            <a:fillRect/>
          </a:stretch>
        </p:blipFill>
        <p:spPr>
          <a:xfrm>
            <a:off x="773217" y="4915449"/>
            <a:ext cx="373807" cy="373807"/>
          </a:xfrm>
          <a:prstGeom prst="rect">
            <a:avLst/>
          </a:prstGeom>
        </p:spPr>
      </p:pic>
      <p:sp>
        <p:nvSpPr>
          <p:cNvPr id="37" name="Text 28"/>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7. Results &amp; Deep Analysis</a:t>
            </a:r>
            <a:endParaRPr lang="en-US" sz="1200" dirty="0"/>
          </a:p>
        </p:txBody>
      </p:sp>
      <p:sp>
        <p:nvSpPr>
          <p:cNvPr id="38" name="Text 29"/>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78.43% accuracy — and exactly where and why it fails</a:t>
            </a:r>
            <a:endParaRPr lang="en-US" sz="870" dirty="0"/>
          </a:p>
        </p:txBody>
      </p:sp>
      <p:sp>
        <p:nvSpPr>
          <p:cNvPr id="39" name="Shape 30"/>
          <p:cNvSpPr/>
          <p:nvPr/>
        </p:nvSpPr>
        <p:spPr>
          <a:xfrm>
            <a:off x="425196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445312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warn_00B4D8.png">    </p:cNvPr>
          <p:cNvPicPr>
            <a:picLocks noChangeAspect="1"/>
          </p:cNvPicPr>
          <p:nvPr/>
        </p:nvPicPr>
        <p:blipFill>
          <a:blip r:embed="rId8"/>
          <a:stretch>
            <a:fillRect/>
          </a:stretch>
        </p:blipFill>
        <p:spPr>
          <a:xfrm>
            <a:off x="4522257" y="4915449"/>
            <a:ext cx="373807" cy="373807"/>
          </a:xfrm>
          <a:prstGeom prst="rect">
            <a:avLst/>
          </a:prstGeom>
        </p:spPr>
      </p:pic>
      <p:sp>
        <p:nvSpPr>
          <p:cNvPr id="42" name="Text 32"/>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8. Key Finding &amp; Limits</a:t>
            </a:r>
            <a:endParaRPr lang="en-US" sz="1200" dirty="0"/>
          </a:p>
        </p:txBody>
      </p:sp>
      <p:sp>
        <p:nvSpPr>
          <p:cNvPr id="43" name="Text 33"/>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A hard lesson about trusting your own accuracy numbers</a:t>
            </a:r>
            <a:endParaRPr lang="en-US" sz="870" dirty="0"/>
          </a:p>
        </p:txBody>
      </p:sp>
      <p:sp>
        <p:nvSpPr>
          <p:cNvPr id="44" name="Shape 34"/>
          <p:cNvSpPr/>
          <p:nvPr/>
        </p:nvSpPr>
        <p:spPr>
          <a:xfrm>
            <a:off x="800100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5" name="Shape 35"/>
          <p:cNvSpPr/>
          <p:nvPr/>
        </p:nvSpPr>
        <p:spPr>
          <a:xfrm>
            <a:off x="820216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6" name="Image 8" descr="/sessions/blissful-zealous-babbage/mnt/outputs/ppt/icons/rocket_00B4D8.png">    </p:cNvPr>
          <p:cNvPicPr>
            <a:picLocks noChangeAspect="1"/>
          </p:cNvPicPr>
          <p:nvPr/>
        </p:nvPicPr>
        <p:blipFill>
          <a:blip r:embed="rId9"/>
          <a:stretch>
            <a:fillRect/>
          </a:stretch>
        </p:blipFill>
        <p:spPr>
          <a:xfrm>
            <a:off x="8271297" y="4915449"/>
            <a:ext cx="373807" cy="373807"/>
          </a:xfrm>
          <a:prstGeom prst="rect">
            <a:avLst/>
          </a:prstGeom>
        </p:spPr>
      </p:pic>
      <p:sp>
        <p:nvSpPr>
          <p:cNvPr id="47" name="Text 36"/>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9. Demo &amp; Conclusion</a:t>
            </a:r>
            <a:endParaRPr lang="en-US" sz="1200" dirty="0"/>
          </a:p>
        </p:txBody>
      </p:sp>
      <p:sp>
        <p:nvSpPr>
          <p:cNvPr id="48" name="Text 37"/>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live app, what's next, and a wrap-up</a:t>
            </a:r>
            <a:endParaRPr lang="en-US" sz="870" dirty="0"/>
          </a:p>
        </p:txBody>
      </p:sp>
      <p:sp>
        <p:nvSpPr>
          <p:cNvPr id="49" name="Text 3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0" name="Text 3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Fault Classification Matters</a:t>
            </a:r>
            <a:endParaRPr lang="en-US" sz="3000" dirty="0"/>
          </a:p>
        </p:txBody>
      </p:sp>
      <p:sp>
        <p:nvSpPr>
          <p:cNvPr id="4" name="Shape 2"/>
          <p:cNvSpPr/>
          <p:nvPr/>
        </p:nvSpPr>
        <p:spPr>
          <a:xfrm>
            <a:off x="502920" y="178308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signal_00B4D8.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Analog circuits are everywhere</a:t>
            </a:r>
            <a:endParaRPr lang="en-US" sz="1450" dirty="0"/>
          </a:p>
        </p:txBody>
      </p:sp>
      <p:sp>
        <p:nvSpPr>
          <p:cNvPr id="7" name="Text 4"/>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Filters, power supplies, sensor front-ends and communication links all rely on analog stages that quietly degrade before they fail outright.</a:t>
            </a:r>
            <a:endParaRPr lang="en-US" sz="1100" dirty="0"/>
          </a:p>
        </p:txBody>
      </p:sp>
      <p:sp>
        <p:nvSpPr>
          <p:cNvPr id="8" name="Shape 5"/>
          <p:cNvSpPr/>
          <p:nvPr/>
        </p:nvSpPr>
        <p:spPr>
          <a:xfrm>
            <a:off x="502920" y="2807208"/>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search_00B4D8.png">    </p:cNvPr>
          <p:cNvPicPr>
            <a:picLocks noChangeAspect="1"/>
          </p:cNvPicPr>
          <p:nvPr/>
        </p:nvPicPr>
        <p:blipFill>
          <a:blip r:embed="rId2"/>
          <a:stretch>
            <a:fillRect/>
          </a:stretch>
        </p:blipFill>
        <p:spPr>
          <a:xfrm>
            <a:off x="579455" y="2883743"/>
            <a:ext cx="413857" cy="413857"/>
          </a:xfrm>
          <a:prstGeom prst="rect">
            <a:avLst/>
          </a:prstGeom>
        </p:spPr>
      </p:pic>
      <p:sp>
        <p:nvSpPr>
          <p:cNvPr id="10" name="Text 6"/>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Manual diagnosis doesn't scale</a:t>
            </a:r>
            <a:endParaRPr lang="en-US" sz="1450" dirty="0"/>
          </a:p>
        </p:txBody>
      </p:sp>
      <p:sp>
        <p:nvSpPr>
          <p:cNvPr id="11" name="Text 7"/>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Reading an oscilloscope trace to guess whether a fault is drift, noise, or a bad connection takes an expert and doesn't scale to thousands of boards.</a:t>
            </a:r>
            <a:endParaRPr lang="en-US" sz="1100" dirty="0"/>
          </a:p>
        </p:txBody>
      </p:sp>
      <p:sp>
        <p:nvSpPr>
          <p:cNvPr id="12" name="Shape 8"/>
          <p:cNvSpPr/>
          <p:nvPr/>
        </p:nvSpPr>
        <p:spPr>
          <a:xfrm>
            <a:off x="502920" y="3831336"/>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olt_00B4D8.png">    </p:cNvPr>
          <p:cNvPicPr>
            <a:picLocks noChangeAspect="1"/>
          </p:cNvPicPr>
          <p:nvPr/>
        </p:nvPicPr>
        <p:blipFill>
          <a:blip r:embed="rId3"/>
          <a:stretch>
            <a:fillRect/>
          </a:stretch>
        </p:blipFill>
        <p:spPr>
          <a:xfrm>
            <a:off x="579455" y="3907871"/>
            <a:ext cx="413857" cy="413857"/>
          </a:xfrm>
          <a:prstGeom prst="rect">
            <a:avLst/>
          </a:prstGeom>
        </p:spPr>
      </p:pic>
      <p:sp>
        <p:nvSpPr>
          <p:cNvPr id="14" name="Text 9"/>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often silent</a:t>
            </a:r>
            <a:endParaRPr lang="en-US" sz="1450" dirty="0"/>
          </a:p>
        </p:txBody>
      </p:sp>
      <p:sp>
        <p:nvSpPr>
          <p:cNvPr id="15" name="Text 10"/>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A drifting resistor or a noisy stage can still “work” while quietly producing wrong answers downstream.</a:t>
            </a:r>
            <a:endParaRPr lang="en-US" sz="1100" dirty="0"/>
          </a:p>
        </p:txBody>
      </p:sp>
      <p:sp>
        <p:nvSpPr>
          <p:cNvPr id="16" name="Shape 11"/>
          <p:cNvSpPr/>
          <p:nvPr/>
        </p:nvSpPr>
        <p:spPr>
          <a:xfrm>
            <a:off x="502920" y="485546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chartline_00B4D8.png">    </p:cNvPr>
          <p:cNvPicPr>
            <a:picLocks noChangeAspect="1"/>
          </p:cNvPicPr>
          <p:nvPr/>
        </p:nvPicPr>
        <p:blipFill>
          <a:blip r:embed="rId4"/>
          <a:stretch>
            <a:fillRect/>
          </a:stretch>
        </p:blipFill>
        <p:spPr>
          <a:xfrm>
            <a:off x="579455" y="4931999"/>
            <a:ext cx="413857" cy="413857"/>
          </a:xfrm>
          <a:prstGeom prst="rect">
            <a:avLst/>
          </a:prstGeom>
        </p:spPr>
      </p:pic>
      <p:sp>
        <p:nvSpPr>
          <p:cNvPr id="18" name="Text 12"/>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The goal</a:t>
            </a:r>
            <a:endParaRPr lang="en-US" sz="1450" dirty="0"/>
          </a:p>
        </p:txBody>
      </p:sp>
      <p:sp>
        <p:nvSpPr>
          <p:cNvPr id="19" name="Text 13"/>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Give a machine the output waveform and let it instantly say what's wrong — and which component is likely responsible.</a:t>
            </a:r>
            <a:endParaRPr lang="en-US" sz="1100" dirty="0"/>
          </a:p>
        </p:txBody>
      </p:sp>
      <p:sp>
        <p:nvSpPr>
          <p:cNvPr id="20" name="Shape 14"/>
          <p:cNvSpPr/>
          <p:nvPr/>
        </p:nvSpPr>
        <p:spPr>
          <a:xfrm>
            <a:off x="7360920" y="1783080"/>
            <a:ext cx="4343400" cy="4160520"/>
          </a:xfrm>
          <a:prstGeom prst="roundRect">
            <a:avLst>
              <a:gd name="adj" fmla="val 1538"/>
            </a:avLst>
          </a:prstGeom>
          <a:solidFill>
            <a:srgbClr val="EAEEF4"/>
          </a:solidFill>
          <a:ln w="15875">
            <a:solidFill>
              <a:srgbClr val="9FB1C8"/>
            </a:solidFill>
            <a:prstDash val="dash"/>
          </a:ln>
        </p:spPr>
      </p:sp>
      <p:pic>
        <p:nvPicPr>
          <p:cNvPr id="21" name="Image 4" descr="/sessions/blissful-zealous-babbage/mnt/outputs/ppt/icons/database_64748B.png">    </p:cNvPr>
          <p:cNvPicPr>
            <a:picLocks noChangeAspect="1"/>
          </p:cNvPicPr>
          <p:nvPr/>
        </p:nvPicPr>
        <p:blipFill>
          <a:blip r:embed="rId5"/>
          <a:stretch>
            <a:fillRect/>
          </a:stretch>
        </p:blipFill>
        <p:spPr>
          <a:xfrm>
            <a:off x="9249156" y="2498141"/>
            <a:ext cx="566928" cy="566928"/>
          </a:xfrm>
          <a:prstGeom prst="rect">
            <a:avLst/>
          </a:prstGeom>
        </p:spPr>
      </p:pic>
      <p:sp>
        <p:nvSpPr>
          <p:cNvPr id="22" name="Text 15"/>
          <p:cNvSpPr/>
          <p:nvPr/>
        </p:nvSpPr>
        <p:spPr>
          <a:xfrm>
            <a:off x="7543800" y="2980030"/>
            <a:ext cx="397764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PHOTO / SCHEMATIC</a:t>
            </a:r>
            <a:endParaRPr lang="en-US" sz="1300" dirty="0"/>
          </a:p>
        </p:txBody>
      </p:sp>
      <p:sp>
        <p:nvSpPr>
          <p:cNvPr id="23" name="Text 16"/>
          <p:cNvSpPr/>
          <p:nvPr/>
        </p:nvSpPr>
        <p:spPr>
          <a:xfrm>
            <a:off x="7635240" y="3327502"/>
            <a:ext cx="379476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lab PCB, oscilloscope capture, or</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simulation workstation photo</a:t>
            </a:r>
            <a:endParaRPr lang="en-US" sz="105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Real-World Cost of an Undiagnosed Fault</a:t>
            </a:r>
            <a:endParaRPr lang="en-US" sz="3000" dirty="0"/>
          </a:p>
        </p:txBody>
      </p:sp>
      <p:sp>
        <p:nvSpPr>
          <p:cNvPr id="4" name="Text 2"/>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Component drift and disconnects rarely announce themselves. A few examples of what's at stake:</a:t>
            </a:r>
            <a:endParaRPr lang="en-US" sz="1300" dirty="0"/>
          </a:p>
        </p:txBody>
      </p:sp>
      <p:sp>
        <p:nvSpPr>
          <p:cNvPr id="5" name="Shape 3"/>
          <p:cNvSpPr/>
          <p:nvPr/>
        </p:nvSpPr>
        <p:spPr>
          <a:xfrm>
            <a:off x="50292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flask_00B4D8.png">    </p:cNvPr>
          <p:cNvPicPr>
            <a:picLocks noChangeAspect="1"/>
          </p:cNvPicPr>
          <p:nvPr/>
        </p:nvPicPr>
        <p:blipFill>
          <a:blip r:embed="rId1"/>
          <a:stretch>
            <a:fillRect/>
          </a:stretch>
        </p:blipFill>
        <p:spPr>
          <a:xfrm>
            <a:off x="835487" y="2572847"/>
            <a:ext cx="413857" cy="413857"/>
          </a:xfrm>
          <a:prstGeom prst="rect">
            <a:avLst/>
          </a:prstGeom>
        </p:spPr>
      </p:pic>
      <p:sp>
        <p:nvSpPr>
          <p:cNvPr id="8" name="Text 5"/>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Medical devices</a:t>
            </a:r>
            <a:endParaRPr lang="en-US" sz="1400" dirty="0"/>
          </a:p>
        </p:txBody>
      </p:sp>
      <p:sp>
        <p:nvSpPr>
          <p:cNvPr id="9" name="Text 6"/>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filter stage in a patient monitor can quietly shift a threshold reading long before an alarm ever fires.</a:t>
            </a:r>
            <a:endParaRPr lang="en-US" sz="1050" dirty="0"/>
          </a:p>
        </p:txBody>
      </p:sp>
      <p:sp>
        <p:nvSpPr>
          <p:cNvPr id="10" name="Shape 7"/>
          <p:cNvSpPr/>
          <p:nvPr/>
        </p:nvSpPr>
        <p:spPr>
          <a:xfrm>
            <a:off x="612648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signal_00B4D8.png">    </p:cNvPr>
          <p:cNvPicPr>
            <a:picLocks noChangeAspect="1"/>
          </p:cNvPicPr>
          <p:nvPr/>
        </p:nvPicPr>
        <p:blipFill>
          <a:blip r:embed="rId2"/>
          <a:stretch>
            <a:fillRect/>
          </a:stretch>
        </p:blipFill>
        <p:spPr>
          <a:xfrm>
            <a:off x="6459047" y="2572847"/>
            <a:ext cx="413857" cy="413857"/>
          </a:xfrm>
          <a:prstGeom prst="rect">
            <a:avLst/>
          </a:prstGeom>
        </p:spPr>
      </p:pic>
      <p:sp>
        <p:nvSpPr>
          <p:cNvPr id="13" name="Text 9"/>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Communication links</a:t>
            </a:r>
            <a:endParaRPr lang="en-US" sz="1400" dirty="0"/>
          </a:p>
        </p:txBody>
      </p:sp>
      <p:sp>
        <p:nvSpPr>
          <p:cNvPr id="14" name="Text 10"/>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degraded low-pass filter changes a receiver's bandwidth, raising bit-error rates without any visible failure.</a:t>
            </a:r>
            <a:endParaRPr lang="en-US" sz="1050" dirty="0"/>
          </a:p>
        </p:txBody>
      </p:sp>
      <p:sp>
        <p:nvSpPr>
          <p:cNvPr id="15" name="Shape 11"/>
          <p:cNvSpPr/>
          <p:nvPr/>
        </p:nvSpPr>
        <p:spPr>
          <a:xfrm>
            <a:off x="50292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6" name="Shape 12"/>
          <p:cNvSpPr/>
          <p:nvPr/>
        </p:nvSpPr>
        <p:spPr>
          <a:xfrm>
            <a:off x="75895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2" descr="/sessions/blissful-zealous-babbage/mnt/outputs/ppt/icons/cogs_00B4D8.png">    </p:cNvPr>
          <p:cNvPicPr>
            <a:picLocks noChangeAspect="1"/>
          </p:cNvPicPr>
          <p:nvPr/>
        </p:nvPicPr>
        <p:blipFill>
          <a:blip r:embed="rId3"/>
          <a:stretch>
            <a:fillRect/>
          </a:stretch>
        </p:blipFill>
        <p:spPr>
          <a:xfrm>
            <a:off x="835487" y="4611959"/>
            <a:ext cx="413857" cy="413857"/>
          </a:xfrm>
          <a:prstGeom prst="rect">
            <a:avLst/>
          </a:prstGeom>
        </p:spPr>
      </p:pic>
      <p:sp>
        <p:nvSpPr>
          <p:cNvPr id="18" name="Text 13"/>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Power electronics</a:t>
            </a:r>
            <a:endParaRPr lang="en-US" sz="1400" dirty="0"/>
          </a:p>
        </p:txBody>
      </p:sp>
      <p:sp>
        <p:nvSpPr>
          <p:cNvPr id="19" name="Text 14"/>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or shorted component in a regulator stage can shorten the life of every downstream part it feeds.</a:t>
            </a:r>
            <a:endParaRPr lang="en-US" sz="1050" dirty="0"/>
          </a:p>
        </p:txBody>
      </p:sp>
      <p:sp>
        <p:nvSpPr>
          <p:cNvPr id="20" name="Shape 15"/>
          <p:cNvSpPr/>
          <p:nvPr/>
        </p:nvSpPr>
        <p:spPr>
          <a:xfrm>
            <a:off x="612648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1" name="Shape 16"/>
          <p:cNvSpPr/>
          <p:nvPr/>
        </p:nvSpPr>
        <p:spPr>
          <a:xfrm>
            <a:off x="638251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2" name="Image 3" descr="/sessions/blissful-zealous-babbage/mnt/outputs/ppt/icons/laptop_00B4D8.png">    </p:cNvPr>
          <p:cNvPicPr>
            <a:picLocks noChangeAspect="1"/>
          </p:cNvPicPr>
          <p:nvPr/>
        </p:nvPicPr>
        <p:blipFill>
          <a:blip r:embed="rId4"/>
          <a:stretch>
            <a:fillRect/>
          </a:stretch>
        </p:blipFill>
        <p:spPr>
          <a:xfrm>
            <a:off x="6459047" y="4611959"/>
            <a:ext cx="413857" cy="413857"/>
          </a:xfrm>
          <a:prstGeom prst="rect">
            <a:avLst/>
          </a:prstGeom>
        </p:spPr>
      </p:pic>
      <p:sp>
        <p:nvSpPr>
          <p:cNvPr id="23" name="Text 17"/>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Automotive sensors</a:t>
            </a:r>
            <a:endParaRPr lang="en-US" sz="1400" dirty="0"/>
          </a:p>
        </p:txBody>
      </p:sp>
      <p:sp>
        <p:nvSpPr>
          <p:cNvPr id="24" name="Text 18"/>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Analog sensor front-ends drift with temperature and age; catching this early prevents cascading failures.</a:t>
            </a:r>
            <a:endParaRPr lang="en-US" sz="105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This Problem Is Genuinely Hard</a:t>
            </a:r>
            <a:endParaRPr lang="en-US" sz="3000" dirty="0"/>
          </a:p>
        </p:txBody>
      </p:sp>
      <p:sp>
        <p:nvSpPr>
          <p:cNvPr id="4" name="Shape 2"/>
          <p:cNvSpPr/>
          <p:nvPr/>
        </p:nvSpPr>
        <p:spPr>
          <a:xfrm>
            <a:off x="502920" y="178308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continuous, not binary</a:t>
            </a:r>
            <a:endParaRPr lang="en-US" sz="1450" dirty="0"/>
          </a:p>
        </p:txBody>
      </p:sp>
      <p:sp>
        <p:nvSpPr>
          <p:cNvPr id="7" name="Text 4"/>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Drift isn't a switch — a resistor slides gradually from healthy to faulty, so “normal” and “drift” can look nearly identical near the boundary.</a:t>
            </a:r>
            <a:endParaRPr lang="en-US" sz="1150" dirty="0"/>
          </a:p>
        </p:txBody>
      </p:sp>
      <p:sp>
        <p:nvSpPr>
          <p:cNvPr id="8" name="Shape 5"/>
          <p:cNvSpPr/>
          <p:nvPr/>
        </p:nvSpPr>
        <p:spPr>
          <a:xfrm>
            <a:off x="502920" y="283464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0" name="Text 6"/>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Signatures overlap across circuits</a:t>
            </a:r>
            <a:endParaRPr lang="en-US" sz="1450" dirty="0"/>
          </a:p>
        </p:txBody>
      </p:sp>
      <p:sp>
        <p:nvSpPr>
          <p:cNvPr id="11" name="Text 7"/>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An “open” fault looks similar (flat, non-charging output) whether it happens in an RC filter or an RLC network — the model must tell topology and fault apart together.</a:t>
            </a:r>
            <a:endParaRPr lang="en-US" sz="1150" dirty="0"/>
          </a:p>
        </p:txBody>
      </p:sp>
      <p:sp>
        <p:nvSpPr>
          <p:cNvPr id="12" name="Shape 8"/>
          <p:cNvSpPr/>
          <p:nvPr/>
        </p:nvSpPr>
        <p:spPr>
          <a:xfrm>
            <a:off x="502920" y="388620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4" name="Text 9"/>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20 classes from limited data</a:t>
            </a:r>
            <a:endParaRPr lang="en-US" sz="1450" dirty="0"/>
          </a:p>
        </p:txBody>
      </p:sp>
      <p:sp>
        <p:nvSpPr>
          <p:cNvPr id="15" name="Text 10"/>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4 circuits × 5 faults = 20 classes to separate from just ~1,019 simulated samples — roughly 50 examples per class.</a:t>
            </a:r>
            <a:endParaRPr lang="en-US" sz="1150" dirty="0"/>
          </a:p>
        </p:txBody>
      </p:sp>
      <p:sp>
        <p:nvSpPr>
          <p:cNvPr id="16" name="Shape 11"/>
          <p:cNvSpPr/>
          <p:nvPr/>
        </p:nvSpPr>
        <p:spPr>
          <a:xfrm>
            <a:off x="502920" y="493776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8" name="Text 12"/>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Simulation vs. reality gap</a:t>
            </a:r>
            <a:endParaRPr lang="en-US" sz="1450" dirty="0"/>
          </a:p>
        </p:txBody>
      </p:sp>
      <p:sp>
        <p:nvSpPr>
          <p:cNvPr id="19" name="Text 13"/>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LTspice gives clean, repeatable waveforms; real hardware adds temperature drift, tolerances and parasitic effects simulation can't fully capture.</a:t>
            </a:r>
            <a:endParaRPr lang="en-US" sz="115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This Fits in the Literature</a:t>
            </a:r>
            <a:endParaRPr lang="en-US" sz="3000" dirty="0"/>
          </a:p>
        </p:txBody>
      </p:sp>
      <p:sp>
        <p:nvSpPr>
          <p:cNvPr id="4" name="Text 2"/>
          <p:cNvSpPr/>
          <p:nvPr/>
        </p:nvSpPr>
        <p:spPr>
          <a:xfrm>
            <a:off x="502920" y="1691640"/>
            <a:ext cx="10607040" cy="502920"/>
          </a:xfrm>
          <a:prstGeom prst="rect">
            <a:avLst/>
          </a:prstGeom>
          <a:noFill/>
          <a:ln/>
        </p:spPr>
        <p:txBody>
          <a:bodyPr wrap="square" lIns="0" tIns="0" rIns="0" bIns="0" rtlCol="0" anchor="ctr"/>
          <a:lstStyle/>
          <a:p>
            <a:pPr indent="0" marL="0">
              <a:lnSpc>
                <a:spcPct val="125000"/>
              </a:lnSpc>
              <a:buNone/>
            </a:pPr>
            <a:r>
              <a:rPr lang="en-US" sz="1250" i="1" dirty="0">
                <a:solidFill>
                  <a:srgbClr val="64748B"/>
                </a:solidFill>
                <a:latin typeface="Calibri" pitchFamily="34" charset="0"/>
                <a:ea typeface="Calibri" pitchFamily="34" charset="-122"/>
                <a:cs typeface="Calibri" pitchFamily="34" charset="-120"/>
              </a:rPr>
              <a:t>Analog fault diagnosis has a real research history — this project sits inside an established, active line of work rather than starting from a blank page.</a:t>
            </a:r>
            <a:endParaRPr lang="en-US" sz="1250" dirty="0"/>
          </a:p>
        </p:txBody>
      </p:sp>
      <p:sp>
        <p:nvSpPr>
          <p:cNvPr id="5" name="Shape 3"/>
          <p:cNvSpPr/>
          <p:nvPr/>
        </p:nvSpPr>
        <p:spPr>
          <a:xfrm>
            <a:off x="502920" y="23317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database_00B4D8.png">    </p:cNvPr>
          <p:cNvPicPr>
            <a:picLocks noChangeAspect="1"/>
          </p:cNvPicPr>
          <p:nvPr/>
        </p:nvPicPr>
        <p:blipFill>
          <a:blip r:embed="rId1"/>
          <a:stretch>
            <a:fillRect/>
          </a:stretch>
        </p:blipFill>
        <p:spPr>
          <a:xfrm>
            <a:off x="576986" y="2405786"/>
            <a:ext cx="400507" cy="400507"/>
          </a:xfrm>
          <a:prstGeom prst="rect">
            <a:avLst/>
          </a:prstGeom>
        </p:spPr>
      </p:pic>
      <p:sp>
        <p:nvSpPr>
          <p:cNvPr id="7" name="Text 4"/>
          <p:cNvSpPr/>
          <p:nvPr/>
        </p:nvSpPr>
        <p:spPr>
          <a:xfrm>
            <a:off x="1234440" y="2304288"/>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Classical: fault dictionaries &amp; sensitivity analysis</a:t>
            </a:r>
            <a:endParaRPr lang="en-US" sz="1300" dirty="0"/>
          </a:p>
        </p:txBody>
      </p:sp>
      <p:sp>
        <p:nvSpPr>
          <p:cNvPr id="8" name="Text 5"/>
          <p:cNvSpPr/>
          <p:nvPr/>
        </p:nvSpPr>
        <p:spPr>
          <a:xfrm>
            <a:off x="1234440" y="2651760"/>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9" name="Shape 6"/>
          <p:cNvSpPr/>
          <p:nvPr/>
        </p:nvSpPr>
        <p:spPr>
          <a:xfrm>
            <a:off x="502920" y="3502152"/>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6986" y="3576218"/>
            <a:ext cx="400507" cy="400507"/>
          </a:xfrm>
          <a:prstGeom prst="rect">
            <a:avLst/>
          </a:prstGeom>
        </p:spPr>
      </p:pic>
      <p:sp>
        <p:nvSpPr>
          <p:cNvPr id="11" name="Text 7"/>
          <p:cNvSpPr/>
          <p:nvPr/>
        </p:nvSpPr>
        <p:spPr>
          <a:xfrm>
            <a:off x="1234440" y="3474720"/>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standard split this project mirrors: soft vs. hard faults</a:t>
            </a:r>
            <a:endParaRPr lang="en-US" sz="1300" dirty="0"/>
          </a:p>
        </p:txBody>
      </p:sp>
      <p:sp>
        <p:nvSpPr>
          <p:cNvPr id="12" name="Text 8"/>
          <p:cNvSpPr/>
          <p:nvPr/>
        </p:nvSpPr>
        <p:spPr>
          <a:xfrm>
            <a:off x="1234440" y="3822192"/>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3" name="Shape 9"/>
          <p:cNvSpPr/>
          <p:nvPr/>
        </p:nvSpPr>
        <p:spPr>
          <a:xfrm>
            <a:off x="502920" y="4672584"/>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brain_00B4D8.png">    </p:cNvPr>
          <p:cNvPicPr>
            <a:picLocks noChangeAspect="1"/>
          </p:cNvPicPr>
          <p:nvPr/>
        </p:nvPicPr>
        <p:blipFill>
          <a:blip r:embed="rId3"/>
          <a:stretch>
            <a:fillRect/>
          </a:stretch>
        </p:blipFill>
        <p:spPr>
          <a:xfrm>
            <a:off x="576986" y="4746650"/>
            <a:ext cx="400507" cy="400507"/>
          </a:xfrm>
          <a:prstGeom prst="rect">
            <a:avLst/>
          </a:prstGeom>
        </p:spPr>
      </p:pic>
      <p:sp>
        <p:nvSpPr>
          <p:cNvPr id="15" name="Text 10"/>
          <p:cNvSpPr/>
          <p:nvPr/>
        </p:nvSpPr>
        <p:spPr>
          <a:xfrm>
            <a:off x="1234440" y="4645152"/>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Machine-learning classifiers are now the mainstream approach</a:t>
            </a:r>
            <a:endParaRPr lang="en-US" sz="1300" dirty="0"/>
          </a:p>
        </p:txBody>
      </p:sp>
      <p:sp>
        <p:nvSpPr>
          <p:cNvPr id="16" name="Text 11"/>
          <p:cNvSpPr/>
          <p:nvPr/>
        </p:nvSpPr>
        <p:spPr>
          <a:xfrm>
            <a:off x="1234440" y="4992624"/>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7" name="Shape 12"/>
          <p:cNvSpPr/>
          <p:nvPr/>
        </p:nvSpPr>
        <p:spPr>
          <a:xfrm>
            <a:off x="502920" y="5870448"/>
            <a:ext cx="10607040" cy="548640"/>
          </a:xfrm>
          <a:prstGeom prst="roundRect">
            <a:avLst>
              <a:gd name="adj" fmla="val 13333"/>
            </a:avLst>
          </a:prstGeom>
          <a:solidFill>
            <a:srgbClr val="0B1F3A"/>
          </a:solidFill>
          <a:ln/>
          <a:effectLst>
            <a:outerShdw sx="100000" sy="100000" kx="0" ky="0" algn="bl" rotWithShape="0" blurRad="114300" dist="38100" dir="2700000">
              <a:srgbClr val="0B1F3A">
                <a:alpha val="14000"/>
              </a:srgbClr>
            </a:outerShdw>
          </a:effectLst>
        </p:spPr>
      </p:sp>
      <p:sp>
        <p:nvSpPr>
          <p:cNvPr id="18" name="Text 13"/>
          <p:cNvSpPr/>
          <p:nvPr/>
        </p:nvSpPr>
        <p:spPr>
          <a:xfrm>
            <a:off x="758952" y="5870448"/>
            <a:ext cx="10104120" cy="548640"/>
          </a:xfrm>
          <a:prstGeom prst="rect">
            <a:avLst/>
          </a:prstGeom>
          <a:noFill/>
          <a:ln/>
        </p:spPr>
        <p:txBody>
          <a:bodyPr wrap="square" lIns="0" tIns="0" rIns="0" bIns="0" rtlCol="0" anchor="ctr"/>
          <a:lstStyle/>
          <a:p>
            <a:pPr indent="0" marL="0">
              <a:lnSpc>
                <a:spcPct val="112000"/>
              </a:lnSpc>
              <a:buNone/>
            </a:pPr>
            <a:r>
              <a:rPr lang="en-US" sz="930" b="1" dirty="0">
                <a:solidFill>
                  <a:srgbClr val="FFB703"/>
                </a:solidFill>
                <a:latin typeface="Calibri" pitchFamily="34" charset="0"/>
                <a:ea typeface="Calibri" pitchFamily="34" charset="-122"/>
                <a:cs typeface="Calibri" pitchFamily="34" charset="-120"/>
              </a:rPr>
              <a:t>What differs here: </a:t>
            </a:r>
            <a:pPr indent="0" marL="0">
              <a:lnSpc>
                <a:spcPct val="112000"/>
              </a:lnSpc>
              <a:buNone/>
            </a:pPr>
            <a:r>
              <a:rPr lang="en-US" sz="930" dirty="0">
                <a:solidFill>
                  <a:srgbClr val="E7ECF4"/>
                </a:solidFill>
                <a:latin typeface="Calibri" pitchFamily="34" charset="0"/>
                <a:ea typeface="Calibri" pitchFamily="34" charset="-122"/>
                <a:cs typeface="Calibri"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PROBLEM STATEMENT &amp; OBJECTIVE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One Waveform In. One Diagnosis Out.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Given the transient output voltage of an unknown analog circuit, automatically identify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circuit topology</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and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of five fault conditions</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currently experiencing — a 20-class classification problem solved end-to-end with physics-based simulation and a tuned SVM.</a:t>
            </a:r>
            <a:endParaRPr lang="en-US" sz="1400" dirty="0"/>
          </a:p>
        </p:txBody>
      </p:sp>
      <p:sp>
        <p:nvSpPr>
          <p:cNvPr id="5" name="Shape 3"/>
          <p:cNvSpPr/>
          <p:nvPr/>
        </p:nvSpPr>
        <p:spPr>
          <a:xfrm>
            <a:off x="502920"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4</a:t>
            </a:r>
            <a:endParaRPr lang="en-US" sz="3600" dirty="0"/>
          </a:p>
        </p:txBody>
      </p:sp>
      <p:sp>
        <p:nvSpPr>
          <p:cNvPr id="7" name="Text 5"/>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Circuit Topologies</a:t>
            </a:r>
            <a:endParaRPr lang="en-US" sz="1250" dirty="0"/>
          </a:p>
        </p:txBody>
      </p:sp>
      <p:sp>
        <p:nvSpPr>
          <p:cNvPr id="8" name="Text 6"/>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RC · RLC · Sallen-Key · RC Ladder</a:t>
            </a:r>
            <a:endParaRPr lang="en-US" sz="900" dirty="0"/>
          </a:p>
        </p:txBody>
      </p:sp>
      <p:sp>
        <p:nvSpPr>
          <p:cNvPr id="9" name="Shape 7"/>
          <p:cNvSpPr/>
          <p:nvPr/>
        </p:nvSpPr>
        <p:spPr>
          <a:xfrm>
            <a:off x="3300984"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0" name="Text 8"/>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Types</a:t>
            </a:r>
            <a:endParaRPr lang="en-US" sz="1250" dirty="0"/>
          </a:p>
        </p:txBody>
      </p:sp>
      <p:sp>
        <p:nvSpPr>
          <p:cNvPr id="12" name="Text 10"/>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Normal, Drift, Open, Short, Noise</a:t>
            </a:r>
            <a:endParaRPr lang="en-US" sz="900" dirty="0"/>
          </a:p>
        </p:txBody>
      </p:sp>
      <p:sp>
        <p:nvSpPr>
          <p:cNvPr id="13" name="Shape 11"/>
          <p:cNvSpPr/>
          <p:nvPr/>
        </p:nvSpPr>
        <p:spPr>
          <a:xfrm>
            <a:off x="6099048"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4" name="Text 12"/>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20</a:t>
            </a:r>
            <a:endParaRPr lang="en-US" sz="3600" dirty="0"/>
          </a:p>
        </p:txBody>
      </p:sp>
      <p:sp>
        <p:nvSpPr>
          <p:cNvPr id="15" name="Text 13"/>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Total Classes</a:t>
            </a:r>
            <a:endParaRPr lang="en-US" sz="1250" dirty="0"/>
          </a:p>
        </p:txBody>
      </p:sp>
      <p:sp>
        <p:nvSpPr>
          <p:cNvPr id="16" name="Text 14"/>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4 circuits × 5 fault conditions</a:t>
            </a:r>
            <a:endParaRPr lang="en-US" sz="900" dirty="0"/>
          </a:p>
        </p:txBody>
      </p:sp>
      <p:sp>
        <p:nvSpPr>
          <p:cNvPr id="17" name="Shape 15"/>
          <p:cNvSpPr/>
          <p:nvPr/>
        </p:nvSpPr>
        <p:spPr>
          <a:xfrm>
            <a:off x="8897112"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1019</a:t>
            </a:r>
            <a:endParaRPr lang="en-US" sz="3600" dirty="0"/>
          </a:p>
        </p:txBody>
      </p:sp>
      <p:sp>
        <p:nvSpPr>
          <p:cNvPr id="19" name="Text 17"/>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Real Samples</a:t>
            </a:r>
            <a:endParaRPr lang="en-US" sz="1250" dirty="0"/>
          </a:p>
        </p:txBody>
      </p:sp>
      <p:sp>
        <p:nvSpPr>
          <p:cNvPr id="20" name="Text 18"/>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From physics-based LTspice sweeps</a:t>
            </a:r>
            <a:endParaRPr lang="en-US" sz="900" dirty="0"/>
          </a:p>
        </p:txBody>
      </p:sp>
      <p:sp>
        <p:nvSpPr>
          <p:cNvPr id="21" name="Shape 19"/>
          <p:cNvSpPr/>
          <p:nvPr/>
        </p:nvSpPr>
        <p:spPr>
          <a:xfrm>
            <a:off x="502920" y="4663440"/>
            <a:ext cx="10607040" cy="1325880"/>
          </a:xfrm>
          <a:prstGeom prst="roundRect">
            <a:avLst>
              <a:gd name="adj" fmla="val 620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2" name="Shape 20"/>
          <p:cNvSpPr/>
          <p:nvPr/>
        </p:nvSpPr>
        <p:spPr>
          <a:xfrm>
            <a:off x="777240" y="4956048"/>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23" name="Image 0" descr="/sessions/blissful-zealous-babbage/mnt/outputs/ppt/icons/bulb_0B1F3A.png">    </p:cNvPr>
          <p:cNvPicPr>
            <a:picLocks noChangeAspect="1"/>
          </p:cNvPicPr>
          <p:nvPr/>
        </p:nvPicPr>
        <p:blipFill>
          <a:blip r:embed="rId1"/>
          <a:stretch>
            <a:fillRect/>
          </a:stretch>
        </p:blipFill>
        <p:spPr>
          <a:xfrm>
            <a:off x="861182" y="5039990"/>
            <a:ext cx="453908" cy="453908"/>
          </a:xfrm>
          <a:prstGeom prst="rect">
            <a:avLst/>
          </a:prstGeom>
        </p:spPr>
      </p:pic>
      <p:sp>
        <p:nvSpPr>
          <p:cNvPr id="24" name="Text 21"/>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0B1F3A"/>
                </a:solidFill>
                <a:latin typeface="Calibri" pitchFamily="34" charset="0"/>
                <a:ea typeface="Calibri" pitchFamily="34" charset="-122"/>
                <a:cs typeface="Calibri" pitchFamily="34" charset="-120"/>
              </a:rPr>
              <a:t>What's novel here: </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5"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Ways an Analog Circuit Can Misbehave</a:t>
            </a:r>
            <a:endParaRPr lang="en-US" sz="3000" dirty="0"/>
          </a:p>
        </p:txBody>
      </p:sp>
      <p:sp>
        <p:nvSpPr>
          <p:cNvPr id="4" name="Shape 2"/>
          <p:cNvSpPr/>
          <p:nvPr/>
        </p:nvSpPr>
        <p:spPr>
          <a:xfrm>
            <a:off x="502920"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170432" y="2121408"/>
            <a:ext cx="731520" cy="731520"/>
          </a:xfrm>
          <a:prstGeom prst="ellipse">
            <a:avLst/>
          </a:prstGeom>
          <a:solidFill>
            <a:srgbClr val="5EAE7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7" name="Text 4"/>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Normal</a:t>
            </a:r>
            <a:endParaRPr lang="en-US" sz="1700" dirty="0"/>
          </a:p>
        </p:txBody>
      </p:sp>
      <p:sp>
        <p:nvSpPr>
          <p:cNvPr id="8" name="Text 5"/>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Component values sit at their nominal, healthy design point.</a:t>
            </a:r>
            <a:endParaRPr lang="en-US" sz="1050" dirty="0"/>
          </a:p>
        </p:txBody>
      </p:sp>
      <p:sp>
        <p:nvSpPr>
          <p:cNvPr id="9" name="Shape 6"/>
          <p:cNvSpPr/>
          <p:nvPr/>
        </p:nvSpPr>
        <p:spPr>
          <a:xfrm>
            <a:off x="2738628"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3406140" y="2121408"/>
            <a:ext cx="731520" cy="73152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2" name="Text 8"/>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Drift</a:t>
            </a:r>
            <a:endParaRPr lang="en-US" sz="1700" dirty="0"/>
          </a:p>
        </p:txBody>
      </p:sp>
      <p:sp>
        <p:nvSpPr>
          <p:cNvPr id="13" name="Text 9"/>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value slowly shifts from nominal — aging, temperature, wear.</a:t>
            </a:r>
            <a:endParaRPr lang="en-US" sz="1050" dirty="0"/>
          </a:p>
        </p:txBody>
      </p:sp>
      <p:sp>
        <p:nvSpPr>
          <p:cNvPr id="14" name="Shape 10"/>
          <p:cNvSpPr/>
          <p:nvPr/>
        </p:nvSpPr>
        <p:spPr>
          <a:xfrm>
            <a:off x="4974336"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5641848" y="2121408"/>
            <a:ext cx="731520" cy="7315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7" name="Text 12"/>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Open</a:t>
            </a:r>
            <a:endParaRPr lang="en-US" sz="1700" dirty="0"/>
          </a:p>
        </p:txBody>
      </p:sp>
      <p:sp>
        <p:nvSpPr>
          <p:cNvPr id="18" name="Text 13"/>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disconnects entirely — an infinite-resistance break in the path.</a:t>
            </a:r>
            <a:endParaRPr lang="en-US" sz="1050" dirty="0"/>
          </a:p>
        </p:txBody>
      </p:sp>
      <p:sp>
        <p:nvSpPr>
          <p:cNvPr id="19" name="Shape 14"/>
          <p:cNvSpPr/>
          <p:nvPr/>
        </p:nvSpPr>
        <p:spPr>
          <a:xfrm>
            <a:off x="7210044"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877556" y="2121408"/>
            <a:ext cx="731520" cy="73152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2" name="Text 16"/>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Short</a:t>
            </a:r>
            <a:endParaRPr lang="en-US" sz="1700" dirty="0"/>
          </a:p>
        </p:txBody>
      </p:sp>
      <p:sp>
        <p:nvSpPr>
          <p:cNvPr id="23" name="Text 17"/>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is bypassed — a near-zero-resistance path forms across it.</a:t>
            </a:r>
            <a:endParaRPr lang="en-US" sz="1050" dirty="0"/>
          </a:p>
        </p:txBody>
      </p:sp>
      <p:sp>
        <p:nvSpPr>
          <p:cNvPr id="24" name="Shape 18"/>
          <p:cNvSpPr/>
          <p:nvPr/>
        </p:nvSpPr>
        <p:spPr>
          <a:xfrm>
            <a:off x="9445752"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0113264" y="2121408"/>
            <a:ext cx="731520" cy="731520"/>
          </a:xfrm>
          <a:prstGeom prst="ellipse">
            <a:avLst/>
          </a:prstGeom>
          <a:solidFill>
            <a:srgbClr val="8E5AA8"/>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7" name="Text 20"/>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Noise</a:t>
            </a:r>
            <a:endParaRPr lang="en-US" sz="1700" dirty="0"/>
          </a:p>
        </p:txBody>
      </p:sp>
      <p:sp>
        <p:nvSpPr>
          <p:cNvPr id="28" name="Text 21"/>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Random disturbance is superimposed on an otherwise healthy signal.</a:t>
            </a:r>
            <a:endParaRPr lang="en-US" sz="1050" dirty="0"/>
          </a:p>
        </p:txBody>
      </p:sp>
      <p:sp>
        <p:nvSpPr>
          <p:cNvPr id="29"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0"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Drift</a:t>
            </a:r>
            <a:endParaRPr lang="en-US" sz="3000" dirty="0"/>
          </a:p>
        </p:txBody>
      </p:sp>
      <p:sp>
        <p:nvSpPr>
          <p:cNvPr id="4" name="Text 2"/>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Drift models a component value that has </a:t>
            </a:r>
            <a:pPr indent="0" marL="0">
              <a:lnSpc>
                <a:spcPct val="130000"/>
              </a:lnSpc>
              <a:buNone/>
            </a:pPr>
            <a:r>
              <a:rPr lang="en-US" sz="1350" b="1" i="1" dirty="0">
                <a:solidFill>
                  <a:srgbClr val="0B1F3A"/>
                </a:solidFill>
                <a:latin typeface="Calibri" pitchFamily="34" charset="0"/>
                <a:ea typeface="Calibri" pitchFamily="34" charset="-122"/>
                <a:cs typeface="Calibri" pitchFamily="34" charset="-120"/>
              </a:rPr>
              <a:t>gradually</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moved away from its design value — the most physically realistic and hardest-to-catch fault, since aging and temperature affect every real component.</a:t>
            </a:r>
            <a:endParaRPr lang="en-US" sz="1350" dirty="0"/>
          </a:p>
        </p:txBody>
      </p:sp>
      <p:sp>
        <p:nvSpPr>
          <p:cNvPr id="5" name="Shape 3"/>
          <p:cNvSpPr/>
          <p:nvPr/>
        </p:nvSpPr>
        <p:spPr>
          <a:xfrm>
            <a:off x="502920" y="2971800"/>
            <a:ext cx="576072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7" name="Text 5"/>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8" name="Shape 6"/>
          <p:cNvSpPr/>
          <p:nvPr/>
        </p:nvSpPr>
        <p:spPr>
          <a:xfrm>
            <a:off x="6675120" y="1783080"/>
            <a:ext cx="4434840" cy="3749040"/>
          </a:xfrm>
          <a:prstGeom prst="roundRect">
            <a:avLst>
              <a:gd name="adj" fmla="val 219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9" name="Shape 7"/>
          <p:cNvSpPr/>
          <p:nvPr/>
        </p:nvSpPr>
        <p:spPr>
          <a:xfrm>
            <a:off x="6949440" y="2057400"/>
            <a:ext cx="566928" cy="56692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0" name="Image 0" descr="/sessions/blissful-zealous-babbage/mnt/outputs/ppt/icons/warn_0B1F3A.png">    </p:cNvPr>
          <p:cNvPicPr>
            <a:picLocks noChangeAspect="1"/>
          </p:cNvPicPr>
          <p:nvPr/>
        </p:nvPicPr>
        <p:blipFill>
          <a:blip r:embed="rId1"/>
          <a:stretch>
            <a:fillRect/>
          </a:stretch>
        </p:blipFill>
        <p:spPr>
          <a:xfrm>
            <a:off x="7025975" y="2133935"/>
            <a:ext cx="413857" cy="413857"/>
          </a:xfrm>
          <a:prstGeom prst="rect">
            <a:avLst/>
          </a:prstGeom>
        </p:spPr>
      </p:pic>
      <p:sp>
        <p:nvSpPr>
          <p:cNvPr id="11" name="Text 8"/>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it's the hardest fault</a:t>
            </a:r>
            <a:endParaRPr lang="en-US" sz="1350" dirty="0"/>
          </a:p>
        </p:txBody>
      </p:sp>
      <p:sp>
        <p:nvSpPr>
          <p:cNvPr id="12" name="Text 9"/>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Open &amp; Short</a:t>
            </a:r>
            <a:endParaRPr lang="en-US" sz="3000" dirty="0"/>
          </a:p>
        </p:txBody>
      </p:sp>
      <p:sp>
        <p:nvSpPr>
          <p:cNvPr id="4" name="Shape 2"/>
          <p:cNvSpPr/>
          <p:nvPr/>
        </p:nvSpPr>
        <p:spPr>
          <a:xfrm>
            <a:off x="50292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05740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plug_00B4D8.png">    </p:cNvPr>
          <p:cNvPicPr>
            <a:picLocks noChangeAspect="1"/>
          </p:cNvPicPr>
          <p:nvPr/>
        </p:nvPicPr>
        <p:blipFill>
          <a:blip r:embed="rId1"/>
          <a:stretch>
            <a:fillRect/>
          </a:stretch>
        </p:blipFill>
        <p:spPr>
          <a:xfrm>
            <a:off x="857479" y="2137639"/>
            <a:ext cx="433883" cy="433883"/>
          </a:xfrm>
          <a:prstGeom prst="rect">
            <a:avLst/>
          </a:prstGeom>
        </p:spPr>
      </p:pic>
      <p:sp>
        <p:nvSpPr>
          <p:cNvPr id="7" name="Text 4"/>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Open: resistance to infinity</a:t>
            </a:r>
            <a:endParaRPr lang="en-US" sz="1450" dirty="0"/>
          </a:p>
        </p:txBody>
      </p:sp>
      <p:sp>
        <p:nvSpPr>
          <p:cNvPr id="8" name="Shape 5"/>
          <p:cNvSpPr/>
          <p:nvPr/>
        </p:nvSpPr>
        <p:spPr>
          <a:xfrm>
            <a:off x="77724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9" name="Text 6"/>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R_open -&gt; infinity  (no current path)</a:t>
            </a:r>
            <a:endParaRPr lang="en-US" sz="1350" dirty="0"/>
          </a:p>
        </p:txBody>
      </p:sp>
      <p:sp>
        <p:nvSpPr>
          <p:cNvPr id="10" name="Text 7"/>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This project's RC circuit models “open” by sweeping the resistor from 1 megaohm to 1 gigaohm with .step param — effectively blocking the charging path so Vout never rises.</a:t>
            </a:r>
            <a:endParaRPr lang="en-US" sz="1150" dirty="0"/>
          </a:p>
        </p:txBody>
      </p:sp>
      <p:sp>
        <p:nvSpPr>
          <p:cNvPr id="11" name="Shape 8"/>
          <p:cNvSpPr/>
          <p:nvPr/>
        </p:nvSpPr>
        <p:spPr>
          <a:xfrm>
            <a:off x="612648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2057400"/>
            <a:ext cx="594360" cy="59436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4" name="Text 10"/>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Short: impedance to zero</a:t>
            </a:r>
            <a:endParaRPr lang="en-US" sz="1450" dirty="0"/>
          </a:p>
        </p:txBody>
      </p:sp>
      <p:sp>
        <p:nvSpPr>
          <p:cNvPr id="15" name="Shape 11"/>
          <p:cNvSpPr/>
          <p:nvPr/>
        </p:nvSpPr>
        <p:spPr>
          <a:xfrm>
            <a:off x="640080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Z_short -&gt; 0  (component bypassed)</a:t>
            </a:r>
            <a:endParaRPr lang="en-US" sz="1350" dirty="0"/>
          </a:p>
        </p:txBody>
      </p:sp>
      <p:sp>
        <p:nvSpPr>
          <p:cNvPr id="17" name="Text 13"/>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Noise</a:t>
            </a:r>
            <a:endParaRPr lang="en-US" sz="3000" dirty="0"/>
          </a:p>
        </p:txBody>
      </p:sp>
      <p:sp>
        <p:nvSpPr>
          <p:cNvPr id="4" name="Text 2"/>
          <p:cNvSpPr/>
          <p:nvPr/>
        </p:nvSpPr>
        <p:spPr>
          <a:xfrm>
            <a:off x="502920" y="1645920"/>
            <a:ext cx="10515600" cy="64008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Noise doesn't come from a component value changing at all — it's </a:t>
            </a:r>
            <a:pPr indent="0" marL="0">
              <a:lnSpc>
                <a:spcPct val="125000"/>
              </a:lnSpc>
              <a:buNone/>
            </a:pPr>
            <a:r>
              <a:rPr lang="en-US" sz="1300" b="1" dirty="0">
                <a:solidFill>
                  <a:srgbClr val="0B1F3A"/>
                </a:solidFill>
                <a:latin typeface="Calibri" pitchFamily="34" charset="0"/>
                <a:ea typeface="Calibri" pitchFamily="34" charset="-122"/>
                <a:cs typeface="Calibri" pitchFamily="34" charset="-120"/>
              </a:rPr>
              <a:t>additive random disturbance</a:t>
            </a:r>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 superimposed on an otherwise healthy waveform, modeled with a fixed signal-to-noise ratio.</a:t>
            </a:r>
            <a:endParaRPr lang="en-US" sz="1300" dirty="0"/>
          </a:p>
        </p:txBody>
      </p:sp>
      <p:sp>
        <p:nvSpPr>
          <p:cNvPr id="5" name="Shape 3"/>
          <p:cNvSpPr/>
          <p:nvPr/>
        </p:nvSpPr>
        <p:spPr>
          <a:xfrm>
            <a:off x="502920" y="2423160"/>
            <a:ext cx="1051560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560320"/>
            <a:ext cx="9966960" cy="114300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v_noisy(t) = v_normal(t) + N(0, sigma^2)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sigma^2 = mean(v_normal^2) / 10^(SNR_dB / 10)</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SNR = 25 dB   |   seed = 42  (reproducible)</a:t>
            </a:r>
            <a:endParaRPr lang="en-US" sz="1400" dirty="0"/>
          </a:p>
        </p:txBody>
      </p:sp>
      <p:sp>
        <p:nvSpPr>
          <p:cNvPr id="7" name="Text 5"/>
          <p:cNvSpPr/>
          <p:nvPr/>
        </p:nvSpPr>
        <p:spPr>
          <a:xfrm>
            <a:off x="502920" y="3977640"/>
            <a:ext cx="10515600" cy="868680"/>
          </a:xfrm>
          <a:prstGeom prst="rect">
            <a:avLst/>
          </a:prstGeom>
          <a:noFill/>
          <a:ln/>
        </p:spPr>
        <p:txBody>
          <a:bodyPr wrap="square" lIns="0" tIns="0" rIns="0" bIns="0" rtlCol="0" anchor="ctr"/>
          <a:lstStyle/>
          <a:p>
            <a:pPr indent="0" marL="0">
              <a:lnSpc>
                <a:spcPct val="125000"/>
              </a:lnSpc>
              <a:buNone/>
            </a:pPr>
            <a:r>
              <a:rPr lang="en-US" sz="1130" b="1" dirty="0">
                <a:solidFill>
                  <a:srgbClr val="0B1F3A"/>
                </a:solidFill>
                <a:latin typeface="Calibri" pitchFamily="34" charset="0"/>
                <a:ea typeface="Calibri" pitchFamily="34" charset="-122"/>
                <a:cs typeface="Calibri" pitchFamily="34" charset="-120"/>
              </a:rPr>
              <a:t>In code: </a:t>
            </a:r>
            <a:pPr indent="0" marL="0">
              <a:lnSpc>
                <a:spcPct val="125000"/>
              </a:lnSpc>
              <a:buNone/>
            </a:pPr>
            <a:r>
              <a:rPr lang="en-US" sz="1130" dirty="0">
                <a:solidFill>
                  <a:srgbClr val="64748B"/>
                </a:solidFill>
                <a:latin typeface="Calibri" pitchFamily="34" charset="0"/>
                <a:ea typeface="Calibri" pitchFamily="34" charset="-122"/>
                <a:cs typeface="Calibri"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130" dirty="0"/>
          </a:p>
        </p:txBody>
      </p:sp>
      <p:sp>
        <p:nvSpPr>
          <p:cNvPr id="8" name="Shape 6"/>
          <p:cNvSpPr/>
          <p:nvPr/>
        </p:nvSpPr>
        <p:spPr>
          <a:xfrm>
            <a:off x="502920" y="5029200"/>
            <a:ext cx="10607040" cy="1170432"/>
          </a:xfrm>
          <a:prstGeom prst="roundRect">
            <a:avLst>
              <a:gd name="adj" fmla="val 7031"/>
            </a:avLst>
          </a:prstGeom>
          <a:solidFill>
            <a:srgbClr val="FCF3E3"/>
          </a:solidFill>
          <a:ln w="12700">
            <a:solidFill>
              <a:srgbClr val="F0DDB0"/>
            </a:solidFill>
            <a:prstDash val="solid"/>
          </a:ln>
        </p:spPr>
      </p:sp>
      <p:sp>
        <p:nvSpPr>
          <p:cNvPr id="9" name="Text 7"/>
          <p:cNvSpPr/>
          <p:nvPr/>
        </p:nvSpPr>
        <p:spPr>
          <a:xfrm>
            <a:off x="758952" y="5102352"/>
            <a:ext cx="10104120" cy="1024128"/>
          </a:xfrm>
          <a:prstGeom prst="rect">
            <a:avLst/>
          </a:prstGeom>
          <a:noFill/>
          <a:ln/>
        </p:spPr>
        <p:txBody>
          <a:bodyPr wrap="square" lIns="0" tIns="0" rIns="0" bIns="0" rtlCol="0" anchor="t"/>
          <a:lstStyle/>
          <a:p>
            <a:pPr indent="0" marL="0">
              <a:lnSpc>
                <a:spcPct val="118000"/>
              </a:lnSpc>
              <a:buNone/>
            </a:pPr>
            <a:r>
              <a:rPr lang="en-US" sz="970" b="1" dirty="0">
                <a:solidFill>
                  <a:srgbClr val="8A5A0A"/>
                </a:solidFill>
                <a:latin typeface="Calibri" pitchFamily="34" charset="0"/>
                <a:ea typeface="Calibri" pitchFamily="34" charset="-122"/>
                <a:cs typeface="Calibri" pitchFamily="34" charset="-120"/>
              </a:rPr>
              <a:t>One honest asterisk: </a:t>
            </a:r>
            <a:pPr indent="0" marL="0">
              <a:lnSpc>
                <a:spcPct val="118000"/>
              </a:lnSpc>
              <a:buNone/>
            </a:pPr>
            <a:r>
              <a:rPr lang="en-US" sz="970" dirty="0">
                <a:solidFill>
                  <a:srgbClr val="5C4008"/>
                </a:solidFill>
                <a:latin typeface="Calibri" pitchFamily="34" charset="0"/>
                <a:ea typeface="Calibri" pitchFamily="34" charset="-122"/>
                <a:cs typeface="Calibri" pitchFamily="34" charset="-120"/>
              </a:rPr>
              <a:t>unlike the other four classes, NOISE is the only fault type not simulated fresh in LTspice — it's built by post-processing an existing NORMAL waveform. Elsewhere this project rightly emphasizes “no synthetic data augmentation,” and that claim is accurate for drift/open/short/normal, but NOISE is a partial exception: it's synthetic in a way the other classes aren't. A stricter version would simulate noise as a true LTspice noise source (e.g. a behavioral voltage source with random current injection) rather than adding it after the fact in Python.</a:t>
            </a:r>
            <a:endParaRPr lang="en-US" sz="97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Four Circuit Topologies Under Test</a:t>
            </a:r>
            <a:endParaRPr lang="en-US" sz="3000" dirty="0"/>
          </a:p>
        </p:txBody>
      </p:sp>
      <p:sp>
        <p:nvSpPr>
          <p:cNvPr id="4" name="Shape 2"/>
          <p:cNvSpPr/>
          <p:nvPr/>
        </p:nvSpPr>
        <p:spPr>
          <a:xfrm>
            <a:off x="502920" y="1783080"/>
            <a:ext cx="1874520" cy="1965960"/>
          </a:xfrm>
          <a:prstGeom prst="roundRect">
            <a:avLst>
              <a:gd name="adj" fmla="val 3415"/>
            </a:avLst>
          </a:prstGeom>
          <a:solidFill>
            <a:srgbClr val="EAEEF4"/>
          </a:solidFill>
          <a:ln w="15875">
            <a:solidFill>
              <a:srgbClr val="9FB1C8"/>
            </a:solidFill>
            <a:prstDash val="dash"/>
          </a:ln>
        </p:spPr>
      </p:sp>
      <p:pic>
        <p:nvPicPr>
          <p:cNvPr id="5" name="Image 0" descr="/sessions/blissful-zealous-babbage/mnt/outputs/ppt/icons/microchip_64748B.png">    </p:cNvPr>
          <p:cNvPicPr>
            <a:picLocks noChangeAspect="1"/>
          </p:cNvPicPr>
          <p:nvPr/>
        </p:nvPicPr>
        <p:blipFill>
          <a:blip r:embed="rId1"/>
          <a:stretch>
            <a:fillRect/>
          </a:stretch>
        </p:blipFill>
        <p:spPr>
          <a:xfrm>
            <a:off x="1156716" y="1971446"/>
            <a:ext cx="566928" cy="566928"/>
          </a:xfrm>
          <a:prstGeom prst="rect">
            <a:avLst/>
          </a:prstGeom>
        </p:spPr>
      </p:pic>
      <p:sp>
        <p:nvSpPr>
          <p:cNvPr id="6" name="Text 3"/>
          <p:cNvSpPr/>
          <p:nvPr/>
        </p:nvSpPr>
        <p:spPr>
          <a:xfrm>
            <a:off x="68580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7" name="Text 4"/>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3415"/>
            </a:avLst>
          </a:prstGeom>
          <a:solidFill>
            <a:srgbClr val="EAEEF4"/>
          </a:solidFill>
          <a:ln w="15875">
            <a:solidFill>
              <a:srgbClr val="9FB1C8"/>
            </a:solidFill>
            <a:prstDash val="dash"/>
          </a:ln>
        </p:spPr>
      </p:sp>
      <p:pic>
        <p:nvPicPr>
          <p:cNvPr id="10" name="Image 1" descr="/sessions/blissful-zealous-babbage/mnt/outputs/ppt/icons/microchip_64748B.png">    </p:cNvPr>
          <p:cNvPicPr>
            <a:picLocks noChangeAspect="1"/>
          </p:cNvPicPr>
          <p:nvPr/>
        </p:nvPicPr>
        <p:blipFill>
          <a:blip r:embed="rId2"/>
          <a:stretch>
            <a:fillRect/>
          </a:stretch>
        </p:blipFill>
        <p:spPr>
          <a:xfrm>
            <a:off x="6780276" y="1971446"/>
            <a:ext cx="566928" cy="566928"/>
          </a:xfrm>
          <a:prstGeom prst="rect">
            <a:avLst/>
          </a:prstGeom>
        </p:spPr>
      </p:pic>
      <p:sp>
        <p:nvSpPr>
          <p:cNvPr id="11" name="Text 7"/>
          <p:cNvSpPr/>
          <p:nvPr/>
        </p:nvSpPr>
        <p:spPr>
          <a:xfrm>
            <a:off x="630936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2" name="Text 8"/>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RLC Series Circuit</a:t>
            </a:r>
            <a:endParaRPr lang="en-US" sz="1500" dirty="0"/>
          </a:p>
        </p:txBody>
      </p:sp>
      <p:sp>
        <p:nvSpPr>
          <p:cNvPr id="13" name="Text 9"/>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Adds an inductor for an underdamped, oscillatory step response — richer dynamics than RC alone.</a:t>
            </a:r>
            <a:endParaRPr lang="en-US" sz="1080" dirty="0"/>
          </a:p>
        </p:txBody>
      </p:sp>
      <p:sp>
        <p:nvSpPr>
          <p:cNvPr id="14" name="Shape 10"/>
          <p:cNvSpPr/>
          <p:nvPr/>
        </p:nvSpPr>
        <p:spPr>
          <a:xfrm>
            <a:off x="502920" y="4069080"/>
            <a:ext cx="1874520" cy="1965960"/>
          </a:xfrm>
          <a:prstGeom prst="roundRect">
            <a:avLst>
              <a:gd name="adj" fmla="val 3415"/>
            </a:avLst>
          </a:prstGeom>
          <a:solidFill>
            <a:srgbClr val="EAEEF4"/>
          </a:solidFill>
          <a:ln w="15875">
            <a:solidFill>
              <a:srgbClr val="9FB1C8"/>
            </a:solidFill>
            <a:prstDash val="dash"/>
          </a:ln>
        </p:spPr>
      </p:sp>
      <p:pic>
        <p:nvPicPr>
          <p:cNvPr id="15" name="Image 2" descr="/sessions/blissful-zealous-babbage/mnt/outputs/ppt/icons/microchip_64748B.png">    </p:cNvPr>
          <p:cNvPicPr>
            <a:picLocks noChangeAspect="1"/>
          </p:cNvPicPr>
          <p:nvPr/>
        </p:nvPicPr>
        <p:blipFill>
          <a:blip r:embed="rId3"/>
          <a:stretch>
            <a:fillRect/>
          </a:stretch>
        </p:blipFill>
        <p:spPr>
          <a:xfrm>
            <a:off x="1156716" y="4257446"/>
            <a:ext cx="566928" cy="566928"/>
          </a:xfrm>
          <a:prstGeom prst="rect">
            <a:avLst/>
          </a:prstGeom>
        </p:spPr>
      </p:pic>
      <p:sp>
        <p:nvSpPr>
          <p:cNvPr id="16" name="Text 11"/>
          <p:cNvSpPr/>
          <p:nvPr/>
        </p:nvSpPr>
        <p:spPr>
          <a:xfrm>
            <a:off x="68580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7" name="Text 12"/>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Sallen-Key Active Filter</a:t>
            </a:r>
            <a:endParaRPr lang="en-US" sz="1500" dirty="0"/>
          </a:p>
        </p:txBody>
      </p:sp>
      <p:sp>
        <p:nvSpPr>
          <p:cNvPr id="18" name="Text 13"/>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An op-amp based 2nd-order filter — the kind actually used in real analog signal-conditioning design.</a:t>
            </a:r>
            <a:endParaRPr lang="en-US" sz="1080" dirty="0"/>
          </a:p>
        </p:txBody>
      </p:sp>
      <p:sp>
        <p:nvSpPr>
          <p:cNvPr id="19" name="Shape 14"/>
          <p:cNvSpPr/>
          <p:nvPr/>
        </p:nvSpPr>
        <p:spPr>
          <a:xfrm>
            <a:off x="6126480" y="4069080"/>
            <a:ext cx="1874520" cy="1965960"/>
          </a:xfrm>
          <a:prstGeom prst="roundRect">
            <a:avLst>
              <a:gd name="adj" fmla="val 3415"/>
            </a:avLst>
          </a:prstGeom>
          <a:solidFill>
            <a:srgbClr val="EAEEF4"/>
          </a:solidFill>
          <a:ln w="15875">
            <a:solidFill>
              <a:srgbClr val="9FB1C8"/>
            </a:solidFill>
            <a:prstDash val="dash"/>
          </a:ln>
        </p:spPr>
      </p:sp>
      <p:pic>
        <p:nvPicPr>
          <p:cNvPr id="20" name="Image 3" descr="/sessions/blissful-zealous-babbage/mnt/outputs/ppt/icons/microchip_64748B.png">    </p:cNvPr>
          <p:cNvPicPr>
            <a:picLocks noChangeAspect="1"/>
          </p:cNvPicPr>
          <p:nvPr/>
        </p:nvPicPr>
        <p:blipFill>
          <a:blip r:embed="rId4"/>
          <a:stretch>
            <a:fillRect/>
          </a:stretch>
        </p:blipFill>
        <p:spPr>
          <a:xfrm>
            <a:off x="6780276" y="4257446"/>
            <a:ext cx="566928" cy="566928"/>
          </a:xfrm>
          <a:prstGeom prst="rect">
            <a:avLst/>
          </a:prstGeom>
        </p:spPr>
      </p:pic>
      <p:sp>
        <p:nvSpPr>
          <p:cNvPr id="21" name="Text 15"/>
          <p:cNvSpPr/>
          <p:nvPr/>
        </p:nvSpPr>
        <p:spPr>
          <a:xfrm>
            <a:off x="630936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22" name="Text 16"/>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Ladder Network</a:t>
            </a:r>
            <a:endParaRPr lang="en-US" sz="1500" dirty="0"/>
          </a:p>
        </p:txBody>
      </p:sp>
      <p:sp>
        <p:nvSpPr>
          <p:cNvPr id="23" name="Text 17"/>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Multiple RC stages cascaded together, producing a more complex multi-pole response.</a:t>
            </a:r>
            <a:endParaRPr lang="en-US" sz="108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Low-Pass Filter — The Baseline</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tau = R * C   (time constant)</a:t>
            </a:r>
            <a:endParaRPr lang="en-US" sz="16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 swept 100 ohm to 10 kilohm (normal/drift) with C fixed at 10 microfarad — tau ranges from about 1 ms to 100 ms.</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 the charging path is effectively blocked, so Vout never rises.</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Short: C swept down to 0.1-10 picofarad — tau collapses to picoseconds, so Vout jumps to 5V almost instantly.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Just a resistor and capacitor charging up, like a bucket filling with water — tau is simply how long that fill takes.</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RLC Series Circuit — Adding Oscillation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FFB703"/>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omega_0 = 1 / sqrt(LC)     zeta = (R/2) * sqrt(C/L)</a:t>
            </a:r>
            <a:endParaRPr lang="en-US" sz="15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L swept 1 mH to 100 mH (normal/drift), with R = 10 ohm and C = 100 microfarad fixed — a genuinely underdamped, oscillatory step response.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Because zeta is small, the output rings before settling — a signature no RC-only circuit can produce.</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in series, blocking the current path entirely.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Sallen-Key Active Filter — A Real Design Pattern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R1 = R2 swept 1 kilohm to 100 kilohm together; C1 = C2 = 10 nanofarad fixed; dual +-15V supply, LT1001 op-amp model.</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is the one topology here that's actually used in production analog signal-conditioning circuits — not just a textbook passive network.</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Its op-amp feedback path gives it a distinct response shape from the three purely passive circuits.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Ladder Network — Cascaded Stages</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H(s) = Stage1(s) * Stage2(s)   (multi-pole)</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Two RC stages in series, R1 = R2 swept together 100 ohm to 10 kilohm, C1 = C2 = 10 microfarad — each stage contributes its own pole.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A fault in an earlier stage propagates and interacts with the second stage, producing subtler waveform changes than a single RC stage would.</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structural similarity to the plain RC circuit is exactly what makes the two easy to confuse later, in Results.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Two RC "buckets" chained together, one feeding into the next — more stages give a smoother, more gradual response than a single RC stage.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Same Circuit, Five Different Personalities</a:t>
            </a:r>
            <a:endParaRPr lang="en-US" sz="3000" dirty="0"/>
          </a:p>
        </p:txBody>
      </p:sp>
      <p:sp>
        <p:nvSpPr>
          <p:cNvPr id="4" name="Text 2"/>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Example: an RC low-pass filter's step response under each of the five fault conditions.</a:t>
            </a:r>
            <a:endParaRPr lang="en-US" sz="1250" dirty="0"/>
          </a:p>
        </p:txBody>
      </p:sp>
      <p:sp>
        <p:nvSpPr>
          <p:cNvPr id="5" name="Shape 3"/>
          <p:cNvSpPr/>
          <p:nvPr/>
        </p:nvSpPr>
        <p:spPr>
          <a:xfrm>
            <a:off x="502920" y="1965960"/>
            <a:ext cx="2066544" cy="3794760"/>
          </a:xfrm>
          <a:prstGeom prst="roundRect">
            <a:avLst>
              <a:gd name="adj" fmla="val 3097"/>
            </a:avLst>
          </a:prstGeom>
          <a:solidFill>
            <a:srgbClr val="EAEEF4"/>
          </a:solidFill>
          <a:ln w="15875">
            <a:solidFill>
              <a:srgbClr val="9FB1C8"/>
            </a:solidFill>
            <a:prstDash val="dash"/>
          </a:ln>
        </p:spPr>
      </p:sp>
      <p:pic>
        <p:nvPicPr>
          <p:cNvPr id="6" name="Image 0" descr="/sessions/blissful-zealous-babbage/mnt/outputs/ppt/icons/wave_64748B.png">    </p:cNvPr>
          <p:cNvPicPr>
            <a:picLocks noChangeAspect="1"/>
          </p:cNvPicPr>
          <p:nvPr/>
        </p:nvPicPr>
        <p:blipFill>
          <a:blip r:embed="rId1"/>
          <a:stretch>
            <a:fillRect/>
          </a:stretch>
        </p:blipFill>
        <p:spPr>
          <a:xfrm>
            <a:off x="1252728" y="2593238"/>
            <a:ext cx="566928" cy="566928"/>
          </a:xfrm>
          <a:prstGeom prst="rect">
            <a:avLst/>
          </a:prstGeom>
        </p:spPr>
      </p:pic>
      <p:sp>
        <p:nvSpPr>
          <p:cNvPr id="7" name="Text 4"/>
          <p:cNvSpPr/>
          <p:nvPr/>
        </p:nvSpPr>
        <p:spPr>
          <a:xfrm>
            <a:off x="685800"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8" name="Text 5"/>
          <p:cNvSpPr/>
          <p:nvPr/>
        </p:nvSpPr>
        <p:spPr>
          <a:xfrm>
            <a:off x="777240"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Normal response</a:t>
            </a:r>
            <a:endParaRPr lang="en-US" sz="1050" dirty="0"/>
          </a:p>
        </p:txBody>
      </p:sp>
      <p:sp>
        <p:nvSpPr>
          <p:cNvPr id="9" name="Shape 6"/>
          <p:cNvSpPr/>
          <p:nvPr/>
        </p:nvSpPr>
        <p:spPr>
          <a:xfrm>
            <a:off x="502920" y="5888736"/>
            <a:ext cx="2066544" cy="365760"/>
          </a:xfrm>
          <a:prstGeom prst="roundRect">
            <a:avLst>
              <a:gd name="adj" fmla="val 15000"/>
            </a:avLst>
          </a:prstGeom>
          <a:solidFill>
            <a:srgbClr val="0B1F3A"/>
          </a:solidFill>
          <a:ln/>
        </p:spPr>
      </p:sp>
      <p:sp>
        <p:nvSpPr>
          <p:cNvPr id="10" name="Text 7"/>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8"/>
          <p:cNvSpPr/>
          <p:nvPr/>
        </p:nvSpPr>
        <p:spPr>
          <a:xfrm>
            <a:off x="2738628" y="1965960"/>
            <a:ext cx="2066544" cy="3794760"/>
          </a:xfrm>
          <a:prstGeom prst="roundRect">
            <a:avLst>
              <a:gd name="adj" fmla="val 3097"/>
            </a:avLst>
          </a:prstGeom>
          <a:solidFill>
            <a:srgbClr val="EAEEF4"/>
          </a:solidFill>
          <a:ln w="15875">
            <a:solidFill>
              <a:srgbClr val="9FB1C8"/>
            </a:solidFill>
            <a:prstDash val="dash"/>
          </a:ln>
        </p:spPr>
      </p:sp>
      <p:pic>
        <p:nvPicPr>
          <p:cNvPr id="12" name="Image 1" descr="/sessions/blissful-zealous-babbage/mnt/outputs/ppt/icons/wave_64748B.png">    </p:cNvPr>
          <p:cNvPicPr>
            <a:picLocks noChangeAspect="1"/>
          </p:cNvPicPr>
          <p:nvPr/>
        </p:nvPicPr>
        <p:blipFill>
          <a:blip r:embed="rId2"/>
          <a:stretch>
            <a:fillRect/>
          </a:stretch>
        </p:blipFill>
        <p:spPr>
          <a:xfrm>
            <a:off x="3488436" y="2593238"/>
            <a:ext cx="566928" cy="566928"/>
          </a:xfrm>
          <a:prstGeom prst="rect">
            <a:avLst/>
          </a:prstGeom>
        </p:spPr>
      </p:pic>
      <p:sp>
        <p:nvSpPr>
          <p:cNvPr id="13" name="Text 9"/>
          <p:cNvSpPr/>
          <p:nvPr/>
        </p:nvSpPr>
        <p:spPr>
          <a:xfrm>
            <a:off x="2921508"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14" name="Text 10"/>
          <p:cNvSpPr/>
          <p:nvPr/>
        </p:nvSpPr>
        <p:spPr>
          <a:xfrm>
            <a:off x="3012948"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Drift response</a:t>
            </a:r>
            <a:endParaRPr lang="en-US" sz="1050" dirty="0"/>
          </a:p>
        </p:txBody>
      </p:sp>
      <p:sp>
        <p:nvSpPr>
          <p:cNvPr id="15" name="Shape 11"/>
          <p:cNvSpPr/>
          <p:nvPr/>
        </p:nvSpPr>
        <p:spPr>
          <a:xfrm>
            <a:off x="2738628" y="5888736"/>
            <a:ext cx="2066544" cy="365760"/>
          </a:xfrm>
          <a:prstGeom prst="roundRect">
            <a:avLst>
              <a:gd name="adj" fmla="val 15000"/>
            </a:avLst>
          </a:prstGeom>
          <a:solidFill>
            <a:srgbClr val="0B1F3A"/>
          </a:solidFill>
          <a:ln/>
        </p:spPr>
      </p:sp>
      <p:sp>
        <p:nvSpPr>
          <p:cNvPr id="16" name="Text 12"/>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Drift</a:t>
            </a:r>
            <a:endParaRPr lang="en-US" sz="1250" dirty="0"/>
          </a:p>
        </p:txBody>
      </p:sp>
      <p:sp>
        <p:nvSpPr>
          <p:cNvPr id="17" name="Shape 13"/>
          <p:cNvSpPr/>
          <p:nvPr/>
        </p:nvSpPr>
        <p:spPr>
          <a:xfrm>
            <a:off x="4974336" y="1965960"/>
            <a:ext cx="2066544" cy="3794760"/>
          </a:xfrm>
          <a:prstGeom prst="roundRect">
            <a:avLst>
              <a:gd name="adj" fmla="val 3097"/>
            </a:avLst>
          </a:prstGeom>
          <a:solidFill>
            <a:srgbClr val="EAEEF4"/>
          </a:solidFill>
          <a:ln w="15875">
            <a:solidFill>
              <a:srgbClr val="9FB1C8"/>
            </a:solidFill>
            <a:prstDash val="dash"/>
          </a:ln>
        </p:spPr>
      </p:sp>
      <p:pic>
        <p:nvPicPr>
          <p:cNvPr id="18" name="Image 2" descr="/sessions/blissful-zealous-babbage/mnt/outputs/ppt/icons/wave_64748B.png">    </p:cNvPr>
          <p:cNvPicPr>
            <a:picLocks noChangeAspect="1"/>
          </p:cNvPicPr>
          <p:nvPr/>
        </p:nvPicPr>
        <p:blipFill>
          <a:blip r:embed="rId3"/>
          <a:stretch>
            <a:fillRect/>
          </a:stretch>
        </p:blipFill>
        <p:spPr>
          <a:xfrm>
            <a:off x="5724144" y="2593238"/>
            <a:ext cx="566928" cy="566928"/>
          </a:xfrm>
          <a:prstGeom prst="rect">
            <a:avLst/>
          </a:prstGeom>
        </p:spPr>
      </p:pic>
      <p:sp>
        <p:nvSpPr>
          <p:cNvPr id="19" name="Text 14"/>
          <p:cNvSpPr/>
          <p:nvPr/>
        </p:nvSpPr>
        <p:spPr>
          <a:xfrm>
            <a:off x="5157216"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0" name="Text 15"/>
          <p:cNvSpPr/>
          <p:nvPr/>
        </p:nvSpPr>
        <p:spPr>
          <a:xfrm>
            <a:off x="5248656"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Open response</a:t>
            </a:r>
            <a:endParaRPr lang="en-US" sz="1050" dirty="0"/>
          </a:p>
        </p:txBody>
      </p:sp>
      <p:sp>
        <p:nvSpPr>
          <p:cNvPr id="21" name="Shape 16"/>
          <p:cNvSpPr/>
          <p:nvPr/>
        </p:nvSpPr>
        <p:spPr>
          <a:xfrm>
            <a:off x="4974336" y="5888736"/>
            <a:ext cx="2066544" cy="365760"/>
          </a:xfrm>
          <a:prstGeom prst="roundRect">
            <a:avLst>
              <a:gd name="adj" fmla="val 15000"/>
            </a:avLst>
          </a:prstGeom>
          <a:solidFill>
            <a:srgbClr val="0B1F3A"/>
          </a:solidFill>
          <a:ln/>
        </p:spPr>
      </p:sp>
      <p:sp>
        <p:nvSpPr>
          <p:cNvPr id="22" name="Text 17"/>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a:t>
            </a:r>
            <a:endParaRPr lang="en-US" sz="1250" dirty="0"/>
          </a:p>
        </p:txBody>
      </p:sp>
      <p:sp>
        <p:nvSpPr>
          <p:cNvPr id="23" name="Shape 18"/>
          <p:cNvSpPr/>
          <p:nvPr/>
        </p:nvSpPr>
        <p:spPr>
          <a:xfrm>
            <a:off x="7210044" y="1965960"/>
            <a:ext cx="2066544" cy="3794760"/>
          </a:xfrm>
          <a:prstGeom prst="roundRect">
            <a:avLst>
              <a:gd name="adj" fmla="val 3097"/>
            </a:avLst>
          </a:prstGeom>
          <a:solidFill>
            <a:srgbClr val="EAEEF4"/>
          </a:solidFill>
          <a:ln w="15875">
            <a:solidFill>
              <a:srgbClr val="9FB1C8"/>
            </a:solidFill>
            <a:prstDash val="dash"/>
          </a:ln>
        </p:spPr>
      </p:sp>
      <p:pic>
        <p:nvPicPr>
          <p:cNvPr id="24" name="Image 3" descr="/sessions/blissful-zealous-babbage/mnt/outputs/ppt/icons/wave_64748B.png">    </p:cNvPr>
          <p:cNvPicPr>
            <a:picLocks noChangeAspect="1"/>
          </p:cNvPicPr>
          <p:nvPr/>
        </p:nvPicPr>
        <p:blipFill>
          <a:blip r:embed="rId4"/>
          <a:stretch>
            <a:fillRect/>
          </a:stretch>
        </p:blipFill>
        <p:spPr>
          <a:xfrm>
            <a:off x="7959852" y="2593238"/>
            <a:ext cx="566928" cy="566928"/>
          </a:xfrm>
          <a:prstGeom prst="rect">
            <a:avLst/>
          </a:prstGeom>
        </p:spPr>
      </p:pic>
      <p:sp>
        <p:nvSpPr>
          <p:cNvPr id="25" name="Text 19"/>
          <p:cNvSpPr/>
          <p:nvPr/>
        </p:nvSpPr>
        <p:spPr>
          <a:xfrm>
            <a:off x="7392924"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6" name="Text 20"/>
          <p:cNvSpPr/>
          <p:nvPr/>
        </p:nvSpPr>
        <p:spPr>
          <a:xfrm>
            <a:off x="7484364"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Short response</a:t>
            </a:r>
            <a:endParaRPr lang="en-US" sz="1050" dirty="0"/>
          </a:p>
        </p:txBody>
      </p:sp>
      <p:sp>
        <p:nvSpPr>
          <p:cNvPr id="27" name="Shape 21"/>
          <p:cNvSpPr/>
          <p:nvPr/>
        </p:nvSpPr>
        <p:spPr>
          <a:xfrm>
            <a:off x="7210044" y="5888736"/>
            <a:ext cx="2066544" cy="365760"/>
          </a:xfrm>
          <a:prstGeom prst="roundRect">
            <a:avLst>
              <a:gd name="adj" fmla="val 15000"/>
            </a:avLst>
          </a:prstGeom>
          <a:solidFill>
            <a:srgbClr val="0B1F3A"/>
          </a:solidFill>
          <a:ln/>
        </p:spPr>
      </p:sp>
      <p:sp>
        <p:nvSpPr>
          <p:cNvPr id="28" name="Text 22"/>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Short</a:t>
            </a:r>
            <a:endParaRPr lang="en-US" sz="1250" dirty="0"/>
          </a:p>
        </p:txBody>
      </p:sp>
      <p:sp>
        <p:nvSpPr>
          <p:cNvPr id="29" name="Shape 23"/>
          <p:cNvSpPr/>
          <p:nvPr/>
        </p:nvSpPr>
        <p:spPr>
          <a:xfrm>
            <a:off x="9445752" y="1965960"/>
            <a:ext cx="2066544" cy="3794760"/>
          </a:xfrm>
          <a:prstGeom prst="roundRect">
            <a:avLst>
              <a:gd name="adj" fmla="val 3097"/>
            </a:avLst>
          </a:prstGeom>
          <a:solidFill>
            <a:srgbClr val="EAEEF4"/>
          </a:solidFill>
          <a:ln w="15875">
            <a:solidFill>
              <a:srgbClr val="9FB1C8"/>
            </a:solidFill>
            <a:prstDash val="dash"/>
          </a:ln>
        </p:spPr>
      </p:sp>
      <p:pic>
        <p:nvPicPr>
          <p:cNvPr id="30" name="Image 4" descr="/sessions/blissful-zealous-babbage/mnt/outputs/ppt/icons/wave_64748B.png">    </p:cNvPr>
          <p:cNvPicPr>
            <a:picLocks noChangeAspect="1"/>
          </p:cNvPicPr>
          <p:nvPr/>
        </p:nvPicPr>
        <p:blipFill>
          <a:blip r:embed="rId5"/>
          <a:stretch>
            <a:fillRect/>
          </a:stretch>
        </p:blipFill>
        <p:spPr>
          <a:xfrm>
            <a:off x="10195560" y="2593238"/>
            <a:ext cx="566928" cy="566928"/>
          </a:xfrm>
          <a:prstGeom prst="rect">
            <a:avLst/>
          </a:prstGeom>
        </p:spPr>
      </p:pic>
      <p:sp>
        <p:nvSpPr>
          <p:cNvPr id="31" name="Text 24"/>
          <p:cNvSpPr/>
          <p:nvPr/>
        </p:nvSpPr>
        <p:spPr>
          <a:xfrm>
            <a:off x="9628632"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32" name="Text 25"/>
          <p:cNvSpPr/>
          <p:nvPr/>
        </p:nvSpPr>
        <p:spPr>
          <a:xfrm>
            <a:off x="9720072"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Noise response</a:t>
            </a:r>
            <a:endParaRPr lang="en-US" sz="1050" dirty="0"/>
          </a:p>
        </p:txBody>
      </p:sp>
      <p:sp>
        <p:nvSpPr>
          <p:cNvPr id="33" name="Shape 26"/>
          <p:cNvSpPr/>
          <p:nvPr/>
        </p:nvSpPr>
        <p:spPr>
          <a:xfrm>
            <a:off x="9445752" y="5888736"/>
            <a:ext cx="2066544" cy="365760"/>
          </a:xfrm>
          <a:prstGeom prst="roundRect">
            <a:avLst>
              <a:gd name="adj" fmla="val 15000"/>
            </a:avLst>
          </a:prstGeom>
          <a:solidFill>
            <a:srgbClr val="0B1F3A"/>
          </a:solidFill>
          <a:ln/>
        </p:spPr>
      </p:sp>
      <p:sp>
        <p:nvSpPr>
          <p:cNvPr id="34" name="Text 27"/>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Noise</a:t>
            </a:r>
            <a:endParaRPr lang="en-US" sz="1250" dirty="0"/>
          </a:p>
        </p:txBody>
      </p:sp>
      <p:sp>
        <p:nvSpPr>
          <p:cNvPr id="35" name="Text 2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6"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1844040" y="3063240"/>
            <a:ext cx="853440" cy="0"/>
          </a:xfrm>
          <a:prstGeom prst="line">
            <a:avLst/>
          </a:prstGeom>
          <a:noFill/>
          <a:ln w="22225">
            <a:solidFill>
              <a:srgbClr val="AEBED4"/>
            </a:solidFill>
            <a:prstDash val="solid"/>
            <a:tailEnd type="triangle"/>
          </a:ln>
        </p:spPr>
      </p:sp>
      <p:sp>
        <p:nvSpPr>
          <p:cNvPr id="5" name="Shape 3"/>
          <p:cNvSpPr/>
          <p:nvPr/>
        </p:nvSpPr>
        <p:spPr>
          <a:xfrm>
            <a:off x="9296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053084" y="2729484"/>
            <a:ext cx="667512" cy="667512"/>
          </a:xfrm>
          <a:prstGeom prst="rect">
            <a:avLst/>
          </a:prstGeom>
        </p:spPr>
      </p:pic>
      <p:sp>
        <p:nvSpPr>
          <p:cNvPr id="7" name="Shape 4"/>
          <p:cNvSpPr/>
          <p:nvPr/>
        </p:nvSpPr>
        <p:spPr>
          <a:xfrm>
            <a:off x="829056" y="2505456"/>
            <a:ext cx="292608" cy="292608"/>
          </a:xfrm>
          <a:prstGeom prst="ellipse">
            <a:avLst/>
          </a:prstGeom>
          <a:solidFill>
            <a:srgbClr val="FFB703"/>
          </a:solidFill>
          <a:ln/>
        </p:spPr>
      </p:sp>
      <p:sp>
        <p:nvSpPr>
          <p:cNvPr id="8" name="Text 5"/>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Simulate</a:t>
            </a:r>
            <a:endParaRPr lang="en-US" sz="1300" dirty="0"/>
          </a:p>
        </p:txBody>
      </p:sp>
      <p:sp>
        <p:nvSpPr>
          <p:cNvPr id="10" name="Text 7"/>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Model 4 circuits in</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LTspice XVII</a:t>
            </a:r>
            <a:endParaRPr lang="en-US" sz="950" dirty="0"/>
          </a:p>
        </p:txBody>
      </p:sp>
      <p:sp>
        <p:nvSpPr>
          <p:cNvPr id="11" name="Shape 8"/>
          <p:cNvSpPr/>
          <p:nvPr/>
        </p:nvSpPr>
        <p:spPr>
          <a:xfrm>
            <a:off x="3611880" y="3063240"/>
            <a:ext cx="853440" cy="0"/>
          </a:xfrm>
          <a:prstGeom prst="line">
            <a:avLst/>
          </a:prstGeom>
          <a:noFill/>
          <a:ln w="22225">
            <a:solidFill>
              <a:srgbClr val="AEBED4"/>
            </a:solidFill>
            <a:prstDash val="solid"/>
            <a:tailEnd type="triangle"/>
          </a:ln>
        </p:spPr>
      </p:sp>
      <p:sp>
        <p:nvSpPr>
          <p:cNvPr id="12" name="Shape 9"/>
          <p:cNvSpPr/>
          <p:nvPr/>
        </p:nvSpPr>
        <p:spPr>
          <a:xfrm>
            <a:off x="269748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sliders_00B4D8.png">    </p:cNvPr>
          <p:cNvPicPr>
            <a:picLocks noChangeAspect="1"/>
          </p:cNvPicPr>
          <p:nvPr/>
        </p:nvPicPr>
        <p:blipFill>
          <a:blip r:embed="rId2"/>
          <a:stretch>
            <a:fillRect/>
          </a:stretch>
        </p:blipFill>
        <p:spPr>
          <a:xfrm>
            <a:off x="2820924" y="2729484"/>
            <a:ext cx="667512" cy="667512"/>
          </a:xfrm>
          <a:prstGeom prst="rect">
            <a:avLst/>
          </a:prstGeom>
        </p:spPr>
      </p:pic>
      <p:sp>
        <p:nvSpPr>
          <p:cNvPr id="14" name="Shape 10"/>
          <p:cNvSpPr/>
          <p:nvPr/>
        </p:nvSpPr>
        <p:spPr>
          <a:xfrm>
            <a:off x="2596896" y="2505456"/>
            <a:ext cx="292608" cy="292608"/>
          </a:xfrm>
          <a:prstGeom prst="ellipse">
            <a:avLst/>
          </a:prstGeom>
          <a:solidFill>
            <a:srgbClr val="FFB703"/>
          </a:solidFill>
          <a:ln/>
        </p:spPr>
      </p:sp>
      <p:sp>
        <p:nvSpPr>
          <p:cNvPr id="15" name="Text 11"/>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2</a:t>
            </a:r>
            <a:endParaRPr lang="en-US" sz="1100" dirty="0"/>
          </a:p>
        </p:txBody>
      </p:sp>
      <p:sp>
        <p:nvSpPr>
          <p:cNvPr id="16" name="Text 12"/>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Sweep</a:t>
            </a:r>
            <a:endParaRPr lang="en-US" sz="1300" dirty="0"/>
          </a:p>
        </p:txBody>
      </p:sp>
      <p:sp>
        <p:nvSpPr>
          <p:cNvPr id="17" name="Text 13"/>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Vary R/L/C values</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across realistic ranges</a:t>
            </a:r>
            <a:endParaRPr lang="en-US" sz="950" dirty="0"/>
          </a:p>
        </p:txBody>
      </p:sp>
      <p:sp>
        <p:nvSpPr>
          <p:cNvPr id="18" name="Shape 14"/>
          <p:cNvSpPr/>
          <p:nvPr/>
        </p:nvSpPr>
        <p:spPr>
          <a:xfrm>
            <a:off x="5379720" y="3063240"/>
            <a:ext cx="853440" cy="0"/>
          </a:xfrm>
          <a:prstGeom prst="line">
            <a:avLst/>
          </a:prstGeom>
          <a:noFill/>
          <a:ln w="22225">
            <a:solidFill>
              <a:srgbClr val="AEBED4"/>
            </a:solidFill>
            <a:prstDash val="solid"/>
            <a:tailEnd type="triangle"/>
          </a:ln>
        </p:spPr>
      </p:sp>
      <p:sp>
        <p:nvSpPr>
          <p:cNvPr id="19" name="Shape 15"/>
          <p:cNvSpPr/>
          <p:nvPr/>
        </p:nvSpPr>
        <p:spPr>
          <a:xfrm>
            <a:off x="446532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0" name="Image 2" descr="/sessions/blissful-zealous-babbage/mnt/outputs/ppt/icons/filter_00B4D8.png">    </p:cNvPr>
          <p:cNvPicPr>
            <a:picLocks noChangeAspect="1"/>
          </p:cNvPicPr>
          <p:nvPr/>
        </p:nvPicPr>
        <p:blipFill>
          <a:blip r:embed="rId3"/>
          <a:stretch>
            <a:fillRect/>
          </a:stretch>
        </p:blipFill>
        <p:spPr>
          <a:xfrm>
            <a:off x="4588764" y="2729484"/>
            <a:ext cx="667512" cy="667512"/>
          </a:xfrm>
          <a:prstGeom prst="rect">
            <a:avLst/>
          </a:prstGeom>
        </p:spPr>
      </p:pic>
      <p:sp>
        <p:nvSpPr>
          <p:cNvPr id="21" name="Shape 16"/>
          <p:cNvSpPr/>
          <p:nvPr/>
        </p:nvSpPr>
        <p:spPr>
          <a:xfrm>
            <a:off x="4364736" y="2505456"/>
            <a:ext cx="292608" cy="292608"/>
          </a:xfrm>
          <a:prstGeom prst="ellipse">
            <a:avLst/>
          </a:prstGeom>
          <a:solidFill>
            <a:srgbClr val="FFB703"/>
          </a:solidFill>
          <a:ln/>
        </p:spPr>
      </p:sp>
      <p:sp>
        <p:nvSpPr>
          <p:cNvPr id="22" name="Text 17"/>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3</a:t>
            </a:r>
            <a:endParaRPr lang="en-US" sz="1100" dirty="0"/>
          </a:p>
        </p:txBody>
      </p:sp>
      <p:sp>
        <p:nvSpPr>
          <p:cNvPr id="23" name="Text 18"/>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Extract</a:t>
            </a:r>
            <a:endParaRPr lang="en-US" sz="1300" dirty="0"/>
          </a:p>
        </p:txBody>
      </p:sp>
      <p:sp>
        <p:nvSpPr>
          <p:cNvPr id="24" name="Text 19"/>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17 features per</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waveform</a:t>
            </a:r>
            <a:endParaRPr lang="en-US" sz="950" dirty="0"/>
          </a:p>
        </p:txBody>
      </p:sp>
      <p:sp>
        <p:nvSpPr>
          <p:cNvPr id="25" name="Shape 20"/>
          <p:cNvSpPr/>
          <p:nvPr/>
        </p:nvSpPr>
        <p:spPr>
          <a:xfrm>
            <a:off x="7147560" y="3063240"/>
            <a:ext cx="853440" cy="0"/>
          </a:xfrm>
          <a:prstGeom prst="line">
            <a:avLst/>
          </a:prstGeom>
          <a:noFill/>
          <a:ln w="22225">
            <a:solidFill>
              <a:srgbClr val="AEBED4"/>
            </a:solidFill>
            <a:prstDash val="solid"/>
            <a:tailEnd type="triangle"/>
          </a:ln>
        </p:spPr>
      </p:sp>
      <p:sp>
        <p:nvSpPr>
          <p:cNvPr id="26" name="Shape 21"/>
          <p:cNvSpPr/>
          <p:nvPr/>
        </p:nvSpPr>
        <p:spPr>
          <a:xfrm>
            <a:off x="623316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7" name="Image 3" descr="/sessions/blissful-zealous-babbage/mnt/outputs/ppt/icons/brain_00B4D8.png">    </p:cNvPr>
          <p:cNvPicPr>
            <a:picLocks noChangeAspect="1"/>
          </p:cNvPicPr>
          <p:nvPr/>
        </p:nvPicPr>
        <p:blipFill>
          <a:blip r:embed="rId4"/>
          <a:stretch>
            <a:fillRect/>
          </a:stretch>
        </p:blipFill>
        <p:spPr>
          <a:xfrm>
            <a:off x="6356604" y="2729484"/>
            <a:ext cx="667512" cy="667512"/>
          </a:xfrm>
          <a:prstGeom prst="rect">
            <a:avLst/>
          </a:prstGeom>
        </p:spPr>
      </p:pic>
      <p:sp>
        <p:nvSpPr>
          <p:cNvPr id="28" name="Shape 22"/>
          <p:cNvSpPr/>
          <p:nvPr/>
        </p:nvSpPr>
        <p:spPr>
          <a:xfrm>
            <a:off x="6132576" y="2505456"/>
            <a:ext cx="292608" cy="292608"/>
          </a:xfrm>
          <a:prstGeom prst="ellipse">
            <a:avLst/>
          </a:prstGeom>
          <a:solidFill>
            <a:srgbClr val="FFB703"/>
          </a:solidFill>
          <a:ln/>
        </p:spPr>
      </p:sp>
      <p:sp>
        <p:nvSpPr>
          <p:cNvPr id="29" name="Text 23"/>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4</a:t>
            </a:r>
            <a:endParaRPr lang="en-US" sz="1100" dirty="0"/>
          </a:p>
        </p:txBody>
      </p:sp>
      <p:sp>
        <p:nvSpPr>
          <p:cNvPr id="30" name="Text 24"/>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Train &amp; Tune</a:t>
            </a:r>
            <a:endParaRPr lang="en-US" sz="1300" dirty="0"/>
          </a:p>
        </p:txBody>
      </p:sp>
      <p:sp>
        <p:nvSpPr>
          <p:cNvPr id="31" name="Text 25"/>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SVM kernels +</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GridSearchCV</a:t>
            </a:r>
            <a:endParaRPr lang="en-US" sz="950" dirty="0"/>
          </a:p>
        </p:txBody>
      </p:sp>
      <p:sp>
        <p:nvSpPr>
          <p:cNvPr id="32" name="Shape 26"/>
          <p:cNvSpPr/>
          <p:nvPr/>
        </p:nvSpPr>
        <p:spPr>
          <a:xfrm>
            <a:off x="8915400" y="3063240"/>
            <a:ext cx="853440" cy="0"/>
          </a:xfrm>
          <a:prstGeom prst="line">
            <a:avLst/>
          </a:prstGeom>
          <a:noFill/>
          <a:ln w="22225">
            <a:solidFill>
              <a:srgbClr val="AEBED4"/>
            </a:solidFill>
            <a:prstDash val="solid"/>
            <a:tailEnd type="triangle"/>
          </a:ln>
        </p:spPr>
      </p:sp>
      <p:sp>
        <p:nvSpPr>
          <p:cNvPr id="33" name="Shape 27"/>
          <p:cNvSpPr/>
          <p:nvPr/>
        </p:nvSpPr>
        <p:spPr>
          <a:xfrm>
            <a:off x="800100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4" name="Image 4" descr="/sessions/blissful-zealous-babbage/mnt/outputs/ppt/icons/tools_00B4D8.png">    </p:cNvPr>
          <p:cNvPicPr>
            <a:picLocks noChangeAspect="1"/>
          </p:cNvPicPr>
          <p:nvPr/>
        </p:nvPicPr>
        <p:blipFill>
          <a:blip r:embed="rId5"/>
          <a:stretch>
            <a:fillRect/>
          </a:stretch>
        </p:blipFill>
        <p:spPr>
          <a:xfrm>
            <a:off x="8124444" y="2729484"/>
            <a:ext cx="667512" cy="667512"/>
          </a:xfrm>
          <a:prstGeom prst="rect">
            <a:avLst/>
          </a:prstGeom>
        </p:spPr>
      </p:pic>
      <p:sp>
        <p:nvSpPr>
          <p:cNvPr id="35" name="Shape 28"/>
          <p:cNvSpPr/>
          <p:nvPr/>
        </p:nvSpPr>
        <p:spPr>
          <a:xfrm>
            <a:off x="7900416" y="2505456"/>
            <a:ext cx="292608" cy="292608"/>
          </a:xfrm>
          <a:prstGeom prst="ellipse">
            <a:avLst/>
          </a:prstGeom>
          <a:solidFill>
            <a:srgbClr val="FFB703"/>
          </a:solidFill>
          <a:ln/>
        </p:spPr>
      </p:sp>
      <p:sp>
        <p:nvSpPr>
          <p:cNvPr id="36" name="Text 29"/>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5</a:t>
            </a:r>
            <a:endParaRPr lang="en-US" sz="1100" dirty="0"/>
          </a:p>
        </p:txBody>
      </p:sp>
      <p:sp>
        <p:nvSpPr>
          <p:cNvPr id="37" name="Text 30"/>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Correct</a:t>
            </a:r>
            <a:endParaRPr lang="en-US" sz="1300" dirty="0"/>
          </a:p>
        </p:txBody>
      </p:sp>
      <p:sp>
        <p:nvSpPr>
          <p:cNvPr id="38" name="Text 31"/>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Topology-aware</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post-processing</a:t>
            </a:r>
            <a:endParaRPr lang="en-US" sz="950" dirty="0"/>
          </a:p>
        </p:txBody>
      </p:sp>
      <p:sp>
        <p:nvSpPr>
          <p:cNvPr id="39" name="Shape 32"/>
          <p:cNvSpPr/>
          <p:nvPr/>
        </p:nvSpPr>
        <p:spPr>
          <a:xfrm>
            <a:off x="97688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0" name="Image 5" descr="/sessions/blissful-zealous-babbage/mnt/outputs/ppt/icons/rocket_00B4D8.png">    </p:cNvPr>
          <p:cNvPicPr>
            <a:picLocks noChangeAspect="1"/>
          </p:cNvPicPr>
          <p:nvPr/>
        </p:nvPicPr>
        <p:blipFill>
          <a:blip r:embed="rId6"/>
          <a:stretch>
            <a:fillRect/>
          </a:stretch>
        </p:blipFill>
        <p:spPr>
          <a:xfrm>
            <a:off x="9892284" y="2729484"/>
            <a:ext cx="667512" cy="667512"/>
          </a:xfrm>
          <a:prstGeom prst="rect">
            <a:avLst/>
          </a:prstGeom>
        </p:spPr>
      </p:pic>
      <p:sp>
        <p:nvSpPr>
          <p:cNvPr id="41" name="Shape 33"/>
          <p:cNvSpPr/>
          <p:nvPr/>
        </p:nvSpPr>
        <p:spPr>
          <a:xfrm>
            <a:off x="9668256" y="2505456"/>
            <a:ext cx="292608" cy="292608"/>
          </a:xfrm>
          <a:prstGeom prst="ellipse">
            <a:avLst/>
          </a:prstGeom>
          <a:solidFill>
            <a:srgbClr val="FFB703"/>
          </a:solidFill>
          <a:ln/>
        </p:spPr>
      </p:sp>
      <p:sp>
        <p:nvSpPr>
          <p:cNvPr id="42" name="Text 34"/>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Deploy</a:t>
            </a:r>
            <a:endParaRPr lang="en-US" sz="1300" dirty="0"/>
          </a:p>
        </p:txBody>
      </p:sp>
      <p:sp>
        <p:nvSpPr>
          <p:cNvPr id="44" name="Text 36"/>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Live Streamlit</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web app</a:t>
            </a:r>
            <a:endParaRPr lang="en-US" sz="950" dirty="0"/>
          </a:p>
        </p:txBody>
      </p:sp>
      <p:sp>
        <p:nvSpPr>
          <p:cNvPr id="45" name="Shape 37"/>
          <p:cNvSpPr/>
          <p:nvPr/>
        </p:nvSpPr>
        <p:spPr>
          <a:xfrm>
            <a:off x="502920" y="4983480"/>
            <a:ext cx="10607040" cy="914400"/>
          </a:xfrm>
          <a:prstGeom prst="roundRect">
            <a:avLst>
              <a:gd name="adj" fmla="val 8000"/>
            </a:avLst>
          </a:prstGeom>
          <a:solidFill>
            <a:srgbClr val="0B1F3A"/>
          </a:solidFill>
          <a:ln/>
          <a:effectLst>
            <a:outerShdw sx="100000" sy="100000" kx="0" ky="0" algn="bl" rotWithShape="0" blurRad="114300" dist="38100" dir="2700000">
              <a:srgbClr val="0B1F3A">
                <a:alpha val="14000"/>
              </a:srgbClr>
            </a:outerShdw>
          </a:effectLst>
        </p:spPr>
      </p:sp>
      <p:sp>
        <p:nvSpPr>
          <p:cNvPr id="46" name="Text 38"/>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FFB703"/>
                </a:solidFill>
                <a:latin typeface="Calibri" pitchFamily="34" charset="0"/>
                <a:ea typeface="Calibri" pitchFamily="34" charset="-122"/>
                <a:cs typeface="Calibri" pitchFamily="34" charset="-120"/>
              </a:rPr>
              <a:t>Every stage is grounded in real simulation physics</a:t>
            </a:r>
            <a:pPr algn="l" indent="0" marL="0">
              <a:lnSpc>
                <a:spcPct val="120000"/>
              </a:lnSpc>
              <a:buNone/>
            </a:pPr>
            <a:r>
              <a:rPr lang="en-US" sz="1300" dirty="0">
                <a:solidFill>
                  <a:srgbClr val="E7ECF4"/>
                </a:solidFill>
                <a:latin typeface="Calibri" pitchFamily="34" charset="0"/>
                <a:ea typeface="Calibri" pitchFamily="34" charset="-122"/>
                <a:cs typeface="Calibri" pitchFamily="34" charset="-120"/>
              </a:rPr>
              <a:t> — no synthetic data augmentation was used in the final pipeline, only genuine LTspice parameter sweeps.</a:t>
            </a:r>
            <a:endParaRPr lang="en-US" sz="1300" dirty="0"/>
          </a:p>
        </p:txBody>
      </p:sp>
      <p:sp>
        <p:nvSpPr>
          <p:cNvPr id="47"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Simulating Real Circuit Behavior in LTspice</a:t>
            </a:r>
            <a:endParaRPr lang="en-US" sz="3000" dirty="0"/>
          </a:p>
        </p:txBody>
      </p:sp>
      <p:sp>
        <p:nvSpPr>
          <p:cNvPr id="4" name="Shape 2"/>
          <p:cNvSpPr/>
          <p:nvPr/>
        </p:nvSpPr>
        <p:spPr>
          <a:xfrm>
            <a:off x="502920" y="182880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flask_00B4D8.png">    </p:cNvPr>
          <p:cNvPicPr>
            <a:picLocks noChangeAspect="1"/>
          </p:cNvPicPr>
          <p:nvPr/>
        </p:nvPicPr>
        <p:blipFill>
          <a:blip r:embed="rId1"/>
          <a:stretch>
            <a:fillRect/>
          </a:stretch>
        </p:blipFill>
        <p:spPr>
          <a:xfrm>
            <a:off x="579455" y="1905335"/>
            <a:ext cx="413857" cy="413857"/>
          </a:xfrm>
          <a:prstGeom prst="rect">
            <a:avLst/>
          </a:prstGeom>
        </p:spPr>
      </p:pic>
      <p:sp>
        <p:nvSpPr>
          <p:cNvPr id="6" name="Text 3"/>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Why SPICE instead of pure math?</a:t>
            </a:r>
            <a:endParaRPr lang="en-US" sz="1300" dirty="0"/>
          </a:p>
        </p:txBody>
      </p:sp>
      <p:sp>
        <p:nvSpPr>
          <p:cNvPr id="7" name="Text 4"/>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LTspice's transient solver captures op-amp behavior, component tolerances and transient effects that a hand-derived transfer function alone would miss.</a:t>
            </a:r>
            <a:endParaRPr lang="en-US" sz="1030" dirty="0"/>
          </a:p>
        </p:txBody>
      </p:sp>
      <p:sp>
        <p:nvSpPr>
          <p:cNvPr id="8" name="Shape 5"/>
          <p:cNvSpPr/>
          <p:nvPr/>
        </p:nvSpPr>
        <p:spPr>
          <a:xfrm>
            <a:off x="502920" y="281635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line_00B4D8.png">    </p:cNvPr>
          <p:cNvPicPr>
            <a:picLocks noChangeAspect="1"/>
          </p:cNvPicPr>
          <p:nvPr/>
        </p:nvPicPr>
        <p:blipFill>
          <a:blip r:embed="rId2"/>
          <a:stretch>
            <a:fillRect/>
          </a:stretch>
        </p:blipFill>
        <p:spPr>
          <a:xfrm>
            <a:off x="579455" y="2892887"/>
            <a:ext cx="413857" cy="413857"/>
          </a:xfrm>
          <a:prstGeom prst="rect">
            <a:avLst/>
          </a:prstGeom>
        </p:spPr>
      </p:pic>
      <p:sp>
        <p:nvSpPr>
          <p:cNvPr id="10" name="Text 6"/>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step input drives every circuit</a:t>
            </a:r>
            <a:endParaRPr lang="en-US" sz="1300" dirty="0"/>
          </a:p>
        </p:txBody>
      </p:sp>
      <p:sp>
        <p:nvSpPr>
          <p:cNvPr id="11" name="Text 7"/>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A PULSE voltage source jumps 0V to 5V (1ns rise time), mimicking a sudden real-world input change.</a:t>
            </a:r>
            <a:endParaRPr lang="en-US" sz="1030" dirty="0"/>
          </a:p>
        </p:txBody>
      </p:sp>
      <p:sp>
        <p:nvSpPr>
          <p:cNvPr id="12" name="Shape 8"/>
          <p:cNvSpPr/>
          <p:nvPr/>
        </p:nvSpPr>
        <p:spPr>
          <a:xfrm>
            <a:off x="502920" y="380390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liders_00B4D8.png">    </p:cNvPr>
          <p:cNvPicPr>
            <a:picLocks noChangeAspect="1"/>
          </p:cNvPicPr>
          <p:nvPr/>
        </p:nvPicPr>
        <p:blipFill>
          <a:blip r:embed="rId3"/>
          <a:stretch>
            <a:fillRect/>
          </a:stretch>
        </p:blipFill>
        <p:spPr>
          <a:xfrm>
            <a:off x="579455" y="3880439"/>
            <a:ext cx="413857" cy="413857"/>
          </a:xfrm>
          <a:prstGeom prst="rect">
            <a:avLst/>
          </a:prstGeom>
        </p:spPr>
      </p:pic>
      <p:sp>
        <p:nvSpPr>
          <p:cNvPr id="14" name="Text 9"/>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.tran captures the transient response</a:t>
            </a:r>
            <a:endParaRPr lang="en-US" sz="1300" dirty="0"/>
          </a:p>
        </p:txBody>
      </p:sp>
      <p:sp>
        <p:nvSpPr>
          <p:cNvPr id="15" name="Text 10"/>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The .tran directive runs the simulation and records Vout at 200 time points as the circuit reacts to the step.</a:t>
            </a:r>
            <a:endParaRPr lang="en-US" sz="1030" dirty="0"/>
          </a:p>
        </p:txBody>
      </p:sp>
      <p:sp>
        <p:nvSpPr>
          <p:cNvPr id="16" name="Shape 11"/>
          <p:cNvSpPr/>
          <p:nvPr/>
        </p:nvSpPr>
        <p:spPr>
          <a:xfrm>
            <a:off x="6583680" y="1828800"/>
            <a:ext cx="5120640" cy="2514600"/>
          </a:xfrm>
          <a:prstGeom prst="roundRect">
            <a:avLst>
              <a:gd name="adj" fmla="val 2545"/>
            </a:avLst>
          </a:prstGeom>
          <a:solidFill>
            <a:srgbClr val="EAEEF4"/>
          </a:solidFill>
          <a:ln w="15875">
            <a:solidFill>
              <a:srgbClr val="9FB1C8"/>
            </a:solidFill>
            <a:prstDash val="dash"/>
          </a:ln>
        </p:spPr>
      </p:sp>
      <p:pic>
        <p:nvPicPr>
          <p:cNvPr id="17" name="Image 3" descr="/sessions/blissful-zealous-babbage/mnt/outputs/ppt/icons/microchip_64748B.png">    </p:cNvPr>
          <p:cNvPicPr>
            <a:picLocks noChangeAspect="1"/>
          </p:cNvPicPr>
          <p:nvPr/>
        </p:nvPicPr>
        <p:blipFill>
          <a:blip r:embed="rId4"/>
          <a:stretch>
            <a:fillRect/>
          </a:stretch>
        </p:blipFill>
        <p:spPr>
          <a:xfrm>
            <a:off x="8860536" y="2148840"/>
            <a:ext cx="566928" cy="566928"/>
          </a:xfrm>
          <a:prstGeom prst="rect">
            <a:avLst/>
          </a:prstGeom>
        </p:spPr>
      </p:pic>
      <p:sp>
        <p:nvSpPr>
          <p:cNvPr id="18" name="Text 12"/>
          <p:cNvSpPr/>
          <p:nvPr/>
        </p:nvSpPr>
        <p:spPr>
          <a:xfrm>
            <a:off x="6766560" y="2630729"/>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LTSPICE SCHEMATIC</a:t>
            </a:r>
            <a:endParaRPr lang="en-US" sz="1300" dirty="0"/>
          </a:p>
        </p:txBody>
      </p:sp>
      <p:sp>
        <p:nvSpPr>
          <p:cNvPr id="19" name="Text 13"/>
          <p:cNvSpPr/>
          <p:nvPr/>
        </p:nvSpPr>
        <p:spPr>
          <a:xfrm>
            <a:off x="6858000" y="2978201"/>
            <a:ext cx="4572000" cy="804672"/>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.asc</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circuit diagram in LTspice XVII</a:t>
            </a:r>
            <a:endParaRPr lang="en-US" sz="1050" dirty="0"/>
          </a:p>
        </p:txBody>
      </p:sp>
      <p:sp>
        <p:nvSpPr>
          <p:cNvPr id="20" name="Shape 14"/>
          <p:cNvSpPr/>
          <p:nvPr/>
        </p:nvSpPr>
        <p:spPr>
          <a:xfrm>
            <a:off x="6583680" y="4526280"/>
            <a:ext cx="5120640" cy="1463040"/>
          </a:xfrm>
          <a:prstGeom prst="roundRect">
            <a:avLst>
              <a:gd name="adj" fmla="val 5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.step param Rval 100 10000 200</a:t>
            </a:r>
            <a:endParaRPr lang="en-US" sz="1250" dirty="0"/>
          </a:p>
        </p:txBody>
      </p:sp>
      <p:sp>
        <p:nvSpPr>
          <p:cNvPr id="22" name="Shape 16"/>
          <p:cNvSpPr/>
          <p:nvPr/>
        </p:nvSpPr>
        <p:spPr>
          <a:xfrm>
            <a:off x="502920" y="6263640"/>
            <a:ext cx="11185855" cy="457200"/>
          </a:xfrm>
          <a:prstGeom prst="roundRect">
            <a:avLst>
              <a:gd name="adj" fmla="val 12000"/>
            </a:avLst>
          </a:prstGeom>
          <a:solidFill>
            <a:srgbClr val="FFF8E8"/>
          </a:solidFill>
          <a:ln w="12700">
            <a:solidFill>
              <a:srgbClr val="F0C24B"/>
            </a:solidFill>
            <a:prstDash val="solid"/>
          </a:ln>
        </p:spPr>
      </p:sp>
      <p:sp>
        <p:nvSpPr>
          <p:cNvPr id="23" name="Text 17"/>
          <p:cNvSpPr/>
          <p:nvPr/>
        </p:nvSpPr>
        <p:spPr>
          <a:xfrm>
            <a:off x="667512" y="6263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Think of this like a unit test: give the circuit a sudden voltage change and record how it reacts over time — that recorded reaction is the raw data.</a:t>
            </a:r>
            <a:endParaRPr lang="en-US" sz="95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Parameter Sweeps: Simulating Real-World Variation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single fixed waveform per fault would teach the model almost nothing. The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directive instead sweeps a component value across a realistic range, generating roughly 51 independent transient runs per fault class, per circuit.</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Circuit</a:t>
            </a:r>
            <a:endParaRPr lang="en-US" sz="1200" dirty="0"/>
          </a:p>
        </p:txBody>
      </p:sp>
      <p:sp>
        <p:nvSpPr>
          <p:cNvPr id="7" name="Text 5"/>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 / Drift sweep</a:t>
            </a:r>
            <a:endParaRPr lang="en-US" sz="1200" dirty="0"/>
          </a:p>
        </p:txBody>
      </p:sp>
      <p:sp>
        <p:nvSpPr>
          <p:cNvPr id="8" name="Text 6"/>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Fixed components</a:t>
            </a:r>
            <a:endParaRPr lang="en-US" sz="1200" dirty="0"/>
          </a:p>
        </p:txBody>
      </p:sp>
      <p:sp>
        <p:nvSpPr>
          <p:cNvPr id="9" name="Shape 7"/>
          <p:cNvSpPr/>
          <p:nvPr/>
        </p:nvSpPr>
        <p:spPr>
          <a:xfrm>
            <a:off x="502920" y="3136392"/>
            <a:ext cx="10607040" cy="530352"/>
          </a:xfrm>
          <a:prstGeom prst="rect">
            <a:avLst/>
          </a:prstGeom>
          <a:solidFill>
            <a:srgbClr val="FFFFFF"/>
          </a:solidFill>
          <a:ln w="9525">
            <a:solidFill>
              <a:srgbClr val="E4E9F1"/>
            </a:solidFill>
            <a:prstDash val="solid"/>
          </a:ln>
        </p:spPr>
      </p:sp>
      <p:sp>
        <p:nvSpPr>
          <p:cNvPr id="10" name="Text 8"/>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a:t>
            </a:r>
            <a:endParaRPr lang="en-US" sz="1200" dirty="0"/>
          </a:p>
        </p:txBody>
      </p:sp>
      <p:sp>
        <p:nvSpPr>
          <p:cNvPr id="11" name="Text 9"/>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Text 10"/>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 10 uF</a:t>
            </a:r>
            <a:endParaRPr lang="en-US" sz="1200" dirty="0"/>
          </a:p>
        </p:txBody>
      </p:sp>
      <p:sp>
        <p:nvSpPr>
          <p:cNvPr id="13" name="Shape 11"/>
          <p:cNvSpPr/>
          <p:nvPr/>
        </p:nvSpPr>
        <p:spPr>
          <a:xfrm>
            <a:off x="502920" y="3666744"/>
            <a:ext cx="10607040" cy="530352"/>
          </a:xfrm>
          <a:prstGeom prst="rect">
            <a:avLst/>
          </a:prstGeom>
          <a:solidFill>
            <a:srgbClr val="EEF2F7"/>
          </a:solidFill>
          <a:ln w="9525">
            <a:solidFill>
              <a:srgbClr val="E4E9F1"/>
            </a:solidFill>
            <a:prstDash val="solid"/>
          </a:ln>
        </p:spPr>
      </p:sp>
      <p:sp>
        <p:nvSpPr>
          <p:cNvPr id="14" name="Text 12"/>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RLC</a:t>
            </a:r>
            <a:endParaRPr lang="en-US" sz="1200" dirty="0"/>
          </a:p>
        </p:txBody>
      </p:sp>
      <p:sp>
        <p:nvSpPr>
          <p:cNvPr id="15" name="Text 13"/>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L: 1 mH -&gt; 100 mH</a:t>
            </a:r>
            <a:endParaRPr lang="en-US" sz="1200" dirty="0"/>
          </a:p>
        </p:txBody>
      </p:sp>
      <p:sp>
        <p:nvSpPr>
          <p:cNvPr id="16" name="Text 14"/>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 10 ohm, C = 100 uF</a:t>
            </a:r>
            <a:endParaRPr lang="en-US" sz="1200" dirty="0"/>
          </a:p>
        </p:txBody>
      </p:sp>
      <p:sp>
        <p:nvSpPr>
          <p:cNvPr id="17" name="Shape 15"/>
          <p:cNvSpPr/>
          <p:nvPr/>
        </p:nvSpPr>
        <p:spPr>
          <a:xfrm>
            <a:off x="502920" y="4197096"/>
            <a:ext cx="10607040" cy="530352"/>
          </a:xfrm>
          <a:prstGeom prst="rect">
            <a:avLst/>
          </a:prstGeom>
          <a:solidFill>
            <a:srgbClr val="FFFFFF"/>
          </a:solidFill>
          <a:ln w="9525">
            <a:solidFill>
              <a:srgbClr val="E4E9F1"/>
            </a:solidFill>
            <a:prstDash val="solid"/>
          </a:ln>
        </p:spPr>
      </p:sp>
      <p:sp>
        <p:nvSpPr>
          <p:cNvPr id="18" name="Text 16"/>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Sallen-Key</a:t>
            </a:r>
            <a:endParaRPr lang="en-US" sz="1200" dirty="0"/>
          </a:p>
        </p:txBody>
      </p:sp>
      <p:sp>
        <p:nvSpPr>
          <p:cNvPr id="19" name="Text 17"/>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 kilohm -&gt; 100 kilohm</a:t>
            </a:r>
            <a:endParaRPr lang="en-US" sz="1200" dirty="0"/>
          </a:p>
        </p:txBody>
      </p:sp>
      <p:sp>
        <p:nvSpPr>
          <p:cNvPr id="20" name="Text 18"/>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nF, +-15V supply</a:t>
            </a:r>
            <a:endParaRPr lang="en-US" sz="1200" dirty="0"/>
          </a:p>
        </p:txBody>
      </p:sp>
      <p:sp>
        <p:nvSpPr>
          <p:cNvPr id="21" name="Shape 19"/>
          <p:cNvSpPr/>
          <p:nvPr/>
        </p:nvSpPr>
        <p:spPr>
          <a:xfrm>
            <a:off x="502920" y="4727448"/>
            <a:ext cx="10607040" cy="530352"/>
          </a:xfrm>
          <a:prstGeom prst="rect">
            <a:avLst/>
          </a:prstGeom>
          <a:solidFill>
            <a:srgbClr val="EEF2F7"/>
          </a:solidFill>
          <a:ln w="9525">
            <a:solidFill>
              <a:srgbClr val="E4E9F1"/>
            </a:solidFill>
            <a:prstDash val="solid"/>
          </a:ln>
        </p:spPr>
      </p:sp>
      <p:sp>
        <p:nvSpPr>
          <p:cNvPr id="22" name="Text 20"/>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 Ladder</a:t>
            </a:r>
            <a:endParaRPr lang="en-US" sz="1200" dirty="0"/>
          </a:p>
        </p:txBody>
      </p:sp>
      <p:sp>
        <p:nvSpPr>
          <p:cNvPr id="23" name="Text 21"/>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100 ohm -&gt; 10 kilohm</a:t>
            </a:r>
            <a:endParaRPr lang="en-US" sz="1200" dirty="0"/>
          </a:p>
        </p:txBody>
      </p:sp>
      <p:sp>
        <p:nvSpPr>
          <p:cNvPr id="24" name="Text 22"/>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uF</a:t>
            </a:r>
            <a:endParaRPr lang="en-US" sz="1200" dirty="0"/>
          </a:p>
        </p:txBody>
      </p:sp>
      <p:sp>
        <p:nvSpPr>
          <p:cNvPr id="25" name="Shape 23"/>
          <p:cNvSpPr/>
          <p:nvPr/>
        </p:nvSpPr>
        <p:spPr>
          <a:xfrm>
            <a:off x="502920" y="5257800"/>
            <a:ext cx="10607040" cy="640080"/>
          </a:xfrm>
          <a:prstGeom prst="roundRect">
            <a:avLst>
              <a:gd name="adj" fmla="val 11429"/>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~51 sweep steps x 4 circuits x 5 faults =~ 1,019 total samples</a:t>
            </a:r>
            <a:endParaRPr lang="en-US" sz="130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Each Fault Is Modeled in LTspice</a:t>
            </a:r>
            <a:endParaRPr lang="en-US" sz="3000" dirty="0"/>
          </a:p>
        </p:txBody>
      </p:sp>
      <p:sp>
        <p:nvSpPr>
          <p:cNvPr id="4" name="Shape 2"/>
          <p:cNvSpPr/>
          <p:nvPr/>
        </p:nvSpPr>
        <p:spPr>
          <a:xfrm>
            <a:off x="502920" y="1828800"/>
            <a:ext cx="10607040" cy="530352"/>
          </a:xfrm>
          <a:prstGeom prst="roundRect">
            <a:avLst>
              <a:gd name="adj" fmla="val 10345"/>
            </a:avLst>
          </a:prstGeom>
          <a:solidFill>
            <a:srgbClr val="0B1F3A"/>
          </a:solidFill>
          <a:ln/>
        </p:spPr>
      </p:sp>
      <p:sp>
        <p:nvSpPr>
          <p:cNvPr id="5" name="Text 3"/>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p>
        </p:txBody>
      </p:sp>
      <p:sp>
        <p:nvSpPr>
          <p:cNvPr id="6" name="Text 4"/>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Modeling mechanism</a:t>
            </a:r>
            <a:endParaRPr lang="en-US" sz="1200" dirty="0"/>
          </a:p>
        </p:txBody>
      </p:sp>
      <p:sp>
        <p:nvSpPr>
          <p:cNvPr id="7" name="Text 5"/>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Concretely (RC example)</a:t>
            </a:r>
            <a:endParaRPr lang="en-US" sz="1200" dirty="0"/>
          </a:p>
        </p:txBody>
      </p:sp>
      <p:sp>
        <p:nvSpPr>
          <p:cNvPr id="8" name="Shape 6"/>
          <p:cNvSpPr/>
          <p:nvPr/>
        </p:nvSpPr>
        <p:spPr>
          <a:xfrm>
            <a:off x="502920" y="2359152"/>
            <a:ext cx="10607040" cy="530352"/>
          </a:xfrm>
          <a:prstGeom prst="rect">
            <a:avLst/>
          </a:prstGeom>
          <a:solidFill>
            <a:srgbClr val="FFFFFF"/>
          </a:solidFill>
          <a:ln w="9525">
            <a:solidFill>
              <a:srgbClr val="E4E9F1"/>
            </a:solidFill>
            <a:prstDash val="solid"/>
          </a:ln>
        </p:spPr>
      </p:sp>
      <p:sp>
        <p:nvSpPr>
          <p:cNvPr id="9" name="Text 7"/>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Normal</a:t>
            </a:r>
            <a:endParaRPr lang="en-US" sz="1200" dirty="0"/>
          </a:p>
        </p:txBody>
      </p:sp>
      <p:sp>
        <p:nvSpPr>
          <p:cNvPr id="10" name="Text 8"/>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Component at nominal design value, swept across a healthy range</a:t>
            </a:r>
            <a:endParaRPr lang="en-US" sz="1200" dirty="0"/>
          </a:p>
        </p:txBody>
      </p:sp>
      <p:sp>
        <p:nvSpPr>
          <p:cNvPr id="11" name="Text 9"/>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Shape 10"/>
          <p:cNvSpPr/>
          <p:nvPr/>
        </p:nvSpPr>
        <p:spPr>
          <a:xfrm>
            <a:off x="502920" y="2889504"/>
            <a:ext cx="10607040" cy="530352"/>
          </a:xfrm>
          <a:prstGeom prst="rect">
            <a:avLst/>
          </a:prstGeom>
          <a:solidFill>
            <a:srgbClr val="EEF2F7"/>
          </a:solidFill>
          <a:ln w="9525">
            <a:solidFill>
              <a:srgbClr val="E4E9F1"/>
            </a:solidFill>
            <a:prstDash val="solid"/>
          </a:ln>
        </p:spPr>
      </p:sp>
      <p:sp>
        <p:nvSpPr>
          <p:cNvPr id="13" name="Text 11"/>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Drift</a:t>
            </a:r>
            <a:endParaRPr lang="en-US" sz="1200" dirty="0"/>
          </a:p>
        </p:txBody>
      </p:sp>
      <p:sp>
        <p:nvSpPr>
          <p:cNvPr id="14" name="Text 12"/>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Same component, same wide sweep — treated as the healthy range itself</a:t>
            </a:r>
            <a:endParaRPr lang="en-US" sz="1200" dirty="0"/>
          </a:p>
        </p:txBody>
      </p:sp>
      <p:sp>
        <p:nvSpPr>
          <p:cNvPr id="15" name="Text 13"/>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6" name="Shape 14"/>
          <p:cNvSpPr/>
          <p:nvPr/>
        </p:nvSpPr>
        <p:spPr>
          <a:xfrm>
            <a:off x="502920" y="3419856"/>
            <a:ext cx="10607040" cy="530352"/>
          </a:xfrm>
          <a:prstGeom prst="rect">
            <a:avLst/>
          </a:prstGeom>
          <a:solidFill>
            <a:srgbClr val="FFFFFF"/>
          </a:solidFill>
          <a:ln w="9525">
            <a:solidFill>
              <a:srgbClr val="E4E9F1"/>
            </a:solidFill>
            <a:prstDash val="solid"/>
          </a:ln>
        </p:spPr>
      </p:sp>
      <p:sp>
        <p:nvSpPr>
          <p:cNvPr id="17" name="Text 15"/>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Open</a:t>
            </a:r>
            <a:endParaRPr lang="en-US" sz="1200" dirty="0"/>
          </a:p>
        </p:txBody>
      </p:sp>
      <p:sp>
        <p:nvSpPr>
          <p:cNvPr id="18" name="Text 16"/>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resistor swept toward near-infinite resistance</a:t>
            </a:r>
            <a:endParaRPr lang="en-US" sz="1200" dirty="0"/>
          </a:p>
        </p:txBody>
      </p:sp>
      <p:sp>
        <p:nvSpPr>
          <p:cNvPr id="19" name="Text 17"/>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 megaohm -&gt; 1 gigaohm</a:t>
            </a:r>
            <a:endParaRPr lang="en-US" sz="1200" dirty="0"/>
          </a:p>
        </p:txBody>
      </p:sp>
      <p:sp>
        <p:nvSpPr>
          <p:cNvPr id="20" name="Shape 18"/>
          <p:cNvSpPr/>
          <p:nvPr/>
        </p:nvSpPr>
        <p:spPr>
          <a:xfrm>
            <a:off x="502920" y="3950208"/>
            <a:ext cx="10607040" cy="530352"/>
          </a:xfrm>
          <a:prstGeom prst="rect">
            <a:avLst/>
          </a:prstGeom>
          <a:solidFill>
            <a:srgbClr val="EEF2F7"/>
          </a:solidFill>
          <a:ln w="9525">
            <a:solidFill>
              <a:srgbClr val="E4E9F1"/>
            </a:solidFill>
            <a:prstDash val="solid"/>
          </a:ln>
        </p:spPr>
      </p:sp>
      <p:sp>
        <p:nvSpPr>
          <p:cNvPr id="21" name="Text 19"/>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Short</a:t>
            </a:r>
            <a:endParaRPr lang="en-US" sz="1200" dirty="0"/>
          </a:p>
        </p:txBody>
      </p:sp>
      <p:sp>
        <p:nvSpPr>
          <p:cNvPr id="22" name="Text 20"/>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reactive component swept toward its opposite extreme</a:t>
            </a:r>
            <a:endParaRPr lang="en-US" sz="1200" dirty="0"/>
          </a:p>
        </p:txBody>
      </p:sp>
      <p:sp>
        <p:nvSpPr>
          <p:cNvPr id="23" name="Text 21"/>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0.1 pF -&gt; 10 pF</a:t>
            </a:r>
            <a:endParaRPr lang="en-US" sz="1200" dirty="0"/>
          </a:p>
        </p:txBody>
      </p:sp>
      <p:sp>
        <p:nvSpPr>
          <p:cNvPr id="24" name="Shape 22"/>
          <p:cNvSpPr/>
          <p:nvPr/>
        </p:nvSpPr>
        <p:spPr>
          <a:xfrm>
            <a:off x="502920" y="4480560"/>
            <a:ext cx="10607040" cy="530352"/>
          </a:xfrm>
          <a:prstGeom prst="rect">
            <a:avLst/>
          </a:prstGeom>
          <a:solidFill>
            <a:srgbClr val="FFFFFF"/>
          </a:solidFill>
          <a:ln w="9525">
            <a:solidFill>
              <a:srgbClr val="E4E9F1"/>
            </a:solidFill>
            <a:prstDash val="solid"/>
          </a:ln>
        </p:spPr>
      </p:sp>
      <p:sp>
        <p:nvSpPr>
          <p:cNvPr id="25" name="Text 23"/>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Noise</a:t>
            </a:r>
            <a:endParaRPr lang="en-US" sz="1200" dirty="0"/>
          </a:p>
        </p:txBody>
      </p:sp>
      <p:sp>
        <p:nvSpPr>
          <p:cNvPr id="26" name="Text 24"/>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Gaussian noise added post-hoc to normal waveforms, not simulated in LTspice</a:t>
            </a:r>
            <a:endParaRPr lang="en-US" sz="1200" dirty="0"/>
          </a:p>
        </p:txBody>
      </p:sp>
      <p:sp>
        <p:nvSpPr>
          <p:cNvPr id="27" name="Text 25"/>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SNR = 25 dB, seed = 42</a:t>
            </a:r>
            <a:endParaRPr lang="en-US" sz="12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LTspice Output to a Clean Dataset</a:t>
            </a:r>
            <a:endParaRPr lang="en-US" sz="3000" dirty="0"/>
          </a:p>
        </p:txBody>
      </p:sp>
      <p:sp>
        <p:nvSpPr>
          <p:cNvPr id="4" name="Text 2"/>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5" name="Shape 3"/>
          <p:cNvSpPr/>
          <p:nvPr/>
        </p:nvSpPr>
        <p:spPr>
          <a:xfrm>
            <a:off x="502920" y="2514600"/>
            <a:ext cx="10607040" cy="2331720"/>
          </a:xfrm>
          <a:prstGeom prst="roundRect">
            <a:avLst>
              <a:gd name="adj" fmla="val 31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7" name="Text 5"/>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This turns dozens of variable-length LTspice runs into one uniform, ML-ready table of 200 voltage points per sample.</a:t>
            </a:r>
            <a:endParaRPr lang="en-US" sz="11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 Look at the Raw Dataset: master_dataset_sweep.csv</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Every LTspice sweep run becomes one row: a circuit label, a fault label, the swept parameter value, and </a:t>
            </a:r>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200 raw voltage samples</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 (v0 ... v199) tracing the full transient response. This is the direct, unprocessed output of Step 2 — nothing has been engineered yet.</a:t>
            </a:r>
            <a:endParaRPr lang="en-US" sz="1250" dirty="0"/>
          </a:p>
        </p:txBody>
      </p:sp>
      <p:sp>
        <p:nvSpPr>
          <p:cNvPr id="5" name="Shape 3"/>
          <p:cNvSpPr/>
          <p:nvPr/>
        </p:nvSpPr>
        <p:spPr>
          <a:xfrm>
            <a:off x="502920" y="2606040"/>
            <a:ext cx="10607040" cy="512064"/>
          </a:xfrm>
          <a:prstGeom prst="roundRect">
            <a:avLst>
              <a:gd name="adj" fmla="val 10714"/>
            </a:avLst>
          </a:prstGeom>
          <a:solidFill>
            <a:srgbClr val="0B1F3A"/>
          </a:solidFill>
          <a:ln/>
        </p:spPr>
      </p:sp>
      <p:sp>
        <p:nvSpPr>
          <p:cNvPr id="6" name="Text 4"/>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7" name="Text 5"/>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circuit</a:t>
            </a:r>
            <a:endParaRPr lang="en-US" sz="1050" dirty="0"/>
          </a:p>
        </p:txBody>
      </p:sp>
      <p:sp>
        <p:nvSpPr>
          <p:cNvPr id="8" name="Text 6"/>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fault</a:t>
            </a:r>
            <a:endParaRPr lang="en-US" sz="1050" dirty="0"/>
          </a:p>
        </p:txBody>
      </p:sp>
      <p:sp>
        <p:nvSpPr>
          <p:cNvPr id="9" name="Text 7"/>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param_value</a:t>
            </a:r>
            <a:endParaRPr lang="en-US" sz="1050" dirty="0"/>
          </a:p>
        </p:txBody>
      </p:sp>
      <p:sp>
        <p:nvSpPr>
          <p:cNvPr id="10" name="Text 8"/>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v0</a:t>
            </a:r>
            <a:endParaRPr lang="en-US" sz="1050" dirty="0"/>
          </a:p>
        </p:txBody>
      </p:sp>
      <p:sp>
        <p:nvSpPr>
          <p:cNvPr id="11" name="Text 9"/>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2" name="Text 10"/>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3" name="Text 11"/>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v199</a:t>
            </a:r>
            <a:endParaRPr lang="en-US" sz="1050" dirty="0"/>
          </a:p>
        </p:txBody>
      </p:sp>
      <p:sp>
        <p:nvSpPr>
          <p:cNvPr id="15" name="Shape 13"/>
          <p:cNvSpPr/>
          <p:nvPr/>
        </p:nvSpPr>
        <p:spPr>
          <a:xfrm>
            <a:off x="502920" y="3118104"/>
            <a:ext cx="10607040" cy="512064"/>
          </a:xfrm>
          <a:prstGeom prst="rect">
            <a:avLst/>
          </a:prstGeom>
          <a:solidFill>
            <a:srgbClr val="FFFFFF"/>
          </a:solidFill>
          <a:ln w="9525">
            <a:solidFill>
              <a:srgbClr val="E4E9F1"/>
            </a:solidFill>
            <a:prstDash val="solid"/>
          </a:ln>
        </p:spPr>
      </p:sp>
      <p:sp>
        <p:nvSpPr>
          <p:cNvPr id="16" name="Text 14"/>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0</a:t>
            </a:r>
            <a:endParaRPr lang="en-US" sz="1050" dirty="0"/>
          </a:p>
        </p:txBody>
      </p:sp>
      <p:sp>
        <p:nvSpPr>
          <p:cNvPr id="17" name="Text 15"/>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18" name="Text 16"/>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normal</a:t>
            </a:r>
            <a:endParaRPr lang="en-US" sz="1050" dirty="0"/>
          </a:p>
        </p:txBody>
      </p:sp>
      <p:sp>
        <p:nvSpPr>
          <p:cNvPr id="19" name="Text 17"/>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100 ohm</a:t>
            </a:r>
            <a:endParaRPr lang="en-US" sz="1050" dirty="0"/>
          </a:p>
        </p:txBody>
      </p:sp>
      <p:sp>
        <p:nvSpPr>
          <p:cNvPr id="20" name="Text 18"/>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21" name="Text 19"/>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1.962</a:t>
            </a:r>
            <a:endParaRPr lang="en-US" sz="1050" dirty="0"/>
          </a:p>
        </p:txBody>
      </p:sp>
      <p:sp>
        <p:nvSpPr>
          <p:cNvPr id="22" name="Text 20"/>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3.080</a:t>
            </a:r>
            <a:endParaRPr lang="en-US" sz="1050" dirty="0"/>
          </a:p>
        </p:txBody>
      </p:sp>
      <p:sp>
        <p:nvSpPr>
          <p:cNvPr id="23" name="Text 21"/>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25" name="Shape 23"/>
          <p:cNvSpPr/>
          <p:nvPr/>
        </p:nvSpPr>
        <p:spPr>
          <a:xfrm>
            <a:off x="502920" y="3630168"/>
            <a:ext cx="10607040" cy="512064"/>
          </a:xfrm>
          <a:prstGeom prst="rect">
            <a:avLst/>
          </a:prstGeom>
          <a:solidFill>
            <a:srgbClr val="EEF2F7"/>
          </a:solidFill>
          <a:ln w="9525">
            <a:solidFill>
              <a:srgbClr val="E4E9F1"/>
            </a:solidFill>
            <a:prstDash val="solid"/>
          </a:ln>
        </p:spPr>
      </p:sp>
      <p:sp>
        <p:nvSpPr>
          <p:cNvPr id="26" name="Text 24"/>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102</a:t>
            </a:r>
            <a:endParaRPr lang="en-US" sz="1050" dirty="0"/>
          </a:p>
        </p:txBody>
      </p:sp>
      <p:sp>
        <p:nvSpPr>
          <p:cNvPr id="27" name="Text 25"/>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28" name="Text 26"/>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open</a:t>
            </a:r>
            <a:endParaRPr lang="en-US" sz="1050" dirty="0"/>
          </a:p>
        </p:txBody>
      </p:sp>
      <p:sp>
        <p:nvSpPr>
          <p:cNvPr id="29" name="Text 27"/>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30" name="Text 28"/>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1" name="Text 29"/>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2" name="Text 30"/>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3" name="Text 31"/>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0.047</a:t>
            </a:r>
            <a:endParaRPr lang="en-US" sz="1050" dirty="0"/>
          </a:p>
        </p:txBody>
      </p:sp>
      <p:sp>
        <p:nvSpPr>
          <p:cNvPr id="35" name="Shape 33"/>
          <p:cNvSpPr/>
          <p:nvPr/>
        </p:nvSpPr>
        <p:spPr>
          <a:xfrm>
            <a:off x="502920" y="4142232"/>
            <a:ext cx="10607040" cy="512064"/>
          </a:xfrm>
          <a:prstGeom prst="rect">
            <a:avLst/>
          </a:prstGeom>
          <a:solidFill>
            <a:srgbClr val="FFFFFF"/>
          </a:solidFill>
          <a:ln w="9525">
            <a:solidFill>
              <a:srgbClr val="E4E9F1"/>
            </a:solidFill>
            <a:prstDash val="solid"/>
          </a:ln>
        </p:spPr>
      </p:sp>
      <p:sp>
        <p:nvSpPr>
          <p:cNvPr id="36" name="Text 34"/>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153</a:t>
            </a:r>
            <a:endParaRPr lang="en-US" sz="1050" dirty="0"/>
          </a:p>
        </p:txBody>
      </p:sp>
      <p:sp>
        <p:nvSpPr>
          <p:cNvPr id="37" name="Text 35"/>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38" name="Text 36"/>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short</a:t>
            </a:r>
            <a:endParaRPr lang="en-US" sz="1050" dirty="0"/>
          </a:p>
        </p:txBody>
      </p:sp>
      <p:sp>
        <p:nvSpPr>
          <p:cNvPr id="39" name="Text 37"/>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40" name="Text 38"/>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41" name="Text 39"/>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2" name="Text 40"/>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3" name="Text 41"/>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5" name="Shape 43"/>
          <p:cNvSpPr/>
          <p:nvPr/>
        </p:nvSpPr>
        <p:spPr>
          <a:xfrm>
            <a:off x="502920" y="4654296"/>
            <a:ext cx="10607040" cy="512064"/>
          </a:xfrm>
          <a:prstGeom prst="rect">
            <a:avLst/>
          </a:prstGeom>
          <a:solidFill>
            <a:srgbClr val="EEF2F7"/>
          </a:solidFill>
          <a:ln w="9525">
            <a:solidFill>
              <a:srgbClr val="E4E9F1"/>
            </a:solidFill>
            <a:prstDash val="solid"/>
          </a:ln>
        </p:spPr>
      </p:sp>
      <p:sp>
        <p:nvSpPr>
          <p:cNvPr id="46" name="Text 44"/>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255</a:t>
            </a:r>
            <a:endParaRPr lang="en-US" sz="1050" dirty="0"/>
          </a:p>
        </p:txBody>
      </p:sp>
      <p:sp>
        <p:nvSpPr>
          <p:cNvPr id="47" name="Text 45"/>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RLC</a:t>
            </a:r>
            <a:endParaRPr lang="en-US" sz="1050" dirty="0"/>
          </a:p>
        </p:txBody>
      </p:sp>
      <p:sp>
        <p:nvSpPr>
          <p:cNvPr id="48" name="Text 46"/>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drift</a:t>
            </a:r>
            <a:endParaRPr lang="en-US" sz="1050" dirty="0"/>
          </a:p>
        </p:txBody>
      </p:sp>
      <p:sp>
        <p:nvSpPr>
          <p:cNvPr id="49" name="Text 47"/>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12.0 mH</a:t>
            </a:r>
            <a:endParaRPr lang="en-US" sz="1050" dirty="0"/>
          </a:p>
        </p:txBody>
      </p:sp>
      <p:sp>
        <p:nvSpPr>
          <p:cNvPr id="50" name="Text 48"/>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1" name="Text 49"/>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2" name="Text 50"/>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0.002</a:t>
            </a:r>
            <a:endParaRPr lang="en-US" sz="1050" dirty="0"/>
          </a:p>
        </p:txBody>
      </p:sp>
      <p:sp>
        <p:nvSpPr>
          <p:cNvPr id="53" name="Text 51"/>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54" name="Text 52"/>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8.668</a:t>
            </a:r>
            <a:endParaRPr lang="en-US" sz="1050" dirty="0"/>
          </a:p>
        </p:txBody>
      </p:sp>
      <p:sp>
        <p:nvSpPr>
          <p:cNvPr id="55" name="Text 53"/>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1,019 rows x 204 columns total.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1,019 Samples, Evenly Balanced Across Fault Types</a:t>
            </a:r>
            <a:endParaRPr lang="en-US" sz="3000" dirty="0"/>
          </a:p>
        </p:txBody>
      </p:sp>
      <p:graphicFrame>
        <p:nvGraphicFramePr>
          <p:cNvPr id="4"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8745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alance_00B4D8.png">    </p:cNvPr>
          <p:cNvPicPr>
            <a:picLocks noChangeAspect="1"/>
          </p:cNvPicPr>
          <p:nvPr/>
        </p:nvPicPr>
        <p:blipFill>
          <a:blip r:embed="rId2"/>
          <a:stretch>
            <a:fillRect/>
          </a:stretch>
        </p:blipFill>
        <p:spPr>
          <a:xfrm>
            <a:off x="6977786" y="1948586"/>
            <a:ext cx="400507" cy="400507"/>
          </a:xfrm>
          <a:prstGeom prst="rect">
            <a:avLst/>
          </a:prstGeom>
        </p:spPr>
      </p:pic>
      <p:sp>
        <p:nvSpPr>
          <p:cNvPr id="7" name="Text 3"/>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Perfectly balanced classes</a:t>
            </a:r>
            <a:endParaRPr lang="en-US" sz="1350" dirty="0"/>
          </a:p>
        </p:txBody>
      </p:sp>
      <p:sp>
        <p:nvSpPr>
          <p:cNvPr id="8" name="Text 4"/>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fault type accounts for about 20% of samples, so the model can't win by just guessing the majority label.</a:t>
            </a:r>
            <a:endParaRPr lang="en-US" sz="1050" dirty="0"/>
          </a:p>
        </p:txBody>
      </p:sp>
      <p:sp>
        <p:nvSpPr>
          <p:cNvPr id="9" name="Shape 5"/>
          <p:cNvSpPr/>
          <p:nvPr/>
        </p:nvSpPr>
        <p:spPr>
          <a:xfrm>
            <a:off x="6903720" y="317296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sitemap_00B4D8.png">    </p:cNvPr>
          <p:cNvPicPr>
            <a:picLocks noChangeAspect="1"/>
          </p:cNvPicPr>
          <p:nvPr/>
        </p:nvPicPr>
        <p:blipFill>
          <a:blip r:embed="rId3"/>
          <a:stretch>
            <a:fillRect/>
          </a:stretch>
        </p:blipFill>
        <p:spPr>
          <a:xfrm>
            <a:off x="6977786" y="3247034"/>
            <a:ext cx="400507" cy="400507"/>
          </a:xfrm>
          <a:prstGeom prst="rect">
            <a:avLst/>
          </a:prstGeom>
        </p:spPr>
      </p:pic>
      <p:sp>
        <p:nvSpPr>
          <p:cNvPr id="11" name="Text 6"/>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20 total labels</a:t>
            </a:r>
            <a:endParaRPr lang="en-US" sz="1350" dirty="0"/>
          </a:p>
        </p:txBody>
      </p:sp>
      <p:sp>
        <p:nvSpPr>
          <p:cNvPr id="12" name="Text 7"/>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sample is tagged circuit_fault, e.g. RC_open or SALLEN_KEY_drift — 4 circuits times 5 faults.</a:t>
            </a:r>
            <a:endParaRPr lang="en-US" sz="1050" dirty="0"/>
          </a:p>
        </p:txBody>
      </p:sp>
      <p:sp>
        <p:nvSpPr>
          <p:cNvPr id="13" name="Shape 8"/>
          <p:cNvSpPr/>
          <p:nvPr/>
        </p:nvSpPr>
        <p:spPr>
          <a:xfrm>
            <a:off x="6903720" y="447141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database_00B4D8.png">    </p:cNvPr>
          <p:cNvPicPr>
            <a:picLocks noChangeAspect="1"/>
          </p:cNvPicPr>
          <p:nvPr/>
        </p:nvPicPr>
        <p:blipFill>
          <a:blip r:embed="rId4"/>
          <a:stretch>
            <a:fillRect/>
          </a:stretch>
        </p:blipFill>
        <p:spPr>
          <a:xfrm>
            <a:off x="6977786" y="4545482"/>
            <a:ext cx="400507" cy="400507"/>
          </a:xfrm>
          <a:prstGeom prst="rect">
            <a:avLst/>
          </a:prstGeom>
        </p:spPr>
      </p:pic>
      <p:sp>
        <p:nvSpPr>
          <p:cNvPr id="15" name="Text 9"/>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About 51 samples per class</a:t>
            </a:r>
            <a:endParaRPr lang="en-US" sz="1350" dirty="0"/>
          </a:p>
        </p:txBody>
      </p:sp>
      <p:sp>
        <p:nvSpPr>
          <p:cNvPr id="16" name="Text 10"/>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1,019 divided across 20 classes averages to roughly 51 samples each — a genuinely small-data problem.</a:t>
            </a:r>
            <a:endParaRPr lang="en-US" sz="1050" dirty="0"/>
          </a:p>
        </p:txBody>
      </p:sp>
      <p:sp>
        <p:nvSpPr>
          <p:cNvPr id="17"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Train/Test Split: Keeping Evaluation Honest</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6" name="Shape 4"/>
          <p:cNvSpPr/>
          <p:nvPr/>
        </p:nvSpPr>
        <p:spPr>
          <a:xfrm>
            <a:off x="502920" y="320040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layer_00B4D8.png">    </p:cNvPr>
          <p:cNvPicPr>
            <a:picLocks noChangeAspect="1"/>
          </p:cNvPicPr>
          <p:nvPr/>
        </p:nvPicPr>
        <p:blipFill>
          <a:blip r:embed="rId1"/>
          <a:stretch>
            <a:fillRect/>
          </a:stretch>
        </p:blipFill>
        <p:spPr>
          <a:xfrm>
            <a:off x="570814" y="3268294"/>
            <a:ext cx="367132" cy="367132"/>
          </a:xfrm>
          <a:prstGeom prst="rect">
            <a:avLst/>
          </a:prstGeom>
        </p:spPr>
      </p:pic>
      <p:sp>
        <p:nvSpPr>
          <p:cNvPr id="8" name="Text 5"/>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80/20 split: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About 815 samples train the model; the remaining ~204 are held out purely for evaluation.</a:t>
            </a:r>
            <a:endParaRPr lang="en-US" sz="1180" dirty="0"/>
          </a:p>
        </p:txBody>
      </p:sp>
      <p:sp>
        <p:nvSpPr>
          <p:cNvPr id="9" name="Shape 6"/>
          <p:cNvSpPr/>
          <p:nvPr/>
        </p:nvSpPr>
        <p:spPr>
          <a:xfrm>
            <a:off x="502920" y="397764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0814" y="4045534"/>
            <a:ext cx="367132" cy="367132"/>
          </a:xfrm>
          <a:prstGeom prst="rect">
            <a:avLst/>
          </a:prstGeom>
        </p:spPr>
      </p:pic>
      <p:sp>
        <p:nvSpPr>
          <p:cNvPr id="11" name="Text 7"/>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Stratified by class: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Every one of the 20 classes keeps its ~80/20 proportion in both sets — no class is accidentally left thin in testing.</a:t>
            </a:r>
            <a:endParaRPr lang="en-US" sz="1180" dirty="0"/>
          </a:p>
        </p:txBody>
      </p:sp>
      <p:sp>
        <p:nvSpPr>
          <p:cNvPr id="12" name="Shape 8"/>
          <p:cNvSpPr/>
          <p:nvPr/>
        </p:nvSpPr>
        <p:spPr>
          <a:xfrm>
            <a:off x="502920" y="475488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tools_00B4D8.png">    </p:cNvPr>
          <p:cNvPicPr>
            <a:picLocks noChangeAspect="1"/>
          </p:cNvPicPr>
          <p:nvPr/>
        </p:nvPicPr>
        <p:blipFill>
          <a:blip r:embed="rId3"/>
          <a:stretch>
            <a:fillRect/>
          </a:stretch>
        </p:blipFill>
        <p:spPr>
          <a:xfrm>
            <a:off x="570814" y="4822774"/>
            <a:ext cx="367132" cy="367132"/>
          </a:xfrm>
          <a:prstGeom prst="rect">
            <a:avLst/>
          </a:prstGeom>
        </p:spPr>
      </p:pic>
      <p:sp>
        <p:nvSpPr>
          <p:cNvPr id="14" name="Text 9"/>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Fixed random seed: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random_state=42 makes the split reproducible — the same test samples every time the pipeline reruns.</a:t>
            </a:r>
            <a:endParaRPr lang="en-US" sz="1180" dirty="0"/>
          </a:p>
        </p:txBody>
      </p:sp>
      <p:sp>
        <p:nvSpPr>
          <p:cNvPr id="15" name="Shape 10"/>
          <p:cNvSpPr/>
          <p:nvPr/>
        </p:nvSpPr>
        <p:spPr>
          <a:xfrm>
            <a:off x="502920" y="553212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3" descr="/sessions/blissful-zealous-babbage/mnt/outputs/ppt/icons/search_00B4D8.png">    </p:cNvPr>
          <p:cNvPicPr>
            <a:picLocks noChangeAspect="1"/>
          </p:cNvPicPr>
          <p:nvPr/>
        </p:nvPicPr>
        <p:blipFill>
          <a:blip r:embed="rId4"/>
          <a:stretch>
            <a:fillRect/>
          </a:stretch>
        </p:blipFill>
        <p:spPr>
          <a:xfrm>
            <a:off x="570814" y="5600014"/>
            <a:ext cx="367132" cy="367132"/>
          </a:xfrm>
          <a:prstGeom prst="rect">
            <a:avLst/>
          </a:prstGeom>
        </p:spPr>
      </p:pic>
      <p:sp>
        <p:nvSpPr>
          <p:cNvPr id="17" name="Text 11"/>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Test set never touched during tuning: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GridSearchCV only ever sees the training set; the test set is reserved for the one final, honest accuracy number.</a:t>
            </a:r>
            <a:endParaRPr lang="en-US" sz="118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Waveform to Numbers</a:t>
            </a:r>
            <a:endParaRPr lang="en-US" sz="3000" dirty="0"/>
          </a:p>
        </p:txBody>
      </p:sp>
      <p:sp>
        <p:nvSpPr>
          <p:cNvPr id="4" name="Text 2"/>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0B1F3A"/>
                </a:solidFill>
                <a:latin typeface="Calibri" pitchFamily="34" charset="0"/>
                <a:ea typeface="Calibri" pitchFamily="34" charset="-122"/>
                <a:cs typeface="Calibri" pitchFamily="34" charset="-120"/>
              </a:rPr>
              <a:t>17 compact, physically meaningful numbers</a:t>
            </a:r>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 that fall into two families:</a:t>
            </a:r>
            <a:endParaRPr lang="en-US" sz="1400" dirty="0"/>
          </a:p>
        </p:txBody>
      </p:sp>
      <p:sp>
        <p:nvSpPr>
          <p:cNvPr id="5" name="Shape 3"/>
          <p:cNvSpPr/>
          <p:nvPr/>
        </p:nvSpPr>
        <p:spPr>
          <a:xfrm>
            <a:off x="50292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851535" y="3201543"/>
            <a:ext cx="500634" cy="500634"/>
          </a:xfrm>
          <a:prstGeom prst="rect">
            <a:avLst/>
          </a:prstGeom>
        </p:spPr>
      </p:pic>
      <p:sp>
        <p:nvSpPr>
          <p:cNvPr id="8" name="Text 5"/>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Time-domain shape</a:t>
            </a:r>
            <a:endParaRPr lang="en-US" sz="1450" dirty="0"/>
          </a:p>
        </p:txBody>
      </p:sp>
      <p:sp>
        <p:nvSpPr>
          <p:cNvPr id="9" name="Text 6"/>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the signal looks over time — peak voltage, RMS, rise time, settling time, skewness, kurtosis, DC level.</a:t>
            </a:r>
            <a:endParaRPr lang="en-US" sz="1050" dirty="0"/>
          </a:p>
        </p:txBody>
      </p:sp>
      <p:sp>
        <p:nvSpPr>
          <p:cNvPr id="10" name="Shape 7"/>
          <p:cNvSpPr/>
          <p:nvPr/>
        </p:nvSpPr>
        <p:spPr>
          <a:xfrm>
            <a:off x="612648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ve_00B4D8.png">    </p:cNvPr>
          <p:cNvPicPr>
            <a:picLocks noChangeAspect="1"/>
          </p:cNvPicPr>
          <p:nvPr/>
        </p:nvPicPr>
        <p:blipFill>
          <a:blip r:embed="rId2"/>
          <a:stretch>
            <a:fillRect/>
          </a:stretch>
        </p:blipFill>
        <p:spPr>
          <a:xfrm>
            <a:off x="6475095" y="3201543"/>
            <a:ext cx="500634" cy="500634"/>
          </a:xfrm>
          <a:prstGeom prst="rect">
            <a:avLst/>
          </a:prstGeom>
        </p:spPr>
      </p:pic>
      <p:sp>
        <p:nvSpPr>
          <p:cNvPr id="13" name="Text 9"/>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Frequency-domain content</a:t>
            </a:r>
            <a:endParaRPr lang="en-US" sz="1450" dirty="0"/>
          </a:p>
        </p:txBody>
      </p:sp>
      <p:sp>
        <p:nvSpPr>
          <p:cNvPr id="14" name="Text 10"/>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much energy sits at which frequency — dominant frequency, spectral energy, centroid, bandwidth, entropy.</a:t>
            </a:r>
            <a:endParaRPr lang="en-US" sz="1050" dirty="0"/>
          </a:p>
        </p:txBody>
      </p:sp>
      <p:sp>
        <p:nvSpPr>
          <p:cNvPr id="15" name="Shape 11"/>
          <p:cNvSpPr/>
          <p:nvPr/>
        </p:nvSpPr>
        <p:spPr>
          <a:xfrm>
            <a:off x="502920" y="4480560"/>
            <a:ext cx="10607040" cy="1600200"/>
          </a:xfrm>
          <a:prstGeom prst="roundRect">
            <a:avLst>
              <a:gd name="adj" fmla="val 4000"/>
            </a:avLst>
          </a:prstGeom>
          <a:solidFill>
            <a:srgbClr val="EAEEF4"/>
          </a:solidFill>
          <a:ln w="15875">
            <a:solidFill>
              <a:srgbClr val="9FB1C8"/>
            </a:solidFill>
            <a:prstDash val="dash"/>
          </a:ln>
        </p:spPr>
      </p:sp>
      <p:pic>
        <p:nvPicPr>
          <p:cNvPr id="16" name="Image 2" descr="/sessions/blissful-zealous-babbage/mnt/outputs/ppt/icons/wave_64748B.png">    </p:cNvPr>
          <p:cNvPicPr>
            <a:picLocks noChangeAspect="1"/>
          </p:cNvPicPr>
          <p:nvPr/>
        </p:nvPicPr>
        <p:blipFill>
          <a:blip r:embed="rId3"/>
          <a:stretch>
            <a:fillRect/>
          </a:stretch>
        </p:blipFill>
        <p:spPr>
          <a:xfrm>
            <a:off x="5534406" y="4592574"/>
            <a:ext cx="544068" cy="544068"/>
          </a:xfrm>
          <a:prstGeom prst="rect">
            <a:avLst/>
          </a:prstGeom>
        </p:spPr>
      </p:pic>
      <p:sp>
        <p:nvSpPr>
          <p:cNvPr id="17" name="Text 12"/>
          <p:cNvSpPr/>
          <p:nvPr/>
        </p:nvSpPr>
        <p:spPr>
          <a:xfrm>
            <a:off x="685800" y="5055032"/>
            <a:ext cx="10241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ANNOTATED WAVEFORM</a:t>
            </a:r>
            <a:endParaRPr lang="en-US" sz="1300" dirty="0"/>
          </a:p>
        </p:txBody>
      </p:sp>
      <p:sp>
        <p:nvSpPr>
          <p:cNvPr id="18" name="Text 13"/>
          <p:cNvSpPr/>
          <p:nvPr/>
        </p:nvSpPr>
        <p:spPr>
          <a:xfrm>
            <a:off x="777240" y="5402504"/>
            <a:ext cx="10058400" cy="512064"/>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a single trace with peak voltage, rise time and settling time marked</a:t>
            </a:r>
            <a:endParaRPr lang="en-US" sz="105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Amplitude &amp;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f4  std_voltage   = std(v)</a:t>
            </a:r>
            <a:endParaRPr lang="en-US" sz="145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These four numbers describe the basic size and spread of a waveform.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Timing</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rise_time is the single most important feature in the trained model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Statistical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Borrowed from statistics, these describe the </a:t>
            </a:r>
            <a:pPr indent="0" marL="0">
              <a:lnSpc>
                <a:spcPct val="132000"/>
              </a:lnSpc>
              <a:buNone/>
            </a:pPr>
            <a:r>
              <a:rPr lang="en-US" sz="1250" b="1" i="1" dirty="0">
                <a:solidFill>
                  <a:srgbClr val="0B1F3A"/>
                </a:solidFill>
                <a:latin typeface="Calibri" pitchFamily="34" charset="0"/>
                <a:ea typeface="Calibri" pitchFamily="34" charset="-122"/>
                <a:cs typeface="Calibri" pitchFamily="34" charset="-120"/>
              </a:rPr>
              <a:t>shape</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The FFT</a:t>
            </a:r>
            <a:endParaRPr lang="en-US" sz="3000" dirty="0"/>
          </a:p>
        </p:txBody>
      </p:sp>
      <p:sp>
        <p:nvSpPr>
          <p:cNvPr id="4" name="Text 2"/>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Fast Fourier Transform rewrites a signal from “voltage over time” into “energy at each frequency.” </a:t>
            </a:r>
            <a:pPr indent="0" marL="0">
              <a:lnSpc>
                <a:spcPct val="130000"/>
              </a:lnSpc>
              <a:buNone/>
            </a:pPr>
            <a:r>
              <a:rPr lang="en-US" sz="1350" dirty="0">
                <a:solidFill>
                  <a:srgbClr val="64748B"/>
                </a:solidFill>
                <a:latin typeface="Calibri" pitchFamily="34" charset="0"/>
                <a:ea typeface="Calibri" pitchFamily="34" charset="-122"/>
                <a:cs typeface="Calibri" pitchFamily="34" charset="-120"/>
              </a:rPr>
              <a:t>A smooth RC charging curve is dominated by low frequencies; noise spreads energy across many frequencies; an RLC's ringing shows a clear peak at its oscillation frequency.</a:t>
            </a:r>
            <a:endParaRPr lang="en-US" sz="1350" dirty="0"/>
          </a:p>
        </p:txBody>
      </p:sp>
      <p:sp>
        <p:nvSpPr>
          <p:cNvPr id="5" name="Shape 3"/>
          <p:cNvSpPr/>
          <p:nvPr/>
        </p:nvSpPr>
        <p:spPr>
          <a:xfrm>
            <a:off x="502920" y="301752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V(f) = FFT( v(t) )    |    magnitude spectrum |V(f)|</a:t>
            </a:r>
            <a:endParaRPr lang="en-US" sz="1500" dirty="0"/>
          </a:p>
        </p:txBody>
      </p:sp>
      <p:sp>
        <p:nvSpPr>
          <p:cNvPr id="7" name="Text 5"/>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Five features (next slide) are computed from this magnitude spectrum rather than from the raw time signal.</a:t>
            </a:r>
            <a:endParaRPr lang="en-US" sz="1150" dirty="0"/>
          </a:p>
        </p:txBody>
      </p:sp>
      <p:sp>
        <p:nvSpPr>
          <p:cNvPr id="8" name="Shape 6"/>
          <p:cNvSpPr/>
          <p:nvPr/>
        </p:nvSpPr>
        <p:spPr>
          <a:xfrm>
            <a:off x="502920" y="5029200"/>
            <a:ext cx="11185855" cy="457200"/>
          </a:xfrm>
          <a:prstGeom prst="roundRect">
            <a:avLst>
              <a:gd name="adj" fmla="val 12000"/>
            </a:avLst>
          </a:prstGeom>
          <a:solidFill>
            <a:srgbClr val="FFF8E8"/>
          </a:solidFill>
          <a:ln w="12700">
            <a:solidFill>
              <a:srgbClr val="F0C24B"/>
            </a:solidFill>
            <a:prstDash val="solid"/>
          </a:ln>
        </p:spPr>
      </p:sp>
      <p:sp>
        <p:nvSpPr>
          <p:cNvPr id="9" name="Text 7"/>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Spectral Descriptors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spectral_entropy is the third most important feature overall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Structural Features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f14  energy              = sum(v^2)</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crest_factor is the fourth most important feature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17 Features, Three Families</a:t>
            </a:r>
            <a:endParaRPr lang="en-US" sz="3000" dirty="0"/>
          </a:p>
        </p:txBody>
      </p:sp>
      <p:sp>
        <p:nvSpPr>
          <p:cNvPr id="4" name="Shape 2"/>
          <p:cNvSpPr/>
          <p:nvPr/>
        </p:nvSpPr>
        <p:spPr>
          <a:xfrm>
            <a:off x="50292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502920" y="1783080"/>
            <a:ext cx="3429000" cy="594360"/>
          </a:xfrm>
          <a:prstGeom prst="roundRect">
            <a:avLst>
              <a:gd name="adj" fmla="val 13846"/>
            </a:avLst>
          </a:prstGeom>
          <a:solidFill>
            <a:srgbClr val="0B1F3A"/>
          </a:solidFill>
          <a:ln/>
        </p:spPr>
      </p:sp>
      <p:sp>
        <p:nvSpPr>
          <p:cNvPr id="6" name="Shape 4"/>
          <p:cNvSpPr/>
          <p:nvPr/>
        </p:nvSpPr>
        <p:spPr>
          <a:xfrm>
            <a:off x="502920" y="2075688"/>
            <a:ext cx="3429000" cy="301752"/>
          </a:xfrm>
          <a:prstGeom prst="rect">
            <a:avLst/>
          </a:prstGeom>
          <a:solidFill>
            <a:srgbClr val="0B1F3A"/>
          </a:solidFill>
          <a:ln w="12700">
            <a:solidFill>
              <a:srgbClr val="0B1F3A"/>
            </a:solidFill>
            <a:prstDash val="solid"/>
          </a:ln>
        </p:spPr>
      </p:sp>
      <p:sp>
        <p:nvSpPr>
          <p:cNvPr id="7" name="Text 5"/>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Time-Domain (9)</a:t>
            </a:r>
            <a:endParaRPr lang="en-US" sz="1400" dirty="0"/>
          </a:p>
        </p:txBody>
      </p:sp>
      <p:sp>
        <p:nvSpPr>
          <p:cNvPr id="8" name="Shape 6"/>
          <p:cNvSpPr/>
          <p:nvPr/>
        </p:nvSpPr>
        <p:spPr>
          <a:xfrm>
            <a:off x="777240" y="2642616"/>
            <a:ext cx="82296" cy="82296"/>
          </a:xfrm>
          <a:prstGeom prst="ellipse">
            <a:avLst/>
          </a:prstGeom>
          <a:solidFill>
            <a:srgbClr val="00B4D8"/>
          </a:solidFill>
          <a:ln/>
        </p:spPr>
      </p:sp>
      <p:sp>
        <p:nvSpPr>
          <p:cNvPr id="9" name="Text 7"/>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Peak voltage</a:t>
            </a:r>
            <a:endParaRPr lang="en-US" sz="1200" dirty="0"/>
          </a:p>
        </p:txBody>
      </p:sp>
      <p:sp>
        <p:nvSpPr>
          <p:cNvPr id="10" name="Shape 8"/>
          <p:cNvSpPr/>
          <p:nvPr/>
        </p:nvSpPr>
        <p:spPr>
          <a:xfrm>
            <a:off x="777240" y="3081528"/>
            <a:ext cx="82296" cy="82296"/>
          </a:xfrm>
          <a:prstGeom prst="ellipse">
            <a:avLst/>
          </a:prstGeom>
          <a:solidFill>
            <a:srgbClr val="00B4D8"/>
          </a:solidFill>
          <a:ln/>
        </p:spPr>
      </p:sp>
      <p:sp>
        <p:nvSpPr>
          <p:cNvPr id="11" name="Text 9"/>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RMS value</a:t>
            </a:r>
            <a:endParaRPr lang="en-US" sz="1200" dirty="0"/>
          </a:p>
        </p:txBody>
      </p:sp>
      <p:sp>
        <p:nvSpPr>
          <p:cNvPr id="12" name="Shape 10"/>
          <p:cNvSpPr/>
          <p:nvPr/>
        </p:nvSpPr>
        <p:spPr>
          <a:xfrm>
            <a:off x="777240" y="3520440"/>
            <a:ext cx="82296" cy="82296"/>
          </a:xfrm>
          <a:prstGeom prst="ellipse">
            <a:avLst/>
          </a:prstGeom>
          <a:solidFill>
            <a:srgbClr val="00B4D8"/>
          </a:solidFill>
          <a:ln/>
        </p:spPr>
      </p:sp>
      <p:sp>
        <p:nvSpPr>
          <p:cNvPr id="13" name="Text 11"/>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Mean voltage</a:t>
            </a:r>
            <a:endParaRPr lang="en-US" sz="1200" dirty="0"/>
          </a:p>
        </p:txBody>
      </p:sp>
      <p:sp>
        <p:nvSpPr>
          <p:cNvPr id="14" name="Shape 12"/>
          <p:cNvSpPr/>
          <p:nvPr/>
        </p:nvSpPr>
        <p:spPr>
          <a:xfrm>
            <a:off x="777240" y="3959352"/>
            <a:ext cx="82296" cy="82296"/>
          </a:xfrm>
          <a:prstGeom prst="ellipse">
            <a:avLst/>
          </a:prstGeom>
          <a:solidFill>
            <a:srgbClr val="00B4D8"/>
          </a:solidFill>
          <a:ln/>
        </p:spPr>
      </p:sp>
      <p:sp>
        <p:nvSpPr>
          <p:cNvPr id="15" name="Text 13"/>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Std. deviation</a:t>
            </a:r>
            <a:endParaRPr lang="en-US" sz="1200" dirty="0"/>
          </a:p>
        </p:txBody>
      </p:sp>
      <p:sp>
        <p:nvSpPr>
          <p:cNvPr id="16" name="Shape 14"/>
          <p:cNvSpPr/>
          <p:nvPr/>
        </p:nvSpPr>
        <p:spPr>
          <a:xfrm>
            <a:off x="777240" y="4398264"/>
            <a:ext cx="82296" cy="82296"/>
          </a:xfrm>
          <a:prstGeom prst="ellipse">
            <a:avLst/>
          </a:prstGeom>
          <a:solidFill>
            <a:srgbClr val="00B4D8"/>
          </a:solidFill>
          <a:ln/>
        </p:spPr>
      </p:sp>
      <p:sp>
        <p:nvSpPr>
          <p:cNvPr id="17" name="Text 15"/>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Rise time</a:t>
            </a:r>
            <a:endParaRPr lang="en-US" sz="1200" dirty="0"/>
          </a:p>
        </p:txBody>
      </p:sp>
      <p:sp>
        <p:nvSpPr>
          <p:cNvPr id="18" name="Shape 16"/>
          <p:cNvSpPr/>
          <p:nvPr/>
        </p:nvSpPr>
        <p:spPr>
          <a:xfrm>
            <a:off x="777240" y="4837176"/>
            <a:ext cx="82296" cy="82296"/>
          </a:xfrm>
          <a:prstGeom prst="ellipse">
            <a:avLst/>
          </a:prstGeom>
          <a:solidFill>
            <a:srgbClr val="00B4D8"/>
          </a:solidFill>
          <a:ln/>
        </p:spPr>
      </p:sp>
      <p:sp>
        <p:nvSpPr>
          <p:cNvPr id="19" name="Text 17"/>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Settling time</a:t>
            </a:r>
            <a:endParaRPr lang="en-US" sz="1200" dirty="0"/>
          </a:p>
        </p:txBody>
      </p:sp>
      <p:sp>
        <p:nvSpPr>
          <p:cNvPr id="20" name="Shape 18"/>
          <p:cNvSpPr/>
          <p:nvPr/>
        </p:nvSpPr>
        <p:spPr>
          <a:xfrm>
            <a:off x="777240" y="5276088"/>
            <a:ext cx="82296" cy="82296"/>
          </a:xfrm>
          <a:prstGeom prst="ellipse">
            <a:avLst/>
          </a:prstGeom>
          <a:solidFill>
            <a:srgbClr val="00B4D8"/>
          </a:solidFill>
          <a:ln/>
        </p:spPr>
      </p:sp>
      <p:sp>
        <p:nvSpPr>
          <p:cNvPr id="21" name="Text 19"/>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Skewness</a:t>
            </a:r>
            <a:endParaRPr lang="en-US" sz="1200" dirty="0"/>
          </a:p>
        </p:txBody>
      </p:sp>
      <p:sp>
        <p:nvSpPr>
          <p:cNvPr id="22" name="Shape 20"/>
          <p:cNvSpPr/>
          <p:nvPr/>
        </p:nvSpPr>
        <p:spPr>
          <a:xfrm>
            <a:off x="777240" y="5715000"/>
            <a:ext cx="82296" cy="82296"/>
          </a:xfrm>
          <a:prstGeom prst="ellipse">
            <a:avLst/>
          </a:prstGeom>
          <a:solidFill>
            <a:srgbClr val="00B4D8"/>
          </a:solidFill>
          <a:ln/>
        </p:spPr>
      </p:sp>
      <p:sp>
        <p:nvSpPr>
          <p:cNvPr id="23" name="Text 21"/>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Kurtosis</a:t>
            </a:r>
            <a:endParaRPr lang="en-US" sz="1200" dirty="0"/>
          </a:p>
        </p:txBody>
      </p:sp>
      <p:sp>
        <p:nvSpPr>
          <p:cNvPr id="24" name="Shape 22"/>
          <p:cNvSpPr/>
          <p:nvPr/>
        </p:nvSpPr>
        <p:spPr>
          <a:xfrm>
            <a:off x="777240" y="6153912"/>
            <a:ext cx="82296" cy="82296"/>
          </a:xfrm>
          <a:prstGeom prst="ellipse">
            <a:avLst/>
          </a:prstGeom>
          <a:solidFill>
            <a:srgbClr val="00B4D8"/>
          </a:solidFill>
          <a:ln/>
        </p:spPr>
      </p:sp>
      <p:sp>
        <p:nvSpPr>
          <p:cNvPr id="25" name="Text 23"/>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DC level</a:t>
            </a:r>
            <a:endParaRPr lang="en-US" sz="1200" dirty="0"/>
          </a:p>
        </p:txBody>
      </p:sp>
      <p:sp>
        <p:nvSpPr>
          <p:cNvPr id="26" name="Shape 24"/>
          <p:cNvSpPr/>
          <p:nvPr/>
        </p:nvSpPr>
        <p:spPr>
          <a:xfrm>
            <a:off x="425196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7" name="Shape 25"/>
          <p:cNvSpPr/>
          <p:nvPr/>
        </p:nvSpPr>
        <p:spPr>
          <a:xfrm>
            <a:off x="4251960" y="1783080"/>
            <a:ext cx="3429000" cy="594360"/>
          </a:xfrm>
          <a:prstGeom prst="roundRect">
            <a:avLst>
              <a:gd name="adj" fmla="val 13846"/>
            </a:avLst>
          </a:prstGeom>
          <a:solidFill>
            <a:srgbClr val="0B1F3A"/>
          </a:solidFill>
          <a:ln/>
        </p:spPr>
      </p:sp>
      <p:sp>
        <p:nvSpPr>
          <p:cNvPr id="28" name="Shape 26"/>
          <p:cNvSpPr/>
          <p:nvPr/>
        </p:nvSpPr>
        <p:spPr>
          <a:xfrm>
            <a:off x="4251960" y="2075688"/>
            <a:ext cx="3429000" cy="301752"/>
          </a:xfrm>
          <a:prstGeom prst="rect">
            <a:avLst/>
          </a:prstGeom>
          <a:solidFill>
            <a:srgbClr val="0B1F3A"/>
          </a:solidFill>
          <a:ln w="12700">
            <a:solidFill>
              <a:srgbClr val="0B1F3A"/>
            </a:solidFill>
            <a:prstDash val="solid"/>
          </a:ln>
        </p:spPr>
      </p:sp>
      <p:sp>
        <p:nvSpPr>
          <p:cNvPr id="29" name="Text 27"/>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Frequency-Domain (5)</a:t>
            </a:r>
            <a:endParaRPr lang="en-US" sz="1400" dirty="0"/>
          </a:p>
        </p:txBody>
      </p:sp>
      <p:sp>
        <p:nvSpPr>
          <p:cNvPr id="30" name="Shape 28"/>
          <p:cNvSpPr/>
          <p:nvPr/>
        </p:nvSpPr>
        <p:spPr>
          <a:xfrm>
            <a:off x="4526280" y="2642616"/>
            <a:ext cx="82296" cy="82296"/>
          </a:xfrm>
          <a:prstGeom prst="ellipse">
            <a:avLst/>
          </a:prstGeom>
          <a:solidFill>
            <a:srgbClr val="FFB703"/>
          </a:solidFill>
          <a:ln/>
        </p:spPr>
      </p:sp>
      <p:sp>
        <p:nvSpPr>
          <p:cNvPr id="31" name="Text 29"/>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Dominant frequency</a:t>
            </a:r>
            <a:endParaRPr lang="en-US" sz="1200" dirty="0"/>
          </a:p>
        </p:txBody>
      </p:sp>
      <p:sp>
        <p:nvSpPr>
          <p:cNvPr id="32" name="Shape 30"/>
          <p:cNvSpPr/>
          <p:nvPr/>
        </p:nvSpPr>
        <p:spPr>
          <a:xfrm>
            <a:off x="4526280" y="3081528"/>
            <a:ext cx="82296" cy="82296"/>
          </a:xfrm>
          <a:prstGeom prst="ellipse">
            <a:avLst/>
          </a:prstGeom>
          <a:solidFill>
            <a:srgbClr val="FFB703"/>
          </a:solidFill>
          <a:ln/>
        </p:spPr>
      </p:sp>
      <p:sp>
        <p:nvSpPr>
          <p:cNvPr id="33" name="Text 31"/>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energy</a:t>
            </a:r>
            <a:endParaRPr lang="en-US" sz="1200" dirty="0"/>
          </a:p>
        </p:txBody>
      </p:sp>
      <p:sp>
        <p:nvSpPr>
          <p:cNvPr id="34" name="Shape 32"/>
          <p:cNvSpPr/>
          <p:nvPr/>
        </p:nvSpPr>
        <p:spPr>
          <a:xfrm>
            <a:off x="4526280" y="3520440"/>
            <a:ext cx="82296" cy="82296"/>
          </a:xfrm>
          <a:prstGeom prst="ellipse">
            <a:avLst/>
          </a:prstGeom>
          <a:solidFill>
            <a:srgbClr val="FFB703"/>
          </a:solidFill>
          <a:ln/>
        </p:spPr>
      </p:sp>
      <p:sp>
        <p:nvSpPr>
          <p:cNvPr id="35" name="Text 33"/>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centroid</a:t>
            </a:r>
            <a:endParaRPr lang="en-US" sz="1200" dirty="0"/>
          </a:p>
        </p:txBody>
      </p:sp>
      <p:sp>
        <p:nvSpPr>
          <p:cNvPr id="36" name="Shape 34"/>
          <p:cNvSpPr/>
          <p:nvPr/>
        </p:nvSpPr>
        <p:spPr>
          <a:xfrm>
            <a:off x="4526280" y="3959352"/>
            <a:ext cx="82296" cy="82296"/>
          </a:xfrm>
          <a:prstGeom prst="ellipse">
            <a:avLst/>
          </a:prstGeom>
          <a:solidFill>
            <a:srgbClr val="FFB703"/>
          </a:solidFill>
          <a:ln/>
        </p:spPr>
      </p:sp>
      <p:sp>
        <p:nvSpPr>
          <p:cNvPr id="37" name="Text 35"/>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Bandwidth</a:t>
            </a:r>
            <a:endParaRPr lang="en-US" sz="1200" dirty="0"/>
          </a:p>
        </p:txBody>
      </p:sp>
      <p:sp>
        <p:nvSpPr>
          <p:cNvPr id="38" name="Shape 36"/>
          <p:cNvSpPr/>
          <p:nvPr/>
        </p:nvSpPr>
        <p:spPr>
          <a:xfrm>
            <a:off x="4526280" y="4398264"/>
            <a:ext cx="82296" cy="82296"/>
          </a:xfrm>
          <a:prstGeom prst="ellipse">
            <a:avLst/>
          </a:prstGeom>
          <a:solidFill>
            <a:srgbClr val="FFB703"/>
          </a:solidFill>
          <a:ln/>
        </p:spPr>
      </p:sp>
      <p:sp>
        <p:nvSpPr>
          <p:cNvPr id="39" name="Text 37"/>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entropy</a:t>
            </a:r>
            <a:endParaRPr lang="en-US" sz="1200" dirty="0"/>
          </a:p>
        </p:txBody>
      </p:sp>
      <p:sp>
        <p:nvSpPr>
          <p:cNvPr id="40" name="Shape 38"/>
          <p:cNvSpPr/>
          <p:nvPr/>
        </p:nvSpPr>
        <p:spPr>
          <a:xfrm>
            <a:off x="800100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1" name="Shape 39"/>
          <p:cNvSpPr/>
          <p:nvPr/>
        </p:nvSpPr>
        <p:spPr>
          <a:xfrm>
            <a:off x="8001000" y="1783080"/>
            <a:ext cx="3429000" cy="594360"/>
          </a:xfrm>
          <a:prstGeom prst="roundRect">
            <a:avLst>
              <a:gd name="adj" fmla="val 13846"/>
            </a:avLst>
          </a:prstGeom>
          <a:solidFill>
            <a:srgbClr val="0B1F3A"/>
          </a:solidFill>
          <a:ln/>
        </p:spPr>
      </p:sp>
      <p:sp>
        <p:nvSpPr>
          <p:cNvPr id="42" name="Shape 40"/>
          <p:cNvSpPr/>
          <p:nvPr/>
        </p:nvSpPr>
        <p:spPr>
          <a:xfrm>
            <a:off x="8001000" y="2075688"/>
            <a:ext cx="3429000" cy="301752"/>
          </a:xfrm>
          <a:prstGeom prst="rect">
            <a:avLst/>
          </a:prstGeom>
          <a:solidFill>
            <a:srgbClr val="0B1F3A"/>
          </a:solidFill>
          <a:ln w="12700">
            <a:solidFill>
              <a:srgbClr val="0B1F3A"/>
            </a:solidFill>
            <a:prstDash val="solid"/>
          </a:ln>
        </p:spPr>
      </p:sp>
      <p:sp>
        <p:nvSpPr>
          <p:cNvPr id="43" name="Text 41"/>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Structural (3)</a:t>
            </a:r>
            <a:endParaRPr lang="en-US" sz="1400" dirty="0"/>
          </a:p>
        </p:txBody>
      </p:sp>
      <p:sp>
        <p:nvSpPr>
          <p:cNvPr id="44" name="Shape 42"/>
          <p:cNvSpPr/>
          <p:nvPr/>
        </p:nvSpPr>
        <p:spPr>
          <a:xfrm>
            <a:off x="8275320" y="2642616"/>
            <a:ext cx="82296" cy="82296"/>
          </a:xfrm>
          <a:prstGeom prst="ellipse">
            <a:avLst/>
          </a:prstGeom>
          <a:solidFill>
            <a:srgbClr val="5EAE7A"/>
          </a:solidFill>
          <a:ln/>
        </p:spPr>
      </p:sp>
      <p:sp>
        <p:nvSpPr>
          <p:cNvPr id="45" name="Text 43"/>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Zero-crossing rate</a:t>
            </a:r>
            <a:endParaRPr lang="en-US" sz="1200" dirty="0"/>
          </a:p>
        </p:txBody>
      </p:sp>
      <p:sp>
        <p:nvSpPr>
          <p:cNvPr id="46" name="Shape 44"/>
          <p:cNvSpPr/>
          <p:nvPr/>
        </p:nvSpPr>
        <p:spPr>
          <a:xfrm>
            <a:off x="8275320" y="3081528"/>
            <a:ext cx="82296" cy="82296"/>
          </a:xfrm>
          <a:prstGeom prst="ellipse">
            <a:avLst/>
          </a:prstGeom>
          <a:solidFill>
            <a:srgbClr val="5EAE7A"/>
          </a:solidFill>
          <a:ln/>
        </p:spPr>
      </p:sp>
      <p:sp>
        <p:nvSpPr>
          <p:cNvPr id="47" name="Text 45"/>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Crest factor</a:t>
            </a:r>
            <a:endParaRPr lang="en-US" sz="1200" dirty="0"/>
          </a:p>
        </p:txBody>
      </p:sp>
      <p:sp>
        <p:nvSpPr>
          <p:cNvPr id="48" name="Shape 46"/>
          <p:cNvSpPr/>
          <p:nvPr/>
        </p:nvSpPr>
        <p:spPr>
          <a:xfrm>
            <a:off x="8275320" y="3520440"/>
            <a:ext cx="82296" cy="82296"/>
          </a:xfrm>
          <a:prstGeom prst="ellipse">
            <a:avLst/>
          </a:prstGeom>
          <a:solidFill>
            <a:srgbClr val="5EAE7A"/>
          </a:solidFill>
          <a:ln/>
        </p:spPr>
      </p:sp>
      <p:sp>
        <p:nvSpPr>
          <p:cNvPr id="49" name="Text 47"/>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Signal energy</a:t>
            </a:r>
            <a:endParaRPr lang="en-US" sz="1200" dirty="0"/>
          </a:p>
        </p:txBody>
      </p:sp>
      <p:sp>
        <p:nvSpPr>
          <p:cNvPr id="50" name="Text 4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1" name="Text 4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Feature Redundancy: An Honest Look</a:t>
            </a:r>
            <a:endParaRPr lang="en-US" sz="3000" dirty="0"/>
          </a:p>
        </p:txBody>
      </p:sp>
      <p:sp>
        <p:nvSpPr>
          <p:cNvPr id="4" name="Text 2"/>
          <p:cNvSpPr/>
          <p:nvPr/>
        </p:nvSpPr>
        <p:spPr>
          <a:xfrm>
            <a:off x="502920" y="1600200"/>
            <a:ext cx="10607040" cy="411480"/>
          </a:xfrm>
          <a:prstGeom prst="rect">
            <a:avLst/>
          </a:prstGeom>
          <a:noFill/>
          <a:ln/>
        </p:spPr>
        <p:txBody>
          <a:bodyPr wrap="square" lIns="0" tIns="0" rIns="0" bIns="0" rtlCol="0" anchor="ctr"/>
          <a:lstStyle/>
          <a:p>
            <a:pPr indent="0" marL="0">
              <a:lnSpc>
                <a:spcPct val="122000"/>
              </a:lnSpc>
              <a:buNone/>
            </a:pPr>
            <a:r>
              <a:rPr lang="en-US" sz="1200" dirty="0">
                <a:solidFill>
                  <a:srgbClr val="1E293B"/>
                </a:solidFill>
                <a:latin typeface="Calibri" pitchFamily="34" charset="0"/>
                <a:ea typeface="Calibri" pitchFamily="34" charset="-122"/>
                <a:cs typeface="Calibri" pitchFamily="34" charset="-120"/>
              </a:rPr>
              <a:t>With 17 features, some inevitably capture overlapping information. A correlation check across all 1,019 samples (|r| &gt; 0.9) surfaces this directly:</a:t>
            </a:r>
            <a:endParaRPr lang="en-US" sz="1200" dirty="0"/>
          </a:p>
        </p:txBody>
      </p:sp>
      <p:sp>
        <p:nvSpPr>
          <p:cNvPr id="5" name="Shape 3"/>
          <p:cNvSpPr/>
          <p:nvPr/>
        </p:nvSpPr>
        <p:spPr>
          <a:xfrm>
            <a:off x="502920" y="2103120"/>
            <a:ext cx="10607040" cy="512064"/>
          </a:xfrm>
          <a:prstGeom prst="roundRect">
            <a:avLst>
              <a:gd name="adj" fmla="val 10714"/>
            </a:avLst>
          </a:prstGeom>
          <a:solidFill>
            <a:srgbClr val="0B1F3A"/>
          </a:solidFill>
          <a:ln/>
        </p:spPr>
      </p:sp>
      <p:sp>
        <p:nvSpPr>
          <p:cNvPr id="6" name="Text 4"/>
          <p:cNvSpPr/>
          <p:nvPr/>
        </p:nvSpPr>
        <p:spPr>
          <a:xfrm>
            <a:off x="502920" y="2103120"/>
            <a:ext cx="3931920" cy="512064"/>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 pair</a:t>
            </a:r>
            <a:endParaRPr lang="en-US" sz="1200" dirty="0"/>
          </a:p>
        </p:txBody>
      </p:sp>
      <p:sp>
        <p:nvSpPr>
          <p:cNvPr id="7" name="Text 5"/>
          <p:cNvSpPr/>
          <p:nvPr/>
        </p:nvSpPr>
        <p:spPr>
          <a:xfrm>
            <a:off x="4434840" y="2103120"/>
            <a:ext cx="91440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8" name="Text 6"/>
          <p:cNvSpPr/>
          <p:nvPr/>
        </p:nvSpPr>
        <p:spPr>
          <a:xfrm>
            <a:off x="5349240" y="2103120"/>
            <a:ext cx="576072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Why they overlap</a:t>
            </a:r>
            <a:endParaRPr lang="en-US" sz="1200" dirty="0"/>
          </a:p>
        </p:txBody>
      </p:sp>
      <p:sp>
        <p:nvSpPr>
          <p:cNvPr id="9" name="Shape 7"/>
          <p:cNvSpPr/>
          <p:nvPr/>
        </p:nvSpPr>
        <p:spPr>
          <a:xfrm>
            <a:off x="502920" y="2615184"/>
            <a:ext cx="10607040" cy="512064"/>
          </a:xfrm>
          <a:prstGeom prst="rect">
            <a:avLst/>
          </a:prstGeom>
          <a:solidFill>
            <a:srgbClr val="FFFFFF"/>
          </a:solidFill>
          <a:ln w="9525">
            <a:solidFill>
              <a:srgbClr val="E4E9F1"/>
            </a:solidFill>
            <a:prstDash val="solid"/>
          </a:ln>
        </p:spPr>
      </p:sp>
      <p:sp>
        <p:nvSpPr>
          <p:cNvPr id="10" name="Text 8"/>
          <p:cNvSpPr/>
          <p:nvPr/>
        </p:nvSpPr>
        <p:spPr>
          <a:xfrm>
            <a:off x="502920" y="2615184"/>
            <a:ext cx="3931920" cy="512064"/>
          </a:xfrm>
          <a:prstGeom prst="rect">
            <a:avLst/>
          </a:prstGeom>
          <a:noFill/>
          <a:ln/>
        </p:spPr>
        <p:txBody>
          <a:bodyPr wrap="square" lIns="0" tIns="177800" rIns="0" bIns="0" rtlCol="0" anchor="ctr"/>
          <a:lstStyle/>
          <a:p>
            <a:pPr algn="l" indent="0" marL="0">
              <a:buNone/>
            </a:pPr>
            <a:r>
              <a:rPr lang="en-US" sz="1000" b="1" dirty="0">
                <a:solidFill>
                  <a:srgbClr val="1E293B"/>
                </a:solidFill>
                <a:latin typeface="Calibri" pitchFamily="34" charset="0"/>
                <a:ea typeface="Calibri" pitchFamily="34" charset="-122"/>
                <a:cs typeface="Calibri" pitchFamily="34" charset="-120"/>
              </a:rPr>
              <a:t>spectral_energy &lt;-&gt; energy</a:t>
            </a:r>
            <a:endParaRPr lang="en-US" sz="1000" dirty="0"/>
          </a:p>
        </p:txBody>
      </p:sp>
      <p:sp>
        <p:nvSpPr>
          <p:cNvPr id="11" name="Text 9"/>
          <p:cNvSpPr/>
          <p:nvPr/>
        </p:nvSpPr>
        <p:spPr>
          <a:xfrm>
            <a:off x="4434840" y="2615184"/>
            <a:ext cx="91440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0.997</a:t>
            </a:r>
            <a:endParaRPr lang="en-US" sz="1000" dirty="0"/>
          </a:p>
        </p:txBody>
      </p:sp>
      <p:sp>
        <p:nvSpPr>
          <p:cNvPr id="12" name="Text 10"/>
          <p:cNvSpPr/>
          <p:nvPr/>
        </p:nvSpPr>
        <p:spPr>
          <a:xfrm>
            <a:off x="5349240" y="2615184"/>
            <a:ext cx="576072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Parseval's theorem: energy computed from the FFT and from raw samples is almost the same quantity, two ways</a:t>
            </a:r>
            <a:endParaRPr lang="en-US" sz="1000" dirty="0"/>
          </a:p>
        </p:txBody>
      </p:sp>
      <p:sp>
        <p:nvSpPr>
          <p:cNvPr id="13" name="Shape 11"/>
          <p:cNvSpPr/>
          <p:nvPr/>
        </p:nvSpPr>
        <p:spPr>
          <a:xfrm>
            <a:off x="502920" y="3127248"/>
            <a:ext cx="10607040" cy="512064"/>
          </a:xfrm>
          <a:prstGeom prst="rect">
            <a:avLst/>
          </a:prstGeom>
          <a:solidFill>
            <a:srgbClr val="EEF2F7"/>
          </a:solidFill>
          <a:ln w="9525">
            <a:solidFill>
              <a:srgbClr val="E4E9F1"/>
            </a:solidFill>
            <a:prstDash val="solid"/>
          </a:ln>
        </p:spPr>
      </p:sp>
      <p:sp>
        <p:nvSpPr>
          <p:cNvPr id="14" name="Text 12"/>
          <p:cNvSpPr/>
          <p:nvPr/>
        </p:nvSpPr>
        <p:spPr>
          <a:xfrm>
            <a:off x="502920" y="3127248"/>
            <a:ext cx="3931920" cy="512064"/>
          </a:xfrm>
          <a:prstGeom prst="rect">
            <a:avLst/>
          </a:prstGeom>
          <a:noFill/>
          <a:ln/>
        </p:spPr>
        <p:txBody>
          <a:bodyPr wrap="square" lIns="0" tIns="177800" rIns="0" bIns="0" rtlCol="0" anchor="ctr"/>
          <a:lstStyle/>
          <a:p>
            <a:pPr algn="l" indent="0" marL="0">
              <a:buNone/>
            </a:pPr>
            <a:r>
              <a:rPr lang="en-US" sz="1000" b="1" dirty="0">
                <a:solidFill>
                  <a:srgbClr val="1E293B"/>
                </a:solidFill>
                <a:latin typeface="Calibri" pitchFamily="34" charset="0"/>
                <a:ea typeface="Calibri" pitchFamily="34" charset="-122"/>
                <a:cs typeface="Calibri" pitchFamily="34" charset="-120"/>
              </a:rPr>
              <a:t>rms_value &lt;-&gt; mean_voltage</a:t>
            </a:r>
            <a:endParaRPr lang="en-US" sz="1000" dirty="0"/>
          </a:p>
        </p:txBody>
      </p:sp>
      <p:sp>
        <p:nvSpPr>
          <p:cNvPr id="15" name="Text 13"/>
          <p:cNvSpPr/>
          <p:nvPr/>
        </p:nvSpPr>
        <p:spPr>
          <a:xfrm>
            <a:off x="4434840" y="3127248"/>
            <a:ext cx="91440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0.995</a:t>
            </a:r>
            <a:endParaRPr lang="en-US" sz="1000" dirty="0"/>
          </a:p>
        </p:txBody>
      </p:sp>
      <p:sp>
        <p:nvSpPr>
          <p:cNvPr id="16" name="Text 14"/>
          <p:cNvSpPr/>
          <p:nvPr/>
        </p:nvSpPr>
        <p:spPr>
          <a:xfrm>
            <a:off x="5349240" y="3127248"/>
            <a:ext cx="576072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A step response stays mostly positive, so RMS and mean track almost identically</a:t>
            </a:r>
            <a:endParaRPr lang="en-US" sz="1000" dirty="0"/>
          </a:p>
        </p:txBody>
      </p:sp>
      <p:sp>
        <p:nvSpPr>
          <p:cNvPr id="17" name="Shape 15"/>
          <p:cNvSpPr/>
          <p:nvPr/>
        </p:nvSpPr>
        <p:spPr>
          <a:xfrm>
            <a:off x="502920" y="3639312"/>
            <a:ext cx="10607040" cy="512064"/>
          </a:xfrm>
          <a:prstGeom prst="rect">
            <a:avLst/>
          </a:prstGeom>
          <a:solidFill>
            <a:srgbClr val="FFFFFF"/>
          </a:solidFill>
          <a:ln w="9525">
            <a:solidFill>
              <a:srgbClr val="E4E9F1"/>
            </a:solidFill>
            <a:prstDash val="solid"/>
          </a:ln>
        </p:spPr>
      </p:sp>
      <p:sp>
        <p:nvSpPr>
          <p:cNvPr id="18" name="Text 16"/>
          <p:cNvSpPr/>
          <p:nvPr/>
        </p:nvSpPr>
        <p:spPr>
          <a:xfrm>
            <a:off x="502920" y="3639312"/>
            <a:ext cx="3931920" cy="512064"/>
          </a:xfrm>
          <a:prstGeom prst="rect">
            <a:avLst/>
          </a:prstGeom>
          <a:noFill/>
          <a:ln/>
        </p:spPr>
        <p:txBody>
          <a:bodyPr wrap="square" lIns="0" tIns="177800" rIns="0" bIns="0" rtlCol="0" anchor="ctr"/>
          <a:lstStyle/>
          <a:p>
            <a:pPr algn="l" indent="0" marL="0">
              <a:buNone/>
            </a:pPr>
            <a:r>
              <a:rPr lang="en-US" sz="1000" b="1" dirty="0">
                <a:solidFill>
                  <a:srgbClr val="1E293B"/>
                </a:solidFill>
                <a:latin typeface="Calibri" pitchFamily="34" charset="0"/>
                <a:ea typeface="Calibri" pitchFamily="34" charset="-122"/>
                <a:cs typeface="Calibri" pitchFamily="34" charset="-120"/>
              </a:rPr>
              <a:t>spectral_centroid &lt;-&gt; bandwidth</a:t>
            </a:r>
            <a:endParaRPr lang="en-US" sz="1000" dirty="0"/>
          </a:p>
        </p:txBody>
      </p:sp>
      <p:sp>
        <p:nvSpPr>
          <p:cNvPr id="19" name="Text 17"/>
          <p:cNvSpPr/>
          <p:nvPr/>
        </p:nvSpPr>
        <p:spPr>
          <a:xfrm>
            <a:off x="4434840" y="3639312"/>
            <a:ext cx="91440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0.994</a:t>
            </a:r>
            <a:endParaRPr lang="en-US" sz="1000" dirty="0"/>
          </a:p>
        </p:txBody>
      </p:sp>
      <p:sp>
        <p:nvSpPr>
          <p:cNvPr id="20" name="Text 18"/>
          <p:cNvSpPr/>
          <p:nvPr/>
        </p:nvSpPr>
        <p:spPr>
          <a:xfrm>
            <a:off x="5349240" y="3639312"/>
            <a:ext cx="576072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Both are derived from the same magnitude-spectrum weighting</a:t>
            </a:r>
            <a:endParaRPr lang="en-US" sz="1000" dirty="0"/>
          </a:p>
        </p:txBody>
      </p:sp>
      <p:sp>
        <p:nvSpPr>
          <p:cNvPr id="21" name="Shape 19"/>
          <p:cNvSpPr/>
          <p:nvPr/>
        </p:nvSpPr>
        <p:spPr>
          <a:xfrm>
            <a:off x="502920" y="4151376"/>
            <a:ext cx="10607040" cy="512064"/>
          </a:xfrm>
          <a:prstGeom prst="rect">
            <a:avLst/>
          </a:prstGeom>
          <a:solidFill>
            <a:srgbClr val="EEF2F7"/>
          </a:solidFill>
          <a:ln w="9525">
            <a:solidFill>
              <a:srgbClr val="E4E9F1"/>
            </a:solidFill>
            <a:prstDash val="solid"/>
          </a:ln>
        </p:spPr>
      </p:sp>
      <p:sp>
        <p:nvSpPr>
          <p:cNvPr id="22" name="Text 20"/>
          <p:cNvSpPr/>
          <p:nvPr/>
        </p:nvSpPr>
        <p:spPr>
          <a:xfrm>
            <a:off x="502920" y="4151376"/>
            <a:ext cx="3931920" cy="512064"/>
          </a:xfrm>
          <a:prstGeom prst="rect">
            <a:avLst/>
          </a:prstGeom>
          <a:noFill/>
          <a:ln/>
        </p:spPr>
        <p:txBody>
          <a:bodyPr wrap="square" lIns="0" tIns="177800" rIns="0" bIns="0" rtlCol="0" anchor="ctr"/>
          <a:lstStyle/>
          <a:p>
            <a:pPr algn="l" indent="0" marL="0">
              <a:buNone/>
            </a:pPr>
            <a:r>
              <a:rPr lang="en-US" sz="1000" b="1" dirty="0">
                <a:solidFill>
                  <a:srgbClr val="1E293B"/>
                </a:solidFill>
                <a:latin typeface="Calibri" pitchFamily="34" charset="0"/>
                <a:ea typeface="Calibri" pitchFamily="34" charset="-122"/>
                <a:cs typeface="Calibri" pitchFamily="34" charset="-120"/>
              </a:rPr>
              <a:t>peak_voltage &lt;-&gt; dc_level</a:t>
            </a:r>
            <a:endParaRPr lang="en-US" sz="1000" dirty="0"/>
          </a:p>
        </p:txBody>
      </p:sp>
      <p:sp>
        <p:nvSpPr>
          <p:cNvPr id="23" name="Text 21"/>
          <p:cNvSpPr/>
          <p:nvPr/>
        </p:nvSpPr>
        <p:spPr>
          <a:xfrm>
            <a:off x="4434840" y="4151376"/>
            <a:ext cx="91440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0.965</a:t>
            </a:r>
            <a:endParaRPr lang="en-US" sz="1000" dirty="0"/>
          </a:p>
        </p:txBody>
      </p:sp>
      <p:sp>
        <p:nvSpPr>
          <p:cNvPr id="24" name="Text 22"/>
          <p:cNvSpPr/>
          <p:nvPr/>
        </p:nvSpPr>
        <p:spPr>
          <a:xfrm>
            <a:off x="5349240" y="4151376"/>
            <a:ext cx="5760720" cy="512064"/>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For a settled step response, the final steady value sits close to the peak</a:t>
            </a:r>
            <a:endParaRPr lang="en-US" sz="1000" dirty="0"/>
          </a:p>
        </p:txBody>
      </p:sp>
      <p:sp>
        <p:nvSpPr>
          <p:cNvPr id="25" name="Shape 23"/>
          <p:cNvSpPr/>
          <p:nvPr/>
        </p:nvSpPr>
        <p:spPr>
          <a:xfrm>
            <a:off x="502920" y="4754880"/>
            <a:ext cx="10607040" cy="1481328"/>
          </a:xfrm>
          <a:prstGeom prst="roundRect">
            <a:avLst>
              <a:gd name="adj" fmla="val 5556"/>
            </a:avLst>
          </a:prstGeom>
          <a:solidFill>
            <a:srgbClr val="EEF2F7"/>
          </a:solidFill>
          <a:ln w="12700">
            <a:solidFill>
              <a:srgbClr val="E4E9F1"/>
            </a:solidFill>
            <a:prstDash val="solid"/>
          </a:ln>
        </p:spPr>
      </p:sp>
      <p:sp>
        <p:nvSpPr>
          <p:cNvPr id="26" name="Text 24"/>
          <p:cNvSpPr/>
          <p:nvPr/>
        </p:nvSpPr>
        <p:spPr>
          <a:xfrm>
            <a:off x="777240" y="4846320"/>
            <a:ext cx="10058400" cy="1298448"/>
          </a:xfrm>
          <a:prstGeom prst="rect">
            <a:avLst/>
          </a:prstGeom>
          <a:noFill/>
          <a:ln/>
        </p:spPr>
        <p:txBody>
          <a:bodyPr wrap="square" lIns="0" tIns="0" rIns="0" bIns="0" rtlCol="0" anchor="t"/>
          <a:lstStyle/>
          <a:p>
            <a:pPr indent="0" marL="0">
              <a:lnSpc>
                <a:spcPct val="120000"/>
              </a:lnSpc>
              <a:buNone/>
            </a:pPr>
            <a:r>
              <a:rPr lang="en-US" sz="1030" b="1" dirty="0">
                <a:solidFill>
                  <a:srgbClr val="0B1F3A"/>
                </a:solidFill>
                <a:latin typeface="Calibri" pitchFamily="34" charset="0"/>
                <a:ea typeface="Calibri" pitchFamily="34" charset="-122"/>
                <a:cs typeface="Calibri" pitchFamily="34" charset="-120"/>
              </a:rPr>
              <a:t>So does pruning actually help? Tested it. </a:t>
            </a:r>
            <a:pPr indent="0" marL="0">
              <a:lnSpc>
                <a:spcPct val="120000"/>
              </a:lnSpc>
              <a:buNone/>
            </a:pPr>
            <a:r>
              <a:rPr lang="en-US" sz="1030" dirty="0">
                <a:solidFill>
                  <a:srgbClr val="64748B"/>
                </a:solidFill>
                <a:latin typeface="Calibri" pitchFamily="34" charset="0"/>
                <a:ea typeface="Calibri" pitchFamily="34" charset="-122"/>
                <a:cs typeface="Calibri" pitchFamily="34" charset="-120"/>
              </a:rPr>
              <a:t>Dropping the 4 redundant features above (17 -&gt; 13) and re-running the same 15-split evaluation: 77.65% mean accuracy vs. 77.48% for all 17 — a 0.17-point difference that is </a:t>
            </a:r>
            <a:pPr indent="0" marL="0">
              <a:lnSpc>
                <a:spcPct val="120000"/>
              </a:lnSpc>
              <a:buNone/>
            </a:pPr>
            <a:r>
              <a:rPr lang="en-US" sz="1030" b="1" i="1" dirty="0">
                <a:solidFill>
                  <a:srgbClr val="64748B"/>
                </a:solidFill>
                <a:latin typeface="Calibri" pitchFamily="34" charset="0"/>
                <a:ea typeface="Calibri" pitchFamily="34" charset="-122"/>
                <a:cs typeface="Calibri" pitchFamily="34" charset="-120"/>
              </a:rPr>
              <a:t>not statistically significant</a:t>
            </a:r>
            <a:pPr indent="0" marL="0">
              <a:lnSpc>
                <a:spcPct val="120000"/>
              </a:lnSpc>
              <a:buNone/>
            </a:pPr>
            <a:r>
              <a:rPr lang="en-US" sz="1030" dirty="0">
                <a:solidFill>
                  <a:srgbClr val="64748B"/>
                </a:solidFill>
                <a:latin typeface="Calibri" pitchFamily="34" charset="0"/>
                <a:ea typeface="Calibri" pitchFamily="34" charset="-122"/>
                <a:cs typeface="Calibri" pitchFamily="34" charset="-120"/>
              </a:rPr>
              <a:t> (paired t-test, p = 0.136). </a:t>
            </a:r>
            <a:pPr indent="0" marL="0">
              <a:lnSpc>
                <a:spcPct val="120000"/>
              </a:lnSpc>
              <a:buNone/>
            </a:pPr>
            <a:r>
              <a:rPr lang="en-US" sz="1030" b="1" dirty="0">
                <a:solidFill>
                  <a:srgbClr val="0B1F3A"/>
                </a:solidFill>
                <a:latin typeface="Calibri" pitchFamily="34" charset="0"/>
                <a:ea typeface="Calibri" pitchFamily="34" charset="-122"/>
                <a:cs typeface="Calibri" pitchFamily="34" charset="-120"/>
              </a:rPr>
              <a:t>Conclusion: </a:t>
            </a:r>
            <a:pPr indent="0" marL="0">
              <a:lnSpc>
                <a:spcPct val="120000"/>
              </a:lnSpc>
              <a:buNone/>
            </a:pPr>
            <a:r>
              <a:rPr lang="en-US" sz="1030" dirty="0">
                <a:solidFill>
                  <a:srgbClr val="64748B"/>
                </a:solidFill>
                <a:latin typeface="Calibri" pitchFamily="34" charset="0"/>
                <a:ea typeface="Calibri" pitchFamily="34" charset="-122"/>
                <a:cs typeface="Calibri" pitchFamily="34" charset="-120"/>
              </a:rPr>
              <a:t>the redundancy is real but harmless — the RBF kernel simply doesn't get confused by it. Keeping all 17 is a defensible interpretability choice, not a hidden flaw.</a:t>
            </a:r>
            <a:endParaRPr lang="en-US" sz="103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Feature Scaling Matters</a:t>
            </a:r>
            <a:endParaRPr lang="en-US" sz="3000" dirty="0"/>
          </a:p>
        </p:txBody>
      </p:sp>
      <p:sp>
        <p:nvSpPr>
          <p:cNvPr id="4" name="Text 2"/>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17 features live on wildly different scales — </a:t>
            </a:r>
            <a:pPr indent="0" marL="0">
              <a:lnSpc>
                <a:spcPct val="130000"/>
              </a:lnSpc>
              <a:buNone/>
            </a:pPr>
            <a:r>
              <a:rPr lang="en-US" sz="1350" i="1" dirty="0">
                <a:solidFill>
                  <a:srgbClr val="1E293B"/>
                </a:solidFill>
                <a:latin typeface="Calibri" pitchFamily="34" charset="0"/>
                <a:ea typeface="Calibri" pitchFamily="34" charset="-122"/>
                <a:cs typeface="Calibri" pitchFamily="34" charset="-120"/>
              </a:rPr>
              <a:t>spectral_energy can be in the thousands while crest_factor is close to 1.</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An SVM's distance-based math would let large-scale features silently dominate, so every feature is standardized before training:</a:t>
            </a:r>
            <a:endParaRPr lang="en-US" sz="1350" dirty="0"/>
          </a:p>
        </p:txBody>
      </p:sp>
      <p:sp>
        <p:nvSpPr>
          <p:cNvPr id="5" name="Shape 3"/>
          <p:cNvSpPr/>
          <p:nvPr/>
        </p:nvSpPr>
        <p:spPr>
          <a:xfrm>
            <a:off x="502920" y="288036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7" name="Text 5"/>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alibri" pitchFamily="34" charset="0"/>
                <a:ea typeface="Calibri" pitchFamily="34" charset="-122"/>
                <a:cs typeface="Calibri" pitchFamily="34" charset="-120"/>
              </a:rPr>
              <a:t>Critically: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Transformed Dataset: features_v2.csv</a:t>
            </a:r>
            <a:endParaRPr lang="en-US" sz="3000" dirty="0"/>
          </a:p>
        </p:txBody>
      </p:sp>
      <p:sp>
        <p:nvSpPr>
          <p:cNvPr id="4" name="Text 2"/>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This is the file the SVM actually trains on. </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5" name="Shape 3"/>
          <p:cNvSpPr/>
          <p:nvPr/>
        </p:nvSpPr>
        <p:spPr>
          <a:xfrm>
            <a:off x="502920" y="2423160"/>
            <a:ext cx="10607040" cy="512064"/>
          </a:xfrm>
          <a:prstGeom prst="roundRect">
            <a:avLst>
              <a:gd name="adj" fmla="val 10714"/>
            </a:avLst>
          </a:prstGeom>
          <a:solidFill>
            <a:srgbClr val="0B1F3A"/>
          </a:solidFill>
          <a:ln/>
        </p:spPr>
      </p:sp>
      <p:sp>
        <p:nvSpPr>
          <p:cNvPr id="6" name="Text 4"/>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Calibri" pitchFamily="34" charset="0"/>
                <a:ea typeface="Calibri" pitchFamily="34" charset="-122"/>
                <a:cs typeface="Calibri" pitchFamily="34" charset="-120"/>
              </a:rPr>
              <a:t>circuit</a:t>
            </a:r>
            <a:endParaRPr lang="en-US" sz="1020" dirty="0"/>
          </a:p>
        </p:txBody>
      </p:sp>
      <p:sp>
        <p:nvSpPr>
          <p:cNvPr id="7" name="Text 5"/>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fault</a:t>
            </a:r>
            <a:endParaRPr lang="en-US" sz="1020" dirty="0"/>
          </a:p>
        </p:txBody>
      </p:sp>
      <p:sp>
        <p:nvSpPr>
          <p:cNvPr id="8" name="Text 6"/>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 peak</a:t>
            </a:r>
            <a:endParaRPr lang="en-US" sz="1020" dirty="0"/>
          </a:p>
        </p:txBody>
      </p:sp>
      <p:sp>
        <p:nvSpPr>
          <p:cNvPr id="9" name="Text 7"/>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f4 std</a:t>
            </a:r>
            <a:endParaRPr lang="en-US" sz="1020" dirty="0"/>
          </a:p>
        </p:txBody>
      </p:sp>
      <p:sp>
        <p:nvSpPr>
          <p:cNvPr id="10" name="Text 8"/>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f5 rise_t</a:t>
            </a:r>
            <a:endParaRPr lang="en-US" sz="1020" dirty="0"/>
          </a:p>
        </p:txBody>
      </p:sp>
      <p:sp>
        <p:nvSpPr>
          <p:cNvPr id="11" name="Text 9"/>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f9 dom.freq</a:t>
            </a:r>
            <a:endParaRPr lang="en-US" sz="1020" dirty="0"/>
          </a:p>
        </p:txBody>
      </p:sp>
      <p:sp>
        <p:nvSpPr>
          <p:cNvPr id="12" name="Text 10"/>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f13 entropy</a:t>
            </a:r>
            <a:endParaRPr lang="en-US" sz="1020" dirty="0"/>
          </a:p>
        </p:txBody>
      </p:sp>
      <p:sp>
        <p:nvSpPr>
          <p:cNvPr id="13" name="Text 11"/>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f17 dc_lvl</a:t>
            </a:r>
            <a:endParaRPr lang="en-US" sz="1020" dirty="0"/>
          </a:p>
        </p:txBody>
      </p:sp>
      <p:sp>
        <p:nvSpPr>
          <p:cNvPr id="14" name="Shape 12"/>
          <p:cNvSpPr/>
          <p:nvPr/>
        </p:nvSpPr>
        <p:spPr>
          <a:xfrm>
            <a:off x="502920" y="2935224"/>
            <a:ext cx="10607040" cy="512064"/>
          </a:xfrm>
          <a:prstGeom prst="rect">
            <a:avLst/>
          </a:prstGeom>
          <a:solidFill>
            <a:srgbClr val="FFFFFF"/>
          </a:solidFill>
          <a:ln w="9525">
            <a:solidFill>
              <a:srgbClr val="E4E9F1"/>
            </a:solidFill>
            <a:prstDash val="solid"/>
          </a:ln>
        </p:spPr>
      </p:sp>
      <p:sp>
        <p:nvSpPr>
          <p:cNvPr id="15" name="Text 13"/>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16" name="Text 14"/>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open</a:t>
            </a:r>
            <a:endParaRPr lang="en-US" sz="1020" dirty="0"/>
          </a:p>
        </p:txBody>
      </p:sp>
      <p:sp>
        <p:nvSpPr>
          <p:cNvPr id="17" name="Text 15"/>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0.047</a:t>
            </a:r>
            <a:endParaRPr lang="en-US" sz="1020" dirty="0"/>
          </a:p>
        </p:txBody>
      </p:sp>
      <p:sp>
        <p:nvSpPr>
          <p:cNvPr id="18" name="Text 16"/>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0.014</a:t>
            </a:r>
            <a:endParaRPr lang="en-US" sz="1020" dirty="0"/>
          </a:p>
        </p:txBody>
      </p:sp>
      <p:sp>
        <p:nvSpPr>
          <p:cNvPr id="19" name="Text 17"/>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0.076 s</a:t>
            </a:r>
            <a:endParaRPr lang="en-US" sz="1020" dirty="0"/>
          </a:p>
        </p:txBody>
      </p:sp>
      <p:sp>
        <p:nvSpPr>
          <p:cNvPr id="20" name="Text 18"/>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21" name="Text 19"/>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0.926</a:t>
            </a:r>
            <a:endParaRPr lang="en-US" sz="1020" dirty="0"/>
          </a:p>
        </p:txBody>
      </p:sp>
      <p:sp>
        <p:nvSpPr>
          <p:cNvPr id="22" name="Text 20"/>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0.045</a:t>
            </a:r>
            <a:endParaRPr lang="en-US" sz="1020" dirty="0"/>
          </a:p>
        </p:txBody>
      </p:sp>
      <p:sp>
        <p:nvSpPr>
          <p:cNvPr id="23" name="Shape 21"/>
          <p:cNvSpPr/>
          <p:nvPr/>
        </p:nvSpPr>
        <p:spPr>
          <a:xfrm>
            <a:off x="502920" y="3447288"/>
            <a:ext cx="10607040" cy="512064"/>
          </a:xfrm>
          <a:prstGeom prst="rect">
            <a:avLst/>
          </a:prstGeom>
          <a:solidFill>
            <a:srgbClr val="EEF2F7"/>
          </a:solidFill>
          <a:ln w="9525">
            <a:solidFill>
              <a:srgbClr val="E4E9F1"/>
            </a:solidFill>
            <a:prstDash val="solid"/>
          </a:ln>
        </p:spPr>
      </p:sp>
      <p:sp>
        <p:nvSpPr>
          <p:cNvPr id="24" name="Text 22"/>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25" name="Text 23"/>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short</a:t>
            </a:r>
            <a:endParaRPr lang="en-US" sz="1020" dirty="0"/>
          </a:p>
        </p:txBody>
      </p:sp>
      <p:sp>
        <p:nvSpPr>
          <p:cNvPr id="26" name="Text 24"/>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27" name="Text 25"/>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0.353</a:t>
            </a:r>
            <a:endParaRPr lang="en-US" sz="1020" dirty="0"/>
          </a:p>
        </p:txBody>
      </p:sp>
      <p:sp>
        <p:nvSpPr>
          <p:cNvPr id="28" name="Text 26"/>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0.000 s</a:t>
            </a:r>
            <a:endParaRPr lang="en-US" sz="1020" dirty="0"/>
          </a:p>
        </p:txBody>
      </p:sp>
      <p:sp>
        <p:nvSpPr>
          <p:cNvPr id="29" name="Text 27"/>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900.7 Hz</a:t>
            </a:r>
            <a:endParaRPr lang="en-US" sz="1020" dirty="0"/>
          </a:p>
        </p:txBody>
      </p:sp>
      <p:sp>
        <p:nvSpPr>
          <p:cNvPr id="30" name="Text 28"/>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0.042</a:t>
            </a:r>
            <a:endParaRPr lang="en-US" sz="1020" dirty="0"/>
          </a:p>
        </p:txBody>
      </p:sp>
      <p:sp>
        <p:nvSpPr>
          <p:cNvPr id="31" name="Text 29"/>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32" name="Shape 30"/>
          <p:cNvSpPr/>
          <p:nvPr/>
        </p:nvSpPr>
        <p:spPr>
          <a:xfrm>
            <a:off x="502920" y="3959352"/>
            <a:ext cx="10607040" cy="512064"/>
          </a:xfrm>
          <a:prstGeom prst="rect">
            <a:avLst/>
          </a:prstGeom>
          <a:solidFill>
            <a:srgbClr val="FFFFFF"/>
          </a:solidFill>
          <a:ln w="9525">
            <a:solidFill>
              <a:srgbClr val="E4E9F1"/>
            </a:solidFill>
            <a:prstDash val="solid"/>
          </a:ln>
        </p:spPr>
      </p:sp>
      <p:sp>
        <p:nvSpPr>
          <p:cNvPr id="33" name="Text 31"/>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RLC</a:t>
            </a:r>
            <a:endParaRPr lang="en-US" sz="1020" dirty="0"/>
          </a:p>
        </p:txBody>
      </p:sp>
      <p:sp>
        <p:nvSpPr>
          <p:cNvPr id="34" name="Text 32"/>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drift</a:t>
            </a:r>
            <a:endParaRPr lang="en-US" sz="1020" dirty="0"/>
          </a:p>
        </p:txBody>
      </p:sp>
      <p:sp>
        <p:nvSpPr>
          <p:cNvPr id="35" name="Text 33"/>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8.668</a:t>
            </a:r>
            <a:endParaRPr lang="en-US" sz="1020" dirty="0"/>
          </a:p>
        </p:txBody>
      </p:sp>
      <p:sp>
        <p:nvSpPr>
          <p:cNvPr id="36" name="Text 34"/>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2.835</a:t>
            </a:r>
            <a:endParaRPr lang="en-US" sz="1020" dirty="0"/>
          </a:p>
        </p:txBody>
      </p:sp>
      <p:sp>
        <p:nvSpPr>
          <p:cNvPr id="37" name="Text 35"/>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0.062 s</a:t>
            </a:r>
            <a:endParaRPr lang="en-US" sz="1020" dirty="0"/>
          </a:p>
        </p:txBody>
      </p:sp>
      <p:sp>
        <p:nvSpPr>
          <p:cNvPr id="38" name="Text 36"/>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39" name="Text 37"/>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1.243</a:t>
            </a:r>
            <a:endParaRPr lang="en-US" sz="1020" dirty="0"/>
          </a:p>
        </p:txBody>
      </p:sp>
      <p:sp>
        <p:nvSpPr>
          <p:cNvPr id="40" name="Text 38"/>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8.276</a:t>
            </a:r>
            <a:endParaRPr lang="en-US" sz="1020" dirty="0"/>
          </a:p>
        </p:txBody>
      </p:sp>
      <p:sp>
        <p:nvSpPr>
          <p:cNvPr id="41" name="Shape 39"/>
          <p:cNvSpPr/>
          <p:nvPr/>
        </p:nvSpPr>
        <p:spPr>
          <a:xfrm>
            <a:off x="502920" y="4471416"/>
            <a:ext cx="10607040" cy="512064"/>
          </a:xfrm>
          <a:prstGeom prst="rect">
            <a:avLst/>
          </a:prstGeom>
          <a:solidFill>
            <a:srgbClr val="EEF2F7"/>
          </a:solidFill>
          <a:ln w="9525">
            <a:solidFill>
              <a:srgbClr val="E4E9F1"/>
            </a:solidFill>
            <a:prstDash val="solid"/>
          </a:ln>
        </p:spPr>
      </p:sp>
      <p:sp>
        <p:nvSpPr>
          <p:cNvPr id="42" name="Text 40"/>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SALLEN_KEY</a:t>
            </a:r>
            <a:endParaRPr lang="en-US" sz="1020" dirty="0"/>
          </a:p>
        </p:txBody>
      </p:sp>
      <p:sp>
        <p:nvSpPr>
          <p:cNvPr id="43" name="Text 41"/>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noise</a:t>
            </a:r>
            <a:endParaRPr lang="en-US" sz="1020" dirty="0"/>
          </a:p>
        </p:txBody>
      </p:sp>
      <p:sp>
        <p:nvSpPr>
          <p:cNvPr id="44" name="Text 42"/>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5.704</a:t>
            </a:r>
            <a:endParaRPr lang="en-US" sz="1020" dirty="0"/>
          </a:p>
        </p:txBody>
      </p:sp>
      <p:sp>
        <p:nvSpPr>
          <p:cNvPr id="45" name="Text 43"/>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0.446</a:t>
            </a:r>
            <a:endParaRPr lang="en-US" sz="1020" dirty="0"/>
          </a:p>
        </p:txBody>
      </p:sp>
      <p:sp>
        <p:nvSpPr>
          <p:cNvPr id="46" name="Text 44"/>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0.020 s</a:t>
            </a:r>
            <a:endParaRPr lang="en-US" sz="1020" dirty="0"/>
          </a:p>
        </p:txBody>
      </p:sp>
      <p:sp>
        <p:nvSpPr>
          <p:cNvPr id="47" name="Text 45"/>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1194.0 Hz</a:t>
            </a:r>
            <a:endParaRPr lang="en-US" sz="1020" dirty="0"/>
          </a:p>
        </p:txBody>
      </p:sp>
      <p:sp>
        <p:nvSpPr>
          <p:cNvPr id="48" name="Text 46"/>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0.063</a:t>
            </a:r>
            <a:endParaRPr lang="en-US" sz="1020" dirty="0"/>
          </a:p>
        </p:txBody>
      </p:sp>
      <p:sp>
        <p:nvSpPr>
          <p:cNvPr id="49" name="Text 47"/>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5.064</a:t>
            </a:r>
            <a:endParaRPr lang="en-US" sz="1020" dirty="0"/>
          </a:p>
        </p:txBody>
      </p:sp>
      <p:sp>
        <p:nvSpPr>
          <p:cNvPr id="50" name="Text 48"/>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SVM? An Empirical Comparison First</a:t>
            </a:r>
            <a:endParaRPr lang="en-US" sz="3000" dirty="0"/>
          </a:p>
        </p:txBody>
      </p:sp>
      <p:sp>
        <p:nvSpPr>
          <p:cNvPr id="4" name="Text 2"/>
          <p:cNvSpPr/>
          <p:nvPr/>
        </p:nvSpPr>
        <p:spPr>
          <a:xfrm>
            <a:off x="502920" y="1645920"/>
            <a:ext cx="10607040" cy="777240"/>
          </a:xfrm>
          <a:prstGeom prst="rect">
            <a:avLst/>
          </a:prstGeom>
          <a:noFill/>
          <a:ln/>
        </p:spPr>
        <p:txBody>
          <a:bodyPr wrap="square" lIns="0" tIns="0" rIns="0" bIns="0" rtlCol="0" anchor="ctr"/>
          <a:lstStyle/>
          <a:p>
            <a:pPr indent="0" marL="0">
              <a:lnSpc>
                <a:spcPct val="122000"/>
              </a:lnSpc>
              <a:buNone/>
            </a:pPr>
            <a:r>
              <a:rPr lang="en-US" sz="1150" dirty="0">
                <a:solidFill>
                  <a:srgbClr val="1E293B"/>
                </a:solidFill>
                <a:latin typeface="Calibri" pitchFamily="34" charset="0"/>
                <a:ea typeface="Calibri" pitchFamily="34" charset="-122"/>
                <a:cs typeface="Calibri" pitchFamily="34" charset="-120"/>
              </a:rPr>
              <a:t>Before going into SVM theory, a fair question: why this algorithm and not something simpler? Four alternative classifiers were trained on the exact same 17 features, averaged over 15 random 80/20 splits (no topology correction applied to any model, for a like-for-like comparison):</a:t>
            </a:r>
            <a:endParaRPr lang="en-US" sz="1150" dirty="0"/>
          </a:p>
        </p:txBody>
      </p:sp>
      <p:sp>
        <p:nvSpPr>
          <p:cNvPr id="5" name="Shape 3"/>
          <p:cNvSpPr/>
          <p:nvPr/>
        </p:nvSpPr>
        <p:spPr>
          <a:xfrm>
            <a:off x="502920" y="2487168"/>
            <a:ext cx="10607040" cy="493776"/>
          </a:xfrm>
          <a:prstGeom prst="roundRect">
            <a:avLst>
              <a:gd name="adj" fmla="val 11111"/>
            </a:avLst>
          </a:prstGeom>
          <a:solidFill>
            <a:srgbClr val="0B1F3A"/>
          </a:solidFill>
          <a:ln/>
        </p:spPr>
      </p:sp>
      <p:sp>
        <p:nvSpPr>
          <p:cNvPr id="6" name="Text 4"/>
          <p:cNvSpPr/>
          <p:nvPr/>
        </p:nvSpPr>
        <p:spPr>
          <a:xfrm>
            <a:off x="502920" y="2487168"/>
            <a:ext cx="3657600" cy="493776"/>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7" name="Text 5"/>
          <p:cNvSpPr/>
          <p:nvPr/>
        </p:nvSpPr>
        <p:spPr>
          <a:xfrm>
            <a:off x="4160520" y="2487168"/>
            <a:ext cx="192024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Mean accuracy</a:t>
            </a:r>
            <a:endParaRPr lang="en-US" sz="1200" dirty="0"/>
          </a:p>
        </p:txBody>
      </p:sp>
      <p:sp>
        <p:nvSpPr>
          <p:cNvPr id="8" name="Text 6"/>
          <p:cNvSpPr/>
          <p:nvPr/>
        </p:nvSpPr>
        <p:spPr>
          <a:xfrm>
            <a:off x="6080760" y="2487168"/>
            <a:ext cx="155448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p>
        </p:txBody>
      </p:sp>
      <p:sp>
        <p:nvSpPr>
          <p:cNvPr id="9" name="Text 7"/>
          <p:cNvSpPr/>
          <p:nvPr/>
        </p:nvSpPr>
        <p:spPr>
          <a:xfrm>
            <a:off x="7635240" y="2487168"/>
            <a:ext cx="347472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502920" y="2980944"/>
            <a:ext cx="10607040" cy="493776"/>
          </a:xfrm>
          <a:prstGeom prst="rect">
            <a:avLst/>
          </a:prstGeom>
          <a:solidFill>
            <a:srgbClr val="FFFFFF"/>
          </a:solidFill>
          <a:ln w="9525">
            <a:solidFill>
              <a:srgbClr val="E4E9F1"/>
            </a:solidFill>
            <a:prstDash val="solid"/>
          </a:ln>
        </p:spPr>
      </p:sp>
      <p:sp>
        <p:nvSpPr>
          <p:cNvPr id="11" name="Text 9"/>
          <p:cNvSpPr/>
          <p:nvPr/>
        </p:nvSpPr>
        <p:spPr>
          <a:xfrm>
            <a:off x="502920" y="2980944"/>
            <a:ext cx="3657600" cy="493776"/>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Random Forest (200 trees)</a:t>
            </a:r>
            <a:endParaRPr lang="en-US" sz="1050" dirty="0"/>
          </a:p>
        </p:txBody>
      </p:sp>
      <p:sp>
        <p:nvSpPr>
          <p:cNvPr id="12" name="Text 10"/>
          <p:cNvSpPr/>
          <p:nvPr/>
        </p:nvSpPr>
        <p:spPr>
          <a:xfrm>
            <a:off x="4160520" y="2980944"/>
            <a:ext cx="192024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67.88%</a:t>
            </a:r>
            <a:endParaRPr lang="en-US" sz="1050" dirty="0"/>
          </a:p>
        </p:txBody>
      </p:sp>
      <p:sp>
        <p:nvSpPr>
          <p:cNvPr id="13" name="Text 11"/>
          <p:cNvSpPr/>
          <p:nvPr/>
        </p:nvSpPr>
        <p:spPr>
          <a:xfrm>
            <a:off x="6080760" y="2980944"/>
            <a:ext cx="155448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2.18</a:t>
            </a:r>
            <a:endParaRPr lang="en-US" sz="1050" dirty="0"/>
          </a:p>
        </p:txBody>
      </p:sp>
      <p:sp>
        <p:nvSpPr>
          <p:cNvPr id="14" name="Text 12"/>
          <p:cNvSpPr/>
          <p:nvPr/>
        </p:nvSpPr>
        <p:spPr>
          <a:xfrm>
            <a:off x="7635240" y="2980944"/>
            <a:ext cx="347472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Underfits with default depth on ~40 train samples/class</a:t>
            </a:r>
            <a:endParaRPr lang="en-US" sz="1050" dirty="0"/>
          </a:p>
        </p:txBody>
      </p:sp>
      <p:sp>
        <p:nvSpPr>
          <p:cNvPr id="15" name="Shape 13"/>
          <p:cNvSpPr/>
          <p:nvPr/>
        </p:nvSpPr>
        <p:spPr>
          <a:xfrm>
            <a:off x="502920" y="3474720"/>
            <a:ext cx="10607040" cy="493776"/>
          </a:xfrm>
          <a:prstGeom prst="rect">
            <a:avLst/>
          </a:prstGeom>
          <a:solidFill>
            <a:srgbClr val="EEF2F7"/>
          </a:solidFill>
          <a:ln w="9525">
            <a:solidFill>
              <a:srgbClr val="E4E9F1"/>
            </a:solidFill>
            <a:prstDash val="solid"/>
          </a:ln>
        </p:spPr>
      </p:sp>
      <p:sp>
        <p:nvSpPr>
          <p:cNvPr id="16" name="Text 14"/>
          <p:cNvSpPr/>
          <p:nvPr/>
        </p:nvSpPr>
        <p:spPr>
          <a:xfrm>
            <a:off x="502920" y="3474720"/>
            <a:ext cx="3657600" cy="493776"/>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Decision Tree</a:t>
            </a:r>
            <a:endParaRPr lang="en-US" sz="1050" dirty="0"/>
          </a:p>
        </p:txBody>
      </p:sp>
      <p:sp>
        <p:nvSpPr>
          <p:cNvPr id="17" name="Text 15"/>
          <p:cNvSpPr/>
          <p:nvPr/>
        </p:nvSpPr>
        <p:spPr>
          <a:xfrm>
            <a:off x="4160520" y="3474720"/>
            <a:ext cx="192024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69.93%</a:t>
            </a:r>
            <a:endParaRPr lang="en-US" sz="1050" dirty="0"/>
          </a:p>
        </p:txBody>
      </p:sp>
      <p:sp>
        <p:nvSpPr>
          <p:cNvPr id="18" name="Text 16"/>
          <p:cNvSpPr/>
          <p:nvPr/>
        </p:nvSpPr>
        <p:spPr>
          <a:xfrm>
            <a:off x="6080760" y="3474720"/>
            <a:ext cx="155448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2.51</a:t>
            </a:r>
            <a:endParaRPr lang="en-US" sz="1050" dirty="0"/>
          </a:p>
        </p:txBody>
      </p:sp>
      <p:sp>
        <p:nvSpPr>
          <p:cNvPr id="19" name="Text 17"/>
          <p:cNvSpPr/>
          <p:nvPr/>
        </p:nvSpPr>
        <p:spPr>
          <a:xfrm>
            <a:off x="7635240" y="3474720"/>
            <a:ext cx="347472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 single tree overfits noisy per-sample splits</a:t>
            </a:r>
            <a:endParaRPr lang="en-US" sz="1050" dirty="0"/>
          </a:p>
        </p:txBody>
      </p:sp>
      <p:sp>
        <p:nvSpPr>
          <p:cNvPr id="20" name="Shape 18"/>
          <p:cNvSpPr/>
          <p:nvPr/>
        </p:nvSpPr>
        <p:spPr>
          <a:xfrm>
            <a:off x="502920" y="3968496"/>
            <a:ext cx="10607040" cy="493776"/>
          </a:xfrm>
          <a:prstGeom prst="rect">
            <a:avLst/>
          </a:prstGeom>
          <a:solidFill>
            <a:srgbClr val="FFFFFF"/>
          </a:solidFill>
          <a:ln w="9525">
            <a:solidFill>
              <a:srgbClr val="E4E9F1"/>
            </a:solidFill>
            <a:prstDash val="solid"/>
          </a:ln>
        </p:spPr>
      </p:sp>
      <p:sp>
        <p:nvSpPr>
          <p:cNvPr id="21" name="Text 19"/>
          <p:cNvSpPr/>
          <p:nvPr/>
        </p:nvSpPr>
        <p:spPr>
          <a:xfrm>
            <a:off x="502920" y="3968496"/>
            <a:ext cx="3657600" cy="493776"/>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k-NN (k=5)</a:t>
            </a:r>
            <a:endParaRPr lang="en-US" sz="1050" dirty="0"/>
          </a:p>
        </p:txBody>
      </p:sp>
      <p:sp>
        <p:nvSpPr>
          <p:cNvPr id="22" name="Text 20"/>
          <p:cNvSpPr/>
          <p:nvPr/>
        </p:nvSpPr>
        <p:spPr>
          <a:xfrm>
            <a:off x="4160520" y="3968496"/>
            <a:ext cx="192024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71.50%</a:t>
            </a:r>
            <a:endParaRPr lang="en-US" sz="1050" dirty="0"/>
          </a:p>
        </p:txBody>
      </p:sp>
      <p:sp>
        <p:nvSpPr>
          <p:cNvPr id="23" name="Text 21"/>
          <p:cNvSpPr/>
          <p:nvPr/>
        </p:nvSpPr>
        <p:spPr>
          <a:xfrm>
            <a:off x="6080760" y="3968496"/>
            <a:ext cx="155448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2.02</a:t>
            </a:r>
            <a:endParaRPr lang="en-US" sz="1050" dirty="0"/>
          </a:p>
        </p:txBody>
      </p:sp>
      <p:sp>
        <p:nvSpPr>
          <p:cNvPr id="24" name="Text 22"/>
          <p:cNvSpPr/>
          <p:nvPr/>
        </p:nvSpPr>
        <p:spPr>
          <a:xfrm>
            <a:off x="7635240" y="3968496"/>
            <a:ext cx="347472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Struggles once 17 dimensions dilute distance</a:t>
            </a:r>
            <a:endParaRPr lang="en-US" sz="1050" dirty="0"/>
          </a:p>
        </p:txBody>
      </p:sp>
      <p:sp>
        <p:nvSpPr>
          <p:cNvPr id="25" name="Shape 23"/>
          <p:cNvSpPr/>
          <p:nvPr/>
        </p:nvSpPr>
        <p:spPr>
          <a:xfrm>
            <a:off x="502920" y="4462272"/>
            <a:ext cx="10607040" cy="493776"/>
          </a:xfrm>
          <a:prstGeom prst="rect">
            <a:avLst/>
          </a:prstGeom>
          <a:solidFill>
            <a:srgbClr val="EEF2F7"/>
          </a:solidFill>
          <a:ln w="9525">
            <a:solidFill>
              <a:srgbClr val="E4E9F1"/>
            </a:solidFill>
            <a:prstDash val="solid"/>
          </a:ln>
        </p:spPr>
      </p:sp>
      <p:sp>
        <p:nvSpPr>
          <p:cNvPr id="26" name="Text 24"/>
          <p:cNvSpPr/>
          <p:nvPr/>
        </p:nvSpPr>
        <p:spPr>
          <a:xfrm>
            <a:off x="502920" y="4462272"/>
            <a:ext cx="3657600" cy="493776"/>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Logistic Regression</a:t>
            </a:r>
            <a:endParaRPr lang="en-US" sz="1050" dirty="0"/>
          </a:p>
        </p:txBody>
      </p:sp>
      <p:sp>
        <p:nvSpPr>
          <p:cNvPr id="27" name="Text 25"/>
          <p:cNvSpPr/>
          <p:nvPr/>
        </p:nvSpPr>
        <p:spPr>
          <a:xfrm>
            <a:off x="4160520" y="4462272"/>
            <a:ext cx="192024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74.74%</a:t>
            </a:r>
            <a:endParaRPr lang="en-US" sz="1050" dirty="0"/>
          </a:p>
        </p:txBody>
      </p:sp>
      <p:sp>
        <p:nvSpPr>
          <p:cNvPr id="28" name="Text 26"/>
          <p:cNvSpPr/>
          <p:nvPr/>
        </p:nvSpPr>
        <p:spPr>
          <a:xfrm>
            <a:off x="6080760" y="4462272"/>
            <a:ext cx="155448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1.91</a:t>
            </a:r>
            <a:endParaRPr lang="en-US" sz="1050" dirty="0"/>
          </a:p>
        </p:txBody>
      </p:sp>
      <p:sp>
        <p:nvSpPr>
          <p:cNvPr id="29" name="Text 27"/>
          <p:cNvSpPr/>
          <p:nvPr/>
        </p:nvSpPr>
        <p:spPr>
          <a:xfrm>
            <a:off x="7635240" y="4462272"/>
            <a:ext cx="347472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Strong linear baseline, close to SVM-Linear</a:t>
            </a:r>
            <a:endParaRPr lang="en-US" sz="1050" dirty="0"/>
          </a:p>
        </p:txBody>
      </p:sp>
      <p:sp>
        <p:nvSpPr>
          <p:cNvPr id="30" name="Shape 28"/>
          <p:cNvSpPr/>
          <p:nvPr/>
        </p:nvSpPr>
        <p:spPr>
          <a:xfrm>
            <a:off x="502920" y="4956048"/>
            <a:ext cx="10607040" cy="493776"/>
          </a:xfrm>
          <a:prstGeom prst="rect">
            <a:avLst/>
          </a:prstGeom>
          <a:solidFill>
            <a:srgbClr val="FFFFFF"/>
          </a:solidFill>
          <a:ln w="9525">
            <a:solidFill>
              <a:srgbClr val="E4E9F1"/>
            </a:solidFill>
            <a:prstDash val="solid"/>
          </a:ln>
        </p:spPr>
      </p:sp>
      <p:sp>
        <p:nvSpPr>
          <p:cNvPr id="31" name="Text 29"/>
          <p:cNvSpPr/>
          <p:nvPr/>
        </p:nvSpPr>
        <p:spPr>
          <a:xfrm>
            <a:off x="502920" y="4956048"/>
            <a:ext cx="3657600" cy="493776"/>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SVM RBF (tuned, this project)</a:t>
            </a:r>
            <a:endParaRPr lang="en-US" sz="1050" dirty="0"/>
          </a:p>
        </p:txBody>
      </p:sp>
      <p:sp>
        <p:nvSpPr>
          <p:cNvPr id="32" name="Text 30"/>
          <p:cNvSpPr/>
          <p:nvPr/>
        </p:nvSpPr>
        <p:spPr>
          <a:xfrm>
            <a:off x="4160520" y="4956048"/>
            <a:ext cx="192024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77.48%</a:t>
            </a:r>
            <a:endParaRPr lang="en-US" sz="1050" dirty="0"/>
          </a:p>
        </p:txBody>
      </p:sp>
      <p:sp>
        <p:nvSpPr>
          <p:cNvPr id="33" name="Text 31"/>
          <p:cNvSpPr/>
          <p:nvPr/>
        </p:nvSpPr>
        <p:spPr>
          <a:xfrm>
            <a:off x="6080760" y="4956048"/>
            <a:ext cx="155448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1.87</a:t>
            </a:r>
            <a:endParaRPr lang="en-US" sz="1050" dirty="0"/>
          </a:p>
        </p:txBody>
      </p:sp>
      <p:sp>
        <p:nvSpPr>
          <p:cNvPr id="34" name="Text 32"/>
          <p:cNvSpPr/>
          <p:nvPr/>
        </p:nvSpPr>
        <p:spPr>
          <a:xfrm>
            <a:off x="7635240" y="4956048"/>
            <a:ext cx="3474720" cy="493776"/>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Best mean, competitive variance</a:t>
            </a:r>
            <a:endParaRPr lang="en-US" sz="1050" dirty="0"/>
          </a:p>
        </p:txBody>
      </p:sp>
      <p:sp>
        <p:nvSpPr>
          <p:cNvPr id="35" name="Shape 33"/>
          <p:cNvSpPr/>
          <p:nvPr/>
        </p:nvSpPr>
        <p:spPr>
          <a:xfrm>
            <a:off x="502920" y="5486400"/>
            <a:ext cx="10607040" cy="896112"/>
          </a:xfrm>
          <a:prstGeom prst="roundRect">
            <a:avLst>
              <a:gd name="adj" fmla="val 8163"/>
            </a:avLst>
          </a:prstGeom>
          <a:solidFill>
            <a:srgbClr val="0B1F3A"/>
          </a:solidFill>
          <a:ln/>
          <a:effectLst>
            <a:outerShdw sx="100000" sy="100000" kx="0" ky="0" algn="bl" rotWithShape="0" blurRad="114300" dist="38100" dir="2700000">
              <a:srgbClr val="0B1F3A">
                <a:alpha val="14000"/>
              </a:srgbClr>
            </a:outerShdw>
          </a:effectLst>
        </p:spPr>
      </p:sp>
      <p:sp>
        <p:nvSpPr>
          <p:cNvPr id="36" name="Text 34"/>
          <p:cNvSpPr/>
          <p:nvPr/>
        </p:nvSpPr>
        <p:spPr>
          <a:xfrm>
            <a:off x="758952" y="5541264"/>
            <a:ext cx="10104120" cy="804672"/>
          </a:xfrm>
          <a:prstGeom prst="rect">
            <a:avLst/>
          </a:prstGeom>
          <a:noFill/>
          <a:ln/>
        </p:spPr>
        <p:txBody>
          <a:bodyPr wrap="square" lIns="0" tIns="0" rIns="0" bIns="0" rtlCol="0" anchor="t"/>
          <a:lstStyle/>
          <a:p>
            <a:pPr indent="0" marL="0">
              <a:lnSpc>
                <a:spcPct val="116000"/>
              </a:lnSpc>
              <a:buNone/>
            </a:pPr>
            <a:r>
              <a:rPr lang="en-US" sz="930" b="1" dirty="0">
                <a:solidFill>
                  <a:srgbClr val="FFB703"/>
                </a:solidFill>
                <a:latin typeface="Calibri" pitchFamily="34" charset="0"/>
                <a:ea typeface="Calibri" pitchFamily="34" charset="-122"/>
                <a:cs typeface="Calibri" pitchFamily="34" charset="-120"/>
              </a:rPr>
              <a:t>Statistically confirmed: </a:t>
            </a:r>
            <a:pPr indent="0" marL="0">
              <a:lnSpc>
                <a:spcPct val="116000"/>
              </a:lnSpc>
              <a:buNone/>
            </a:pPr>
            <a:r>
              <a:rPr lang="en-US" sz="930" dirty="0">
                <a:solidFill>
                  <a:srgbClr val="E7ECF4"/>
                </a:solidFill>
                <a:latin typeface="Calibri" pitchFamily="34" charset="0"/>
                <a:ea typeface="Calibri" pitchFamily="34" charset="-122"/>
                <a:cs typeface="Calibri" pitchFamily="34" charset="-120"/>
              </a:rPr>
              <a:t>a paired test across the same 15 splits shows SVM beats the runner-up (Logistic Regression) by 2.75 points on average, winning 14 of 15 seeds (paired t-test, p = 0.00006 — not chance).
</a:t>
            </a:r>
            <a:pPr indent="0" marL="0">
              <a:lnSpc>
                <a:spcPct val="116000"/>
              </a:lnSpc>
              <a:buNone/>
            </a:pPr>
            <a:r>
              <a:rPr lang="en-US" sz="930" b="1" dirty="0">
                <a:solidFill>
                  <a:srgbClr val="FFB703"/>
                </a:solidFill>
                <a:latin typeface="Calibri" pitchFamily="34" charset="0"/>
                <a:ea typeface="Calibri" pitchFamily="34" charset="-122"/>
                <a:cs typeface="Calibri" pitchFamily="34" charset="-120"/>
              </a:rPr>
              <a:t>Honest caveat: </a:t>
            </a:r>
            <a:pPr indent="0" marL="0">
              <a:lnSpc>
                <a:spcPct val="116000"/>
              </a:lnSpc>
              <a:buNone/>
            </a:pPr>
            <a:r>
              <a:rPr lang="en-US" sz="930" dirty="0">
                <a:solidFill>
                  <a:srgbClr val="E7ECF4"/>
                </a:solidFill>
                <a:latin typeface="Calibri" pitchFamily="34" charset="0"/>
                <a:ea typeface="Calibri" pitchFamily="34" charset="-122"/>
                <a:cs typeface="Calibri" pitchFamily="34" charset="-120"/>
              </a:rPr>
              <a:t>only the SVM was hyperparameter-tuned via GridSearchCV here; the others use library defaults, so this is a first-pass comparison, not a fully tuned bake-off.</a:t>
            </a:r>
            <a:endParaRPr lang="en-US" sz="930" dirty="0"/>
          </a:p>
        </p:txBody>
      </p:sp>
      <p:sp>
        <p:nvSpPr>
          <p:cNvPr id="37" name="Text 3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8"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Support Vector Machines: The Big Idea</a:t>
            </a:r>
            <a:endParaRPr lang="en-US" sz="3000" dirty="0"/>
          </a:p>
        </p:txBody>
      </p:sp>
      <p:sp>
        <p:nvSpPr>
          <p:cNvPr id="4" name="Text 2"/>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An SVM looks at labeled examples in feature space and draws the boundary that separates classes with the </a:t>
            </a:r>
            <a:pPr indent="0" marL="0">
              <a:lnSpc>
                <a:spcPct val="130000"/>
              </a:lnSpc>
              <a:buNone/>
            </a:pPr>
            <a:r>
              <a:rPr lang="en-US" sz="1400" b="1" dirty="0">
                <a:solidFill>
                  <a:srgbClr val="0B1F3A"/>
                </a:solidFill>
                <a:latin typeface="Calibri" pitchFamily="34" charset="0"/>
                <a:ea typeface="Calibri" pitchFamily="34" charset="-122"/>
                <a:cs typeface="Calibri" pitchFamily="34" charset="-120"/>
              </a:rPr>
              <a:t>widest possible margin</a:t>
            </a:r>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 — not just any line that works, but the one furthest from the nearest points of each class.</a:t>
            </a:r>
            <a:endParaRPr lang="en-US" sz="1400" dirty="0"/>
          </a:p>
        </p:txBody>
      </p:sp>
      <p:sp>
        <p:nvSpPr>
          <p:cNvPr id="5" name="Shape 3"/>
          <p:cNvSpPr/>
          <p:nvPr/>
        </p:nvSpPr>
        <p:spPr>
          <a:xfrm>
            <a:off x="502920" y="292608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handright_00B4D8.png">    </p:cNvPr>
          <p:cNvPicPr>
            <a:picLocks noChangeAspect="1"/>
          </p:cNvPicPr>
          <p:nvPr/>
        </p:nvPicPr>
        <p:blipFill>
          <a:blip r:embed="rId1"/>
          <a:stretch>
            <a:fillRect/>
          </a:stretch>
        </p:blipFill>
        <p:spPr>
          <a:xfrm>
            <a:off x="574518" y="2997678"/>
            <a:ext cx="387157" cy="387157"/>
          </a:xfrm>
          <a:prstGeom prst="rect">
            <a:avLst/>
          </a:prstGeom>
        </p:spPr>
      </p:pic>
      <p:sp>
        <p:nvSpPr>
          <p:cNvPr id="7" name="Text 4"/>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Support vectors: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Only the closest points to the boundary matter for defining it — these are the “support vectors” that give the algorithm its name.</a:t>
            </a:r>
            <a:endParaRPr lang="en-US" sz="1200" dirty="0"/>
          </a:p>
        </p:txBody>
      </p:sp>
      <p:sp>
        <p:nvSpPr>
          <p:cNvPr id="8" name="Shape 5"/>
          <p:cNvSpPr/>
          <p:nvPr/>
        </p:nvSpPr>
        <p:spPr>
          <a:xfrm>
            <a:off x="502920" y="388620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balance_00B4D8.png">    </p:cNvPr>
          <p:cNvPicPr>
            <a:picLocks noChangeAspect="1"/>
          </p:cNvPicPr>
          <p:nvPr/>
        </p:nvPicPr>
        <p:blipFill>
          <a:blip r:embed="rId2"/>
          <a:stretch>
            <a:fillRect/>
          </a:stretch>
        </p:blipFill>
        <p:spPr>
          <a:xfrm>
            <a:off x="574518" y="3957798"/>
            <a:ext cx="387157" cy="387157"/>
          </a:xfrm>
          <a:prstGeom prst="rect">
            <a:avLst/>
          </a:prstGeom>
        </p:spPr>
      </p:pic>
      <p:sp>
        <p:nvSpPr>
          <p:cNvPr id="10" name="Text 6"/>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Margin maximization: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A wider margin between classes tends to generalize better to new, unseen data than a boundary that barely squeezes between them.</a:t>
            </a:r>
            <a:endParaRPr lang="en-US" sz="1200" dirty="0"/>
          </a:p>
        </p:txBody>
      </p:sp>
      <p:sp>
        <p:nvSpPr>
          <p:cNvPr id="11" name="Shape 7"/>
          <p:cNvSpPr/>
          <p:nvPr/>
        </p:nvSpPr>
        <p:spPr>
          <a:xfrm>
            <a:off x="502920" y="484632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2" descr="/sessions/blissful-zealous-babbage/mnt/outputs/ppt/icons/puzzle_00B4D8.png">    </p:cNvPr>
          <p:cNvPicPr>
            <a:picLocks noChangeAspect="1"/>
          </p:cNvPicPr>
          <p:nvPr/>
        </p:nvPicPr>
        <p:blipFill>
          <a:blip r:embed="rId3"/>
          <a:stretch>
            <a:fillRect/>
          </a:stretch>
        </p:blipFill>
        <p:spPr>
          <a:xfrm>
            <a:off x="574518" y="4917918"/>
            <a:ext cx="387157" cy="387157"/>
          </a:xfrm>
          <a:prstGeom prst="rect">
            <a:avLst/>
          </a:prstGeom>
        </p:spPr>
      </p:pic>
      <p:sp>
        <p:nvSpPr>
          <p:cNvPr id="13" name="Text 8"/>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The kernel question: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Real data is rarely separable with a straight line — the next slide covers how SVMs handle that.</a:t>
            </a:r>
            <a:endParaRPr lang="en-US" sz="120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SVM Math: Hyperplanes &amp; Margins</a:t>
            </a:r>
            <a:endParaRPr lang="en-US" sz="3000" dirty="0"/>
          </a:p>
        </p:txBody>
      </p:sp>
      <p:sp>
        <p:nvSpPr>
          <p:cNvPr id="4" name="Shape 2"/>
          <p:cNvSpPr/>
          <p:nvPr/>
        </p:nvSpPr>
        <p:spPr>
          <a:xfrm>
            <a:off x="502920" y="1828800"/>
            <a:ext cx="10607040" cy="1874520"/>
          </a:xfrm>
          <a:prstGeom prst="roundRect">
            <a:avLst>
              <a:gd name="adj" fmla="val 3902"/>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6" name="Text 4"/>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weight vector (one number per feature) and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bias term. In the linear-kernel model, the size of each weight in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literally what the Feature Importance chart (in Results) is built from — larger |weight| means that feature moves the boundary more.</a:t>
            </a:r>
            <a:endParaRPr lang="en-US" sz="1250" dirty="0"/>
          </a:p>
        </p:txBody>
      </p:sp>
      <p:sp>
        <p:nvSpPr>
          <p:cNvPr id="7" name="Shape 5"/>
          <p:cNvSpPr/>
          <p:nvPr/>
        </p:nvSpPr>
        <p:spPr>
          <a:xfrm>
            <a:off x="502920" y="5257800"/>
            <a:ext cx="11185855" cy="502920"/>
          </a:xfrm>
          <a:prstGeom prst="roundRect">
            <a:avLst>
              <a:gd name="adj" fmla="val 10909"/>
            </a:avLst>
          </a:prstGeom>
          <a:solidFill>
            <a:srgbClr val="FFF8E8"/>
          </a:solidFill>
          <a:ln w="12700">
            <a:solidFill>
              <a:srgbClr val="F0C24B"/>
            </a:solidFill>
            <a:prstDash val="solid"/>
          </a:ln>
        </p:spPr>
      </p:sp>
      <p:sp>
        <p:nvSpPr>
          <p:cNvPr id="8" name="Text 6"/>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Kernel Trick</a:t>
            </a:r>
            <a:endParaRPr lang="en-US" sz="3000" dirty="0"/>
          </a:p>
        </p:txBody>
      </p:sp>
      <p:sp>
        <p:nvSpPr>
          <p:cNvPr id="4" name="Text 2"/>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5" name="Shape 3"/>
          <p:cNvSpPr/>
          <p:nvPr/>
        </p:nvSpPr>
        <p:spPr>
          <a:xfrm>
            <a:off x="502920" y="2743200"/>
            <a:ext cx="10607040" cy="566928"/>
          </a:xfrm>
          <a:prstGeom prst="roundRect">
            <a:avLst>
              <a:gd name="adj" fmla="val 9677"/>
            </a:avLst>
          </a:prstGeom>
          <a:solidFill>
            <a:srgbClr val="0B1F3A"/>
          </a:solidFill>
          <a:ln/>
        </p:spPr>
      </p:sp>
      <p:sp>
        <p:nvSpPr>
          <p:cNvPr id="6" name="Text 4"/>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Similarity function K(x, x')</a:t>
            </a:r>
            <a:endParaRPr lang="en-US" sz="1200" dirty="0"/>
          </a:p>
        </p:txBody>
      </p:sp>
      <p:sp>
        <p:nvSpPr>
          <p:cNvPr id="8" name="Text 6"/>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Shape of boundary</a:t>
            </a:r>
            <a:endParaRPr lang="en-US" sz="1200" dirty="0"/>
          </a:p>
        </p:txBody>
      </p:sp>
      <p:sp>
        <p:nvSpPr>
          <p:cNvPr id="9" name="Shape 7"/>
          <p:cNvSpPr/>
          <p:nvPr/>
        </p:nvSpPr>
        <p:spPr>
          <a:xfrm>
            <a:off x="502920" y="3310128"/>
            <a:ext cx="10607040" cy="566928"/>
          </a:xfrm>
          <a:prstGeom prst="rect">
            <a:avLst/>
          </a:prstGeom>
          <a:solidFill>
            <a:srgbClr val="FFFFFF"/>
          </a:solidFill>
          <a:ln w="9525">
            <a:solidFill>
              <a:srgbClr val="E4E9F1"/>
            </a:solidFill>
            <a:prstDash val="solid"/>
          </a:ln>
        </p:spPr>
      </p:sp>
      <p:sp>
        <p:nvSpPr>
          <p:cNvPr id="10" name="Text 8"/>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1" name="Text 9"/>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x . x'</a:t>
            </a:r>
            <a:endParaRPr lang="en-US" sz="1200" dirty="0"/>
          </a:p>
        </p:txBody>
      </p:sp>
      <p:sp>
        <p:nvSpPr>
          <p:cNvPr id="12" name="Text 10"/>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Straight line / flat plane</a:t>
            </a:r>
            <a:endParaRPr lang="en-US" sz="1200" dirty="0"/>
          </a:p>
        </p:txBody>
      </p:sp>
      <p:sp>
        <p:nvSpPr>
          <p:cNvPr id="13" name="Shape 11"/>
          <p:cNvSpPr/>
          <p:nvPr/>
        </p:nvSpPr>
        <p:spPr>
          <a:xfrm>
            <a:off x="502920" y="38770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5" name="Text 13"/>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exp( -gamma * ||x - x'||^2 )</a:t>
            </a:r>
            <a:endParaRPr lang="en-US" sz="1200" dirty="0"/>
          </a:p>
        </p:txBody>
      </p:sp>
      <p:sp>
        <p:nvSpPr>
          <p:cNvPr id="16" name="Text 14"/>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Smooth, flexible curve</a:t>
            </a:r>
            <a:endParaRPr lang="en-US" sz="1200" dirty="0"/>
          </a:p>
        </p:txBody>
      </p:sp>
      <p:sp>
        <p:nvSpPr>
          <p:cNvPr id="17" name="Shape 15"/>
          <p:cNvSpPr/>
          <p:nvPr/>
        </p:nvSpPr>
        <p:spPr>
          <a:xfrm>
            <a:off x="502920" y="44439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19" name="Text 17"/>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(gamma * x . x' + r)^d</a:t>
            </a:r>
            <a:endParaRPr lang="en-US" sz="1200" dirty="0"/>
          </a:p>
        </p:txBody>
      </p:sp>
      <p:sp>
        <p:nvSpPr>
          <p:cNvPr id="20" name="Text 18"/>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Curved, degree-d surface</a:t>
            </a:r>
            <a:endParaRPr lang="en-US" sz="1200" dirty="0"/>
          </a:p>
        </p:txBody>
      </p:sp>
      <p:sp>
        <p:nvSpPr>
          <p:cNvPr id="21" name="Text 19"/>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gamma controls how far a single training example's influence reaches — this project's tuned RBF model uses gamma = 0.1.</a:t>
            </a:r>
            <a:endParaRPr lang="en-US" sz="1150" dirty="0"/>
          </a:p>
        </p:txBody>
      </p:sp>
      <p:sp>
        <p:nvSpPr>
          <p:cNvPr id="22" name="Shape 20"/>
          <p:cNvSpPr/>
          <p:nvPr/>
        </p:nvSpPr>
        <p:spPr>
          <a:xfrm>
            <a:off x="502920" y="5120640"/>
            <a:ext cx="11185855" cy="457200"/>
          </a:xfrm>
          <a:prstGeom prst="roundRect">
            <a:avLst>
              <a:gd name="adj" fmla="val 12000"/>
            </a:avLst>
          </a:prstGeom>
          <a:solidFill>
            <a:srgbClr val="FFF8E8"/>
          </a:solidFill>
          <a:ln w="12700">
            <a:solidFill>
              <a:srgbClr val="F0C24B"/>
            </a:solidFill>
            <a:prstDash val="solid"/>
          </a:ln>
        </p:spPr>
      </p:sp>
      <p:sp>
        <p:nvSpPr>
          <p:cNvPr id="23" name="Text 21"/>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A "kernel" is just the shape of boundary the model is allowed to draw between classes — Linear is a straight cut, RBF and Polynomial can bend to fit curvier data.</a:t>
            </a:r>
            <a:endParaRPr lang="en-US" sz="950" dirty="0"/>
          </a:p>
        </p:txBody>
      </p:sp>
      <p:sp>
        <p:nvSpPr>
          <p:cNvPr id="24"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Multi-Class Strategy: One-vs-One</a:t>
            </a:r>
            <a:endParaRPr lang="en-US" sz="3000" dirty="0"/>
          </a:p>
        </p:txBody>
      </p:sp>
      <p:sp>
        <p:nvSpPr>
          <p:cNvPr id="4" name="Text 2"/>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5" name="Shape 3"/>
          <p:cNvSpPr/>
          <p:nvPr/>
        </p:nvSpPr>
        <p:spPr>
          <a:xfrm>
            <a:off x="502920" y="2743200"/>
            <a:ext cx="1060704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7" name="Text 5"/>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Calibri" pitchFamily="34" charset="0"/>
                <a:ea typeface="Calibri" pitchFamily="34" charset="-122"/>
                <a:cs typeface="Calibri"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This is what lets a single SVC model handle a 20-way problem without any special multi-class math of its own.</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1: BASELINE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Baseline Results — Before Any Tuning</a:t>
            </a:r>
            <a:endParaRPr lang="en-US" sz="3000" dirty="0"/>
          </a:p>
        </p:txBody>
      </p:sp>
      <p:sp>
        <p:nvSpPr>
          <p:cNvPr id="4" name="Text 2"/>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Before touching a single hyperparameter, all three kernels are trained with scikit-learn's near-default settings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on the same 80/20 split. This is the honest starting point every improvement from here on is measured against.</a:t>
            </a:r>
            <a:endParaRPr lang="en-US" sz="1300" dirty="0"/>
          </a:p>
        </p:txBody>
      </p:sp>
      <p:sp>
        <p:nvSpPr>
          <p:cNvPr id="5" name="Shape 3"/>
          <p:cNvSpPr/>
          <p:nvPr/>
        </p:nvSpPr>
        <p:spPr>
          <a:xfrm>
            <a:off x="50292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190652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1990466" y="3037454"/>
            <a:ext cx="453908" cy="453908"/>
          </a:xfrm>
          <a:prstGeom prst="rect">
            <a:avLst/>
          </a:prstGeom>
        </p:spPr>
      </p:pic>
      <p:sp>
        <p:nvSpPr>
          <p:cNvPr id="8" name="Text 5"/>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9" name="Text 6"/>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SVC(kernel="linear", C=1.0)</a:t>
            </a:r>
            <a:endParaRPr lang="en-US" sz="870" dirty="0"/>
          </a:p>
        </p:txBody>
      </p:sp>
      <p:sp>
        <p:nvSpPr>
          <p:cNvPr id="10" name="Text 7"/>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77.94%</a:t>
            </a:r>
            <a:endParaRPr lang="en-US" sz="2600" dirty="0"/>
          </a:p>
        </p:txBody>
      </p:sp>
      <p:sp>
        <p:nvSpPr>
          <p:cNvPr id="11" name="Text 8"/>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2" name="Shape 9"/>
          <p:cNvSpPr/>
          <p:nvPr/>
        </p:nvSpPr>
        <p:spPr>
          <a:xfrm>
            <a:off x="425196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3" name="Shape 10"/>
          <p:cNvSpPr/>
          <p:nvPr/>
        </p:nvSpPr>
        <p:spPr>
          <a:xfrm>
            <a:off x="565556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1" descr="/sessions/blissful-zealous-babbage/mnt/outputs/ppt/icons/wave_00B4D8.png">    </p:cNvPr>
          <p:cNvPicPr>
            <a:picLocks noChangeAspect="1"/>
          </p:cNvPicPr>
          <p:nvPr/>
        </p:nvPicPr>
        <p:blipFill>
          <a:blip r:embed="rId2"/>
          <a:stretch>
            <a:fillRect/>
          </a:stretch>
        </p:blipFill>
        <p:spPr>
          <a:xfrm>
            <a:off x="5739506" y="3037454"/>
            <a:ext cx="453908" cy="453908"/>
          </a:xfrm>
          <a:prstGeom prst="rect">
            <a:avLst/>
          </a:prstGeom>
        </p:spPr>
      </p:pic>
      <p:sp>
        <p:nvSpPr>
          <p:cNvPr id="15" name="Text 11"/>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RBF</a:t>
            </a:r>
            <a:endParaRPr lang="en-US" sz="1700" dirty="0"/>
          </a:p>
        </p:txBody>
      </p:sp>
      <p:sp>
        <p:nvSpPr>
          <p:cNvPr id="16" name="Text 12"/>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SVC(kernel="rbf", C=1.0, gamma="scale")</a:t>
            </a:r>
            <a:endParaRPr lang="en-US" sz="870" dirty="0"/>
          </a:p>
        </p:txBody>
      </p:sp>
      <p:sp>
        <p:nvSpPr>
          <p:cNvPr id="17" name="Text 13"/>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71.08%</a:t>
            </a:r>
            <a:endParaRPr lang="en-US" sz="2600" dirty="0"/>
          </a:p>
        </p:txBody>
      </p:sp>
      <p:sp>
        <p:nvSpPr>
          <p:cNvPr id="18" name="Text 14"/>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9" name="Shape 15"/>
          <p:cNvSpPr/>
          <p:nvPr/>
        </p:nvSpPr>
        <p:spPr>
          <a:xfrm>
            <a:off x="800100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6"/>
          <p:cNvSpPr/>
          <p:nvPr/>
        </p:nvSpPr>
        <p:spPr>
          <a:xfrm>
            <a:off x="940460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2" descr="/sessions/blissful-zealous-babbage/mnt/outputs/ppt/icons/chartbar_00B4D8.png">    </p:cNvPr>
          <p:cNvPicPr>
            <a:picLocks noChangeAspect="1"/>
          </p:cNvPicPr>
          <p:nvPr/>
        </p:nvPicPr>
        <p:blipFill>
          <a:blip r:embed="rId3"/>
          <a:stretch>
            <a:fillRect/>
          </a:stretch>
        </p:blipFill>
        <p:spPr>
          <a:xfrm>
            <a:off x="9488546" y="3037454"/>
            <a:ext cx="453908" cy="453908"/>
          </a:xfrm>
          <a:prstGeom prst="rect">
            <a:avLst/>
          </a:prstGeom>
        </p:spPr>
      </p:pic>
      <p:sp>
        <p:nvSpPr>
          <p:cNvPr id="22" name="Text 17"/>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3" name="Text 18"/>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4" name="Text 19"/>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75.49%</a:t>
            </a:r>
            <a:endParaRPr lang="en-US" sz="2600" dirty="0"/>
          </a:p>
        </p:txBody>
      </p:sp>
      <p:sp>
        <p:nvSpPr>
          <p:cNvPr id="25" name="Text 20"/>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26" name="Shape 21"/>
          <p:cNvSpPr/>
          <p:nvPr/>
        </p:nvSpPr>
        <p:spPr>
          <a:xfrm>
            <a:off x="502920" y="5760720"/>
            <a:ext cx="10607040" cy="594360"/>
          </a:xfrm>
          <a:prstGeom prst="roundRect">
            <a:avLst>
              <a:gd name="adj" fmla="val 10769"/>
            </a:avLst>
          </a:prstGeom>
          <a:solidFill>
            <a:srgbClr val="EEF2F7"/>
          </a:solidFill>
          <a:ln w="12700">
            <a:solidFill>
              <a:srgbClr val="E4E9F1"/>
            </a:solidFill>
            <a:prstDash val="solid"/>
          </a:ln>
        </p:spPr>
      </p:sp>
      <p:sp>
        <p:nvSpPr>
          <p:cNvPr id="27" name="Text 22"/>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0B1F3A"/>
                </a:solidFill>
                <a:latin typeface="Calibri" pitchFamily="34" charset="0"/>
                <a:ea typeface="Calibri" pitchFamily="34" charset="-122"/>
                <a:cs typeface="Calibri" pitchFamily="34" charset="-120"/>
              </a:rPr>
              <a:t>Even untuned, Linear already beats RBF — a sign the 17 hand-engineered features do real work before the classifier even sees them.</a:t>
            </a:r>
            <a:endParaRPr lang="en-US" sz="1100" dirty="0"/>
          </a:p>
        </p:txBody>
      </p:sp>
      <p:sp>
        <p:nvSpPr>
          <p:cNvPr id="28"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Tuning with GridSearchCV</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The baseline numbers leave room on the table — untuned RBF scores only </a:t>
            </a:r>
            <a:pPr indent="0" marL="0">
              <a:lnSpc>
                <a:spcPct val="128000"/>
              </a:lnSpc>
              <a:buNone/>
            </a:pPr>
            <a:r>
              <a:rPr lang="en-US" sz="1300" b="1" dirty="0">
                <a:solidFill>
                  <a:srgbClr val="D9695F"/>
                </a:solidFill>
                <a:latin typeface="Calibri" pitchFamily="34" charset="0"/>
                <a:ea typeface="Calibri" pitchFamily="34" charset="-122"/>
                <a:cs typeface="Calibri" pitchFamily="34" charset="-120"/>
              </a:rPr>
              <a:t>71.1%</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GridSearchCV exhaustively tries every combination in a grid of hyperparameters, scoring each with 5-fold cross-validation on the training set only.</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Grid searched</a:t>
            </a:r>
            <a:endParaRPr lang="en-US" sz="1200" dirty="0"/>
          </a:p>
        </p:txBody>
      </p:sp>
      <p:sp>
        <p:nvSpPr>
          <p:cNvPr id="8" name="Text 6"/>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Combinations</a:t>
            </a:r>
            <a:endParaRPr lang="en-US" sz="1200" dirty="0"/>
          </a:p>
        </p:txBody>
      </p:sp>
      <p:sp>
        <p:nvSpPr>
          <p:cNvPr id="9" name="Text 7"/>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fits (x5 folds)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2" name="Text 10"/>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in {0.001 ... 1000} (7 values)</a:t>
            </a:r>
            <a:endParaRPr lang="en-US" sz="1200" dirty="0"/>
          </a:p>
        </p:txBody>
      </p:sp>
      <p:sp>
        <p:nvSpPr>
          <p:cNvPr id="13" name="Text 11"/>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a:t>
            </a:r>
            <a:endParaRPr lang="en-US" sz="1200" dirty="0"/>
          </a:p>
        </p:txBody>
      </p:sp>
      <p:sp>
        <p:nvSpPr>
          <p:cNvPr id="14" name="Text 12"/>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35</a:t>
            </a:r>
            <a:endParaRPr lang="en-US" sz="120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7" name="Text 15"/>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(5) x gamma (6)</a:t>
            </a:r>
            <a:endParaRPr lang="en-US" sz="1200" dirty="0"/>
          </a:p>
        </p:txBody>
      </p:sp>
      <p:sp>
        <p:nvSpPr>
          <p:cNvPr id="18" name="Text 16"/>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150</a:t>
            </a:r>
            <a:endParaRPr lang="en-US" sz="120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22" name="Text 20"/>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(4) x gamma (3) x degree (2)</a:t>
            </a:r>
            <a:endParaRPr lang="en-US" sz="1200" dirty="0"/>
          </a:p>
        </p:txBody>
      </p:sp>
      <p:sp>
        <p:nvSpPr>
          <p:cNvPr id="23" name="Text 21"/>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24</a:t>
            </a:r>
            <a:endParaRPr lang="en-US" sz="1200" dirty="0"/>
          </a:p>
        </p:txBody>
      </p:sp>
      <p:sp>
        <p:nvSpPr>
          <p:cNvPr id="24" name="Text 22"/>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120</a:t>
            </a:r>
            <a:endParaRPr lang="en-US" sz="1200" dirty="0"/>
          </a:p>
        </p:txBody>
      </p:sp>
      <p:sp>
        <p:nvSpPr>
          <p:cNvPr id="25" name="Shape 23"/>
          <p:cNvSpPr/>
          <p:nvPr/>
        </p:nvSpPr>
        <p:spPr>
          <a:xfrm>
            <a:off x="502920" y="4892040"/>
            <a:ext cx="1060704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FFB703"/>
                </a:solidFill>
                <a:latin typeface="Calibri" pitchFamily="34" charset="0"/>
                <a:ea typeface="Calibri" pitchFamily="34" charset="-122"/>
                <a:cs typeface="Calibri" pitchFamily="34" charset="-120"/>
              </a:rPr>
              <a:t>305 total model fits searched</a:t>
            </a:r>
            <a:pPr indent="0" marL="0">
              <a:lnSpc>
                <a:spcPct val="120000"/>
              </a:lnSpc>
              <a:buNone/>
            </a:pPr>
            <a:r>
              <a:rPr lang="en-US" sz="1250" dirty="0">
                <a:solidFill>
                  <a:srgbClr val="E7ECF4"/>
                </a:solidFill>
                <a:latin typeface="Calibri" pitchFamily="34" charset="0"/>
                <a:ea typeface="Calibri" pitchFamily="34" charset="-122"/>
                <a:cs typeface="Calibri" pitchFamily="34" charset="-120"/>
              </a:rPr>
              <a:t>  — best RBF found: C=100, gamma=0.1, lifting it from 71.1% to 76.96% before the topology rule.</a:t>
            </a:r>
            <a:endParaRPr lang="en-US" sz="12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5-Fold Cross-Validation?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5" name="Shape 3"/>
          <p:cNvSpPr/>
          <p:nvPr/>
        </p:nvSpPr>
        <p:spPr>
          <a:xfrm>
            <a:off x="502920" y="2697480"/>
            <a:ext cx="1920240" cy="475488"/>
          </a:xfrm>
          <a:prstGeom prst="roundRect">
            <a:avLst>
              <a:gd name="adj" fmla="val 9615"/>
            </a:avLst>
          </a:prstGeom>
          <a:solidFill>
            <a:srgbClr val="FFB703"/>
          </a:solidFill>
          <a:ln w="12700">
            <a:solidFill>
              <a:srgbClr val="FFB703"/>
            </a:solidFill>
            <a:prstDash val="solid"/>
          </a:ln>
        </p:spPr>
      </p:sp>
      <p:sp>
        <p:nvSpPr>
          <p:cNvPr id="6" name="Text 4"/>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7" name="Shape 5"/>
          <p:cNvSpPr/>
          <p:nvPr/>
        </p:nvSpPr>
        <p:spPr>
          <a:xfrm>
            <a:off x="2560320" y="2697480"/>
            <a:ext cx="1920240" cy="475488"/>
          </a:xfrm>
          <a:prstGeom prst="roundRect">
            <a:avLst>
              <a:gd name="adj" fmla="val 9615"/>
            </a:avLst>
          </a:prstGeom>
          <a:solidFill>
            <a:srgbClr val="DCE6F5"/>
          </a:solidFill>
          <a:ln w="12700">
            <a:solidFill>
              <a:srgbClr val="C3D2E8"/>
            </a:solidFill>
            <a:prstDash val="solid"/>
          </a:ln>
        </p:spPr>
      </p:sp>
      <p:sp>
        <p:nvSpPr>
          <p:cNvPr id="8" name="Text 6"/>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9" name="Shape 7"/>
          <p:cNvSpPr/>
          <p:nvPr/>
        </p:nvSpPr>
        <p:spPr>
          <a:xfrm>
            <a:off x="4617720" y="2697480"/>
            <a:ext cx="1920240" cy="475488"/>
          </a:xfrm>
          <a:prstGeom prst="roundRect">
            <a:avLst>
              <a:gd name="adj" fmla="val 9615"/>
            </a:avLst>
          </a:prstGeom>
          <a:solidFill>
            <a:srgbClr val="DCE6F5"/>
          </a:solidFill>
          <a:ln w="12700">
            <a:solidFill>
              <a:srgbClr val="C3D2E8"/>
            </a:solidFill>
            <a:prstDash val="solid"/>
          </a:ln>
        </p:spPr>
      </p:sp>
      <p:sp>
        <p:nvSpPr>
          <p:cNvPr id="10" name="Text 8"/>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1" name="Shape 9"/>
          <p:cNvSpPr/>
          <p:nvPr/>
        </p:nvSpPr>
        <p:spPr>
          <a:xfrm>
            <a:off x="6675120" y="2697480"/>
            <a:ext cx="1920240" cy="475488"/>
          </a:xfrm>
          <a:prstGeom prst="roundRect">
            <a:avLst>
              <a:gd name="adj" fmla="val 9615"/>
            </a:avLst>
          </a:prstGeom>
          <a:solidFill>
            <a:srgbClr val="DCE6F5"/>
          </a:solidFill>
          <a:ln w="12700">
            <a:solidFill>
              <a:srgbClr val="C3D2E8"/>
            </a:solidFill>
            <a:prstDash val="solid"/>
          </a:ln>
        </p:spPr>
      </p:sp>
      <p:sp>
        <p:nvSpPr>
          <p:cNvPr id="12" name="Text 10"/>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3" name="Shape 11"/>
          <p:cNvSpPr/>
          <p:nvPr/>
        </p:nvSpPr>
        <p:spPr>
          <a:xfrm>
            <a:off x="8732520" y="2697480"/>
            <a:ext cx="1920240" cy="475488"/>
          </a:xfrm>
          <a:prstGeom prst="roundRect">
            <a:avLst>
              <a:gd name="adj" fmla="val 9615"/>
            </a:avLst>
          </a:prstGeom>
          <a:solidFill>
            <a:srgbClr val="DCE6F5"/>
          </a:solidFill>
          <a:ln w="12700">
            <a:solidFill>
              <a:srgbClr val="C3D2E8"/>
            </a:solidFill>
            <a:prstDash val="solid"/>
          </a:ln>
        </p:spPr>
      </p:sp>
      <p:sp>
        <p:nvSpPr>
          <p:cNvPr id="14" name="Text 12"/>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5" name="Shape 13"/>
          <p:cNvSpPr/>
          <p:nvPr/>
        </p:nvSpPr>
        <p:spPr>
          <a:xfrm>
            <a:off x="502920" y="3264408"/>
            <a:ext cx="1920240" cy="475488"/>
          </a:xfrm>
          <a:prstGeom prst="roundRect">
            <a:avLst>
              <a:gd name="adj" fmla="val 9615"/>
            </a:avLst>
          </a:prstGeom>
          <a:solidFill>
            <a:srgbClr val="DCE6F5"/>
          </a:solidFill>
          <a:ln w="12700">
            <a:solidFill>
              <a:srgbClr val="C3D2E8"/>
            </a:solidFill>
            <a:prstDash val="solid"/>
          </a:ln>
        </p:spPr>
      </p:sp>
      <p:sp>
        <p:nvSpPr>
          <p:cNvPr id="16" name="Text 14"/>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7" name="Shape 15"/>
          <p:cNvSpPr/>
          <p:nvPr/>
        </p:nvSpPr>
        <p:spPr>
          <a:xfrm>
            <a:off x="2560320" y="3264408"/>
            <a:ext cx="1920240" cy="475488"/>
          </a:xfrm>
          <a:prstGeom prst="roundRect">
            <a:avLst>
              <a:gd name="adj" fmla="val 9615"/>
            </a:avLst>
          </a:prstGeom>
          <a:solidFill>
            <a:srgbClr val="FFB703"/>
          </a:solidFill>
          <a:ln w="12700">
            <a:solidFill>
              <a:srgbClr val="FFB703"/>
            </a:solidFill>
            <a:prstDash val="solid"/>
          </a:ln>
        </p:spPr>
      </p:sp>
      <p:sp>
        <p:nvSpPr>
          <p:cNvPr id="18" name="Text 16"/>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4617720" y="3264408"/>
            <a:ext cx="1920240" cy="475488"/>
          </a:xfrm>
          <a:prstGeom prst="roundRect">
            <a:avLst>
              <a:gd name="adj" fmla="val 9615"/>
            </a:avLst>
          </a:prstGeom>
          <a:solidFill>
            <a:srgbClr val="DCE6F5"/>
          </a:solidFill>
          <a:ln w="12700">
            <a:solidFill>
              <a:srgbClr val="C3D2E8"/>
            </a:solidFill>
            <a:prstDash val="solid"/>
          </a:ln>
        </p:spPr>
      </p:sp>
      <p:sp>
        <p:nvSpPr>
          <p:cNvPr id="20" name="Text 18"/>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6675120" y="3264408"/>
            <a:ext cx="1920240" cy="475488"/>
          </a:xfrm>
          <a:prstGeom prst="roundRect">
            <a:avLst>
              <a:gd name="adj" fmla="val 9615"/>
            </a:avLst>
          </a:prstGeom>
          <a:solidFill>
            <a:srgbClr val="DCE6F5"/>
          </a:solidFill>
          <a:ln w="12700">
            <a:solidFill>
              <a:srgbClr val="C3D2E8"/>
            </a:solidFill>
            <a:prstDash val="solid"/>
          </a:ln>
        </p:spPr>
      </p:sp>
      <p:sp>
        <p:nvSpPr>
          <p:cNvPr id="22" name="Text 20"/>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8732520" y="3264408"/>
            <a:ext cx="1920240" cy="475488"/>
          </a:xfrm>
          <a:prstGeom prst="roundRect">
            <a:avLst>
              <a:gd name="adj" fmla="val 9615"/>
            </a:avLst>
          </a:prstGeom>
          <a:solidFill>
            <a:srgbClr val="DCE6F5"/>
          </a:solidFill>
          <a:ln w="12700">
            <a:solidFill>
              <a:srgbClr val="C3D2E8"/>
            </a:solidFill>
            <a:prstDash val="solid"/>
          </a:ln>
        </p:spPr>
      </p:sp>
      <p:sp>
        <p:nvSpPr>
          <p:cNvPr id="24" name="Text 22"/>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502920" y="3831336"/>
            <a:ext cx="1920240" cy="475488"/>
          </a:xfrm>
          <a:prstGeom prst="roundRect">
            <a:avLst>
              <a:gd name="adj" fmla="val 9615"/>
            </a:avLst>
          </a:prstGeom>
          <a:solidFill>
            <a:srgbClr val="DCE6F5"/>
          </a:solidFill>
          <a:ln w="12700">
            <a:solidFill>
              <a:srgbClr val="C3D2E8"/>
            </a:solidFill>
            <a:prstDash val="solid"/>
          </a:ln>
        </p:spPr>
      </p:sp>
      <p:sp>
        <p:nvSpPr>
          <p:cNvPr id="26" name="Text 24"/>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7" name="Shape 25"/>
          <p:cNvSpPr/>
          <p:nvPr/>
        </p:nvSpPr>
        <p:spPr>
          <a:xfrm>
            <a:off x="2560320" y="3831336"/>
            <a:ext cx="1920240" cy="475488"/>
          </a:xfrm>
          <a:prstGeom prst="roundRect">
            <a:avLst>
              <a:gd name="adj" fmla="val 9615"/>
            </a:avLst>
          </a:prstGeom>
          <a:solidFill>
            <a:srgbClr val="DCE6F5"/>
          </a:solidFill>
          <a:ln w="12700">
            <a:solidFill>
              <a:srgbClr val="C3D2E8"/>
            </a:solidFill>
            <a:prstDash val="solid"/>
          </a:ln>
        </p:spPr>
      </p:sp>
      <p:sp>
        <p:nvSpPr>
          <p:cNvPr id="28" name="Text 26"/>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9" name="Shape 27"/>
          <p:cNvSpPr/>
          <p:nvPr/>
        </p:nvSpPr>
        <p:spPr>
          <a:xfrm>
            <a:off x="4617720" y="3831336"/>
            <a:ext cx="1920240" cy="475488"/>
          </a:xfrm>
          <a:prstGeom prst="roundRect">
            <a:avLst>
              <a:gd name="adj" fmla="val 9615"/>
            </a:avLst>
          </a:prstGeom>
          <a:solidFill>
            <a:srgbClr val="FFB703"/>
          </a:solidFill>
          <a:ln w="12700">
            <a:solidFill>
              <a:srgbClr val="FFB703"/>
            </a:solidFill>
            <a:prstDash val="solid"/>
          </a:ln>
        </p:spPr>
      </p:sp>
      <p:sp>
        <p:nvSpPr>
          <p:cNvPr id="30" name="Text 28"/>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31" name="Shape 29"/>
          <p:cNvSpPr/>
          <p:nvPr/>
        </p:nvSpPr>
        <p:spPr>
          <a:xfrm>
            <a:off x="6675120" y="3831336"/>
            <a:ext cx="1920240" cy="475488"/>
          </a:xfrm>
          <a:prstGeom prst="roundRect">
            <a:avLst>
              <a:gd name="adj" fmla="val 9615"/>
            </a:avLst>
          </a:prstGeom>
          <a:solidFill>
            <a:srgbClr val="DCE6F5"/>
          </a:solidFill>
          <a:ln w="12700">
            <a:solidFill>
              <a:srgbClr val="C3D2E8"/>
            </a:solidFill>
            <a:prstDash val="solid"/>
          </a:ln>
        </p:spPr>
      </p:sp>
      <p:sp>
        <p:nvSpPr>
          <p:cNvPr id="32" name="Text 30"/>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3" name="Shape 31"/>
          <p:cNvSpPr/>
          <p:nvPr/>
        </p:nvSpPr>
        <p:spPr>
          <a:xfrm>
            <a:off x="8732520" y="3831336"/>
            <a:ext cx="1920240" cy="475488"/>
          </a:xfrm>
          <a:prstGeom prst="roundRect">
            <a:avLst>
              <a:gd name="adj" fmla="val 9615"/>
            </a:avLst>
          </a:prstGeom>
          <a:solidFill>
            <a:srgbClr val="DCE6F5"/>
          </a:solidFill>
          <a:ln w="12700">
            <a:solidFill>
              <a:srgbClr val="C3D2E8"/>
            </a:solidFill>
            <a:prstDash val="solid"/>
          </a:ln>
        </p:spPr>
      </p:sp>
      <p:sp>
        <p:nvSpPr>
          <p:cNvPr id="34" name="Text 32"/>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5" name="Shape 33"/>
          <p:cNvSpPr/>
          <p:nvPr/>
        </p:nvSpPr>
        <p:spPr>
          <a:xfrm>
            <a:off x="502920" y="4398264"/>
            <a:ext cx="1920240" cy="475488"/>
          </a:xfrm>
          <a:prstGeom prst="roundRect">
            <a:avLst>
              <a:gd name="adj" fmla="val 9615"/>
            </a:avLst>
          </a:prstGeom>
          <a:solidFill>
            <a:srgbClr val="DCE6F5"/>
          </a:solidFill>
          <a:ln w="12700">
            <a:solidFill>
              <a:srgbClr val="C3D2E8"/>
            </a:solidFill>
            <a:prstDash val="solid"/>
          </a:ln>
        </p:spPr>
      </p:sp>
      <p:sp>
        <p:nvSpPr>
          <p:cNvPr id="36" name="Text 34"/>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7" name="Shape 35"/>
          <p:cNvSpPr/>
          <p:nvPr/>
        </p:nvSpPr>
        <p:spPr>
          <a:xfrm>
            <a:off x="2560320" y="4398264"/>
            <a:ext cx="1920240" cy="475488"/>
          </a:xfrm>
          <a:prstGeom prst="roundRect">
            <a:avLst>
              <a:gd name="adj" fmla="val 9615"/>
            </a:avLst>
          </a:prstGeom>
          <a:solidFill>
            <a:srgbClr val="DCE6F5"/>
          </a:solidFill>
          <a:ln w="12700">
            <a:solidFill>
              <a:srgbClr val="C3D2E8"/>
            </a:solidFill>
            <a:prstDash val="solid"/>
          </a:ln>
        </p:spPr>
      </p:sp>
      <p:sp>
        <p:nvSpPr>
          <p:cNvPr id="38" name="Text 36"/>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9" name="Shape 37"/>
          <p:cNvSpPr/>
          <p:nvPr/>
        </p:nvSpPr>
        <p:spPr>
          <a:xfrm>
            <a:off x="4617720" y="4398264"/>
            <a:ext cx="1920240" cy="475488"/>
          </a:xfrm>
          <a:prstGeom prst="roundRect">
            <a:avLst>
              <a:gd name="adj" fmla="val 9615"/>
            </a:avLst>
          </a:prstGeom>
          <a:solidFill>
            <a:srgbClr val="DCE6F5"/>
          </a:solidFill>
          <a:ln w="12700">
            <a:solidFill>
              <a:srgbClr val="C3D2E8"/>
            </a:solidFill>
            <a:prstDash val="solid"/>
          </a:ln>
        </p:spPr>
      </p:sp>
      <p:sp>
        <p:nvSpPr>
          <p:cNvPr id="40" name="Text 38"/>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6675120" y="4398264"/>
            <a:ext cx="1920240" cy="475488"/>
          </a:xfrm>
          <a:prstGeom prst="roundRect">
            <a:avLst>
              <a:gd name="adj" fmla="val 9615"/>
            </a:avLst>
          </a:prstGeom>
          <a:solidFill>
            <a:srgbClr val="FFB703"/>
          </a:solidFill>
          <a:ln w="12700">
            <a:solidFill>
              <a:srgbClr val="FFB703"/>
            </a:solidFill>
            <a:prstDash val="solid"/>
          </a:ln>
        </p:spPr>
      </p:sp>
      <p:sp>
        <p:nvSpPr>
          <p:cNvPr id="42" name="Text 40"/>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43" name="Shape 41"/>
          <p:cNvSpPr/>
          <p:nvPr/>
        </p:nvSpPr>
        <p:spPr>
          <a:xfrm>
            <a:off x="8732520" y="4398264"/>
            <a:ext cx="1920240" cy="475488"/>
          </a:xfrm>
          <a:prstGeom prst="roundRect">
            <a:avLst>
              <a:gd name="adj" fmla="val 9615"/>
            </a:avLst>
          </a:prstGeom>
          <a:solidFill>
            <a:srgbClr val="DCE6F5"/>
          </a:solidFill>
          <a:ln w="12700">
            <a:solidFill>
              <a:srgbClr val="C3D2E8"/>
            </a:solidFill>
            <a:prstDash val="solid"/>
          </a:ln>
        </p:spPr>
      </p:sp>
      <p:sp>
        <p:nvSpPr>
          <p:cNvPr id="44" name="Text 42"/>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5" name="Shape 43"/>
          <p:cNvSpPr/>
          <p:nvPr/>
        </p:nvSpPr>
        <p:spPr>
          <a:xfrm>
            <a:off x="502920" y="4965192"/>
            <a:ext cx="1920240" cy="475488"/>
          </a:xfrm>
          <a:prstGeom prst="roundRect">
            <a:avLst>
              <a:gd name="adj" fmla="val 9615"/>
            </a:avLst>
          </a:prstGeom>
          <a:solidFill>
            <a:srgbClr val="DCE6F5"/>
          </a:solidFill>
          <a:ln w="12700">
            <a:solidFill>
              <a:srgbClr val="C3D2E8"/>
            </a:solidFill>
            <a:prstDash val="solid"/>
          </a:ln>
        </p:spPr>
      </p:sp>
      <p:sp>
        <p:nvSpPr>
          <p:cNvPr id="46" name="Text 44"/>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2560320" y="4965192"/>
            <a:ext cx="1920240" cy="475488"/>
          </a:xfrm>
          <a:prstGeom prst="roundRect">
            <a:avLst>
              <a:gd name="adj" fmla="val 9615"/>
            </a:avLst>
          </a:prstGeom>
          <a:solidFill>
            <a:srgbClr val="DCE6F5"/>
          </a:solidFill>
          <a:ln w="12700">
            <a:solidFill>
              <a:srgbClr val="C3D2E8"/>
            </a:solidFill>
            <a:prstDash val="solid"/>
          </a:ln>
        </p:spPr>
      </p:sp>
      <p:sp>
        <p:nvSpPr>
          <p:cNvPr id="48" name="Text 46"/>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9" name="Shape 47"/>
          <p:cNvSpPr/>
          <p:nvPr/>
        </p:nvSpPr>
        <p:spPr>
          <a:xfrm>
            <a:off x="4617720" y="4965192"/>
            <a:ext cx="1920240" cy="475488"/>
          </a:xfrm>
          <a:prstGeom prst="roundRect">
            <a:avLst>
              <a:gd name="adj" fmla="val 9615"/>
            </a:avLst>
          </a:prstGeom>
          <a:solidFill>
            <a:srgbClr val="DCE6F5"/>
          </a:solidFill>
          <a:ln w="12700">
            <a:solidFill>
              <a:srgbClr val="C3D2E8"/>
            </a:solidFill>
            <a:prstDash val="solid"/>
          </a:ln>
        </p:spPr>
      </p:sp>
      <p:sp>
        <p:nvSpPr>
          <p:cNvPr id="50" name="Text 48"/>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1" name="Shape 49"/>
          <p:cNvSpPr/>
          <p:nvPr/>
        </p:nvSpPr>
        <p:spPr>
          <a:xfrm>
            <a:off x="6675120" y="4965192"/>
            <a:ext cx="1920240" cy="475488"/>
          </a:xfrm>
          <a:prstGeom prst="roundRect">
            <a:avLst>
              <a:gd name="adj" fmla="val 9615"/>
            </a:avLst>
          </a:prstGeom>
          <a:solidFill>
            <a:srgbClr val="DCE6F5"/>
          </a:solidFill>
          <a:ln w="12700">
            <a:solidFill>
              <a:srgbClr val="C3D2E8"/>
            </a:solidFill>
            <a:prstDash val="solid"/>
          </a:ln>
        </p:spPr>
      </p:sp>
      <p:sp>
        <p:nvSpPr>
          <p:cNvPr id="52" name="Text 50"/>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3" name="Shape 51"/>
          <p:cNvSpPr/>
          <p:nvPr/>
        </p:nvSpPr>
        <p:spPr>
          <a:xfrm>
            <a:off x="8732520" y="4965192"/>
            <a:ext cx="1920240" cy="475488"/>
          </a:xfrm>
          <a:prstGeom prst="roundRect">
            <a:avLst>
              <a:gd name="adj" fmla="val 9615"/>
            </a:avLst>
          </a:prstGeom>
          <a:solidFill>
            <a:srgbClr val="FFB703"/>
          </a:solidFill>
          <a:ln w="12700">
            <a:solidFill>
              <a:srgbClr val="FFB703"/>
            </a:solidFill>
            <a:prstDash val="solid"/>
          </a:ln>
        </p:spPr>
      </p:sp>
      <p:sp>
        <p:nvSpPr>
          <p:cNvPr id="54" name="Text 52"/>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55" name="Text 53"/>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Tuned Results — What GridSearchCV Bought Us</a:t>
            </a:r>
            <a:endParaRPr lang="en-US" sz="3000" dirty="0"/>
          </a:p>
        </p:txBody>
      </p:sp>
      <p:sp>
        <p:nvSpPr>
          <p:cNvPr id="4" name="Shape 2"/>
          <p:cNvSpPr/>
          <p:nvPr/>
        </p:nvSpPr>
        <p:spPr>
          <a:xfrm>
            <a:off x="50292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88823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1977116" y="2192000"/>
            <a:ext cx="480609" cy="480609"/>
          </a:xfrm>
          <a:prstGeom prst="rect">
            <a:avLst/>
          </a:prstGeom>
        </p:spPr>
      </p:pic>
      <p:sp>
        <p:nvSpPr>
          <p:cNvPr id="7" name="Text 4"/>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8" name="Text 5"/>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77.94%</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77.45%</a:t>
            </a:r>
            <a:endParaRPr lang="en-US" sz="1300" dirty="0"/>
          </a:p>
        </p:txBody>
      </p:sp>
      <p:sp>
        <p:nvSpPr>
          <p:cNvPr id="9" name="Text 6"/>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D9695F"/>
                </a:solidFill>
                <a:latin typeface="Calibri" pitchFamily="34" charset="0"/>
                <a:ea typeface="Calibri" pitchFamily="34" charset="-122"/>
                <a:cs typeface="Calibri" pitchFamily="34" charset="-120"/>
              </a:rPr>
              <a:t>-0.49 pts vs. baseline</a:t>
            </a:r>
            <a:endParaRPr lang="en-US" sz="1000" dirty="0"/>
          </a:p>
        </p:txBody>
      </p:sp>
      <p:sp>
        <p:nvSpPr>
          <p:cNvPr id="10" name="Shape 7"/>
          <p:cNvSpPr/>
          <p:nvPr/>
        </p:nvSpPr>
        <p:spPr>
          <a:xfrm>
            <a:off x="4251960" y="1828800"/>
            <a:ext cx="3429000" cy="3703320"/>
          </a:xfrm>
          <a:prstGeom prst="roundRect">
            <a:avLst>
              <a:gd name="adj" fmla="val 2400"/>
            </a:avLst>
          </a:prstGeom>
          <a:solidFill>
            <a:srgbClr val="0B1F3A"/>
          </a:solidFill>
          <a:ln w="12700">
            <a:solidFill>
              <a:srgbClr val="0B1F3A"/>
            </a:solidFill>
            <a:prstDash val="solid"/>
          </a:ln>
          <a:effectLst>
            <a:outerShdw sx="100000" sy="100000" kx="0" ky="0" algn="bl" rotWithShape="0" blurRad="177800" dist="38100" dir="2700000">
              <a:srgbClr val="0B1F3A">
                <a:alpha val="22000"/>
              </a:srgbClr>
            </a:outerShdw>
          </a:effectLst>
        </p:spPr>
      </p:sp>
      <p:sp>
        <p:nvSpPr>
          <p:cNvPr id="11" name="Text 8"/>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FFB703"/>
                </a:solidFill>
                <a:latin typeface="Calibri" pitchFamily="34" charset="0"/>
                <a:ea typeface="Calibri" pitchFamily="34" charset="-122"/>
                <a:cs typeface="Calibri" pitchFamily="34" charset="-120"/>
              </a:rPr>
              <a:t>BEST MODEL</a:t>
            </a:r>
            <a:endParaRPr lang="en-US" sz="1050" dirty="0"/>
          </a:p>
        </p:txBody>
      </p:sp>
      <p:sp>
        <p:nvSpPr>
          <p:cNvPr id="12" name="Shape 9"/>
          <p:cNvSpPr/>
          <p:nvPr/>
        </p:nvSpPr>
        <p:spPr>
          <a:xfrm>
            <a:off x="5637276" y="2331720"/>
            <a:ext cx="658368" cy="65836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wave_0B1F3A.png">    </p:cNvPr>
          <p:cNvPicPr>
            <a:picLocks noChangeAspect="1"/>
          </p:cNvPicPr>
          <p:nvPr/>
        </p:nvPicPr>
        <p:blipFill>
          <a:blip r:embed="rId2"/>
          <a:stretch>
            <a:fillRect/>
          </a:stretch>
        </p:blipFill>
        <p:spPr>
          <a:xfrm>
            <a:off x="5726156" y="2420600"/>
            <a:ext cx="480609" cy="480609"/>
          </a:xfrm>
          <a:prstGeom prst="rect">
            <a:avLst/>
          </a:prstGeom>
        </p:spPr>
      </p:pic>
      <p:sp>
        <p:nvSpPr>
          <p:cNvPr id="14" name="Text 10"/>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RBF</a:t>
            </a:r>
            <a:endParaRPr lang="en-US" sz="1700" dirty="0"/>
          </a:p>
        </p:txBody>
      </p:sp>
      <p:sp>
        <p:nvSpPr>
          <p:cNvPr id="15" name="Text 11"/>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8899B5"/>
                </a:solidFill>
                <a:latin typeface="Calibri" pitchFamily="34" charset="0"/>
                <a:ea typeface="Calibri" pitchFamily="34" charset="-122"/>
                <a:cs typeface="Calibri" pitchFamily="34" charset="-120"/>
              </a:rPr>
              <a:t>71.08%</a:t>
            </a:r>
            <a:pPr algn="ctr" indent="0" marL="0">
              <a:buNone/>
            </a:pPr>
            <a:r>
              <a:rPr lang="en-US" sz="1300" dirty="0">
                <a:solidFill>
                  <a:srgbClr val="8899B5"/>
                </a:solidFill>
                <a:latin typeface="Calibri" pitchFamily="34" charset="0"/>
                <a:ea typeface="Calibri" pitchFamily="34" charset="-122"/>
                <a:cs typeface="Calibri" pitchFamily="34" charset="-120"/>
              </a:rPr>
              <a:t>  -&gt;  </a:t>
            </a:r>
            <a:pPr algn="ctr" indent="0" marL="0">
              <a:buNone/>
            </a:pPr>
            <a:r>
              <a:rPr lang="en-US" sz="1300" b="1" dirty="0">
                <a:solidFill>
                  <a:srgbClr val="FFB703"/>
                </a:solidFill>
                <a:latin typeface="Calibri" pitchFamily="34" charset="0"/>
                <a:ea typeface="Calibri" pitchFamily="34" charset="-122"/>
                <a:cs typeface="Calibri" pitchFamily="34" charset="-120"/>
              </a:rPr>
              <a:t>78.43%</a:t>
            </a:r>
            <a:endParaRPr lang="en-US" sz="1300" dirty="0"/>
          </a:p>
        </p:txBody>
      </p:sp>
      <p:sp>
        <p:nvSpPr>
          <p:cNvPr id="16" name="Text 12"/>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C9D6E8"/>
                </a:solidFill>
                <a:latin typeface="Calibri" pitchFamily="34" charset="0"/>
                <a:ea typeface="Calibri" pitchFamily="34" charset="-122"/>
                <a:cs typeface="Calibri" pitchFamily="34" charset="-120"/>
              </a:rPr>
              <a:t>+7.35 pts vs. baseline</a:t>
            </a:r>
            <a:endParaRPr lang="en-US" sz="1000" dirty="0"/>
          </a:p>
        </p:txBody>
      </p:sp>
      <p:sp>
        <p:nvSpPr>
          <p:cNvPr id="17" name="Shape 13"/>
          <p:cNvSpPr/>
          <p:nvPr/>
        </p:nvSpPr>
        <p:spPr>
          <a:xfrm>
            <a:off x="800100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8" name="Shape 14"/>
          <p:cNvSpPr/>
          <p:nvPr/>
        </p:nvSpPr>
        <p:spPr>
          <a:xfrm>
            <a:off x="938631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9" name="Image 2" descr="/sessions/blissful-zealous-babbage/mnt/outputs/ppt/icons/chartbar_00B4D8.png">    </p:cNvPr>
          <p:cNvPicPr>
            <a:picLocks noChangeAspect="1"/>
          </p:cNvPicPr>
          <p:nvPr/>
        </p:nvPicPr>
        <p:blipFill>
          <a:blip r:embed="rId3"/>
          <a:stretch>
            <a:fillRect/>
          </a:stretch>
        </p:blipFill>
        <p:spPr>
          <a:xfrm>
            <a:off x="9475196" y="2192000"/>
            <a:ext cx="480609" cy="480609"/>
          </a:xfrm>
          <a:prstGeom prst="rect">
            <a:avLst/>
          </a:prstGeom>
        </p:spPr>
      </p:pic>
      <p:sp>
        <p:nvSpPr>
          <p:cNvPr id="20" name="Text 15"/>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1" name="Text 16"/>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75.49%</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77.94%</a:t>
            </a:r>
            <a:endParaRPr lang="en-US" sz="1300" dirty="0"/>
          </a:p>
        </p:txBody>
      </p:sp>
      <p:sp>
        <p:nvSpPr>
          <p:cNvPr id="22" name="Text 17"/>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5EAE7A"/>
                </a:solidFill>
                <a:latin typeface="Calibri" pitchFamily="34" charset="0"/>
                <a:ea typeface="Calibri" pitchFamily="34" charset="-122"/>
                <a:cs typeface="Calibri" pitchFamily="34" charset="-120"/>
              </a:rPr>
              <a:t>+2.45 pts vs. baseline</a:t>
            </a:r>
            <a:endParaRPr lang="en-US" sz="1000" dirty="0"/>
          </a:p>
        </p:txBody>
      </p:sp>
      <p:sp>
        <p:nvSpPr>
          <p:cNvPr id="23" name="Text 18"/>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0B1F3A"/>
                </a:solidFill>
                <a:latin typeface="Calibri" pitchFamily="34" charset="0"/>
                <a:ea typeface="Calibri" pitchFamily="34" charset="-122"/>
                <a:cs typeface="Calibri" pitchFamily="34" charset="-120"/>
              </a:rPr>
              <a:t>Note: </a:t>
            </a:r>
            <a:pPr indent="0" marL="0">
              <a:lnSpc>
                <a:spcPct val="122000"/>
              </a:lnSpc>
              <a:buNone/>
            </a:pPr>
            <a:r>
              <a:rPr lang="en-US" sz="1030" dirty="0">
                <a:solidFill>
                  <a:srgbClr val="64748B"/>
                </a:solidFill>
                <a:latin typeface="Calibri" pitchFamily="34" charset="0"/>
                <a:ea typeface="Calibri" pitchFamily="34" charset="-122"/>
                <a:cs typeface="Calibri"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4"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Diagnosing a Blind Spot: RC_open vs. RC_short</a:t>
            </a:r>
            <a:endParaRPr lang="en-US" sz="3000" dirty="0"/>
          </a:p>
        </p:txBody>
      </p:sp>
      <p:sp>
        <p:nvSpPr>
          <p:cNvPr id="4" name="Text 2"/>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With the original 16 features, RC_open and RC_short were completely confused — </a:t>
            </a:r>
            <a:pPr indent="0" marL="0">
              <a:lnSpc>
                <a:spcPct val="130000"/>
              </a:lnSpc>
              <a:buNone/>
            </a:pPr>
            <a:r>
              <a:rPr lang="en-US" sz="1350" b="1" dirty="0">
                <a:solidFill>
                  <a:srgbClr val="D9695F"/>
                </a:solidFill>
                <a:latin typeface="Calibri" pitchFamily="34" charset="0"/>
                <a:ea typeface="Calibri" pitchFamily="34" charset="-122"/>
                <a:cs typeface="Calibri" pitchFamily="34" charset="-120"/>
              </a:rPr>
              <a:t>F1 = 0.000</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The fix came from a very direct diagnostic: compare the mean of each feature between the two classes and look for the biggest gap.</a:t>
            </a:r>
            <a:endParaRPr lang="en-US" sz="1350" dirty="0"/>
          </a:p>
        </p:txBody>
      </p:sp>
      <p:sp>
        <p:nvSpPr>
          <p:cNvPr id="5" name="Shape 3"/>
          <p:cNvSpPr/>
          <p:nvPr/>
        </p:nvSpPr>
        <p:spPr>
          <a:xfrm>
            <a:off x="502920" y="2880360"/>
            <a:ext cx="10607040" cy="548640"/>
          </a:xfrm>
          <a:prstGeom prst="roundRect">
            <a:avLst>
              <a:gd name="adj" fmla="val 10000"/>
            </a:avLst>
          </a:prstGeom>
          <a:solidFill>
            <a:srgbClr val="0B1F3A"/>
          </a:solidFill>
          <a:ln/>
        </p:spPr>
      </p:sp>
      <p:sp>
        <p:nvSpPr>
          <p:cNvPr id="6" name="Text 4"/>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Text 5"/>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RC_open mean</a:t>
            </a:r>
            <a:endParaRPr lang="en-US" sz="1200" dirty="0"/>
          </a:p>
        </p:txBody>
      </p:sp>
      <p:sp>
        <p:nvSpPr>
          <p:cNvPr id="8" name="Text 6"/>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RC_short mean</a:t>
            </a:r>
            <a:endParaRPr lang="en-US" sz="1200" dirty="0"/>
          </a:p>
        </p:txBody>
      </p:sp>
      <p:sp>
        <p:nvSpPr>
          <p:cNvPr id="9" name="Text 7"/>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Separable?</a:t>
            </a:r>
            <a:endParaRPr lang="en-US" sz="1200" dirty="0"/>
          </a:p>
        </p:txBody>
      </p:sp>
      <p:sp>
        <p:nvSpPr>
          <p:cNvPr id="10" name="Shape 8"/>
          <p:cNvSpPr/>
          <p:nvPr/>
        </p:nvSpPr>
        <p:spPr>
          <a:xfrm>
            <a:off x="502920" y="3429000"/>
            <a:ext cx="10607040" cy="548640"/>
          </a:xfrm>
          <a:prstGeom prst="rect">
            <a:avLst/>
          </a:prstGeom>
          <a:solidFill>
            <a:srgbClr val="FFFFFF"/>
          </a:solidFill>
          <a:ln w="9525">
            <a:solidFill>
              <a:srgbClr val="E4E9F1"/>
            </a:solidFill>
            <a:prstDash val="solid"/>
          </a:ln>
        </p:spPr>
      </p:sp>
      <p:sp>
        <p:nvSpPr>
          <p:cNvPr id="11" name="Text 9"/>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peak_voltage</a:t>
            </a:r>
            <a:endParaRPr lang="en-US" sz="1200" dirty="0"/>
          </a:p>
        </p:txBody>
      </p:sp>
      <p:sp>
        <p:nvSpPr>
          <p:cNvPr id="12" name="Text 10"/>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13" name="Text 11"/>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14" name="Text 12"/>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but noisy</a:t>
            </a:r>
            <a:endParaRPr lang="en-US" sz="1200" dirty="0"/>
          </a:p>
        </p:txBody>
      </p:sp>
      <p:sp>
        <p:nvSpPr>
          <p:cNvPr id="15" name="Shape 13"/>
          <p:cNvSpPr/>
          <p:nvPr/>
        </p:nvSpPr>
        <p:spPr>
          <a:xfrm>
            <a:off x="502920" y="3977640"/>
            <a:ext cx="10607040" cy="548640"/>
          </a:xfrm>
          <a:prstGeom prst="rect">
            <a:avLst/>
          </a:prstGeom>
          <a:solidFill>
            <a:srgbClr val="EEF2F7"/>
          </a:solidFill>
          <a:ln w="9525">
            <a:solidFill>
              <a:srgbClr val="E4E9F1"/>
            </a:solidFill>
            <a:prstDash val="solid"/>
          </a:ln>
        </p:spPr>
      </p:sp>
      <p:sp>
        <p:nvSpPr>
          <p:cNvPr id="16" name="Text 14"/>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rise_time</a:t>
            </a:r>
            <a:endParaRPr lang="en-US" sz="1200" dirty="0"/>
          </a:p>
        </p:txBody>
      </p:sp>
      <p:sp>
        <p:nvSpPr>
          <p:cNvPr id="17" name="Text 15"/>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~0.095 s (never rises)</a:t>
            </a:r>
            <a:endParaRPr lang="en-US" sz="1200" dirty="0"/>
          </a:p>
        </p:txBody>
      </p:sp>
      <p:sp>
        <p:nvSpPr>
          <p:cNvPr id="18" name="Text 16"/>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~0.000002 s (instant)</a:t>
            </a:r>
            <a:endParaRPr lang="en-US" sz="1200" dirty="0"/>
          </a:p>
        </p:txBody>
      </p:sp>
      <p:sp>
        <p:nvSpPr>
          <p:cNvPr id="19" name="Text 17"/>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Marginal</a:t>
            </a:r>
            <a:endParaRPr lang="en-US" sz="1200" dirty="0"/>
          </a:p>
        </p:txBody>
      </p:sp>
      <p:sp>
        <p:nvSpPr>
          <p:cNvPr id="20" name="Shape 18"/>
          <p:cNvSpPr/>
          <p:nvPr/>
        </p:nvSpPr>
        <p:spPr>
          <a:xfrm>
            <a:off x="502920" y="4526280"/>
            <a:ext cx="10607040" cy="548640"/>
          </a:xfrm>
          <a:prstGeom prst="rect">
            <a:avLst/>
          </a:prstGeom>
          <a:solidFill>
            <a:srgbClr val="FFFFFF"/>
          </a:solidFill>
          <a:ln w="9525">
            <a:solidFill>
              <a:srgbClr val="E4E9F1"/>
            </a:solidFill>
            <a:prstDash val="solid"/>
          </a:ln>
        </p:spPr>
      </p:sp>
      <p:sp>
        <p:nvSpPr>
          <p:cNvPr id="21" name="Text 19"/>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dc_level (new)</a:t>
            </a:r>
            <a:endParaRPr lang="en-US" sz="1200" dirty="0"/>
          </a:p>
        </p:txBody>
      </p:sp>
      <p:sp>
        <p:nvSpPr>
          <p:cNvPr id="22" name="Text 20"/>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23" name="Text 21"/>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24" name="Text 22"/>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cleanly</a:t>
            </a:r>
            <a:endParaRPr lang="en-US" sz="1200" dirty="0"/>
          </a:p>
        </p:txBody>
      </p:sp>
      <p:sp>
        <p:nvSpPr>
          <p:cNvPr id="25" name="Text 23"/>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Both circuits settle to a flat line by the end of the observation window — the existing features just weren't capturing where that flat line actually sat.</a:t>
            </a:r>
            <a:endParaRPr lang="en-US" sz="11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Fix: A 17th Feature, dc_level</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6" name="Shape 4"/>
          <p:cNvSpPr/>
          <p:nvPr/>
        </p:nvSpPr>
        <p:spPr>
          <a:xfrm>
            <a:off x="50292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7" name="Shape 5"/>
          <p:cNvSpPr/>
          <p:nvPr/>
        </p:nvSpPr>
        <p:spPr>
          <a:xfrm>
            <a:off x="777240" y="333756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8" name="Image 0" descr="/sessions/blissful-zealous-babbage/mnt/outputs/ppt/icons/plug_00B4D8.png">    </p:cNvPr>
          <p:cNvPicPr>
            <a:picLocks noChangeAspect="1"/>
          </p:cNvPicPr>
          <p:nvPr/>
        </p:nvPicPr>
        <p:blipFill>
          <a:blip r:embed="rId1"/>
          <a:stretch>
            <a:fillRect/>
          </a:stretch>
        </p:blipFill>
        <p:spPr>
          <a:xfrm>
            <a:off x="851306" y="3411626"/>
            <a:ext cx="400507" cy="400507"/>
          </a:xfrm>
          <a:prstGeom prst="rect">
            <a:avLst/>
          </a:prstGeom>
        </p:spPr>
      </p:pic>
      <p:sp>
        <p:nvSpPr>
          <p:cNvPr id="9" name="Text 6"/>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RC_open</a:t>
            </a:r>
            <a:endParaRPr lang="en-US" sz="1600" dirty="0"/>
          </a:p>
        </p:txBody>
      </p:sp>
      <p:sp>
        <p:nvSpPr>
          <p:cNvPr id="10" name="Text 7"/>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Never charges within the 95ms window, so its steady-state DC level sits near 0V.</a:t>
            </a:r>
            <a:endParaRPr lang="en-US" sz="1150" dirty="0"/>
          </a:p>
        </p:txBody>
      </p:sp>
      <p:sp>
        <p:nvSpPr>
          <p:cNvPr id="11" name="Shape 8"/>
          <p:cNvSpPr/>
          <p:nvPr/>
        </p:nvSpPr>
        <p:spPr>
          <a:xfrm>
            <a:off x="612648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3337560"/>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4" name="Text 10"/>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RC_short</a:t>
            </a:r>
            <a:endParaRPr lang="en-US" sz="1600" dirty="0"/>
          </a:p>
        </p:txBody>
      </p:sp>
      <p:sp>
        <p:nvSpPr>
          <p:cNvPr id="15" name="Text 11"/>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Charges almost instantly with a collapsed time constant, so its steady-state DC level sits near 5V.</a:t>
            </a:r>
            <a:endParaRPr lang="en-US" sz="1150" dirty="0"/>
          </a:p>
        </p:txBody>
      </p:sp>
      <p:sp>
        <p:nvSpPr>
          <p:cNvPr id="16" name="Text 12"/>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0B1F3A"/>
                </a:solidFill>
                <a:latin typeface="Calibri" pitchFamily="34" charset="0"/>
                <a:ea typeface="Calibri" pitchFamily="34" charset="-122"/>
                <a:cs typeface="Calibri" pitchFamily="34" charset="-120"/>
              </a:rPr>
              <a:t>One new feature, directly targeting a diagnosed failure mode, fixed a class pair the other 16 features couldn't separate.</a:t>
            </a:r>
            <a:endParaRPr lang="en-US" sz="115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Topology-Aware Post-Processing</a:t>
            </a:r>
            <a:endParaRPr lang="en-US" sz="3000" dirty="0"/>
          </a:p>
        </p:txBody>
      </p:sp>
      <p:sp>
        <p:nvSpPr>
          <p:cNvPr id="4" name="Shape 2"/>
          <p:cNvSpPr/>
          <p:nvPr/>
        </p:nvSpPr>
        <p:spPr>
          <a:xfrm>
            <a:off x="502920" y="1783080"/>
            <a:ext cx="10607040" cy="1600200"/>
          </a:xfrm>
          <a:prstGeom prst="roundRect">
            <a:avLst>
              <a:gd name="adj" fmla="val 5143"/>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048256"/>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tools_0B1F3A.png">    </p:cNvPr>
          <p:cNvPicPr>
            <a:picLocks noChangeAspect="1"/>
          </p:cNvPicPr>
          <p:nvPr/>
        </p:nvPicPr>
        <p:blipFill>
          <a:blip r:embed="rId1"/>
          <a:stretch>
            <a:fillRect/>
          </a:stretch>
        </p:blipFill>
        <p:spPr>
          <a:xfrm>
            <a:off x="861182" y="2132198"/>
            <a:ext cx="453908" cy="453908"/>
          </a:xfrm>
          <a:prstGeom prst="rect">
            <a:avLst/>
          </a:prstGeom>
        </p:spPr>
      </p:pic>
      <p:sp>
        <p:nvSpPr>
          <p:cNvPr id="7" name="Text 4"/>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A plain SVM can output a physically impossible label — e.g. </a:t>
            </a:r>
            <a:pPr indent="0" marL="0">
              <a:lnSpc>
                <a:spcPct val="128000"/>
              </a:lnSpc>
              <a:buNone/>
            </a:pPr>
            <a:r>
              <a:rPr lang="en-US" sz="1200" dirty="0">
                <a:solidFill>
                  <a:srgbClr val="FFB703"/>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 for a sample known to come from the RC circuit, which has no inductor to open at all.
</a:t>
            </a:r>
            <a:pPr indent="0" marL="0">
              <a:lnSpc>
                <a:spcPct val="128000"/>
              </a:lnSpc>
              <a:buNone/>
            </a:pPr>
            <a:r>
              <a:rPr lang="en-US" sz="1200" b="1" dirty="0">
                <a:solidFill>
                  <a:srgbClr val="FFB703"/>
                </a:solidFill>
                <a:latin typeface="Calibri" pitchFamily="34" charset="0"/>
                <a:ea typeface="Calibri" pitchFamily="34" charset="-122"/>
                <a:cs typeface="Calibri" pitchFamily="34" charset="-120"/>
              </a:rPr>
              <a:t>Rule: </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when the predicted class's circuit prefix doesn't match the sample's known true circuit, remap the fault type onto that circuit instead — e.g. RLC_open -&gt; RC_open.</a:t>
            </a:r>
            <a:endParaRPr lang="en-US" sz="1200" dirty="0"/>
          </a:p>
        </p:txBody>
      </p:sp>
      <p:sp>
        <p:nvSpPr>
          <p:cNvPr id="8" name="Shape 5"/>
          <p:cNvSpPr/>
          <p:nvPr/>
        </p:nvSpPr>
        <p:spPr>
          <a:xfrm>
            <a:off x="502920" y="3657600"/>
            <a:ext cx="10607040" cy="685800"/>
          </a:xfrm>
          <a:prstGeom prst="roundRect">
            <a:avLst>
              <a:gd name="adj" fmla="val 10667"/>
            </a:avLst>
          </a:prstGeom>
          <a:solidFill>
            <a:srgbClr val="EEF2F7"/>
          </a:solidFill>
          <a:ln w="12700">
            <a:solidFill>
              <a:srgbClr val="E4E9F1"/>
            </a:solidFill>
            <a:prstDash val="solid"/>
          </a:ln>
        </p:spPr>
      </p:sp>
      <p:sp>
        <p:nvSpPr>
          <p:cNvPr id="9" name="Text 6"/>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+1.47 points from this rule alone:  76.96%  -&gt;  78.43%</a:t>
            </a:r>
            <a:endParaRPr lang="en-US" sz="1400" dirty="0"/>
          </a:p>
        </p:txBody>
      </p:sp>
      <p:sp>
        <p:nvSpPr>
          <p:cNvPr id="10" name="Shape 7"/>
          <p:cNvSpPr/>
          <p:nvPr/>
        </p:nvSpPr>
        <p:spPr>
          <a:xfrm>
            <a:off x="502920" y="4572000"/>
            <a:ext cx="10607040" cy="1463040"/>
          </a:xfrm>
          <a:prstGeom prst="roundRect">
            <a:avLst>
              <a:gd name="adj" fmla="val 562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777240" y="4828032"/>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3" name="Text 9"/>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An honest limit: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next two slides for a more principled fix.</a:t>
            </a:r>
            <a:endParaRPr lang="en-US" sz="11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An Honest Clarification: Is This Circular?</a:t>
            </a:r>
            <a:endParaRPr lang="en-US" sz="3000" dirty="0"/>
          </a:p>
        </p:txBody>
      </p:sp>
      <p:sp>
        <p:nvSpPr>
          <p:cNvPr id="4" name="Text 2"/>
          <p:cNvSpPr/>
          <p:nvPr/>
        </p:nvSpPr>
        <p:spPr>
          <a:xfrm>
            <a:off x="502920" y="1691640"/>
            <a:ext cx="10607040" cy="548640"/>
          </a:xfrm>
          <a:prstGeom prst="rect">
            <a:avLst/>
          </a:prstGeom>
          <a:noFill/>
          <a:ln/>
        </p:spPr>
        <p:txBody>
          <a:bodyPr wrap="square" lIns="0" tIns="0" rIns="0" bIns="0" rtlCol="0" anchor="ctr"/>
          <a:lstStyle/>
          <a:p>
            <a:pPr indent="0" marL="0">
              <a:lnSpc>
                <a:spcPct val="128000"/>
              </a:lnSpc>
              <a:buNone/>
            </a:pPr>
            <a:r>
              <a:rPr lang="en-US" sz="1350" b="1" dirty="0">
                <a:solidFill>
                  <a:srgbClr val="0B1F3A"/>
                </a:solidFill>
                <a:latin typeface="Calibri" pitchFamily="34" charset="0"/>
                <a:ea typeface="Calibri" pitchFamily="34" charset="-122"/>
                <a:cs typeface="Calibri" pitchFamily="34" charset="-120"/>
              </a:rPr>
              <a:t>Fair question: </a:t>
            </a:r>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if the correction rule already needs the true circuit, why train a 20-way classifier that predicts circuit and fault together at all?</a:t>
            </a:r>
            <a:endParaRPr lang="en-US" sz="1350" dirty="0"/>
          </a:p>
        </p:txBody>
      </p:sp>
      <p:sp>
        <p:nvSpPr>
          <p:cNvPr id="5" name="Shape 3"/>
          <p:cNvSpPr/>
          <p:nvPr/>
        </p:nvSpPr>
        <p:spPr>
          <a:xfrm>
            <a:off x="502920" y="2423160"/>
            <a:ext cx="5166360" cy="2148840"/>
          </a:xfrm>
          <a:prstGeom prst="roundRect">
            <a:avLst>
              <a:gd name="adj" fmla="val 383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77240" y="267919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search_00B4D8.png">    </p:cNvPr>
          <p:cNvPicPr>
            <a:picLocks noChangeAspect="1"/>
          </p:cNvPicPr>
          <p:nvPr/>
        </p:nvPicPr>
        <p:blipFill>
          <a:blip r:embed="rId1"/>
          <a:stretch>
            <a:fillRect/>
          </a:stretch>
        </p:blipFill>
        <p:spPr>
          <a:xfrm>
            <a:off x="853775" y="2755727"/>
            <a:ext cx="413857" cy="413857"/>
          </a:xfrm>
          <a:prstGeom prst="rect">
            <a:avLst/>
          </a:prstGeom>
        </p:spPr>
      </p:pic>
      <p:sp>
        <p:nvSpPr>
          <p:cNvPr id="8" name="Text 5"/>
          <p:cNvSpPr/>
          <p:nvPr/>
        </p:nvSpPr>
        <p:spPr>
          <a:xfrm>
            <a:off x="1508760" y="2715768"/>
            <a:ext cx="388620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The real deployment task</a:t>
            </a:r>
            <a:endParaRPr lang="en-US" sz="1350" dirty="0"/>
          </a:p>
        </p:txBody>
      </p:sp>
      <p:sp>
        <p:nvSpPr>
          <p:cNvPr id="9" name="Text 6"/>
          <p:cNvSpPr/>
          <p:nvPr/>
        </p:nvSpPr>
        <p:spPr>
          <a:xfrm>
            <a:off x="77724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 technician testing a board already knows it's "the RC filter" — what they don't know is whether it's healthy, drifting, open, shorted or noisy. The circuit identity is a given; the fault is the unknown. The live app reflects exactly this: the user picks the circuit from a dropdown.</a:t>
            </a:r>
            <a:endParaRPr lang="en-US" sz="1080" dirty="0"/>
          </a:p>
        </p:txBody>
      </p:sp>
      <p:sp>
        <p:nvSpPr>
          <p:cNvPr id="10" name="Shape 7"/>
          <p:cNvSpPr/>
          <p:nvPr/>
        </p:nvSpPr>
        <p:spPr>
          <a:xfrm>
            <a:off x="6126480" y="2423160"/>
            <a:ext cx="5166360" cy="2148840"/>
          </a:xfrm>
          <a:prstGeom prst="roundRect">
            <a:avLst>
              <a:gd name="adj" fmla="val 383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400800" y="267919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balance_00B4D8.png">    </p:cNvPr>
          <p:cNvPicPr>
            <a:picLocks noChangeAspect="1"/>
          </p:cNvPicPr>
          <p:nvPr/>
        </p:nvPicPr>
        <p:blipFill>
          <a:blip r:embed="rId2"/>
          <a:stretch>
            <a:fillRect/>
          </a:stretch>
        </p:blipFill>
        <p:spPr>
          <a:xfrm>
            <a:off x="6477335" y="2755727"/>
            <a:ext cx="413857" cy="413857"/>
          </a:xfrm>
          <a:prstGeom prst="rect">
            <a:avLst/>
          </a:prstGeom>
        </p:spPr>
      </p:pic>
      <p:sp>
        <p:nvSpPr>
          <p:cNvPr id="13" name="Text 9"/>
          <p:cNvSpPr/>
          <p:nvPr/>
        </p:nvSpPr>
        <p:spPr>
          <a:xfrm>
            <a:off x="7132320" y="2715768"/>
            <a:ext cx="388620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train the harder, blind version anyway</a:t>
            </a:r>
            <a:endParaRPr lang="en-US" sz="1350" dirty="0"/>
          </a:p>
        </p:txBody>
      </p:sp>
      <p:sp>
        <p:nvSpPr>
          <p:cNvPr id="14" name="Text 10"/>
          <p:cNvSpPr/>
          <p:nvPr/>
        </p:nvSpPr>
        <p:spPr>
          <a:xfrm>
            <a:off x="640080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The 20-way SVM is trained and scored on the full blind problem — circuit and fault together — as the rigorous headline result. That number, 76.96% before correction, is what the model can do with zero outside help.</a:t>
            </a:r>
            <a:endParaRPr lang="en-US" sz="1080" dirty="0"/>
          </a:p>
        </p:txBody>
      </p:sp>
      <p:sp>
        <p:nvSpPr>
          <p:cNvPr id="15" name="Shape 11"/>
          <p:cNvSpPr/>
          <p:nvPr/>
        </p:nvSpPr>
        <p:spPr>
          <a:xfrm>
            <a:off x="502920" y="4892040"/>
            <a:ext cx="10607040" cy="1234440"/>
          </a:xfrm>
          <a:prstGeom prst="roundRect">
            <a:avLst>
              <a:gd name="adj" fmla="val 6667"/>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777240" y="5029200"/>
            <a:ext cx="10058400" cy="1005840"/>
          </a:xfrm>
          <a:prstGeom prst="rect">
            <a:avLst/>
          </a:prstGeom>
          <a:noFill/>
          <a:ln/>
        </p:spPr>
        <p:txBody>
          <a:bodyPr wrap="square" lIns="0" tIns="0" rIns="0" bIns="0" rtlCol="0" anchor="ctr"/>
          <a:lstStyle/>
          <a:p>
            <a:pPr indent="0" marL="0">
              <a:lnSpc>
                <a:spcPct val="122000"/>
              </a:lnSpc>
              <a:buNone/>
            </a:pPr>
            <a:r>
              <a:rPr lang="en-US" sz="1100" b="1" dirty="0">
                <a:solidFill>
                  <a:srgbClr val="FFB703"/>
                </a:solidFill>
                <a:latin typeface="Calibri" pitchFamily="34" charset="0"/>
                <a:ea typeface="Calibri" pitchFamily="34" charset="-122"/>
                <a:cs typeface="Calibri" pitchFamily="34" charset="-120"/>
              </a:rPr>
              <a:t>Why this isn't leakage: </a:t>
            </a:r>
            <a:pPr indent="0" marL="0">
              <a:lnSpc>
                <a:spcPct val="122000"/>
              </a:lnSpc>
              <a:buNone/>
            </a:pPr>
            <a:r>
              <a:rPr lang="en-US" sz="1100" dirty="0">
                <a:solidFill>
                  <a:srgbClr val="E7ECF4"/>
                </a:solidFill>
                <a:latin typeface="Calibri" pitchFamily="34" charset="0"/>
                <a:ea typeface="Calibri" pitchFamily="34" charset="-122"/>
                <a:cs typeface="Calibri" pitchFamily="34" charset="-120"/>
              </a:rPr>
              <a:t>the correction never looks at the predicted fault type — only the independently-known circuit identity — to rule out physically impossible combinations. It's equivalent to a technician saying "I know this is the RC board, so it can't be an RLC fault," not information leaking from the label being predicted. Two honest numbers are reported side by side: </a:t>
            </a:r>
            <a:pPr indent="0" marL="0">
              <a:lnSpc>
                <a:spcPct val="122000"/>
              </a:lnSpc>
              <a:buNone/>
            </a:pPr>
            <a:r>
              <a:rPr lang="en-US" sz="1100" b="1" dirty="0">
                <a:solidFill>
                  <a:srgbClr val="FFFFFF"/>
                </a:solidFill>
                <a:latin typeface="Calibri" pitchFamily="34" charset="0"/>
                <a:ea typeface="Calibri" pitchFamily="34" charset="-122"/>
                <a:cs typeface="Calibri" pitchFamily="34" charset="-120"/>
              </a:rPr>
              <a:t>76.96% blind, 78.43% with the known-topology assumption applied.</a:t>
            </a:r>
            <a:endParaRPr lang="en-US" sz="110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Beyond the Patch: A Principled Alternative</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The correction rule is a patch: it repairs a mistake after a flat 20-way classifier already made it. A cleaner design would make the mistake </a:t>
            </a:r>
            <a:pPr indent="0" marL="0">
              <a:lnSpc>
                <a:spcPct val="128000"/>
              </a:lnSpc>
              <a:buNone/>
            </a:pPr>
            <a:r>
              <a:rPr lang="en-US" sz="1300" b="1" dirty="0">
                <a:solidFill>
                  <a:srgbClr val="0B1F3A"/>
                </a:solidFill>
                <a:latin typeface="Calibri" pitchFamily="34" charset="0"/>
                <a:ea typeface="Calibri" pitchFamily="34" charset="-122"/>
                <a:cs typeface="Calibri" pitchFamily="34" charset="-120"/>
              </a:rPr>
              <a:t>structurally impossible</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in the first place, by splitting the problem into two honest, separately-trained stages:</a:t>
            </a:r>
            <a:endParaRPr lang="en-US" sz="1300" dirty="0"/>
          </a:p>
        </p:txBody>
      </p:sp>
      <p:sp>
        <p:nvSpPr>
          <p:cNvPr id="5" name="Shape 3"/>
          <p:cNvSpPr/>
          <p:nvPr/>
        </p:nvSpPr>
        <p:spPr>
          <a:xfrm>
            <a:off x="502920" y="2606040"/>
            <a:ext cx="5166360" cy="2743200"/>
          </a:xfrm>
          <a:prstGeom prst="roundRect">
            <a:avLst>
              <a:gd name="adj" fmla="val 3000"/>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34640"/>
            <a:ext cx="4617720" cy="274320"/>
          </a:xfrm>
          <a:prstGeom prst="rect">
            <a:avLst/>
          </a:prstGeom>
          <a:noFill/>
          <a:ln/>
        </p:spPr>
        <p:txBody>
          <a:bodyPr wrap="square" lIns="0" tIns="0" rIns="0" bIns="0" rtlCol="0" anchor="ctr"/>
          <a:lstStyle/>
          <a:p>
            <a:pPr indent="0" marL="0">
              <a:buNone/>
            </a:pPr>
            <a:r>
              <a:rPr lang="en-US" sz="1100" b="1" spc="150" kern="0" dirty="0">
                <a:solidFill>
                  <a:srgbClr val="FFB703"/>
                </a:solidFill>
                <a:latin typeface="Calibri" pitchFamily="34" charset="0"/>
                <a:ea typeface="Calibri" pitchFamily="34" charset="-122"/>
                <a:cs typeface="Calibri" pitchFamily="34" charset="-120"/>
              </a:rPr>
              <a:t>STAGE 1</a:t>
            </a:r>
            <a:endParaRPr lang="en-US" sz="1100" dirty="0"/>
          </a:p>
        </p:txBody>
      </p:sp>
      <p:sp>
        <p:nvSpPr>
          <p:cNvPr id="7" name="Shape 5"/>
          <p:cNvSpPr/>
          <p:nvPr/>
        </p:nvSpPr>
        <p:spPr>
          <a:xfrm>
            <a:off x="777240" y="3172968"/>
            <a:ext cx="640080" cy="64008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8" name="Image 0" descr="/sessions/blissful-zealous-babbage/mnt/outputs/ppt/icons/sitemap_0B1F3A.png">    </p:cNvPr>
          <p:cNvPicPr>
            <a:picLocks noChangeAspect="1"/>
          </p:cNvPicPr>
          <p:nvPr/>
        </p:nvPicPr>
        <p:blipFill>
          <a:blip r:embed="rId1"/>
          <a:stretch>
            <a:fillRect/>
          </a:stretch>
        </p:blipFill>
        <p:spPr>
          <a:xfrm>
            <a:off x="863651" y="3259379"/>
            <a:ext cx="467258" cy="467258"/>
          </a:xfrm>
          <a:prstGeom prst="rect">
            <a:avLst/>
          </a:prstGeom>
        </p:spPr>
      </p:pic>
      <p:sp>
        <p:nvSpPr>
          <p:cNvPr id="9" name="Text 6"/>
          <p:cNvSpPr/>
          <p:nvPr/>
        </p:nvSpPr>
        <p:spPr>
          <a:xfrm>
            <a:off x="1600200" y="3227832"/>
            <a:ext cx="379476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Which circuit?</a:t>
            </a:r>
            <a:endParaRPr lang="en-US" sz="1700" dirty="0"/>
          </a:p>
        </p:txBody>
      </p:sp>
      <p:sp>
        <p:nvSpPr>
          <p:cNvPr id="10" name="Text 7"/>
          <p:cNvSpPr/>
          <p:nvPr/>
        </p:nvSpPr>
        <p:spPr>
          <a:xfrm>
            <a:off x="77724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E7ECF4"/>
                </a:solidFill>
                <a:latin typeface="Calibri" pitchFamily="34" charset="0"/>
                <a:ea typeface="Calibri" pitchFamily="34" charset="-122"/>
                <a:cs typeface="Calibri" pitchFamily="34" charset="-120"/>
              </a:rPr>
              <a:t>A 4-way SVM trained on all 17 features, deciding only RC vs. RLC vs. Sallen-Key vs. RC Ladder — nothing about the fault yet.</a:t>
            </a:r>
            <a:endParaRPr lang="en-US" sz="1100" dirty="0"/>
          </a:p>
        </p:txBody>
      </p:sp>
      <p:sp>
        <p:nvSpPr>
          <p:cNvPr id="11" name="Shape 8"/>
          <p:cNvSpPr/>
          <p:nvPr/>
        </p:nvSpPr>
        <p:spPr>
          <a:xfrm>
            <a:off x="6126480" y="2606040"/>
            <a:ext cx="5166360" cy="2743200"/>
          </a:xfrm>
          <a:prstGeom prst="roundRect">
            <a:avLst>
              <a:gd name="adj" fmla="val 30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Text 9"/>
          <p:cNvSpPr/>
          <p:nvPr/>
        </p:nvSpPr>
        <p:spPr>
          <a:xfrm>
            <a:off x="6400800" y="2834640"/>
            <a:ext cx="4617720" cy="274320"/>
          </a:xfrm>
          <a:prstGeom prst="rect">
            <a:avLst/>
          </a:prstGeom>
          <a:noFill/>
          <a:ln/>
        </p:spPr>
        <p:txBody>
          <a:bodyPr wrap="square" lIns="0" tIns="0" rIns="0" bIns="0" rtlCol="0" anchor="ctr"/>
          <a:lstStyle/>
          <a:p>
            <a:pPr indent="0" marL="0">
              <a:buNone/>
            </a:pPr>
            <a:r>
              <a:rPr lang="en-US" sz="1100" b="1" spc="150" kern="0" dirty="0">
                <a:solidFill>
                  <a:srgbClr val="8695AB"/>
                </a:solidFill>
                <a:latin typeface="Calibri" pitchFamily="34" charset="0"/>
                <a:ea typeface="Calibri" pitchFamily="34" charset="-122"/>
                <a:cs typeface="Calibri" pitchFamily="34" charset="-120"/>
              </a:rPr>
              <a:t>STAGE 2</a:t>
            </a:r>
            <a:endParaRPr lang="en-US" sz="1100" dirty="0"/>
          </a:p>
        </p:txBody>
      </p:sp>
      <p:sp>
        <p:nvSpPr>
          <p:cNvPr id="13" name="Shape 10"/>
          <p:cNvSpPr/>
          <p:nvPr/>
        </p:nvSpPr>
        <p:spPr>
          <a:xfrm>
            <a:off x="6400800" y="3172968"/>
            <a:ext cx="640080" cy="64008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4" name="Image 1" descr="/sessions/blissful-zealous-babbage/mnt/outputs/ppt/icons/search_0B1F3A.png">    </p:cNvPr>
          <p:cNvPicPr>
            <a:picLocks noChangeAspect="1"/>
          </p:cNvPicPr>
          <p:nvPr/>
        </p:nvPicPr>
        <p:blipFill>
          <a:blip r:embed="rId2"/>
          <a:stretch>
            <a:fillRect/>
          </a:stretch>
        </p:blipFill>
        <p:spPr>
          <a:xfrm>
            <a:off x="6487211" y="3259379"/>
            <a:ext cx="467258" cy="467258"/>
          </a:xfrm>
          <a:prstGeom prst="rect">
            <a:avLst/>
          </a:prstGeom>
        </p:spPr>
      </p:pic>
      <p:sp>
        <p:nvSpPr>
          <p:cNvPr id="15" name="Text 11"/>
          <p:cNvSpPr/>
          <p:nvPr/>
        </p:nvSpPr>
        <p:spPr>
          <a:xfrm>
            <a:off x="7223760" y="3154680"/>
            <a:ext cx="3794760" cy="640080"/>
          </a:xfrm>
          <a:prstGeom prst="rect">
            <a:avLst/>
          </a:prstGeom>
          <a:noFill/>
          <a:ln/>
        </p:spPr>
        <p:txBody>
          <a:bodyPr wrap="square" lIns="0" tIns="0" rIns="0" bIns="0" rtlCol="0" anchor="ctr"/>
          <a:lstStyle/>
          <a:p>
            <a:pPr indent="0" marL="0">
              <a:lnSpc>
                <a:spcPct val="105000"/>
              </a:lnSpc>
              <a:buNone/>
            </a:pPr>
            <a:r>
              <a:rPr lang="en-US" sz="1650" b="1" dirty="0">
                <a:solidFill>
                  <a:srgbClr val="0B1F3A"/>
                </a:solidFill>
                <a:latin typeface="Cambria" pitchFamily="34" charset="0"/>
                <a:ea typeface="Cambria" pitchFamily="34" charset="-122"/>
                <a:cs typeface="Cambria" pitchFamily="34" charset="-120"/>
              </a:rPr>
              <a:t>Which fault, given that circuit?</a:t>
            </a:r>
            <a:endParaRPr lang="en-US" sz="1650" dirty="0"/>
          </a:p>
        </p:txBody>
      </p:sp>
      <p:sp>
        <p:nvSpPr>
          <p:cNvPr id="16" name="Text 12"/>
          <p:cNvSpPr/>
          <p:nvPr/>
        </p:nvSpPr>
        <p:spPr>
          <a:xfrm>
            <a:off x="640080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64748B"/>
                </a:solidFill>
                <a:latin typeface="Calibri" pitchFamily="34" charset="0"/>
                <a:ea typeface="Calibri" pitchFamily="34" charset="-122"/>
                <a:cs typeface="Calibri" pitchFamily="34" charset="-120"/>
              </a:rPr>
              <a:t>A separate 5-way SVM per circuit, trained only on that circuit's own samples. By construction, the RC model can never output an RLC label — there's no such option in its vocabulary.</a:t>
            </a:r>
            <a:endParaRPr lang="en-US" sz="110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Hierarchical Result: 88.56% vs. 78.43%</a:t>
            </a:r>
            <a:endParaRPr lang="en-US" sz="3000" dirty="0"/>
          </a:p>
        </p:txBody>
      </p:sp>
      <p:sp>
        <p:nvSpPr>
          <p:cNvPr id="4" name="Shape 2"/>
          <p:cNvSpPr/>
          <p:nvPr/>
        </p:nvSpPr>
        <p:spPr>
          <a:xfrm>
            <a:off x="502920" y="1783080"/>
            <a:ext cx="10607040" cy="621792"/>
          </a:xfrm>
          <a:prstGeom prst="roundRect">
            <a:avLst>
              <a:gd name="adj" fmla="val 8824"/>
            </a:avLst>
          </a:prstGeom>
          <a:solidFill>
            <a:srgbClr val="0B1F3A"/>
          </a:solidFill>
          <a:ln/>
        </p:spPr>
      </p:sp>
      <p:sp>
        <p:nvSpPr>
          <p:cNvPr id="5" name="Text 3"/>
          <p:cNvSpPr/>
          <p:nvPr/>
        </p:nvSpPr>
        <p:spPr>
          <a:xfrm>
            <a:off x="502920" y="1783080"/>
            <a:ext cx="3931920" cy="62179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p>
        </p:txBody>
      </p:sp>
      <p:sp>
        <p:nvSpPr>
          <p:cNvPr id="6" name="Text 4"/>
          <p:cNvSpPr/>
          <p:nvPr/>
        </p:nvSpPr>
        <p:spPr>
          <a:xfrm>
            <a:off x="4434840" y="1783080"/>
            <a:ext cx="283464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p>
        </p:txBody>
      </p:sp>
      <p:sp>
        <p:nvSpPr>
          <p:cNvPr id="7" name="Text 5"/>
          <p:cNvSpPr/>
          <p:nvPr/>
        </p:nvSpPr>
        <p:spPr>
          <a:xfrm>
            <a:off x="7269480" y="1783080"/>
            <a:ext cx="384048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8" name="Shape 6"/>
          <p:cNvSpPr/>
          <p:nvPr/>
        </p:nvSpPr>
        <p:spPr>
          <a:xfrm>
            <a:off x="502920" y="2404872"/>
            <a:ext cx="10607040" cy="621792"/>
          </a:xfrm>
          <a:prstGeom prst="rect">
            <a:avLst/>
          </a:prstGeom>
          <a:solidFill>
            <a:srgbClr val="FFFFFF"/>
          </a:solidFill>
          <a:ln w="9525">
            <a:solidFill>
              <a:srgbClr val="E4E9F1"/>
            </a:solidFill>
            <a:prstDash val="solid"/>
          </a:ln>
        </p:spPr>
      </p:sp>
      <p:sp>
        <p:nvSpPr>
          <p:cNvPr id="9" name="Text 7"/>
          <p:cNvSpPr/>
          <p:nvPr/>
        </p:nvSpPr>
        <p:spPr>
          <a:xfrm>
            <a:off x="502920" y="2404872"/>
            <a:ext cx="3931920" cy="621792"/>
          </a:xfrm>
          <a:prstGeom prst="rect">
            <a:avLst/>
          </a:prstGeom>
          <a:noFill/>
          <a:ln/>
        </p:spPr>
        <p:txBody>
          <a:bodyPr wrap="square" lIns="0" tIns="177800" rIns="0" bIns="0"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Flat 20-way, fully blind</a:t>
            </a:r>
            <a:endParaRPr lang="en-US" sz="1100" dirty="0"/>
          </a:p>
        </p:txBody>
      </p:sp>
      <p:sp>
        <p:nvSpPr>
          <p:cNvPr id="10" name="Text 8"/>
          <p:cNvSpPr/>
          <p:nvPr/>
        </p:nvSpPr>
        <p:spPr>
          <a:xfrm>
            <a:off x="4434840" y="2404872"/>
            <a:ext cx="283464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77.52%  (avg)</a:t>
            </a:r>
            <a:endParaRPr lang="en-US" sz="1100" dirty="0"/>
          </a:p>
        </p:txBody>
      </p:sp>
      <p:sp>
        <p:nvSpPr>
          <p:cNvPr id="11" name="Text 9"/>
          <p:cNvSpPr/>
          <p:nvPr/>
        </p:nvSpPr>
        <p:spPr>
          <a:xfrm>
            <a:off x="7269480" y="2404872"/>
            <a:ext cx="384048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No topology information used at all</a:t>
            </a:r>
            <a:endParaRPr lang="en-US" sz="1100" dirty="0"/>
          </a:p>
        </p:txBody>
      </p:sp>
      <p:sp>
        <p:nvSpPr>
          <p:cNvPr id="12" name="Shape 10"/>
          <p:cNvSpPr/>
          <p:nvPr/>
        </p:nvSpPr>
        <p:spPr>
          <a:xfrm>
            <a:off x="502920" y="3026664"/>
            <a:ext cx="10607040" cy="621792"/>
          </a:xfrm>
          <a:prstGeom prst="rect">
            <a:avLst/>
          </a:prstGeom>
          <a:solidFill>
            <a:srgbClr val="EEF2F7"/>
          </a:solidFill>
          <a:ln w="9525">
            <a:solidFill>
              <a:srgbClr val="E4E9F1"/>
            </a:solidFill>
            <a:prstDash val="solid"/>
          </a:ln>
        </p:spPr>
      </p:sp>
      <p:sp>
        <p:nvSpPr>
          <p:cNvPr id="13" name="Text 11"/>
          <p:cNvSpPr/>
          <p:nvPr/>
        </p:nvSpPr>
        <p:spPr>
          <a:xfrm>
            <a:off x="502920" y="3026664"/>
            <a:ext cx="3931920" cy="621792"/>
          </a:xfrm>
          <a:prstGeom prst="rect">
            <a:avLst/>
          </a:prstGeom>
          <a:noFill/>
          <a:ln/>
        </p:spPr>
        <p:txBody>
          <a:bodyPr wrap="square" lIns="0" tIns="177800" rIns="0" bIns="0"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Flat 20-way + correction rule</a:t>
            </a:r>
            <a:endParaRPr lang="en-US" sz="1100" dirty="0"/>
          </a:p>
        </p:txBody>
      </p:sp>
      <p:sp>
        <p:nvSpPr>
          <p:cNvPr id="14" name="Text 12"/>
          <p:cNvSpPr/>
          <p:nvPr/>
        </p:nvSpPr>
        <p:spPr>
          <a:xfrm>
            <a:off x="4434840" y="3026664"/>
            <a:ext cx="283464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78.43%  /  80.54% (avg)</a:t>
            </a:r>
            <a:endParaRPr lang="en-US" sz="1100" dirty="0"/>
          </a:p>
        </p:txBody>
      </p:sp>
      <p:sp>
        <p:nvSpPr>
          <p:cNvPr id="15" name="Text 13"/>
          <p:cNvSpPr/>
          <p:nvPr/>
        </p:nvSpPr>
        <p:spPr>
          <a:xfrm>
            <a:off x="7269480" y="3026664"/>
            <a:ext cx="384048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The original approach — patches mistakes after the fact</a:t>
            </a:r>
            <a:endParaRPr lang="en-US" sz="1100" dirty="0"/>
          </a:p>
        </p:txBody>
      </p:sp>
      <p:sp>
        <p:nvSpPr>
          <p:cNvPr id="16" name="Shape 14"/>
          <p:cNvSpPr/>
          <p:nvPr/>
        </p:nvSpPr>
        <p:spPr>
          <a:xfrm>
            <a:off x="502920" y="3648456"/>
            <a:ext cx="10607040" cy="621792"/>
          </a:xfrm>
          <a:prstGeom prst="rect">
            <a:avLst/>
          </a:prstGeom>
          <a:solidFill>
            <a:srgbClr val="FFFFFF"/>
          </a:solidFill>
          <a:ln w="9525">
            <a:solidFill>
              <a:srgbClr val="E4E9F1"/>
            </a:solidFill>
            <a:prstDash val="solid"/>
          </a:ln>
        </p:spPr>
      </p:sp>
      <p:sp>
        <p:nvSpPr>
          <p:cNvPr id="17" name="Text 15"/>
          <p:cNvSpPr/>
          <p:nvPr/>
        </p:nvSpPr>
        <p:spPr>
          <a:xfrm>
            <a:off x="502920" y="3648456"/>
            <a:ext cx="3931920" cy="621792"/>
          </a:xfrm>
          <a:prstGeom prst="rect">
            <a:avLst/>
          </a:prstGeom>
          <a:noFill/>
          <a:ln/>
        </p:spPr>
        <p:txBody>
          <a:bodyPr wrap="square" lIns="0" tIns="177800" rIns="0" bIns="0"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Hierarchical, fully blind</a:t>
            </a:r>
            <a:endParaRPr lang="en-US" sz="1100" dirty="0"/>
          </a:p>
        </p:txBody>
      </p:sp>
      <p:sp>
        <p:nvSpPr>
          <p:cNvPr id="18" name="Text 16"/>
          <p:cNvSpPr/>
          <p:nvPr/>
        </p:nvSpPr>
        <p:spPr>
          <a:xfrm>
            <a:off x="4434840" y="3648456"/>
            <a:ext cx="283464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78.01%  (avg)</a:t>
            </a:r>
            <a:endParaRPr lang="en-US" sz="1100" dirty="0"/>
          </a:p>
        </p:txBody>
      </p:sp>
      <p:sp>
        <p:nvSpPr>
          <p:cNvPr id="19" name="Text 17"/>
          <p:cNvSpPr/>
          <p:nvPr/>
        </p:nvSpPr>
        <p:spPr>
          <a:xfrm>
            <a:off x="7269480" y="3648456"/>
            <a:ext cx="384048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Stage 1 predicts circuit itself — about the same as flat blind</a:t>
            </a:r>
            <a:endParaRPr lang="en-US" sz="1100" dirty="0"/>
          </a:p>
        </p:txBody>
      </p:sp>
      <p:sp>
        <p:nvSpPr>
          <p:cNvPr id="20" name="Shape 18"/>
          <p:cNvSpPr/>
          <p:nvPr/>
        </p:nvSpPr>
        <p:spPr>
          <a:xfrm>
            <a:off x="502920" y="4270248"/>
            <a:ext cx="10607040" cy="621792"/>
          </a:xfrm>
          <a:prstGeom prst="rect">
            <a:avLst/>
          </a:prstGeom>
          <a:solidFill>
            <a:srgbClr val="EEF2F7"/>
          </a:solidFill>
          <a:ln w="9525">
            <a:solidFill>
              <a:srgbClr val="E4E9F1"/>
            </a:solidFill>
            <a:prstDash val="solid"/>
          </a:ln>
        </p:spPr>
      </p:sp>
      <p:sp>
        <p:nvSpPr>
          <p:cNvPr id="21" name="Text 19"/>
          <p:cNvSpPr/>
          <p:nvPr/>
        </p:nvSpPr>
        <p:spPr>
          <a:xfrm>
            <a:off x="502920" y="4270248"/>
            <a:ext cx="3931920" cy="621792"/>
          </a:xfrm>
          <a:prstGeom prst="rect">
            <a:avLst/>
          </a:prstGeom>
          <a:noFill/>
          <a:ln/>
        </p:spPr>
        <p:txBody>
          <a:bodyPr wrap="square" lIns="0" tIns="177800" rIns="0" bIns="0" rtlCol="0" anchor="ctr"/>
          <a:lstStyle/>
          <a:p>
            <a:pPr algn="l" indent="0" marL="0">
              <a:buNone/>
            </a:pPr>
            <a:r>
              <a:rPr lang="en-US" sz="1100" b="1" dirty="0">
                <a:solidFill>
                  <a:srgbClr val="1E293B"/>
                </a:solidFill>
                <a:latin typeface="Calibri" pitchFamily="34" charset="0"/>
                <a:ea typeface="Calibri" pitchFamily="34" charset="-122"/>
                <a:cs typeface="Calibri" pitchFamily="34" charset="-120"/>
              </a:rPr>
              <a:t>Hierarchical, known circuit</a:t>
            </a:r>
            <a:endParaRPr lang="en-US" sz="1100" dirty="0"/>
          </a:p>
        </p:txBody>
      </p:sp>
      <p:sp>
        <p:nvSpPr>
          <p:cNvPr id="22" name="Text 20"/>
          <p:cNvSpPr/>
          <p:nvPr/>
        </p:nvSpPr>
        <p:spPr>
          <a:xfrm>
            <a:off x="4434840" y="4270248"/>
            <a:ext cx="283464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88.56%  (avg)</a:t>
            </a:r>
            <a:endParaRPr lang="en-US" sz="1100" dirty="0"/>
          </a:p>
        </p:txBody>
      </p:sp>
      <p:sp>
        <p:nvSpPr>
          <p:cNvPr id="23" name="Text 21"/>
          <p:cNvSpPr/>
          <p:nvPr/>
        </p:nvSpPr>
        <p:spPr>
          <a:xfrm>
            <a:off x="7269480" y="4270248"/>
            <a:ext cx="3840480" cy="621792"/>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Same deployment assumption as the correction rule</a:t>
            </a:r>
            <a:endParaRPr lang="en-US" sz="1100" dirty="0"/>
          </a:p>
        </p:txBody>
      </p:sp>
      <p:sp>
        <p:nvSpPr>
          <p:cNvPr id="24" name="Shape 22"/>
          <p:cNvSpPr/>
          <p:nvPr/>
        </p:nvSpPr>
        <p:spPr>
          <a:xfrm>
            <a:off x="502920" y="4434840"/>
            <a:ext cx="10607040" cy="960120"/>
          </a:xfrm>
          <a:prstGeom prst="roundRect">
            <a:avLst>
              <a:gd name="adj" fmla="val 8571"/>
            </a:avLst>
          </a:prstGeom>
          <a:solidFill>
            <a:srgbClr val="0B1F3A"/>
          </a:solidFill>
          <a:ln/>
          <a:effectLst>
            <a:outerShdw sx="100000" sy="100000" kx="0" ky="0" algn="bl" rotWithShape="0" blurRad="114300" dist="38100" dir="2700000">
              <a:srgbClr val="0B1F3A">
                <a:alpha val="14000"/>
              </a:srgbClr>
            </a:outerShdw>
          </a:effectLst>
        </p:spPr>
      </p:sp>
      <p:sp>
        <p:nvSpPr>
          <p:cNvPr id="25" name="Text 23"/>
          <p:cNvSpPr/>
          <p:nvPr/>
        </p:nvSpPr>
        <p:spPr>
          <a:xfrm>
            <a:off x="777240" y="452628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FFB703"/>
                </a:solidFill>
                <a:latin typeface="Calibri" pitchFamily="34" charset="0"/>
                <a:ea typeface="Calibri" pitchFamily="34" charset="-122"/>
                <a:cs typeface="Calibri" pitchFamily="34" charset="-120"/>
              </a:rPr>
              <a:t>Why the jump: </a:t>
            </a:r>
            <a:pPr indent="0" marL="0">
              <a:lnSpc>
                <a:spcPct val="122000"/>
              </a:lnSpc>
              <a:buNone/>
            </a:pPr>
            <a:r>
              <a:rPr lang="en-US" sz="1100" dirty="0">
                <a:solidFill>
                  <a:srgbClr val="E7ECF4"/>
                </a:solidFill>
                <a:latin typeface="Calibri" pitchFamily="34" charset="0"/>
                <a:ea typeface="Calibri" pitchFamily="34" charset="-122"/>
                <a:cs typeface="Calibri" pitchFamily="34" charset="-120"/>
              </a:rPr>
              <a:t>a per-circuit fault classifier only ever has to separate 5 classes using that circuit's own waveform statistics, instead of fighting cross-circuit noise inside one shared 20-way boundary. The correction rule could only repair mistakes after they happened; this architecture prevents most of them from happening at all.</a:t>
            </a:r>
            <a:endParaRPr lang="en-US" sz="1100" dirty="0"/>
          </a:p>
        </p:txBody>
      </p:sp>
      <p:sp>
        <p:nvSpPr>
          <p:cNvPr id="26" name="Text 24"/>
          <p:cNvSpPr/>
          <p:nvPr/>
        </p:nvSpPr>
        <p:spPr>
          <a:xfrm>
            <a:off x="502920" y="5532120"/>
            <a:ext cx="10607040" cy="868680"/>
          </a:xfrm>
          <a:prstGeom prst="rect">
            <a:avLst/>
          </a:prstGeom>
          <a:noFill/>
          <a:ln/>
        </p:spPr>
        <p:txBody>
          <a:bodyPr wrap="square" lIns="0" tIns="0" rIns="0" bIns="0" rtlCol="0" anchor="ctr"/>
          <a:lstStyle/>
          <a:p>
            <a:pPr indent="0" marL="0">
              <a:lnSpc>
                <a:spcPct val="122000"/>
              </a:lnSpc>
              <a:buNone/>
            </a:pPr>
            <a:r>
              <a:rPr lang="en-US" sz="1030" b="1" dirty="0">
                <a:solidFill>
                  <a:srgbClr val="0B1F3A"/>
                </a:solidFill>
                <a:latin typeface="Calibri" pitchFamily="34" charset="0"/>
                <a:ea typeface="Calibri" pitchFamily="34" charset="-122"/>
                <a:cs typeface="Calibri" pitchFamily="34" charset="-120"/>
              </a:rPr>
              <a:t>Honest framing: </a:t>
            </a:r>
            <a:pPr indent="0" marL="0">
              <a:lnSpc>
                <a:spcPct val="122000"/>
              </a:lnSpc>
              <a:buNone/>
            </a:pPr>
            <a:r>
              <a:rPr lang="en-US" sz="1030" dirty="0">
                <a:solidFill>
                  <a:srgbClr val="64748B"/>
                </a:solidFill>
                <a:latin typeface="Calibri" pitchFamily="34" charset="0"/>
                <a:ea typeface="Calibri" pitchFamily="34" charset="-122"/>
                <a:cs typeface="Calibri" pitchFamily="34" charset="-120"/>
              </a:rPr>
              <a:t>this comparison wasn't in the original project — it's a direct response to asking whether the correction rule could be replaced with something more principled. All four numbers above were computed the same way, on the same features_v2.csv, averaged over 15 random splits. It's a clear, concrete direction for the next revision of this pipeline, not a retroactive rewrite of the original result.</a:t>
            </a:r>
            <a:endParaRPr lang="en-US" sz="103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7. RESULTS &amp; DEEP ANALYSIS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Headline Number</a:t>
            </a:r>
            <a:endParaRPr lang="en-US" sz="3000" dirty="0"/>
          </a:p>
        </p:txBody>
      </p:sp>
      <p:sp>
        <p:nvSpPr>
          <p:cNvPr id="11" name="Text 9"/>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FFB703"/>
                </a:solidFill>
                <a:latin typeface="Cambria" pitchFamily="34" charset="0"/>
                <a:ea typeface="Cambria" pitchFamily="34" charset="-122"/>
                <a:cs typeface="Cambria" pitchFamily="34" charset="-120"/>
              </a:rPr>
              <a:t>78.43%</a:t>
            </a:r>
            <a:endParaRPr lang="en-US" sz="8800" dirty="0"/>
          </a:p>
        </p:txBody>
      </p:sp>
      <p:sp>
        <p:nvSpPr>
          <p:cNvPr id="12" name="Text 10"/>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C9D6E8"/>
                </a:solidFill>
                <a:latin typeface="Calibri" pitchFamily="34" charset="0"/>
                <a:ea typeface="Calibri" pitchFamily="34" charset="-122"/>
                <a:cs typeface="Calibri" pitchFamily="34" charset="-120"/>
              </a:rPr>
              <a:t>test accuracy on a 20-class problem, from real physics-based data alone</a:t>
            </a:r>
            <a:endParaRPr lang="en-US" sz="1500" dirty="0"/>
          </a:p>
        </p:txBody>
      </p:sp>
      <p:sp>
        <p:nvSpPr>
          <p:cNvPr id="13" name="Text 11"/>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9FB1C8"/>
                </a:solidFill>
                <a:latin typeface="Calibri" pitchFamily="34" charset="0"/>
                <a:ea typeface="Calibri" pitchFamily="34" charset="-122"/>
                <a:cs typeface="Calibri" pitchFamily="34" charset="-120"/>
              </a:rPr>
              <a:t>A random guess would score 5%. </a:t>
            </a:r>
            <a:pPr indent="0" marL="0">
              <a:lnSpc>
                <a:spcPct val="132000"/>
              </a:lnSpc>
              <a:buNone/>
            </a:pPr>
            <a:r>
              <a:rPr lang="en-US" sz="1350" dirty="0">
                <a:solidFill>
                  <a:srgbClr val="E7ECF4"/>
                </a:solidFill>
                <a:latin typeface="Calibri" pitchFamily="34" charset="0"/>
                <a:ea typeface="Calibri" pitchFamily="34" charset="-122"/>
                <a:cs typeface="Calibri"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4" name="Shape 12"/>
          <p:cNvSpPr/>
          <p:nvPr/>
        </p:nvSpPr>
        <p:spPr>
          <a:xfrm>
            <a:off x="969264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chartbar_FFB703.png">    </p:cNvPr>
          <p:cNvPicPr>
            <a:picLocks noChangeAspect="1"/>
          </p:cNvPicPr>
          <p:nvPr/>
        </p:nvPicPr>
        <p:blipFill>
          <a:blip r:embed="rId1"/>
          <a:stretch>
            <a:fillRect/>
          </a:stretch>
        </p:blipFill>
        <p:spPr>
          <a:xfrm>
            <a:off x="987780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RBF + Topology Rule Wins: 78.43%</a:t>
            </a:r>
            <a:endParaRPr lang="en-US" sz="3000" dirty="0"/>
          </a:p>
        </p:txBody>
      </p:sp>
      <p:graphicFrame>
        <p:nvGraphicFramePr>
          <p:cNvPr id="4"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6"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Robust Is 78.43%? A 30-Run Replication</a:t>
            </a:r>
            <a:endParaRPr lang="en-US" sz="3000" dirty="0"/>
          </a:p>
        </p:txBody>
      </p:sp>
      <p:sp>
        <p:nvSpPr>
          <p:cNvPr id="4" name="Text 2"/>
          <p:cNvSpPr/>
          <p:nvPr/>
        </p:nvSpPr>
        <p:spPr>
          <a:xfrm>
            <a:off x="502920" y="1691640"/>
            <a:ext cx="10607040" cy="59436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The headline number comes from one fixed 80/20 split (random_state=42). To check how much that could vary by chance, the same train-tune-evaluate pipeline was independently re-run across </a:t>
            </a:r>
            <a:pPr indent="0" marL="0">
              <a:lnSpc>
                <a:spcPct val="125000"/>
              </a:lnSpc>
              <a:buNone/>
            </a:pPr>
            <a:r>
              <a:rPr lang="en-US" sz="1250" b="1" dirty="0">
                <a:solidFill>
                  <a:srgbClr val="0B1F3A"/>
                </a:solidFill>
                <a:latin typeface="Calibri" pitchFamily="34" charset="0"/>
                <a:ea typeface="Calibri" pitchFamily="34" charset="-122"/>
                <a:cs typeface="Calibri" pitchFamily="34" charset="-120"/>
              </a:rPr>
              <a:t>30 different random splits</a:t>
            </a:r>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a:t>
            </a:r>
            <a:endParaRPr lang="en-US" sz="1250" dirty="0"/>
          </a:p>
        </p:txBody>
      </p:sp>
      <p:sp>
        <p:nvSpPr>
          <p:cNvPr id="5" name="Shape 3"/>
          <p:cNvSpPr/>
          <p:nvPr/>
        </p:nvSpPr>
        <p:spPr>
          <a:xfrm>
            <a:off x="502920" y="2423160"/>
            <a:ext cx="5166360" cy="1965960"/>
          </a:xfrm>
          <a:prstGeom prst="roundRect">
            <a:avLst>
              <a:gd name="adj" fmla="val 418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24328"/>
            <a:ext cx="4617720" cy="320040"/>
          </a:xfrm>
          <a:prstGeom prst="rect">
            <a:avLst/>
          </a:prstGeom>
          <a:noFill/>
          <a:ln/>
        </p:spPr>
        <p:txBody>
          <a:bodyPr wrap="square" lIns="0" tIns="0" rIns="0" bIns="0" rtlCol="0" anchor="ctr"/>
          <a:lstStyle/>
          <a:p>
            <a:pPr indent="0" marL="0">
              <a:buNone/>
            </a:pPr>
            <a:r>
              <a:rPr lang="en-US" sz="1250" b="1" dirty="0">
                <a:solidFill>
                  <a:srgbClr val="FFB703"/>
                </a:solidFill>
                <a:latin typeface="Calibri" pitchFamily="34" charset="0"/>
                <a:ea typeface="Calibri" pitchFamily="34" charset="-122"/>
                <a:cs typeface="Calibri" pitchFamily="34" charset="-120"/>
              </a:rPr>
              <a:t>With topology correction</a:t>
            </a:r>
            <a:endParaRPr lang="en-US" sz="1250" dirty="0"/>
          </a:p>
        </p:txBody>
      </p:sp>
      <p:sp>
        <p:nvSpPr>
          <p:cNvPr id="7" name="Text 5"/>
          <p:cNvSpPr/>
          <p:nvPr/>
        </p:nvSpPr>
        <p:spPr>
          <a:xfrm>
            <a:off x="777240" y="2971800"/>
            <a:ext cx="4617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80.54%  ± 3.08</a:t>
            </a:r>
            <a:endParaRPr lang="en-US" sz="3000" dirty="0"/>
          </a:p>
        </p:txBody>
      </p:sp>
      <p:sp>
        <p:nvSpPr>
          <p:cNvPr id="8" name="Text 6"/>
          <p:cNvSpPr/>
          <p:nvPr/>
        </p:nvSpPr>
        <p:spPr>
          <a:xfrm>
            <a:off x="777240" y="3657600"/>
            <a:ext cx="4617720" cy="32004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mean ± std across 30 seeds  ·  range 72.55% - 84.80%</a:t>
            </a:r>
            <a:endParaRPr lang="en-US" sz="1000" dirty="0"/>
          </a:p>
        </p:txBody>
      </p:sp>
      <p:sp>
        <p:nvSpPr>
          <p:cNvPr id="9" name="Text 7"/>
          <p:cNvSpPr/>
          <p:nvPr/>
        </p:nvSpPr>
        <p:spPr>
          <a:xfrm>
            <a:off x="777240" y="3995928"/>
            <a:ext cx="4617720" cy="320040"/>
          </a:xfrm>
          <a:prstGeom prst="rect">
            <a:avLst/>
          </a:prstGeom>
          <a:noFill/>
          <a:ln/>
        </p:spPr>
        <p:txBody>
          <a:bodyPr wrap="square" lIns="0" tIns="0" rIns="0" bIns="0" rtlCol="0" anchor="ctr"/>
          <a:lstStyle/>
          <a:p>
            <a:pPr indent="0" marL="0">
              <a:buNone/>
            </a:pPr>
            <a:r>
              <a:rPr lang="en-US" sz="950" i="1" dirty="0">
                <a:solidFill>
                  <a:srgbClr val="C9D6E8"/>
                </a:solidFill>
                <a:latin typeface="Calibri" pitchFamily="34" charset="0"/>
                <a:ea typeface="Calibri" pitchFamily="34" charset="-122"/>
                <a:cs typeface="Calibri" pitchFamily="34" charset="-120"/>
              </a:rPr>
              <a:t>Original reported run: 78.43% — squarely inside this range.</a:t>
            </a:r>
            <a:endParaRPr lang="en-US" sz="950" dirty="0"/>
          </a:p>
        </p:txBody>
      </p:sp>
      <p:sp>
        <p:nvSpPr>
          <p:cNvPr id="10" name="Shape 8"/>
          <p:cNvSpPr/>
          <p:nvPr/>
        </p:nvSpPr>
        <p:spPr>
          <a:xfrm>
            <a:off x="6126480" y="2423160"/>
            <a:ext cx="5166360" cy="1965960"/>
          </a:xfrm>
          <a:prstGeom prst="roundRect">
            <a:avLst>
              <a:gd name="adj" fmla="val 41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Text 9"/>
          <p:cNvSpPr/>
          <p:nvPr/>
        </p:nvSpPr>
        <p:spPr>
          <a:xfrm>
            <a:off x="6400800" y="2624328"/>
            <a:ext cx="4617720" cy="320040"/>
          </a:xfrm>
          <a:prstGeom prst="rect">
            <a:avLst/>
          </a:prstGeom>
          <a:noFill/>
          <a:ln/>
        </p:spPr>
        <p:txBody>
          <a:bodyPr wrap="square" lIns="0" tIns="0" rIns="0" bIns="0" rtlCol="0" anchor="ctr"/>
          <a:lstStyle/>
          <a:p>
            <a:pPr indent="0" marL="0">
              <a:buNone/>
            </a:pPr>
            <a:r>
              <a:rPr lang="en-US" sz="1250" b="1" dirty="0">
                <a:solidFill>
                  <a:srgbClr val="0B1F3A"/>
                </a:solidFill>
                <a:latin typeface="Calibri" pitchFamily="34" charset="0"/>
                <a:ea typeface="Calibri" pitchFamily="34" charset="-122"/>
                <a:cs typeface="Calibri" pitchFamily="34" charset="-120"/>
              </a:rPr>
              <a:t>Without topology correction</a:t>
            </a:r>
            <a:endParaRPr lang="en-US" sz="1250" dirty="0"/>
          </a:p>
        </p:txBody>
      </p:sp>
      <p:sp>
        <p:nvSpPr>
          <p:cNvPr id="12" name="Text 10"/>
          <p:cNvSpPr/>
          <p:nvPr/>
        </p:nvSpPr>
        <p:spPr>
          <a:xfrm>
            <a:off x="6400800" y="2971800"/>
            <a:ext cx="461772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77.52%  ± 1.66</a:t>
            </a:r>
            <a:endParaRPr lang="en-US" sz="3000" dirty="0"/>
          </a:p>
        </p:txBody>
      </p:sp>
      <p:sp>
        <p:nvSpPr>
          <p:cNvPr id="13" name="Text 11"/>
          <p:cNvSpPr/>
          <p:nvPr/>
        </p:nvSpPr>
        <p:spPr>
          <a:xfrm>
            <a:off x="6400800" y="3657600"/>
            <a:ext cx="4617720" cy="32004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mean ± std across 30 seeds  ·  range 72.55% - 79.90%</a:t>
            </a:r>
            <a:endParaRPr lang="en-US" sz="1000" dirty="0"/>
          </a:p>
        </p:txBody>
      </p:sp>
      <p:sp>
        <p:nvSpPr>
          <p:cNvPr id="14" name="Text 12"/>
          <p:cNvSpPr/>
          <p:nvPr/>
        </p:nvSpPr>
        <p:spPr>
          <a:xfrm>
            <a:off x="6400800" y="3995928"/>
            <a:ext cx="4617720"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Lower spread — the raw SVM alone is more consistent.</a:t>
            </a:r>
            <a:endParaRPr lang="en-US" sz="950" dirty="0"/>
          </a:p>
        </p:txBody>
      </p:sp>
      <p:sp>
        <p:nvSpPr>
          <p:cNvPr id="15" name="Shape 13"/>
          <p:cNvSpPr/>
          <p:nvPr/>
        </p:nvSpPr>
        <p:spPr>
          <a:xfrm>
            <a:off x="502920" y="4617720"/>
            <a:ext cx="10607040" cy="960120"/>
          </a:xfrm>
          <a:prstGeom prst="roundRect">
            <a:avLst>
              <a:gd name="adj" fmla="val 8571"/>
            </a:avLst>
          </a:prstGeom>
          <a:solidFill>
            <a:srgbClr val="EEF2F7"/>
          </a:solidFill>
          <a:ln w="12700">
            <a:solidFill>
              <a:srgbClr val="E4E9F1"/>
            </a:solidFill>
            <a:prstDash val="solid"/>
          </a:ln>
        </p:spPr>
      </p:sp>
      <p:sp>
        <p:nvSpPr>
          <p:cNvPr id="16" name="Text 14"/>
          <p:cNvSpPr/>
          <p:nvPr/>
        </p:nvSpPr>
        <p:spPr>
          <a:xfrm>
            <a:off x="777240" y="470916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0B1F3A"/>
                </a:solidFill>
                <a:latin typeface="Calibri" pitchFamily="34" charset="0"/>
                <a:ea typeface="Calibri" pitchFamily="34" charset="-122"/>
                <a:cs typeface="Calibri" pitchFamily="34" charset="-120"/>
              </a:rPr>
              <a:t>An honest nuance: </a:t>
            </a:r>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the topology-aware rule raises average accuracy by about 3 points but also widens the spread (std 3.08 vs. 1.66) — its effect depends on exactly which cross-topology errors each specific split happens to contain. It helps on average, but it isn't a free, uniform boost.</a:t>
            </a:r>
            <a:endParaRPr lang="en-US" sz="1100" dirty="0"/>
          </a:p>
        </p:txBody>
      </p:sp>
      <p:sp>
        <p:nvSpPr>
          <p:cNvPr id="17" name="Text 15"/>
          <p:cNvSpPr/>
          <p:nvPr/>
        </p:nvSpPr>
        <p:spPr>
          <a:xfrm>
            <a:off x="502920" y="5669280"/>
            <a:ext cx="10607040" cy="777240"/>
          </a:xfrm>
          <a:prstGeom prst="rect">
            <a:avLst/>
          </a:prstGeom>
          <a:noFill/>
          <a:ln/>
        </p:spPr>
        <p:txBody>
          <a:bodyPr wrap="square" lIns="0" tIns="0" rIns="0" bIns="0" rtlCol="0" anchor="ctr"/>
          <a:lstStyle/>
          <a:p>
            <a:pPr indent="0" marL="0">
              <a:lnSpc>
                <a:spcPct val="120000"/>
              </a:lnSpc>
              <a:buNone/>
            </a:pPr>
            <a:r>
              <a:rPr lang="en-US" sz="960" b="1" dirty="0">
                <a:solidFill>
                  <a:srgbClr val="0B1F3A"/>
                </a:solidFill>
                <a:latin typeface="Calibri" pitchFamily="34" charset="0"/>
                <a:ea typeface="Calibri" pitchFamily="34" charset="-122"/>
                <a:cs typeface="Calibri" pitchFamily="34" charset="-120"/>
              </a:rPr>
              <a:t>Also verified: </a:t>
            </a:r>
            <a:pPr indent="0" marL="0">
              <a:lnSpc>
                <a:spcPct val="120000"/>
              </a:lnSpc>
              <a:buNone/>
            </a:pPr>
            <a:r>
              <a:rPr lang="en-US" sz="960" dirty="0">
                <a:solidFill>
                  <a:srgbClr val="64748B"/>
                </a:solidFill>
                <a:latin typeface="Calibri" pitchFamily="34" charset="0"/>
                <a:ea typeface="Calibri" pitchFamily="34" charset="-122"/>
                <a:cs typeface="Calibri" pitchFamily="34" charset="-120"/>
              </a:rPr>
              <a:t>an always-predict-the-majority-class baseline scores 4.90% ± 0.00% across the same 30 splits — confirming the "random guess ~5%" comparison used earlier with a directly computed number, not an assumption. (Note: this replication uses the same methodology on features_v2.csv but a fresh randomization call, so exact figures differ slightly from the original day-by-day scripts — the conclusion, that 78.43% is a realistic, non-cherry-picked result, holds either way.)</a:t>
            </a:r>
            <a:endParaRPr lang="en-US" sz="960" dirty="0"/>
          </a:p>
        </p:txBody>
      </p:sp>
      <p:sp>
        <p:nvSpPr>
          <p:cNvPr id="18"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These Kernel Results Make Sense</a:t>
            </a:r>
            <a:endParaRPr lang="en-US" sz="3000" dirty="0"/>
          </a:p>
        </p:txBody>
      </p:sp>
      <p:sp>
        <p:nvSpPr>
          <p:cNvPr id="4" name="Shape 2"/>
          <p:cNvSpPr/>
          <p:nvPr/>
        </p:nvSpPr>
        <p:spPr>
          <a:xfrm>
            <a:off x="50292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Linear already scores 77.9%</a:t>
            </a:r>
            <a:endParaRPr lang="en-US" sz="1350" dirty="0"/>
          </a:p>
        </p:txBody>
      </p:sp>
      <p:sp>
        <p:nvSpPr>
          <p:cNvPr id="8" name="Text 5"/>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9" name="Shape 6"/>
          <p:cNvSpPr/>
          <p:nvPr/>
        </p:nvSpPr>
        <p:spPr>
          <a:xfrm>
            <a:off x="612648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wave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RBF needed tuning to win</a:t>
            </a:r>
            <a:endParaRPr lang="en-US" sz="1350" dirty="0"/>
          </a:p>
        </p:txBody>
      </p:sp>
      <p:sp>
        <p:nvSpPr>
          <p:cNvPr id="13" name="Text 9"/>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Not All Circuits Are Equally Easy to Diagnose</a:t>
            </a:r>
            <a:endParaRPr lang="en-US" sz="3000" dirty="0"/>
          </a:p>
        </p:txBody>
      </p:sp>
      <p:graphicFrame>
        <p:nvGraphicFramePr>
          <p:cNvPr id="4"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60920" y="201168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2"/>
          <a:stretch>
            <a:fillRect/>
          </a:stretch>
        </p:blipFill>
        <p:spPr>
          <a:xfrm>
            <a:off x="7434986" y="2085746"/>
            <a:ext cx="400507" cy="400507"/>
          </a:xfrm>
          <a:prstGeom prst="rect">
            <a:avLst/>
          </a:prstGeom>
        </p:spPr>
      </p:pic>
      <p:sp>
        <p:nvSpPr>
          <p:cNvPr id="7" name="Text 3"/>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RLC — 100%</a:t>
            </a:r>
            <a:endParaRPr lang="en-US" sz="1350" dirty="0"/>
          </a:p>
        </p:txBody>
      </p:sp>
      <p:sp>
        <p:nvSpPr>
          <p:cNvPr id="8" name="Text 4"/>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Its oscillatory, underdamped response makes each fault look distinctly different from the others.</a:t>
            </a:r>
            <a:endParaRPr lang="en-US" sz="1050" dirty="0"/>
          </a:p>
        </p:txBody>
      </p:sp>
      <p:sp>
        <p:nvSpPr>
          <p:cNvPr id="9" name="Shape 5"/>
          <p:cNvSpPr/>
          <p:nvPr/>
        </p:nvSpPr>
        <p:spPr>
          <a:xfrm>
            <a:off x="7360920" y="374904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warn_00B4D8.png">    </p:cNvPr>
          <p:cNvPicPr>
            <a:picLocks noChangeAspect="1"/>
          </p:cNvPicPr>
          <p:nvPr/>
        </p:nvPicPr>
        <p:blipFill>
          <a:blip r:embed="rId3"/>
          <a:stretch>
            <a:fillRect/>
          </a:stretch>
        </p:blipFill>
        <p:spPr>
          <a:xfrm>
            <a:off x="7434986" y="3823106"/>
            <a:ext cx="400507" cy="400507"/>
          </a:xfrm>
          <a:prstGeom prst="rect">
            <a:avLst/>
          </a:prstGeom>
        </p:spPr>
      </p:pic>
      <p:sp>
        <p:nvSpPr>
          <p:cNvPr id="11" name="Text 6"/>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RC &amp; RC Ladder — harder</a:t>
            </a:r>
            <a:endParaRPr lang="en-US" sz="1350" dirty="0"/>
          </a:p>
        </p:txBody>
      </p:sp>
      <p:sp>
        <p:nvSpPr>
          <p:cNvPr id="12" name="Text 7"/>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Smoother, more similar-looking passive responses make drift/normal/short faults subtler to tell apart.</a:t>
            </a:r>
            <a:endParaRPr lang="en-US" sz="1050" dirty="0"/>
          </a:p>
        </p:txBody>
      </p:sp>
      <p:sp>
        <p:nvSpPr>
          <p:cNvPr id="13"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RLC's Perfect Score</a:t>
            </a:r>
            <a:endParaRPr lang="en-US" sz="3000" dirty="0"/>
          </a:p>
        </p:txBody>
      </p:sp>
      <p:sp>
        <p:nvSpPr>
          <p:cNvPr id="4" name="Text 2"/>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Every one of the 5 fault types on the RLC circuit was classified perfectly in the test set:</a:t>
            </a:r>
            <a:endParaRPr lang="en-US" sz="1300" dirty="0"/>
          </a:p>
        </p:txBody>
      </p:sp>
      <p:sp>
        <p:nvSpPr>
          <p:cNvPr id="5" name="Shape 3"/>
          <p:cNvSpPr/>
          <p:nvPr/>
        </p:nvSpPr>
        <p:spPr>
          <a:xfrm>
            <a:off x="50292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7" name="Text 5"/>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Normal</a:t>
            </a:r>
            <a:endParaRPr lang="en-US" sz="1150" dirty="0"/>
          </a:p>
        </p:txBody>
      </p:sp>
      <p:sp>
        <p:nvSpPr>
          <p:cNvPr id="8" name="Shape 6"/>
          <p:cNvSpPr/>
          <p:nvPr/>
        </p:nvSpPr>
        <p:spPr>
          <a:xfrm>
            <a:off x="265176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0" name="Text 8"/>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Drift</a:t>
            </a:r>
            <a:endParaRPr lang="en-US" sz="1150" dirty="0"/>
          </a:p>
        </p:txBody>
      </p:sp>
      <p:sp>
        <p:nvSpPr>
          <p:cNvPr id="11" name="Shape 9"/>
          <p:cNvSpPr/>
          <p:nvPr/>
        </p:nvSpPr>
        <p:spPr>
          <a:xfrm>
            <a:off x="480060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2" name="Text 10"/>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3" name="Text 11"/>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Open</a:t>
            </a:r>
            <a:endParaRPr lang="en-US" sz="1150" dirty="0"/>
          </a:p>
        </p:txBody>
      </p:sp>
      <p:sp>
        <p:nvSpPr>
          <p:cNvPr id="14" name="Shape 12"/>
          <p:cNvSpPr/>
          <p:nvPr/>
        </p:nvSpPr>
        <p:spPr>
          <a:xfrm>
            <a:off x="694944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5" name="Text 13"/>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Short</a:t>
            </a:r>
            <a:endParaRPr lang="en-US" sz="1150" dirty="0"/>
          </a:p>
        </p:txBody>
      </p:sp>
      <p:sp>
        <p:nvSpPr>
          <p:cNvPr id="17" name="Shape 15"/>
          <p:cNvSpPr/>
          <p:nvPr/>
        </p:nvSpPr>
        <p:spPr>
          <a:xfrm>
            <a:off x="909828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9" name="Text 17"/>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Noise</a:t>
            </a:r>
            <a:endParaRPr lang="en-US" sz="1150" dirty="0"/>
          </a:p>
        </p:txBody>
      </p:sp>
      <p:sp>
        <p:nvSpPr>
          <p:cNvPr id="20" name="Text 18"/>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Why: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Why RC &amp; RC Ladder Are Harder</a:t>
            </a:r>
            <a:endParaRPr lang="en-US" sz="3000" dirty="0"/>
          </a:p>
        </p:txBody>
      </p:sp>
      <p:sp>
        <p:nvSpPr>
          <p:cNvPr id="4" name="Shape 2"/>
          <p:cNvSpPr/>
          <p:nvPr/>
        </p:nvSpPr>
        <p:spPr>
          <a:xfrm>
            <a:off x="502920" y="1828800"/>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5" name="Text 3"/>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RC_drift</a:t>
            </a:r>
            <a:endParaRPr lang="en-US" sz="1300" dirty="0"/>
          </a:p>
        </p:txBody>
      </p:sp>
      <p:sp>
        <p:nvSpPr>
          <p:cNvPr id="6" name="Text 4"/>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7" name="Text 5"/>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60% misread as RC_normal</a:t>
            </a:r>
            <a:endParaRPr lang="en-US" sz="1130" dirty="0"/>
          </a:p>
        </p:txBody>
      </p:sp>
      <p:sp>
        <p:nvSpPr>
          <p:cNvPr id="8" name="Shape 6"/>
          <p:cNvSpPr/>
          <p:nvPr/>
        </p:nvSpPr>
        <p:spPr>
          <a:xfrm>
            <a:off x="502920" y="2670048"/>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9" name="Text 7"/>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RC_open</a:t>
            </a:r>
            <a:endParaRPr lang="en-US" sz="1300" dirty="0"/>
          </a:p>
        </p:txBody>
      </p:sp>
      <p:sp>
        <p:nvSpPr>
          <p:cNvPr id="10" name="Text 8"/>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1" name="Text 9"/>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RLC_open (cross-topology)</a:t>
            </a:r>
            <a:endParaRPr lang="en-US" sz="1130" dirty="0"/>
          </a:p>
        </p:txBody>
      </p:sp>
      <p:sp>
        <p:nvSpPr>
          <p:cNvPr id="12" name="Shape 10"/>
          <p:cNvSpPr/>
          <p:nvPr/>
        </p:nvSpPr>
        <p:spPr>
          <a:xfrm>
            <a:off x="502920" y="3511296"/>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3" name="Text 11"/>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RC_LADDER_drift</a:t>
            </a:r>
            <a:endParaRPr lang="en-US" sz="1300" dirty="0"/>
          </a:p>
        </p:txBody>
      </p:sp>
      <p:sp>
        <p:nvSpPr>
          <p:cNvPr id="14" name="Text 12"/>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5" name="Text 13"/>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RC_LADDER_normal</a:t>
            </a:r>
            <a:endParaRPr lang="en-US" sz="1130" dirty="0"/>
          </a:p>
        </p:txBody>
      </p:sp>
      <p:sp>
        <p:nvSpPr>
          <p:cNvPr id="16" name="Shape 14"/>
          <p:cNvSpPr/>
          <p:nvPr/>
        </p:nvSpPr>
        <p:spPr>
          <a:xfrm>
            <a:off x="502920" y="4352544"/>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7" name="Text 15"/>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RC_LADDER_short</a:t>
            </a:r>
            <a:endParaRPr lang="en-US" sz="1300" dirty="0"/>
          </a:p>
        </p:txBody>
      </p:sp>
      <p:sp>
        <p:nvSpPr>
          <p:cNvPr id="18" name="Text 16"/>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10%</a:t>
            </a:r>
            <a:endParaRPr lang="en-US" sz="1700" dirty="0"/>
          </a:p>
        </p:txBody>
      </p:sp>
      <p:sp>
        <p:nvSpPr>
          <p:cNvPr id="19" name="Text 17"/>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90% misread as RC_short (cross-topology)</a:t>
            </a:r>
            <a:endParaRPr lang="en-US" sz="1130" dirty="0"/>
          </a:p>
        </p:txBody>
      </p:sp>
      <p:sp>
        <p:nvSpPr>
          <p:cNvPr id="20" name="Text 18"/>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0B1F3A"/>
                </a:solidFill>
                <a:latin typeface="Calibri" pitchFamily="34" charset="0"/>
                <a:ea typeface="Calibri" pitchFamily="34" charset="-122"/>
                <a:cs typeface="Calibri" pitchFamily="34" charset="-120"/>
              </a:rPr>
              <a:t>The pattern: </a:t>
            </a:r>
            <a:pPr indent="0" marL="0">
              <a:lnSpc>
                <a:spcPct val="125000"/>
              </a:lnSpc>
              <a:buNone/>
            </a:pPr>
            <a:r>
              <a:rPr lang="en-US" sz="1180" dirty="0">
                <a:solidFill>
                  <a:srgbClr val="64748B"/>
                </a:solidFill>
                <a:latin typeface="Calibri" pitchFamily="34" charset="0"/>
                <a:ea typeface="Calibri" pitchFamily="34" charset="-122"/>
                <a:cs typeface="Calibri"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the Model Weighs — and Where It Excels</a:t>
            </a:r>
            <a:endParaRPr lang="en-US" sz="3000" dirty="0"/>
          </a:p>
        </p:txBody>
      </p:sp>
      <p:sp>
        <p:nvSpPr>
          <p:cNvPr id="4" name="Shape 2"/>
          <p:cNvSpPr/>
          <p:nvPr/>
        </p:nvSpPr>
        <p:spPr>
          <a:xfrm>
            <a:off x="50292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6" name="Text 3"/>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rise_time and std_voltage carry the most weight in the linear model's decisions.</a:t>
            </a:r>
            <a:endParaRPr lang="en-US" sz="1000" dirty="0"/>
          </a:p>
        </p:txBody>
      </p:sp>
      <p:sp>
        <p:nvSpPr>
          <p:cNvPr id="7" name="Shape 4"/>
          <p:cNvSpPr/>
          <p:nvPr/>
        </p:nvSpPr>
        <p:spPr>
          <a:xfrm>
            <a:off x="594360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8"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9" name="Text 5"/>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10 of 20 classes hit a perfect or near-perfect F1 score; RC/RC-Ladder faults trail behind.</a:t>
            </a:r>
            <a:endParaRPr lang="en-US" sz="1000" dirty="0"/>
          </a:p>
        </p:txBody>
      </p:sp>
      <p:sp>
        <p:nvSpPr>
          <p:cNvPr id="10"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Every Prediction, At a Glance</a:t>
            </a:r>
            <a:endParaRPr lang="en-US" sz="3000" dirty="0"/>
          </a:p>
        </p:txBody>
      </p:sp>
      <p:sp>
        <p:nvSpPr>
          <p:cNvPr id="4" name="Shape 2"/>
          <p:cNvSpPr/>
          <p:nvPr/>
        </p:nvSpPr>
        <p:spPr>
          <a:xfrm>
            <a:off x="502920" y="1691640"/>
            <a:ext cx="10607040" cy="4480560"/>
          </a:xfrm>
          <a:prstGeom prst="roundRect">
            <a:avLst>
              <a:gd name="adj" fmla="val 1429"/>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Confusion Matrix Deep Dive: Three Error Patterns</a:t>
            </a:r>
            <a:endParaRPr lang="en-US" sz="3000" dirty="0"/>
          </a:p>
        </p:txBody>
      </p:sp>
      <p:sp>
        <p:nvSpPr>
          <p:cNvPr id="4" name="Shape 2"/>
          <p:cNvSpPr/>
          <p:nvPr/>
        </p:nvSpPr>
        <p:spPr>
          <a:xfrm>
            <a:off x="5029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chartline_00B4D8.png">    </p:cNvPr>
          <p:cNvPicPr>
            <a:picLocks noChangeAspect="1"/>
          </p:cNvPicPr>
          <p:nvPr/>
        </p:nvPicPr>
        <p:blipFill>
          <a:blip r:embed="rId1"/>
          <a:stretch>
            <a:fillRect/>
          </a:stretch>
        </p:blipFill>
        <p:spPr>
          <a:xfrm>
            <a:off x="576986" y="1902866"/>
            <a:ext cx="400507" cy="400507"/>
          </a:xfrm>
          <a:prstGeom prst="rect">
            <a:avLst/>
          </a:prstGeom>
        </p:spPr>
      </p:pic>
      <p:sp>
        <p:nvSpPr>
          <p:cNvPr id="6" name="Text 3"/>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1. Drift blends into Normal</a:t>
            </a:r>
            <a:endParaRPr lang="en-US" sz="1350" dirty="0"/>
          </a:p>
        </p:txBody>
      </p:sp>
      <p:sp>
        <p:nvSpPr>
          <p:cNvPr id="7" name="Text 4"/>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8" name="Shape 5"/>
          <p:cNvSpPr/>
          <p:nvPr/>
        </p:nvSpPr>
        <p:spPr>
          <a:xfrm>
            <a:off x="502920" y="32004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00B4D8.png">    </p:cNvPr>
          <p:cNvPicPr>
            <a:picLocks noChangeAspect="1"/>
          </p:cNvPicPr>
          <p:nvPr/>
        </p:nvPicPr>
        <p:blipFill>
          <a:blip r:embed="rId2"/>
          <a:stretch>
            <a:fillRect/>
          </a:stretch>
        </p:blipFill>
        <p:spPr>
          <a:xfrm>
            <a:off x="576986" y="3274466"/>
            <a:ext cx="400507" cy="400507"/>
          </a:xfrm>
          <a:prstGeom prst="rect">
            <a:avLst/>
          </a:prstGeom>
        </p:spPr>
      </p:pic>
      <p:sp>
        <p:nvSpPr>
          <p:cNvPr id="10" name="Text 6"/>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 Same fault, wrong circuit (same family)</a:t>
            </a:r>
            <a:endParaRPr lang="en-US" sz="1350" dirty="0"/>
          </a:p>
        </p:txBody>
      </p:sp>
      <p:sp>
        <p:nvSpPr>
          <p:cNvPr id="11" name="Text 7"/>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2" name="Shape 8"/>
          <p:cNvSpPr/>
          <p:nvPr/>
        </p:nvSpPr>
        <p:spPr>
          <a:xfrm>
            <a:off x="502920" y="45720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warn_00B4D8.png">    </p:cNvPr>
          <p:cNvPicPr>
            <a:picLocks noChangeAspect="1"/>
          </p:cNvPicPr>
          <p:nvPr/>
        </p:nvPicPr>
        <p:blipFill>
          <a:blip r:embed="rId3"/>
          <a:stretch>
            <a:fillRect/>
          </a:stretch>
        </p:blipFill>
        <p:spPr>
          <a:xfrm>
            <a:off x="576986" y="4646066"/>
            <a:ext cx="400507" cy="400507"/>
          </a:xfrm>
          <a:prstGeom prst="rect">
            <a:avLst/>
          </a:prstGeom>
        </p:spPr>
      </p:pic>
      <p:sp>
        <p:nvSpPr>
          <p:cNvPr id="14" name="Text 9"/>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3. A limit the topology rule can't reach</a:t>
            </a:r>
            <a:endParaRPr lang="en-US" sz="1350" dirty="0"/>
          </a:p>
        </p:txBody>
      </p:sp>
      <p:sp>
        <p:nvSpPr>
          <p:cNvPr id="15" name="Text 10"/>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6"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Precision vs. Recall: What the Numbers Really Mean</a:t>
            </a:r>
            <a:endParaRPr lang="en-US" sz="3000" dirty="0"/>
          </a:p>
        </p:txBody>
      </p:sp>
      <p:sp>
        <p:nvSpPr>
          <p:cNvPr id="4" name="Shape 2"/>
          <p:cNvSpPr/>
          <p:nvPr/>
        </p:nvSpPr>
        <p:spPr>
          <a:xfrm>
            <a:off x="502920" y="1828800"/>
            <a:ext cx="5166360" cy="4023360"/>
          </a:xfrm>
          <a:prstGeom prst="roundRect">
            <a:avLst>
              <a:gd name="adj" fmla="val 204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Text 3"/>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RC_LADDER_short</a:t>
            </a:r>
            <a:endParaRPr lang="en-US" sz="1600" dirty="0"/>
          </a:p>
        </p:txBody>
      </p:sp>
      <p:sp>
        <p:nvSpPr>
          <p:cNvPr id="6" name="Text 4"/>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5EAE7A"/>
                </a:solidFill>
                <a:latin typeface="Calibri" pitchFamily="34" charset="0"/>
                <a:ea typeface="Calibri" pitchFamily="34" charset="-122"/>
                <a:cs typeface="Calibri" pitchFamily="34" charset="-120"/>
              </a:rPr>
              <a:t>Precision = 1.000</a:t>
            </a:r>
            <a:pPr indent="0" marL="0">
              <a:buNone/>
            </a:pPr>
            <a:r>
              <a:rPr lang="en-US" sz="1300" b="1" dirty="0">
                <a:solidFill>
                  <a:srgbClr val="D9695F"/>
                </a:solidFill>
                <a:latin typeface="Calibri" pitchFamily="34" charset="0"/>
                <a:ea typeface="Calibri" pitchFamily="34" charset="-122"/>
                <a:cs typeface="Calibri" pitchFamily="34" charset="-120"/>
              </a:rPr>
              <a:t>   Recall = 0.100</a:t>
            </a:r>
            <a:endParaRPr lang="en-US" sz="1300" dirty="0"/>
          </a:p>
        </p:txBody>
      </p:sp>
      <p:sp>
        <p:nvSpPr>
          <p:cNvPr id="7" name="Text 5"/>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8" name="Shape 6"/>
          <p:cNvSpPr/>
          <p:nvPr/>
        </p:nvSpPr>
        <p:spPr>
          <a:xfrm>
            <a:off x="6126480" y="1828800"/>
            <a:ext cx="5166360" cy="4023360"/>
          </a:xfrm>
          <a:prstGeom prst="roundRect">
            <a:avLst>
              <a:gd name="adj" fmla="val 2045"/>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this distinction matters</a:t>
            </a:r>
            <a:endParaRPr lang="en-US" sz="1600" dirty="0"/>
          </a:p>
        </p:txBody>
      </p:sp>
      <p:sp>
        <p:nvSpPr>
          <p:cNvPr id="10" name="Text 8"/>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A single accuracy number (78.43%) hides this. </a:t>
            </a:r>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FFB703"/>
                </a:solidFill>
                <a:latin typeface="Calibri" pitchFamily="34" charset="0"/>
                <a:ea typeface="Calibri" pitchFamily="34" charset="-122"/>
                <a:cs typeface="Calibri" pitchFamily="34" charset="-120"/>
              </a:rPr>
              <a:t>This is why the Results section leans on F1 and the confusion matrix, not accuracy alone.</a:t>
            </a:r>
            <a:endParaRPr lang="en-US" sz="11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2"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8. KEY FINDING &amp; LIMITS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When Higher Accuracy Is the Wrong Answer</a:t>
            </a:r>
            <a:endParaRPr lang="en-US" sz="3000" dirty="0"/>
          </a:p>
        </p:txBody>
      </p:sp>
      <p:sp>
        <p:nvSpPr>
          <p:cNvPr id="11" name="Text 9"/>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B99AF"/>
                </a:solidFill>
                <a:latin typeface="Cambria" pitchFamily="34" charset="0"/>
                <a:ea typeface="Cambria" pitchFamily="34" charset="-122"/>
                <a:cs typeface="Cambria" pitchFamily="34" charset="-120"/>
              </a:rPr>
              <a:t>91%</a:t>
            </a:r>
            <a:pPr indent="0" marL="0">
              <a:buNone/>
            </a:pPr>
            <a:r>
              <a:rPr lang="en-US" sz="4400" b="1" dirty="0">
                <a:solidFill>
                  <a:srgbClr val="5A6B87"/>
                </a:solidFill>
                <a:latin typeface="Cambria" pitchFamily="34" charset="0"/>
                <a:ea typeface="Cambria" pitchFamily="34" charset="-122"/>
                <a:cs typeface="Cambria" pitchFamily="34" charset="-120"/>
              </a:rPr>
              <a:t>  -&gt;  </a:t>
            </a:r>
            <a:pPr indent="0" marL="0">
              <a:buNone/>
            </a:pPr>
            <a:r>
              <a:rPr lang="en-US" sz="6800" b="1" dirty="0">
                <a:solidFill>
                  <a:srgbClr val="FFB703"/>
                </a:solidFill>
                <a:latin typeface="Cambria" pitchFamily="34" charset="0"/>
                <a:ea typeface="Cambria" pitchFamily="34" charset="-122"/>
                <a:cs typeface="Cambria" pitchFamily="34" charset="-120"/>
              </a:rPr>
              <a:t>76%</a:t>
            </a:r>
            <a:endParaRPr lang="en-US" sz="6800" dirty="0"/>
          </a:p>
        </p:txBody>
      </p:sp>
      <p:sp>
        <p:nvSpPr>
          <p:cNvPr id="12" name="Text 10"/>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9FB1C8"/>
                </a:solidFill>
                <a:latin typeface="Calibri" pitchFamily="34" charset="0"/>
                <a:ea typeface="Calibri" pitchFamily="34" charset="-122"/>
                <a:cs typeface="Calibri" pitchFamily="34" charset="-120"/>
              </a:rPr>
              <a:t>reported accuracy, before vs. after removing synthetic data augmentation</a:t>
            </a:r>
            <a:endParaRPr lang="en-US" sz="1300" dirty="0"/>
          </a:p>
        </p:txBody>
      </p:sp>
      <p:sp>
        <p:nvSpPr>
          <p:cNvPr id="13" name="Text 11"/>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An earlier version of this pipeline trained on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Python-augmented synthetic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and reported 91% accuracy. Replacing it with pure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physics-based LTspice sweep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 real simulation variation, no synthetic shortcuts — dropped accuracy to ~76%.
</a:t>
            </a:r>
            <a:pPr indent="0" marL="0">
              <a:lnSpc>
                <a:spcPct val="135000"/>
              </a:lnSpc>
              <a:buNone/>
            </a:pPr>
            <a:r>
              <a:rPr lang="en-US" sz="1400" i="1" dirty="0">
                <a:solidFill>
                  <a:srgbClr val="FFB703"/>
                </a:solidFill>
                <a:latin typeface="Calibri" pitchFamily="34" charset="0"/>
                <a:ea typeface="Calibri" pitchFamily="34" charset="-122"/>
                <a:cs typeface="Calibri" pitchFamily="34" charset="-120"/>
              </a:rPr>
              <a:t>The model hadn't learned circuit fault physics — it had learned to recognise the augmentation transform itself. The lower, honest number is the more trustworthy result.</a:t>
            </a:r>
            <a:endParaRPr lang="en-US" sz="1400" dirty="0"/>
          </a:p>
        </p:txBody>
      </p:sp>
      <p:sp>
        <p:nvSpPr>
          <p:cNvPr id="14" name="Shape 12"/>
          <p:cNvSpPr/>
          <p:nvPr/>
        </p:nvSpPr>
        <p:spPr>
          <a:xfrm>
            <a:off x="950976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bulb_FFB703.png">    </p:cNvPr>
          <p:cNvPicPr>
            <a:picLocks noChangeAspect="1"/>
          </p:cNvPicPr>
          <p:nvPr/>
        </p:nvPicPr>
        <p:blipFill>
          <a:blip r:embed="rId1"/>
          <a:stretch>
            <a:fillRect/>
          </a:stretch>
        </p:blipFill>
        <p:spPr>
          <a:xfrm>
            <a:off x="969492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8. KEY FINDING &amp; LIMITS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the Model Still Struggles</a:t>
            </a:r>
            <a:endParaRPr lang="en-US" sz="3000" dirty="0"/>
          </a:p>
        </p:txBody>
      </p:sp>
      <p:sp>
        <p:nvSpPr>
          <p:cNvPr id="4" name="Shape 2"/>
          <p:cNvSpPr/>
          <p:nvPr/>
        </p:nvSpPr>
        <p:spPr>
          <a:xfrm>
            <a:off x="50292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5895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842894" y="2123054"/>
            <a:ext cx="453908" cy="453908"/>
          </a:xfrm>
          <a:prstGeom prst="rect">
            <a:avLst/>
          </a:prstGeom>
        </p:spPr>
      </p:pic>
      <p:sp>
        <p:nvSpPr>
          <p:cNvPr id="7" name="Text 4"/>
          <p:cNvSpPr/>
          <p:nvPr/>
        </p:nvSpPr>
        <p:spPr>
          <a:xfrm>
            <a:off x="153619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Small per-class test sets</a:t>
            </a:r>
            <a:endParaRPr lang="en-US" sz="1350" dirty="0"/>
          </a:p>
        </p:txBody>
      </p:sp>
      <p:sp>
        <p:nvSpPr>
          <p:cNvPr id="8" name="Text 5"/>
          <p:cNvSpPr/>
          <p:nvPr/>
        </p:nvSpPr>
        <p:spPr>
          <a:xfrm>
            <a:off x="77724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~10 test samples per class — a couple of misses can swing an F1 score sharply (e.g. RC_LADDER_short F1 = 0.18).</a:t>
            </a:r>
            <a:endParaRPr lang="en-US" sz="1050" dirty="0"/>
          </a:p>
        </p:txBody>
      </p:sp>
      <p:sp>
        <p:nvSpPr>
          <p:cNvPr id="9" name="Shape 6"/>
          <p:cNvSpPr/>
          <p:nvPr/>
        </p:nvSpPr>
        <p:spPr>
          <a:xfrm>
            <a:off x="612648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38251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andom_FFFFFF.png">    </p:cNvPr>
          <p:cNvPicPr>
            <a:picLocks noChangeAspect="1"/>
          </p:cNvPicPr>
          <p:nvPr/>
        </p:nvPicPr>
        <p:blipFill>
          <a:blip r:embed="rId2"/>
          <a:stretch>
            <a:fillRect/>
          </a:stretch>
        </p:blipFill>
        <p:spPr>
          <a:xfrm>
            <a:off x="6466454" y="2123054"/>
            <a:ext cx="453908" cy="453908"/>
          </a:xfrm>
          <a:prstGeom prst="rect">
            <a:avLst/>
          </a:prstGeom>
        </p:spPr>
      </p:pic>
      <p:sp>
        <p:nvSpPr>
          <p:cNvPr id="12" name="Text 8"/>
          <p:cNvSpPr/>
          <p:nvPr/>
        </p:nvSpPr>
        <p:spPr>
          <a:xfrm>
            <a:off x="715975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Drift is the hardest fault everywhere</a:t>
            </a:r>
            <a:endParaRPr lang="en-US" sz="1350" dirty="0"/>
          </a:p>
        </p:txBody>
      </p:sp>
      <p:sp>
        <p:nvSpPr>
          <p:cNvPr id="13" name="Text 9"/>
          <p:cNvSpPr/>
          <p:nvPr/>
        </p:nvSpPr>
        <p:spPr>
          <a:xfrm>
            <a:off x="640080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Across every circuit, drift is the fault type most often confused with normal — it's inherently a point on a continuum, not a discrete change.</a:t>
            </a:r>
            <a:endParaRPr lang="en-US" sz="1050" dirty="0"/>
          </a:p>
        </p:txBody>
      </p:sp>
      <p:sp>
        <p:nvSpPr>
          <p:cNvPr id="14" name="Shape 10"/>
          <p:cNvSpPr/>
          <p:nvPr/>
        </p:nvSpPr>
        <p:spPr>
          <a:xfrm>
            <a:off x="50292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75895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sitemap_FFFFFF.png">    </p:cNvPr>
          <p:cNvPicPr>
            <a:picLocks noChangeAspect="1"/>
          </p:cNvPicPr>
          <p:nvPr/>
        </p:nvPicPr>
        <p:blipFill>
          <a:blip r:embed="rId3"/>
          <a:stretch>
            <a:fillRect/>
          </a:stretch>
        </p:blipFill>
        <p:spPr>
          <a:xfrm>
            <a:off x="842894" y="4015862"/>
            <a:ext cx="453908" cy="453908"/>
          </a:xfrm>
          <a:prstGeom prst="rect">
            <a:avLst/>
          </a:prstGeom>
        </p:spPr>
      </p:pic>
      <p:sp>
        <p:nvSpPr>
          <p:cNvPr id="17" name="Text 12"/>
          <p:cNvSpPr/>
          <p:nvPr/>
        </p:nvSpPr>
        <p:spPr>
          <a:xfrm>
            <a:off x="153619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Limited topology scope</a:t>
            </a:r>
            <a:endParaRPr lang="en-US" sz="1350" dirty="0"/>
          </a:p>
        </p:txBody>
      </p:sp>
      <p:sp>
        <p:nvSpPr>
          <p:cNvPr id="18" name="Text 13"/>
          <p:cNvSpPr/>
          <p:nvPr/>
        </p:nvSpPr>
        <p:spPr>
          <a:xfrm>
            <a:off x="77724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4 topologies and 5 fault types studied so far — real analog designs are far more diverse.</a:t>
            </a:r>
            <a:endParaRPr lang="en-US" sz="1050" dirty="0"/>
          </a:p>
        </p:txBody>
      </p:sp>
      <p:sp>
        <p:nvSpPr>
          <p:cNvPr id="19" name="Shape 14"/>
          <p:cNvSpPr/>
          <p:nvPr/>
        </p:nvSpPr>
        <p:spPr>
          <a:xfrm>
            <a:off x="612648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638251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flask_FFFFFF.png">    </p:cNvPr>
          <p:cNvPicPr>
            <a:picLocks noChangeAspect="1"/>
          </p:cNvPicPr>
          <p:nvPr/>
        </p:nvPicPr>
        <p:blipFill>
          <a:blip r:embed="rId4"/>
          <a:stretch>
            <a:fillRect/>
          </a:stretch>
        </p:blipFill>
        <p:spPr>
          <a:xfrm>
            <a:off x="6466454" y="4015862"/>
            <a:ext cx="453908" cy="453908"/>
          </a:xfrm>
          <a:prstGeom prst="rect">
            <a:avLst/>
          </a:prstGeom>
        </p:spPr>
      </p:pic>
      <p:sp>
        <p:nvSpPr>
          <p:cNvPr id="22" name="Text 16"/>
          <p:cNvSpPr/>
          <p:nvPr/>
        </p:nvSpPr>
        <p:spPr>
          <a:xfrm>
            <a:off x="715975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Simulation-only validation</a:t>
            </a:r>
            <a:endParaRPr lang="en-US" sz="1350" dirty="0"/>
          </a:p>
        </p:txBody>
      </p:sp>
      <p:sp>
        <p:nvSpPr>
          <p:cNvPr id="23" name="Text 17"/>
          <p:cNvSpPr/>
          <p:nvPr/>
        </p:nvSpPr>
        <p:spPr>
          <a:xfrm>
            <a:off x="640080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Entirely LTspice-based — no real hardware fault injection has been performed yet, so the simulation-to-reality gap is untested.</a:t>
            </a:r>
            <a:endParaRPr lang="en-US" sz="1050" dirty="0"/>
          </a:p>
        </p:txBody>
      </p:sp>
      <p:sp>
        <p:nvSpPr>
          <p:cNvPr id="24" name="Shape 18"/>
          <p:cNvSpPr/>
          <p:nvPr/>
        </p:nvSpPr>
        <p:spPr>
          <a:xfrm>
            <a:off x="502920" y="5779008"/>
            <a:ext cx="10607040" cy="621792"/>
          </a:xfrm>
          <a:prstGeom prst="roundRect">
            <a:avLst>
              <a:gd name="adj" fmla="val 11765"/>
            </a:avLst>
          </a:prstGeom>
          <a:solidFill>
            <a:srgbClr val="0B1F3A"/>
          </a:solidFill>
          <a:ln/>
          <a:effectLst>
            <a:outerShdw sx="100000" sy="100000" kx="0" ky="0" algn="bl" rotWithShape="0" blurRad="114300" dist="38100" dir="2700000">
              <a:srgbClr val="0B1F3A">
                <a:alpha val="14000"/>
              </a:srgbClr>
            </a:outerShdw>
          </a:effectLst>
        </p:spPr>
      </p:sp>
      <p:sp>
        <p:nvSpPr>
          <p:cNvPr id="25" name="Text 19"/>
          <p:cNvSpPr/>
          <p:nvPr/>
        </p:nvSpPr>
        <p:spPr>
          <a:xfrm>
            <a:off x="777240" y="5779008"/>
            <a:ext cx="10058400" cy="621792"/>
          </a:xfrm>
          <a:prstGeom prst="rect">
            <a:avLst/>
          </a:prstGeom>
          <a:noFill/>
          <a:ln/>
        </p:spPr>
        <p:txBody>
          <a:bodyPr wrap="square" lIns="0" tIns="0" rIns="0" bIns="0" rtlCol="0" anchor="ctr"/>
          <a:lstStyle/>
          <a:p>
            <a:pPr indent="0" marL="0">
              <a:lnSpc>
                <a:spcPct val="115000"/>
              </a:lnSpc>
              <a:buNone/>
            </a:pPr>
            <a:r>
              <a:rPr lang="en-US" sz="1000" b="1" dirty="0">
                <a:solidFill>
                  <a:srgbClr val="FFB703"/>
                </a:solidFill>
                <a:latin typeface="Calibri" pitchFamily="34" charset="0"/>
                <a:ea typeface="Calibri" pitchFamily="34" charset="-122"/>
                <a:cs typeface="Calibri" pitchFamily="34" charset="-120"/>
              </a:rPr>
              <a:t>How uncertain is 78.43%, really?  </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A 30-run replication (Results, Section 7) measured </a:t>
            </a:r>
            <a:pPr indent="0" marL="0">
              <a:lnSpc>
                <a:spcPct val="115000"/>
              </a:lnSpc>
              <a:buNone/>
            </a:pPr>
            <a:r>
              <a:rPr lang="en-US" sz="1000" b="1" dirty="0">
                <a:solidFill>
                  <a:srgbClr val="FFFFFF"/>
                </a:solidFill>
                <a:latin typeface="Calibri" pitchFamily="34" charset="0"/>
                <a:ea typeface="Calibri" pitchFamily="34" charset="-122"/>
                <a:cs typeface="Calibri" pitchFamily="34" charset="-120"/>
              </a:rPr>
              <a:t>80.5% ± 3.1 points</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 across random splits, range 72.6%-84.8% — the reported 78.43% sits comfortably inside that spread, not cherry-picked.</a:t>
            </a:r>
            <a:endParaRPr lang="en-US" sz="100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Try It Yourself: Live Web App</a:t>
            </a:r>
            <a:endParaRPr lang="en-US" sz="3000" dirty="0"/>
          </a:p>
        </p:txBody>
      </p:sp>
      <p:sp>
        <p:nvSpPr>
          <p:cNvPr id="4" name="Shape 2"/>
          <p:cNvSpPr/>
          <p:nvPr/>
        </p:nvSpPr>
        <p:spPr>
          <a:xfrm>
            <a:off x="502920" y="1783080"/>
            <a:ext cx="6035040" cy="4251960"/>
          </a:xfrm>
          <a:prstGeom prst="roundRect">
            <a:avLst>
              <a:gd name="adj" fmla="val 1505"/>
            </a:avLst>
          </a:prstGeom>
          <a:solidFill>
            <a:srgbClr val="EAEEF4"/>
          </a:solidFill>
          <a:ln w="15875">
            <a:solidFill>
              <a:srgbClr val="9FB1C8"/>
            </a:solidFill>
            <a:prstDash val="dash"/>
          </a:ln>
        </p:spPr>
      </p:sp>
      <p:pic>
        <p:nvPicPr>
          <p:cNvPr id="5" name="Image 0" descr="/sessions/blissful-zealous-babbage/mnt/outputs/ppt/icons/laptop_64748B.png">    </p:cNvPr>
          <p:cNvPicPr>
            <a:picLocks noChangeAspect="1"/>
          </p:cNvPicPr>
          <p:nvPr/>
        </p:nvPicPr>
        <p:blipFill>
          <a:blip r:embed="rId1"/>
          <a:stretch>
            <a:fillRect/>
          </a:stretch>
        </p:blipFill>
        <p:spPr>
          <a:xfrm>
            <a:off x="3236976" y="2520086"/>
            <a:ext cx="566928" cy="566928"/>
          </a:xfrm>
          <a:prstGeom prst="rect">
            <a:avLst/>
          </a:prstGeom>
        </p:spPr>
      </p:pic>
      <p:sp>
        <p:nvSpPr>
          <p:cNvPr id="6" name="Text 3"/>
          <p:cNvSpPr/>
          <p:nvPr/>
        </p:nvSpPr>
        <p:spPr>
          <a:xfrm>
            <a:off x="685800" y="3001975"/>
            <a:ext cx="5669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APP SCREENSHOT</a:t>
            </a:r>
            <a:endParaRPr lang="en-US" sz="1300" dirty="0"/>
          </a:p>
        </p:txBody>
      </p:sp>
      <p:sp>
        <p:nvSpPr>
          <p:cNvPr id="7" name="Text 4"/>
          <p:cNvSpPr/>
          <p:nvPr/>
        </p:nvSpPr>
        <p:spPr>
          <a:xfrm>
            <a:off x="777240" y="3349447"/>
            <a:ext cx="5486400" cy="1360627"/>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Streamlit</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dashboard / prediction tab</a:t>
            </a:r>
            <a:endParaRPr lang="en-US" sz="1050" dirty="0"/>
          </a:p>
        </p:txBody>
      </p:sp>
      <p:sp>
        <p:nvSpPr>
          <p:cNvPr id="8" name="Shape 5"/>
          <p:cNvSpPr/>
          <p:nvPr/>
        </p:nvSpPr>
        <p:spPr>
          <a:xfrm>
            <a:off x="69037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bar_00B4D8.png">    </p:cNvPr>
          <p:cNvPicPr>
            <a:picLocks noChangeAspect="1"/>
          </p:cNvPicPr>
          <p:nvPr/>
        </p:nvPicPr>
        <p:blipFill>
          <a:blip r:embed="rId2"/>
          <a:stretch>
            <a:fillRect/>
          </a:stretch>
        </p:blipFill>
        <p:spPr>
          <a:xfrm>
            <a:off x="6977786" y="1902866"/>
            <a:ext cx="400507" cy="400507"/>
          </a:xfrm>
          <a:prstGeom prst="rect">
            <a:avLst/>
          </a:prstGeom>
        </p:spPr>
      </p:pic>
      <p:sp>
        <p:nvSpPr>
          <p:cNvPr id="10" name="Text 6"/>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Dashboard</a:t>
            </a:r>
            <a:endParaRPr lang="en-US" sz="1400" dirty="0"/>
          </a:p>
        </p:txBody>
      </p:sp>
      <p:sp>
        <p:nvSpPr>
          <p:cNvPr id="11" name="Text 7"/>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All results — kernel comparison, per-circuit accuracy, confusion matrix — in one view.</a:t>
            </a:r>
            <a:endParaRPr lang="en-US" sz="1050" dirty="0"/>
          </a:p>
        </p:txBody>
      </p:sp>
      <p:sp>
        <p:nvSpPr>
          <p:cNvPr id="12" name="Shape 8"/>
          <p:cNvSpPr/>
          <p:nvPr/>
        </p:nvSpPr>
        <p:spPr>
          <a:xfrm>
            <a:off x="6903720" y="312724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earch_00B4D8.png">    </p:cNvPr>
          <p:cNvPicPr>
            <a:picLocks noChangeAspect="1"/>
          </p:cNvPicPr>
          <p:nvPr/>
        </p:nvPicPr>
        <p:blipFill>
          <a:blip r:embed="rId3"/>
          <a:stretch>
            <a:fillRect/>
          </a:stretch>
        </p:blipFill>
        <p:spPr>
          <a:xfrm>
            <a:off x="6977786" y="3201314"/>
            <a:ext cx="400507" cy="400507"/>
          </a:xfrm>
          <a:prstGeom prst="rect">
            <a:avLst/>
          </a:prstGeom>
        </p:spPr>
      </p:pic>
      <p:sp>
        <p:nvSpPr>
          <p:cNvPr id="14" name="Text 9"/>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Try Prediction</a:t>
            </a:r>
            <a:endParaRPr lang="en-US" sz="1400" dirty="0"/>
          </a:p>
        </p:txBody>
      </p:sp>
      <p:sp>
        <p:nvSpPr>
          <p:cNvPr id="15" name="Text 10"/>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Pick a sample or enter feature values manually and get an instant fault classification with confidence scores.</a:t>
            </a:r>
            <a:endParaRPr lang="en-US" sz="1050" dirty="0"/>
          </a:p>
        </p:txBody>
      </p:sp>
      <p:sp>
        <p:nvSpPr>
          <p:cNvPr id="16" name="Shape 11"/>
          <p:cNvSpPr/>
          <p:nvPr/>
        </p:nvSpPr>
        <p:spPr>
          <a:xfrm>
            <a:off x="6903720" y="442569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database_00B4D8.png">    </p:cNvPr>
          <p:cNvPicPr>
            <a:picLocks noChangeAspect="1"/>
          </p:cNvPicPr>
          <p:nvPr/>
        </p:nvPicPr>
        <p:blipFill>
          <a:blip r:embed="rId4"/>
          <a:stretch>
            <a:fillRect/>
          </a:stretch>
        </p:blipFill>
        <p:spPr>
          <a:xfrm>
            <a:off x="6977786" y="4499762"/>
            <a:ext cx="400507" cy="400507"/>
          </a:xfrm>
          <a:prstGeom prst="rect">
            <a:avLst/>
          </a:prstGeom>
        </p:spPr>
      </p:pic>
      <p:sp>
        <p:nvSpPr>
          <p:cNvPr id="18" name="Text 12"/>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Dataset</a:t>
            </a:r>
            <a:endParaRPr lang="en-US" sz="1400" dirty="0"/>
          </a:p>
        </p:txBody>
      </p:sp>
      <p:sp>
        <p:nvSpPr>
          <p:cNvPr id="19" name="Text 13"/>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Browse all 1,019 samples and their 17 extracted features directly in the browser.</a:t>
            </a:r>
            <a:endParaRPr lang="en-US" sz="1050" dirty="0"/>
          </a:p>
        </p:txBody>
      </p:sp>
      <p:sp>
        <p:nvSpPr>
          <p:cNvPr id="20" name="Shape 14"/>
          <p:cNvSpPr/>
          <p:nvPr/>
        </p:nvSpPr>
        <p:spPr>
          <a:xfrm>
            <a:off x="6903720" y="5815584"/>
            <a:ext cx="3931920" cy="566928"/>
          </a:xfrm>
          <a:prstGeom prst="roundRect">
            <a:avLst>
              <a:gd name="adj" fmla="val 50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00B4D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2"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3"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Tech Stack &amp; Tools</a:t>
            </a:r>
            <a:endParaRPr lang="en-US" sz="3000" dirty="0"/>
          </a:p>
        </p:txBody>
      </p:sp>
      <p:sp>
        <p:nvSpPr>
          <p:cNvPr id="4" name="Shape 2"/>
          <p:cNvSpPr/>
          <p:nvPr/>
        </p:nvSpPr>
        <p:spPr>
          <a:xfrm>
            <a:off x="502920"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435608"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519550" y="2168774"/>
            <a:ext cx="453908" cy="453908"/>
          </a:xfrm>
          <a:prstGeom prst="rect">
            <a:avLst/>
          </a:prstGeom>
        </p:spPr>
      </p:pic>
      <p:sp>
        <p:nvSpPr>
          <p:cNvPr id="7" name="Text 4"/>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LTspice XVII</a:t>
            </a:r>
            <a:endParaRPr lang="en-US" sz="1250" dirty="0"/>
          </a:p>
        </p:txBody>
      </p:sp>
      <p:sp>
        <p:nvSpPr>
          <p:cNvPr id="8" name="Text 5"/>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Circuit simulation &amp; parameter sweeps</a:t>
            </a:r>
            <a:endParaRPr lang="en-US" sz="900" dirty="0"/>
          </a:p>
        </p:txBody>
      </p:sp>
      <p:sp>
        <p:nvSpPr>
          <p:cNvPr id="9" name="Shape 6"/>
          <p:cNvSpPr/>
          <p:nvPr/>
        </p:nvSpPr>
        <p:spPr>
          <a:xfrm>
            <a:off x="3209544"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142232"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ode_00B4D8.png">    </p:cNvPr>
          <p:cNvPicPr>
            <a:picLocks noChangeAspect="1"/>
          </p:cNvPicPr>
          <p:nvPr/>
        </p:nvPicPr>
        <p:blipFill>
          <a:blip r:embed="rId2"/>
          <a:stretch>
            <a:fillRect/>
          </a:stretch>
        </p:blipFill>
        <p:spPr>
          <a:xfrm>
            <a:off x="4226174" y="2168774"/>
            <a:ext cx="453908" cy="453908"/>
          </a:xfrm>
          <a:prstGeom prst="rect">
            <a:avLst/>
          </a:prstGeom>
        </p:spPr>
      </p:pic>
      <p:sp>
        <p:nvSpPr>
          <p:cNvPr id="12" name="Text 8"/>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Python</a:t>
            </a:r>
            <a:endParaRPr lang="en-US" sz="1250" dirty="0"/>
          </a:p>
        </p:txBody>
      </p:sp>
      <p:sp>
        <p:nvSpPr>
          <p:cNvPr id="13" name="Text 9"/>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glue for the entire pipeline</a:t>
            </a:r>
            <a:endParaRPr lang="en-US" sz="900" dirty="0"/>
          </a:p>
        </p:txBody>
      </p:sp>
      <p:sp>
        <p:nvSpPr>
          <p:cNvPr id="14" name="Shape 10"/>
          <p:cNvSpPr/>
          <p:nvPr/>
        </p:nvSpPr>
        <p:spPr>
          <a:xfrm>
            <a:off x="5916168"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6848856"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database_00B4D8.png">    </p:cNvPr>
          <p:cNvPicPr>
            <a:picLocks noChangeAspect="1"/>
          </p:cNvPicPr>
          <p:nvPr/>
        </p:nvPicPr>
        <p:blipFill>
          <a:blip r:embed="rId3"/>
          <a:stretch>
            <a:fillRect/>
          </a:stretch>
        </p:blipFill>
        <p:spPr>
          <a:xfrm>
            <a:off x="6932798" y="2168774"/>
            <a:ext cx="453908" cy="453908"/>
          </a:xfrm>
          <a:prstGeom prst="rect">
            <a:avLst/>
          </a:prstGeom>
        </p:spPr>
      </p:pic>
      <p:sp>
        <p:nvSpPr>
          <p:cNvPr id="17" name="Text 12"/>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pandas / NumPy</a:t>
            </a:r>
            <a:endParaRPr lang="en-US" sz="1250" dirty="0"/>
          </a:p>
        </p:txBody>
      </p:sp>
      <p:sp>
        <p:nvSpPr>
          <p:cNvPr id="18" name="Text 13"/>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Data wrangling &amp; numeric computation</a:t>
            </a:r>
            <a:endParaRPr lang="en-US" sz="900" dirty="0"/>
          </a:p>
        </p:txBody>
      </p:sp>
      <p:sp>
        <p:nvSpPr>
          <p:cNvPr id="19" name="Shape 14"/>
          <p:cNvSpPr/>
          <p:nvPr/>
        </p:nvSpPr>
        <p:spPr>
          <a:xfrm>
            <a:off x="8622792"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9555480"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chartline_00B4D8.png">    </p:cNvPr>
          <p:cNvPicPr>
            <a:picLocks noChangeAspect="1"/>
          </p:cNvPicPr>
          <p:nvPr/>
        </p:nvPicPr>
        <p:blipFill>
          <a:blip r:embed="rId4"/>
          <a:stretch>
            <a:fillRect/>
          </a:stretch>
        </p:blipFill>
        <p:spPr>
          <a:xfrm>
            <a:off x="9639422" y="2168774"/>
            <a:ext cx="453908" cy="453908"/>
          </a:xfrm>
          <a:prstGeom prst="rect">
            <a:avLst/>
          </a:prstGeom>
        </p:spPr>
      </p:pic>
      <p:sp>
        <p:nvSpPr>
          <p:cNvPr id="22" name="Text 16"/>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SciPy</a:t>
            </a:r>
            <a:endParaRPr lang="en-US" sz="1250" dirty="0"/>
          </a:p>
        </p:txBody>
      </p:sp>
      <p:sp>
        <p:nvSpPr>
          <p:cNvPr id="23" name="Text 17"/>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FFT, skewness/kurtosis, interpolation</a:t>
            </a:r>
            <a:endParaRPr lang="en-US" sz="900" dirty="0"/>
          </a:p>
        </p:txBody>
      </p:sp>
      <p:sp>
        <p:nvSpPr>
          <p:cNvPr id="24" name="Shape 18"/>
          <p:cNvSpPr/>
          <p:nvPr/>
        </p:nvSpPr>
        <p:spPr>
          <a:xfrm>
            <a:off x="502920"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435608"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1519550" y="4317614"/>
            <a:ext cx="453908" cy="453908"/>
          </a:xfrm>
          <a:prstGeom prst="rect">
            <a:avLst/>
          </a:prstGeom>
        </p:spPr>
      </p:pic>
      <p:sp>
        <p:nvSpPr>
          <p:cNvPr id="27" name="Text 20"/>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scikit-learn</a:t>
            </a:r>
            <a:endParaRPr lang="en-US" sz="1250" dirty="0"/>
          </a:p>
        </p:txBody>
      </p:sp>
      <p:sp>
        <p:nvSpPr>
          <p:cNvPr id="28" name="Text 21"/>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SVM, GridSearchCV, StandardScaler</a:t>
            </a:r>
            <a:endParaRPr lang="en-US" sz="900" dirty="0"/>
          </a:p>
        </p:txBody>
      </p:sp>
      <p:sp>
        <p:nvSpPr>
          <p:cNvPr id="29" name="Shape 22"/>
          <p:cNvSpPr/>
          <p:nvPr/>
        </p:nvSpPr>
        <p:spPr>
          <a:xfrm>
            <a:off x="3209544"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4142232"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chartbar_00B4D8.png">    </p:cNvPr>
          <p:cNvPicPr>
            <a:picLocks noChangeAspect="1"/>
          </p:cNvPicPr>
          <p:nvPr/>
        </p:nvPicPr>
        <p:blipFill>
          <a:blip r:embed="rId6"/>
          <a:stretch>
            <a:fillRect/>
          </a:stretch>
        </p:blipFill>
        <p:spPr>
          <a:xfrm>
            <a:off x="4226174" y="4317614"/>
            <a:ext cx="453908" cy="453908"/>
          </a:xfrm>
          <a:prstGeom prst="rect">
            <a:avLst/>
          </a:prstGeom>
        </p:spPr>
      </p:pic>
      <p:sp>
        <p:nvSpPr>
          <p:cNvPr id="32" name="Text 24"/>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Matplotlib / Seaborn</a:t>
            </a:r>
            <a:endParaRPr lang="en-US" sz="1250" dirty="0"/>
          </a:p>
        </p:txBody>
      </p:sp>
      <p:sp>
        <p:nvSpPr>
          <p:cNvPr id="33" name="Text 25"/>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Results dashboard &amp; confusion matrix</a:t>
            </a:r>
            <a:endParaRPr lang="en-US" sz="900" dirty="0"/>
          </a:p>
        </p:txBody>
      </p:sp>
      <p:sp>
        <p:nvSpPr>
          <p:cNvPr id="34" name="Shape 26"/>
          <p:cNvSpPr/>
          <p:nvPr/>
        </p:nvSpPr>
        <p:spPr>
          <a:xfrm>
            <a:off x="5916168"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6848856"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laptop_00B4D8.png">    </p:cNvPr>
          <p:cNvPicPr>
            <a:picLocks noChangeAspect="1"/>
          </p:cNvPicPr>
          <p:nvPr/>
        </p:nvPicPr>
        <p:blipFill>
          <a:blip r:embed="rId7"/>
          <a:stretch>
            <a:fillRect/>
          </a:stretch>
        </p:blipFill>
        <p:spPr>
          <a:xfrm>
            <a:off x="6932798" y="4317614"/>
            <a:ext cx="453908" cy="453908"/>
          </a:xfrm>
          <a:prstGeom prst="rect">
            <a:avLst/>
          </a:prstGeom>
        </p:spPr>
      </p:pic>
      <p:sp>
        <p:nvSpPr>
          <p:cNvPr id="37" name="Text 28"/>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Streamlit</a:t>
            </a:r>
            <a:endParaRPr lang="en-US" sz="1250" dirty="0"/>
          </a:p>
        </p:txBody>
      </p:sp>
      <p:sp>
        <p:nvSpPr>
          <p:cNvPr id="38" name="Text 29"/>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live interactive web app</a:t>
            </a:r>
            <a:endParaRPr lang="en-US" sz="900" dirty="0"/>
          </a:p>
        </p:txBody>
      </p:sp>
      <p:sp>
        <p:nvSpPr>
          <p:cNvPr id="39" name="Shape 30"/>
          <p:cNvSpPr/>
          <p:nvPr/>
        </p:nvSpPr>
        <p:spPr>
          <a:xfrm>
            <a:off x="8622792"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9555480"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github_00B4D8.png">    </p:cNvPr>
          <p:cNvPicPr>
            <a:picLocks noChangeAspect="1"/>
          </p:cNvPicPr>
          <p:nvPr/>
        </p:nvPicPr>
        <p:blipFill>
          <a:blip r:embed="rId8"/>
          <a:stretch>
            <a:fillRect/>
          </a:stretch>
        </p:blipFill>
        <p:spPr>
          <a:xfrm>
            <a:off x="9639422" y="4317614"/>
            <a:ext cx="453908" cy="453908"/>
          </a:xfrm>
          <a:prstGeom prst="rect">
            <a:avLst/>
          </a:prstGeom>
        </p:spPr>
      </p:pic>
      <p:sp>
        <p:nvSpPr>
          <p:cNvPr id="42" name="Text 32"/>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Git</a:t>
            </a:r>
            <a:endParaRPr lang="en-US" sz="1250" dirty="0"/>
          </a:p>
        </p:txBody>
      </p:sp>
      <p:sp>
        <p:nvSpPr>
          <p:cNvPr id="43" name="Text 33"/>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Version control across the project</a:t>
            </a:r>
            <a:endParaRPr lang="en-US" sz="900" dirty="0"/>
          </a:p>
        </p:txBody>
      </p:sp>
      <p:sp>
        <p:nvSpPr>
          <p:cNvPr id="44" name="Text 3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5" name="Text 3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Conclusion &amp; What's Next</a:t>
            </a:r>
            <a:endParaRPr lang="en-US" sz="3000" dirty="0"/>
          </a:p>
        </p:txBody>
      </p:sp>
      <p:sp>
        <p:nvSpPr>
          <p:cNvPr id="4" name="Shape 2"/>
          <p:cNvSpPr/>
          <p:nvPr/>
        </p:nvSpPr>
        <p:spPr>
          <a:xfrm>
            <a:off x="502920" y="1828800"/>
            <a:ext cx="5166360" cy="4206240"/>
          </a:xfrm>
          <a:prstGeom prst="roundRect">
            <a:avLst>
              <a:gd name="adj" fmla="val 1957"/>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103120"/>
            <a:ext cx="594360" cy="59436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g_0B1F3A.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8" name="Text 5"/>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7ECF4"/>
                </a:solidFill>
                <a:latin typeface="Calibri" pitchFamily="34" charset="0"/>
                <a:ea typeface="Calibri" pitchFamily="34" charset="-122"/>
                <a:cs typeface="Calibri" pitchFamily="34" charset="-120"/>
              </a:rPr>
              <a:t>A live, interactive Streamlit demo anyone can try.</a:t>
            </a:r>
            <a:endParaRPr lang="en-US" sz="1200" dirty="0"/>
          </a:p>
        </p:txBody>
      </p:sp>
      <p:sp>
        <p:nvSpPr>
          <p:cNvPr id="9" name="Shape 6"/>
          <p:cNvSpPr/>
          <p:nvPr/>
        </p:nvSpPr>
        <p:spPr>
          <a:xfrm>
            <a:off x="6126480" y="1828800"/>
            <a:ext cx="5166360" cy="4206240"/>
          </a:xfrm>
          <a:prstGeom prst="roundRect">
            <a:avLst>
              <a:gd name="adj" fmla="val 19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ocket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Where It Goes Next</a:t>
            </a:r>
            <a:endParaRPr lang="en-US" sz="1500" dirty="0"/>
          </a:p>
        </p:txBody>
      </p:sp>
      <p:sp>
        <p:nvSpPr>
          <p:cNvPr id="13" name="Text 9"/>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1E293B"/>
                </a:solidFill>
                <a:latin typeface="Calibri" pitchFamily="34" charset="0"/>
                <a:ea typeface="Calibri" pitchFamily="34" charset="-122"/>
                <a:cs typeface="Calibri" pitchFamily="34" charset="-120"/>
              </a:rPr>
              <a:t>Extend to more topologies — Wien bridge, active high-pass, and beyond.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00B4D8">
                <a:alpha val="70000"/>
              </a:srgbClr>
            </a:solidFill>
            <a:prstDash val="solid"/>
          </a:ln>
        </p:spPr>
      </p:sp>
      <p:sp>
        <p:nvSpPr>
          <p:cNvPr id="3" name="Shape 1"/>
          <p:cNvSpPr/>
          <p:nvPr/>
        </p:nvSpPr>
        <p:spPr>
          <a:xfrm>
            <a:off x="1819656" y="411480"/>
            <a:ext cx="0" cy="1106424"/>
          </a:xfrm>
          <a:prstGeom prst="line">
            <a:avLst/>
          </a:prstGeom>
          <a:noFill/>
          <a:ln w="15875">
            <a:solidFill>
              <a:srgbClr val="00B4D8">
                <a:alpha val="70000"/>
              </a:srgbClr>
            </a:solidFill>
            <a:prstDash val="solid"/>
          </a:ln>
        </p:spPr>
      </p:sp>
      <p:sp>
        <p:nvSpPr>
          <p:cNvPr id="4" name="Shape 2"/>
          <p:cNvSpPr/>
          <p:nvPr/>
        </p:nvSpPr>
        <p:spPr>
          <a:xfrm>
            <a:off x="1819656" y="1517904"/>
            <a:ext cx="804672" cy="-502920"/>
          </a:xfrm>
          <a:prstGeom prst="line">
            <a:avLst/>
          </a:prstGeom>
          <a:noFill/>
          <a:ln w="15875">
            <a:solidFill>
              <a:srgbClr val="00B4D8">
                <a:alpha val="70000"/>
              </a:srgbClr>
            </a:solidFill>
            <a:prstDash val="solid"/>
          </a:ln>
        </p:spPr>
      </p:sp>
      <p:sp>
        <p:nvSpPr>
          <p:cNvPr id="5" name="Shape 3"/>
          <p:cNvSpPr/>
          <p:nvPr/>
        </p:nvSpPr>
        <p:spPr>
          <a:xfrm>
            <a:off x="869137" y="869137"/>
            <a:ext cx="90526" cy="90526"/>
          </a:xfrm>
          <a:prstGeom prst="ellipse">
            <a:avLst/>
          </a:prstGeom>
          <a:solidFill>
            <a:srgbClr val="00B4D8"/>
          </a:solidFill>
          <a:ln w="12700">
            <a:solidFill>
              <a:srgbClr val="00B4D8"/>
            </a:solidFill>
            <a:prstDash val="solid"/>
          </a:ln>
        </p:spPr>
      </p:sp>
      <p:sp>
        <p:nvSpPr>
          <p:cNvPr id="6" name="Shape 4"/>
          <p:cNvSpPr/>
          <p:nvPr/>
        </p:nvSpPr>
        <p:spPr>
          <a:xfrm>
            <a:off x="1774393" y="366217"/>
            <a:ext cx="90526" cy="90526"/>
          </a:xfrm>
          <a:prstGeom prst="ellipse">
            <a:avLst/>
          </a:prstGeom>
          <a:solidFill>
            <a:srgbClr val="00B4D8"/>
          </a:solidFill>
          <a:ln w="12700">
            <a:solidFill>
              <a:srgbClr val="00B4D8"/>
            </a:solidFill>
            <a:prstDash val="solid"/>
          </a:ln>
        </p:spPr>
      </p:sp>
      <p:sp>
        <p:nvSpPr>
          <p:cNvPr id="7" name="Shape 5"/>
          <p:cNvSpPr/>
          <p:nvPr/>
        </p:nvSpPr>
        <p:spPr>
          <a:xfrm>
            <a:off x="1774393" y="1472641"/>
            <a:ext cx="90526" cy="90526"/>
          </a:xfrm>
          <a:prstGeom prst="ellipse">
            <a:avLst/>
          </a:prstGeom>
          <a:solidFill>
            <a:srgbClr val="00B4D8"/>
          </a:solidFill>
          <a:ln w="12700">
            <a:solidFill>
              <a:srgbClr val="00B4D8"/>
            </a:solidFill>
            <a:prstDash val="solid"/>
          </a:ln>
        </p:spPr>
      </p:sp>
      <p:sp>
        <p:nvSpPr>
          <p:cNvPr id="8" name="Shape 6"/>
          <p:cNvSpPr/>
          <p:nvPr/>
        </p:nvSpPr>
        <p:spPr>
          <a:xfrm>
            <a:off x="2579065" y="969721"/>
            <a:ext cx="90526" cy="90526"/>
          </a:xfrm>
          <a:prstGeom prst="ellipse">
            <a:avLst/>
          </a:prstGeom>
          <a:solidFill>
            <a:srgbClr val="00B4D8"/>
          </a:solidFill>
          <a:ln w="12700">
            <a:solidFill>
              <a:srgbClr val="00B4D8"/>
            </a:solidFill>
            <a:prstDash val="solid"/>
          </a:ln>
        </p:spPr>
      </p:sp>
      <p:sp>
        <p:nvSpPr>
          <p:cNvPr id="9" name="Shape 7"/>
          <p:cNvSpPr/>
          <p:nvPr/>
        </p:nvSpPr>
        <p:spPr>
          <a:xfrm>
            <a:off x="10058400" y="4937760"/>
            <a:ext cx="699516" cy="-388620"/>
          </a:xfrm>
          <a:prstGeom prst="line">
            <a:avLst/>
          </a:prstGeom>
          <a:noFill/>
          <a:ln w="15875">
            <a:solidFill>
              <a:srgbClr val="FFB703">
                <a:alpha val="70000"/>
              </a:srgbClr>
            </a:solidFill>
            <a:prstDash val="solid"/>
          </a:ln>
        </p:spPr>
      </p:sp>
      <p:sp>
        <p:nvSpPr>
          <p:cNvPr id="10" name="Shape 8"/>
          <p:cNvSpPr/>
          <p:nvPr/>
        </p:nvSpPr>
        <p:spPr>
          <a:xfrm>
            <a:off x="10757916" y="4549140"/>
            <a:ext cx="0" cy="854964"/>
          </a:xfrm>
          <a:prstGeom prst="line">
            <a:avLst/>
          </a:prstGeom>
          <a:noFill/>
          <a:ln w="15875">
            <a:solidFill>
              <a:srgbClr val="FFB703">
                <a:alpha val="70000"/>
              </a:srgbClr>
            </a:solidFill>
            <a:prstDash val="solid"/>
          </a:ln>
        </p:spPr>
      </p:sp>
      <p:sp>
        <p:nvSpPr>
          <p:cNvPr id="11" name="Shape 9"/>
          <p:cNvSpPr/>
          <p:nvPr/>
        </p:nvSpPr>
        <p:spPr>
          <a:xfrm>
            <a:off x="10757916" y="5404104"/>
            <a:ext cx="621792" cy="-388620"/>
          </a:xfrm>
          <a:prstGeom prst="line">
            <a:avLst/>
          </a:prstGeom>
          <a:noFill/>
          <a:ln w="15875">
            <a:solidFill>
              <a:srgbClr val="FFB703">
                <a:alpha val="70000"/>
              </a:srgbClr>
            </a:solidFill>
            <a:prstDash val="solid"/>
          </a:ln>
        </p:spPr>
      </p:sp>
      <p:sp>
        <p:nvSpPr>
          <p:cNvPr id="12" name="Shape 10"/>
          <p:cNvSpPr/>
          <p:nvPr/>
        </p:nvSpPr>
        <p:spPr>
          <a:xfrm>
            <a:off x="10023424" y="4902784"/>
            <a:ext cx="69952" cy="69952"/>
          </a:xfrm>
          <a:prstGeom prst="ellipse">
            <a:avLst/>
          </a:prstGeom>
          <a:solidFill>
            <a:srgbClr val="FFB703"/>
          </a:solidFill>
          <a:ln w="12700">
            <a:solidFill>
              <a:srgbClr val="FFB703"/>
            </a:solidFill>
            <a:prstDash val="solid"/>
          </a:ln>
        </p:spPr>
      </p:sp>
      <p:sp>
        <p:nvSpPr>
          <p:cNvPr id="13" name="Shape 11"/>
          <p:cNvSpPr/>
          <p:nvPr/>
        </p:nvSpPr>
        <p:spPr>
          <a:xfrm>
            <a:off x="10722940" y="4514164"/>
            <a:ext cx="69952" cy="69952"/>
          </a:xfrm>
          <a:prstGeom prst="ellipse">
            <a:avLst/>
          </a:prstGeom>
          <a:solidFill>
            <a:srgbClr val="FFB703"/>
          </a:solidFill>
          <a:ln w="12700">
            <a:solidFill>
              <a:srgbClr val="FFB703"/>
            </a:solidFill>
            <a:prstDash val="solid"/>
          </a:ln>
        </p:spPr>
      </p:sp>
      <p:sp>
        <p:nvSpPr>
          <p:cNvPr id="14" name="Shape 12"/>
          <p:cNvSpPr/>
          <p:nvPr/>
        </p:nvSpPr>
        <p:spPr>
          <a:xfrm>
            <a:off x="10722940" y="5369128"/>
            <a:ext cx="69952" cy="69952"/>
          </a:xfrm>
          <a:prstGeom prst="ellipse">
            <a:avLst/>
          </a:prstGeom>
          <a:solidFill>
            <a:srgbClr val="FFB703"/>
          </a:solidFill>
          <a:ln w="12700">
            <a:solidFill>
              <a:srgbClr val="FFB703"/>
            </a:solidFill>
            <a:prstDash val="solid"/>
          </a:ln>
        </p:spPr>
      </p:sp>
      <p:sp>
        <p:nvSpPr>
          <p:cNvPr id="15" name="Shape 13"/>
          <p:cNvSpPr/>
          <p:nvPr/>
        </p:nvSpPr>
        <p:spPr>
          <a:xfrm>
            <a:off x="11344732" y="4980508"/>
            <a:ext cx="69952" cy="69952"/>
          </a:xfrm>
          <a:prstGeom prst="ellipse">
            <a:avLst/>
          </a:prstGeom>
          <a:solidFill>
            <a:srgbClr val="FFB703"/>
          </a:solidFill>
          <a:ln w="12700">
            <a:solidFill>
              <a:srgbClr val="FFB703"/>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C9D6E8"/>
                </a:solidFill>
                <a:latin typeface="Calibri" pitchFamily="34" charset="0"/>
                <a:ea typeface="Calibri" pitchFamily="34" charset="-122"/>
                <a:cs typeface="Calibri"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00B4D8"/>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Calibri" pitchFamily="34" charset="0"/>
                <a:ea typeface="Calibri" pitchFamily="34" charset="-122"/>
                <a:cs typeface="Calibri" pitchFamily="34" charset="-120"/>
              </a:rPr>
              <a:t>Karan Kaushik</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   |   B.Tech ECE, NIT Silchar
</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Guided by Dr. Anish Kumar Saha
</a:t>
            </a:r>
            <a:pPr indent="0" marL="0">
              <a:lnSpc>
                <a:spcPct val="140000"/>
              </a:lnSpc>
              <a:buNone/>
            </a:pPr>
            <a:r>
              <a:rPr lang="en-US" sz="1400" i="1" dirty="0">
                <a:solidFill>
                  <a:srgbClr val="6B7A94"/>
                </a:solidFill>
                <a:latin typeface="Calibri" pitchFamily="34" charset="0"/>
                <a:ea typeface="Calibri" pitchFamily="34" charset="-122"/>
                <a:cs typeface="Calibri" pitchFamily="34" charset="-120"/>
              </a:rPr>
              <a:t>SN Bose Summer Internship 2026, NIT Silchar</a:t>
            </a:r>
            <a:endParaRPr lang="en-US" sz="1400" dirty="0"/>
          </a:p>
        </p:txBody>
      </p:sp>
      <p:sp>
        <p:nvSpPr>
          <p:cNvPr id="20" name="Shape 18"/>
          <p:cNvSpPr/>
          <p:nvPr/>
        </p:nvSpPr>
        <p:spPr>
          <a:xfrm>
            <a:off x="502920" y="512064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1" name="Image 0" descr="/sessions/blissful-zealous-babbage/mnt/outputs/ppt/icons/envelope_00B4D8.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karankaushik01234@gmail.com</a:t>
            </a:r>
            <a:endParaRPr lang="en-US" sz="1250" dirty="0"/>
          </a:p>
        </p:txBody>
      </p:sp>
      <p:sp>
        <p:nvSpPr>
          <p:cNvPr id="23" name="Shape 20"/>
          <p:cNvSpPr/>
          <p:nvPr/>
        </p:nvSpPr>
        <p:spPr>
          <a:xfrm>
            <a:off x="502920" y="571500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4" name="Image 1" descr="/sessions/blissful-zealous-babbage/mnt/outputs/ppt/icons/laptop_00B4D8.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00B4D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CODE APPENDIX</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 The Project's Source Code</a:t>
            </a:r>
            <a:endParaRPr lang="en-US" sz="3000" dirty="0"/>
          </a:p>
        </p:txBody>
      </p:sp>
      <p:sp>
        <p:nvSpPr>
          <p:cNvPr id="11" name="Text 9"/>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FFB703"/>
                </a:solidFill>
                <a:latin typeface="Calibri" pitchFamily="34" charset="0"/>
                <a:ea typeface="Calibri" pitchFamily="34" charset="-122"/>
                <a:cs typeface="Calibri" pitchFamily="34" charset="-120"/>
              </a:rPr>
              <a:t>These are not meant to be walked through line by line during the talk. </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2" name="Shape 10"/>
          <p:cNvSpPr/>
          <p:nvPr/>
        </p:nvSpPr>
        <p:spPr>
          <a:xfrm>
            <a:off x="9692640" y="4114800"/>
            <a:ext cx="1280160" cy="128016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3" name="Image 0" descr="/sessions/blissful-zealous-babbage/mnt/outputs/ppt/icons/code_FFB703.png">    </p:cNvPr>
          <p:cNvPicPr>
            <a:picLocks noChangeAspect="1"/>
          </p:cNvPicPr>
          <p:nvPr/>
        </p:nvPicPr>
        <p:blipFill>
          <a:blip r:embed="rId1"/>
          <a:stretch>
            <a:fillRect/>
          </a:stretch>
        </p:blipFill>
        <p:spPr>
          <a:xfrm>
            <a:off x="9865462" y="4287622"/>
            <a:ext cx="934517" cy="934517"/>
          </a:xfrm>
          <a:prstGeom prst="rect">
            <a:avLst/>
          </a:prstGeom>
        </p:spPr>
      </p:pic>
      <p:sp>
        <p:nvSpPr>
          <p:cNvPr id="14"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day12_build_sweep_dataset.py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Reads exported .step sweep files, splits them into individual runs, resamples each to 200 points -&gt; master_dataset_sweep.csv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day12_build_sweep_dataset.py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Bose\Sweeps"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{"RC": 0.095, "RLC": 0.095, "RC_LADDER": 0.095,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File finder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find_sweep_file(folder, circuit,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stems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f"{circuit.lower()}_{fault}_sweep",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exts = [".txt",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s in stems: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e in exts: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 = os.path.join(folder, s + 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os.path.isfile(p) and os.path.getsize(p) &gt; 10_000: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None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Parser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def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nonlocal cur_t, cur_v, cur_p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len(cur_t) &gt; 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runs.append((cur_p, np.array(cur_t,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np.array(cur_v,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with open(fpath, "r", errors="ignore") as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raw in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 = raw.strip()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 = line.lower()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lo.startswith("step information"):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float(line.split("=")[1].split()[0].rstrip(",)"))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Exception: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np.nan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prev_t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lo.startswith("time") or lo.startswith("step"):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parts = line.replace("\t", " ").replace(",", " ").split()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len(parts) &lt; 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v = float(parts[0]), float(parts[1])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ValueError: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prev_t is not None and t &lt; prev_t - 1e-12: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Resample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resample(t, v, t_end, n=N_PTS):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np.linspace(0.0,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np.clip(grid, t.min(), t.max())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interp1d(t, v, kind="linear",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bounds_error=False,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Build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rows, sid =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cdir = os.path.join(BASE,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fault in FAULTS: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fpath = find_sweep_file(cdir, circ,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fpath is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print(f"[MISSING] {circ}/{fault} — no file found in {cdir}")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print(f"[reading] {circ}/{fault}: {os.path.basename(fpath)}"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  ({os.path.getsize(fpath)//1024} KB)")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-&gt; {len(runs)} runs parsed")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pval, t, v in runs: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wave = resample(t, v,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{"sample_id": sid,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fault, "param_value": pval}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wave[i]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pd.DataFrame(rows)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os.path.join(os.path.dirname(BASE),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df.to_csv(out, index=False)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print(f"\n{'='*50}")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{len(df)} samples  -&gt;  {out}")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print(f"Columns: {len(df.columns)}")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print(f"\nSamples per class:")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day12b_generate_noise_samples.py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Adds seeded Gaussian noise (SNR = 25 dB) onto NORMAL waveforms to create the fifth fault class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day12b_generate_noise_samples.py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Generates noise-fault samples per circuit by injecting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Gaussian noise onto the NORMAL sweep waveforms.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 is physically justified: real circuit noise is stochastic,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SNR_DB   = 25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SEED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existing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normals      = df[(df["circuit"] == circ) &amp; (df["fault"] == "normal")]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n_noise      = len(normals)          # match exactly — 51 per circuit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day12b_generate_noise_samples.py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range(n_noise):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base        = normal_waves[i % len(normal_waves)]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sig_power   = np.mean(base ** 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noise_power = sig_power / (10 ** (SNR_DB /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noise_std   = np.sqrt(noise_power)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next_id,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"param_value": SNR_DB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noisy[i]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noise_rows.append(row)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Append and save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df_noise  = pd.DataFrame(noise_rows)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print(f"\nFinal dataset: {len(df_final)} samples")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print(df_final.groupby(["circuit",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day13_v2.py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Turns each 200-point waveform into the 17 time-, frequency-domain and structural features -&gt; features_v2.csv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day13_feature_extraction_v2.py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Extracts 17 features (16 original + f17_dc_level) from every waveform.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f17_dc_level = mean of last 20 points — directly separates RC_open (near 0V)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scipy.stats import skew, 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CSV_OUT = 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"RLC":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"RC_LADDER":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f1_peak_voltage(v):        return float(np.max(v))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f2_rms_value(v):           return float(np.sqrt(np.mean(v**2)))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f3_mean_voltage(v):        return float(np.mean(v))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f5_rise_time(t,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 = np.max(v)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peak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idx_lo = np.argmax(v &gt;= 0.1*peak)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idx_hi = np.argmax(v &gt;= 0.9*peak)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idx_hi &lt;= idx_lo: return float(t[-1]-t[0])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f6_settling_time(t,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final = v[-1]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abs(final)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outside = np.where(np.abs(v-final) &gt; 0.02*abs(final))[0]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len(outside)==0: return float(t[0])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f7_skewness(v):            return float(skew(v))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f9_dominant_freq(v,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mask=(freq&gt;=50)&amp;(freq&lt;=2000)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np.any(mask): return float(freq[np.argmax(mag)])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f10_spectral_energy(v,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f11_spectral_centroid(v,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float(np.sum(freq*mag)/denom)</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f12_bandwidth(v,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c=np.sum(freq*mag)/denom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f13_spectral_entropy(v,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mag=np.abs(rfft(v))**2; total=np.sum(mag)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total&lt;1e-12: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p=mag/total; p=p[p&gt;0]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f16_crest_factor(v):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rms=np.sqrt(np.mean(v**2))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rms&lt;1e-12: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f17_dc_level(v):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Mean of last 20 points = steady-state DC 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RC_open: near 0V (capacitor never charges in 95ms window)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RC_short: near 5V (capacitor charges instantly)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This directly separates the two previously confused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float(np.mean(v[-20:]))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df_raw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idx, row in df_raw.iterrows():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  = row["circuit"]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t_end =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     = row[wave_cols].values.astype(float)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 np.linspace(0.0, t_end, 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rec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int(row["sample_id"]),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row["fault"],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f1_peak_voltage(v),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"f2":  f2_rms_value(v),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f3_mean_voltage(v),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"f4":  f4_std_voltage(v),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f5_rise_time(t,v),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"f6":  f6_settling_time(t,v),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"f7":  f7_skewness(v),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"f8":  f8_kurtosis(v),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"f9":  f9_dominant_freq(v,t_end,N_PTS),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"f10": f10_spectral_energy(v,t_end,N_PTS),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"f11": f11_spectral_centroid(v,t_end,N_PTS),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"f12": f12_bandwidth(v,t_end,N_PTS),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"f13": f13_spectral_entropy(v,t_end,N_PTS),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"f14": f14_energy(v),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"f15":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"f16": f16_crest_factor(v),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day14_svm_baseline.py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Trains Linear / RBF / Polynomial kernels with near-default settings — the Section 5 baseline numbers come from here</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day14_svm_baseline.py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Honest SVM baseline on real LTspice sweep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Linear, RBF, and Polynomial SVMs on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cross_val_score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data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print(f"Loaded {len(df)} samples, {len(FEATURE_COLS)}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print(f"Classes: {sorted(df['fault'].unique())}")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print(f"Circuits: {sorted(df['circuit'].unique())}\n")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Create combined label: circuit_fault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print(f"Total unique labels: {df['label'].nunique()}")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print(df.groupby("label").size().to_string())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Encode and split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Scale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Define three kernels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kernels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SVC(kernel="linear",  C=1.0,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SVC(kernel="rbf",     C=1.0,  gamma="scale",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SVC(kernel="poly",    C=1.0,  gamma="scale", degree=3, coef0=1,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(1/8)</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day15_gridsearch.py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Exhaustive grid search over C, gamma and degree for each kernel, scored with 5-fold cross-validation</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day15_gridsearch.py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GridSearchCV hyperparameter tuning for Linear, RBF, and Polynomial SVMs.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Finds optimal C, gamma, degree for each kernel.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 14 baseline for comparison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Search grids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Wide log-scale search for C and gamma</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(2/8)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PARAM_GRIDS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[0.001, 0.01,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[0.0001, 0.001, 0.01, 0.1, 1,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[0.001, 0.01, 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[2, 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(3/8)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 Test: {len(X_test)}")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print(f"Search grids:")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k, g in PARAM_GRIDS.items():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 =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v in g.values(): n *= len(v)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{k}: {n} combinations × {CV_FOLDS} folds = {n*CV_FOLDS} fits")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Run GridSearchCV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log(line=""):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log("DAY 15 — GRIDSEARCHCV HYPERPARAMETER TUNING")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log(f"Dataset : 1019 samples | 16 features |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log(f"Split   : 80/20 stratified | CV folds: {CV_FOLDS}")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(4/8)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SVC(kernel="linear",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best_linear = gs_linear.best_estimator_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best_linear.predict(X_test)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{gs_linear.best_params_['C']}")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{gs_linear.best_score_*100:.2f}%")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DAY14['Linear']):+.2f}%")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tuned_results["Linear"]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gs_linear.best_params_,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gs_linear.best_score_,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(5/8)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{PARAM_GRIDS['RBF']['C']},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SVC(kernel="rbf",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PARAM_GRIDS["RBF"]["C"],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best_rbf = gs_rbf.best_estimator_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best_rbf.predict(X_test)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{gs_rbf.best_params_['C']},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{gs_rbf.best_params_['gamma']}")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{gs_rbf.best_score_*100:.2f}%")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DAY14['RBF']):+.2f}%")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tuned_results["RBF"]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gs_rbf.best_params_,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gs_rbf.best_score_,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(6/8)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C={PARAM_GRIDS['Polynomial']['C']},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f"gamma={PARAM_GRIDS['Polynomial']['gamma']},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SVC(kernel="poly",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PARAM_GRIDS["Polynomial"]["C"],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PARAM_GRIDS["Polynomial"]["gamma"],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PARAM_GRIDS["Polynomial"]["coef0"]},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best_poly = gs_poly.best_estimator_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best_poly.predict(X_test)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C={gs_poly.best_params_['C']},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f"gamma={gs_poly.best_params_['gamma']},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f"degree={gs_poly.best_params_['degree']},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f"coef0={gs_poly.best_params_['coef0']}")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{gs_poly.best_score_*100:.2f}%")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{DAY14['Polynomial']}%)")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(7/8)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DAY14['Polynomial']):+.2f}%")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tuned_results["Polynomial"]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gs_poly.best_params_,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gs_poly.best_score_,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Final summary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log("FINAL SUMMARY — DEFAULT vs 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log(f"{'Kernel':&lt;14} {'Default':&gt;10} {'Tuned':&gt;10} {'Gain':&gt;10} {'Best Params'}")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log(f"{'─'*14} {'─'*10} {'─'*10} {'─'*10} {'─'*30}")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r in tuned_results.items():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gain = r['test_acc']*100 - DAY14[name]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params_str = ", ".join(f"{k}={v}" for k,v in r['best_params'].items())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log(f"{name:&lt;14} {DAY14[name]:&gt;9.2f}%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f"{r['test_acc']*100:&gt;9.2f}%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f"{gain:&gt;+9.2f}%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f"{params_str}")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best_kernel = max(tuned_results, key=lambda k: tuned_results[k]['test_acc'])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overall kernel (tuned): {best_kernel}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(8/8)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f"{tuned_results[best_kernel]['test_acc']*100:.2f}%")
# ---- Save ---------------------------------------------------------
with open(OUT_FILE, "w", encoding="utf-8") as f:
    f.write("\n".join(output_lines))
print(f"\nResults saved -&gt; {OUT_FILE}")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(1/7)</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day16_confusion_analysis.py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Generates the confusion matrix, per-class F1 chart, and the RC_open vs. RC_short / Normal vs. Drift feature diagnosis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day16_confusion_analysis.py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Full confusion matrix analysis and error diagnosis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matplotlib.use('Agg')                    # non-interactive backend for saving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 f1_score)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os.path.join(BASE, "Day16_Analysis")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(2/7)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Train best model (RBF tuned)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best model: RBF C=100, gamma=0.1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clf.predict(X_test)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---- 1. Full 20x20 Confusion Matrix heatmap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confusion matrix heatmap...")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plt.subplots(figsize=(18, 15))</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(3/7)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sns.heatmap(cm, annot=True, fmt='d', cmap='Blues',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xticklabels=labels, yticklabels=labels,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linewidths=0.5, ax=ax)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ax.set_xlabel("Predicted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ax.set_ylabel("True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ax.set_title(f"Confusion Matrix — RBF SVM (C=100, γ=0.1)\nTest Accuracy: {test_acc*100:.2f}%",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plt.xticks(rotation=45, ha='right',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plt.yticks(rotation=0,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path1 = os.path.join(OUT_DIR, "confusion_matrix.png")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plt.savefig(path1,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---- 2. Per-class F1 bar chart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per-class F1 chart...")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f1_scores = f1_score(y_test, y_pred, average=None)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pd.DataFrame({"class": labels, "f1": f1_scores})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colors = ["#d32f2f" if f &lt; 0.5 else "#f57c00" if f &lt; 0.8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plt.subplots(figsize=(12, 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 = ax.barh(f1_df["class"], f1_df["f1"], color=colors)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ax.axvline(x=0.5, color='red', linestyle='--', alpha=0.5, label='F1=0.5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ax.axvline(x=0.8, color='orange', linestyle='--', alpha=0.5, label='F1=0.8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bar, val in zip(bars, f1_df["f1"]):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ax.text(bar.get_width() + 0.01, bar.get_y() + bar.get_height()/2,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(4/7)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f'{val:.3f}', va='center', fontsize=9)</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ax.set_xlabel("F1 Score",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ax.set_title("Per-Class F1 Score — RBF SVM (C=100, γ=0.1)",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ax.set_xlim(0, 1.15)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ax.legend(fontsize=10)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path2 = os.path.join(OUT_DIR, "f1_per_class.png")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plt.savefig(path2,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---- 3. Top confused pairs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print("\nTop 10 most confused class pairs:")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print(f"{'Actual':&lt;25} {'Predicted':&lt;25} {'Count':&gt;6}")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j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 != j and cm[i, j] &gt;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confused.append((labels[i], labels[j], cm[i, j]))</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confused.sort(key=lambda x: -x[2])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---- 4. Per-circuit accuracy breakdown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print("\nPer-circuit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print(f"{'Circuit':&lt;15} {'Accuracy':&gt;10} {'Correct':&gt;8} {'Total':&gt;8}")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Map test indices back to circuit labels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(5/7)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df_test = df.iloc[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pd.Series(range(len(df))).sample(frac=TEST_SIZE,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 + "_"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correct = np.sum(y_test_labels[mask] == y_pred_labels[mask])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total   = mask.sum()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     = correct / total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 RC_open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RC_open vs RC_short Feature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  = df[(df["circuit"]=="RC") &amp; (df["fault"]=="open")]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key_features = ["f1", "f2", "f3", "f4", "f5", "f14"]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"peak_voltage", "f2": "rms_value",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"mean_voltage", "f4": "std_voltage",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"rise_time",    "f14": "energy"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{'RC_open mean':&gt;14} {'RC_short mean':&gt;14} {'Separable?':&gt;12}")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(6/7)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key_features: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o_mean = rc_open[f].mean()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s_mean = rc_short[f].mean()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abs(o_mean - s_mean)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---- 6. Normal vs Drift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Normal vs Drift Feature Diagnosis (all circuits)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normal = df[df["fault"]=="normal"]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drift  = df[df["fault"]=="drift"]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{'Normal mean':&gt;13} {'Drift mean':&gt;13} {'Separable?':&gt;12}")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["f1","f2","f3","f5","f6","f9","f13"]: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n_mean = normal[f].mean()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d_mean = drift[f].mean()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abs(n_mean - d_mean)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---- 7. Summary report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report =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target_names=labels,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summary =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 16 ANALYSIS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 Model    : RBF SVM, C=100, gamma=0.1</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(7/7)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Perfect classes (F1=1.0):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Failed classes (F1=0):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Weak classes (F1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0 &lt; f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out_txt = os.path.join(OUT_DIR, "day16_summary.txt")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open(out_txt, "w", encoding="utf-8") as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f.write("\nFull Classification Report:\n")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f.write("\n\nTop Confused Pairs:\n")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print(f"\nAll outputs saved to: {OUT_DIR}")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confusion_matrix.png, f1_per_class.png, day16_summary.txt")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save_model.py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Fits the final tuned RBF model on features_v2.csv and serializes model.pkl / scaler.pkl / label_encoder.pkl</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save_model.py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the final RBF model with topology rule and saves 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Load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Encode 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Split (same random_state as before for consistency)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test_size=0.20,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save_model.py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X_train_scaled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 final model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random_state=42, probability=True)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Verify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 = accuracy_score(y_test, model.predict(X_test_scaled))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 everything needed for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SAVE_DIR = os.path.join(BASE,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joblib.dump(model, os.path.join(SAVE_DIR, "model.pkl"))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joblib.dump(scaler, os.path.join(SAVE_DIR, "scaler.pkl"))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Also save a few sample test rows for the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 = df.iloc[X_test.shape[0]*0:5].copy()  # first 5 rows for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print(f"\nSaved to: {SAVE_DIR}")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model.pkl, scaler.pkl, label_encoder.pkl, sample_input.csv")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regenerate_dashboard.py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Builds the 6-panel results_dashboard_FINAL.png used throughout the Results section of this deck</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 matplotlib.use('Agg')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matplotlib.gridspec as gridspec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 = r"C:\Users\karan\Desktop\fault-classification-project"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os.path.join(REPO, "results")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FEATURE_NAMES =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'rise_time','settling_time','skewness','kurtosis','dominant_freq',</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'spectral_energy','spec_centroid','bandwidth','spec_entropy','energy',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pd.read_csv(os.path.join(REPO, "data",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X_te, y_tr, y_te = train_test_split(X, y, test_size=0.2,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 sc.fit_transform(X_tr)</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 = sc.transform(X_te)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rc_open_idx  = labels.index('RC_open')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rlc_open_idx = labels.index('RLC_open')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test_indices = list(pd.Series(range(len(df))).sample(frac=0.2, random_state=42).sort_values().index)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apply_topology_rule(pred_array):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pred_array.tolist()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range(len(pred)):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pred[i] == rlc_open_idx and test_circuits[i] == 'RC':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pred[i] = rc_open_idx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models...')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configs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'Linear\n(default)':  SVC(kernel='linear', C=1.0,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'RBF\n(default)':     SVC(kernel='rbf',    C=1.0, gamma='scale',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'Linear\n(tuned)':    SVC(kernel='linear', C=100,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'RBF\n(tuned)':       SVC(kernel='rbf',    C=100, gamma=0.1,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clf in configs.items():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clf.fit(X_tr, y_tr)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apply_topology_rule(clf.predict(X_te))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accs[name] = accuracy_score(y_te, pred)*100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{name.replace(chr(10)," "):&lt;22}: {accs[name]:.2f}%')</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best_clf  = configs['RBF\n(tuned)']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best_pred = apply_topology_rule(best_clf.predict(X_te))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best_acc  = accs['RBF\n(tuned)']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lin_clf    = configs['Linear\n(tuned)']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importance = np.mean(np.abs(lin_clf.coef_), axis=0)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le.inverse_transform(best_pred)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circuit_accs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['RC','RLC','SALLEN_KEY','RC_LADDER']: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print('\nBuilding final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 plt.figure(figsize=(24,20))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fig.patch.set_facecolor('#f8f9fa')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  = gridspec.GridSpec(3,3,figure=fig,hspace=0.45,wspace=0.35)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TK  = dict(fontsize=13,fontweight='bold',pad=10)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 = fig.add_subplot(gs[0,0])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names=list(accs.keys()); vals=list(accs.values())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bars=ax1.bar(names,vals,color=C6,edgecolor='white',linewidth=0.8,width=0.6)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ax1.axhline(y=best_acc,color='#d32f2f',linestyle='--',linewidth=1.5,label=f'Best {best_acc:.1f}%')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ax1.set_ylim(60,95); ax1.set_ylabel('Test Accuracy (%)',fontsize=10)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(1/6)</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app.py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The live demo: loads the saved model, applies the topology-aware correction rule, and serves the interactive prediction UI</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streamlit as 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st.set_page_config(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page_title="Analog Circuit Fault Classifier",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layout="wide"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Header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st.title("Kernel-Based Fault Classification in Analog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**SVM-based fault classifier** trained on real LTspice parameter sweep simulation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Classifies faults across **4 circuit topologies** (RC, RLC, Sallen-Key, RC 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**Final accuracy: 78.43%** on 20-class problem (RBF kernel + topology-aware correction)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model artifacts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@st.cache_resource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load_artifacts():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model  = joblib.load("model/model.pkl")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scaler = joblib.load("model/scaler.pkl")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le     = joblib.load("model/label_encoder.pkl")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scaler, le = load_artifacts()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(2/6)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1: Dashboard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st.header("Results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os.path.exists("results/results_dashboard_FINAL.png"):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st.image("results/results_dashboard_FINAL.png", use_column_width=True)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st.header("Final Results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 col2, col3 = st.columns(3)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col1.metric("Overall Accuracy", "78.43%")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col2.metric("RLC Accuracy",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Kernel | Default | Tuned + Topology Rule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Linear | 77.94% | 77.45%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RBF    | 71.08% | **78.43%**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Polynomial | 75.49% | 77.94%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2: Try Prediction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st.header("Try a Prediction")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(3/6)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Select a sample from the dataset or enter feature values manually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 see the model's fault classification.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 = pd.read_csv("data/features_v2.csv")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feature_cols = [f"f{i}" for i in range(1, 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mode == "Pick a sample from dataset":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sample_idx = st.selectbox(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"Choose a sample (shown as circuit_fault, true 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options=df.index,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format_func=lambda i: f"#{i} — {df.loc[i,'label']}"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df.loc[sample_idx]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true_label = row["label"]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X_input = row[feature_cols].values.reshape(1,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st.write(f"**True label:** {true_label}")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(4/6)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108</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(5/6)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109</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(6/6)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st.subheader("Feature columns (f1-f17)")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feat_table = pd.DataFrame({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"Name":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st.subheader("Raw data sample")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Footer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**Project:** SN Bose Summer Internship 2026, NIT Silchar | NIT Silchar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2026-07-05T21:01:29Z</dcterms:created>
  <dcterms:modified xsi:type="dcterms:W3CDTF">2026-07-05T21:01:29Z</dcterms:modified>
</cp:coreProperties>
</file>