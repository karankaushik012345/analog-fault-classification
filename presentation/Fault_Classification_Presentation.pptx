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AE7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0B1F3A"/>
              </a:solidFill>
              <a:effectLst/>
            </c:spPr>
          </c:dPt>
          <c:dPt>
            <c:idx val="3"/>
            <c:bubble3D val="0"/>
            <c:spPr>
              <a:solidFill>
                <a:srgbClr val="D9695F"/>
              </a:solidFill>
              <a:effectLst/>
            </c:spPr>
          </c:dPt>
          <c:dPt>
            <c:idx val="4"/>
            <c:bubble3D val="0"/>
            <c:spPr>
              <a:solidFill>
                <a:srgbClr val="8E5A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Normal</c:v>
                </c:pt>
                <c:pt idx="1">
                  <c:v>Drift</c:v>
                </c:pt>
                <c:pt idx="2">
                  <c:v>Open</c:v>
                </c:pt>
                <c:pt idx="3">
                  <c:v>Short</c:v>
                </c:pt>
                <c:pt idx="4">
                  <c:v>Noise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204</c:v>
                </c:pt>
                <c:pt idx="1">
                  <c:v>204</c:v>
                </c:pt>
                <c:pt idx="2">
                  <c:v>204</c:v>
                </c:pt>
                <c:pt idx="3">
                  <c:v>203</c:v>
                </c:pt>
                <c:pt idx="4">
                  <c:v>204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A9C6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RBF</c:v>
                  </c:pt>
                  <c:pt idx="2">
                    <c:v>Polynomial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77.94</c:v>
                </c:pt>
                <c:pt idx="1">
                  <c:v>71.08</c:v>
                </c:pt>
                <c:pt idx="2">
                  <c:v>75.49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+ Topology Rule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RBF</c:v>
                  </c:pt>
                  <c:pt idx="2">
                    <c:v>Polynomial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77.45</c:v>
                </c:pt>
                <c:pt idx="1">
                  <c:v>78.43</c:v>
                </c:pt>
                <c:pt idx="2">
                  <c:v>77.94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Test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RC</c:v>
                  </c:pt>
                  <c:pt idx="1">
                    <c:v>RLC</c:v>
                  </c:pt>
                  <c:pt idx="2">
                    <c:v>Sallen-Key</c:v>
                  </c:pt>
                  <c:pt idx="3">
                    <c:v>RC Ladder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65.7</c:v>
                </c:pt>
                <c:pt idx="1">
                  <c:v>100</c:v>
                </c:pt>
                <c:pt idx="2">
                  <c:v>82.4</c:v>
                </c:pt>
                <c:pt idx="3">
                  <c:v>60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hyperlink" Target="https://analogcircuitsfaultclassification.streamlit.app/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ogcircuitsfaultclassification.streamlit.app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914400"/>
            <a:ext cx="946404" cy="-52578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7684" y="388620"/>
            <a:ext cx="0" cy="1156716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7684" y="1545336"/>
            <a:ext cx="841248" cy="-52578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3960" y="867080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40364" y="341300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40364" y="1498016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81612" y="972236"/>
            <a:ext cx="94640" cy="94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 BOSE SUMMER INTERNSHIP 2026  ·  NIT SILCHAR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Kernel-Based Fault Classification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Analog Circuits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support-vector machine to diagnose Normal, Drift, Open, Short and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faults across four analog circuit topologies — from real LTspice physics to a live web app.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Kaushik</a:t>
            </a:r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B.Tech ECE, NIT Silchar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559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Anish Kumar Saha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966960" y="3703320"/>
            <a:ext cx="1554480" cy="155448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0" descr="/sessions/blissful-zealous-babbage/mnt/outputs/ppt/icons/microchip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6815" y="3913175"/>
            <a:ext cx="1134770" cy="1134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144268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bulb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69" y="2238085"/>
            <a:ext cx="507309" cy="5073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856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2002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00200" y="2459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cost of undiagnosed analog faults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2144268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1" descr="/sessions/blissful-zealous-babbage/mnt/outputs/ppt/icons/sitemap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329" y="2238085"/>
            <a:ext cx="507309" cy="5073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1856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223760" y="2002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&amp; Fault Types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23760" y="24597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topologies, 5 physical fault conditions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364992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8952" y="3726180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8" name="Image 2" descr="/sessions/blissful-zealous-babbage/mnt/outputs/ppt/icons/cog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" y="3819997"/>
            <a:ext cx="507309" cy="50730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0020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Data Pipeline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60020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sweeps that generate real training data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3364992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82512" y="3726180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4" name="Image 3" descr="/sessions/blissful-zealous-babbage/mnt/outputs/ppt/icons/puzzl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329" y="3819997"/>
            <a:ext cx="507309" cy="50730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8251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22376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223760" y="4041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waveforms into 17 meaningful numbers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946904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58952" y="5308092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0" name="Image 4" descr="/sessions/blissful-zealous-babbage/mnt/outputs/ppt/icons/brain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69" y="5401909"/>
            <a:ext cx="507309" cy="50730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58952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60020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Tuning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1600200" y="5623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kernels, GridSearchCV, topology-aware logic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26480" y="4946904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382512" y="5308092"/>
            <a:ext cx="694944" cy="694944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6" name="Image 5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329" y="5401909"/>
            <a:ext cx="507309" cy="50730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82512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3C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223760" y="5166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Insights &amp; Live Demo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7223760" y="5623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78.43% accuracy and what we learned getting there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Fault Classification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signal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55" y="185961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556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circuits are everywhere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0756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power supplies, sensor front-ends and communication links all rely on analog stages that quietly degrade before they fail outright.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807208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" y="2883743"/>
            <a:ext cx="413857" cy="413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797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doesn't scale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09981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oscilloscope trace to guess “is this drift, or noise, or a bad connection?” takes an expert and doesn't scale to thousands of boards.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831336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bolt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" y="3907871"/>
            <a:ext cx="413857" cy="4138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039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are often silent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1239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drifting resistor or a noisy stage can still “work” while quietly producing wrong answers downstream.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485546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3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5" y="4931999"/>
            <a:ext cx="413857" cy="4138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828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514807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machine the output waveform and let it instantly say what's wrong — and which component is likely responsible.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60920" y="1783080"/>
            <a:ext cx="4343400" cy="4160520"/>
          </a:xfrm>
          <a:prstGeom prst="roundRect">
            <a:avLst>
              <a:gd name="adj" fmla="val 1538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1" name="Image 4" descr="/sessions/blissful-zealous-babbage/mnt/outputs/ppt/icons/database_64748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56" y="2498141"/>
            <a:ext cx="566928" cy="5669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800" y="298003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SCHEMATIC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635240" y="3327502"/>
            <a:ext cx="3794760" cy="13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lab PCB, oscilloscope capture,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workstation photo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Waveform In. One Diagnosis Out.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transient output voltage of an unknown analog circuit, automatically identify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circuit topology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and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five fault conditions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currently experiencing — a 20-class classification problem solved end-to-end with physics-based simulation and a tuned SVM.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Topologies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72744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· RLC · Sallen-Key · RC Ladder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00984" y="3063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00984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438144" y="4343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Types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38144" y="472744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Drift, Open, Short, Noise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9048" y="3063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99048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236208" y="4343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Classes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36208" y="472744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circuits × 5 fault conditions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97112" y="3063240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97112" y="331927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1019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9034272" y="43434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Samples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034272" y="472744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physics-based LTspice sweeps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an Analog Circuit Can Misbehave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066544" cy="393192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2167128"/>
            <a:ext cx="731520" cy="731520"/>
          </a:xfrm>
          <a:prstGeom prst="ellipse">
            <a:avLst/>
          </a:prstGeom>
          <a:solidFill>
            <a:srgbClr val="5EAE7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2265883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31729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values sit at their nominal, healthy design point.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38628" y="1874520"/>
            <a:ext cx="2066544" cy="393192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6140" y="2167128"/>
            <a:ext cx="731520" cy="7315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895" y="2265883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48356" y="31729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921508" y="36118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value slowly shifts from nominal — aging, temperature, wear.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74336" y="1874520"/>
            <a:ext cx="2066544" cy="393192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41848" y="2167128"/>
            <a:ext cx="731520" cy="7315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pl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603" y="2265883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31729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157216" y="36118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disconnects entirely — an infinite-resistance break in the path.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10044" y="1874520"/>
            <a:ext cx="2066544" cy="393192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77556" y="2167128"/>
            <a:ext cx="731520" cy="73152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311" y="2265883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9772" y="31729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92924" y="36118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is bypassed — a near-zero-resistance path forms across 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45752" y="1874520"/>
            <a:ext cx="2066544" cy="393192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13264" y="2167128"/>
            <a:ext cx="731520" cy="731520"/>
          </a:xfrm>
          <a:prstGeom prst="ellipse">
            <a:avLst/>
          </a:prstGeom>
          <a:solidFill>
            <a:srgbClr val="8E5AA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6" name="Image 4" descr="/sessions/blissful-zealous-babbage/mnt/outputs/ppt/icons/random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019" y="2265883"/>
            <a:ext cx="534010" cy="5340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31729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628632" y="361188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disturbance is superimposed on an otherwise healthy signal.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Circuit Topologies Under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5" name="Image 0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97144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53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6032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Low-Pass Filter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2313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resistor, one capacitor — the simplest baseline. A single-pole exponential charge/discharge response.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0" name="Image 1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1971446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2453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83880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Series Circuit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83880" y="2313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inductor for an underdamped, oscillatory step response — richer dynamics than RC alone.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4069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5" name="Image 2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4257446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4739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56032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Sallen-Key Active Filter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560320" y="4599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op-amp based 2nd-order filter — the kind actually used in real analog signal-conditioning design.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26480" y="406908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0" name="Image 3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76" y="4257446"/>
            <a:ext cx="566928" cy="5669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4739335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8388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Ladder Network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83880" y="4599432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RC stages cascaded together, producing a more complex multi-pole response.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Circuit, Five Different Personalities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RC low-pass filter's step response under each of the five fault conditions.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6" name="Image 0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59323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response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38628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2" name="Image 1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436" y="2593238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1508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12948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response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38628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16" name="Text 12"/>
          <p:cNvSpPr/>
          <p:nvPr/>
        </p:nvSpPr>
        <p:spPr>
          <a:xfrm>
            <a:off x="2738628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974336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8" name="Image 2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2593238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57216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48656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response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974336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2" name="Text 17"/>
          <p:cNvSpPr/>
          <p:nvPr/>
        </p:nvSpPr>
        <p:spPr>
          <a:xfrm>
            <a:off x="4974336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210044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24" name="Image 3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2593238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2924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84364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response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210044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28" name="Text 22"/>
          <p:cNvSpPr/>
          <p:nvPr/>
        </p:nvSpPr>
        <p:spPr>
          <a:xfrm>
            <a:off x="7210044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9445752" y="1965960"/>
            <a:ext cx="2066544" cy="3794760"/>
          </a:xfrm>
          <a:prstGeom prst="roundRect">
            <a:avLst>
              <a:gd name="adj" fmla="val 3097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30" name="Image 4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593238"/>
            <a:ext cx="566928" cy="5669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28632" y="3075127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20072" y="3422599"/>
            <a:ext cx="1517904" cy="12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response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9445752" y="5888736"/>
            <a:ext cx="2066544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/>
        </p:spPr>
      </p:sp>
      <p:sp>
        <p:nvSpPr>
          <p:cNvPr id="34" name="Text 27"/>
          <p:cNvSpPr/>
          <p:nvPr/>
        </p:nvSpPr>
        <p:spPr>
          <a:xfrm>
            <a:off x="9445752" y="588873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66900" y="3131820"/>
            <a:ext cx="80772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0678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96" y="2781376"/>
            <a:ext cx="700888" cy="700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619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80619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circuits in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XVII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34740" y="3131820"/>
            <a:ext cx="80772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7462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1" descr="/sessions/blissful-zealous-babbage/mnt/outputs/ppt/icons/sliders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36" y="2781376"/>
            <a:ext cx="700888" cy="7008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7403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1"/>
          <p:cNvSpPr/>
          <p:nvPr/>
        </p:nvSpPr>
        <p:spPr>
          <a:xfrm>
            <a:off x="257403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31648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31648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R/C values across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ranges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02580" y="3131820"/>
            <a:ext cx="80772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44246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0" name="Image 2" descr="/sessions/blissful-zealous-babbage/mnt/outputs/ppt/icons/filter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76" y="2781376"/>
            <a:ext cx="700888" cy="70088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4187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17"/>
          <p:cNvSpPr/>
          <p:nvPr/>
        </p:nvSpPr>
        <p:spPr>
          <a:xfrm>
            <a:off x="434187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08432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08432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features per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170420" y="3131820"/>
            <a:ext cx="80772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21030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7" name="Image 3" descr="/sessions/blissful-zealous-babbage/mnt/outputs/ppt/icons/brain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916" y="2781376"/>
            <a:ext cx="700888" cy="70088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10971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9" name="Text 23"/>
          <p:cNvSpPr/>
          <p:nvPr/>
        </p:nvSpPr>
        <p:spPr>
          <a:xfrm>
            <a:off x="610971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85216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85216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kernels +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938260" y="3131820"/>
            <a:ext cx="807720" cy="0"/>
          </a:xfrm>
          <a:prstGeom prst="line">
            <a:avLst/>
          </a:prstGeom>
          <a:noFill/>
          <a:ln w="22225">
            <a:solidFill>
              <a:srgbClr val="AEBED4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97814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34" name="Image 4" descr="/sessions/blissful-zealous-babbage/mnt/outputs/ppt/icons/tools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756" y="2781376"/>
            <a:ext cx="700888" cy="70088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87755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6" name="Text 29"/>
          <p:cNvSpPr/>
          <p:nvPr/>
        </p:nvSpPr>
        <p:spPr>
          <a:xfrm>
            <a:off x="787755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62000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762000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745980" y="2651760"/>
            <a:ext cx="960120" cy="96012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40" name="Image 5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96" y="2781376"/>
            <a:ext cx="700888" cy="700888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645396" y="2551176"/>
            <a:ext cx="310896" cy="3108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2" name="Text 34"/>
          <p:cNvSpPr/>
          <p:nvPr/>
        </p:nvSpPr>
        <p:spPr>
          <a:xfrm>
            <a:off x="9645396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9387840" y="3776472"/>
            <a:ext cx="167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9387840" y="4123944"/>
            <a:ext cx="167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02920" y="507492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822960" y="50749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grounded in real simulation physics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synthetic data augmentation was used in the final pipeline, only genuine LTspice parameter sweeps.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Simulating Real Circuit Behavior in LTspice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5" name="Image 0" descr="/sessions/blissful-zealous-babbage/mnt/outputs/ppt/icons/flask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55" y="190533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01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input drives every circuit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80160" y="2121408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PULSE voltage source jumps 0V to 5V (1ns rise time), mimicking a sudden real-world input change.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816352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5" y="2892887"/>
            <a:ext cx="413857" cy="4138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88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analysis records the response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80160" y="310896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.tran directive simulates the circuit and captures Vout at 200 time points as it reacts to the step.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803904"/>
            <a:ext cx="566928" cy="566928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sliders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55" y="3880439"/>
            <a:ext cx="413857" cy="4138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76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 window depends on the circuit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80160" y="409651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RC, RLC and RC-Ladder are captured over 95ms; the faster Sallen-Key active filter over 20ms.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83680" y="1828800"/>
            <a:ext cx="5120640" cy="2606040"/>
          </a:xfrm>
          <a:prstGeom prst="roundRect">
            <a:avLst>
              <a:gd name="adj" fmla="val 2456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7" name="Image 3" descr="/sessions/blissful-zealous-babbage/mnt/outputs/ppt/icons/microchip_64748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170786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265267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SCHEMATIC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3000146"/>
            <a:ext cx="4572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screenshot of the .asc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 in LTspice XVII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583680" y="46177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85800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PULSE(0 5 0 1n 1n 95m 200m)</a:t>
            </a:r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.tran 95m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 param Rval 100 10000 200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Sweeps: Simulating Real-World Variation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623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waveform per fault would teach the model almost nothing. Instead, the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 param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directive sweeps a component value — e.g. resistance from 100 to 10,000 ohms in 200-ohm increments — generating roughly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independent transient runs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fault class, per circuit. That reproduces the natural spread of manufacturing tolerance and component aging — real diversity, not one single textbook waveform.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0" y="1783080"/>
            <a:ext cx="5120640" cy="3246120"/>
          </a:xfrm>
          <a:prstGeom prst="roundRect">
            <a:avLst>
              <a:gd name="adj" fmla="val 1972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6" name="Image 0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36" y="2278685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276057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WAVEFORM FAMILY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3108046"/>
            <a:ext cx="457200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LTspice waveform viewer showing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~51 overlaid sweep traces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5623560" cy="1828800"/>
          </a:xfrm>
          <a:prstGeom prst="roundRect">
            <a:avLst>
              <a:gd name="adj" fmla="val 45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43159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" y="5138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runs per class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34640" y="4434840"/>
            <a:ext cx="0" cy="1280160"/>
          </a:xfrm>
          <a:prstGeom prst="line">
            <a:avLst/>
          </a:prstGeom>
          <a:noFill/>
          <a:ln w="12700">
            <a:solidFill>
              <a:srgbClr val="2E44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4315968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runs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4 circuits  x  5 faults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1,019 total samples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1,019 Samples, Evenly Balanced Across Fault Types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96596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balanc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786" y="2040026"/>
            <a:ext cx="400507" cy="4005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classes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35240" y="22951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fault type accounts for about 20% of samples, so the model can't win by just guessing the majority label.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903720" y="3264408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/sessions/blissful-zealous-babbage/mnt/outputs/ppt/icons/sitemap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86" y="3338474"/>
            <a:ext cx="400507" cy="4005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total labels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635240" y="3593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is tagged circuit_fault, e.g. RC_open or SALLEN_KEY_drift — 4 circuits times 5 faults.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903720" y="4562856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4" name="Image 2" descr="/sessions/blissful-zealous-babbage/mnt/outputs/ppt/icons/databas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786" y="4636922"/>
            <a:ext cx="400507" cy="4005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3524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for honest evaluation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635240" y="4892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are divided into train and test sets before any tuning, so reported accuracy reflects unseen data.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Waveform to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raw sample is 200 individual voltage readings — too high-dimensional and noisy for a classic SVM to learn from efficiently. Instead, every waveform is compressed into </a:t>
            </a:r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compact, physically meaningful numbers</a:t>
            </a:r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fall into two families: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3108960"/>
            <a:ext cx="685800" cy="6858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7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3201543"/>
            <a:ext cx="500634" cy="500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26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shape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signal looks over time — peak voltage, RMS, rise time, settling time, skewness, kurtosis, DC level.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2743200"/>
            <a:ext cx="5166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3108960"/>
            <a:ext cx="685800" cy="68580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2" name="Image 1" descr="/sessions/blissful-zealous-babbage/mnt/outputs/ppt/icons/wav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95" y="3201543"/>
            <a:ext cx="500634" cy="5006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9260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content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23760" y="33101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sits at which frequency — dominant frequency, spectral energy, centroid, bandwidth, entropy.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4480560"/>
            <a:ext cx="10607040" cy="1600200"/>
          </a:xfrm>
          <a:prstGeom prst="roundRect">
            <a:avLst>
              <a:gd name="adj" fmla="val 4000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16" name="Image 2" descr="/sessions/blissful-zealous-babbage/mnt/outputs/ppt/icons/wave_64748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06" y="4592574"/>
            <a:ext cx="544068" cy="5440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" y="5055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WAVEFORM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540250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single trace with peak voltage, rise time and settling time marked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Features, Three Families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(9)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4261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8152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voltage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398264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83717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709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27608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48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71500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5869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615391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60258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level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(5)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26280" y="2642616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3081528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energy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26280" y="3520440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centroid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26280" y="3959352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8313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26280" y="4398264"/>
            <a:ext cx="82296" cy="8229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270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entropy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01000" y="1783080"/>
            <a:ext cx="3429000" cy="4617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01000" y="1783080"/>
            <a:ext cx="3429000" cy="594360"/>
          </a:xfrm>
          <a:prstGeom prst="roundRect">
            <a:avLst>
              <a:gd name="adj" fmla="val 13846"/>
            </a:avLst>
          </a:prstGeom>
          <a:solidFill>
            <a:srgbClr val="0B1F3A"/>
          </a:solidFill>
          <a:ln/>
        </p:spPr>
      </p:sp>
      <p:sp>
        <p:nvSpPr>
          <p:cNvPr id="42" name="Shape 40"/>
          <p:cNvSpPr/>
          <p:nvPr/>
        </p:nvSpPr>
        <p:spPr>
          <a:xfrm>
            <a:off x="8001000" y="2075688"/>
            <a:ext cx="3429000" cy="3017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(3)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75320" y="2642616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2514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Zero-crossing rate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75320" y="3081528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2953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75320" y="3520440"/>
            <a:ext cx="82296" cy="82296"/>
          </a:xfrm>
          <a:prstGeom prst="ellipse">
            <a:avLst/>
          </a:prstGeom>
          <a:solidFill>
            <a:srgbClr val="5EAE7A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energy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Machines: Finding the Best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SVM draws the boundary that separates classes with the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possible margin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“kernel” lets that boundary bend to fit patterns a straight line can't capture.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429000" cy="3794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33372" y="283464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7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299" y="2939567"/>
            <a:ext cx="567385" cy="5673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749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boundary. Simplest option — and a surprisingly strong baseline.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5349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02920" y="5852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accuracy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51960" y="2514600"/>
            <a:ext cx="3429000" cy="3794760"/>
          </a:xfrm>
          <a:prstGeom prst="roundRect">
            <a:avLst>
              <a:gd name="adj" fmla="val 24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77800" dist="38100" dir="2700000">
              <a:srgbClr val="0B1F3A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51960" y="27157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82412" y="3063240"/>
            <a:ext cx="777240" cy="77724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5" name="Image 1" descr="/sessions/blissful-zealous-babbage/mnt/outputs/ppt/icons/wave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339" y="3168167"/>
            <a:ext cx="567385" cy="5673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526280" y="4434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curved boundary. Needs careful tuning — but becomes the best model once tuned.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251960" y="5349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78.43%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251960" y="5852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 (tuned + rule)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001000" y="2514600"/>
            <a:ext cx="3429000" cy="3794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331452" y="283464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2" name="Image 2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79" y="2939567"/>
            <a:ext cx="567385" cy="56738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01000" y="3749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275320" y="42062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boundary of degree 3. A solid middle ground between the other two.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001000" y="5349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77.94%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8001000" y="58521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accuracy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with GridSearchCV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kernel settings underperform — untuned RBF scores only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automatically tries many combinations of C (regularization strength) and gamma (boundary curvature), scoring each with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winner isn't just lucky on one data split.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063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97480" y="3063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03720" y="3063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Cross-Val. Accuracy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06840" y="3063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0168"/>
            <a:ext cx="10607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301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97480" y="3630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630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36301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197096"/>
            <a:ext cx="10607040" cy="566928"/>
          </a:xfrm>
          <a:prstGeom prst="rect">
            <a:avLst/>
          </a:prstGeom>
          <a:solidFill>
            <a:srgbClr val="EEF2F7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97096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4197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100, gamma = 0.1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41970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77.91%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41970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764024"/>
            <a:ext cx="10607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640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97480" y="47640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100, gamma = 0.1, degree =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4764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78.04%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4764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76.47%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559552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5595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RBF (C=100, gamma=0.1) climbs from 71.1% to 76.96%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and reaches 78.43% once the topology-aware rule is added next.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- STEP 5 - THE NOVEL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Model What's Physically Possible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663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621792" cy="621792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182" y="2187062"/>
            <a:ext cx="453908" cy="453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488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17th Feature That Fixed a Blind Spot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4617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RC_open and RC_short were originally indistinguishable 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D9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 = 0.000)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waveforms look flat and settled by the end of the observation window.
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dc_level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(mean of the last 20 samples) was added as feature #17: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RC_open settles near 0V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RC_short settles near 5V
</a:t>
            </a:r>
            <a:pPr indent="0" marL="0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number gave the model the signal it was missing.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66360" cy="4251960"/>
          </a:xfrm>
          <a:prstGeom prst="roundRect">
            <a:avLst>
              <a:gd name="adj" fmla="val 193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52400" dist="38100" dir="2700000">
              <a:srgbClr val="0B1F3A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621792" cy="621792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tools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742" y="2187062"/>
            <a:ext cx="453908" cy="453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488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Topology-Aware Correction Rule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92608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SVM can still predict an impossible class — e.g.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B7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“RLC_open”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RC circuit, which has no inductor to open.
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predicted fault belongs to a topology the sample cannot physically be, remap it to the nearest valid class for that circuit.
</a:t>
            </a:r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RLC_open  -&gt;  RC_open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5422392"/>
            <a:ext cx="4617720" cy="475488"/>
          </a:xfrm>
          <a:prstGeom prst="roundRect">
            <a:avLst>
              <a:gd name="adj" fmla="val 11538"/>
            </a:avLst>
          </a:prstGeom>
          <a:solidFill>
            <a:srgbClr val="132A4C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542239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+1.47 pts from this rule alone: 76.96% -&gt; 78.43%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+ Topology Rule Wins: 78.43%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106070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Circuits Are Equally Easy to Diagnose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10312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chartlin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986" y="2177186"/>
            <a:ext cx="400507" cy="4005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2440" y="2084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— 100%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092440" y="245059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oscillatory, underdamped response makes each fault look distinctly different from the others.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360920" y="384048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/sessions/blissful-zealous-babbage/mnt/outputs/ppt/icons/warn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86" y="3914546"/>
            <a:ext cx="400507" cy="4005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2440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&amp; RC Ladder — harder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092440" y="418795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Smoother, more similar-looking passive responses make drift/normal/short faults subtler to tell apart.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Weighs — and Where It Excels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5" name="Image 0" descr="panel_feati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4892040" cy="334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23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rise_time and std_voltage carry the most weight in the linear model's decisions.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783080"/>
            <a:ext cx="516636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8" name="Image 1" descr="panel_f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1920240"/>
            <a:ext cx="4892040" cy="33467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5623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20 classes hit a perfect or near-perfect F1 score; RC/RC-Ladder faults trail behind.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Prediction,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06070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pic>
        <p:nvPicPr>
          <p:cNvPr id="5" name="Image 0" descr="panel_confm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102412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822960"/>
            <a:ext cx="82296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365760"/>
            <a:ext cx="0" cy="100584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1371600"/>
            <a:ext cx="731520" cy="-45720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91572" y="7818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14532" y="3246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14532" y="13304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46052" y="87325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777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Higher Accuracy Is the Wrong Answer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8B99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pPr indent="0" marL="0">
              <a:buNone/>
            </a:pPr>
            <a:r>
              <a:rPr lang="en-US" sz="4400" b="1" dirty="0">
                <a:solidFill>
                  <a:srgbClr val="5A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-&gt;  </a:t>
            </a:r>
            <a:pPr indent="0" marL="0">
              <a:buNone/>
            </a:pPr>
            <a:r>
              <a:rPr lang="en-US" sz="6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accuracy, before vs. after removing synthetic data 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of this pipeline trained on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Python-augmented synthetic data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reported 91% accuracy. Replacing it with pure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LTspice sweep data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simulation variation, no synthetic shortcuts — dropped accuracy to ~76%.
</a:t>
            </a:r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hadn't learned circuit fault physics — it had learned to recognise the augmentation transform itself. The lower, honest number is the more trustworthy result.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09760" y="3931920"/>
            <a:ext cx="1371600" cy="13716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5" name="Image 0" descr="/sessions/blissful-zealous-babbage/mnt/outputs/ppt/icons/bulb_FFB7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4926" y="4117086"/>
            <a:ext cx="1001268" cy="10012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Still Struggles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5740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war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63" y="214381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per-class test sets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~10 test samples per class — a couple of misses can swing an F1 score sharply (e.g. RC_LADDER_short F1 = 0.18).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205740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rand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923" y="214381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&amp; RC-Ladder confusion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743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Passive-filter drift, normal and short faults can look subtly similar in the time domain, unlike RLC's distinct oscillations.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420624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6" name="Image 2" descr="/sessions/blissful-zealous-babbage/mnt/outputs/ppt/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3" y="429265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scope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892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topologies and 5 fault types studied so far — real analog designs are far more diverse.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39319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206240"/>
            <a:ext cx="640080" cy="640080"/>
          </a:xfrm>
          <a:prstGeom prst="ellipse">
            <a:avLst/>
          </a:prstGeom>
          <a:solidFill>
            <a:srgbClr val="D9695F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3" descr="/sessions/blissful-zealous-babbage/mnt/outputs/ppt/icons/flas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923" y="4292651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Simulation-only validation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4892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LTspice-based — no real hardware fault injection has been performed yet.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Live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035040" cy="4251960"/>
          </a:xfrm>
          <a:prstGeom prst="roundRect">
            <a:avLst>
              <a:gd name="adj" fmla="val 1505"/>
            </a:avLst>
          </a:prstGeom>
          <a:solidFill>
            <a:srgbClr val="EAEEF4"/>
          </a:solidFill>
          <a:ln w="15875">
            <a:solidFill>
              <a:srgbClr val="9FB1C8"/>
            </a:solidFill>
            <a:prstDash val="dash"/>
          </a:ln>
        </p:spPr>
      </p:sp>
      <p:pic>
        <p:nvPicPr>
          <p:cNvPr id="5" name="Image 0" descr="/sessions/blissful-zealous-babbage/mnt/outputs/ppt/icons/laptop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976" y="252008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01975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349447"/>
            <a:ext cx="5486400" cy="1360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screenshot of the Streamlit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869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prediction tab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9" name="Image 1" descr="/sessions/blissful-zealous-babbage/mnt/outputs/ppt/icons/chartbar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786" y="1902866"/>
            <a:ext cx="400507" cy="4005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524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35240" y="21762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— kernel comparison, per-circuit accuracy, confusion matrix — in one view.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903720" y="3127248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3" name="Image 2" descr="/sessions/blissful-zealous-babbage/mnt/outputs/ppt/icons/search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786" y="3201314"/>
            <a:ext cx="400507" cy="4005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Prediction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35240" y="3474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sample or enter feature values manually and get an instant fault classification with confidence scores.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903720" y="4425696"/>
            <a:ext cx="548640" cy="54864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7" name="Image 3" descr="/sessions/blissful-zealous-babbage/mnt/outputs/ppt/icons/databas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786" y="4499762"/>
            <a:ext cx="400507" cy="40050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4407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35240" y="47731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1,019 samples and their 17 extracted features directly in the browser.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903720" y="5815584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21" name="Text 15">
            <a:hlinkClick r:id="rId5" tooltip=""/>
          </p:cNvPr>
          <p:cNvSpPr/>
          <p:nvPr/>
        </p:nvSpPr>
        <p:spPr>
          <a:xfrm>
            <a:off x="6903720" y="58155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analogcircuitsfaultclassification.streamlit.app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6" name="Image 0" descr="/sessions/blissful-zealous-babbage/mnt/outputs/ppt/icons/flag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79" y="218335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physics-grounded ML pipeline: LTspice sweeps -&gt; 17 engineered features -&gt; tuned SVM.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78.43% accuracy on a genuinely hard 20-class fault problem.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topology-aware correction rule that adds real accuracy for free.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interactive Streamlit demo anyone can try.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sx="100000" sy="100000" kx="0" ky="0" algn="bl" rotWithShape="0" blurRad="88900" dist="38100" dir="27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94360" cy="594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11" name="Image 1" descr="/sessions/blissful-zealous-babbage/mnt/outputs/ppt/icons/rocket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39" y="218335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76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sweep samples per class to stabilise the weaker F1 scores.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1D-CNN trained directly on raw waveforms.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hardware fault injection, not just simulation.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more topologies — Wien bridge, active high-pass, and beyond.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FAULT CLASSIFICATION IN ANALOG CIRCUITS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05256" cy="-50292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19656" y="411480"/>
            <a:ext cx="0" cy="1106424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19656" y="1517904"/>
            <a:ext cx="804672" cy="-502920"/>
          </a:xfrm>
          <a:prstGeom prst="line">
            <a:avLst/>
          </a:prstGeom>
          <a:noFill/>
          <a:ln w="15875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9137" y="869137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4393" y="366217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4393" y="1472641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9065" y="969721"/>
            <a:ext cx="90526" cy="9052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5212080"/>
            <a:ext cx="699516" cy="-388620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57916" y="4823460"/>
            <a:ext cx="0" cy="854964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57916" y="5678424"/>
            <a:ext cx="621792" cy="-388620"/>
          </a:xfrm>
          <a:prstGeom prst="line">
            <a:avLst/>
          </a:prstGeom>
          <a:noFill/>
          <a:ln w="15875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23424" y="5177104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22940" y="4788484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22940" y="5643448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44732" y="5254828"/>
            <a:ext cx="69952" cy="6995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48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Kaushik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B.Tech ECE, NIT Silchar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Anish Kumar Saha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1" name="Image 0" descr="/sessions/blissful-zealous-babbage/mnt/outputs/ppt/icons/envelop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642" y="5136642"/>
            <a:ext cx="333756" cy="3337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karankaushik01234@gmail.com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5669280"/>
            <a:ext cx="457200" cy="457200"/>
          </a:xfrm>
          <a:prstGeom prst="ellipse">
            <a:avLst/>
          </a:prstGeom>
          <a:solidFill>
            <a:srgbClr val="132A4C"/>
          </a:solidFill>
          <a:ln/>
          <a:effectLst>
            <a:outerShdw sx="100000" sy="100000" kx="0" ky="0" algn="bl" rotWithShape="0" blurRad="114300" dist="38100" dir="2700000">
              <a:srgbClr val="0B1F3A">
                <a:alpha val="14000"/>
              </a:srgbClr>
            </a:outerShdw>
          </a:effectLst>
        </p:spPr>
      </p:sp>
      <p:pic>
        <p:nvPicPr>
          <p:cNvPr id="24" name="Image 1" descr="/sessions/blissful-zealous-babbage/mnt/outputs/ppt/icons/laptop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" y="5731002"/>
            <a:ext cx="333756" cy="333756"/>
          </a:xfrm>
          <a:prstGeom prst="rect">
            <a:avLst/>
          </a:prstGeom>
        </p:spPr>
      </p:pic>
      <p:sp>
        <p:nvSpPr>
          <p:cNvPr id="25" name="Text 21">
            <a:hlinkClick r:id="rId3" tooltip=""/>
          </p:cNvPr>
          <p:cNvSpPr/>
          <p:nvPr/>
        </p:nvSpPr>
        <p:spPr>
          <a:xfrm>
            <a:off x="109728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analogcircuitsfaultclassification.streamlit.app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Kernel-Based Fault Classification in Analog Circuits</dc:title>
  <dc:subject>PptxGenJS Presentation</dc:subject>
  <dc:creator>Karan Kaushik</dc:creator>
  <cp:lastModifiedBy>Karan Kaushik</cp:lastModifiedBy>
  <cp:revision>1</cp:revision>
  <dcterms:created xsi:type="dcterms:W3CDTF">2026-07-05T16:33:16Z</dcterms:created>
  <dcterms:modified xsi:type="dcterms:W3CDTF">2026-07-05T16:33:16Z</dcterms:modified>
</cp:coreProperties>
</file>