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charts/chart1.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charts/chart2.xml" ContentType="application/vnd.openxmlformats-officedocument.drawingml.chart+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charts/chart3.xml" ContentType="application/vnd.openxmlformats-officedocument.drawingml.chart+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Lst>
  <p:notesMasterIdLst>
    <p:notesMasterId r:id="rId10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notesMaster" Target="notesMasters/notesMaster1.xml"/><Relationship Id="rId109" Type="http://schemas.openxmlformats.org/officeDocument/2006/relationships/presProps" Target="presProps.xml"/><Relationship Id="rId110" Type="http://schemas.openxmlformats.org/officeDocument/2006/relationships/viewProps" Target="viewProps.xml"/><Relationship Id="rId111" Type="http://schemas.openxmlformats.org/officeDocument/2006/relationships/theme" Target="theme/theme1.xml"/><Relationship Id="rId1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Samples</c:v>
                </c:pt>
              </c:strCache>
            </c:strRef>
          </c:tx>
          <c:spPr>
            <a:solidFill>
              <a:schemeClr val="accent1"/>
            </a:solidFill>
            <a:ln w="9525" cap="flat">
              <a:solidFill>
                <a:srgbClr val="F9F9F9"/>
              </a:solidFill>
              <a:prstDash val="solid"/>
              <a:round/>
            </a:ln>
            <a:effectLst/>
          </c:spPr>
          <c:dPt>
            <c:idx val="0"/>
            <c:bubble3D val="0"/>
            <c:spPr>
              <a:solidFill>
                <a:srgbClr val="5EAE7A"/>
              </a:solidFill>
              <a:effectLst/>
            </c:spPr>
          </c:dPt>
          <c:dPt>
            <c:idx val="1"/>
            <c:bubble3D val="0"/>
            <c:spPr>
              <a:solidFill>
                <a:srgbClr val="00B4D8"/>
              </a:solidFill>
              <a:effectLst/>
            </c:spPr>
          </c:dPt>
          <c:dPt>
            <c:idx val="2"/>
            <c:bubble3D val="0"/>
            <c:spPr>
              <a:solidFill>
                <a:srgbClr val="0B1F3A"/>
              </a:solidFill>
              <a:effectLst/>
            </c:spPr>
          </c:dPt>
          <c:dPt>
            <c:idx val="3"/>
            <c:bubble3D val="0"/>
            <c:spPr>
              <a:solidFill>
                <a:srgbClr val="D9695F"/>
              </a:solidFill>
              <a:effectLst/>
            </c:spPr>
          </c:dPt>
          <c:dPt>
            <c:idx val="4"/>
            <c:bubble3D val="0"/>
            <c:spPr>
              <a:solidFill>
                <a:srgbClr val="8E5AA8"/>
              </a:solidFill>
              <a:effectLst/>
            </c:spPr>
          </c:dPt>
          <c:dLbls>
            <c:dLbl>
              <c:idx val="0"/>
              <c:numFmt formatCode="0%" sourceLinked="0"/>
              <c:spPr/>
              <c:txPr>
                <a:bodyPr/>
                <a:lstStyle/>
                <a:p>
                  <a:pPr>
                    <a:defRPr sz="1200" b="1"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200" b="1"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200" b="1"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1200" b="1"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1200" b="1"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Sheet1!$A$2:$A$6</c:f>
              <c:strCache>
                <c:ptCount val="5"/>
                <c:pt idx="0">
                  <c:v>Normal</c:v>
                </c:pt>
                <c:pt idx="1">
                  <c:v>Drift</c:v>
                </c:pt>
                <c:pt idx="2">
                  <c:v>Open</c:v>
                </c:pt>
                <c:pt idx="3">
                  <c:v>Short</c:v>
                </c:pt>
                <c:pt idx="4">
                  <c:v>Noise</c:v>
                </c:pt>
              </c:strCache>
            </c:strRef>
          </c:cat>
          <c:val>
            <c:numRef>
              <c:f>Sheet1!$B$2:$B$6</c:f>
              <c:numCache>
                <c:ptCount val="5"/>
                <c:pt idx="0">
                  <c:v>204</c:v>
                </c:pt>
                <c:pt idx="1">
                  <c:v>204</c:v>
                </c:pt>
                <c:pt idx="2">
                  <c:v>204</c:v>
                </c:pt>
                <c:pt idx="3">
                  <c:v>203</c:v>
                </c:pt>
                <c:pt idx="4">
                  <c:v>204</c:v>
                </c:pt>
              </c:numCache>
            </c:numRef>
          </c:val>
        </c:ser>
        <c:firstSliceAng val="0"/>
      </c:pieChart>
      <c:spPr>
        <a:noFill/>
        <a:ln>
          <a:noFill/>
        </a:ln>
        <a:effectLst/>
      </c:spPr>
    </c:plotArea>
    <c:legend>
      <c:legendPos val="b"/>
      <c:overlay val="0"/>
      <c:txPr>
        <a:bodyPr/>
        <a:lstStyle/>
        <a:p>
          <a:pPr>
            <a:defRPr sz="1100">
              <a:solidFill>
                <a:srgbClr val="1E293B"/>
              </a:solidFill>
            </a:defRPr>
          </a:pPr>
          <a:endParaRPr lang="en-US"/>
        </a:p>
      </c:txPr>
    </c:legend>
    <c:plotVisOnly val="1"/>
    <c:dispBlanksAs val="span"/>
  </c:chart>
  <c:spPr>
    <a:solidFill>
      <a:srgbClr val="F4F6FA"/>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Default</c:v>
                </c:pt>
              </c:strCache>
            </c:strRef>
          </c:tx>
          <c:spPr>
            <a:solidFill>
              <a:srgbClr val="A9C6E8"/>
            </a:solidFill>
            <a:effectLst/>
          </c:spPr>
          <c:invertIfNegative val="0"/>
          <c:dLbls>
            <c:numFmt formatCode="0.0" sourceLinked="0"/>
            <c:txPr>
              <a:bodyPr/>
              <a:lstStyle/>
              <a:p>
                <a:pPr>
                  <a:defRPr b="0" i="0" strike="noStrike" sz="1050" u="none">
                    <a:solidFill>
                      <a:srgbClr val="1E293B"/>
                    </a:solidFill>
                    <a:latin typeface="Arial"/>
                  </a:defRPr>
                </a:pPr>
              </a:p>
            </c:txPr>
            <c:showLegendKey val="0"/>
            <c:showVal val="1"/>
            <c:showCatName val="0"/>
            <c:showSerName val="0"/>
            <c:showPercent val="0"/>
            <c:showBubbleSize val="0"/>
            <c:showLeaderLines val="0"/>
          </c:dLbls>
          <c:cat>
            <c:multiLvlStrRef>
              <c:f>Sheet1!$A$2:$A$4</c:f>
              <c:multiLvlStrCache>
                <c:ptCount val="3"/>
                <c:lvl>
                  <c:pt idx="0">
                    <c:v>Linear</c:v>
                  </c:pt>
                  <c:pt idx="1">
                    <c:v>RBF</c:v>
                  </c:pt>
                  <c:pt idx="2">
                    <c:v>Polynomial</c:v>
                  </c:pt>
                </c:lvl>
              </c:multiLvlStrCache>
            </c:multiLvlStrRef>
          </c:cat>
          <c:val>
            <c:numRef>
              <c:f>Sheet1!$B$2:$B$4</c:f>
              <c:numCache>
                <c:formatCode>General</c:formatCode>
                <c:ptCount val="3"/>
                <c:pt idx="0">
                  <c:v>77.94</c:v>
                </c:pt>
                <c:pt idx="1">
                  <c:v>71.08</c:v>
                </c:pt>
                <c:pt idx="2">
                  <c:v>75.49</c:v>
                </c:pt>
              </c:numCache>
            </c:numRef>
          </c:val>
        </c:ser>
        <c:ser>
          <c:idx val="1"/>
          <c:order val="1"/>
          <c:tx>
            <c:strRef>
              <c:f>Sheet1!$C$1</c:f>
              <c:strCache>
                <c:ptCount val="1"/>
                <c:pt idx="0">
                  <c:v>Tuned + Topology Rule</c:v>
                </c:pt>
              </c:strCache>
            </c:strRef>
          </c:tx>
          <c:spPr>
            <a:solidFill>
              <a:srgbClr val="0B1F3A"/>
            </a:solidFill>
            <a:effectLst/>
          </c:spPr>
          <c:invertIfNegative val="0"/>
          <c:dLbls>
            <c:numFmt formatCode="0.0" sourceLinked="0"/>
            <c:txPr>
              <a:bodyPr/>
              <a:lstStyle/>
              <a:p>
                <a:pPr>
                  <a:defRPr b="0" i="0" strike="noStrike" sz="1050" u="none">
                    <a:solidFill>
                      <a:srgbClr val="1E293B"/>
                    </a:solidFill>
                    <a:latin typeface="Arial"/>
                  </a:defRPr>
                </a:pPr>
              </a:p>
            </c:txPr>
            <c:showLegendKey val="0"/>
            <c:showVal val="1"/>
            <c:showCatName val="0"/>
            <c:showSerName val="0"/>
            <c:showPercent val="0"/>
            <c:showBubbleSize val="0"/>
            <c:showLeaderLines val="0"/>
          </c:dLbls>
          <c:cat>
            <c:multiLvlStrRef>
              <c:f>Sheet1!$A$2:$A$4</c:f>
              <c:multiLvlStrCache>
                <c:ptCount val="3"/>
                <c:lvl>
                  <c:pt idx="0">
                    <c:v>Linear</c:v>
                  </c:pt>
                  <c:pt idx="1">
                    <c:v>RBF</c:v>
                  </c:pt>
                  <c:pt idx="2">
                    <c:v>Polynomial</c:v>
                  </c:pt>
                </c:lvl>
              </c:multiLvlStrCache>
            </c:multiLvlStrRef>
          </c:cat>
          <c:val>
            <c:numRef>
              <c:f>Sheet1!$C$2:$C$4</c:f>
              <c:numCache>
                <c:formatCode>General</c:formatCode>
                <c:ptCount val="3"/>
                <c:pt idx="0">
                  <c:v>77.45</c:v>
                </c:pt>
                <c:pt idx="1">
                  <c:v>78.43</c:v>
                </c:pt>
                <c:pt idx="2">
                  <c:v>77.94</c:v>
                </c:pt>
              </c:numCache>
            </c:numRef>
          </c:val>
        </c:ser>
        <c:dLbls>
          <c:numFmt formatCode="0.0" sourceLinked="0"/>
          <c:txPr>
            <a:bodyPr/>
            <a:lstStyle/>
            <a:p>
              <a:pPr>
                <a:defRPr b="0" i="0" strike="noStrike" sz="1050" u="none">
                  <a:solidFill>
                    <a:srgbClr val="1E293B"/>
                  </a:solidFill>
                  <a:latin typeface="Arial"/>
                </a:defRPr>
              </a:pPr>
            </a:p>
          </c:txPr>
          <c:showLegendKey val="0"/>
          <c:showVal val="1"/>
          <c:showCatName val="0"/>
          <c:showSerName val="0"/>
          <c:showPercent val="0"/>
          <c:showBubbleSize val="0"/>
          <c:showLeaderLines val="0"/>
        </c:dLbls>
        <c:gapWidth val="3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90"/>
          <c:min val="60"/>
        </c:scaling>
        <c:delete val="0"/>
        <c:axPos val="l"/>
        <c:majorGridlines>
          <c:spPr>
            <a:ln w="9525" cap="flat">
              <a:solidFill>
                <a:srgbClr val="D7DEE8"/>
              </a:solidFill>
              <a:prstDash val="solid"/>
              <a:round/>
            </a:ln>
          </c:spPr>
        </c:majorGridlines>
        <c:title>
          <c:tx>
            <c:rich>
              <a:bodyPr/>
              <a:lstStyle/>
              <a:p>
                <a:pPr>
                  <a:defRPr b="0" i="0" u="none" strike="noStrike">
                    <a:solidFill>
                      <a:srgbClr val="000000"/>
                    </a:solidFill>
                    <a:latin typeface="Arial"/>
                  </a:defRPr>
                </a:pPr>
                <a:r>
                  <a:rPr b="0" i="0" u="none" strike="noStrike">
                    <a:solidFill>
                      <a:srgbClr val="000000"/>
                    </a:solidFill>
                    <a:latin typeface="Arial"/>
                  </a:rPr>
                  <a:t>Test Accuracy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50">
              <a:solidFill>
                <a:srgbClr val="1E293B"/>
              </a:solidFill>
            </a:defRPr>
          </a:pPr>
          <a:endParaRPr lang="en-US"/>
        </a:p>
      </c:txPr>
    </c:legend>
    <c:plotVisOnly val="1"/>
    <c:dispBlanksAs val="span"/>
  </c:chart>
  <c:spPr>
    <a:solidFill>
      <a:srgbClr val="F4F6FA"/>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Accuracy</c:v>
                </c:pt>
              </c:strCache>
            </c:strRef>
          </c:tx>
          <c:spPr>
            <a:solidFill>
              <a:srgbClr val="00B4D8"/>
            </a:solidFill>
            <a:effectLst/>
          </c:spPr>
          <c:invertIfNegative val="0"/>
          <c:dLbls>
            <c:numFmt formatCode="0.0" sourceLinked="0"/>
            <c:txPr>
              <a:bodyPr/>
              <a:lstStyle/>
              <a:p>
                <a:pPr>
                  <a:defRPr b="1" i="0" strike="noStrike" sz="1200" u="none">
                    <a:solidFill>
                      <a:srgbClr val="0B1F3A"/>
                    </a:solidFill>
                    <a:latin typeface="Arial"/>
                  </a:defRPr>
                </a:pPr>
              </a:p>
            </c:txPr>
            <c:showLegendKey val="0"/>
            <c:showVal val="1"/>
            <c:showCatName val="0"/>
            <c:showSerName val="0"/>
            <c:showPercent val="0"/>
            <c:showBubbleSize val="0"/>
            <c:showLeaderLines val="0"/>
          </c:dLbls>
          <c:cat>
            <c:multiLvlStrRef>
              <c:f>Sheet1!$A$2:$A$5</c:f>
              <c:multiLvlStrCache>
                <c:ptCount val="4"/>
                <c:lvl>
                  <c:pt idx="0">
                    <c:v>RC</c:v>
                  </c:pt>
                  <c:pt idx="1">
                    <c:v>RLC</c:v>
                  </c:pt>
                  <c:pt idx="2">
                    <c:v>Sallen-Key</c:v>
                  </c:pt>
                  <c:pt idx="3">
                    <c:v>RC Ladder</c:v>
                  </c:pt>
                </c:lvl>
              </c:multiLvlStrCache>
            </c:multiLvlStrRef>
          </c:cat>
          <c:val>
            <c:numRef>
              <c:f>Sheet1!$B$2:$B$5</c:f>
              <c:numCache>
                <c:formatCode>General</c:formatCode>
                <c:ptCount val="4"/>
                <c:pt idx="0">
                  <c:v>65.7</c:v>
                </c:pt>
                <c:pt idx="1">
                  <c:v>100</c:v>
                </c:pt>
                <c:pt idx="2">
                  <c:v>82.4</c:v>
                </c:pt>
                <c:pt idx="3">
                  <c:v>60</c:v>
                </c:pt>
              </c:numCache>
            </c:numRef>
          </c:val>
        </c:ser>
        <c:dLbls>
          <c:numFmt formatCode="0.0" sourceLinked="0"/>
          <c:txPr>
            <a:bodyPr/>
            <a:lstStyle/>
            <a:p>
              <a:pPr>
                <a:defRPr b="1" i="0" strike="noStrike" sz="1200" u="none">
                  <a:solidFill>
                    <a:srgbClr val="0B1F3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9525" cap="flat">
              <a:solidFill>
                <a:srgbClr val="D7DE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F4F6FA"/>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slideLayout" Target="../slideLayouts/slideLayout1.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1.png"/><Relationship Id="rId3" Type="http://schemas.openxmlformats.org/officeDocument/2006/relationships/image" Target="../media/image-12-1.png"/><Relationship Id="rId4" Type="http://schemas.openxmlformats.org/officeDocument/2006/relationships/image" Target="../media/image-12-1.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1.png"/><Relationship Id="rId3" Type="http://schemas.openxmlformats.org/officeDocument/2006/relationships/image" Target="../media/image-17-1.png"/><Relationship Id="rId4" Type="http://schemas.openxmlformats.org/officeDocument/2006/relationships/image" Target="../media/image-17-1.png"/><Relationship Id="rId5" Type="http://schemas.openxmlformats.org/officeDocument/2006/relationships/image" Target="../media/image-17-1.png"/><Relationship Id="rId6" Type="http://schemas.openxmlformats.org/officeDocument/2006/relationships/slideLayout" Target="../slideLayouts/slideLayout1.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24-1.png"/><Relationship Id="rId3" Type="http://schemas.openxmlformats.org/officeDocument/2006/relationships/image" Target="../media/image-24-2.png"/><Relationship Id="rId4" Type="http://schemas.openxmlformats.org/officeDocument/2006/relationships/image" Target="../media/image-24-3.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slideLayout" Target="../slideLayouts/slideLayout1.xml"/><Relationship Id="rId5"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slideLayout" Target="../slideLayouts/slideLayout1.xml"/><Relationship Id="rId5"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slideLayout" Target="../slideLayouts/slideLayout1.xml"/><Relationship Id="rId5"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slideLayout" Target="../slideLayouts/slideLayout1.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50-1.png"/><Relationship Id="rId3" Type="http://schemas.openxmlformats.org/officeDocument/2006/relationships/image" Target="../media/image-50-2.png"/><Relationship Id="rId4" Type="http://schemas.openxmlformats.org/officeDocument/2006/relationships/slideLayout" Target="../slideLayouts/slideLayout1.xml"/><Relationship Id="rId5"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image" Target="../media/image-55-3.png"/><Relationship Id="rId4" Type="http://schemas.openxmlformats.org/officeDocument/2006/relationships/slideLayout" Target="../slideLayouts/slideLayout1.xml"/><Relationship Id="rId5"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image" Target="../media/image-58-3.png"/><Relationship Id="rId4" Type="http://schemas.openxmlformats.org/officeDocument/2006/relationships/image" Target="../media/image-58-4.png"/><Relationship Id="rId5" Type="http://schemas.openxmlformats.org/officeDocument/2006/relationships/slideLayout" Target="../slideLayouts/slideLayout1.xml"/><Relationship Id="rId6"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5" Type="http://schemas.openxmlformats.org/officeDocument/2006/relationships/hyperlink" Target="https://analogcircuitsfaultclassification.streamlit.app/" TargetMode="External"/><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image" Target="../media/image-59-3.png"/><Relationship Id="rId4" Type="http://schemas.openxmlformats.org/officeDocument/2006/relationships/image" Target="../media/image-59-4.png"/><Relationship Id="rId6" Type="http://schemas.openxmlformats.org/officeDocument/2006/relationships/slideLayout" Target="../slideLayouts/slideLayout1.xml"/><Relationship Id="rId7"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image" Target="../media/image-60-3.png"/><Relationship Id="rId4" Type="http://schemas.openxmlformats.org/officeDocument/2006/relationships/image" Target="../media/image-60-4.png"/><Relationship Id="rId5" Type="http://schemas.openxmlformats.org/officeDocument/2006/relationships/image" Target="../media/image-60-5.png"/><Relationship Id="rId6" Type="http://schemas.openxmlformats.org/officeDocument/2006/relationships/image" Target="../media/image-60-6.png"/><Relationship Id="rId7" Type="http://schemas.openxmlformats.org/officeDocument/2006/relationships/image" Target="../media/image-60-7.png"/><Relationship Id="rId8" Type="http://schemas.openxmlformats.org/officeDocument/2006/relationships/image" Target="../media/image-60-8.png"/><Relationship Id="rId9" Type="http://schemas.openxmlformats.org/officeDocument/2006/relationships/slideLayout" Target="../slideLayouts/slideLayout1.xml"/><Relationship Id="rId10"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slideLayout" Target="../slideLayouts/slideLayout1.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3" Type="http://schemas.openxmlformats.org/officeDocument/2006/relationships/hyperlink" Target="https://analogcircuitsfaultclassification.streamlit.app/" TargetMode="External"/><Relationship Id="rId1" Type="http://schemas.openxmlformats.org/officeDocument/2006/relationships/image" Target="../media/image-62-1.png"/><Relationship Id="rId2" Type="http://schemas.openxmlformats.org/officeDocument/2006/relationships/image" Target="../media/image-62-2.png"/><Relationship Id="rId4" Type="http://schemas.openxmlformats.org/officeDocument/2006/relationships/slideLayout" Target="../slideLayouts/slideLayout1.xml"/><Relationship Id="rId5"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10241280" y="914400"/>
            <a:ext cx="946404" cy="-525780"/>
          </a:xfrm>
          <a:prstGeom prst="line">
            <a:avLst/>
          </a:prstGeom>
          <a:noFill/>
          <a:ln w="15875">
            <a:solidFill>
              <a:srgbClr val="00B4D8">
                <a:alpha val="70000"/>
              </a:srgbClr>
            </a:solidFill>
            <a:prstDash val="solid"/>
          </a:ln>
        </p:spPr>
      </p:sp>
      <p:sp>
        <p:nvSpPr>
          <p:cNvPr id="3" name="Shape 1"/>
          <p:cNvSpPr/>
          <p:nvPr/>
        </p:nvSpPr>
        <p:spPr>
          <a:xfrm>
            <a:off x="11187684" y="388620"/>
            <a:ext cx="0" cy="1156716"/>
          </a:xfrm>
          <a:prstGeom prst="line">
            <a:avLst/>
          </a:prstGeom>
          <a:noFill/>
          <a:ln w="15875">
            <a:solidFill>
              <a:srgbClr val="00B4D8">
                <a:alpha val="70000"/>
              </a:srgbClr>
            </a:solidFill>
            <a:prstDash val="solid"/>
          </a:ln>
        </p:spPr>
      </p:sp>
      <p:sp>
        <p:nvSpPr>
          <p:cNvPr id="4" name="Shape 2"/>
          <p:cNvSpPr/>
          <p:nvPr/>
        </p:nvSpPr>
        <p:spPr>
          <a:xfrm>
            <a:off x="11187684" y="1545336"/>
            <a:ext cx="841248" cy="-525780"/>
          </a:xfrm>
          <a:prstGeom prst="line">
            <a:avLst/>
          </a:prstGeom>
          <a:noFill/>
          <a:ln w="15875">
            <a:solidFill>
              <a:srgbClr val="00B4D8">
                <a:alpha val="70000"/>
              </a:srgbClr>
            </a:solidFill>
            <a:prstDash val="solid"/>
          </a:ln>
        </p:spPr>
      </p:sp>
      <p:sp>
        <p:nvSpPr>
          <p:cNvPr id="5" name="Shape 3"/>
          <p:cNvSpPr/>
          <p:nvPr/>
        </p:nvSpPr>
        <p:spPr>
          <a:xfrm>
            <a:off x="10193960" y="867080"/>
            <a:ext cx="94640" cy="94640"/>
          </a:xfrm>
          <a:prstGeom prst="ellipse">
            <a:avLst/>
          </a:prstGeom>
          <a:solidFill>
            <a:srgbClr val="00B4D8"/>
          </a:solidFill>
          <a:ln w="12700">
            <a:solidFill>
              <a:srgbClr val="00B4D8"/>
            </a:solidFill>
            <a:prstDash val="solid"/>
          </a:ln>
        </p:spPr>
      </p:sp>
      <p:sp>
        <p:nvSpPr>
          <p:cNvPr id="6" name="Shape 4"/>
          <p:cNvSpPr/>
          <p:nvPr/>
        </p:nvSpPr>
        <p:spPr>
          <a:xfrm>
            <a:off x="11140364" y="341300"/>
            <a:ext cx="94640" cy="94640"/>
          </a:xfrm>
          <a:prstGeom prst="ellipse">
            <a:avLst/>
          </a:prstGeom>
          <a:solidFill>
            <a:srgbClr val="00B4D8"/>
          </a:solidFill>
          <a:ln w="12700">
            <a:solidFill>
              <a:srgbClr val="00B4D8"/>
            </a:solidFill>
            <a:prstDash val="solid"/>
          </a:ln>
        </p:spPr>
      </p:sp>
      <p:sp>
        <p:nvSpPr>
          <p:cNvPr id="7" name="Shape 5"/>
          <p:cNvSpPr/>
          <p:nvPr/>
        </p:nvSpPr>
        <p:spPr>
          <a:xfrm>
            <a:off x="11140364" y="1498016"/>
            <a:ext cx="94640" cy="94640"/>
          </a:xfrm>
          <a:prstGeom prst="ellipse">
            <a:avLst/>
          </a:prstGeom>
          <a:solidFill>
            <a:srgbClr val="00B4D8"/>
          </a:solidFill>
          <a:ln w="12700">
            <a:solidFill>
              <a:srgbClr val="00B4D8"/>
            </a:solidFill>
            <a:prstDash val="solid"/>
          </a:ln>
        </p:spPr>
      </p:sp>
      <p:sp>
        <p:nvSpPr>
          <p:cNvPr id="8" name="Shape 6"/>
          <p:cNvSpPr/>
          <p:nvPr/>
        </p:nvSpPr>
        <p:spPr>
          <a:xfrm>
            <a:off x="11981612" y="972236"/>
            <a:ext cx="94640" cy="94640"/>
          </a:xfrm>
          <a:prstGeom prst="ellipse">
            <a:avLst/>
          </a:prstGeom>
          <a:solidFill>
            <a:srgbClr val="00B4D8"/>
          </a:solidFill>
          <a:ln w="12700">
            <a:solidFill>
              <a:srgbClr val="00B4D8"/>
            </a:solidFill>
            <a:prstDash val="solid"/>
          </a:ln>
        </p:spPr>
      </p:sp>
      <p:sp>
        <p:nvSpPr>
          <p:cNvPr id="9" name="Text 7"/>
          <p:cNvSpPr/>
          <p:nvPr/>
        </p:nvSpPr>
        <p:spPr>
          <a:xfrm>
            <a:off x="502920" y="1371600"/>
            <a:ext cx="9144000" cy="365760"/>
          </a:xfrm>
          <a:prstGeom prst="rect">
            <a:avLst/>
          </a:prstGeom>
          <a:noFill/>
          <a:ln/>
        </p:spPr>
        <p:txBody>
          <a:bodyPr wrap="square" lIns="0" tIns="0" rIns="0" bIns="0" rtlCol="0" anchor="ctr"/>
          <a:lstStyle/>
          <a:p>
            <a:pPr indent="0" marL="0">
              <a:buNone/>
            </a:pPr>
            <a:r>
              <a:rPr lang="en-US" sz="1350" b="1" spc="250" kern="0" dirty="0">
                <a:solidFill>
                  <a:srgbClr val="00B4D8"/>
                </a:solidFill>
                <a:latin typeface="Calibri" pitchFamily="34" charset="0"/>
                <a:ea typeface="Calibri" pitchFamily="34" charset="-122"/>
                <a:cs typeface="Calibri" pitchFamily="34" charset="-120"/>
              </a:rPr>
              <a:t>SN BOSE SUMMER INTERNSHIP 2026  ·  NIT SILCHAR</a:t>
            </a:r>
            <a:endParaRPr lang="en-US" sz="1350" dirty="0"/>
          </a:p>
        </p:txBody>
      </p:sp>
      <p:sp>
        <p:nvSpPr>
          <p:cNvPr id="10" name="Text 8"/>
          <p:cNvSpPr/>
          <p:nvPr/>
        </p:nvSpPr>
        <p:spPr>
          <a:xfrm>
            <a:off x="502920" y="1920240"/>
            <a:ext cx="9692640" cy="1737360"/>
          </a:xfrm>
          <a:prstGeom prst="rect">
            <a:avLst/>
          </a:prstGeom>
          <a:noFill/>
          <a:ln/>
        </p:spPr>
        <p:txBody>
          <a:bodyPr wrap="square" lIns="0" tIns="0" rIns="0" bIns="0" rtlCol="0" anchor="ctr"/>
          <a:lstStyle/>
          <a:p>
            <a:pPr indent="0" marL="0">
              <a:lnSpc>
                <a:spcPct val="105000"/>
              </a:lnSpc>
              <a:buNone/>
            </a:pPr>
            <a:r>
              <a:rPr lang="en-US" sz="4200" b="1" dirty="0">
                <a:solidFill>
                  <a:srgbClr val="FFFFFF"/>
                </a:solidFill>
                <a:latin typeface="Cambria" pitchFamily="34" charset="0"/>
                <a:ea typeface="Cambria" pitchFamily="34" charset="-122"/>
                <a:cs typeface="Cambria" pitchFamily="34" charset="-120"/>
              </a:rPr>
              <a:t>Kernel-Based Fault Classification</a:t>
            </a:r>
            <a:endParaRPr lang="en-US" sz="4200" dirty="0"/>
          </a:p>
          <a:p>
            <a:pPr indent="0" marL="0">
              <a:lnSpc>
                <a:spcPct val="105000"/>
              </a:lnSpc>
              <a:buNone/>
            </a:pPr>
            <a:r>
              <a:rPr lang="en-US" sz="4200" b="1" dirty="0">
                <a:solidFill>
                  <a:srgbClr val="FFFFFF"/>
                </a:solidFill>
                <a:latin typeface="Cambria" pitchFamily="34" charset="0"/>
                <a:ea typeface="Cambria" pitchFamily="34" charset="-122"/>
                <a:cs typeface="Cambria" pitchFamily="34" charset="-120"/>
              </a:rPr>
              <a:t>in Analog Circuits</a:t>
            </a:r>
            <a:endParaRPr lang="en-US" sz="4200" dirty="0"/>
          </a:p>
        </p:txBody>
      </p:sp>
      <p:sp>
        <p:nvSpPr>
          <p:cNvPr id="11" name="Text 9"/>
          <p:cNvSpPr/>
          <p:nvPr/>
        </p:nvSpPr>
        <p:spPr>
          <a:xfrm>
            <a:off x="502920" y="3657600"/>
            <a:ext cx="9509760" cy="822960"/>
          </a:xfrm>
          <a:prstGeom prst="rect">
            <a:avLst/>
          </a:prstGeom>
          <a:noFill/>
          <a:ln/>
        </p:spPr>
        <p:txBody>
          <a:bodyPr wrap="square" lIns="0" tIns="0" rIns="0" bIns="0" rtlCol="0" anchor="ctr"/>
          <a:lstStyle/>
          <a:p>
            <a:pPr indent="0" marL="0">
              <a:lnSpc>
                <a:spcPct val="120000"/>
              </a:lnSpc>
              <a:buNone/>
            </a:pPr>
            <a:r>
              <a:rPr lang="en-US" sz="1450" i="1" dirty="0">
                <a:solidFill>
                  <a:srgbClr val="C9D6E8"/>
                </a:solidFill>
                <a:latin typeface="Calibri" pitchFamily="34" charset="0"/>
                <a:ea typeface="Calibri" pitchFamily="34" charset="-122"/>
                <a:cs typeface="Calibri" pitchFamily="34" charset="-120"/>
              </a:rPr>
              <a:t>A physics-grounded machine learning pipeline for diagnosing Normal, Drift, Open, Short and</a:t>
            </a:r>
            <a:endParaRPr lang="en-US" sz="1450" dirty="0"/>
          </a:p>
          <a:p>
            <a:pPr indent="0" marL="0">
              <a:lnSpc>
                <a:spcPct val="120000"/>
              </a:lnSpc>
              <a:buNone/>
            </a:pPr>
            <a:r>
              <a:rPr lang="en-US" sz="1450" i="1" dirty="0">
                <a:solidFill>
                  <a:srgbClr val="C9D6E8"/>
                </a:solidFill>
                <a:latin typeface="Calibri" pitchFamily="34" charset="0"/>
                <a:ea typeface="Calibri" pitchFamily="34" charset="-122"/>
                <a:cs typeface="Calibri" pitchFamily="34" charset="-120"/>
              </a:rPr>
              <a:t>Noise faults across four analog circuit topologies — from LTspice simulation to a live web app.</a:t>
            </a:r>
            <a:endParaRPr lang="en-US" sz="1450" dirty="0"/>
          </a:p>
        </p:txBody>
      </p:sp>
      <p:sp>
        <p:nvSpPr>
          <p:cNvPr id="12" name="Shape 10"/>
          <p:cNvSpPr/>
          <p:nvPr/>
        </p:nvSpPr>
        <p:spPr>
          <a:xfrm>
            <a:off x="502920" y="4846320"/>
            <a:ext cx="2743200" cy="0"/>
          </a:xfrm>
          <a:prstGeom prst="line">
            <a:avLst/>
          </a:prstGeom>
          <a:noFill/>
          <a:ln w="25400">
            <a:solidFill>
              <a:srgbClr val="00B4D8"/>
            </a:solidFill>
            <a:prstDash val="solid"/>
          </a:ln>
        </p:spPr>
      </p:sp>
      <p:sp>
        <p:nvSpPr>
          <p:cNvPr id="13" name="Text 11"/>
          <p:cNvSpPr/>
          <p:nvPr/>
        </p:nvSpPr>
        <p:spPr>
          <a:xfrm>
            <a:off x="502920" y="5120640"/>
            <a:ext cx="8229600" cy="365760"/>
          </a:xfrm>
          <a:prstGeom prst="rect">
            <a:avLst/>
          </a:prstGeom>
          <a:noFill/>
          <a:ln/>
        </p:spPr>
        <p:txBody>
          <a:bodyPr wrap="square" lIns="0" tIns="0" rIns="0" bIns="0" rtlCol="0" anchor="ctr"/>
          <a:lstStyle/>
          <a:p>
            <a:pPr indent="0" marL="0">
              <a:buNone/>
            </a:pPr>
            <a:r>
              <a:rPr lang="en-US" sz="1400" dirty="0">
                <a:solidFill>
                  <a:srgbClr val="9FB1C8"/>
                </a:solidFill>
                <a:latin typeface="Calibri" pitchFamily="34" charset="0"/>
                <a:ea typeface="Calibri" pitchFamily="34" charset="-122"/>
                <a:cs typeface="Calibri" pitchFamily="34" charset="-120"/>
              </a:rPr>
              <a:t>Presented by  </a:t>
            </a:r>
            <a:pPr indent="0" marL="0">
              <a:buNone/>
            </a:pPr>
            <a:r>
              <a:rPr lang="en-US" sz="1400" b="1" dirty="0">
                <a:solidFill>
                  <a:srgbClr val="FFFFFF"/>
                </a:solidFill>
                <a:latin typeface="Calibri" pitchFamily="34" charset="0"/>
                <a:ea typeface="Calibri" pitchFamily="34" charset="-122"/>
                <a:cs typeface="Calibri" pitchFamily="34" charset="-120"/>
              </a:rPr>
              <a:t>Karan Kaushik</a:t>
            </a:r>
            <a:pPr indent="0" marL="0">
              <a:buNone/>
            </a:pPr>
            <a:r>
              <a:rPr lang="en-US" sz="1400" dirty="0">
                <a:solidFill>
                  <a:srgbClr val="9FB1C8"/>
                </a:solidFill>
                <a:latin typeface="Calibri" pitchFamily="34" charset="0"/>
                <a:ea typeface="Calibri" pitchFamily="34" charset="-122"/>
                <a:cs typeface="Calibri" pitchFamily="34" charset="-120"/>
              </a:rPr>
              <a:t>   |   B.Tech ECE, NIT Silchar</a:t>
            </a:r>
            <a:endParaRPr lang="en-US" sz="1400" dirty="0"/>
          </a:p>
        </p:txBody>
      </p:sp>
      <p:sp>
        <p:nvSpPr>
          <p:cNvPr id="14" name="Text 12"/>
          <p:cNvSpPr/>
          <p:nvPr/>
        </p:nvSpPr>
        <p:spPr>
          <a:xfrm>
            <a:off x="502920" y="5504688"/>
            <a:ext cx="8229600" cy="365760"/>
          </a:xfrm>
          <a:prstGeom prst="rect">
            <a:avLst/>
          </a:prstGeom>
          <a:noFill/>
          <a:ln/>
        </p:spPr>
        <p:txBody>
          <a:bodyPr wrap="square" lIns="0" tIns="0" rIns="0" bIns="0" rtlCol="0" anchor="ctr"/>
          <a:lstStyle/>
          <a:p>
            <a:pPr indent="0" marL="0">
              <a:buNone/>
            </a:pPr>
            <a:r>
              <a:rPr lang="en-US" sz="1400" dirty="0">
                <a:solidFill>
                  <a:srgbClr val="9FB1C8"/>
                </a:solidFill>
                <a:latin typeface="Calibri" pitchFamily="34" charset="0"/>
                <a:ea typeface="Calibri" pitchFamily="34" charset="-122"/>
                <a:cs typeface="Calibri" pitchFamily="34" charset="-120"/>
              </a:rPr>
              <a:t>Guided by  </a:t>
            </a:r>
            <a:pPr indent="0" marL="0">
              <a:buNone/>
            </a:pPr>
            <a:r>
              <a:rPr lang="en-US" sz="1400" b="1" dirty="0">
                <a:solidFill>
                  <a:srgbClr val="FFFFFF"/>
                </a:solidFill>
                <a:latin typeface="Calibri" pitchFamily="34" charset="0"/>
                <a:ea typeface="Calibri" pitchFamily="34" charset="-122"/>
                <a:cs typeface="Calibri" pitchFamily="34" charset="-120"/>
              </a:rPr>
              <a:t>Dr. Anish Kumar Saha</a:t>
            </a:r>
            <a:endParaRPr lang="en-US" sz="1400" dirty="0"/>
          </a:p>
        </p:txBody>
      </p:sp>
      <p:sp>
        <p:nvSpPr>
          <p:cNvPr id="15" name="Text 13"/>
          <p:cNvSpPr/>
          <p:nvPr/>
        </p:nvSpPr>
        <p:spPr>
          <a:xfrm>
            <a:off x="502920" y="5989320"/>
            <a:ext cx="3657600" cy="320040"/>
          </a:xfrm>
          <a:prstGeom prst="rect">
            <a:avLst/>
          </a:prstGeom>
          <a:noFill/>
          <a:ln/>
        </p:spPr>
        <p:txBody>
          <a:bodyPr wrap="square" lIns="0" tIns="0" rIns="0" bIns="0" rtlCol="0" anchor="ctr"/>
          <a:lstStyle/>
          <a:p>
            <a:pPr indent="0" marL="0">
              <a:buNone/>
            </a:pPr>
            <a:r>
              <a:rPr lang="en-US" sz="1050" i="1" dirty="0">
                <a:solidFill>
                  <a:srgbClr val="6B7A94"/>
                </a:solidFill>
                <a:latin typeface="Calibri" pitchFamily="34" charset="0"/>
                <a:ea typeface="Calibri" pitchFamily="34" charset="-122"/>
                <a:cs typeface="Calibri" pitchFamily="34" charset="-120"/>
              </a:rPr>
              <a:t>~60 min presentation</a:t>
            </a:r>
            <a:endParaRPr lang="en-US" sz="1050" dirty="0"/>
          </a:p>
        </p:txBody>
      </p:sp>
      <p:sp>
        <p:nvSpPr>
          <p:cNvPr id="16" name="Shape 14"/>
          <p:cNvSpPr/>
          <p:nvPr/>
        </p:nvSpPr>
        <p:spPr>
          <a:xfrm>
            <a:off x="9966960" y="3657600"/>
            <a:ext cx="1554480" cy="1554480"/>
          </a:xfrm>
          <a:prstGeom prst="ellipse">
            <a:avLst/>
          </a:prstGeom>
          <a:solidFill>
            <a:srgbClr val="132A4C"/>
          </a:solidFill>
          <a:ln/>
          <a:effectLst>
            <a:outerShdw sx="100000" sy="100000" kx="0" ky="0" algn="bl" rotWithShape="0" blurRad="114300" dist="38100" dir="2700000">
              <a:srgbClr val="0B1F3A">
                <a:alpha val="14000"/>
              </a:srgbClr>
            </a:outerShdw>
          </a:effectLst>
        </p:spPr>
      </p:sp>
      <p:pic>
        <p:nvPicPr>
          <p:cNvPr id="17" name="Image 0" descr="/sessions/blissful-zealous-babbage/mnt/outputs/ppt/icons/microchip_00B4D8.png">    </p:cNvPr>
          <p:cNvPicPr>
            <a:picLocks noChangeAspect="1"/>
          </p:cNvPicPr>
          <p:nvPr/>
        </p:nvPicPr>
        <p:blipFill>
          <a:blip r:embed="rId1"/>
          <a:stretch>
            <a:fillRect/>
          </a:stretch>
        </p:blipFill>
        <p:spPr>
          <a:xfrm>
            <a:off x="10176815" y="3867455"/>
            <a:ext cx="1134770" cy="113477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ROADMAP</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What We'll Cover — In Nine Parts</a:t>
            </a:r>
            <a:endParaRPr lang="en-US" sz="3000" dirty="0"/>
          </a:p>
        </p:txBody>
      </p:sp>
      <p:sp>
        <p:nvSpPr>
          <p:cNvPr id="4" name="Shape 2"/>
          <p:cNvSpPr/>
          <p:nvPr/>
        </p:nvSpPr>
        <p:spPr>
          <a:xfrm>
            <a:off x="502920" y="1737360"/>
            <a:ext cx="3429000" cy="1298448"/>
          </a:xfrm>
          <a:prstGeom prst="roundRect">
            <a:avLst>
              <a:gd name="adj" fmla="val 5634"/>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5" name="Shape 3"/>
          <p:cNvSpPr/>
          <p:nvPr/>
        </p:nvSpPr>
        <p:spPr>
          <a:xfrm>
            <a:off x="704088" y="1956816"/>
            <a:ext cx="512064" cy="512064"/>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6" name="Image 0" descr="/sessions/blissful-zealous-babbage/mnt/outputs/ppt/icons/bulb_00B4D8.png">    </p:cNvPr>
          <p:cNvPicPr>
            <a:picLocks noChangeAspect="1"/>
          </p:cNvPicPr>
          <p:nvPr/>
        </p:nvPicPr>
        <p:blipFill>
          <a:blip r:embed="rId1"/>
          <a:stretch>
            <a:fillRect/>
          </a:stretch>
        </p:blipFill>
        <p:spPr>
          <a:xfrm>
            <a:off x="773217" y="2025945"/>
            <a:ext cx="373807" cy="373807"/>
          </a:xfrm>
          <a:prstGeom prst="rect">
            <a:avLst/>
          </a:prstGeom>
        </p:spPr>
      </p:pic>
      <p:sp>
        <p:nvSpPr>
          <p:cNvPr id="7" name="Text 4"/>
          <p:cNvSpPr/>
          <p:nvPr/>
        </p:nvSpPr>
        <p:spPr>
          <a:xfrm>
            <a:off x="685800" y="2523744"/>
            <a:ext cx="3063240" cy="32004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1. Motivation &amp; Problem</a:t>
            </a:r>
            <a:endParaRPr lang="en-US" sz="1200" dirty="0"/>
          </a:p>
        </p:txBody>
      </p:sp>
      <p:sp>
        <p:nvSpPr>
          <p:cNvPr id="8" name="Text 5"/>
          <p:cNvSpPr/>
          <p:nvPr/>
        </p:nvSpPr>
        <p:spPr>
          <a:xfrm>
            <a:off x="685800" y="2788920"/>
            <a:ext cx="3063240" cy="457200"/>
          </a:xfrm>
          <a:prstGeom prst="rect">
            <a:avLst/>
          </a:prstGeom>
          <a:noFill/>
          <a:ln/>
        </p:spPr>
        <p:txBody>
          <a:bodyPr wrap="square" lIns="0" tIns="0" rIns="0" bIns="0" rtlCol="0" anchor="ctr"/>
          <a:lstStyle/>
          <a:p>
            <a:pPr indent="0" marL="0">
              <a:lnSpc>
                <a:spcPct val="110000"/>
              </a:lnSpc>
              <a:buNone/>
            </a:pPr>
            <a:r>
              <a:rPr lang="en-US" sz="870" dirty="0">
                <a:solidFill>
                  <a:srgbClr val="64748B"/>
                </a:solidFill>
                <a:latin typeface="Calibri" pitchFamily="34" charset="0"/>
                <a:ea typeface="Calibri" pitchFamily="34" charset="-122"/>
                <a:cs typeface="Calibri" pitchFamily="34" charset="-120"/>
              </a:rPr>
              <a:t>Why analog fault diagnosis matters, and why it's hard</a:t>
            </a:r>
            <a:endParaRPr lang="en-US" sz="870" dirty="0"/>
          </a:p>
        </p:txBody>
      </p:sp>
      <p:sp>
        <p:nvSpPr>
          <p:cNvPr id="9" name="Shape 6"/>
          <p:cNvSpPr/>
          <p:nvPr/>
        </p:nvSpPr>
        <p:spPr>
          <a:xfrm>
            <a:off x="4251960" y="1737360"/>
            <a:ext cx="3429000" cy="1298448"/>
          </a:xfrm>
          <a:prstGeom prst="roundRect">
            <a:avLst>
              <a:gd name="adj" fmla="val 5634"/>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0" name="Shape 7"/>
          <p:cNvSpPr/>
          <p:nvPr/>
        </p:nvSpPr>
        <p:spPr>
          <a:xfrm>
            <a:off x="4453128" y="1956816"/>
            <a:ext cx="512064" cy="512064"/>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1" name="Image 1" descr="/sessions/blissful-zealous-babbage/mnt/outputs/ppt/icons/sitemap_00B4D8.png">    </p:cNvPr>
          <p:cNvPicPr>
            <a:picLocks noChangeAspect="1"/>
          </p:cNvPicPr>
          <p:nvPr/>
        </p:nvPicPr>
        <p:blipFill>
          <a:blip r:embed="rId2"/>
          <a:stretch>
            <a:fillRect/>
          </a:stretch>
        </p:blipFill>
        <p:spPr>
          <a:xfrm>
            <a:off x="4522257" y="2025945"/>
            <a:ext cx="373807" cy="373807"/>
          </a:xfrm>
          <a:prstGeom prst="rect">
            <a:avLst/>
          </a:prstGeom>
        </p:spPr>
      </p:pic>
      <p:sp>
        <p:nvSpPr>
          <p:cNvPr id="12" name="Text 8"/>
          <p:cNvSpPr/>
          <p:nvPr/>
        </p:nvSpPr>
        <p:spPr>
          <a:xfrm>
            <a:off x="4434840" y="2523744"/>
            <a:ext cx="3063240" cy="32004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2. Circuits &amp; Fault Theory</a:t>
            </a:r>
            <a:endParaRPr lang="en-US" sz="1200" dirty="0"/>
          </a:p>
        </p:txBody>
      </p:sp>
      <p:sp>
        <p:nvSpPr>
          <p:cNvPr id="13" name="Text 9"/>
          <p:cNvSpPr/>
          <p:nvPr/>
        </p:nvSpPr>
        <p:spPr>
          <a:xfrm>
            <a:off x="4434840" y="2788920"/>
            <a:ext cx="3063240" cy="457200"/>
          </a:xfrm>
          <a:prstGeom prst="rect">
            <a:avLst/>
          </a:prstGeom>
          <a:noFill/>
          <a:ln/>
        </p:spPr>
        <p:txBody>
          <a:bodyPr wrap="square" lIns="0" tIns="0" rIns="0" bIns="0" rtlCol="0" anchor="ctr"/>
          <a:lstStyle/>
          <a:p>
            <a:pPr indent="0" marL="0">
              <a:lnSpc>
                <a:spcPct val="110000"/>
              </a:lnSpc>
              <a:buNone/>
            </a:pPr>
            <a:r>
              <a:rPr lang="en-US" sz="870" dirty="0">
                <a:solidFill>
                  <a:srgbClr val="64748B"/>
                </a:solidFill>
                <a:latin typeface="Calibri" pitchFamily="34" charset="0"/>
                <a:ea typeface="Calibri" pitchFamily="34" charset="-122"/>
                <a:cs typeface="Calibri" pitchFamily="34" charset="-120"/>
              </a:rPr>
              <a:t>The physics behind 4 topologies and 5 fault types</a:t>
            </a:r>
            <a:endParaRPr lang="en-US" sz="870" dirty="0"/>
          </a:p>
        </p:txBody>
      </p:sp>
      <p:sp>
        <p:nvSpPr>
          <p:cNvPr id="14" name="Shape 10"/>
          <p:cNvSpPr/>
          <p:nvPr/>
        </p:nvSpPr>
        <p:spPr>
          <a:xfrm>
            <a:off x="8001000" y="1737360"/>
            <a:ext cx="3429000" cy="1298448"/>
          </a:xfrm>
          <a:prstGeom prst="roundRect">
            <a:avLst>
              <a:gd name="adj" fmla="val 5634"/>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5" name="Shape 11"/>
          <p:cNvSpPr/>
          <p:nvPr/>
        </p:nvSpPr>
        <p:spPr>
          <a:xfrm>
            <a:off x="8202168" y="1956816"/>
            <a:ext cx="512064" cy="512064"/>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6" name="Image 2" descr="/sessions/blissful-zealous-babbage/mnt/outputs/ppt/icons/cogs_00B4D8.png">    </p:cNvPr>
          <p:cNvPicPr>
            <a:picLocks noChangeAspect="1"/>
          </p:cNvPicPr>
          <p:nvPr/>
        </p:nvPicPr>
        <p:blipFill>
          <a:blip r:embed="rId3"/>
          <a:stretch>
            <a:fillRect/>
          </a:stretch>
        </p:blipFill>
        <p:spPr>
          <a:xfrm>
            <a:off x="8271297" y="2025945"/>
            <a:ext cx="373807" cy="373807"/>
          </a:xfrm>
          <a:prstGeom prst="rect">
            <a:avLst/>
          </a:prstGeom>
        </p:spPr>
      </p:pic>
      <p:sp>
        <p:nvSpPr>
          <p:cNvPr id="17" name="Text 12"/>
          <p:cNvSpPr/>
          <p:nvPr/>
        </p:nvSpPr>
        <p:spPr>
          <a:xfrm>
            <a:off x="8183880" y="2523744"/>
            <a:ext cx="3063240" cy="32004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3. Data Pipeline</a:t>
            </a:r>
            <a:endParaRPr lang="en-US" sz="1200" dirty="0"/>
          </a:p>
        </p:txBody>
      </p:sp>
      <p:sp>
        <p:nvSpPr>
          <p:cNvPr id="18" name="Text 13"/>
          <p:cNvSpPr/>
          <p:nvPr/>
        </p:nvSpPr>
        <p:spPr>
          <a:xfrm>
            <a:off x="8183880" y="2788920"/>
            <a:ext cx="3063240" cy="457200"/>
          </a:xfrm>
          <a:prstGeom prst="rect">
            <a:avLst/>
          </a:prstGeom>
          <a:noFill/>
          <a:ln/>
        </p:spPr>
        <p:txBody>
          <a:bodyPr wrap="square" lIns="0" tIns="0" rIns="0" bIns="0" rtlCol="0" anchor="ctr"/>
          <a:lstStyle/>
          <a:p>
            <a:pPr indent="0" marL="0">
              <a:lnSpc>
                <a:spcPct val="110000"/>
              </a:lnSpc>
              <a:buNone/>
            </a:pPr>
            <a:r>
              <a:rPr lang="en-US" sz="870" dirty="0">
                <a:solidFill>
                  <a:srgbClr val="64748B"/>
                </a:solidFill>
                <a:latin typeface="Calibri" pitchFamily="34" charset="0"/>
                <a:ea typeface="Calibri" pitchFamily="34" charset="-122"/>
                <a:cs typeface="Calibri" pitchFamily="34" charset="-120"/>
              </a:rPr>
              <a:t>LTspice sweeps that generate real, physics-based training data</a:t>
            </a:r>
            <a:endParaRPr lang="en-US" sz="870" dirty="0"/>
          </a:p>
        </p:txBody>
      </p:sp>
      <p:sp>
        <p:nvSpPr>
          <p:cNvPr id="19" name="Shape 14"/>
          <p:cNvSpPr/>
          <p:nvPr/>
        </p:nvSpPr>
        <p:spPr>
          <a:xfrm>
            <a:off x="502920" y="3182112"/>
            <a:ext cx="3429000" cy="1298448"/>
          </a:xfrm>
          <a:prstGeom prst="roundRect">
            <a:avLst>
              <a:gd name="adj" fmla="val 5634"/>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20" name="Shape 15"/>
          <p:cNvSpPr/>
          <p:nvPr/>
        </p:nvSpPr>
        <p:spPr>
          <a:xfrm>
            <a:off x="704088" y="3401568"/>
            <a:ext cx="512064" cy="512064"/>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21" name="Image 3" descr="/sessions/blissful-zealous-babbage/mnt/outputs/ppt/icons/puzzle_00B4D8.png">    </p:cNvPr>
          <p:cNvPicPr>
            <a:picLocks noChangeAspect="1"/>
          </p:cNvPicPr>
          <p:nvPr/>
        </p:nvPicPr>
        <p:blipFill>
          <a:blip r:embed="rId4"/>
          <a:stretch>
            <a:fillRect/>
          </a:stretch>
        </p:blipFill>
        <p:spPr>
          <a:xfrm>
            <a:off x="773217" y="3470697"/>
            <a:ext cx="373807" cy="373807"/>
          </a:xfrm>
          <a:prstGeom prst="rect">
            <a:avLst/>
          </a:prstGeom>
        </p:spPr>
      </p:pic>
      <p:sp>
        <p:nvSpPr>
          <p:cNvPr id="22" name="Text 16"/>
          <p:cNvSpPr/>
          <p:nvPr/>
        </p:nvSpPr>
        <p:spPr>
          <a:xfrm>
            <a:off x="685800" y="3968496"/>
            <a:ext cx="3063240" cy="32004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4. Feature Engineering</a:t>
            </a:r>
            <a:endParaRPr lang="en-US" sz="1200" dirty="0"/>
          </a:p>
        </p:txBody>
      </p:sp>
      <p:sp>
        <p:nvSpPr>
          <p:cNvPr id="23" name="Text 17"/>
          <p:cNvSpPr/>
          <p:nvPr/>
        </p:nvSpPr>
        <p:spPr>
          <a:xfrm>
            <a:off x="685800" y="4233672"/>
            <a:ext cx="3063240" cy="457200"/>
          </a:xfrm>
          <a:prstGeom prst="rect">
            <a:avLst/>
          </a:prstGeom>
          <a:noFill/>
          <a:ln/>
        </p:spPr>
        <p:txBody>
          <a:bodyPr wrap="square" lIns="0" tIns="0" rIns="0" bIns="0" rtlCol="0" anchor="ctr"/>
          <a:lstStyle/>
          <a:p>
            <a:pPr indent="0" marL="0">
              <a:lnSpc>
                <a:spcPct val="110000"/>
              </a:lnSpc>
              <a:buNone/>
            </a:pPr>
            <a:r>
              <a:rPr lang="en-US" sz="870" dirty="0">
                <a:solidFill>
                  <a:srgbClr val="64748B"/>
                </a:solidFill>
                <a:latin typeface="Calibri" pitchFamily="34" charset="0"/>
                <a:ea typeface="Calibri" pitchFamily="34" charset="-122"/>
                <a:cs typeface="Calibri" pitchFamily="34" charset="-120"/>
              </a:rPr>
              <a:t>The formulas turning waveforms into 17 numbers</a:t>
            </a:r>
            <a:endParaRPr lang="en-US" sz="870" dirty="0"/>
          </a:p>
        </p:txBody>
      </p:sp>
      <p:sp>
        <p:nvSpPr>
          <p:cNvPr id="24" name="Shape 18"/>
          <p:cNvSpPr/>
          <p:nvPr/>
        </p:nvSpPr>
        <p:spPr>
          <a:xfrm>
            <a:off x="4251960" y="3182112"/>
            <a:ext cx="3429000" cy="1298448"/>
          </a:xfrm>
          <a:prstGeom prst="roundRect">
            <a:avLst>
              <a:gd name="adj" fmla="val 5634"/>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25" name="Shape 19"/>
          <p:cNvSpPr/>
          <p:nvPr/>
        </p:nvSpPr>
        <p:spPr>
          <a:xfrm>
            <a:off x="4453128" y="3401568"/>
            <a:ext cx="512064" cy="512064"/>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26" name="Image 4" descr="/sessions/blissful-zealous-babbage/mnt/outputs/ppt/icons/brain_00B4D8.png">    </p:cNvPr>
          <p:cNvPicPr>
            <a:picLocks noChangeAspect="1"/>
          </p:cNvPicPr>
          <p:nvPr/>
        </p:nvPicPr>
        <p:blipFill>
          <a:blip r:embed="rId5"/>
          <a:stretch>
            <a:fillRect/>
          </a:stretch>
        </p:blipFill>
        <p:spPr>
          <a:xfrm>
            <a:off x="4522257" y="3470697"/>
            <a:ext cx="373807" cy="373807"/>
          </a:xfrm>
          <a:prstGeom prst="rect">
            <a:avLst/>
          </a:prstGeom>
        </p:spPr>
      </p:pic>
      <p:sp>
        <p:nvSpPr>
          <p:cNvPr id="27" name="Text 20"/>
          <p:cNvSpPr/>
          <p:nvPr/>
        </p:nvSpPr>
        <p:spPr>
          <a:xfrm>
            <a:off x="4434840" y="3968496"/>
            <a:ext cx="3063240" cy="32004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5. Machine Learning</a:t>
            </a:r>
            <a:endParaRPr lang="en-US" sz="1200" dirty="0"/>
          </a:p>
        </p:txBody>
      </p:sp>
      <p:sp>
        <p:nvSpPr>
          <p:cNvPr id="28" name="Text 21"/>
          <p:cNvSpPr/>
          <p:nvPr/>
        </p:nvSpPr>
        <p:spPr>
          <a:xfrm>
            <a:off x="4434840" y="4233672"/>
            <a:ext cx="3063240" cy="457200"/>
          </a:xfrm>
          <a:prstGeom prst="rect">
            <a:avLst/>
          </a:prstGeom>
          <a:noFill/>
          <a:ln/>
        </p:spPr>
        <p:txBody>
          <a:bodyPr wrap="square" lIns="0" tIns="0" rIns="0" bIns="0" rtlCol="0" anchor="ctr"/>
          <a:lstStyle/>
          <a:p>
            <a:pPr indent="0" marL="0">
              <a:lnSpc>
                <a:spcPct val="110000"/>
              </a:lnSpc>
              <a:buNone/>
            </a:pPr>
            <a:r>
              <a:rPr lang="en-US" sz="870" dirty="0">
                <a:solidFill>
                  <a:srgbClr val="64748B"/>
                </a:solidFill>
                <a:latin typeface="Calibri" pitchFamily="34" charset="0"/>
                <a:ea typeface="Calibri" pitchFamily="34" charset="-122"/>
                <a:cs typeface="Calibri" pitchFamily="34" charset="-120"/>
              </a:rPr>
              <a:t>SVM theory, kernels, GridSearchCV, cross-validation</a:t>
            </a:r>
            <a:endParaRPr lang="en-US" sz="870" dirty="0"/>
          </a:p>
        </p:txBody>
      </p:sp>
      <p:sp>
        <p:nvSpPr>
          <p:cNvPr id="29" name="Shape 22"/>
          <p:cNvSpPr/>
          <p:nvPr/>
        </p:nvSpPr>
        <p:spPr>
          <a:xfrm>
            <a:off x="8001000" y="3182112"/>
            <a:ext cx="3429000" cy="1298448"/>
          </a:xfrm>
          <a:prstGeom prst="roundRect">
            <a:avLst>
              <a:gd name="adj" fmla="val 5634"/>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30" name="Shape 23"/>
          <p:cNvSpPr/>
          <p:nvPr/>
        </p:nvSpPr>
        <p:spPr>
          <a:xfrm>
            <a:off x="8202168" y="3401568"/>
            <a:ext cx="512064" cy="512064"/>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31" name="Image 5" descr="/sessions/blissful-zealous-babbage/mnt/outputs/ppt/icons/tools_00B4D8.png">    </p:cNvPr>
          <p:cNvPicPr>
            <a:picLocks noChangeAspect="1"/>
          </p:cNvPicPr>
          <p:nvPr/>
        </p:nvPicPr>
        <p:blipFill>
          <a:blip r:embed="rId6"/>
          <a:stretch>
            <a:fillRect/>
          </a:stretch>
        </p:blipFill>
        <p:spPr>
          <a:xfrm>
            <a:off x="8271297" y="3470697"/>
            <a:ext cx="373807" cy="373807"/>
          </a:xfrm>
          <a:prstGeom prst="rect">
            <a:avLst/>
          </a:prstGeom>
        </p:spPr>
      </p:pic>
      <p:sp>
        <p:nvSpPr>
          <p:cNvPr id="32" name="Text 24"/>
          <p:cNvSpPr/>
          <p:nvPr/>
        </p:nvSpPr>
        <p:spPr>
          <a:xfrm>
            <a:off x="8183880" y="3968496"/>
            <a:ext cx="3063240" cy="32004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6. The Smart Fixes</a:t>
            </a:r>
            <a:endParaRPr lang="en-US" sz="1200" dirty="0"/>
          </a:p>
        </p:txBody>
      </p:sp>
      <p:sp>
        <p:nvSpPr>
          <p:cNvPr id="33" name="Text 25"/>
          <p:cNvSpPr/>
          <p:nvPr/>
        </p:nvSpPr>
        <p:spPr>
          <a:xfrm>
            <a:off x="8183880" y="4233672"/>
            <a:ext cx="3063240" cy="457200"/>
          </a:xfrm>
          <a:prstGeom prst="rect">
            <a:avLst/>
          </a:prstGeom>
          <a:noFill/>
          <a:ln/>
        </p:spPr>
        <p:txBody>
          <a:bodyPr wrap="square" lIns="0" tIns="0" rIns="0" bIns="0" rtlCol="0" anchor="ctr"/>
          <a:lstStyle/>
          <a:p>
            <a:pPr indent="0" marL="0">
              <a:lnSpc>
                <a:spcPct val="110000"/>
              </a:lnSpc>
              <a:buNone/>
            </a:pPr>
            <a:r>
              <a:rPr lang="en-US" sz="870" dirty="0">
                <a:solidFill>
                  <a:srgbClr val="64748B"/>
                </a:solidFill>
                <a:latin typeface="Calibri" pitchFamily="34" charset="0"/>
                <a:ea typeface="Calibri" pitchFamily="34" charset="-122"/>
                <a:cs typeface="Calibri" pitchFamily="34" charset="-120"/>
              </a:rPr>
              <a:t>Two engineering decisions that pushed accuracy higher</a:t>
            </a:r>
            <a:endParaRPr lang="en-US" sz="870" dirty="0"/>
          </a:p>
        </p:txBody>
      </p:sp>
      <p:sp>
        <p:nvSpPr>
          <p:cNvPr id="34" name="Shape 26"/>
          <p:cNvSpPr/>
          <p:nvPr/>
        </p:nvSpPr>
        <p:spPr>
          <a:xfrm>
            <a:off x="502920" y="4626864"/>
            <a:ext cx="3429000" cy="1298448"/>
          </a:xfrm>
          <a:prstGeom prst="roundRect">
            <a:avLst>
              <a:gd name="adj" fmla="val 5634"/>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35" name="Shape 27"/>
          <p:cNvSpPr/>
          <p:nvPr/>
        </p:nvSpPr>
        <p:spPr>
          <a:xfrm>
            <a:off x="704088" y="4846320"/>
            <a:ext cx="512064" cy="512064"/>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36" name="Image 6" descr="/sessions/blissful-zealous-babbage/mnt/outputs/ppt/icons/chartbar_00B4D8.png">    </p:cNvPr>
          <p:cNvPicPr>
            <a:picLocks noChangeAspect="1"/>
          </p:cNvPicPr>
          <p:nvPr/>
        </p:nvPicPr>
        <p:blipFill>
          <a:blip r:embed="rId7"/>
          <a:stretch>
            <a:fillRect/>
          </a:stretch>
        </p:blipFill>
        <p:spPr>
          <a:xfrm>
            <a:off x="773217" y="4915449"/>
            <a:ext cx="373807" cy="373807"/>
          </a:xfrm>
          <a:prstGeom prst="rect">
            <a:avLst/>
          </a:prstGeom>
        </p:spPr>
      </p:pic>
      <p:sp>
        <p:nvSpPr>
          <p:cNvPr id="37" name="Text 28"/>
          <p:cNvSpPr/>
          <p:nvPr/>
        </p:nvSpPr>
        <p:spPr>
          <a:xfrm>
            <a:off x="685800" y="5413248"/>
            <a:ext cx="3063240" cy="32004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7. Results &amp; Deep Analysis</a:t>
            </a:r>
            <a:endParaRPr lang="en-US" sz="1200" dirty="0"/>
          </a:p>
        </p:txBody>
      </p:sp>
      <p:sp>
        <p:nvSpPr>
          <p:cNvPr id="38" name="Text 29"/>
          <p:cNvSpPr/>
          <p:nvPr/>
        </p:nvSpPr>
        <p:spPr>
          <a:xfrm>
            <a:off x="685800" y="5678424"/>
            <a:ext cx="3063240" cy="457200"/>
          </a:xfrm>
          <a:prstGeom prst="rect">
            <a:avLst/>
          </a:prstGeom>
          <a:noFill/>
          <a:ln/>
        </p:spPr>
        <p:txBody>
          <a:bodyPr wrap="square" lIns="0" tIns="0" rIns="0" bIns="0" rtlCol="0" anchor="ctr"/>
          <a:lstStyle/>
          <a:p>
            <a:pPr indent="0" marL="0">
              <a:lnSpc>
                <a:spcPct val="110000"/>
              </a:lnSpc>
              <a:buNone/>
            </a:pPr>
            <a:r>
              <a:rPr lang="en-US" sz="870" dirty="0">
                <a:solidFill>
                  <a:srgbClr val="64748B"/>
                </a:solidFill>
                <a:latin typeface="Calibri" pitchFamily="34" charset="0"/>
                <a:ea typeface="Calibri" pitchFamily="34" charset="-122"/>
                <a:cs typeface="Calibri" pitchFamily="34" charset="-120"/>
              </a:rPr>
              <a:t>78.43% accuracy — and exactly where and why it fails</a:t>
            </a:r>
            <a:endParaRPr lang="en-US" sz="870" dirty="0"/>
          </a:p>
        </p:txBody>
      </p:sp>
      <p:sp>
        <p:nvSpPr>
          <p:cNvPr id="39" name="Shape 30"/>
          <p:cNvSpPr/>
          <p:nvPr/>
        </p:nvSpPr>
        <p:spPr>
          <a:xfrm>
            <a:off x="4251960" y="4626864"/>
            <a:ext cx="3429000" cy="1298448"/>
          </a:xfrm>
          <a:prstGeom prst="roundRect">
            <a:avLst>
              <a:gd name="adj" fmla="val 5634"/>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40" name="Shape 31"/>
          <p:cNvSpPr/>
          <p:nvPr/>
        </p:nvSpPr>
        <p:spPr>
          <a:xfrm>
            <a:off x="4453128" y="4846320"/>
            <a:ext cx="512064" cy="512064"/>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41" name="Image 7" descr="/sessions/blissful-zealous-babbage/mnt/outputs/ppt/icons/warn_00B4D8.png">    </p:cNvPr>
          <p:cNvPicPr>
            <a:picLocks noChangeAspect="1"/>
          </p:cNvPicPr>
          <p:nvPr/>
        </p:nvPicPr>
        <p:blipFill>
          <a:blip r:embed="rId8"/>
          <a:stretch>
            <a:fillRect/>
          </a:stretch>
        </p:blipFill>
        <p:spPr>
          <a:xfrm>
            <a:off x="4522257" y="4915449"/>
            <a:ext cx="373807" cy="373807"/>
          </a:xfrm>
          <a:prstGeom prst="rect">
            <a:avLst/>
          </a:prstGeom>
        </p:spPr>
      </p:pic>
      <p:sp>
        <p:nvSpPr>
          <p:cNvPr id="42" name="Text 32"/>
          <p:cNvSpPr/>
          <p:nvPr/>
        </p:nvSpPr>
        <p:spPr>
          <a:xfrm>
            <a:off x="4434840" y="5413248"/>
            <a:ext cx="3063240" cy="32004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8. Key Finding &amp; Limits</a:t>
            </a:r>
            <a:endParaRPr lang="en-US" sz="1200" dirty="0"/>
          </a:p>
        </p:txBody>
      </p:sp>
      <p:sp>
        <p:nvSpPr>
          <p:cNvPr id="43" name="Text 33"/>
          <p:cNvSpPr/>
          <p:nvPr/>
        </p:nvSpPr>
        <p:spPr>
          <a:xfrm>
            <a:off x="4434840" y="5678424"/>
            <a:ext cx="3063240" cy="457200"/>
          </a:xfrm>
          <a:prstGeom prst="rect">
            <a:avLst/>
          </a:prstGeom>
          <a:noFill/>
          <a:ln/>
        </p:spPr>
        <p:txBody>
          <a:bodyPr wrap="square" lIns="0" tIns="0" rIns="0" bIns="0" rtlCol="0" anchor="ctr"/>
          <a:lstStyle/>
          <a:p>
            <a:pPr indent="0" marL="0">
              <a:lnSpc>
                <a:spcPct val="110000"/>
              </a:lnSpc>
              <a:buNone/>
            </a:pPr>
            <a:r>
              <a:rPr lang="en-US" sz="870" dirty="0">
                <a:solidFill>
                  <a:srgbClr val="64748B"/>
                </a:solidFill>
                <a:latin typeface="Calibri" pitchFamily="34" charset="0"/>
                <a:ea typeface="Calibri" pitchFamily="34" charset="-122"/>
                <a:cs typeface="Calibri" pitchFamily="34" charset="-120"/>
              </a:rPr>
              <a:t>A hard lesson about trusting your own accuracy numbers</a:t>
            </a:r>
            <a:endParaRPr lang="en-US" sz="870" dirty="0"/>
          </a:p>
        </p:txBody>
      </p:sp>
      <p:sp>
        <p:nvSpPr>
          <p:cNvPr id="44" name="Shape 34"/>
          <p:cNvSpPr/>
          <p:nvPr/>
        </p:nvSpPr>
        <p:spPr>
          <a:xfrm>
            <a:off x="8001000" y="4626864"/>
            <a:ext cx="3429000" cy="1298448"/>
          </a:xfrm>
          <a:prstGeom prst="roundRect">
            <a:avLst>
              <a:gd name="adj" fmla="val 5634"/>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45" name="Shape 35"/>
          <p:cNvSpPr/>
          <p:nvPr/>
        </p:nvSpPr>
        <p:spPr>
          <a:xfrm>
            <a:off x="8202168" y="4846320"/>
            <a:ext cx="512064" cy="512064"/>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46" name="Image 8" descr="/sessions/blissful-zealous-babbage/mnt/outputs/ppt/icons/rocket_00B4D8.png">    </p:cNvPr>
          <p:cNvPicPr>
            <a:picLocks noChangeAspect="1"/>
          </p:cNvPicPr>
          <p:nvPr/>
        </p:nvPicPr>
        <p:blipFill>
          <a:blip r:embed="rId9"/>
          <a:stretch>
            <a:fillRect/>
          </a:stretch>
        </p:blipFill>
        <p:spPr>
          <a:xfrm>
            <a:off x="8271297" y="4915449"/>
            <a:ext cx="373807" cy="373807"/>
          </a:xfrm>
          <a:prstGeom prst="rect">
            <a:avLst/>
          </a:prstGeom>
        </p:spPr>
      </p:pic>
      <p:sp>
        <p:nvSpPr>
          <p:cNvPr id="47" name="Text 36"/>
          <p:cNvSpPr/>
          <p:nvPr/>
        </p:nvSpPr>
        <p:spPr>
          <a:xfrm>
            <a:off x="8183880" y="5413248"/>
            <a:ext cx="3063240" cy="320040"/>
          </a:xfrm>
          <a:prstGeom prst="rect">
            <a:avLst/>
          </a:prstGeom>
          <a:noFill/>
          <a:ln/>
        </p:spPr>
        <p:txBody>
          <a:bodyPr wrap="square" lIns="0" tIns="0" rIns="0" bIns="0" rtlCol="0" anchor="ctr"/>
          <a:lstStyle/>
          <a:p>
            <a:pPr indent="0" marL="0">
              <a:buNone/>
            </a:pPr>
            <a:r>
              <a:rPr lang="en-US" sz="1200" b="1" dirty="0">
                <a:solidFill>
                  <a:srgbClr val="0B1F3A"/>
                </a:solidFill>
                <a:latin typeface="Calibri" pitchFamily="34" charset="0"/>
                <a:ea typeface="Calibri" pitchFamily="34" charset="-122"/>
                <a:cs typeface="Calibri" pitchFamily="34" charset="-120"/>
              </a:rPr>
              <a:t>9. Demo &amp; Conclusion</a:t>
            </a:r>
            <a:endParaRPr lang="en-US" sz="1200" dirty="0"/>
          </a:p>
        </p:txBody>
      </p:sp>
      <p:sp>
        <p:nvSpPr>
          <p:cNvPr id="48" name="Text 37"/>
          <p:cNvSpPr/>
          <p:nvPr/>
        </p:nvSpPr>
        <p:spPr>
          <a:xfrm>
            <a:off x="8183880" y="5678424"/>
            <a:ext cx="3063240" cy="457200"/>
          </a:xfrm>
          <a:prstGeom prst="rect">
            <a:avLst/>
          </a:prstGeom>
          <a:noFill/>
          <a:ln/>
        </p:spPr>
        <p:txBody>
          <a:bodyPr wrap="square" lIns="0" tIns="0" rIns="0" bIns="0" rtlCol="0" anchor="ctr"/>
          <a:lstStyle/>
          <a:p>
            <a:pPr indent="0" marL="0">
              <a:lnSpc>
                <a:spcPct val="110000"/>
              </a:lnSpc>
              <a:buNone/>
            </a:pPr>
            <a:r>
              <a:rPr lang="en-US" sz="870" dirty="0">
                <a:solidFill>
                  <a:srgbClr val="64748B"/>
                </a:solidFill>
                <a:latin typeface="Calibri" pitchFamily="34" charset="0"/>
                <a:ea typeface="Calibri" pitchFamily="34" charset="-122"/>
                <a:cs typeface="Calibri" pitchFamily="34" charset="-120"/>
              </a:rPr>
              <a:t>The live app, what's next, and a wrap-up</a:t>
            </a:r>
            <a:endParaRPr lang="en-US" sz="870" dirty="0"/>
          </a:p>
        </p:txBody>
      </p:sp>
      <p:sp>
        <p:nvSpPr>
          <p:cNvPr id="49" name="Text 38"/>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50" name="Text 39"/>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1. MOTIVATION</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Why Fault Classification Matters</a:t>
            </a:r>
            <a:endParaRPr lang="en-US" sz="3000" dirty="0"/>
          </a:p>
        </p:txBody>
      </p:sp>
      <p:sp>
        <p:nvSpPr>
          <p:cNvPr id="4" name="Shape 2"/>
          <p:cNvSpPr/>
          <p:nvPr/>
        </p:nvSpPr>
        <p:spPr>
          <a:xfrm>
            <a:off x="502920" y="1783080"/>
            <a:ext cx="566928" cy="566928"/>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5" name="Image 0" descr="/sessions/blissful-zealous-babbage/mnt/outputs/ppt/icons/signal_00B4D8.png">    </p:cNvPr>
          <p:cNvPicPr>
            <a:picLocks noChangeAspect="1"/>
          </p:cNvPicPr>
          <p:nvPr/>
        </p:nvPicPr>
        <p:blipFill>
          <a:blip r:embed="rId1"/>
          <a:stretch>
            <a:fillRect/>
          </a:stretch>
        </p:blipFill>
        <p:spPr>
          <a:xfrm>
            <a:off x="579455" y="1859615"/>
            <a:ext cx="413857" cy="413857"/>
          </a:xfrm>
          <a:prstGeom prst="rect">
            <a:avLst/>
          </a:prstGeom>
        </p:spPr>
      </p:pic>
      <p:sp>
        <p:nvSpPr>
          <p:cNvPr id="6" name="Text 3"/>
          <p:cNvSpPr/>
          <p:nvPr/>
        </p:nvSpPr>
        <p:spPr>
          <a:xfrm>
            <a:off x="1280160" y="1755648"/>
            <a:ext cx="5852160" cy="320040"/>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Analog circuits are everywhere</a:t>
            </a:r>
            <a:endParaRPr lang="en-US" sz="1450" dirty="0"/>
          </a:p>
        </p:txBody>
      </p:sp>
      <p:sp>
        <p:nvSpPr>
          <p:cNvPr id="7" name="Text 4"/>
          <p:cNvSpPr/>
          <p:nvPr/>
        </p:nvSpPr>
        <p:spPr>
          <a:xfrm>
            <a:off x="1280160" y="2075688"/>
            <a:ext cx="5943600" cy="640080"/>
          </a:xfrm>
          <a:prstGeom prst="rect">
            <a:avLst/>
          </a:prstGeom>
          <a:noFill/>
          <a:ln/>
        </p:spPr>
        <p:txBody>
          <a:bodyPr wrap="square" lIns="0" tIns="0" rIns="0" bIns="0" rtlCol="0" anchor="ctr"/>
          <a:lstStyle/>
          <a:p>
            <a:pPr indent="0" marL="0">
              <a:lnSpc>
                <a:spcPct val="118000"/>
              </a:lnSpc>
              <a:buNone/>
            </a:pPr>
            <a:r>
              <a:rPr lang="en-US" sz="1100" dirty="0">
                <a:solidFill>
                  <a:srgbClr val="64748B"/>
                </a:solidFill>
                <a:latin typeface="Calibri" pitchFamily="34" charset="0"/>
                <a:ea typeface="Calibri" pitchFamily="34" charset="-122"/>
                <a:cs typeface="Calibri" pitchFamily="34" charset="-120"/>
              </a:rPr>
              <a:t>Filters, power supplies, sensor front-ends and communication links all rely on analog stages that quietly degrade before they fail outright.</a:t>
            </a:r>
            <a:endParaRPr lang="en-US" sz="1100" dirty="0"/>
          </a:p>
        </p:txBody>
      </p:sp>
      <p:sp>
        <p:nvSpPr>
          <p:cNvPr id="8" name="Shape 5"/>
          <p:cNvSpPr/>
          <p:nvPr/>
        </p:nvSpPr>
        <p:spPr>
          <a:xfrm>
            <a:off x="502920" y="2807208"/>
            <a:ext cx="566928" cy="566928"/>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9" name="Image 1" descr="/sessions/blissful-zealous-babbage/mnt/outputs/ppt/icons/search_00B4D8.png">    </p:cNvPr>
          <p:cNvPicPr>
            <a:picLocks noChangeAspect="1"/>
          </p:cNvPicPr>
          <p:nvPr/>
        </p:nvPicPr>
        <p:blipFill>
          <a:blip r:embed="rId2"/>
          <a:stretch>
            <a:fillRect/>
          </a:stretch>
        </p:blipFill>
        <p:spPr>
          <a:xfrm>
            <a:off x="579455" y="2883743"/>
            <a:ext cx="413857" cy="413857"/>
          </a:xfrm>
          <a:prstGeom prst="rect">
            <a:avLst/>
          </a:prstGeom>
        </p:spPr>
      </p:pic>
      <p:sp>
        <p:nvSpPr>
          <p:cNvPr id="10" name="Text 6"/>
          <p:cNvSpPr/>
          <p:nvPr/>
        </p:nvSpPr>
        <p:spPr>
          <a:xfrm>
            <a:off x="1280160" y="2779776"/>
            <a:ext cx="5852160" cy="320040"/>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Manual diagnosis doesn't scale</a:t>
            </a:r>
            <a:endParaRPr lang="en-US" sz="1450" dirty="0"/>
          </a:p>
        </p:txBody>
      </p:sp>
      <p:sp>
        <p:nvSpPr>
          <p:cNvPr id="11" name="Text 7"/>
          <p:cNvSpPr/>
          <p:nvPr/>
        </p:nvSpPr>
        <p:spPr>
          <a:xfrm>
            <a:off x="1280160" y="3099816"/>
            <a:ext cx="5943600" cy="640080"/>
          </a:xfrm>
          <a:prstGeom prst="rect">
            <a:avLst/>
          </a:prstGeom>
          <a:noFill/>
          <a:ln/>
        </p:spPr>
        <p:txBody>
          <a:bodyPr wrap="square" lIns="0" tIns="0" rIns="0" bIns="0" rtlCol="0" anchor="ctr"/>
          <a:lstStyle/>
          <a:p>
            <a:pPr indent="0" marL="0">
              <a:lnSpc>
                <a:spcPct val="118000"/>
              </a:lnSpc>
              <a:buNone/>
            </a:pPr>
            <a:r>
              <a:rPr lang="en-US" sz="1100" dirty="0">
                <a:solidFill>
                  <a:srgbClr val="64748B"/>
                </a:solidFill>
                <a:latin typeface="Calibri" pitchFamily="34" charset="0"/>
                <a:ea typeface="Calibri" pitchFamily="34" charset="-122"/>
                <a:cs typeface="Calibri" pitchFamily="34" charset="-120"/>
              </a:rPr>
              <a:t>Reading an oscilloscope trace to guess whether a fault is drift, noise, or a bad connection takes an expert and doesn't scale to thousands of boards.</a:t>
            </a:r>
            <a:endParaRPr lang="en-US" sz="1100" dirty="0"/>
          </a:p>
        </p:txBody>
      </p:sp>
      <p:sp>
        <p:nvSpPr>
          <p:cNvPr id="12" name="Shape 8"/>
          <p:cNvSpPr/>
          <p:nvPr/>
        </p:nvSpPr>
        <p:spPr>
          <a:xfrm>
            <a:off x="502920" y="3831336"/>
            <a:ext cx="566928" cy="566928"/>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3" name="Image 2" descr="/sessions/blissful-zealous-babbage/mnt/outputs/ppt/icons/bolt_00B4D8.png">    </p:cNvPr>
          <p:cNvPicPr>
            <a:picLocks noChangeAspect="1"/>
          </p:cNvPicPr>
          <p:nvPr/>
        </p:nvPicPr>
        <p:blipFill>
          <a:blip r:embed="rId3"/>
          <a:stretch>
            <a:fillRect/>
          </a:stretch>
        </p:blipFill>
        <p:spPr>
          <a:xfrm>
            <a:off x="579455" y="3907871"/>
            <a:ext cx="413857" cy="413857"/>
          </a:xfrm>
          <a:prstGeom prst="rect">
            <a:avLst/>
          </a:prstGeom>
        </p:spPr>
      </p:pic>
      <p:sp>
        <p:nvSpPr>
          <p:cNvPr id="14" name="Text 9"/>
          <p:cNvSpPr/>
          <p:nvPr/>
        </p:nvSpPr>
        <p:spPr>
          <a:xfrm>
            <a:off x="1280160" y="3803904"/>
            <a:ext cx="5852160" cy="320040"/>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Faults are often silent</a:t>
            </a:r>
            <a:endParaRPr lang="en-US" sz="1450" dirty="0"/>
          </a:p>
        </p:txBody>
      </p:sp>
      <p:sp>
        <p:nvSpPr>
          <p:cNvPr id="15" name="Text 10"/>
          <p:cNvSpPr/>
          <p:nvPr/>
        </p:nvSpPr>
        <p:spPr>
          <a:xfrm>
            <a:off x="1280160" y="4123944"/>
            <a:ext cx="5943600" cy="640080"/>
          </a:xfrm>
          <a:prstGeom prst="rect">
            <a:avLst/>
          </a:prstGeom>
          <a:noFill/>
          <a:ln/>
        </p:spPr>
        <p:txBody>
          <a:bodyPr wrap="square" lIns="0" tIns="0" rIns="0" bIns="0" rtlCol="0" anchor="ctr"/>
          <a:lstStyle/>
          <a:p>
            <a:pPr indent="0" marL="0">
              <a:lnSpc>
                <a:spcPct val="118000"/>
              </a:lnSpc>
              <a:buNone/>
            </a:pPr>
            <a:r>
              <a:rPr lang="en-US" sz="1100" dirty="0">
                <a:solidFill>
                  <a:srgbClr val="64748B"/>
                </a:solidFill>
                <a:latin typeface="Calibri" pitchFamily="34" charset="0"/>
                <a:ea typeface="Calibri" pitchFamily="34" charset="-122"/>
                <a:cs typeface="Calibri" pitchFamily="34" charset="-120"/>
              </a:rPr>
              <a:t>A drifting resistor or a noisy stage can still “work” while quietly producing wrong answers downstream.</a:t>
            </a:r>
            <a:endParaRPr lang="en-US" sz="1100" dirty="0"/>
          </a:p>
        </p:txBody>
      </p:sp>
      <p:sp>
        <p:nvSpPr>
          <p:cNvPr id="16" name="Shape 11"/>
          <p:cNvSpPr/>
          <p:nvPr/>
        </p:nvSpPr>
        <p:spPr>
          <a:xfrm>
            <a:off x="502920" y="4855464"/>
            <a:ext cx="566928" cy="566928"/>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7" name="Image 3" descr="/sessions/blissful-zealous-babbage/mnt/outputs/ppt/icons/chartline_00B4D8.png">    </p:cNvPr>
          <p:cNvPicPr>
            <a:picLocks noChangeAspect="1"/>
          </p:cNvPicPr>
          <p:nvPr/>
        </p:nvPicPr>
        <p:blipFill>
          <a:blip r:embed="rId4"/>
          <a:stretch>
            <a:fillRect/>
          </a:stretch>
        </p:blipFill>
        <p:spPr>
          <a:xfrm>
            <a:off x="579455" y="4931999"/>
            <a:ext cx="413857" cy="413857"/>
          </a:xfrm>
          <a:prstGeom prst="rect">
            <a:avLst/>
          </a:prstGeom>
        </p:spPr>
      </p:pic>
      <p:sp>
        <p:nvSpPr>
          <p:cNvPr id="18" name="Text 12"/>
          <p:cNvSpPr/>
          <p:nvPr/>
        </p:nvSpPr>
        <p:spPr>
          <a:xfrm>
            <a:off x="1280160" y="4828032"/>
            <a:ext cx="5852160" cy="320040"/>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The goal</a:t>
            </a:r>
            <a:endParaRPr lang="en-US" sz="1450" dirty="0"/>
          </a:p>
        </p:txBody>
      </p:sp>
      <p:sp>
        <p:nvSpPr>
          <p:cNvPr id="19" name="Text 13"/>
          <p:cNvSpPr/>
          <p:nvPr/>
        </p:nvSpPr>
        <p:spPr>
          <a:xfrm>
            <a:off x="1280160" y="5148072"/>
            <a:ext cx="5943600" cy="640080"/>
          </a:xfrm>
          <a:prstGeom prst="rect">
            <a:avLst/>
          </a:prstGeom>
          <a:noFill/>
          <a:ln/>
        </p:spPr>
        <p:txBody>
          <a:bodyPr wrap="square" lIns="0" tIns="0" rIns="0" bIns="0" rtlCol="0" anchor="ctr"/>
          <a:lstStyle/>
          <a:p>
            <a:pPr indent="0" marL="0">
              <a:lnSpc>
                <a:spcPct val="118000"/>
              </a:lnSpc>
              <a:buNone/>
            </a:pPr>
            <a:r>
              <a:rPr lang="en-US" sz="1100" dirty="0">
                <a:solidFill>
                  <a:srgbClr val="64748B"/>
                </a:solidFill>
                <a:latin typeface="Calibri" pitchFamily="34" charset="0"/>
                <a:ea typeface="Calibri" pitchFamily="34" charset="-122"/>
                <a:cs typeface="Calibri" pitchFamily="34" charset="-120"/>
              </a:rPr>
              <a:t>Give a machine the output waveform and let it instantly say what's wrong — and which component is likely responsible.</a:t>
            </a:r>
            <a:endParaRPr lang="en-US" sz="1100" dirty="0"/>
          </a:p>
        </p:txBody>
      </p:sp>
      <p:sp>
        <p:nvSpPr>
          <p:cNvPr id="20" name="Shape 14"/>
          <p:cNvSpPr/>
          <p:nvPr/>
        </p:nvSpPr>
        <p:spPr>
          <a:xfrm>
            <a:off x="7360920" y="1783080"/>
            <a:ext cx="4343400" cy="4160520"/>
          </a:xfrm>
          <a:prstGeom prst="roundRect">
            <a:avLst>
              <a:gd name="adj" fmla="val 1538"/>
            </a:avLst>
          </a:prstGeom>
          <a:solidFill>
            <a:srgbClr val="EAEEF4"/>
          </a:solidFill>
          <a:ln w="15875">
            <a:solidFill>
              <a:srgbClr val="9FB1C8"/>
            </a:solidFill>
            <a:prstDash val="dash"/>
          </a:ln>
        </p:spPr>
      </p:sp>
      <p:pic>
        <p:nvPicPr>
          <p:cNvPr id="21" name="Image 4" descr="/sessions/blissful-zealous-babbage/mnt/outputs/ppt/icons/database_64748B.png">    </p:cNvPr>
          <p:cNvPicPr>
            <a:picLocks noChangeAspect="1"/>
          </p:cNvPicPr>
          <p:nvPr/>
        </p:nvPicPr>
        <p:blipFill>
          <a:blip r:embed="rId5"/>
          <a:stretch>
            <a:fillRect/>
          </a:stretch>
        </p:blipFill>
        <p:spPr>
          <a:xfrm>
            <a:off x="9249156" y="2498141"/>
            <a:ext cx="566928" cy="566928"/>
          </a:xfrm>
          <a:prstGeom prst="rect">
            <a:avLst/>
          </a:prstGeom>
        </p:spPr>
      </p:pic>
      <p:sp>
        <p:nvSpPr>
          <p:cNvPr id="22" name="Text 15"/>
          <p:cNvSpPr/>
          <p:nvPr/>
        </p:nvSpPr>
        <p:spPr>
          <a:xfrm>
            <a:off x="7543800" y="2980030"/>
            <a:ext cx="3977640"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PHOTO / SCHEMATIC</a:t>
            </a:r>
            <a:endParaRPr lang="en-US" sz="1300" dirty="0"/>
          </a:p>
        </p:txBody>
      </p:sp>
      <p:sp>
        <p:nvSpPr>
          <p:cNvPr id="23" name="Text 16"/>
          <p:cNvSpPr/>
          <p:nvPr/>
        </p:nvSpPr>
        <p:spPr>
          <a:xfrm>
            <a:off x="7635240" y="3327502"/>
            <a:ext cx="3794760" cy="1331366"/>
          </a:xfrm>
          <a:prstGeom prst="rect">
            <a:avLst/>
          </a:prstGeom>
          <a:noFill/>
          <a:ln/>
        </p:spPr>
        <p:txBody>
          <a:bodyPr wrap="square" lIns="0" tIns="0" rIns="0" bIns="0" rtlCol="0" anchor="ctr"/>
          <a:lstStyle/>
          <a:p>
            <a:pPr algn="ctr" indent="0" marL="0">
              <a:buNone/>
            </a:pPr>
            <a:r>
              <a:rPr lang="en-US" sz="1050" i="1" dirty="0">
                <a:solidFill>
                  <a:srgbClr val="8695AB"/>
                </a:solidFill>
                <a:latin typeface="Calibri" pitchFamily="34" charset="0"/>
                <a:ea typeface="Calibri" pitchFamily="34" charset="-122"/>
                <a:cs typeface="Calibri" pitchFamily="34" charset="-120"/>
              </a:rPr>
              <a:t>e.g. lab PCB, oscilloscope capture, or</a:t>
            </a:r>
            <a:endParaRPr lang="en-US" sz="1050" dirty="0"/>
          </a:p>
          <a:p>
            <a:pPr algn="ctr" indent="0" marL="0">
              <a:buNone/>
            </a:pPr>
            <a:r>
              <a:rPr lang="en-US" sz="1050" i="1" dirty="0">
                <a:solidFill>
                  <a:srgbClr val="8695AB"/>
                </a:solidFill>
                <a:latin typeface="Calibri" pitchFamily="34" charset="0"/>
                <a:ea typeface="Calibri" pitchFamily="34" charset="-122"/>
                <a:cs typeface="Calibri" pitchFamily="34" charset="-120"/>
              </a:rPr>
              <a:t>simulation workstation photo</a:t>
            </a:r>
            <a:endParaRPr lang="en-US" sz="1050" dirty="0"/>
          </a:p>
        </p:txBody>
      </p:sp>
      <p:sp>
        <p:nvSpPr>
          <p:cNvPr id="24" name="Text 17"/>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5" name="Text 18"/>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1. MOTIVATION</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The Real-World Cost of an Undiagnosed Fault</a:t>
            </a:r>
            <a:endParaRPr lang="en-US" sz="3000" dirty="0"/>
          </a:p>
        </p:txBody>
      </p:sp>
      <p:sp>
        <p:nvSpPr>
          <p:cNvPr id="4" name="Text 2"/>
          <p:cNvSpPr/>
          <p:nvPr/>
        </p:nvSpPr>
        <p:spPr>
          <a:xfrm>
            <a:off x="502920" y="1691640"/>
            <a:ext cx="10515600" cy="36576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Component drift and disconnects rarely announce themselves. A few examples of what's at stake:</a:t>
            </a:r>
            <a:endParaRPr lang="en-US" sz="1300" dirty="0"/>
          </a:p>
        </p:txBody>
      </p:sp>
      <p:sp>
        <p:nvSpPr>
          <p:cNvPr id="5" name="Shape 3"/>
          <p:cNvSpPr/>
          <p:nvPr/>
        </p:nvSpPr>
        <p:spPr>
          <a:xfrm>
            <a:off x="502920" y="2240280"/>
            <a:ext cx="5166360" cy="1783080"/>
          </a:xfrm>
          <a:prstGeom prst="roundRect">
            <a:avLst>
              <a:gd name="adj" fmla="val 4615"/>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6" name="Shape 4"/>
          <p:cNvSpPr/>
          <p:nvPr/>
        </p:nvSpPr>
        <p:spPr>
          <a:xfrm>
            <a:off x="758952" y="2496312"/>
            <a:ext cx="566928" cy="566928"/>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7" name="Image 0" descr="/sessions/blissful-zealous-babbage/mnt/outputs/ppt/icons/flask_00B4D8.png">    </p:cNvPr>
          <p:cNvPicPr>
            <a:picLocks noChangeAspect="1"/>
          </p:cNvPicPr>
          <p:nvPr/>
        </p:nvPicPr>
        <p:blipFill>
          <a:blip r:embed="rId1"/>
          <a:stretch>
            <a:fillRect/>
          </a:stretch>
        </p:blipFill>
        <p:spPr>
          <a:xfrm>
            <a:off x="835487" y="2572847"/>
            <a:ext cx="413857" cy="413857"/>
          </a:xfrm>
          <a:prstGeom prst="rect">
            <a:avLst/>
          </a:prstGeom>
        </p:spPr>
      </p:pic>
      <p:sp>
        <p:nvSpPr>
          <p:cNvPr id="8" name="Text 5"/>
          <p:cNvSpPr/>
          <p:nvPr/>
        </p:nvSpPr>
        <p:spPr>
          <a:xfrm>
            <a:off x="1508760" y="2514600"/>
            <a:ext cx="3931920" cy="36576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Medical devices</a:t>
            </a:r>
            <a:endParaRPr lang="en-US" sz="1400" dirty="0"/>
          </a:p>
        </p:txBody>
      </p:sp>
      <p:sp>
        <p:nvSpPr>
          <p:cNvPr id="9" name="Text 6"/>
          <p:cNvSpPr/>
          <p:nvPr/>
        </p:nvSpPr>
        <p:spPr>
          <a:xfrm>
            <a:off x="777240" y="3154680"/>
            <a:ext cx="4617720" cy="777240"/>
          </a:xfrm>
          <a:prstGeom prst="rect">
            <a:avLst/>
          </a:prstGeom>
          <a:noFill/>
          <a:ln/>
        </p:spPr>
        <p:txBody>
          <a:bodyPr wrap="square" lIns="0" tIns="0" rIns="0" bIns="0" rtlCol="0" anchor="ctr"/>
          <a:lstStyle/>
          <a:p>
            <a:pPr indent="0" marL="0">
              <a:lnSpc>
                <a:spcPct val="122000"/>
              </a:lnSpc>
              <a:buNone/>
            </a:pPr>
            <a:r>
              <a:rPr lang="en-US" sz="1050" dirty="0">
                <a:solidFill>
                  <a:srgbClr val="64748B"/>
                </a:solidFill>
                <a:latin typeface="Calibri" pitchFamily="34" charset="0"/>
                <a:ea typeface="Calibri" pitchFamily="34" charset="-122"/>
                <a:cs typeface="Calibri" pitchFamily="34" charset="-120"/>
              </a:rPr>
              <a:t>A drifting filter stage in a patient monitor can quietly shift a threshold reading long before an alarm ever fires.</a:t>
            </a:r>
            <a:endParaRPr lang="en-US" sz="1050" dirty="0"/>
          </a:p>
        </p:txBody>
      </p:sp>
      <p:sp>
        <p:nvSpPr>
          <p:cNvPr id="10" name="Shape 7"/>
          <p:cNvSpPr/>
          <p:nvPr/>
        </p:nvSpPr>
        <p:spPr>
          <a:xfrm>
            <a:off x="6126480" y="2240280"/>
            <a:ext cx="5166360" cy="1783080"/>
          </a:xfrm>
          <a:prstGeom prst="roundRect">
            <a:avLst>
              <a:gd name="adj" fmla="val 4615"/>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1" name="Shape 8"/>
          <p:cNvSpPr/>
          <p:nvPr/>
        </p:nvSpPr>
        <p:spPr>
          <a:xfrm>
            <a:off x="6382512" y="2496312"/>
            <a:ext cx="566928" cy="566928"/>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2" name="Image 1" descr="/sessions/blissful-zealous-babbage/mnt/outputs/ppt/icons/signal_00B4D8.png">    </p:cNvPr>
          <p:cNvPicPr>
            <a:picLocks noChangeAspect="1"/>
          </p:cNvPicPr>
          <p:nvPr/>
        </p:nvPicPr>
        <p:blipFill>
          <a:blip r:embed="rId2"/>
          <a:stretch>
            <a:fillRect/>
          </a:stretch>
        </p:blipFill>
        <p:spPr>
          <a:xfrm>
            <a:off x="6459047" y="2572847"/>
            <a:ext cx="413857" cy="413857"/>
          </a:xfrm>
          <a:prstGeom prst="rect">
            <a:avLst/>
          </a:prstGeom>
        </p:spPr>
      </p:pic>
      <p:sp>
        <p:nvSpPr>
          <p:cNvPr id="13" name="Text 9"/>
          <p:cNvSpPr/>
          <p:nvPr/>
        </p:nvSpPr>
        <p:spPr>
          <a:xfrm>
            <a:off x="7132320" y="2514600"/>
            <a:ext cx="3931920" cy="36576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Communication links</a:t>
            </a:r>
            <a:endParaRPr lang="en-US" sz="1400" dirty="0"/>
          </a:p>
        </p:txBody>
      </p:sp>
      <p:sp>
        <p:nvSpPr>
          <p:cNvPr id="14" name="Text 10"/>
          <p:cNvSpPr/>
          <p:nvPr/>
        </p:nvSpPr>
        <p:spPr>
          <a:xfrm>
            <a:off x="6400800" y="3154680"/>
            <a:ext cx="4617720" cy="777240"/>
          </a:xfrm>
          <a:prstGeom prst="rect">
            <a:avLst/>
          </a:prstGeom>
          <a:noFill/>
          <a:ln/>
        </p:spPr>
        <p:txBody>
          <a:bodyPr wrap="square" lIns="0" tIns="0" rIns="0" bIns="0" rtlCol="0" anchor="ctr"/>
          <a:lstStyle/>
          <a:p>
            <a:pPr indent="0" marL="0">
              <a:lnSpc>
                <a:spcPct val="122000"/>
              </a:lnSpc>
              <a:buNone/>
            </a:pPr>
            <a:r>
              <a:rPr lang="en-US" sz="1050" dirty="0">
                <a:solidFill>
                  <a:srgbClr val="64748B"/>
                </a:solidFill>
                <a:latin typeface="Calibri" pitchFamily="34" charset="0"/>
                <a:ea typeface="Calibri" pitchFamily="34" charset="-122"/>
                <a:cs typeface="Calibri" pitchFamily="34" charset="-120"/>
              </a:rPr>
              <a:t>A degraded low-pass filter changes a receiver's bandwidth, raising bit-error rates without any visible failure.</a:t>
            </a:r>
            <a:endParaRPr lang="en-US" sz="1050" dirty="0"/>
          </a:p>
        </p:txBody>
      </p:sp>
      <p:sp>
        <p:nvSpPr>
          <p:cNvPr id="15" name="Shape 11"/>
          <p:cNvSpPr/>
          <p:nvPr/>
        </p:nvSpPr>
        <p:spPr>
          <a:xfrm>
            <a:off x="502920" y="4279392"/>
            <a:ext cx="5166360" cy="1783080"/>
          </a:xfrm>
          <a:prstGeom prst="roundRect">
            <a:avLst>
              <a:gd name="adj" fmla="val 4615"/>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6" name="Shape 12"/>
          <p:cNvSpPr/>
          <p:nvPr/>
        </p:nvSpPr>
        <p:spPr>
          <a:xfrm>
            <a:off x="758952" y="4535424"/>
            <a:ext cx="566928" cy="566928"/>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7" name="Image 2" descr="/sessions/blissful-zealous-babbage/mnt/outputs/ppt/icons/cogs_00B4D8.png">    </p:cNvPr>
          <p:cNvPicPr>
            <a:picLocks noChangeAspect="1"/>
          </p:cNvPicPr>
          <p:nvPr/>
        </p:nvPicPr>
        <p:blipFill>
          <a:blip r:embed="rId3"/>
          <a:stretch>
            <a:fillRect/>
          </a:stretch>
        </p:blipFill>
        <p:spPr>
          <a:xfrm>
            <a:off x="835487" y="4611959"/>
            <a:ext cx="413857" cy="413857"/>
          </a:xfrm>
          <a:prstGeom prst="rect">
            <a:avLst/>
          </a:prstGeom>
        </p:spPr>
      </p:pic>
      <p:sp>
        <p:nvSpPr>
          <p:cNvPr id="18" name="Text 13"/>
          <p:cNvSpPr/>
          <p:nvPr/>
        </p:nvSpPr>
        <p:spPr>
          <a:xfrm>
            <a:off x="1508760" y="4553712"/>
            <a:ext cx="3931920" cy="36576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Power electronics</a:t>
            </a:r>
            <a:endParaRPr lang="en-US" sz="1400" dirty="0"/>
          </a:p>
        </p:txBody>
      </p:sp>
      <p:sp>
        <p:nvSpPr>
          <p:cNvPr id="19" name="Text 14"/>
          <p:cNvSpPr/>
          <p:nvPr/>
        </p:nvSpPr>
        <p:spPr>
          <a:xfrm>
            <a:off x="777240" y="5193792"/>
            <a:ext cx="4617720" cy="777240"/>
          </a:xfrm>
          <a:prstGeom prst="rect">
            <a:avLst/>
          </a:prstGeom>
          <a:noFill/>
          <a:ln/>
        </p:spPr>
        <p:txBody>
          <a:bodyPr wrap="square" lIns="0" tIns="0" rIns="0" bIns="0" rtlCol="0" anchor="ctr"/>
          <a:lstStyle/>
          <a:p>
            <a:pPr indent="0" marL="0">
              <a:lnSpc>
                <a:spcPct val="122000"/>
              </a:lnSpc>
              <a:buNone/>
            </a:pPr>
            <a:r>
              <a:rPr lang="en-US" sz="1050" dirty="0">
                <a:solidFill>
                  <a:srgbClr val="64748B"/>
                </a:solidFill>
                <a:latin typeface="Calibri" pitchFamily="34" charset="0"/>
                <a:ea typeface="Calibri" pitchFamily="34" charset="-122"/>
                <a:cs typeface="Calibri" pitchFamily="34" charset="-120"/>
              </a:rPr>
              <a:t>A drifting or shorted component in a regulator stage can shorten the life of every downstream part it feeds.</a:t>
            </a:r>
            <a:endParaRPr lang="en-US" sz="1050" dirty="0"/>
          </a:p>
        </p:txBody>
      </p:sp>
      <p:sp>
        <p:nvSpPr>
          <p:cNvPr id="20" name="Shape 15"/>
          <p:cNvSpPr/>
          <p:nvPr/>
        </p:nvSpPr>
        <p:spPr>
          <a:xfrm>
            <a:off x="6126480" y="4279392"/>
            <a:ext cx="5166360" cy="1783080"/>
          </a:xfrm>
          <a:prstGeom prst="roundRect">
            <a:avLst>
              <a:gd name="adj" fmla="val 4615"/>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21" name="Shape 16"/>
          <p:cNvSpPr/>
          <p:nvPr/>
        </p:nvSpPr>
        <p:spPr>
          <a:xfrm>
            <a:off x="6382512" y="4535424"/>
            <a:ext cx="566928" cy="566928"/>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22" name="Image 3" descr="/sessions/blissful-zealous-babbage/mnt/outputs/ppt/icons/laptop_00B4D8.png">    </p:cNvPr>
          <p:cNvPicPr>
            <a:picLocks noChangeAspect="1"/>
          </p:cNvPicPr>
          <p:nvPr/>
        </p:nvPicPr>
        <p:blipFill>
          <a:blip r:embed="rId4"/>
          <a:stretch>
            <a:fillRect/>
          </a:stretch>
        </p:blipFill>
        <p:spPr>
          <a:xfrm>
            <a:off x="6459047" y="4611959"/>
            <a:ext cx="413857" cy="413857"/>
          </a:xfrm>
          <a:prstGeom prst="rect">
            <a:avLst/>
          </a:prstGeom>
        </p:spPr>
      </p:pic>
      <p:sp>
        <p:nvSpPr>
          <p:cNvPr id="23" name="Text 17"/>
          <p:cNvSpPr/>
          <p:nvPr/>
        </p:nvSpPr>
        <p:spPr>
          <a:xfrm>
            <a:off x="7132320" y="4553712"/>
            <a:ext cx="3931920" cy="36576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Automotive sensors</a:t>
            </a:r>
            <a:endParaRPr lang="en-US" sz="1400" dirty="0"/>
          </a:p>
        </p:txBody>
      </p:sp>
      <p:sp>
        <p:nvSpPr>
          <p:cNvPr id="24" name="Text 18"/>
          <p:cNvSpPr/>
          <p:nvPr/>
        </p:nvSpPr>
        <p:spPr>
          <a:xfrm>
            <a:off x="6400800" y="5193792"/>
            <a:ext cx="4617720" cy="777240"/>
          </a:xfrm>
          <a:prstGeom prst="rect">
            <a:avLst/>
          </a:prstGeom>
          <a:noFill/>
          <a:ln/>
        </p:spPr>
        <p:txBody>
          <a:bodyPr wrap="square" lIns="0" tIns="0" rIns="0" bIns="0" rtlCol="0" anchor="ctr"/>
          <a:lstStyle/>
          <a:p>
            <a:pPr indent="0" marL="0">
              <a:lnSpc>
                <a:spcPct val="122000"/>
              </a:lnSpc>
              <a:buNone/>
            </a:pPr>
            <a:r>
              <a:rPr lang="en-US" sz="1050" dirty="0">
                <a:solidFill>
                  <a:srgbClr val="64748B"/>
                </a:solidFill>
                <a:latin typeface="Calibri" pitchFamily="34" charset="0"/>
                <a:ea typeface="Calibri" pitchFamily="34" charset="-122"/>
                <a:cs typeface="Calibri" pitchFamily="34" charset="-120"/>
              </a:rPr>
              <a:t>Analog sensor front-ends drift with temperature and age; catching this early prevents cascading failures.</a:t>
            </a:r>
            <a:endParaRPr lang="en-US" sz="1050" dirty="0"/>
          </a:p>
        </p:txBody>
      </p:sp>
      <p:sp>
        <p:nvSpPr>
          <p:cNvPr id="25" name="Text 19"/>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6" name="Text 20"/>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1. MOTIVATION</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Why This Problem Is Genuinely Hard</a:t>
            </a:r>
            <a:endParaRPr lang="en-US" sz="3000" dirty="0"/>
          </a:p>
        </p:txBody>
      </p:sp>
      <p:sp>
        <p:nvSpPr>
          <p:cNvPr id="4" name="Shape 2"/>
          <p:cNvSpPr/>
          <p:nvPr/>
        </p:nvSpPr>
        <p:spPr>
          <a:xfrm>
            <a:off x="502920" y="1783080"/>
            <a:ext cx="566928" cy="566928"/>
          </a:xfrm>
          <a:prstGeom prst="ellipse">
            <a:avLst/>
          </a:prstGeom>
          <a:solidFill>
            <a:srgbClr val="D9695F"/>
          </a:solidFill>
          <a:ln/>
          <a:effectLst>
            <a:outerShdw sx="100000" sy="100000" kx="0" ky="0" algn="bl" rotWithShape="0" blurRad="114300" dist="38100" dir="2700000">
              <a:srgbClr val="0B1F3A">
                <a:alpha val="14000"/>
              </a:srgbClr>
            </a:outerShdw>
          </a:effectLst>
        </p:spPr>
      </p:sp>
      <p:pic>
        <p:nvPicPr>
          <p:cNvPr id="5" name="Image 0" descr="/sessions/blissful-zealous-babbage/mnt/outputs/ppt/icons/warn_FFFFFF.png">    </p:cNvPr>
          <p:cNvPicPr>
            <a:picLocks noChangeAspect="1"/>
          </p:cNvPicPr>
          <p:nvPr/>
        </p:nvPicPr>
        <p:blipFill>
          <a:blip r:embed="rId1"/>
          <a:stretch>
            <a:fillRect/>
          </a:stretch>
        </p:blipFill>
        <p:spPr>
          <a:xfrm>
            <a:off x="579455" y="1859615"/>
            <a:ext cx="413857" cy="413857"/>
          </a:xfrm>
          <a:prstGeom prst="rect">
            <a:avLst/>
          </a:prstGeom>
        </p:spPr>
      </p:pic>
      <p:sp>
        <p:nvSpPr>
          <p:cNvPr id="6" name="Text 3"/>
          <p:cNvSpPr/>
          <p:nvPr/>
        </p:nvSpPr>
        <p:spPr>
          <a:xfrm>
            <a:off x="1280160" y="1755648"/>
            <a:ext cx="9784080" cy="320040"/>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Faults are continuous, not binary</a:t>
            </a:r>
            <a:endParaRPr lang="en-US" sz="1450" dirty="0"/>
          </a:p>
        </p:txBody>
      </p:sp>
      <p:sp>
        <p:nvSpPr>
          <p:cNvPr id="7" name="Text 4"/>
          <p:cNvSpPr/>
          <p:nvPr/>
        </p:nvSpPr>
        <p:spPr>
          <a:xfrm>
            <a:off x="1280160" y="2075688"/>
            <a:ext cx="9784080" cy="685800"/>
          </a:xfrm>
          <a:prstGeom prst="rect">
            <a:avLst/>
          </a:prstGeom>
          <a:noFill/>
          <a:ln/>
        </p:spPr>
        <p:txBody>
          <a:bodyPr wrap="square" lIns="0" tIns="0" rIns="0" bIns="0" rtlCol="0" anchor="ctr"/>
          <a:lstStyle/>
          <a:p>
            <a:pPr indent="0" marL="0">
              <a:lnSpc>
                <a:spcPct val="120000"/>
              </a:lnSpc>
              <a:buNone/>
            </a:pPr>
            <a:r>
              <a:rPr lang="en-US" sz="1150" dirty="0">
                <a:solidFill>
                  <a:srgbClr val="64748B"/>
                </a:solidFill>
                <a:latin typeface="Calibri" pitchFamily="34" charset="0"/>
                <a:ea typeface="Calibri" pitchFamily="34" charset="-122"/>
                <a:cs typeface="Calibri" pitchFamily="34" charset="-120"/>
              </a:rPr>
              <a:t>Drift isn't a switch — a resistor slides gradually from healthy to faulty, so “normal” and “drift” can look nearly identical near the boundary.</a:t>
            </a:r>
            <a:endParaRPr lang="en-US" sz="1150" dirty="0"/>
          </a:p>
        </p:txBody>
      </p:sp>
      <p:sp>
        <p:nvSpPr>
          <p:cNvPr id="8" name="Shape 5"/>
          <p:cNvSpPr/>
          <p:nvPr/>
        </p:nvSpPr>
        <p:spPr>
          <a:xfrm>
            <a:off x="502920" y="2834640"/>
            <a:ext cx="566928" cy="566928"/>
          </a:xfrm>
          <a:prstGeom prst="ellipse">
            <a:avLst/>
          </a:prstGeom>
          <a:solidFill>
            <a:srgbClr val="D9695F"/>
          </a:solidFill>
          <a:ln/>
          <a:effectLst>
            <a:outerShdw sx="100000" sy="100000" kx="0" ky="0" algn="bl" rotWithShape="0" blurRad="114300" dist="38100" dir="2700000">
              <a:srgbClr val="0B1F3A">
                <a:alpha val="14000"/>
              </a:srgbClr>
            </a:outerShdw>
          </a:effectLst>
        </p:spPr>
      </p:sp>
      <p:pic>
        <p:nvPicPr>
          <p:cNvPr id="9" name="Image 1" descr="/sessions/blissful-zealous-babbage/mnt/outputs/ppt/icons/random_FFFFFF.png">    </p:cNvPr>
          <p:cNvPicPr>
            <a:picLocks noChangeAspect="1"/>
          </p:cNvPicPr>
          <p:nvPr/>
        </p:nvPicPr>
        <p:blipFill>
          <a:blip r:embed="rId2"/>
          <a:stretch>
            <a:fillRect/>
          </a:stretch>
        </p:blipFill>
        <p:spPr>
          <a:xfrm>
            <a:off x="579455" y="2911175"/>
            <a:ext cx="413857" cy="413857"/>
          </a:xfrm>
          <a:prstGeom prst="rect">
            <a:avLst/>
          </a:prstGeom>
        </p:spPr>
      </p:pic>
      <p:sp>
        <p:nvSpPr>
          <p:cNvPr id="10" name="Text 6"/>
          <p:cNvSpPr/>
          <p:nvPr/>
        </p:nvSpPr>
        <p:spPr>
          <a:xfrm>
            <a:off x="1280160" y="2807208"/>
            <a:ext cx="9784080" cy="320040"/>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Signatures overlap across circuits</a:t>
            </a:r>
            <a:endParaRPr lang="en-US" sz="1450" dirty="0"/>
          </a:p>
        </p:txBody>
      </p:sp>
      <p:sp>
        <p:nvSpPr>
          <p:cNvPr id="11" name="Text 7"/>
          <p:cNvSpPr/>
          <p:nvPr/>
        </p:nvSpPr>
        <p:spPr>
          <a:xfrm>
            <a:off x="1280160" y="3127248"/>
            <a:ext cx="9784080" cy="685800"/>
          </a:xfrm>
          <a:prstGeom prst="rect">
            <a:avLst/>
          </a:prstGeom>
          <a:noFill/>
          <a:ln/>
        </p:spPr>
        <p:txBody>
          <a:bodyPr wrap="square" lIns="0" tIns="0" rIns="0" bIns="0" rtlCol="0" anchor="ctr"/>
          <a:lstStyle/>
          <a:p>
            <a:pPr indent="0" marL="0">
              <a:lnSpc>
                <a:spcPct val="120000"/>
              </a:lnSpc>
              <a:buNone/>
            </a:pPr>
            <a:r>
              <a:rPr lang="en-US" sz="1150" dirty="0">
                <a:solidFill>
                  <a:srgbClr val="64748B"/>
                </a:solidFill>
                <a:latin typeface="Calibri" pitchFamily="34" charset="0"/>
                <a:ea typeface="Calibri" pitchFamily="34" charset="-122"/>
                <a:cs typeface="Calibri" pitchFamily="34" charset="-120"/>
              </a:rPr>
              <a:t>An “open” fault looks similar (flat, non-charging output) whether it happens in an RC filter or an RLC network — the model must tell topology and fault apart together.</a:t>
            </a:r>
            <a:endParaRPr lang="en-US" sz="1150" dirty="0"/>
          </a:p>
        </p:txBody>
      </p:sp>
      <p:sp>
        <p:nvSpPr>
          <p:cNvPr id="12" name="Shape 8"/>
          <p:cNvSpPr/>
          <p:nvPr/>
        </p:nvSpPr>
        <p:spPr>
          <a:xfrm>
            <a:off x="502920" y="3886200"/>
            <a:ext cx="566928" cy="566928"/>
          </a:xfrm>
          <a:prstGeom prst="ellipse">
            <a:avLst/>
          </a:prstGeom>
          <a:solidFill>
            <a:srgbClr val="D9695F"/>
          </a:solidFill>
          <a:ln/>
          <a:effectLst>
            <a:outerShdw sx="100000" sy="100000" kx="0" ky="0" algn="bl" rotWithShape="0" blurRad="114300" dist="38100" dir="2700000">
              <a:srgbClr val="0B1F3A">
                <a:alpha val="14000"/>
              </a:srgbClr>
            </a:outerShdw>
          </a:effectLst>
        </p:spPr>
      </p:sp>
      <p:pic>
        <p:nvPicPr>
          <p:cNvPr id="13" name="Image 2" descr="/sessions/blissful-zealous-babbage/mnt/outputs/ppt/icons/balance_FFFFFF.png">    </p:cNvPr>
          <p:cNvPicPr>
            <a:picLocks noChangeAspect="1"/>
          </p:cNvPicPr>
          <p:nvPr/>
        </p:nvPicPr>
        <p:blipFill>
          <a:blip r:embed="rId3"/>
          <a:stretch>
            <a:fillRect/>
          </a:stretch>
        </p:blipFill>
        <p:spPr>
          <a:xfrm>
            <a:off x="579455" y="3962735"/>
            <a:ext cx="413857" cy="413857"/>
          </a:xfrm>
          <a:prstGeom prst="rect">
            <a:avLst/>
          </a:prstGeom>
        </p:spPr>
      </p:pic>
      <p:sp>
        <p:nvSpPr>
          <p:cNvPr id="14" name="Text 9"/>
          <p:cNvSpPr/>
          <p:nvPr/>
        </p:nvSpPr>
        <p:spPr>
          <a:xfrm>
            <a:off x="1280160" y="3858768"/>
            <a:ext cx="9784080" cy="320040"/>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20 classes from limited data</a:t>
            </a:r>
            <a:endParaRPr lang="en-US" sz="1450" dirty="0"/>
          </a:p>
        </p:txBody>
      </p:sp>
      <p:sp>
        <p:nvSpPr>
          <p:cNvPr id="15" name="Text 10"/>
          <p:cNvSpPr/>
          <p:nvPr/>
        </p:nvSpPr>
        <p:spPr>
          <a:xfrm>
            <a:off x="1280160" y="4178808"/>
            <a:ext cx="9784080" cy="685800"/>
          </a:xfrm>
          <a:prstGeom prst="rect">
            <a:avLst/>
          </a:prstGeom>
          <a:noFill/>
          <a:ln/>
        </p:spPr>
        <p:txBody>
          <a:bodyPr wrap="square" lIns="0" tIns="0" rIns="0" bIns="0" rtlCol="0" anchor="ctr"/>
          <a:lstStyle/>
          <a:p>
            <a:pPr indent="0" marL="0">
              <a:lnSpc>
                <a:spcPct val="120000"/>
              </a:lnSpc>
              <a:buNone/>
            </a:pPr>
            <a:r>
              <a:rPr lang="en-US" sz="1150" dirty="0">
                <a:solidFill>
                  <a:srgbClr val="64748B"/>
                </a:solidFill>
                <a:latin typeface="Calibri" pitchFamily="34" charset="0"/>
                <a:ea typeface="Calibri" pitchFamily="34" charset="-122"/>
                <a:cs typeface="Calibri" pitchFamily="34" charset="-120"/>
              </a:rPr>
              <a:t>4 circuits × 5 faults = 20 classes to separate from just ~1,019 simulated samples — roughly 50 examples per class.</a:t>
            </a:r>
            <a:endParaRPr lang="en-US" sz="1150" dirty="0"/>
          </a:p>
        </p:txBody>
      </p:sp>
      <p:sp>
        <p:nvSpPr>
          <p:cNvPr id="16" name="Shape 11"/>
          <p:cNvSpPr/>
          <p:nvPr/>
        </p:nvSpPr>
        <p:spPr>
          <a:xfrm>
            <a:off x="502920" y="4937760"/>
            <a:ext cx="566928" cy="566928"/>
          </a:xfrm>
          <a:prstGeom prst="ellipse">
            <a:avLst/>
          </a:prstGeom>
          <a:solidFill>
            <a:srgbClr val="D9695F"/>
          </a:solidFill>
          <a:ln/>
          <a:effectLst>
            <a:outerShdw sx="100000" sy="100000" kx="0" ky="0" algn="bl" rotWithShape="0" blurRad="114300" dist="38100" dir="2700000">
              <a:srgbClr val="0B1F3A">
                <a:alpha val="14000"/>
              </a:srgbClr>
            </a:outerShdw>
          </a:effectLst>
        </p:spPr>
      </p:sp>
      <p:pic>
        <p:nvPicPr>
          <p:cNvPr id="17" name="Image 3" descr="/sessions/blissful-zealous-babbage/mnt/outputs/ppt/icons/search_FFFFFF.png">    </p:cNvPr>
          <p:cNvPicPr>
            <a:picLocks noChangeAspect="1"/>
          </p:cNvPicPr>
          <p:nvPr/>
        </p:nvPicPr>
        <p:blipFill>
          <a:blip r:embed="rId4"/>
          <a:stretch>
            <a:fillRect/>
          </a:stretch>
        </p:blipFill>
        <p:spPr>
          <a:xfrm>
            <a:off x="579455" y="5014295"/>
            <a:ext cx="413857" cy="413857"/>
          </a:xfrm>
          <a:prstGeom prst="rect">
            <a:avLst/>
          </a:prstGeom>
        </p:spPr>
      </p:pic>
      <p:sp>
        <p:nvSpPr>
          <p:cNvPr id="18" name="Text 12"/>
          <p:cNvSpPr/>
          <p:nvPr/>
        </p:nvSpPr>
        <p:spPr>
          <a:xfrm>
            <a:off x="1280160" y="4910328"/>
            <a:ext cx="9784080" cy="320040"/>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Simulation vs. reality gap</a:t>
            </a:r>
            <a:endParaRPr lang="en-US" sz="1450" dirty="0"/>
          </a:p>
        </p:txBody>
      </p:sp>
      <p:sp>
        <p:nvSpPr>
          <p:cNvPr id="19" name="Text 13"/>
          <p:cNvSpPr/>
          <p:nvPr/>
        </p:nvSpPr>
        <p:spPr>
          <a:xfrm>
            <a:off x="1280160" y="5230368"/>
            <a:ext cx="9784080" cy="685800"/>
          </a:xfrm>
          <a:prstGeom prst="rect">
            <a:avLst/>
          </a:prstGeom>
          <a:noFill/>
          <a:ln/>
        </p:spPr>
        <p:txBody>
          <a:bodyPr wrap="square" lIns="0" tIns="0" rIns="0" bIns="0" rtlCol="0" anchor="ctr"/>
          <a:lstStyle/>
          <a:p>
            <a:pPr indent="0" marL="0">
              <a:lnSpc>
                <a:spcPct val="120000"/>
              </a:lnSpc>
              <a:buNone/>
            </a:pPr>
            <a:r>
              <a:rPr lang="en-US" sz="1150" dirty="0">
                <a:solidFill>
                  <a:srgbClr val="64748B"/>
                </a:solidFill>
                <a:latin typeface="Calibri" pitchFamily="34" charset="0"/>
                <a:ea typeface="Calibri" pitchFamily="34" charset="-122"/>
                <a:cs typeface="Calibri" pitchFamily="34" charset="-120"/>
              </a:rPr>
              <a:t>LTspice gives clean, repeatable waveforms; real hardware adds temperature drift, tolerances and parasitic effects simulation can't fully capture.</a:t>
            </a:r>
            <a:endParaRPr lang="en-US" sz="1150" dirty="0"/>
          </a:p>
        </p:txBody>
      </p:sp>
      <p:sp>
        <p:nvSpPr>
          <p:cNvPr id="20" name="Text 14"/>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1" name="Text 15"/>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1. MOTIVATION</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Where This Fits in the Literature</a:t>
            </a:r>
            <a:endParaRPr lang="en-US" sz="3000" dirty="0"/>
          </a:p>
        </p:txBody>
      </p:sp>
      <p:sp>
        <p:nvSpPr>
          <p:cNvPr id="4" name="Text 2"/>
          <p:cNvSpPr/>
          <p:nvPr/>
        </p:nvSpPr>
        <p:spPr>
          <a:xfrm>
            <a:off x="502920" y="1691640"/>
            <a:ext cx="10607040" cy="502920"/>
          </a:xfrm>
          <a:prstGeom prst="rect">
            <a:avLst/>
          </a:prstGeom>
          <a:noFill/>
          <a:ln/>
        </p:spPr>
        <p:txBody>
          <a:bodyPr wrap="square" lIns="0" tIns="0" rIns="0" bIns="0" rtlCol="0" anchor="ctr"/>
          <a:lstStyle/>
          <a:p>
            <a:pPr indent="0" marL="0">
              <a:lnSpc>
                <a:spcPct val="125000"/>
              </a:lnSpc>
              <a:buNone/>
            </a:pPr>
            <a:r>
              <a:rPr lang="en-US" sz="1250" i="1" dirty="0">
                <a:solidFill>
                  <a:srgbClr val="64748B"/>
                </a:solidFill>
                <a:latin typeface="Calibri" pitchFamily="34" charset="0"/>
                <a:ea typeface="Calibri" pitchFamily="34" charset="-122"/>
                <a:cs typeface="Calibri" pitchFamily="34" charset="-120"/>
              </a:rPr>
              <a:t>Analog fault diagnosis has a real research history — this project sits inside an established, active line of work rather than starting from a blank page.</a:t>
            </a:r>
            <a:endParaRPr lang="en-US" sz="1250" dirty="0"/>
          </a:p>
        </p:txBody>
      </p:sp>
      <p:sp>
        <p:nvSpPr>
          <p:cNvPr id="5" name="Shape 3"/>
          <p:cNvSpPr/>
          <p:nvPr/>
        </p:nvSpPr>
        <p:spPr>
          <a:xfrm>
            <a:off x="502920" y="2331720"/>
            <a:ext cx="548640" cy="54864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6" name="Image 0" descr="/sessions/blissful-zealous-babbage/mnt/outputs/ppt/icons/database_00B4D8.png">    </p:cNvPr>
          <p:cNvPicPr>
            <a:picLocks noChangeAspect="1"/>
          </p:cNvPicPr>
          <p:nvPr/>
        </p:nvPicPr>
        <p:blipFill>
          <a:blip r:embed="rId1"/>
          <a:stretch>
            <a:fillRect/>
          </a:stretch>
        </p:blipFill>
        <p:spPr>
          <a:xfrm>
            <a:off x="576986" y="2405786"/>
            <a:ext cx="400507" cy="400507"/>
          </a:xfrm>
          <a:prstGeom prst="rect">
            <a:avLst/>
          </a:prstGeom>
        </p:spPr>
      </p:pic>
      <p:sp>
        <p:nvSpPr>
          <p:cNvPr id="7" name="Text 4"/>
          <p:cNvSpPr/>
          <p:nvPr/>
        </p:nvSpPr>
        <p:spPr>
          <a:xfrm>
            <a:off x="1234440" y="2304288"/>
            <a:ext cx="9784080" cy="347472"/>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Classical: fault dictionaries &amp; sensitivity analysis</a:t>
            </a:r>
            <a:endParaRPr lang="en-US" sz="1300" dirty="0"/>
          </a:p>
        </p:txBody>
      </p:sp>
      <p:sp>
        <p:nvSpPr>
          <p:cNvPr id="8" name="Text 5"/>
          <p:cNvSpPr/>
          <p:nvPr/>
        </p:nvSpPr>
        <p:spPr>
          <a:xfrm>
            <a:off x="1234440" y="2651760"/>
            <a:ext cx="9784080" cy="777240"/>
          </a:xfrm>
          <a:prstGeom prst="rect">
            <a:avLst/>
          </a:prstGeom>
          <a:noFill/>
          <a:ln/>
        </p:spPr>
        <p:txBody>
          <a:bodyPr wrap="square" lIns="0" tIns="0" rIns="0" bIns="0" rtlCol="0" anchor="ctr"/>
          <a:lstStyle/>
          <a:p>
            <a:pPr indent="0" marL="0">
              <a:lnSpc>
                <a:spcPct val="120000"/>
              </a:lnSpc>
              <a:buNone/>
            </a:pPr>
            <a:r>
              <a:rPr lang="en-US" sz="1080" dirty="0">
                <a:solidFill>
                  <a:srgbClr val="64748B"/>
                </a:solidFill>
                <a:latin typeface="Calibri" pitchFamily="34" charset="0"/>
                <a:ea typeface="Calibri" pitchFamily="34" charset="-122"/>
                <a:cs typeface="Calibri" pitchFamily="34" charset="-120"/>
              </a:rPr>
              <a:t>Simulate the circuit under every hypothesized fault ahead of time, build a "dictionary" of expected responses, then match a real measurement against it. Accurate for the exact circuit modeled, but must be rebuilt from scratch for every new topology.</a:t>
            </a:r>
            <a:endParaRPr lang="en-US" sz="1080" dirty="0"/>
          </a:p>
        </p:txBody>
      </p:sp>
      <p:sp>
        <p:nvSpPr>
          <p:cNvPr id="9" name="Shape 6"/>
          <p:cNvSpPr/>
          <p:nvPr/>
        </p:nvSpPr>
        <p:spPr>
          <a:xfrm>
            <a:off x="502920" y="3502152"/>
            <a:ext cx="548640" cy="54864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0" name="Image 1" descr="/sessions/blissful-zealous-babbage/mnt/outputs/ppt/icons/balance_00B4D8.png">    </p:cNvPr>
          <p:cNvPicPr>
            <a:picLocks noChangeAspect="1"/>
          </p:cNvPicPr>
          <p:nvPr/>
        </p:nvPicPr>
        <p:blipFill>
          <a:blip r:embed="rId2"/>
          <a:stretch>
            <a:fillRect/>
          </a:stretch>
        </p:blipFill>
        <p:spPr>
          <a:xfrm>
            <a:off x="576986" y="3576218"/>
            <a:ext cx="400507" cy="400507"/>
          </a:xfrm>
          <a:prstGeom prst="rect">
            <a:avLst/>
          </a:prstGeom>
        </p:spPr>
      </p:pic>
      <p:sp>
        <p:nvSpPr>
          <p:cNvPr id="11" name="Text 7"/>
          <p:cNvSpPr/>
          <p:nvPr/>
        </p:nvSpPr>
        <p:spPr>
          <a:xfrm>
            <a:off x="1234440" y="3474720"/>
            <a:ext cx="9784080" cy="347472"/>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A standard split this project mirrors: soft vs. hard faults</a:t>
            </a:r>
            <a:endParaRPr lang="en-US" sz="1300" dirty="0"/>
          </a:p>
        </p:txBody>
      </p:sp>
      <p:sp>
        <p:nvSpPr>
          <p:cNvPr id="12" name="Text 8"/>
          <p:cNvSpPr/>
          <p:nvPr/>
        </p:nvSpPr>
        <p:spPr>
          <a:xfrm>
            <a:off x="1234440" y="3822192"/>
            <a:ext cx="9784080" cy="777240"/>
          </a:xfrm>
          <a:prstGeom prst="rect">
            <a:avLst/>
          </a:prstGeom>
          <a:noFill/>
          <a:ln/>
        </p:spPr>
        <p:txBody>
          <a:bodyPr wrap="square" lIns="0" tIns="0" rIns="0" bIns="0" rtlCol="0" anchor="ctr"/>
          <a:lstStyle/>
          <a:p>
            <a:pPr indent="0" marL="0">
              <a:lnSpc>
                <a:spcPct val="120000"/>
              </a:lnSpc>
              <a:buNone/>
            </a:pPr>
            <a:r>
              <a:rPr lang="en-US" sz="1080" dirty="0">
                <a:solidFill>
                  <a:srgbClr val="64748B"/>
                </a:solidFill>
                <a:latin typeface="Calibri" pitchFamily="34" charset="0"/>
                <a:ea typeface="Calibri" pitchFamily="34" charset="-122"/>
                <a:cs typeface="Calibri" pitchFamily="34" charset="-120"/>
              </a:rPr>
              <a:t>The literature separates gradual, within/beyond-tolerance parameter drift ("soft faults") from catastrophic opens and shorts ("hard faults"). This project's five categories — Normal, Drift, Open, Short, Noise — map directly onto that same split.</a:t>
            </a:r>
            <a:endParaRPr lang="en-US" sz="1080" dirty="0"/>
          </a:p>
        </p:txBody>
      </p:sp>
      <p:sp>
        <p:nvSpPr>
          <p:cNvPr id="13" name="Shape 9"/>
          <p:cNvSpPr/>
          <p:nvPr/>
        </p:nvSpPr>
        <p:spPr>
          <a:xfrm>
            <a:off x="502920" y="4672584"/>
            <a:ext cx="548640" cy="54864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4" name="Image 2" descr="/sessions/blissful-zealous-babbage/mnt/outputs/ppt/icons/brain_00B4D8.png">    </p:cNvPr>
          <p:cNvPicPr>
            <a:picLocks noChangeAspect="1"/>
          </p:cNvPicPr>
          <p:nvPr/>
        </p:nvPicPr>
        <p:blipFill>
          <a:blip r:embed="rId3"/>
          <a:stretch>
            <a:fillRect/>
          </a:stretch>
        </p:blipFill>
        <p:spPr>
          <a:xfrm>
            <a:off x="576986" y="4746650"/>
            <a:ext cx="400507" cy="400507"/>
          </a:xfrm>
          <a:prstGeom prst="rect">
            <a:avLst/>
          </a:prstGeom>
        </p:spPr>
      </p:pic>
      <p:sp>
        <p:nvSpPr>
          <p:cNvPr id="15" name="Text 10"/>
          <p:cNvSpPr/>
          <p:nvPr/>
        </p:nvSpPr>
        <p:spPr>
          <a:xfrm>
            <a:off x="1234440" y="4645152"/>
            <a:ext cx="9784080" cy="347472"/>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Machine-learning classifiers are now the mainstream approach</a:t>
            </a:r>
            <a:endParaRPr lang="en-US" sz="1300" dirty="0"/>
          </a:p>
        </p:txBody>
      </p:sp>
      <p:sp>
        <p:nvSpPr>
          <p:cNvPr id="16" name="Text 11"/>
          <p:cNvSpPr/>
          <p:nvPr/>
        </p:nvSpPr>
        <p:spPr>
          <a:xfrm>
            <a:off x="1234440" y="4992624"/>
            <a:ext cx="9784080" cy="777240"/>
          </a:xfrm>
          <a:prstGeom prst="rect">
            <a:avLst/>
          </a:prstGeom>
          <a:noFill/>
          <a:ln/>
        </p:spPr>
        <p:txBody>
          <a:bodyPr wrap="square" lIns="0" tIns="0" rIns="0" bIns="0" rtlCol="0" anchor="ctr"/>
          <a:lstStyle/>
          <a:p>
            <a:pPr indent="0" marL="0">
              <a:lnSpc>
                <a:spcPct val="120000"/>
              </a:lnSpc>
              <a:buNone/>
            </a:pPr>
            <a:r>
              <a:rPr lang="en-US" sz="1080" dirty="0">
                <a:solidFill>
                  <a:srgbClr val="64748B"/>
                </a:solidFill>
                <a:latin typeface="Calibri" pitchFamily="34" charset="0"/>
                <a:ea typeface="Calibri" pitchFamily="34" charset="-122"/>
                <a:cs typeface="Calibri" pitchFamily="34" charset="-120"/>
              </a:rPr>
              <a:t>Recent published work applies SVMs, k-NN, ensemble methods and CNNs to extracted or raw-waveform features for analog soft-fault diagnosis, with SVM-based studies frequently reporting 95%+ accuracy — but almost always on a single circuit at a time.</a:t>
            </a:r>
            <a:endParaRPr lang="en-US" sz="1080" dirty="0"/>
          </a:p>
        </p:txBody>
      </p:sp>
      <p:sp>
        <p:nvSpPr>
          <p:cNvPr id="17" name="Shape 12"/>
          <p:cNvSpPr/>
          <p:nvPr/>
        </p:nvSpPr>
        <p:spPr>
          <a:xfrm>
            <a:off x="502920" y="5870448"/>
            <a:ext cx="10607040" cy="548640"/>
          </a:xfrm>
          <a:prstGeom prst="roundRect">
            <a:avLst>
              <a:gd name="adj" fmla="val 13333"/>
            </a:avLst>
          </a:prstGeom>
          <a:solidFill>
            <a:srgbClr val="0B1F3A"/>
          </a:solidFill>
          <a:ln/>
          <a:effectLst>
            <a:outerShdw sx="100000" sy="100000" kx="0" ky="0" algn="bl" rotWithShape="0" blurRad="114300" dist="38100" dir="2700000">
              <a:srgbClr val="0B1F3A">
                <a:alpha val="14000"/>
              </a:srgbClr>
            </a:outerShdw>
          </a:effectLst>
        </p:spPr>
      </p:sp>
      <p:sp>
        <p:nvSpPr>
          <p:cNvPr id="18" name="Text 13"/>
          <p:cNvSpPr/>
          <p:nvPr/>
        </p:nvSpPr>
        <p:spPr>
          <a:xfrm>
            <a:off x="758952" y="5870448"/>
            <a:ext cx="10104120" cy="548640"/>
          </a:xfrm>
          <a:prstGeom prst="rect">
            <a:avLst/>
          </a:prstGeom>
          <a:noFill/>
          <a:ln/>
        </p:spPr>
        <p:txBody>
          <a:bodyPr wrap="square" lIns="0" tIns="0" rIns="0" bIns="0" rtlCol="0" anchor="ctr"/>
          <a:lstStyle/>
          <a:p>
            <a:pPr indent="0" marL="0">
              <a:lnSpc>
                <a:spcPct val="112000"/>
              </a:lnSpc>
              <a:buNone/>
            </a:pPr>
            <a:r>
              <a:rPr lang="en-US" sz="930" b="1" dirty="0">
                <a:solidFill>
                  <a:srgbClr val="FFB703"/>
                </a:solidFill>
                <a:latin typeface="Calibri" pitchFamily="34" charset="0"/>
                <a:ea typeface="Calibri" pitchFamily="34" charset="-122"/>
                <a:cs typeface="Calibri" pitchFamily="34" charset="-120"/>
              </a:rPr>
              <a:t>What differs here: </a:t>
            </a:r>
            <a:pPr indent="0" marL="0">
              <a:lnSpc>
                <a:spcPct val="112000"/>
              </a:lnSpc>
              <a:buNone/>
            </a:pPr>
            <a:r>
              <a:rPr lang="en-US" sz="930" dirty="0">
                <a:solidFill>
                  <a:srgbClr val="E7ECF4"/>
                </a:solidFill>
                <a:latin typeface="Calibri" pitchFamily="34" charset="0"/>
                <a:ea typeface="Calibri" pitchFamily="34" charset="-122"/>
                <a:cs typeface="Calibri" pitchFamily="34" charset="-120"/>
              </a:rPr>
              <a:t>most studies tune a classifier for one circuit. This project trains one SVM across four topologies at once, uses only physics-based (non-augmented) data, and adds a topology-aware correction step — part of why 78.43% sits below single-circuit literature numbers, on a harder, multi-topology problem.</a:t>
            </a:r>
            <a:endParaRPr lang="en-US" sz="930" dirty="0"/>
          </a:p>
        </p:txBody>
      </p:sp>
      <p:sp>
        <p:nvSpPr>
          <p:cNvPr id="19" name="Text 14"/>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0" name="Text 15"/>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PROBLEM STATEMENT &amp; OBJECTIVE</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One Waveform In. One Diagnosis Out.</a:t>
            </a:r>
            <a:endParaRPr lang="en-US" sz="3000" dirty="0"/>
          </a:p>
        </p:txBody>
      </p:sp>
      <p:sp>
        <p:nvSpPr>
          <p:cNvPr id="4" name="Text 2"/>
          <p:cNvSpPr/>
          <p:nvPr/>
        </p:nvSpPr>
        <p:spPr>
          <a:xfrm>
            <a:off x="502920" y="1691640"/>
            <a:ext cx="10607040" cy="822960"/>
          </a:xfrm>
          <a:prstGeom prst="rect">
            <a:avLst/>
          </a:prstGeom>
          <a:noFill/>
          <a:ln/>
        </p:spPr>
        <p:txBody>
          <a:bodyPr wrap="square" lIns="0" tIns="0" rIns="0" bIns="0" rtlCol="0" anchor="ctr"/>
          <a:lstStyle/>
          <a:p>
            <a:pPr indent="0" marL="0">
              <a:lnSpc>
                <a:spcPct val="125000"/>
              </a:lnSpc>
              <a:buNone/>
            </a:pPr>
            <a:r>
              <a:rPr lang="en-US" sz="1400" dirty="0">
                <a:solidFill>
                  <a:srgbClr val="1E293B"/>
                </a:solidFill>
                <a:latin typeface="Calibri" pitchFamily="34" charset="0"/>
                <a:ea typeface="Calibri" pitchFamily="34" charset="-122"/>
                <a:cs typeface="Calibri" pitchFamily="34" charset="-120"/>
              </a:rPr>
              <a:t>Given the transient output voltage of an unknown analog circuit, automatically identify </a:t>
            </a:r>
            <a:pPr indent="0" marL="0">
              <a:lnSpc>
                <a:spcPct val="125000"/>
              </a:lnSpc>
              <a:buNone/>
            </a:pPr>
            <a:r>
              <a:rPr lang="en-US" sz="1400" b="1" dirty="0">
                <a:solidFill>
                  <a:srgbClr val="0B1F3A"/>
                </a:solidFill>
                <a:latin typeface="Calibri" pitchFamily="34" charset="0"/>
                <a:ea typeface="Calibri" pitchFamily="34" charset="-122"/>
                <a:cs typeface="Calibri" pitchFamily="34" charset="-120"/>
              </a:rPr>
              <a:t>which circuit topology</a:t>
            </a:r>
            <a:pPr indent="0" marL="0">
              <a:lnSpc>
                <a:spcPct val="125000"/>
              </a:lnSpc>
              <a:buNone/>
            </a:pPr>
            <a:r>
              <a:rPr lang="en-US" sz="1400" dirty="0">
                <a:solidFill>
                  <a:srgbClr val="1E293B"/>
                </a:solidFill>
                <a:latin typeface="Calibri" pitchFamily="34" charset="0"/>
                <a:ea typeface="Calibri" pitchFamily="34" charset="-122"/>
                <a:cs typeface="Calibri" pitchFamily="34" charset="-120"/>
              </a:rPr>
              <a:t> it is and </a:t>
            </a:r>
            <a:pPr indent="0" marL="0">
              <a:lnSpc>
                <a:spcPct val="125000"/>
              </a:lnSpc>
              <a:buNone/>
            </a:pPr>
            <a:r>
              <a:rPr lang="en-US" sz="1400" b="1" dirty="0">
                <a:solidFill>
                  <a:srgbClr val="0B1F3A"/>
                </a:solidFill>
                <a:latin typeface="Calibri" pitchFamily="34" charset="0"/>
                <a:ea typeface="Calibri" pitchFamily="34" charset="-122"/>
                <a:cs typeface="Calibri" pitchFamily="34" charset="-120"/>
              </a:rPr>
              <a:t>which of five fault conditions</a:t>
            </a:r>
            <a:pPr indent="0" marL="0">
              <a:lnSpc>
                <a:spcPct val="125000"/>
              </a:lnSpc>
              <a:buNone/>
            </a:pPr>
            <a:r>
              <a:rPr lang="en-US" sz="1400" dirty="0">
                <a:solidFill>
                  <a:srgbClr val="1E293B"/>
                </a:solidFill>
                <a:latin typeface="Calibri" pitchFamily="34" charset="0"/>
                <a:ea typeface="Calibri" pitchFamily="34" charset="-122"/>
                <a:cs typeface="Calibri" pitchFamily="34" charset="-120"/>
              </a:rPr>
              <a:t> it is currently experiencing — a 20-class classification problem solved end-to-end with physics-based simulation and a tuned SVM.</a:t>
            </a:r>
            <a:endParaRPr lang="en-US" sz="1400" dirty="0"/>
          </a:p>
        </p:txBody>
      </p:sp>
      <p:sp>
        <p:nvSpPr>
          <p:cNvPr id="5" name="Shape 3"/>
          <p:cNvSpPr/>
          <p:nvPr/>
        </p:nvSpPr>
        <p:spPr>
          <a:xfrm>
            <a:off x="502920" y="2697480"/>
            <a:ext cx="2542032" cy="1737360"/>
          </a:xfrm>
          <a:prstGeom prst="roundRect">
            <a:avLst>
              <a:gd name="adj" fmla="val 4737"/>
            </a:avLst>
          </a:prstGeom>
          <a:solidFill>
            <a:srgbClr val="0B1F3A"/>
          </a:solidFill>
          <a:ln/>
          <a:effectLst>
            <a:outerShdw sx="100000" sy="100000" kx="0" ky="0" algn="bl" rotWithShape="0" blurRad="114300" dist="38100" dir="2700000">
              <a:srgbClr val="0B1F3A">
                <a:alpha val="14000"/>
              </a:srgbClr>
            </a:outerShdw>
          </a:effectLst>
        </p:spPr>
      </p:sp>
      <p:sp>
        <p:nvSpPr>
          <p:cNvPr id="6" name="Text 4"/>
          <p:cNvSpPr/>
          <p:nvPr/>
        </p:nvSpPr>
        <p:spPr>
          <a:xfrm>
            <a:off x="502920" y="2843784"/>
            <a:ext cx="2542032" cy="731520"/>
          </a:xfrm>
          <a:prstGeom prst="rect">
            <a:avLst/>
          </a:prstGeom>
          <a:noFill/>
          <a:ln/>
        </p:spPr>
        <p:txBody>
          <a:bodyPr wrap="square" lIns="0" tIns="0" rIns="0" bIns="0" rtlCol="0" anchor="ctr"/>
          <a:lstStyle/>
          <a:p>
            <a:pPr algn="ctr" indent="0" marL="0">
              <a:buNone/>
            </a:pPr>
            <a:r>
              <a:rPr lang="en-US" sz="3600" b="1" dirty="0">
                <a:solidFill>
                  <a:srgbClr val="FFB703"/>
                </a:solidFill>
                <a:latin typeface="Cambria" pitchFamily="34" charset="0"/>
                <a:ea typeface="Cambria" pitchFamily="34" charset="-122"/>
                <a:cs typeface="Cambria" pitchFamily="34" charset="-120"/>
              </a:rPr>
              <a:t>4</a:t>
            </a:r>
            <a:endParaRPr lang="en-US" sz="3600" dirty="0"/>
          </a:p>
        </p:txBody>
      </p:sp>
      <p:sp>
        <p:nvSpPr>
          <p:cNvPr id="7" name="Text 5"/>
          <p:cNvSpPr/>
          <p:nvPr/>
        </p:nvSpPr>
        <p:spPr>
          <a:xfrm>
            <a:off x="640080" y="3611880"/>
            <a:ext cx="2267712" cy="3200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Circuit Topologies</a:t>
            </a:r>
            <a:endParaRPr lang="en-US" sz="1250" dirty="0"/>
          </a:p>
        </p:txBody>
      </p:sp>
      <p:sp>
        <p:nvSpPr>
          <p:cNvPr id="8" name="Text 6"/>
          <p:cNvSpPr/>
          <p:nvPr/>
        </p:nvSpPr>
        <p:spPr>
          <a:xfrm>
            <a:off x="640080" y="3959352"/>
            <a:ext cx="2267712" cy="411480"/>
          </a:xfrm>
          <a:prstGeom prst="rect">
            <a:avLst/>
          </a:prstGeom>
          <a:noFill/>
          <a:ln/>
        </p:spPr>
        <p:txBody>
          <a:bodyPr wrap="square" lIns="0" tIns="0" rIns="0" bIns="0" rtlCol="0" anchor="ctr"/>
          <a:lstStyle/>
          <a:p>
            <a:pPr algn="ctr" indent="0" marL="0">
              <a:lnSpc>
                <a:spcPct val="110000"/>
              </a:lnSpc>
              <a:buNone/>
            </a:pPr>
            <a:r>
              <a:rPr lang="en-US" sz="900" dirty="0">
                <a:solidFill>
                  <a:srgbClr val="9FB1C8"/>
                </a:solidFill>
                <a:latin typeface="Calibri" pitchFamily="34" charset="0"/>
                <a:ea typeface="Calibri" pitchFamily="34" charset="-122"/>
                <a:cs typeface="Calibri" pitchFamily="34" charset="-120"/>
              </a:rPr>
              <a:t>RC · RLC · Sallen-Key · RC Ladder</a:t>
            </a:r>
            <a:endParaRPr lang="en-US" sz="900" dirty="0"/>
          </a:p>
        </p:txBody>
      </p:sp>
      <p:sp>
        <p:nvSpPr>
          <p:cNvPr id="9" name="Shape 7"/>
          <p:cNvSpPr/>
          <p:nvPr/>
        </p:nvSpPr>
        <p:spPr>
          <a:xfrm>
            <a:off x="3300984" y="2697480"/>
            <a:ext cx="2542032" cy="1737360"/>
          </a:xfrm>
          <a:prstGeom prst="roundRect">
            <a:avLst>
              <a:gd name="adj" fmla="val 4737"/>
            </a:avLst>
          </a:prstGeom>
          <a:solidFill>
            <a:srgbClr val="0B1F3A"/>
          </a:solidFill>
          <a:ln/>
          <a:effectLst>
            <a:outerShdw sx="100000" sy="100000" kx="0" ky="0" algn="bl" rotWithShape="0" blurRad="114300" dist="38100" dir="2700000">
              <a:srgbClr val="0B1F3A">
                <a:alpha val="14000"/>
              </a:srgbClr>
            </a:outerShdw>
          </a:effectLst>
        </p:spPr>
      </p:sp>
      <p:sp>
        <p:nvSpPr>
          <p:cNvPr id="10" name="Text 8"/>
          <p:cNvSpPr/>
          <p:nvPr/>
        </p:nvSpPr>
        <p:spPr>
          <a:xfrm>
            <a:off x="3300984" y="2843784"/>
            <a:ext cx="2542032" cy="731520"/>
          </a:xfrm>
          <a:prstGeom prst="rect">
            <a:avLst/>
          </a:prstGeom>
          <a:noFill/>
          <a:ln/>
        </p:spPr>
        <p:txBody>
          <a:bodyPr wrap="square" lIns="0" tIns="0" rIns="0" bIns="0" rtlCol="0" anchor="ctr"/>
          <a:lstStyle/>
          <a:p>
            <a:pPr algn="ctr" indent="0" marL="0">
              <a:buNone/>
            </a:pPr>
            <a:r>
              <a:rPr lang="en-US" sz="3600" b="1" dirty="0">
                <a:solidFill>
                  <a:srgbClr val="FFB703"/>
                </a:solidFill>
                <a:latin typeface="Cambria" pitchFamily="34" charset="0"/>
                <a:ea typeface="Cambria" pitchFamily="34" charset="-122"/>
                <a:cs typeface="Cambria" pitchFamily="34" charset="-120"/>
              </a:rPr>
              <a:t>5</a:t>
            </a:r>
            <a:endParaRPr lang="en-US" sz="3600" dirty="0"/>
          </a:p>
        </p:txBody>
      </p:sp>
      <p:sp>
        <p:nvSpPr>
          <p:cNvPr id="11" name="Text 9"/>
          <p:cNvSpPr/>
          <p:nvPr/>
        </p:nvSpPr>
        <p:spPr>
          <a:xfrm>
            <a:off x="3438144" y="3611880"/>
            <a:ext cx="2267712" cy="3200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Fault Types</a:t>
            </a:r>
            <a:endParaRPr lang="en-US" sz="1250" dirty="0"/>
          </a:p>
        </p:txBody>
      </p:sp>
      <p:sp>
        <p:nvSpPr>
          <p:cNvPr id="12" name="Text 10"/>
          <p:cNvSpPr/>
          <p:nvPr/>
        </p:nvSpPr>
        <p:spPr>
          <a:xfrm>
            <a:off x="3438144" y="3959352"/>
            <a:ext cx="2267712" cy="411480"/>
          </a:xfrm>
          <a:prstGeom prst="rect">
            <a:avLst/>
          </a:prstGeom>
          <a:noFill/>
          <a:ln/>
        </p:spPr>
        <p:txBody>
          <a:bodyPr wrap="square" lIns="0" tIns="0" rIns="0" bIns="0" rtlCol="0" anchor="ctr"/>
          <a:lstStyle/>
          <a:p>
            <a:pPr algn="ctr" indent="0" marL="0">
              <a:lnSpc>
                <a:spcPct val="110000"/>
              </a:lnSpc>
              <a:buNone/>
            </a:pPr>
            <a:r>
              <a:rPr lang="en-US" sz="900" dirty="0">
                <a:solidFill>
                  <a:srgbClr val="9FB1C8"/>
                </a:solidFill>
                <a:latin typeface="Calibri" pitchFamily="34" charset="0"/>
                <a:ea typeface="Calibri" pitchFamily="34" charset="-122"/>
                <a:cs typeface="Calibri" pitchFamily="34" charset="-120"/>
              </a:rPr>
              <a:t>Normal, Drift, Open, Short, Noise</a:t>
            </a:r>
            <a:endParaRPr lang="en-US" sz="900" dirty="0"/>
          </a:p>
        </p:txBody>
      </p:sp>
      <p:sp>
        <p:nvSpPr>
          <p:cNvPr id="13" name="Shape 11"/>
          <p:cNvSpPr/>
          <p:nvPr/>
        </p:nvSpPr>
        <p:spPr>
          <a:xfrm>
            <a:off x="6099048" y="2697480"/>
            <a:ext cx="2542032" cy="1737360"/>
          </a:xfrm>
          <a:prstGeom prst="roundRect">
            <a:avLst>
              <a:gd name="adj" fmla="val 4737"/>
            </a:avLst>
          </a:prstGeom>
          <a:solidFill>
            <a:srgbClr val="0B1F3A"/>
          </a:solidFill>
          <a:ln/>
          <a:effectLst>
            <a:outerShdw sx="100000" sy="100000" kx="0" ky="0" algn="bl" rotWithShape="0" blurRad="114300" dist="38100" dir="2700000">
              <a:srgbClr val="0B1F3A">
                <a:alpha val="14000"/>
              </a:srgbClr>
            </a:outerShdw>
          </a:effectLst>
        </p:spPr>
      </p:sp>
      <p:sp>
        <p:nvSpPr>
          <p:cNvPr id="14" name="Text 12"/>
          <p:cNvSpPr/>
          <p:nvPr/>
        </p:nvSpPr>
        <p:spPr>
          <a:xfrm>
            <a:off x="6099048" y="2843784"/>
            <a:ext cx="2542032" cy="731520"/>
          </a:xfrm>
          <a:prstGeom prst="rect">
            <a:avLst/>
          </a:prstGeom>
          <a:noFill/>
          <a:ln/>
        </p:spPr>
        <p:txBody>
          <a:bodyPr wrap="square" lIns="0" tIns="0" rIns="0" bIns="0" rtlCol="0" anchor="ctr"/>
          <a:lstStyle/>
          <a:p>
            <a:pPr algn="ctr" indent="0" marL="0">
              <a:buNone/>
            </a:pPr>
            <a:r>
              <a:rPr lang="en-US" sz="3600" b="1" dirty="0">
                <a:solidFill>
                  <a:srgbClr val="FFB703"/>
                </a:solidFill>
                <a:latin typeface="Cambria" pitchFamily="34" charset="0"/>
                <a:ea typeface="Cambria" pitchFamily="34" charset="-122"/>
                <a:cs typeface="Cambria" pitchFamily="34" charset="-120"/>
              </a:rPr>
              <a:t>20</a:t>
            </a:r>
            <a:endParaRPr lang="en-US" sz="3600" dirty="0"/>
          </a:p>
        </p:txBody>
      </p:sp>
      <p:sp>
        <p:nvSpPr>
          <p:cNvPr id="15" name="Text 13"/>
          <p:cNvSpPr/>
          <p:nvPr/>
        </p:nvSpPr>
        <p:spPr>
          <a:xfrm>
            <a:off x="6236208" y="3611880"/>
            <a:ext cx="2267712" cy="3200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Total Classes</a:t>
            </a:r>
            <a:endParaRPr lang="en-US" sz="1250" dirty="0"/>
          </a:p>
        </p:txBody>
      </p:sp>
      <p:sp>
        <p:nvSpPr>
          <p:cNvPr id="16" name="Text 14"/>
          <p:cNvSpPr/>
          <p:nvPr/>
        </p:nvSpPr>
        <p:spPr>
          <a:xfrm>
            <a:off x="6236208" y="3959352"/>
            <a:ext cx="2267712" cy="411480"/>
          </a:xfrm>
          <a:prstGeom prst="rect">
            <a:avLst/>
          </a:prstGeom>
          <a:noFill/>
          <a:ln/>
        </p:spPr>
        <p:txBody>
          <a:bodyPr wrap="square" lIns="0" tIns="0" rIns="0" bIns="0" rtlCol="0" anchor="ctr"/>
          <a:lstStyle/>
          <a:p>
            <a:pPr algn="ctr" indent="0" marL="0">
              <a:lnSpc>
                <a:spcPct val="110000"/>
              </a:lnSpc>
              <a:buNone/>
            </a:pPr>
            <a:r>
              <a:rPr lang="en-US" sz="900" dirty="0">
                <a:solidFill>
                  <a:srgbClr val="9FB1C8"/>
                </a:solidFill>
                <a:latin typeface="Calibri" pitchFamily="34" charset="0"/>
                <a:ea typeface="Calibri" pitchFamily="34" charset="-122"/>
                <a:cs typeface="Calibri" pitchFamily="34" charset="-120"/>
              </a:rPr>
              <a:t>4 circuits × 5 fault conditions</a:t>
            </a:r>
            <a:endParaRPr lang="en-US" sz="900" dirty="0"/>
          </a:p>
        </p:txBody>
      </p:sp>
      <p:sp>
        <p:nvSpPr>
          <p:cNvPr id="17" name="Shape 15"/>
          <p:cNvSpPr/>
          <p:nvPr/>
        </p:nvSpPr>
        <p:spPr>
          <a:xfrm>
            <a:off x="8897112" y="2697480"/>
            <a:ext cx="2542032" cy="1737360"/>
          </a:xfrm>
          <a:prstGeom prst="roundRect">
            <a:avLst>
              <a:gd name="adj" fmla="val 4737"/>
            </a:avLst>
          </a:prstGeom>
          <a:solidFill>
            <a:srgbClr val="0B1F3A"/>
          </a:solidFill>
          <a:ln/>
          <a:effectLst>
            <a:outerShdw sx="100000" sy="100000" kx="0" ky="0" algn="bl" rotWithShape="0" blurRad="114300" dist="38100" dir="2700000">
              <a:srgbClr val="0B1F3A">
                <a:alpha val="14000"/>
              </a:srgbClr>
            </a:outerShdw>
          </a:effectLst>
        </p:spPr>
      </p:sp>
      <p:sp>
        <p:nvSpPr>
          <p:cNvPr id="18" name="Text 16"/>
          <p:cNvSpPr/>
          <p:nvPr/>
        </p:nvSpPr>
        <p:spPr>
          <a:xfrm>
            <a:off x="8897112" y="2843784"/>
            <a:ext cx="2542032" cy="731520"/>
          </a:xfrm>
          <a:prstGeom prst="rect">
            <a:avLst/>
          </a:prstGeom>
          <a:noFill/>
          <a:ln/>
        </p:spPr>
        <p:txBody>
          <a:bodyPr wrap="square" lIns="0" tIns="0" rIns="0" bIns="0" rtlCol="0" anchor="ctr"/>
          <a:lstStyle/>
          <a:p>
            <a:pPr algn="ctr" indent="0" marL="0">
              <a:buNone/>
            </a:pPr>
            <a:r>
              <a:rPr lang="en-US" sz="3600" b="1" dirty="0">
                <a:solidFill>
                  <a:srgbClr val="FFB703"/>
                </a:solidFill>
                <a:latin typeface="Cambria" pitchFamily="34" charset="0"/>
                <a:ea typeface="Cambria" pitchFamily="34" charset="-122"/>
                <a:cs typeface="Cambria" pitchFamily="34" charset="-120"/>
              </a:rPr>
              <a:t>1019</a:t>
            </a:r>
            <a:endParaRPr lang="en-US" sz="3600" dirty="0"/>
          </a:p>
        </p:txBody>
      </p:sp>
      <p:sp>
        <p:nvSpPr>
          <p:cNvPr id="19" name="Text 17"/>
          <p:cNvSpPr/>
          <p:nvPr/>
        </p:nvSpPr>
        <p:spPr>
          <a:xfrm>
            <a:off x="9034272" y="3611880"/>
            <a:ext cx="2267712" cy="3200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Real Samples</a:t>
            </a:r>
            <a:endParaRPr lang="en-US" sz="1250" dirty="0"/>
          </a:p>
        </p:txBody>
      </p:sp>
      <p:sp>
        <p:nvSpPr>
          <p:cNvPr id="20" name="Text 18"/>
          <p:cNvSpPr/>
          <p:nvPr/>
        </p:nvSpPr>
        <p:spPr>
          <a:xfrm>
            <a:off x="9034272" y="3959352"/>
            <a:ext cx="2267712" cy="411480"/>
          </a:xfrm>
          <a:prstGeom prst="rect">
            <a:avLst/>
          </a:prstGeom>
          <a:noFill/>
          <a:ln/>
        </p:spPr>
        <p:txBody>
          <a:bodyPr wrap="square" lIns="0" tIns="0" rIns="0" bIns="0" rtlCol="0" anchor="ctr"/>
          <a:lstStyle/>
          <a:p>
            <a:pPr algn="ctr" indent="0" marL="0">
              <a:lnSpc>
                <a:spcPct val="110000"/>
              </a:lnSpc>
              <a:buNone/>
            </a:pPr>
            <a:r>
              <a:rPr lang="en-US" sz="900" dirty="0">
                <a:solidFill>
                  <a:srgbClr val="9FB1C8"/>
                </a:solidFill>
                <a:latin typeface="Calibri" pitchFamily="34" charset="0"/>
                <a:ea typeface="Calibri" pitchFamily="34" charset="-122"/>
                <a:cs typeface="Calibri" pitchFamily="34" charset="-120"/>
              </a:rPr>
              <a:t>From physics-based LTspice sweeps</a:t>
            </a:r>
            <a:endParaRPr lang="en-US" sz="900" dirty="0"/>
          </a:p>
        </p:txBody>
      </p:sp>
      <p:sp>
        <p:nvSpPr>
          <p:cNvPr id="21" name="Shape 19"/>
          <p:cNvSpPr/>
          <p:nvPr/>
        </p:nvSpPr>
        <p:spPr>
          <a:xfrm>
            <a:off x="502920" y="4663440"/>
            <a:ext cx="10607040" cy="1325880"/>
          </a:xfrm>
          <a:prstGeom prst="roundRect">
            <a:avLst>
              <a:gd name="adj" fmla="val 6207"/>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22" name="Shape 20"/>
          <p:cNvSpPr/>
          <p:nvPr/>
        </p:nvSpPr>
        <p:spPr>
          <a:xfrm>
            <a:off x="777240" y="4956048"/>
            <a:ext cx="621792" cy="621792"/>
          </a:xfrm>
          <a:prstGeom prst="ellipse">
            <a:avLst/>
          </a:prstGeom>
          <a:solidFill>
            <a:srgbClr val="00B4D8"/>
          </a:solidFill>
          <a:ln/>
          <a:effectLst>
            <a:outerShdw sx="100000" sy="100000" kx="0" ky="0" algn="bl" rotWithShape="0" blurRad="114300" dist="38100" dir="2700000">
              <a:srgbClr val="0B1F3A">
                <a:alpha val="14000"/>
              </a:srgbClr>
            </a:outerShdw>
          </a:effectLst>
        </p:spPr>
      </p:sp>
      <p:pic>
        <p:nvPicPr>
          <p:cNvPr id="23" name="Image 0" descr="/sessions/blissful-zealous-babbage/mnt/outputs/ppt/icons/bulb_0B1F3A.png">    </p:cNvPr>
          <p:cNvPicPr>
            <a:picLocks noChangeAspect="1"/>
          </p:cNvPicPr>
          <p:nvPr/>
        </p:nvPicPr>
        <p:blipFill>
          <a:blip r:embed="rId1"/>
          <a:stretch>
            <a:fillRect/>
          </a:stretch>
        </p:blipFill>
        <p:spPr>
          <a:xfrm>
            <a:off x="861182" y="5039990"/>
            <a:ext cx="453908" cy="453908"/>
          </a:xfrm>
          <a:prstGeom prst="rect">
            <a:avLst/>
          </a:prstGeom>
        </p:spPr>
      </p:pic>
      <p:sp>
        <p:nvSpPr>
          <p:cNvPr id="24" name="Text 21"/>
          <p:cNvSpPr/>
          <p:nvPr/>
        </p:nvSpPr>
        <p:spPr>
          <a:xfrm>
            <a:off x="1600200" y="4800600"/>
            <a:ext cx="9235440" cy="1051560"/>
          </a:xfrm>
          <a:prstGeom prst="rect">
            <a:avLst/>
          </a:prstGeom>
          <a:noFill/>
          <a:ln/>
        </p:spPr>
        <p:txBody>
          <a:bodyPr wrap="square" lIns="0" tIns="0" rIns="0" bIns="0" rtlCol="0" anchor="ctr"/>
          <a:lstStyle/>
          <a:p>
            <a:pPr indent="0" marL="0">
              <a:lnSpc>
                <a:spcPct val="125000"/>
              </a:lnSpc>
              <a:buNone/>
            </a:pPr>
            <a:r>
              <a:rPr lang="en-US" sz="1200" b="1" dirty="0">
                <a:solidFill>
                  <a:srgbClr val="0B1F3A"/>
                </a:solidFill>
                <a:latin typeface="Calibri" pitchFamily="34" charset="0"/>
                <a:ea typeface="Calibri" pitchFamily="34" charset="-122"/>
                <a:cs typeface="Calibri" pitchFamily="34" charset="-120"/>
              </a:rPr>
              <a:t>What's novel here: </a:t>
            </a:r>
            <a:pPr indent="0" marL="0">
              <a:lnSpc>
                <a:spcPct val="125000"/>
              </a:lnSpc>
              <a:buNone/>
            </a:pPr>
            <a:r>
              <a:rPr lang="en-US" sz="1200" dirty="0">
                <a:solidFill>
                  <a:srgbClr val="1E293B"/>
                </a:solidFill>
                <a:latin typeface="Calibri" pitchFamily="34" charset="0"/>
                <a:ea typeface="Calibri" pitchFamily="34" charset="-122"/>
                <a:cs typeface="Calibri" pitchFamily="34" charset="-120"/>
              </a:rPr>
              <a:t>the training data comes entirely from real LTspice physics (no synthetic augmentation), and a topology-aware correction rule catches physically impossible predictions — two choices that trade a higher but hollow accuracy for a lower, trustworthy one.</a:t>
            </a:r>
            <a:endParaRPr lang="en-US" sz="1200" dirty="0"/>
          </a:p>
        </p:txBody>
      </p:sp>
      <p:sp>
        <p:nvSpPr>
          <p:cNvPr id="25" name="Text 22"/>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6" name="Text 23"/>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2. CIRCUITS &amp; FAULT THEORY</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Five Ways an Analog Circuit Can Misbehave</a:t>
            </a:r>
            <a:endParaRPr lang="en-US" sz="3000" dirty="0"/>
          </a:p>
        </p:txBody>
      </p:sp>
      <p:sp>
        <p:nvSpPr>
          <p:cNvPr id="4" name="Shape 2"/>
          <p:cNvSpPr/>
          <p:nvPr/>
        </p:nvSpPr>
        <p:spPr>
          <a:xfrm>
            <a:off x="502920" y="1828800"/>
            <a:ext cx="2066544" cy="3977640"/>
          </a:xfrm>
          <a:prstGeom prst="roundRect">
            <a:avLst>
              <a:gd name="adj" fmla="val 3982"/>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5" name="Shape 3"/>
          <p:cNvSpPr/>
          <p:nvPr/>
        </p:nvSpPr>
        <p:spPr>
          <a:xfrm>
            <a:off x="1170432" y="2121408"/>
            <a:ext cx="731520" cy="731520"/>
          </a:xfrm>
          <a:prstGeom prst="ellipse">
            <a:avLst/>
          </a:prstGeom>
          <a:solidFill>
            <a:srgbClr val="5EAE7A"/>
          </a:solidFill>
          <a:ln/>
          <a:effectLst>
            <a:outerShdw sx="100000" sy="100000" kx="0" ky="0" algn="bl" rotWithShape="0" blurRad="114300" dist="38100" dir="2700000">
              <a:srgbClr val="0B1F3A">
                <a:alpha val="14000"/>
              </a:srgbClr>
            </a:outerShdw>
          </a:effectLst>
        </p:spPr>
      </p:sp>
      <p:pic>
        <p:nvPicPr>
          <p:cNvPr id="6" name="Image 0" descr="/sessions/blissful-zealous-babbage/mnt/outputs/ppt/icons/check_FFFFFF.png">    </p:cNvPr>
          <p:cNvPicPr>
            <a:picLocks noChangeAspect="1"/>
          </p:cNvPicPr>
          <p:nvPr/>
        </p:nvPicPr>
        <p:blipFill>
          <a:blip r:embed="rId1"/>
          <a:stretch>
            <a:fillRect/>
          </a:stretch>
        </p:blipFill>
        <p:spPr>
          <a:xfrm>
            <a:off x="1269187" y="2220163"/>
            <a:ext cx="534010" cy="534010"/>
          </a:xfrm>
          <a:prstGeom prst="rect">
            <a:avLst/>
          </a:prstGeom>
        </p:spPr>
      </p:pic>
      <p:sp>
        <p:nvSpPr>
          <p:cNvPr id="7" name="Text 4"/>
          <p:cNvSpPr/>
          <p:nvPr/>
        </p:nvSpPr>
        <p:spPr>
          <a:xfrm>
            <a:off x="612648" y="3127248"/>
            <a:ext cx="1847088" cy="365760"/>
          </a:xfrm>
          <a:prstGeom prst="rect">
            <a:avLst/>
          </a:prstGeom>
          <a:noFill/>
          <a:ln/>
        </p:spPr>
        <p:txBody>
          <a:bodyPr wrap="square" lIns="0" tIns="0" rIns="0" bIns="0" rtlCol="0" anchor="ctr"/>
          <a:lstStyle/>
          <a:p>
            <a:pPr algn="ctr" indent="0" marL="0">
              <a:buNone/>
            </a:pPr>
            <a:r>
              <a:rPr lang="en-US" sz="1700" b="1" dirty="0">
                <a:solidFill>
                  <a:srgbClr val="0B1F3A"/>
                </a:solidFill>
                <a:latin typeface="Cambria" pitchFamily="34" charset="0"/>
                <a:ea typeface="Cambria" pitchFamily="34" charset="-122"/>
                <a:cs typeface="Cambria" pitchFamily="34" charset="-120"/>
              </a:rPr>
              <a:t>Normal</a:t>
            </a:r>
            <a:endParaRPr lang="en-US" sz="1700" dirty="0"/>
          </a:p>
        </p:txBody>
      </p:sp>
      <p:sp>
        <p:nvSpPr>
          <p:cNvPr id="8" name="Text 5"/>
          <p:cNvSpPr/>
          <p:nvPr/>
        </p:nvSpPr>
        <p:spPr>
          <a:xfrm>
            <a:off x="685800" y="3566160"/>
            <a:ext cx="1700784" cy="2103120"/>
          </a:xfrm>
          <a:prstGeom prst="rect">
            <a:avLst/>
          </a:prstGeom>
          <a:noFill/>
          <a:ln/>
        </p:spPr>
        <p:txBody>
          <a:bodyPr wrap="square" lIns="0" tIns="0" rIns="0" bIns="0" rtlCol="0" anchor="ctr"/>
          <a:lstStyle/>
          <a:p>
            <a:pPr algn="ctr" indent="0" marL="0">
              <a:lnSpc>
                <a:spcPct val="125000"/>
              </a:lnSpc>
              <a:buNone/>
            </a:pPr>
            <a:r>
              <a:rPr lang="en-US" sz="1050" dirty="0">
                <a:solidFill>
                  <a:srgbClr val="64748B"/>
                </a:solidFill>
                <a:latin typeface="Calibri" pitchFamily="34" charset="0"/>
                <a:ea typeface="Calibri" pitchFamily="34" charset="-122"/>
                <a:cs typeface="Calibri" pitchFamily="34" charset="-120"/>
              </a:rPr>
              <a:t>Component values sit at their nominal, healthy design point.</a:t>
            </a:r>
            <a:endParaRPr lang="en-US" sz="1050" dirty="0"/>
          </a:p>
        </p:txBody>
      </p:sp>
      <p:sp>
        <p:nvSpPr>
          <p:cNvPr id="9" name="Shape 6"/>
          <p:cNvSpPr/>
          <p:nvPr/>
        </p:nvSpPr>
        <p:spPr>
          <a:xfrm>
            <a:off x="2738628" y="1828800"/>
            <a:ext cx="2066544" cy="3977640"/>
          </a:xfrm>
          <a:prstGeom prst="roundRect">
            <a:avLst>
              <a:gd name="adj" fmla="val 3982"/>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0" name="Shape 7"/>
          <p:cNvSpPr/>
          <p:nvPr/>
        </p:nvSpPr>
        <p:spPr>
          <a:xfrm>
            <a:off x="3406140" y="2121408"/>
            <a:ext cx="731520" cy="731520"/>
          </a:xfrm>
          <a:prstGeom prst="ellipse">
            <a:avLst/>
          </a:prstGeom>
          <a:solidFill>
            <a:srgbClr val="00B4D8"/>
          </a:solidFill>
          <a:ln/>
          <a:effectLst>
            <a:outerShdw sx="100000" sy="100000" kx="0" ky="0" algn="bl" rotWithShape="0" blurRad="114300" dist="38100" dir="2700000">
              <a:srgbClr val="0B1F3A">
                <a:alpha val="14000"/>
              </a:srgbClr>
            </a:outerShdw>
          </a:effectLst>
        </p:spPr>
      </p:sp>
      <p:pic>
        <p:nvPicPr>
          <p:cNvPr id="11" name="Image 1" descr="/sessions/blissful-zealous-babbage/mnt/outputs/ppt/icons/chartline_FFFFFF.png">    </p:cNvPr>
          <p:cNvPicPr>
            <a:picLocks noChangeAspect="1"/>
          </p:cNvPicPr>
          <p:nvPr/>
        </p:nvPicPr>
        <p:blipFill>
          <a:blip r:embed="rId2"/>
          <a:stretch>
            <a:fillRect/>
          </a:stretch>
        </p:blipFill>
        <p:spPr>
          <a:xfrm>
            <a:off x="3504895" y="2220163"/>
            <a:ext cx="534010" cy="534010"/>
          </a:xfrm>
          <a:prstGeom prst="rect">
            <a:avLst/>
          </a:prstGeom>
        </p:spPr>
      </p:pic>
      <p:sp>
        <p:nvSpPr>
          <p:cNvPr id="12" name="Text 8"/>
          <p:cNvSpPr/>
          <p:nvPr/>
        </p:nvSpPr>
        <p:spPr>
          <a:xfrm>
            <a:off x="2848356" y="3127248"/>
            <a:ext cx="1847088" cy="365760"/>
          </a:xfrm>
          <a:prstGeom prst="rect">
            <a:avLst/>
          </a:prstGeom>
          <a:noFill/>
          <a:ln/>
        </p:spPr>
        <p:txBody>
          <a:bodyPr wrap="square" lIns="0" tIns="0" rIns="0" bIns="0" rtlCol="0" anchor="ctr"/>
          <a:lstStyle/>
          <a:p>
            <a:pPr algn="ctr" indent="0" marL="0">
              <a:buNone/>
            </a:pPr>
            <a:r>
              <a:rPr lang="en-US" sz="1700" b="1" dirty="0">
                <a:solidFill>
                  <a:srgbClr val="0B1F3A"/>
                </a:solidFill>
                <a:latin typeface="Cambria" pitchFamily="34" charset="0"/>
                <a:ea typeface="Cambria" pitchFamily="34" charset="-122"/>
                <a:cs typeface="Cambria" pitchFamily="34" charset="-120"/>
              </a:rPr>
              <a:t>Drift</a:t>
            </a:r>
            <a:endParaRPr lang="en-US" sz="1700" dirty="0"/>
          </a:p>
        </p:txBody>
      </p:sp>
      <p:sp>
        <p:nvSpPr>
          <p:cNvPr id="13" name="Text 9"/>
          <p:cNvSpPr/>
          <p:nvPr/>
        </p:nvSpPr>
        <p:spPr>
          <a:xfrm>
            <a:off x="2921508" y="3566160"/>
            <a:ext cx="1700784" cy="2103120"/>
          </a:xfrm>
          <a:prstGeom prst="rect">
            <a:avLst/>
          </a:prstGeom>
          <a:noFill/>
          <a:ln/>
        </p:spPr>
        <p:txBody>
          <a:bodyPr wrap="square" lIns="0" tIns="0" rIns="0" bIns="0" rtlCol="0" anchor="ctr"/>
          <a:lstStyle/>
          <a:p>
            <a:pPr algn="ctr" indent="0" marL="0">
              <a:lnSpc>
                <a:spcPct val="125000"/>
              </a:lnSpc>
              <a:buNone/>
            </a:pPr>
            <a:r>
              <a:rPr lang="en-US" sz="1050" dirty="0">
                <a:solidFill>
                  <a:srgbClr val="64748B"/>
                </a:solidFill>
                <a:latin typeface="Calibri" pitchFamily="34" charset="0"/>
                <a:ea typeface="Calibri" pitchFamily="34" charset="-122"/>
                <a:cs typeface="Calibri" pitchFamily="34" charset="-120"/>
              </a:rPr>
              <a:t>A component value slowly shifts from nominal — aging, temperature, wear.</a:t>
            </a:r>
            <a:endParaRPr lang="en-US" sz="1050" dirty="0"/>
          </a:p>
        </p:txBody>
      </p:sp>
      <p:sp>
        <p:nvSpPr>
          <p:cNvPr id="14" name="Shape 10"/>
          <p:cNvSpPr/>
          <p:nvPr/>
        </p:nvSpPr>
        <p:spPr>
          <a:xfrm>
            <a:off x="4974336" y="1828800"/>
            <a:ext cx="2066544" cy="3977640"/>
          </a:xfrm>
          <a:prstGeom prst="roundRect">
            <a:avLst>
              <a:gd name="adj" fmla="val 3982"/>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5" name="Shape 11"/>
          <p:cNvSpPr/>
          <p:nvPr/>
        </p:nvSpPr>
        <p:spPr>
          <a:xfrm>
            <a:off x="5641848" y="2121408"/>
            <a:ext cx="731520" cy="73152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6" name="Image 2" descr="/sessions/blissful-zealous-babbage/mnt/outputs/ppt/icons/plug_FFFFFF.png">    </p:cNvPr>
          <p:cNvPicPr>
            <a:picLocks noChangeAspect="1"/>
          </p:cNvPicPr>
          <p:nvPr/>
        </p:nvPicPr>
        <p:blipFill>
          <a:blip r:embed="rId3"/>
          <a:stretch>
            <a:fillRect/>
          </a:stretch>
        </p:blipFill>
        <p:spPr>
          <a:xfrm>
            <a:off x="5740603" y="2220163"/>
            <a:ext cx="534010" cy="534010"/>
          </a:xfrm>
          <a:prstGeom prst="rect">
            <a:avLst/>
          </a:prstGeom>
        </p:spPr>
      </p:pic>
      <p:sp>
        <p:nvSpPr>
          <p:cNvPr id="17" name="Text 12"/>
          <p:cNvSpPr/>
          <p:nvPr/>
        </p:nvSpPr>
        <p:spPr>
          <a:xfrm>
            <a:off x="5084064" y="3127248"/>
            <a:ext cx="1847088" cy="365760"/>
          </a:xfrm>
          <a:prstGeom prst="rect">
            <a:avLst/>
          </a:prstGeom>
          <a:noFill/>
          <a:ln/>
        </p:spPr>
        <p:txBody>
          <a:bodyPr wrap="square" lIns="0" tIns="0" rIns="0" bIns="0" rtlCol="0" anchor="ctr"/>
          <a:lstStyle/>
          <a:p>
            <a:pPr algn="ctr" indent="0" marL="0">
              <a:buNone/>
            </a:pPr>
            <a:r>
              <a:rPr lang="en-US" sz="1700" b="1" dirty="0">
                <a:solidFill>
                  <a:srgbClr val="0B1F3A"/>
                </a:solidFill>
                <a:latin typeface="Cambria" pitchFamily="34" charset="0"/>
                <a:ea typeface="Cambria" pitchFamily="34" charset="-122"/>
                <a:cs typeface="Cambria" pitchFamily="34" charset="-120"/>
              </a:rPr>
              <a:t>Open</a:t>
            </a:r>
            <a:endParaRPr lang="en-US" sz="1700" dirty="0"/>
          </a:p>
        </p:txBody>
      </p:sp>
      <p:sp>
        <p:nvSpPr>
          <p:cNvPr id="18" name="Text 13"/>
          <p:cNvSpPr/>
          <p:nvPr/>
        </p:nvSpPr>
        <p:spPr>
          <a:xfrm>
            <a:off x="5157216" y="3566160"/>
            <a:ext cx="1700784" cy="2103120"/>
          </a:xfrm>
          <a:prstGeom prst="rect">
            <a:avLst/>
          </a:prstGeom>
          <a:noFill/>
          <a:ln/>
        </p:spPr>
        <p:txBody>
          <a:bodyPr wrap="square" lIns="0" tIns="0" rIns="0" bIns="0" rtlCol="0" anchor="ctr"/>
          <a:lstStyle/>
          <a:p>
            <a:pPr algn="ctr" indent="0" marL="0">
              <a:lnSpc>
                <a:spcPct val="125000"/>
              </a:lnSpc>
              <a:buNone/>
            </a:pPr>
            <a:r>
              <a:rPr lang="en-US" sz="1050" dirty="0">
                <a:solidFill>
                  <a:srgbClr val="64748B"/>
                </a:solidFill>
                <a:latin typeface="Calibri" pitchFamily="34" charset="0"/>
                <a:ea typeface="Calibri" pitchFamily="34" charset="-122"/>
                <a:cs typeface="Calibri" pitchFamily="34" charset="-120"/>
              </a:rPr>
              <a:t>A component disconnects entirely — an infinite-resistance break in the path.</a:t>
            </a:r>
            <a:endParaRPr lang="en-US" sz="1050" dirty="0"/>
          </a:p>
        </p:txBody>
      </p:sp>
      <p:sp>
        <p:nvSpPr>
          <p:cNvPr id="19" name="Shape 14"/>
          <p:cNvSpPr/>
          <p:nvPr/>
        </p:nvSpPr>
        <p:spPr>
          <a:xfrm>
            <a:off x="7210044" y="1828800"/>
            <a:ext cx="2066544" cy="3977640"/>
          </a:xfrm>
          <a:prstGeom prst="roundRect">
            <a:avLst>
              <a:gd name="adj" fmla="val 3982"/>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20" name="Shape 15"/>
          <p:cNvSpPr/>
          <p:nvPr/>
        </p:nvSpPr>
        <p:spPr>
          <a:xfrm>
            <a:off x="7877556" y="2121408"/>
            <a:ext cx="731520" cy="731520"/>
          </a:xfrm>
          <a:prstGeom prst="ellipse">
            <a:avLst/>
          </a:prstGeom>
          <a:solidFill>
            <a:srgbClr val="D9695F"/>
          </a:solidFill>
          <a:ln/>
          <a:effectLst>
            <a:outerShdw sx="100000" sy="100000" kx="0" ky="0" algn="bl" rotWithShape="0" blurRad="114300" dist="38100" dir="2700000">
              <a:srgbClr val="0B1F3A">
                <a:alpha val="14000"/>
              </a:srgbClr>
            </a:outerShdw>
          </a:effectLst>
        </p:spPr>
      </p:sp>
      <p:pic>
        <p:nvPicPr>
          <p:cNvPr id="21" name="Image 3" descr="/sessions/blissful-zealous-babbage/mnt/outputs/ppt/icons/bolt_FFFFFF.png">    </p:cNvPr>
          <p:cNvPicPr>
            <a:picLocks noChangeAspect="1"/>
          </p:cNvPicPr>
          <p:nvPr/>
        </p:nvPicPr>
        <p:blipFill>
          <a:blip r:embed="rId4"/>
          <a:stretch>
            <a:fillRect/>
          </a:stretch>
        </p:blipFill>
        <p:spPr>
          <a:xfrm>
            <a:off x="7976311" y="2220163"/>
            <a:ext cx="534010" cy="534010"/>
          </a:xfrm>
          <a:prstGeom prst="rect">
            <a:avLst/>
          </a:prstGeom>
        </p:spPr>
      </p:pic>
      <p:sp>
        <p:nvSpPr>
          <p:cNvPr id="22" name="Text 16"/>
          <p:cNvSpPr/>
          <p:nvPr/>
        </p:nvSpPr>
        <p:spPr>
          <a:xfrm>
            <a:off x="7319772" y="3127248"/>
            <a:ext cx="1847088" cy="365760"/>
          </a:xfrm>
          <a:prstGeom prst="rect">
            <a:avLst/>
          </a:prstGeom>
          <a:noFill/>
          <a:ln/>
        </p:spPr>
        <p:txBody>
          <a:bodyPr wrap="square" lIns="0" tIns="0" rIns="0" bIns="0" rtlCol="0" anchor="ctr"/>
          <a:lstStyle/>
          <a:p>
            <a:pPr algn="ctr" indent="0" marL="0">
              <a:buNone/>
            </a:pPr>
            <a:r>
              <a:rPr lang="en-US" sz="1700" b="1" dirty="0">
                <a:solidFill>
                  <a:srgbClr val="0B1F3A"/>
                </a:solidFill>
                <a:latin typeface="Cambria" pitchFamily="34" charset="0"/>
                <a:ea typeface="Cambria" pitchFamily="34" charset="-122"/>
                <a:cs typeface="Cambria" pitchFamily="34" charset="-120"/>
              </a:rPr>
              <a:t>Short</a:t>
            </a:r>
            <a:endParaRPr lang="en-US" sz="1700" dirty="0"/>
          </a:p>
        </p:txBody>
      </p:sp>
      <p:sp>
        <p:nvSpPr>
          <p:cNvPr id="23" name="Text 17"/>
          <p:cNvSpPr/>
          <p:nvPr/>
        </p:nvSpPr>
        <p:spPr>
          <a:xfrm>
            <a:off x="7392924" y="3566160"/>
            <a:ext cx="1700784" cy="2103120"/>
          </a:xfrm>
          <a:prstGeom prst="rect">
            <a:avLst/>
          </a:prstGeom>
          <a:noFill/>
          <a:ln/>
        </p:spPr>
        <p:txBody>
          <a:bodyPr wrap="square" lIns="0" tIns="0" rIns="0" bIns="0" rtlCol="0" anchor="ctr"/>
          <a:lstStyle/>
          <a:p>
            <a:pPr algn="ctr" indent="0" marL="0">
              <a:lnSpc>
                <a:spcPct val="125000"/>
              </a:lnSpc>
              <a:buNone/>
            </a:pPr>
            <a:r>
              <a:rPr lang="en-US" sz="1050" dirty="0">
                <a:solidFill>
                  <a:srgbClr val="64748B"/>
                </a:solidFill>
                <a:latin typeface="Calibri" pitchFamily="34" charset="0"/>
                <a:ea typeface="Calibri" pitchFamily="34" charset="-122"/>
                <a:cs typeface="Calibri" pitchFamily="34" charset="-120"/>
              </a:rPr>
              <a:t>A component is bypassed — a near-zero-resistance path forms across it.</a:t>
            </a:r>
            <a:endParaRPr lang="en-US" sz="1050" dirty="0"/>
          </a:p>
        </p:txBody>
      </p:sp>
      <p:sp>
        <p:nvSpPr>
          <p:cNvPr id="24" name="Shape 18"/>
          <p:cNvSpPr/>
          <p:nvPr/>
        </p:nvSpPr>
        <p:spPr>
          <a:xfrm>
            <a:off x="9445752" y="1828800"/>
            <a:ext cx="2066544" cy="3977640"/>
          </a:xfrm>
          <a:prstGeom prst="roundRect">
            <a:avLst>
              <a:gd name="adj" fmla="val 3982"/>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25" name="Shape 19"/>
          <p:cNvSpPr/>
          <p:nvPr/>
        </p:nvSpPr>
        <p:spPr>
          <a:xfrm>
            <a:off x="10113264" y="2121408"/>
            <a:ext cx="731520" cy="731520"/>
          </a:xfrm>
          <a:prstGeom prst="ellipse">
            <a:avLst/>
          </a:prstGeom>
          <a:solidFill>
            <a:srgbClr val="8E5AA8"/>
          </a:solidFill>
          <a:ln/>
          <a:effectLst>
            <a:outerShdw sx="100000" sy="100000" kx="0" ky="0" algn="bl" rotWithShape="0" blurRad="114300" dist="38100" dir="2700000">
              <a:srgbClr val="0B1F3A">
                <a:alpha val="14000"/>
              </a:srgbClr>
            </a:outerShdw>
          </a:effectLst>
        </p:spPr>
      </p:sp>
      <p:pic>
        <p:nvPicPr>
          <p:cNvPr id="26" name="Image 4" descr="/sessions/blissful-zealous-babbage/mnt/outputs/ppt/icons/random_FFFFFF.png">    </p:cNvPr>
          <p:cNvPicPr>
            <a:picLocks noChangeAspect="1"/>
          </p:cNvPicPr>
          <p:nvPr/>
        </p:nvPicPr>
        <p:blipFill>
          <a:blip r:embed="rId5"/>
          <a:stretch>
            <a:fillRect/>
          </a:stretch>
        </p:blipFill>
        <p:spPr>
          <a:xfrm>
            <a:off x="10212019" y="2220163"/>
            <a:ext cx="534010" cy="534010"/>
          </a:xfrm>
          <a:prstGeom prst="rect">
            <a:avLst/>
          </a:prstGeom>
        </p:spPr>
      </p:pic>
      <p:sp>
        <p:nvSpPr>
          <p:cNvPr id="27" name="Text 20"/>
          <p:cNvSpPr/>
          <p:nvPr/>
        </p:nvSpPr>
        <p:spPr>
          <a:xfrm>
            <a:off x="9555480" y="3127248"/>
            <a:ext cx="1847088" cy="365760"/>
          </a:xfrm>
          <a:prstGeom prst="rect">
            <a:avLst/>
          </a:prstGeom>
          <a:noFill/>
          <a:ln/>
        </p:spPr>
        <p:txBody>
          <a:bodyPr wrap="square" lIns="0" tIns="0" rIns="0" bIns="0" rtlCol="0" anchor="ctr"/>
          <a:lstStyle/>
          <a:p>
            <a:pPr algn="ctr" indent="0" marL="0">
              <a:buNone/>
            </a:pPr>
            <a:r>
              <a:rPr lang="en-US" sz="1700" b="1" dirty="0">
                <a:solidFill>
                  <a:srgbClr val="0B1F3A"/>
                </a:solidFill>
                <a:latin typeface="Cambria" pitchFamily="34" charset="0"/>
                <a:ea typeface="Cambria" pitchFamily="34" charset="-122"/>
                <a:cs typeface="Cambria" pitchFamily="34" charset="-120"/>
              </a:rPr>
              <a:t>Noise</a:t>
            </a:r>
            <a:endParaRPr lang="en-US" sz="1700" dirty="0"/>
          </a:p>
        </p:txBody>
      </p:sp>
      <p:sp>
        <p:nvSpPr>
          <p:cNvPr id="28" name="Text 21"/>
          <p:cNvSpPr/>
          <p:nvPr/>
        </p:nvSpPr>
        <p:spPr>
          <a:xfrm>
            <a:off x="9628632" y="3566160"/>
            <a:ext cx="1700784" cy="2103120"/>
          </a:xfrm>
          <a:prstGeom prst="rect">
            <a:avLst/>
          </a:prstGeom>
          <a:noFill/>
          <a:ln/>
        </p:spPr>
        <p:txBody>
          <a:bodyPr wrap="square" lIns="0" tIns="0" rIns="0" bIns="0" rtlCol="0" anchor="ctr"/>
          <a:lstStyle/>
          <a:p>
            <a:pPr algn="ctr" indent="0" marL="0">
              <a:lnSpc>
                <a:spcPct val="125000"/>
              </a:lnSpc>
              <a:buNone/>
            </a:pPr>
            <a:r>
              <a:rPr lang="en-US" sz="1050" dirty="0">
                <a:solidFill>
                  <a:srgbClr val="64748B"/>
                </a:solidFill>
                <a:latin typeface="Calibri" pitchFamily="34" charset="0"/>
                <a:ea typeface="Calibri" pitchFamily="34" charset="-122"/>
                <a:cs typeface="Calibri" pitchFamily="34" charset="-120"/>
              </a:rPr>
              <a:t>Random disturbance is superimposed on an otherwise healthy signal.</a:t>
            </a:r>
            <a:endParaRPr lang="en-US" sz="1050" dirty="0"/>
          </a:p>
        </p:txBody>
      </p:sp>
      <p:sp>
        <p:nvSpPr>
          <p:cNvPr id="29" name="Text 22"/>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30" name="Text 23"/>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2. CIRCUITS &amp; FAULT THEORY</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Fault Deep Dive: Drift</a:t>
            </a:r>
            <a:endParaRPr lang="en-US" sz="3000" dirty="0"/>
          </a:p>
        </p:txBody>
      </p:sp>
      <p:sp>
        <p:nvSpPr>
          <p:cNvPr id="4" name="Text 2"/>
          <p:cNvSpPr/>
          <p:nvPr/>
        </p:nvSpPr>
        <p:spPr>
          <a:xfrm>
            <a:off x="502920" y="1783080"/>
            <a:ext cx="5760720" cy="1051560"/>
          </a:xfrm>
          <a:prstGeom prst="rect">
            <a:avLst/>
          </a:prstGeom>
          <a:noFill/>
          <a:ln/>
        </p:spPr>
        <p:txBody>
          <a:bodyPr wrap="square" lIns="0" tIns="0" rIns="0" bIns="0" rtlCol="0" anchor="ctr"/>
          <a:lstStyle/>
          <a:p>
            <a:pPr indent="0" marL="0">
              <a:lnSpc>
                <a:spcPct val="130000"/>
              </a:lnSpc>
              <a:buNone/>
            </a:pPr>
            <a:r>
              <a:rPr lang="en-US" sz="1350" dirty="0">
                <a:solidFill>
                  <a:srgbClr val="1E293B"/>
                </a:solidFill>
                <a:latin typeface="Calibri" pitchFamily="34" charset="0"/>
                <a:ea typeface="Calibri" pitchFamily="34" charset="-122"/>
                <a:cs typeface="Calibri" pitchFamily="34" charset="-120"/>
              </a:rPr>
              <a:t>Drift models a component value that has </a:t>
            </a:r>
            <a:pPr indent="0" marL="0">
              <a:lnSpc>
                <a:spcPct val="130000"/>
              </a:lnSpc>
              <a:buNone/>
            </a:pPr>
            <a:r>
              <a:rPr lang="en-US" sz="1350" b="1" i="1" dirty="0">
                <a:solidFill>
                  <a:srgbClr val="0B1F3A"/>
                </a:solidFill>
                <a:latin typeface="Calibri" pitchFamily="34" charset="0"/>
                <a:ea typeface="Calibri" pitchFamily="34" charset="-122"/>
                <a:cs typeface="Calibri" pitchFamily="34" charset="-120"/>
              </a:rPr>
              <a:t>gradually</a:t>
            </a:r>
            <a:pPr indent="0" marL="0">
              <a:lnSpc>
                <a:spcPct val="130000"/>
              </a:lnSpc>
              <a:buNone/>
            </a:pPr>
            <a:r>
              <a:rPr lang="en-US" sz="1350" dirty="0">
                <a:solidFill>
                  <a:srgbClr val="1E293B"/>
                </a:solidFill>
                <a:latin typeface="Calibri" pitchFamily="34" charset="0"/>
                <a:ea typeface="Calibri" pitchFamily="34" charset="-122"/>
                <a:cs typeface="Calibri" pitchFamily="34" charset="-120"/>
              </a:rPr>
              <a:t> moved away from its design value — the most physically realistic and hardest-to-catch fault, since aging and temperature affect every real component.</a:t>
            </a:r>
            <a:endParaRPr lang="en-US" sz="1350" dirty="0"/>
          </a:p>
        </p:txBody>
      </p:sp>
      <p:sp>
        <p:nvSpPr>
          <p:cNvPr id="5" name="Shape 3"/>
          <p:cNvSpPr/>
          <p:nvPr/>
        </p:nvSpPr>
        <p:spPr>
          <a:xfrm>
            <a:off x="502920" y="2971800"/>
            <a:ext cx="5760720" cy="1234440"/>
          </a:xfrm>
          <a:prstGeom prst="roundRect">
            <a:avLst>
              <a:gd name="adj" fmla="val 5926"/>
            </a:avLst>
          </a:prstGeom>
          <a:solidFill>
            <a:srgbClr val="0B1F3A"/>
          </a:solidFill>
          <a:ln/>
          <a:effectLst>
            <a:outerShdw sx="100000" sy="100000" kx="0" ky="0" algn="bl" rotWithShape="0" blurRad="114300" dist="38100" dir="2700000">
              <a:srgbClr val="0B1F3A">
                <a:alpha val="14000"/>
              </a:srgbClr>
            </a:outerShdw>
          </a:effectLst>
        </p:spPr>
      </p:sp>
      <p:sp>
        <p:nvSpPr>
          <p:cNvPr id="6" name="Text 4"/>
          <p:cNvSpPr/>
          <p:nvPr/>
        </p:nvSpPr>
        <p:spPr>
          <a:xfrm>
            <a:off x="777240" y="3108960"/>
            <a:ext cx="5212080" cy="960120"/>
          </a:xfrm>
          <a:prstGeom prst="rect">
            <a:avLst/>
          </a:prstGeom>
          <a:noFill/>
          <a:ln/>
        </p:spPr>
        <p:txBody>
          <a:bodyPr wrap="square" lIns="0" tIns="0" rIns="0" bIns="0" rtlCol="0" anchor="ctr"/>
          <a:lstStyle/>
          <a:p>
            <a:pPr algn="l" indent="0" marL="0">
              <a:lnSpc>
                <a:spcPct val="140000"/>
              </a:lnSpc>
              <a:buNone/>
            </a:pPr>
            <a:r>
              <a:rPr lang="en-US" sz="1600" dirty="0">
                <a:solidFill>
                  <a:srgbClr val="FFB703"/>
                </a:solidFill>
                <a:latin typeface="Courier New" pitchFamily="34" charset="0"/>
                <a:ea typeface="Courier New" pitchFamily="34" charset="-122"/>
                <a:cs typeface="Courier New" pitchFamily="34" charset="-120"/>
              </a:rPr>
              <a:t>R(t) = R0 · (1 + delta)</a:t>
            </a:r>
            <a:endParaRPr lang="en-US" sz="1600" dirty="0"/>
          </a:p>
          <a:p>
            <a:pPr algn="l" indent="0" marL="0">
              <a:lnSpc>
                <a:spcPct val="140000"/>
              </a:lnSpc>
              <a:buNone/>
            </a:pPr>
            <a:r>
              <a:rPr lang="en-US" sz="1600" dirty="0">
                <a:solidFill>
                  <a:srgbClr val="E7ECF4"/>
                </a:solidFill>
                <a:latin typeface="Courier New" pitchFamily="34" charset="0"/>
                <a:ea typeface="Courier New" pitchFamily="34" charset="-122"/>
                <a:cs typeface="Courier New" pitchFamily="34" charset="-120"/>
              </a:rPr>
              <a:t>delta = fractional deviation from nominal</a:t>
            </a:r>
            <a:endParaRPr lang="en-US" sz="1600" dirty="0"/>
          </a:p>
        </p:txBody>
      </p:sp>
      <p:sp>
        <p:nvSpPr>
          <p:cNvPr id="7" name="Text 5"/>
          <p:cNvSpPr/>
          <p:nvPr/>
        </p:nvSpPr>
        <p:spPr>
          <a:xfrm>
            <a:off x="502920" y="4434840"/>
            <a:ext cx="5760720" cy="1097280"/>
          </a:xfrm>
          <a:prstGeom prst="rect">
            <a:avLst/>
          </a:prstGeom>
          <a:noFill/>
          <a:ln/>
        </p:spPr>
        <p:txBody>
          <a:bodyPr wrap="square" lIns="0" tIns="0" rIns="0" bIns="0" rtlCol="0" anchor="ctr"/>
          <a:lstStyle/>
          <a:p>
            <a:pPr indent="0" marL="0">
              <a:lnSpc>
                <a:spcPct val="130000"/>
              </a:lnSpc>
              <a:buNone/>
            </a:pPr>
            <a:r>
              <a:rPr lang="en-US" sz="1150" dirty="0">
                <a:solidFill>
                  <a:srgbClr val="64748B"/>
                </a:solidFill>
                <a:latin typeface="Calibri" pitchFamily="34" charset="0"/>
                <a:ea typeface="Calibri" pitchFamily="34" charset="-122"/>
                <a:cs typeface="Calibri" pitchFamily="34" charset="-120"/>
              </a:rPr>
              <a:t>In this project, drift is generated by sweeping the same component (R or L) across a wide but realistic range with LTspice's .step param directive — not a single fixed shift, but a whole family of plausible drifted values.</a:t>
            </a:r>
            <a:endParaRPr lang="en-US" sz="1150" dirty="0"/>
          </a:p>
        </p:txBody>
      </p:sp>
      <p:sp>
        <p:nvSpPr>
          <p:cNvPr id="8" name="Shape 6"/>
          <p:cNvSpPr/>
          <p:nvPr/>
        </p:nvSpPr>
        <p:spPr>
          <a:xfrm>
            <a:off x="6675120" y="1783080"/>
            <a:ext cx="4434840" cy="3749040"/>
          </a:xfrm>
          <a:prstGeom prst="roundRect">
            <a:avLst>
              <a:gd name="adj" fmla="val 2195"/>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9" name="Shape 7"/>
          <p:cNvSpPr/>
          <p:nvPr/>
        </p:nvSpPr>
        <p:spPr>
          <a:xfrm>
            <a:off x="6949440" y="2057400"/>
            <a:ext cx="566928" cy="566928"/>
          </a:xfrm>
          <a:prstGeom prst="ellipse">
            <a:avLst/>
          </a:prstGeom>
          <a:solidFill>
            <a:srgbClr val="00B4D8"/>
          </a:solidFill>
          <a:ln/>
          <a:effectLst>
            <a:outerShdw sx="100000" sy="100000" kx="0" ky="0" algn="bl" rotWithShape="0" blurRad="114300" dist="38100" dir="2700000">
              <a:srgbClr val="0B1F3A">
                <a:alpha val="14000"/>
              </a:srgbClr>
            </a:outerShdw>
          </a:effectLst>
        </p:spPr>
      </p:sp>
      <p:pic>
        <p:nvPicPr>
          <p:cNvPr id="10" name="Image 0" descr="/sessions/blissful-zealous-babbage/mnt/outputs/ppt/icons/warn_0B1F3A.png">    </p:cNvPr>
          <p:cNvPicPr>
            <a:picLocks noChangeAspect="1"/>
          </p:cNvPicPr>
          <p:nvPr/>
        </p:nvPicPr>
        <p:blipFill>
          <a:blip r:embed="rId1"/>
          <a:stretch>
            <a:fillRect/>
          </a:stretch>
        </p:blipFill>
        <p:spPr>
          <a:xfrm>
            <a:off x="7025975" y="2133935"/>
            <a:ext cx="413857" cy="413857"/>
          </a:xfrm>
          <a:prstGeom prst="rect">
            <a:avLst/>
          </a:prstGeom>
        </p:spPr>
      </p:pic>
      <p:sp>
        <p:nvSpPr>
          <p:cNvPr id="11" name="Text 8"/>
          <p:cNvSpPr/>
          <p:nvPr/>
        </p:nvSpPr>
        <p:spPr>
          <a:xfrm>
            <a:off x="7680960" y="2103120"/>
            <a:ext cx="3108960" cy="365760"/>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Why it's the hardest fault</a:t>
            </a:r>
            <a:endParaRPr lang="en-US" sz="1350" dirty="0"/>
          </a:p>
        </p:txBody>
      </p:sp>
      <p:sp>
        <p:nvSpPr>
          <p:cNvPr id="12" name="Text 9"/>
          <p:cNvSpPr/>
          <p:nvPr/>
        </p:nvSpPr>
        <p:spPr>
          <a:xfrm>
            <a:off x="6949440" y="2697480"/>
            <a:ext cx="3886200" cy="2651760"/>
          </a:xfrm>
          <a:prstGeom prst="rect">
            <a:avLst/>
          </a:prstGeom>
          <a:noFill/>
          <a:ln/>
        </p:spPr>
        <p:txBody>
          <a:bodyPr wrap="square" lIns="0" tIns="0" rIns="0" bIns="0" rtlCol="0" anchor="ctr"/>
          <a:lstStyle/>
          <a:p>
            <a:pPr indent="0" marL="0">
              <a:lnSpc>
                <a:spcPct val="130000"/>
              </a:lnSpc>
              <a:buNone/>
            </a:pPr>
            <a:r>
              <a:rPr lang="en-US" sz="1100" dirty="0">
                <a:solidFill>
                  <a:srgbClr val="64748B"/>
                </a:solidFill>
                <a:latin typeface="Calibri" pitchFamily="34" charset="0"/>
                <a:ea typeface="Calibri" pitchFamily="34" charset="-122"/>
                <a:cs typeface="Calibri" pitchFamily="34" charset="-120"/>
              </a:rPr>
              <a:t>Unlike open/short (extreme, obvious limits), drift sits on a continuum right next to “normal.” Later in Results, drift turns out to be the single hardest fault type to classify across every circuit in this project.</a:t>
            </a:r>
            <a:endParaRPr lang="en-US" sz="1100" dirty="0"/>
          </a:p>
        </p:txBody>
      </p:sp>
      <p:sp>
        <p:nvSpPr>
          <p:cNvPr id="13" name="Text 10"/>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4" name="Text 11"/>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2. CIRCUITS &amp; FAULT THEORY</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Fault Deep Dive: Open &amp; Short</a:t>
            </a:r>
            <a:endParaRPr lang="en-US" sz="3000" dirty="0"/>
          </a:p>
        </p:txBody>
      </p:sp>
      <p:sp>
        <p:nvSpPr>
          <p:cNvPr id="4" name="Shape 2"/>
          <p:cNvSpPr/>
          <p:nvPr/>
        </p:nvSpPr>
        <p:spPr>
          <a:xfrm>
            <a:off x="502920" y="1783080"/>
            <a:ext cx="5166360" cy="4160520"/>
          </a:xfrm>
          <a:prstGeom prst="roundRect">
            <a:avLst>
              <a:gd name="adj" fmla="val 1978"/>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5" name="Shape 3"/>
          <p:cNvSpPr/>
          <p:nvPr/>
        </p:nvSpPr>
        <p:spPr>
          <a:xfrm>
            <a:off x="777240" y="2057400"/>
            <a:ext cx="594360" cy="59436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6" name="Image 0" descr="/sessions/blissful-zealous-babbage/mnt/outputs/ppt/icons/plug_00B4D8.png">    </p:cNvPr>
          <p:cNvPicPr>
            <a:picLocks noChangeAspect="1"/>
          </p:cNvPicPr>
          <p:nvPr/>
        </p:nvPicPr>
        <p:blipFill>
          <a:blip r:embed="rId1"/>
          <a:stretch>
            <a:fillRect/>
          </a:stretch>
        </p:blipFill>
        <p:spPr>
          <a:xfrm>
            <a:off x="857479" y="2137639"/>
            <a:ext cx="433883" cy="433883"/>
          </a:xfrm>
          <a:prstGeom prst="rect">
            <a:avLst/>
          </a:prstGeom>
        </p:spPr>
      </p:pic>
      <p:sp>
        <p:nvSpPr>
          <p:cNvPr id="7" name="Text 4"/>
          <p:cNvSpPr/>
          <p:nvPr/>
        </p:nvSpPr>
        <p:spPr>
          <a:xfrm>
            <a:off x="1554480" y="2130552"/>
            <a:ext cx="3886200" cy="457200"/>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Open: resistance to infinity</a:t>
            </a:r>
            <a:endParaRPr lang="en-US" sz="1450" dirty="0"/>
          </a:p>
        </p:txBody>
      </p:sp>
      <p:sp>
        <p:nvSpPr>
          <p:cNvPr id="8" name="Shape 5"/>
          <p:cNvSpPr/>
          <p:nvPr/>
        </p:nvSpPr>
        <p:spPr>
          <a:xfrm>
            <a:off x="777240" y="2743200"/>
            <a:ext cx="4617720" cy="777240"/>
          </a:xfrm>
          <a:prstGeom prst="roundRect">
            <a:avLst>
              <a:gd name="adj" fmla="val 9412"/>
            </a:avLst>
          </a:prstGeom>
          <a:solidFill>
            <a:srgbClr val="0B1F3A"/>
          </a:solidFill>
          <a:ln/>
          <a:effectLst>
            <a:outerShdw sx="100000" sy="100000" kx="0" ky="0" algn="bl" rotWithShape="0" blurRad="114300" dist="38100" dir="2700000">
              <a:srgbClr val="0B1F3A">
                <a:alpha val="14000"/>
              </a:srgbClr>
            </a:outerShdw>
          </a:effectLst>
        </p:spPr>
      </p:sp>
      <p:sp>
        <p:nvSpPr>
          <p:cNvPr id="9" name="Text 6"/>
          <p:cNvSpPr/>
          <p:nvPr/>
        </p:nvSpPr>
        <p:spPr>
          <a:xfrm>
            <a:off x="1051560" y="2880360"/>
            <a:ext cx="4069080" cy="502920"/>
          </a:xfrm>
          <a:prstGeom prst="rect">
            <a:avLst/>
          </a:prstGeom>
          <a:noFill/>
          <a:ln/>
        </p:spPr>
        <p:txBody>
          <a:bodyPr wrap="square" lIns="0" tIns="0" rIns="0" bIns="0" rtlCol="0" anchor="ctr"/>
          <a:lstStyle/>
          <a:p>
            <a:pPr algn="l" indent="0" marL="0">
              <a:lnSpc>
                <a:spcPct val="140000"/>
              </a:lnSpc>
              <a:buNone/>
            </a:pPr>
            <a:r>
              <a:rPr lang="en-US" sz="1350" dirty="0">
                <a:solidFill>
                  <a:srgbClr val="E7ECF4"/>
                </a:solidFill>
                <a:latin typeface="Courier New" pitchFamily="34" charset="0"/>
                <a:ea typeface="Courier New" pitchFamily="34" charset="-122"/>
                <a:cs typeface="Courier New" pitchFamily="34" charset="-120"/>
              </a:rPr>
              <a:t>R_open -&gt; infinity  (no current path)</a:t>
            </a:r>
            <a:endParaRPr lang="en-US" sz="1350" dirty="0"/>
          </a:p>
        </p:txBody>
      </p:sp>
      <p:sp>
        <p:nvSpPr>
          <p:cNvPr id="10" name="Text 7"/>
          <p:cNvSpPr/>
          <p:nvPr/>
        </p:nvSpPr>
        <p:spPr>
          <a:xfrm>
            <a:off x="777240" y="3703320"/>
            <a:ext cx="4617720" cy="1737360"/>
          </a:xfrm>
          <a:prstGeom prst="rect">
            <a:avLst/>
          </a:prstGeom>
          <a:noFill/>
          <a:ln/>
        </p:spPr>
        <p:txBody>
          <a:bodyPr wrap="square" lIns="0" tIns="0" rIns="0" bIns="0" rtlCol="0" anchor="ctr"/>
          <a:lstStyle/>
          <a:p>
            <a:pPr indent="0" marL="0">
              <a:lnSpc>
                <a:spcPct val="130000"/>
              </a:lnSpc>
              <a:buNone/>
            </a:pPr>
            <a:r>
              <a:rPr lang="en-US" sz="1150" dirty="0">
                <a:solidFill>
                  <a:srgbClr val="64748B"/>
                </a:solidFill>
                <a:latin typeface="Calibri" pitchFamily="34" charset="0"/>
                <a:ea typeface="Calibri" pitchFamily="34" charset="-122"/>
                <a:cs typeface="Calibri" pitchFamily="34" charset="-120"/>
              </a:rPr>
              <a:t>This project's RC circuit models “open” by sweeping the resistor from 1 megaohm to 1 gigaohm with .step param — effectively blocking the charging path so Vout never rises.</a:t>
            </a:r>
            <a:endParaRPr lang="en-US" sz="1150" dirty="0"/>
          </a:p>
        </p:txBody>
      </p:sp>
      <p:sp>
        <p:nvSpPr>
          <p:cNvPr id="11" name="Shape 8"/>
          <p:cNvSpPr/>
          <p:nvPr/>
        </p:nvSpPr>
        <p:spPr>
          <a:xfrm>
            <a:off x="6126480" y="1783080"/>
            <a:ext cx="5166360" cy="4160520"/>
          </a:xfrm>
          <a:prstGeom prst="roundRect">
            <a:avLst>
              <a:gd name="adj" fmla="val 1978"/>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2" name="Shape 9"/>
          <p:cNvSpPr/>
          <p:nvPr/>
        </p:nvSpPr>
        <p:spPr>
          <a:xfrm>
            <a:off x="6400800" y="2057400"/>
            <a:ext cx="594360" cy="594360"/>
          </a:xfrm>
          <a:prstGeom prst="ellipse">
            <a:avLst/>
          </a:prstGeom>
          <a:solidFill>
            <a:srgbClr val="D9695F"/>
          </a:solidFill>
          <a:ln/>
          <a:effectLst>
            <a:outerShdw sx="100000" sy="100000" kx="0" ky="0" algn="bl" rotWithShape="0" blurRad="114300" dist="38100" dir="2700000">
              <a:srgbClr val="0B1F3A">
                <a:alpha val="14000"/>
              </a:srgbClr>
            </a:outerShdw>
          </a:effectLst>
        </p:spPr>
      </p:sp>
      <p:pic>
        <p:nvPicPr>
          <p:cNvPr id="13" name="Image 1" descr="/sessions/blissful-zealous-babbage/mnt/outputs/ppt/icons/bolt_FFFFFF.png">    </p:cNvPr>
          <p:cNvPicPr>
            <a:picLocks noChangeAspect="1"/>
          </p:cNvPicPr>
          <p:nvPr/>
        </p:nvPicPr>
        <p:blipFill>
          <a:blip r:embed="rId2"/>
          <a:stretch>
            <a:fillRect/>
          </a:stretch>
        </p:blipFill>
        <p:spPr>
          <a:xfrm>
            <a:off x="6481039" y="2137639"/>
            <a:ext cx="433883" cy="433883"/>
          </a:xfrm>
          <a:prstGeom prst="rect">
            <a:avLst/>
          </a:prstGeom>
        </p:spPr>
      </p:pic>
      <p:sp>
        <p:nvSpPr>
          <p:cNvPr id="14" name="Text 10"/>
          <p:cNvSpPr/>
          <p:nvPr/>
        </p:nvSpPr>
        <p:spPr>
          <a:xfrm>
            <a:off x="7178040" y="2130552"/>
            <a:ext cx="3886200" cy="457200"/>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Short: impedance to zero</a:t>
            </a:r>
            <a:endParaRPr lang="en-US" sz="1450" dirty="0"/>
          </a:p>
        </p:txBody>
      </p:sp>
      <p:sp>
        <p:nvSpPr>
          <p:cNvPr id="15" name="Shape 11"/>
          <p:cNvSpPr/>
          <p:nvPr/>
        </p:nvSpPr>
        <p:spPr>
          <a:xfrm>
            <a:off x="6400800" y="2743200"/>
            <a:ext cx="4617720" cy="777240"/>
          </a:xfrm>
          <a:prstGeom prst="roundRect">
            <a:avLst>
              <a:gd name="adj" fmla="val 9412"/>
            </a:avLst>
          </a:prstGeom>
          <a:solidFill>
            <a:srgbClr val="0B1F3A"/>
          </a:solidFill>
          <a:ln/>
          <a:effectLst>
            <a:outerShdw sx="100000" sy="100000" kx="0" ky="0" algn="bl" rotWithShape="0" blurRad="114300" dist="38100" dir="2700000">
              <a:srgbClr val="0B1F3A">
                <a:alpha val="14000"/>
              </a:srgbClr>
            </a:outerShdw>
          </a:effectLst>
        </p:spPr>
      </p:sp>
      <p:sp>
        <p:nvSpPr>
          <p:cNvPr id="16" name="Text 12"/>
          <p:cNvSpPr/>
          <p:nvPr/>
        </p:nvSpPr>
        <p:spPr>
          <a:xfrm>
            <a:off x="6675120" y="2880360"/>
            <a:ext cx="4069080" cy="502920"/>
          </a:xfrm>
          <a:prstGeom prst="rect">
            <a:avLst/>
          </a:prstGeom>
          <a:noFill/>
          <a:ln/>
        </p:spPr>
        <p:txBody>
          <a:bodyPr wrap="square" lIns="0" tIns="0" rIns="0" bIns="0" rtlCol="0" anchor="ctr"/>
          <a:lstStyle/>
          <a:p>
            <a:pPr algn="l" indent="0" marL="0">
              <a:lnSpc>
                <a:spcPct val="140000"/>
              </a:lnSpc>
              <a:buNone/>
            </a:pPr>
            <a:r>
              <a:rPr lang="en-US" sz="1350" dirty="0">
                <a:solidFill>
                  <a:srgbClr val="E7ECF4"/>
                </a:solidFill>
                <a:latin typeface="Courier New" pitchFamily="34" charset="0"/>
                <a:ea typeface="Courier New" pitchFamily="34" charset="-122"/>
                <a:cs typeface="Courier New" pitchFamily="34" charset="-120"/>
              </a:rPr>
              <a:t>Z_short -&gt; 0  (component bypassed)</a:t>
            </a:r>
            <a:endParaRPr lang="en-US" sz="1350" dirty="0"/>
          </a:p>
        </p:txBody>
      </p:sp>
      <p:sp>
        <p:nvSpPr>
          <p:cNvPr id="17" name="Text 13"/>
          <p:cNvSpPr/>
          <p:nvPr/>
        </p:nvSpPr>
        <p:spPr>
          <a:xfrm>
            <a:off x="6400800" y="3703320"/>
            <a:ext cx="4617720" cy="1737360"/>
          </a:xfrm>
          <a:prstGeom prst="rect">
            <a:avLst/>
          </a:prstGeom>
          <a:noFill/>
          <a:ln/>
        </p:spPr>
        <p:txBody>
          <a:bodyPr wrap="square" lIns="0" tIns="0" rIns="0" bIns="0" rtlCol="0" anchor="ctr"/>
          <a:lstStyle/>
          <a:p>
            <a:pPr indent="0" marL="0">
              <a:lnSpc>
                <a:spcPct val="130000"/>
              </a:lnSpc>
              <a:buNone/>
            </a:pPr>
            <a:r>
              <a:rPr lang="en-US" sz="1150" dirty="0">
                <a:solidFill>
                  <a:srgbClr val="64748B"/>
                </a:solidFill>
                <a:latin typeface="Calibri" pitchFamily="34" charset="0"/>
                <a:ea typeface="Calibri" pitchFamily="34" charset="-122"/>
                <a:cs typeface="Calibri" pitchFamily="34" charset="-120"/>
              </a:rPr>
              <a:t>The RC circuit's “short” is modeled by sweeping the capacitor down to 0.1-10 picofarads (R fixed at 1 kilohm) — the RC time constant collapses to picoseconds, so Vout jumps to 5V almost instantly, just as a true short would.</a:t>
            </a:r>
            <a:endParaRPr lang="en-US" sz="1150" dirty="0"/>
          </a:p>
        </p:txBody>
      </p:sp>
      <p:sp>
        <p:nvSpPr>
          <p:cNvPr id="18" name="Text 14"/>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9" name="Text 15"/>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2. CIRCUITS &amp; FAULT THEORY</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Fault Deep Dive: Noise</a:t>
            </a:r>
            <a:endParaRPr lang="en-US" sz="3000" dirty="0"/>
          </a:p>
        </p:txBody>
      </p:sp>
      <p:sp>
        <p:nvSpPr>
          <p:cNvPr id="4" name="Text 2"/>
          <p:cNvSpPr/>
          <p:nvPr/>
        </p:nvSpPr>
        <p:spPr>
          <a:xfrm>
            <a:off x="502920" y="1783080"/>
            <a:ext cx="10515600" cy="685800"/>
          </a:xfrm>
          <a:prstGeom prst="rect">
            <a:avLst/>
          </a:prstGeom>
          <a:noFill/>
          <a:ln/>
        </p:spPr>
        <p:txBody>
          <a:bodyPr wrap="square" lIns="0" tIns="0" rIns="0" bIns="0" rtlCol="0" anchor="ctr"/>
          <a:lstStyle/>
          <a:p>
            <a:pPr indent="0" marL="0">
              <a:lnSpc>
                <a:spcPct val="128000"/>
              </a:lnSpc>
              <a:buNone/>
            </a:pPr>
            <a:r>
              <a:rPr lang="en-US" sz="1350" dirty="0">
                <a:solidFill>
                  <a:srgbClr val="1E293B"/>
                </a:solidFill>
                <a:latin typeface="Calibri" pitchFamily="34" charset="0"/>
                <a:ea typeface="Calibri" pitchFamily="34" charset="-122"/>
                <a:cs typeface="Calibri" pitchFamily="34" charset="-120"/>
              </a:rPr>
              <a:t>Noise doesn't come from a component value changing at all — it's </a:t>
            </a:r>
            <a:pPr indent="0" marL="0">
              <a:lnSpc>
                <a:spcPct val="128000"/>
              </a:lnSpc>
              <a:buNone/>
            </a:pPr>
            <a:r>
              <a:rPr lang="en-US" sz="1350" b="1" dirty="0">
                <a:solidFill>
                  <a:srgbClr val="0B1F3A"/>
                </a:solidFill>
                <a:latin typeface="Calibri" pitchFamily="34" charset="0"/>
                <a:ea typeface="Calibri" pitchFamily="34" charset="-122"/>
                <a:cs typeface="Calibri" pitchFamily="34" charset="-120"/>
              </a:rPr>
              <a:t>additive random disturbance</a:t>
            </a:r>
            <a:pPr indent="0" marL="0">
              <a:lnSpc>
                <a:spcPct val="128000"/>
              </a:lnSpc>
              <a:buNone/>
            </a:pPr>
            <a:r>
              <a:rPr lang="en-US" sz="1350" dirty="0">
                <a:solidFill>
                  <a:srgbClr val="1E293B"/>
                </a:solidFill>
                <a:latin typeface="Calibri" pitchFamily="34" charset="0"/>
                <a:ea typeface="Calibri" pitchFamily="34" charset="-122"/>
                <a:cs typeface="Calibri" pitchFamily="34" charset="-120"/>
              </a:rPr>
              <a:t> superimposed on an otherwise healthy waveform, modeled with a fixed signal-to-noise ratio.</a:t>
            </a:r>
            <a:endParaRPr lang="en-US" sz="1350" dirty="0"/>
          </a:p>
        </p:txBody>
      </p:sp>
      <p:sp>
        <p:nvSpPr>
          <p:cNvPr id="5" name="Shape 3"/>
          <p:cNvSpPr/>
          <p:nvPr/>
        </p:nvSpPr>
        <p:spPr>
          <a:xfrm>
            <a:off x="502920" y="2697480"/>
            <a:ext cx="10515600" cy="1554480"/>
          </a:xfrm>
          <a:prstGeom prst="roundRect">
            <a:avLst>
              <a:gd name="adj" fmla="val 4706"/>
            </a:avLst>
          </a:prstGeom>
          <a:solidFill>
            <a:srgbClr val="0B1F3A"/>
          </a:solidFill>
          <a:ln/>
          <a:effectLst>
            <a:outerShdw sx="100000" sy="100000" kx="0" ky="0" algn="bl" rotWithShape="0" blurRad="114300" dist="38100" dir="2700000">
              <a:srgbClr val="0B1F3A">
                <a:alpha val="14000"/>
              </a:srgbClr>
            </a:outerShdw>
          </a:effectLst>
        </p:spPr>
      </p:sp>
      <p:sp>
        <p:nvSpPr>
          <p:cNvPr id="6" name="Text 4"/>
          <p:cNvSpPr/>
          <p:nvPr/>
        </p:nvSpPr>
        <p:spPr>
          <a:xfrm>
            <a:off x="777240" y="2834640"/>
            <a:ext cx="9966960" cy="1280160"/>
          </a:xfrm>
          <a:prstGeom prst="rect">
            <a:avLst/>
          </a:prstGeom>
          <a:noFill/>
          <a:ln/>
        </p:spPr>
        <p:txBody>
          <a:bodyPr wrap="square" lIns="0" tIns="0" rIns="0" bIns="0" rtlCol="0" anchor="ctr"/>
          <a:lstStyle/>
          <a:p>
            <a:pPr algn="l" indent="0" marL="0">
              <a:lnSpc>
                <a:spcPct val="140000"/>
              </a:lnSpc>
              <a:buNone/>
            </a:pPr>
            <a:r>
              <a:rPr lang="en-US" sz="1500" dirty="0">
                <a:solidFill>
                  <a:srgbClr val="E7ECF4"/>
                </a:solidFill>
                <a:latin typeface="Courier New" pitchFamily="34" charset="0"/>
                <a:ea typeface="Courier New" pitchFamily="34" charset="-122"/>
                <a:cs typeface="Courier New" pitchFamily="34" charset="-120"/>
              </a:rPr>
              <a:t>v_noisy(t) = v_normal(t) + N(0, sigma^2)</a:t>
            </a:r>
            <a:endParaRPr lang="en-US" sz="1500" dirty="0"/>
          </a:p>
          <a:p>
            <a:pPr algn="l" indent="0" marL="0">
              <a:lnSpc>
                <a:spcPct val="140000"/>
              </a:lnSpc>
              <a:buNone/>
            </a:pPr>
            <a:r>
              <a:rPr lang="en-US" sz="1500" dirty="0">
                <a:solidFill>
                  <a:srgbClr val="E7ECF4"/>
                </a:solidFill>
                <a:latin typeface="Courier New" pitchFamily="34" charset="0"/>
                <a:ea typeface="Courier New" pitchFamily="34" charset="-122"/>
                <a:cs typeface="Courier New" pitchFamily="34" charset="-120"/>
              </a:rPr>
              <a:t>sigma^2 = mean(v_normal^2) / 10^(SNR_dB / 10)</a:t>
            </a:r>
            <a:endParaRPr lang="en-US" sz="1500" dirty="0"/>
          </a:p>
          <a:p>
            <a:pPr algn="l" indent="0" marL="0">
              <a:lnSpc>
                <a:spcPct val="140000"/>
              </a:lnSpc>
              <a:buNone/>
            </a:pPr>
            <a:r>
              <a:rPr lang="en-US" sz="1500" dirty="0">
                <a:solidFill>
                  <a:srgbClr val="E7ECF4"/>
                </a:solidFill>
                <a:latin typeface="Courier New" pitchFamily="34" charset="0"/>
                <a:ea typeface="Courier New" pitchFamily="34" charset="-122"/>
                <a:cs typeface="Courier New" pitchFamily="34" charset="-120"/>
              </a:rPr>
              <a:t>SNR = 25 dB   |   seed = 42  (reproducible)</a:t>
            </a:r>
            <a:endParaRPr lang="en-US" sz="1500" dirty="0"/>
          </a:p>
        </p:txBody>
      </p:sp>
      <p:sp>
        <p:nvSpPr>
          <p:cNvPr id="7" name="Text 5"/>
          <p:cNvSpPr/>
          <p:nvPr/>
        </p:nvSpPr>
        <p:spPr>
          <a:xfrm>
            <a:off x="502920" y="4572000"/>
            <a:ext cx="10515600" cy="1097280"/>
          </a:xfrm>
          <a:prstGeom prst="rect">
            <a:avLst/>
          </a:prstGeom>
          <a:noFill/>
          <a:ln/>
        </p:spPr>
        <p:txBody>
          <a:bodyPr wrap="square" lIns="0" tIns="0" rIns="0" bIns="0" rtlCol="0" anchor="ctr"/>
          <a:lstStyle/>
          <a:p>
            <a:pPr indent="0" marL="0">
              <a:lnSpc>
                <a:spcPct val="130000"/>
              </a:lnSpc>
              <a:buNone/>
            </a:pPr>
            <a:r>
              <a:rPr lang="en-US" sz="1200" b="1" dirty="0">
                <a:solidFill>
                  <a:srgbClr val="0B1F3A"/>
                </a:solidFill>
                <a:latin typeface="Calibri" pitchFamily="34" charset="0"/>
                <a:ea typeface="Calibri" pitchFamily="34" charset="-122"/>
                <a:cs typeface="Calibri" pitchFamily="34" charset="-120"/>
              </a:rPr>
              <a:t>In code: </a:t>
            </a:r>
            <a:pPr indent="0" marL="0">
              <a:lnSpc>
                <a:spcPct val="130000"/>
              </a:lnSpc>
              <a:buNone/>
            </a:pPr>
            <a:r>
              <a:rPr lang="en-US" sz="1200" dirty="0">
                <a:solidFill>
                  <a:srgbClr val="64748B"/>
                </a:solidFill>
                <a:latin typeface="Calibri" pitchFamily="34" charset="0"/>
                <a:ea typeface="Calibri" pitchFamily="34" charset="-122"/>
                <a:cs typeface="Calibri" pitchFamily="34" charset="-120"/>
              </a:rPr>
              <a:t>each circuit's own NORMAL waveforms are reused as the clean base signal, then Gaussian noise scaled to a 25 dB SNR is added with NumPy's seeded random generator — one noisy sample generated per normal sample, so class counts stay balanced.</a:t>
            </a:r>
            <a:endParaRPr lang="en-US" sz="120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2. CIRCUITS &amp; FAULT THEORY</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Four Circuit Topologies Under Test</a:t>
            </a:r>
            <a:endParaRPr lang="en-US" sz="3000" dirty="0"/>
          </a:p>
        </p:txBody>
      </p:sp>
      <p:sp>
        <p:nvSpPr>
          <p:cNvPr id="4" name="Shape 2"/>
          <p:cNvSpPr/>
          <p:nvPr/>
        </p:nvSpPr>
        <p:spPr>
          <a:xfrm>
            <a:off x="502920" y="1783080"/>
            <a:ext cx="1874520" cy="1965960"/>
          </a:xfrm>
          <a:prstGeom prst="roundRect">
            <a:avLst>
              <a:gd name="adj" fmla="val 3415"/>
            </a:avLst>
          </a:prstGeom>
          <a:solidFill>
            <a:srgbClr val="EAEEF4"/>
          </a:solidFill>
          <a:ln w="15875">
            <a:solidFill>
              <a:srgbClr val="9FB1C8"/>
            </a:solidFill>
            <a:prstDash val="dash"/>
          </a:ln>
        </p:spPr>
      </p:sp>
      <p:pic>
        <p:nvPicPr>
          <p:cNvPr id="5" name="Image 0" descr="/sessions/blissful-zealous-babbage/mnt/outputs/ppt/icons/microchip_64748B.png">    </p:cNvPr>
          <p:cNvPicPr>
            <a:picLocks noChangeAspect="1"/>
          </p:cNvPicPr>
          <p:nvPr/>
        </p:nvPicPr>
        <p:blipFill>
          <a:blip r:embed="rId1"/>
          <a:stretch>
            <a:fillRect/>
          </a:stretch>
        </p:blipFill>
        <p:spPr>
          <a:xfrm>
            <a:off x="1156716" y="1971446"/>
            <a:ext cx="566928" cy="566928"/>
          </a:xfrm>
          <a:prstGeom prst="rect">
            <a:avLst/>
          </a:prstGeom>
        </p:spPr>
      </p:pic>
      <p:sp>
        <p:nvSpPr>
          <p:cNvPr id="6" name="Text 3"/>
          <p:cNvSpPr/>
          <p:nvPr/>
        </p:nvSpPr>
        <p:spPr>
          <a:xfrm>
            <a:off x="685800" y="2453335"/>
            <a:ext cx="1508760"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SCHEMATIC</a:t>
            </a:r>
            <a:endParaRPr lang="en-US" sz="1300" dirty="0"/>
          </a:p>
        </p:txBody>
      </p:sp>
      <p:sp>
        <p:nvSpPr>
          <p:cNvPr id="7" name="Text 4"/>
          <p:cNvSpPr/>
          <p:nvPr/>
        </p:nvSpPr>
        <p:spPr>
          <a:xfrm>
            <a:off x="2560320" y="1892808"/>
            <a:ext cx="3108960" cy="365760"/>
          </a:xfrm>
          <a:prstGeom prst="rect">
            <a:avLst/>
          </a:prstGeom>
          <a:noFill/>
          <a:ln/>
        </p:spPr>
        <p:txBody>
          <a:bodyPr wrap="square" lIns="0" tIns="0" rIns="0" bIns="0" rtlCol="0" anchor="ctr"/>
          <a:lstStyle/>
          <a:p>
            <a:pPr indent="0" marL="0">
              <a:buNone/>
            </a:pPr>
            <a:r>
              <a:rPr lang="en-US" sz="1500" b="1" dirty="0">
                <a:solidFill>
                  <a:srgbClr val="0B1F3A"/>
                </a:solidFill>
                <a:latin typeface="Calibri" pitchFamily="34" charset="0"/>
                <a:ea typeface="Calibri" pitchFamily="34" charset="-122"/>
                <a:cs typeface="Calibri" pitchFamily="34" charset="-120"/>
              </a:rPr>
              <a:t>RC Low-Pass Filter</a:t>
            </a:r>
            <a:endParaRPr lang="en-US" sz="1500" dirty="0"/>
          </a:p>
        </p:txBody>
      </p:sp>
      <p:sp>
        <p:nvSpPr>
          <p:cNvPr id="8" name="Text 5"/>
          <p:cNvSpPr/>
          <p:nvPr/>
        </p:nvSpPr>
        <p:spPr>
          <a:xfrm>
            <a:off x="2560320" y="2313432"/>
            <a:ext cx="3063240" cy="1325880"/>
          </a:xfrm>
          <a:prstGeom prst="rect">
            <a:avLst/>
          </a:prstGeom>
          <a:noFill/>
          <a:ln/>
        </p:spPr>
        <p:txBody>
          <a:bodyPr wrap="square" lIns="0" tIns="0" rIns="0" bIns="0" rtlCol="0" anchor="ctr"/>
          <a:lstStyle/>
          <a:p>
            <a:pPr indent="0" marL="0">
              <a:lnSpc>
                <a:spcPct val="125000"/>
              </a:lnSpc>
              <a:buNone/>
            </a:pPr>
            <a:r>
              <a:rPr lang="en-US" sz="1080" dirty="0">
                <a:solidFill>
                  <a:srgbClr val="64748B"/>
                </a:solidFill>
                <a:latin typeface="Calibri" pitchFamily="34" charset="0"/>
                <a:ea typeface="Calibri" pitchFamily="34" charset="-122"/>
                <a:cs typeface="Calibri" pitchFamily="34" charset="-120"/>
              </a:rPr>
              <a:t>One resistor, one capacitor — the simplest baseline. A single-pole exponential charge/discharge response.</a:t>
            </a:r>
            <a:endParaRPr lang="en-US" sz="1080" dirty="0"/>
          </a:p>
        </p:txBody>
      </p:sp>
      <p:sp>
        <p:nvSpPr>
          <p:cNvPr id="9" name="Shape 6"/>
          <p:cNvSpPr/>
          <p:nvPr/>
        </p:nvSpPr>
        <p:spPr>
          <a:xfrm>
            <a:off x="6126480" y="1783080"/>
            <a:ext cx="1874520" cy="1965960"/>
          </a:xfrm>
          <a:prstGeom prst="roundRect">
            <a:avLst>
              <a:gd name="adj" fmla="val 3415"/>
            </a:avLst>
          </a:prstGeom>
          <a:solidFill>
            <a:srgbClr val="EAEEF4"/>
          </a:solidFill>
          <a:ln w="15875">
            <a:solidFill>
              <a:srgbClr val="9FB1C8"/>
            </a:solidFill>
            <a:prstDash val="dash"/>
          </a:ln>
        </p:spPr>
      </p:sp>
      <p:pic>
        <p:nvPicPr>
          <p:cNvPr id="10" name="Image 1" descr="/sessions/blissful-zealous-babbage/mnt/outputs/ppt/icons/microchip_64748B.png">    </p:cNvPr>
          <p:cNvPicPr>
            <a:picLocks noChangeAspect="1"/>
          </p:cNvPicPr>
          <p:nvPr/>
        </p:nvPicPr>
        <p:blipFill>
          <a:blip r:embed="rId2"/>
          <a:stretch>
            <a:fillRect/>
          </a:stretch>
        </p:blipFill>
        <p:spPr>
          <a:xfrm>
            <a:off x="6780276" y="1971446"/>
            <a:ext cx="566928" cy="566928"/>
          </a:xfrm>
          <a:prstGeom prst="rect">
            <a:avLst/>
          </a:prstGeom>
        </p:spPr>
      </p:pic>
      <p:sp>
        <p:nvSpPr>
          <p:cNvPr id="11" name="Text 7"/>
          <p:cNvSpPr/>
          <p:nvPr/>
        </p:nvSpPr>
        <p:spPr>
          <a:xfrm>
            <a:off x="6309360" y="2453335"/>
            <a:ext cx="1508760"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SCHEMATIC</a:t>
            </a:r>
            <a:endParaRPr lang="en-US" sz="1300" dirty="0"/>
          </a:p>
        </p:txBody>
      </p:sp>
      <p:sp>
        <p:nvSpPr>
          <p:cNvPr id="12" name="Text 8"/>
          <p:cNvSpPr/>
          <p:nvPr/>
        </p:nvSpPr>
        <p:spPr>
          <a:xfrm>
            <a:off x="8183880" y="1892808"/>
            <a:ext cx="3108960" cy="365760"/>
          </a:xfrm>
          <a:prstGeom prst="rect">
            <a:avLst/>
          </a:prstGeom>
          <a:noFill/>
          <a:ln/>
        </p:spPr>
        <p:txBody>
          <a:bodyPr wrap="square" lIns="0" tIns="0" rIns="0" bIns="0" rtlCol="0" anchor="ctr"/>
          <a:lstStyle/>
          <a:p>
            <a:pPr indent="0" marL="0">
              <a:buNone/>
            </a:pPr>
            <a:r>
              <a:rPr lang="en-US" sz="1500" b="1" dirty="0">
                <a:solidFill>
                  <a:srgbClr val="0B1F3A"/>
                </a:solidFill>
                <a:latin typeface="Calibri" pitchFamily="34" charset="0"/>
                <a:ea typeface="Calibri" pitchFamily="34" charset="-122"/>
                <a:cs typeface="Calibri" pitchFamily="34" charset="-120"/>
              </a:rPr>
              <a:t>RLC Series Circuit</a:t>
            </a:r>
            <a:endParaRPr lang="en-US" sz="1500" dirty="0"/>
          </a:p>
        </p:txBody>
      </p:sp>
      <p:sp>
        <p:nvSpPr>
          <p:cNvPr id="13" name="Text 9"/>
          <p:cNvSpPr/>
          <p:nvPr/>
        </p:nvSpPr>
        <p:spPr>
          <a:xfrm>
            <a:off x="8183880" y="2313432"/>
            <a:ext cx="3063240" cy="1325880"/>
          </a:xfrm>
          <a:prstGeom prst="rect">
            <a:avLst/>
          </a:prstGeom>
          <a:noFill/>
          <a:ln/>
        </p:spPr>
        <p:txBody>
          <a:bodyPr wrap="square" lIns="0" tIns="0" rIns="0" bIns="0" rtlCol="0" anchor="ctr"/>
          <a:lstStyle/>
          <a:p>
            <a:pPr indent="0" marL="0">
              <a:lnSpc>
                <a:spcPct val="125000"/>
              </a:lnSpc>
              <a:buNone/>
            </a:pPr>
            <a:r>
              <a:rPr lang="en-US" sz="1080" dirty="0">
                <a:solidFill>
                  <a:srgbClr val="64748B"/>
                </a:solidFill>
                <a:latin typeface="Calibri" pitchFamily="34" charset="0"/>
                <a:ea typeface="Calibri" pitchFamily="34" charset="-122"/>
                <a:cs typeface="Calibri" pitchFamily="34" charset="-120"/>
              </a:rPr>
              <a:t>Adds an inductor for an underdamped, oscillatory step response — richer dynamics than RC alone.</a:t>
            </a:r>
            <a:endParaRPr lang="en-US" sz="1080" dirty="0"/>
          </a:p>
        </p:txBody>
      </p:sp>
      <p:sp>
        <p:nvSpPr>
          <p:cNvPr id="14" name="Shape 10"/>
          <p:cNvSpPr/>
          <p:nvPr/>
        </p:nvSpPr>
        <p:spPr>
          <a:xfrm>
            <a:off x="502920" y="4069080"/>
            <a:ext cx="1874520" cy="1965960"/>
          </a:xfrm>
          <a:prstGeom prst="roundRect">
            <a:avLst>
              <a:gd name="adj" fmla="val 3415"/>
            </a:avLst>
          </a:prstGeom>
          <a:solidFill>
            <a:srgbClr val="EAEEF4"/>
          </a:solidFill>
          <a:ln w="15875">
            <a:solidFill>
              <a:srgbClr val="9FB1C8"/>
            </a:solidFill>
            <a:prstDash val="dash"/>
          </a:ln>
        </p:spPr>
      </p:sp>
      <p:pic>
        <p:nvPicPr>
          <p:cNvPr id="15" name="Image 2" descr="/sessions/blissful-zealous-babbage/mnt/outputs/ppt/icons/microchip_64748B.png">    </p:cNvPr>
          <p:cNvPicPr>
            <a:picLocks noChangeAspect="1"/>
          </p:cNvPicPr>
          <p:nvPr/>
        </p:nvPicPr>
        <p:blipFill>
          <a:blip r:embed="rId3"/>
          <a:stretch>
            <a:fillRect/>
          </a:stretch>
        </p:blipFill>
        <p:spPr>
          <a:xfrm>
            <a:off x="1156716" y="4257446"/>
            <a:ext cx="566928" cy="566928"/>
          </a:xfrm>
          <a:prstGeom prst="rect">
            <a:avLst/>
          </a:prstGeom>
        </p:spPr>
      </p:pic>
      <p:sp>
        <p:nvSpPr>
          <p:cNvPr id="16" name="Text 11"/>
          <p:cNvSpPr/>
          <p:nvPr/>
        </p:nvSpPr>
        <p:spPr>
          <a:xfrm>
            <a:off x="685800" y="4739335"/>
            <a:ext cx="1508760"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SCHEMATIC</a:t>
            </a:r>
            <a:endParaRPr lang="en-US" sz="1300" dirty="0"/>
          </a:p>
        </p:txBody>
      </p:sp>
      <p:sp>
        <p:nvSpPr>
          <p:cNvPr id="17" name="Text 12"/>
          <p:cNvSpPr/>
          <p:nvPr/>
        </p:nvSpPr>
        <p:spPr>
          <a:xfrm>
            <a:off x="2560320" y="4178808"/>
            <a:ext cx="3108960" cy="365760"/>
          </a:xfrm>
          <a:prstGeom prst="rect">
            <a:avLst/>
          </a:prstGeom>
          <a:noFill/>
          <a:ln/>
        </p:spPr>
        <p:txBody>
          <a:bodyPr wrap="square" lIns="0" tIns="0" rIns="0" bIns="0" rtlCol="0" anchor="ctr"/>
          <a:lstStyle/>
          <a:p>
            <a:pPr indent="0" marL="0">
              <a:buNone/>
            </a:pPr>
            <a:r>
              <a:rPr lang="en-US" sz="1500" b="1" dirty="0">
                <a:solidFill>
                  <a:srgbClr val="0B1F3A"/>
                </a:solidFill>
                <a:latin typeface="Calibri" pitchFamily="34" charset="0"/>
                <a:ea typeface="Calibri" pitchFamily="34" charset="-122"/>
                <a:cs typeface="Calibri" pitchFamily="34" charset="-120"/>
              </a:rPr>
              <a:t>Sallen-Key Active Filter</a:t>
            </a:r>
            <a:endParaRPr lang="en-US" sz="1500" dirty="0"/>
          </a:p>
        </p:txBody>
      </p:sp>
      <p:sp>
        <p:nvSpPr>
          <p:cNvPr id="18" name="Text 13"/>
          <p:cNvSpPr/>
          <p:nvPr/>
        </p:nvSpPr>
        <p:spPr>
          <a:xfrm>
            <a:off x="2560320" y="4599432"/>
            <a:ext cx="3063240" cy="1325880"/>
          </a:xfrm>
          <a:prstGeom prst="rect">
            <a:avLst/>
          </a:prstGeom>
          <a:noFill/>
          <a:ln/>
        </p:spPr>
        <p:txBody>
          <a:bodyPr wrap="square" lIns="0" tIns="0" rIns="0" bIns="0" rtlCol="0" anchor="ctr"/>
          <a:lstStyle/>
          <a:p>
            <a:pPr indent="0" marL="0">
              <a:lnSpc>
                <a:spcPct val="125000"/>
              </a:lnSpc>
              <a:buNone/>
            </a:pPr>
            <a:r>
              <a:rPr lang="en-US" sz="1080" dirty="0">
                <a:solidFill>
                  <a:srgbClr val="64748B"/>
                </a:solidFill>
                <a:latin typeface="Calibri" pitchFamily="34" charset="0"/>
                <a:ea typeface="Calibri" pitchFamily="34" charset="-122"/>
                <a:cs typeface="Calibri" pitchFamily="34" charset="-120"/>
              </a:rPr>
              <a:t>An op-amp based 2nd-order filter — the kind actually used in real analog signal-conditioning design.</a:t>
            </a:r>
            <a:endParaRPr lang="en-US" sz="1080" dirty="0"/>
          </a:p>
        </p:txBody>
      </p:sp>
      <p:sp>
        <p:nvSpPr>
          <p:cNvPr id="19" name="Shape 14"/>
          <p:cNvSpPr/>
          <p:nvPr/>
        </p:nvSpPr>
        <p:spPr>
          <a:xfrm>
            <a:off x="6126480" y="4069080"/>
            <a:ext cx="1874520" cy="1965960"/>
          </a:xfrm>
          <a:prstGeom prst="roundRect">
            <a:avLst>
              <a:gd name="adj" fmla="val 3415"/>
            </a:avLst>
          </a:prstGeom>
          <a:solidFill>
            <a:srgbClr val="EAEEF4"/>
          </a:solidFill>
          <a:ln w="15875">
            <a:solidFill>
              <a:srgbClr val="9FB1C8"/>
            </a:solidFill>
            <a:prstDash val="dash"/>
          </a:ln>
        </p:spPr>
      </p:sp>
      <p:pic>
        <p:nvPicPr>
          <p:cNvPr id="20" name="Image 3" descr="/sessions/blissful-zealous-babbage/mnt/outputs/ppt/icons/microchip_64748B.png">    </p:cNvPr>
          <p:cNvPicPr>
            <a:picLocks noChangeAspect="1"/>
          </p:cNvPicPr>
          <p:nvPr/>
        </p:nvPicPr>
        <p:blipFill>
          <a:blip r:embed="rId4"/>
          <a:stretch>
            <a:fillRect/>
          </a:stretch>
        </p:blipFill>
        <p:spPr>
          <a:xfrm>
            <a:off x="6780276" y="4257446"/>
            <a:ext cx="566928" cy="566928"/>
          </a:xfrm>
          <a:prstGeom prst="rect">
            <a:avLst/>
          </a:prstGeom>
        </p:spPr>
      </p:pic>
      <p:sp>
        <p:nvSpPr>
          <p:cNvPr id="21" name="Text 15"/>
          <p:cNvSpPr/>
          <p:nvPr/>
        </p:nvSpPr>
        <p:spPr>
          <a:xfrm>
            <a:off x="6309360" y="4739335"/>
            <a:ext cx="1508760"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SCHEMATIC</a:t>
            </a:r>
            <a:endParaRPr lang="en-US" sz="1300" dirty="0"/>
          </a:p>
        </p:txBody>
      </p:sp>
      <p:sp>
        <p:nvSpPr>
          <p:cNvPr id="22" name="Text 16"/>
          <p:cNvSpPr/>
          <p:nvPr/>
        </p:nvSpPr>
        <p:spPr>
          <a:xfrm>
            <a:off x="8183880" y="4178808"/>
            <a:ext cx="3108960" cy="365760"/>
          </a:xfrm>
          <a:prstGeom prst="rect">
            <a:avLst/>
          </a:prstGeom>
          <a:noFill/>
          <a:ln/>
        </p:spPr>
        <p:txBody>
          <a:bodyPr wrap="square" lIns="0" tIns="0" rIns="0" bIns="0" rtlCol="0" anchor="ctr"/>
          <a:lstStyle/>
          <a:p>
            <a:pPr indent="0" marL="0">
              <a:buNone/>
            </a:pPr>
            <a:r>
              <a:rPr lang="en-US" sz="1500" b="1" dirty="0">
                <a:solidFill>
                  <a:srgbClr val="0B1F3A"/>
                </a:solidFill>
                <a:latin typeface="Calibri" pitchFamily="34" charset="0"/>
                <a:ea typeface="Calibri" pitchFamily="34" charset="-122"/>
                <a:cs typeface="Calibri" pitchFamily="34" charset="-120"/>
              </a:rPr>
              <a:t>RC Ladder Network</a:t>
            </a:r>
            <a:endParaRPr lang="en-US" sz="1500" dirty="0"/>
          </a:p>
        </p:txBody>
      </p:sp>
      <p:sp>
        <p:nvSpPr>
          <p:cNvPr id="23" name="Text 17"/>
          <p:cNvSpPr/>
          <p:nvPr/>
        </p:nvSpPr>
        <p:spPr>
          <a:xfrm>
            <a:off x="8183880" y="4599432"/>
            <a:ext cx="3063240" cy="1325880"/>
          </a:xfrm>
          <a:prstGeom prst="rect">
            <a:avLst/>
          </a:prstGeom>
          <a:noFill/>
          <a:ln/>
        </p:spPr>
        <p:txBody>
          <a:bodyPr wrap="square" lIns="0" tIns="0" rIns="0" bIns="0" rtlCol="0" anchor="ctr"/>
          <a:lstStyle/>
          <a:p>
            <a:pPr indent="0" marL="0">
              <a:lnSpc>
                <a:spcPct val="125000"/>
              </a:lnSpc>
              <a:buNone/>
            </a:pPr>
            <a:r>
              <a:rPr lang="en-US" sz="1080" dirty="0">
                <a:solidFill>
                  <a:srgbClr val="64748B"/>
                </a:solidFill>
                <a:latin typeface="Calibri" pitchFamily="34" charset="0"/>
                <a:ea typeface="Calibri" pitchFamily="34" charset="-122"/>
                <a:cs typeface="Calibri" pitchFamily="34" charset="-120"/>
              </a:rPr>
              <a:t>Multiple RC stages cascaded together, producing a more complex multi-pole response.</a:t>
            </a:r>
            <a:endParaRPr lang="en-US" sz="1080" dirty="0"/>
          </a:p>
        </p:txBody>
      </p:sp>
      <p:sp>
        <p:nvSpPr>
          <p:cNvPr id="24" name="Text 18"/>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5" name="Text 19"/>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2. CIRCUITS &amp; FAULT THEORY</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RC Low-Pass Filter — The Baseline</a:t>
            </a:r>
            <a:endParaRPr lang="en-US" sz="3000" dirty="0"/>
          </a:p>
        </p:txBody>
      </p:sp>
      <p:sp>
        <p:nvSpPr>
          <p:cNvPr id="4" name="Shape 2"/>
          <p:cNvSpPr/>
          <p:nvPr/>
        </p:nvSpPr>
        <p:spPr>
          <a:xfrm>
            <a:off x="502920" y="1783080"/>
            <a:ext cx="5760720" cy="1417320"/>
          </a:xfrm>
          <a:prstGeom prst="roundRect">
            <a:avLst>
              <a:gd name="adj" fmla="val 5161"/>
            </a:avLst>
          </a:prstGeom>
          <a:solidFill>
            <a:srgbClr val="0B1F3A"/>
          </a:solidFill>
          <a:ln/>
          <a:effectLst>
            <a:outerShdw sx="100000" sy="100000" kx="0" ky="0" algn="bl" rotWithShape="0" blurRad="114300" dist="38100" dir="2700000">
              <a:srgbClr val="0B1F3A">
                <a:alpha val="14000"/>
              </a:srgbClr>
            </a:outerShdw>
          </a:effectLst>
        </p:spPr>
      </p:sp>
      <p:sp>
        <p:nvSpPr>
          <p:cNvPr id="5" name="Text 3"/>
          <p:cNvSpPr/>
          <p:nvPr/>
        </p:nvSpPr>
        <p:spPr>
          <a:xfrm>
            <a:off x="777240" y="1920240"/>
            <a:ext cx="5212080" cy="1143000"/>
          </a:xfrm>
          <a:prstGeom prst="rect">
            <a:avLst/>
          </a:prstGeom>
          <a:noFill/>
          <a:ln/>
        </p:spPr>
        <p:txBody>
          <a:bodyPr wrap="square" lIns="0" tIns="0" rIns="0" bIns="0" rtlCol="0" anchor="ctr"/>
          <a:lstStyle/>
          <a:p>
            <a:pPr algn="l" indent="0" marL="0">
              <a:lnSpc>
                <a:spcPct val="140000"/>
              </a:lnSpc>
              <a:buNone/>
            </a:pPr>
            <a:r>
              <a:rPr lang="en-US" sz="1600" dirty="0">
                <a:solidFill>
                  <a:srgbClr val="FFB703"/>
                </a:solidFill>
                <a:latin typeface="Courier New" pitchFamily="34" charset="0"/>
                <a:ea typeface="Courier New" pitchFamily="34" charset="-122"/>
                <a:cs typeface="Courier New" pitchFamily="34" charset="-120"/>
              </a:rPr>
              <a:t>H(s) = 1 / (1 + sRC)</a:t>
            </a:r>
            <a:endParaRPr lang="en-US" sz="1600" dirty="0"/>
          </a:p>
          <a:p>
            <a:pPr algn="l" indent="0" marL="0">
              <a:lnSpc>
                <a:spcPct val="140000"/>
              </a:lnSpc>
              <a:buNone/>
            </a:pPr>
            <a:r>
              <a:rPr lang="en-US" sz="1600" dirty="0">
                <a:solidFill>
                  <a:srgbClr val="E7ECF4"/>
                </a:solidFill>
                <a:latin typeface="Courier New" pitchFamily="34" charset="0"/>
                <a:ea typeface="Courier New" pitchFamily="34" charset="-122"/>
                <a:cs typeface="Courier New" pitchFamily="34" charset="-120"/>
              </a:rPr>
              <a:t>v(t) = V * (1 - e^(-t / RC))</a:t>
            </a:r>
            <a:endParaRPr lang="en-US" sz="1600" dirty="0"/>
          </a:p>
          <a:p>
            <a:pPr algn="l" indent="0" marL="0">
              <a:lnSpc>
                <a:spcPct val="140000"/>
              </a:lnSpc>
              <a:buNone/>
            </a:pPr>
            <a:r>
              <a:rPr lang="en-US" sz="1600" dirty="0">
                <a:solidFill>
                  <a:srgbClr val="E7ECF4"/>
                </a:solidFill>
                <a:latin typeface="Courier New" pitchFamily="34" charset="0"/>
                <a:ea typeface="Courier New" pitchFamily="34" charset="-122"/>
                <a:cs typeface="Courier New" pitchFamily="34" charset="-120"/>
              </a:rPr>
              <a:t>tau = R * C   (time constant)</a:t>
            </a:r>
            <a:endParaRPr lang="en-US" sz="1600" dirty="0"/>
          </a:p>
        </p:txBody>
      </p:sp>
      <p:sp>
        <p:nvSpPr>
          <p:cNvPr id="6" name="Shape 4"/>
          <p:cNvSpPr/>
          <p:nvPr/>
        </p:nvSpPr>
        <p:spPr>
          <a:xfrm>
            <a:off x="521208" y="3511296"/>
            <a:ext cx="82296" cy="82296"/>
          </a:xfrm>
          <a:prstGeom prst="ellipse">
            <a:avLst/>
          </a:prstGeom>
          <a:solidFill>
            <a:srgbClr val="00B4D8"/>
          </a:solidFill>
          <a:ln/>
        </p:spPr>
      </p:sp>
      <p:sp>
        <p:nvSpPr>
          <p:cNvPr id="7" name="Text 5"/>
          <p:cNvSpPr/>
          <p:nvPr/>
        </p:nvSpPr>
        <p:spPr>
          <a:xfrm>
            <a:off x="777240" y="3355848"/>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4748B"/>
                </a:solidFill>
                <a:latin typeface="Calibri" pitchFamily="34" charset="0"/>
                <a:ea typeface="Calibri" pitchFamily="34" charset="-122"/>
                <a:cs typeface="Calibri" pitchFamily="34" charset="-120"/>
              </a:rPr>
              <a:t>R swept 100 ohm to 10 kilohm (normal/drift) with C fixed at 10 microfarad — tau ranges from about 1 ms to 100 ms.</a:t>
            </a:r>
            <a:endParaRPr lang="en-US" sz="1130" dirty="0"/>
          </a:p>
        </p:txBody>
      </p:sp>
      <p:sp>
        <p:nvSpPr>
          <p:cNvPr id="8" name="Shape 6"/>
          <p:cNvSpPr/>
          <p:nvPr/>
        </p:nvSpPr>
        <p:spPr>
          <a:xfrm>
            <a:off x="521208" y="4169664"/>
            <a:ext cx="82296" cy="82296"/>
          </a:xfrm>
          <a:prstGeom prst="ellipse">
            <a:avLst/>
          </a:prstGeom>
          <a:solidFill>
            <a:srgbClr val="00B4D8"/>
          </a:solidFill>
          <a:ln/>
        </p:spPr>
      </p:sp>
      <p:sp>
        <p:nvSpPr>
          <p:cNvPr id="9" name="Text 7"/>
          <p:cNvSpPr/>
          <p:nvPr/>
        </p:nvSpPr>
        <p:spPr>
          <a:xfrm>
            <a:off x="777240" y="4014216"/>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4748B"/>
                </a:solidFill>
                <a:latin typeface="Calibri" pitchFamily="34" charset="0"/>
                <a:ea typeface="Calibri" pitchFamily="34" charset="-122"/>
                <a:cs typeface="Calibri" pitchFamily="34" charset="-120"/>
              </a:rPr>
              <a:t>Open: R swept 1 megaohm to 1 gigaohm — the charging path is effectively blocked, so Vout never rises.</a:t>
            </a:r>
            <a:endParaRPr lang="en-US" sz="1130" dirty="0"/>
          </a:p>
        </p:txBody>
      </p:sp>
      <p:sp>
        <p:nvSpPr>
          <p:cNvPr id="10" name="Shape 8"/>
          <p:cNvSpPr/>
          <p:nvPr/>
        </p:nvSpPr>
        <p:spPr>
          <a:xfrm>
            <a:off x="521208" y="4828032"/>
            <a:ext cx="82296" cy="82296"/>
          </a:xfrm>
          <a:prstGeom prst="ellipse">
            <a:avLst/>
          </a:prstGeom>
          <a:solidFill>
            <a:srgbClr val="00B4D8"/>
          </a:solidFill>
          <a:ln/>
        </p:spPr>
      </p:sp>
      <p:sp>
        <p:nvSpPr>
          <p:cNvPr id="11" name="Text 9"/>
          <p:cNvSpPr/>
          <p:nvPr/>
        </p:nvSpPr>
        <p:spPr>
          <a:xfrm>
            <a:off x="777240" y="4672584"/>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4748B"/>
                </a:solidFill>
                <a:latin typeface="Calibri" pitchFamily="34" charset="0"/>
                <a:ea typeface="Calibri" pitchFamily="34" charset="-122"/>
                <a:cs typeface="Calibri" pitchFamily="34" charset="-120"/>
              </a:rPr>
              <a:t>Short: C swept down to 0.1-10 picofarad — tau collapses to picoseconds, so Vout jumps to 5V almost instantly.</a:t>
            </a:r>
            <a:endParaRPr lang="en-US" sz="1130" dirty="0"/>
          </a:p>
        </p:txBody>
      </p:sp>
      <p:sp>
        <p:nvSpPr>
          <p:cNvPr id="12" name="Shape 10"/>
          <p:cNvSpPr/>
          <p:nvPr/>
        </p:nvSpPr>
        <p:spPr>
          <a:xfrm>
            <a:off x="6583680" y="1783080"/>
            <a:ext cx="5120640" cy="4160520"/>
          </a:xfrm>
          <a:prstGeom prst="roundRect">
            <a:avLst>
              <a:gd name="adj" fmla="val 1538"/>
            </a:avLst>
          </a:prstGeom>
          <a:solidFill>
            <a:srgbClr val="EAEEF4"/>
          </a:solidFill>
          <a:ln w="15875">
            <a:solidFill>
              <a:srgbClr val="9FB1C8"/>
            </a:solidFill>
            <a:prstDash val="dash"/>
          </a:ln>
        </p:spPr>
      </p:sp>
      <p:pic>
        <p:nvPicPr>
          <p:cNvPr id="13" name="Image 0" descr="/sessions/blissful-zealous-babbage/mnt/outputs/ppt/icons/microchip_64748B.png">    </p:cNvPr>
          <p:cNvPicPr>
            <a:picLocks noChangeAspect="1"/>
          </p:cNvPicPr>
          <p:nvPr/>
        </p:nvPicPr>
        <p:blipFill>
          <a:blip r:embed="rId1"/>
          <a:stretch>
            <a:fillRect/>
          </a:stretch>
        </p:blipFill>
        <p:spPr>
          <a:xfrm>
            <a:off x="8860536" y="2498141"/>
            <a:ext cx="566928" cy="566928"/>
          </a:xfrm>
          <a:prstGeom prst="rect">
            <a:avLst/>
          </a:prstGeom>
        </p:spPr>
      </p:pic>
      <p:sp>
        <p:nvSpPr>
          <p:cNvPr id="14" name="Text 11"/>
          <p:cNvSpPr/>
          <p:nvPr/>
        </p:nvSpPr>
        <p:spPr>
          <a:xfrm>
            <a:off x="6766560" y="2980030"/>
            <a:ext cx="4754880"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SCHEMATIC + WAVEFORM</a:t>
            </a:r>
            <a:endParaRPr lang="en-US" sz="1300" dirty="0"/>
          </a:p>
        </p:txBody>
      </p:sp>
      <p:sp>
        <p:nvSpPr>
          <p:cNvPr id="15" name="Text 12"/>
          <p:cNvSpPr/>
          <p:nvPr/>
        </p:nvSpPr>
        <p:spPr>
          <a:xfrm>
            <a:off x="6858000" y="3327502"/>
            <a:ext cx="4572000" cy="1331366"/>
          </a:xfrm>
          <a:prstGeom prst="rect">
            <a:avLst/>
          </a:prstGeom>
          <a:noFill/>
          <a:ln/>
        </p:spPr>
        <p:txBody>
          <a:bodyPr wrap="square" lIns="0" tIns="0" rIns="0" bIns="0" rtlCol="0" anchor="ctr"/>
          <a:lstStyle/>
          <a:p>
            <a:pPr algn="ctr" indent="0" marL="0">
              <a:buNone/>
            </a:pPr>
            <a:r>
              <a:rPr lang="en-US" sz="1050" i="1" dirty="0">
                <a:solidFill>
                  <a:srgbClr val="8695AB"/>
                </a:solidFill>
                <a:latin typeface="Calibri" pitchFamily="34" charset="0"/>
                <a:ea typeface="Calibri" pitchFamily="34" charset="-122"/>
                <a:cs typeface="Calibri" pitchFamily="34" charset="-120"/>
              </a:rPr>
              <a:t>e.g. LTspice schematic and</a:t>
            </a:r>
            <a:endParaRPr lang="en-US" sz="1050" dirty="0"/>
          </a:p>
          <a:p>
            <a:pPr algn="ctr" indent="0" marL="0">
              <a:buNone/>
            </a:pPr>
            <a:r>
              <a:rPr lang="en-US" sz="1050" i="1" dirty="0">
                <a:solidFill>
                  <a:srgbClr val="8695AB"/>
                </a:solidFill>
                <a:latin typeface="Calibri" pitchFamily="34" charset="0"/>
                <a:ea typeface="Calibri" pitchFamily="34" charset="-122"/>
                <a:cs typeface="Calibri" pitchFamily="34" charset="-120"/>
              </a:rPr>
              <a:t>step response screenshot</a:t>
            </a:r>
            <a:endParaRPr lang="en-US" sz="1050" dirty="0"/>
          </a:p>
        </p:txBody>
      </p:sp>
      <p:sp>
        <p:nvSpPr>
          <p:cNvPr id="16" name="Shape 13"/>
          <p:cNvSpPr/>
          <p:nvPr/>
        </p:nvSpPr>
        <p:spPr>
          <a:xfrm>
            <a:off x="502920" y="5989320"/>
            <a:ext cx="5760720" cy="411480"/>
          </a:xfrm>
          <a:prstGeom prst="roundRect">
            <a:avLst>
              <a:gd name="adj" fmla="val 13333"/>
            </a:avLst>
          </a:prstGeom>
          <a:solidFill>
            <a:srgbClr val="FFF8E8"/>
          </a:solidFill>
          <a:ln w="12700">
            <a:solidFill>
              <a:srgbClr val="F0C24B"/>
            </a:solidFill>
            <a:prstDash val="solid"/>
          </a:ln>
        </p:spPr>
      </p:sp>
      <p:sp>
        <p:nvSpPr>
          <p:cNvPr id="17" name="Text 14"/>
          <p:cNvSpPr/>
          <p:nvPr/>
        </p:nvSpPr>
        <p:spPr>
          <a:xfrm>
            <a:off x="667512" y="5989320"/>
            <a:ext cx="5431536" cy="411480"/>
          </a:xfrm>
          <a:prstGeom prst="rect">
            <a:avLst/>
          </a:prstGeom>
          <a:noFill/>
          <a:ln/>
        </p:spPr>
        <p:txBody>
          <a:bodyPr wrap="square" lIns="0" tIns="0" rIns="0" bIns="0" rtlCol="0" anchor="ctr"/>
          <a:lstStyle/>
          <a:p>
            <a:pPr indent="0" marL="0">
              <a:lnSpc>
                <a:spcPct val="112000"/>
              </a:lnSpc>
              <a:buNone/>
            </a:pPr>
            <a:r>
              <a:rPr lang="en-US" sz="870" b="1" dirty="0">
                <a:solidFill>
                  <a:srgbClr val="9A6B00"/>
                </a:solidFill>
                <a:latin typeface="Calibri" pitchFamily="34" charset="0"/>
                <a:ea typeface="Calibri" pitchFamily="34" charset="-122"/>
                <a:cs typeface="Calibri" pitchFamily="34" charset="-120"/>
              </a:rPr>
              <a:t>  IN PLAIN TERMS (for the CSE side):  </a:t>
            </a:r>
            <a:pPr indent="0" marL="0">
              <a:lnSpc>
                <a:spcPct val="112000"/>
              </a:lnSpc>
              <a:buNone/>
            </a:pPr>
            <a:r>
              <a:rPr lang="en-US" sz="870" dirty="0">
                <a:solidFill>
                  <a:srgbClr val="3D3620"/>
                </a:solidFill>
                <a:latin typeface="Calibri" pitchFamily="34" charset="0"/>
                <a:ea typeface="Calibri" pitchFamily="34" charset="-122"/>
                <a:cs typeface="Calibri" pitchFamily="34" charset="-120"/>
              </a:rPr>
              <a:t>Just a resistor and capacitor charging up, like a bucket filling with water — tau is simply how long that fill takes.</a:t>
            </a:r>
            <a:endParaRPr lang="en-US" sz="870" dirty="0"/>
          </a:p>
        </p:txBody>
      </p:sp>
      <p:sp>
        <p:nvSpPr>
          <p:cNvPr id="18" name="Text 1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9" name="Text 1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2. CIRCUITS &amp; FAULT THEORY</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RLC Series Circuit — Adding Oscillation</a:t>
            </a:r>
            <a:endParaRPr lang="en-US" sz="3000" dirty="0"/>
          </a:p>
        </p:txBody>
      </p:sp>
      <p:sp>
        <p:nvSpPr>
          <p:cNvPr id="4" name="Shape 2"/>
          <p:cNvSpPr/>
          <p:nvPr/>
        </p:nvSpPr>
        <p:spPr>
          <a:xfrm>
            <a:off x="502920" y="1783080"/>
            <a:ext cx="5760720" cy="1417320"/>
          </a:xfrm>
          <a:prstGeom prst="roundRect">
            <a:avLst>
              <a:gd name="adj" fmla="val 5161"/>
            </a:avLst>
          </a:prstGeom>
          <a:solidFill>
            <a:srgbClr val="0B1F3A"/>
          </a:solidFill>
          <a:ln/>
          <a:effectLst>
            <a:outerShdw sx="100000" sy="100000" kx="0" ky="0" algn="bl" rotWithShape="0" blurRad="114300" dist="38100" dir="2700000">
              <a:srgbClr val="0B1F3A">
                <a:alpha val="14000"/>
              </a:srgbClr>
            </a:outerShdw>
          </a:effectLst>
        </p:spPr>
      </p:sp>
      <p:sp>
        <p:nvSpPr>
          <p:cNvPr id="5" name="Text 3"/>
          <p:cNvSpPr/>
          <p:nvPr/>
        </p:nvSpPr>
        <p:spPr>
          <a:xfrm>
            <a:off x="777240" y="1920240"/>
            <a:ext cx="5212080" cy="1143000"/>
          </a:xfrm>
          <a:prstGeom prst="rect">
            <a:avLst/>
          </a:prstGeom>
          <a:noFill/>
          <a:ln/>
        </p:spPr>
        <p:txBody>
          <a:bodyPr wrap="square" lIns="0" tIns="0" rIns="0" bIns="0" rtlCol="0" anchor="ctr"/>
          <a:lstStyle/>
          <a:p>
            <a:pPr algn="l" indent="0" marL="0">
              <a:lnSpc>
                <a:spcPct val="140000"/>
              </a:lnSpc>
              <a:buNone/>
            </a:pPr>
            <a:r>
              <a:rPr lang="en-US" sz="1500" dirty="0">
                <a:solidFill>
                  <a:srgbClr val="FFB703"/>
                </a:solidFill>
                <a:latin typeface="Courier New" pitchFamily="34" charset="0"/>
                <a:ea typeface="Courier New" pitchFamily="34" charset="-122"/>
                <a:cs typeface="Courier New" pitchFamily="34" charset="-120"/>
              </a:rPr>
              <a:t>H(s) = 1 / (LCs^2 + RCs + 1)</a:t>
            </a:r>
            <a:endParaRPr lang="en-US" sz="1500" dirty="0"/>
          </a:p>
          <a:p>
            <a:pPr algn="l" indent="0" marL="0">
              <a:lnSpc>
                <a:spcPct val="140000"/>
              </a:lnSpc>
              <a:buNone/>
            </a:pPr>
            <a:r>
              <a:rPr lang="en-US" sz="1500" dirty="0">
                <a:solidFill>
                  <a:srgbClr val="E7ECF4"/>
                </a:solidFill>
                <a:latin typeface="Courier New" pitchFamily="34" charset="0"/>
                <a:ea typeface="Courier New" pitchFamily="34" charset="-122"/>
                <a:cs typeface="Courier New" pitchFamily="34" charset="-120"/>
              </a:rPr>
              <a:t>omega_0 = 1 / sqrt(LC)     zeta = (R/2) * sqrt(C/L)</a:t>
            </a:r>
            <a:endParaRPr lang="en-US" sz="1500" dirty="0"/>
          </a:p>
        </p:txBody>
      </p:sp>
      <p:sp>
        <p:nvSpPr>
          <p:cNvPr id="6" name="Shape 4"/>
          <p:cNvSpPr/>
          <p:nvPr/>
        </p:nvSpPr>
        <p:spPr>
          <a:xfrm>
            <a:off x="521208" y="3511296"/>
            <a:ext cx="82296" cy="82296"/>
          </a:xfrm>
          <a:prstGeom prst="ellipse">
            <a:avLst/>
          </a:prstGeom>
          <a:solidFill>
            <a:srgbClr val="00B4D8"/>
          </a:solidFill>
          <a:ln/>
        </p:spPr>
      </p:sp>
      <p:sp>
        <p:nvSpPr>
          <p:cNvPr id="7" name="Text 5"/>
          <p:cNvSpPr/>
          <p:nvPr/>
        </p:nvSpPr>
        <p:spPr>
          <a:xfrm>
            <a:off x="777240" y="3355848"/>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4748B"/>
                </a:solidFill>
                <a:latin typeface="Calibri" pitchFamily="34" charset="0"/>
                <a:ea typeface="Calibri" pitchFamily="34" charset="-122"/>
                <a:cs typeface="Calibri" pitchFamily="34" charset="-120"/>
              </a:rPr>
              <a:t>L swept 1 mH to 100 mH (normal/drift), with R = 10 ohm and C = 100 microfarad fixed — a genuinely underdamped, oscillatory step response.</a:t>
            </a:r>
            <a:endParaRPr lang="en-US" sz="1130" dirty="0"/>
          </a:p>
        </p:txBody>
      </p:sp>
      <p:sp>
        <p:nvSpPr>
          <p:cNvPr id="8" name="Shape 6"/>
          <p:cNvSpPr/>
          <p:nvPr/>
        </p:nvSpPr>
        <p:spPr>
          <a:xfrm>
            <a:off x="521208" y="4169664"/>
            <a:ext cx="82296" cy="82296"/>
          </a:xfrm>
          <a:prstGeom prst="ellipse">
            <a:avLst/>
          </a:prstGeom>
          <a:solidFill>
            <a:srgbClr val="00B4D8"/>
          </a:solidFill>
          <a:ln/>
        </p:spPr>
      </p:sp>
      <p:sp>
        <p:nvSpPr>
          <p:cNvPr id="9" name="Text 7"/>
          <p:cNvSpPr/>
          <p:nvPr/>
        </p:nvSpPr>
        <p:spPr>
          <a:xfrm>
            <a:off x="777240" y="4014216"/>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4748B"/>
                </a:solidFill>
                <a:latin typeface="Calibri" pitchFamily="34" charset="0"/>
                <a:ea typeface="Calibri" pitchFamily="34" charset="-122"/>
                <a:cs typeface="Calibri" pitchFamily="34" charset="-120"/>
              </a:rPr>
              <a:t>Because zeta is small, the output rings before settling — a signature no RC-only circuit can produce.</a:t>
            </a:r>
            <a:endParaRPr lang="en-US" sz="1130" dirty="0"/>
          </a:p>
        </p:txBody>
      </p:sp>
      <p:sp>
        <p:nvSpPr>
          <p:cNvPr id="10" name="Shape 8"/>
          <p:cNvSpPr/>
          <p:nvPr/>
        </p:nvSpPr>
        <p:spPr>
          <a:xfrm>
            <a:off x="521208" y="4828032"/>
            <a:ext cx="82296" cy="82296"/>
          </a:xfrm>
          <a:prstGeom prst="ellipse">
            <a:avLst/>
          </a:prstGeom>
          <a:solidFill>
            <a:srgbClr val="00B4D8"/>
          </a:solidFill>
          <a:ln/>
        </p:spPr>
      </p:sp>
      <p:sp>
        <p:nvSpPr>
          <p:cNvPr id="11" name="Text 9"/>
          <p:cNvSpPr/>
          <p:nvPr/>
        </p:nvSpPr>
        <p:spPr>
          <a:xfrm>
            <a:off x="777240" y="4672584"/>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4748B"/>
                </a:solidFill>
                <a:latin typeface="Calibri" pitchFamily="34" charset="0"/>
                <a:ea typeface="Calibri" pitchFamily="34" charset="-122"/>
                <a:cs typeface="Calibri" pitchFamily="34" charset="-120"/>
              </a:rPr>
              <a:t>Open: R swept 1 megaohm to 1 gigaohm in series, blocking the current path entirely.</a:t>
            </a:r>
            <a:endParaRPr lang="en-US" sz="1130" dirty="0"/>
          </a:p>
        </p:txBody>
      </p:sp>
      <p:sp>
        <p:nvSpPr>
          <p:cNvPr id="12" name="Shape 10"/>
          <p:cNvSpPr/>
          <p:nvPr/>
        </p:nvSpPr>
        <p:spPr>
          <a:xfrm>
            <a:off x="6583680" y="1783080"/>
            <a:ext cx="5120640" cy="4160520"/>
          </a:xfrm>
          <a:prstGeom prst="roundRect">
            <a:avLst>
              <a:gd name="adj" fmla="val 1538"/>
            </a:avLst>
          </a:prstGeom>
          <a:solidFill>
            <a:srgbClr val="EAEEF4"/>
          </a:solidFill>
          <a:ln w="15875">
            <a:solidFill>
              <a:srgbClr val="9FB1C8"/>
            </a:solidFill>
            <a:prstDash val="dash"/>
          </a:ln>
        </p:spPr>
      </p:sp>
      <p:pic>
        <p:nvPicPr>
          <p:cNvPr id="13" name="Image 0" descr="/sessions/blissful-zealous-babbage/mnt/outputs/ppt/icons/microchip_64748B.png">    </p:cNvPr>
          <p:cNvPicPr>
            <a:picLocks noChangeAspect="1"/>
          </p:cNvPicPr>
          <p:nvPr/>
        </p:nvPicPr>
        <p:blipFill>
          <a:blip r:embed="rId1"/>
          <a:stretch>
            <a:fillRect/>
          </a:stretch>
        </p:blipFill>
        <p:spPr>
          <a:xfrm>
            <a:off x="8860536" y="2498141"/>
            <a:ext cx="566928" cy="566928"/>
          </a:xfrm>
          <a:prstGeom prst="rect">
            <a:avLst/>
          </a:prstGeom>
        </p:spPr>
      </p:pic>
      <p:sp>
        <p:nvSpPr>
          <p:cNvPr id="14" name="Text 11"/>
          <p:cNvSpPr/>
          <p:nvPr/>
        </p:nvSpPr>
        <p:spPr>
          <a:xfrm>
            <a:off x="6766560" y="2980030"/>
            <a:ext cx="4754880"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SCHEMATIC + WAVEFORM</a:t>
            </a:r>
            <a:endParaRPr lang="en-US" sz="1300" dirty="0"/>
          </a:p>
        </p:txBody>
      </p:sp>
      <p:sp>
        <p:nvSpPr>
          <p:cNvPr id="15" name="Text 12"/>
          <p:cNvSpPr/>
          <p:nvPr/>
        </p:nvSpPr>
        <p:spPr>
          <a:xfrm>
            <a:off x="6858000" y="3327502"/>
            <a:ext cx="4572000" cy="1331366"/>
          </a:xfrm>
          <a:prstGeom prst="rect">
            <a:avLst/>
          </a:prstGeom>
          <a:noFill/>
          <a:ln/>
        </p:spPr>
        <p:txBody>
          <a:bodyPr wrap="square" lIns="0" tIns="0" rIns="0" bIns="0" rtlCol="0" anchor="ctr"/>
          <a:lstStyle/>
          <a:p>
            <a:pPr algn="ctr" indent="0" marL="0">
              <a:buNone/>
            </a:pPr>
            <a:r>
              <a:rPr lang="en-US" sz="1050" i="1" dirty="0">
                <a:solidFill>
                  <a:srgbClr val="8695AB"/>
                </a:solidFill>
                <a:latin typeface="Calibri" pitchFamily="34" charset="0"/>
                <a:ea typeface="Calibri" pitchFamily="34" charset="-122"/>
                <a:cs typeface="Calibri" pitchFamily="34" charset="-120"/>
              </a:rPr>
              <a:t>e.g. LTspice schematic and</a:t>
            </a:r>
            <a:endParaRPr lang="en-US" sz="1050" dirty="0"/>
          </a:p>
          <a:p>
            <a:pPr algn="ctr" indent="0" marL="0">
              <a:buNone/>
            </a:pPr>
            <a:r>
              <a:rPr lang="en-US" sz="1050" i="1" dirty="0">
                <a:solidFill>
                  <a:srgbClr val="8695AB"/>
                </a:solidFill>
                <a:latin typeface="Calibri" pitchFamily="34" charset="0"/>
                <a:ea typeface="Calibri" pitchFamily="34" charset="-122"/>
                <a:cs typeface="Calibri" pitchFamily="34" charset="-120"/>
              </a:rPr>
              <a:t>step response screenshot</a:t>
            </a:r>
            <a:endParaRPr lang="en-US" sz="1050" dirty="0"/>
          </a:p>
        </p:txBody>
      </p:sp>
      <p:sp>
        <p:nvSpPr>
          <p:cNvPr id="16" name="Shape 13"/>
          <p:cNvSpPr/>
          <p:nvPr/>
        </p:nvSpPr>
        <p:spPr>
          <a:xfrm>
            <a:off x="502920" y="5989320"/>
            <a:ext cx="5760720" cy="411480"/>
          </a:xfrm>
          <a:prstGeom prst="roundRect">
            <a:avLst>
              <a:gd name="adj" fmla="val 13333"/>
            </a:avLst>
          </a:prstGeom>
          <a:solidFill>
            <a:srgbClr val="FFF8E8"/>
          </a:solidFill>
          <a:ln w="12700">
            <a:solidFill>
              <a:srgbClr val="F0C24B"/>
            </a:solidFill>
            <a:prstDash val="solid"/>
          </a:ln>
        </p:spPr>
      </p:sp>
      <p:sp>
        <p:nvSpPr>
          <p:cNvPr id="17" name="Text 14"/>
          <p:cNvSpPr/>
          <p:nvPr/>
        </p:nvSpPr>
        <p:spPr>
          <a:xfrm>
            <a:off x="667512" y="5989320"/>
            <a:ext cx="5431536" cy="411480"/>
          </a:xfrm>
          <a:prstGeom prst="rect">
            <a:avLst/>
          </a:prstGeom>
          <a:noFill/>
          <a:ln/>
        </p:spPr>
        <p:txBody>
          <a:bodyPr wrap="square" lIns="0" tIns="0" rIns="0" bIns="0" rtlCol="0" anchor="ctr"/>
          <a:lstStyle/>
          <a:p>
            <a:pPr indent="0" marL="0">
              <a:lnSpc>
                <a:spcPct val="112000"/>
              </a:lnSpc>
              <a:buNone/>
            </a:pPr>
            <a:r>
              <a:rPr lang="en-US" sz="870" b="1" dirty="0">
                <a:solidFill>
                  <a:srgbClr val="9A6B00"/>
                </a:solidFill>
                <a:latin typeface="Calibri" pitchFamily="34" charset="0"/>
                <a:ea typeface="Calibri" pitchFamily="34" charset="-122"/>
                <a:cs typeface="Calibri" pitchFamily="34" charset="-120"/>
              </a:rPr>
              <a:t>  IN PLAIN TERMS (for the CSE side):  </a:t>
            </a:r>
            <a:pPr indent="0" marL="0">
              <a:lnSpc>
                <a:spcPct val="112000"/>
              </a:lnSpc>
              <a:buNone/>
            </a:pPr>
            <a:r>
              <a:rPr lang="en-US" sz="870" dirty="0">
                <a:solidFill>
                  <a:srgbClr val="3D3620"/>
                </a:solidFill>
                <a:latin typeface="Calibri" pitchFamily="34" charset="0"/>
                <a:ea typeface="Calibri" pitchFamily="34" charset="-122"/>
                <a:cs typeface="Calibri" pitchFamily="34" charset="-120"/>
              </a:rPr>
              <a:t>The inductor makes this circuit "overshoot and wobble" before settling, like a swing that bounces past its resting point a few times — that wobble is the key signal the model learns to spot.</a:t>
            </a:r>
            <a:endParaRPr lang="en-US" sz="870" dirty="0"/>
          </a:p>
        </p:txBody>
      </p:sp>
      <p:sp>
        <p:nvSpPr>
          <p:cNvPr id="18" name="Text 1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9" name="Text 1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2. CIRCUITS &amp; FAULT THEORY</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Sallen-Key Active Filter — A Real Design Pattern</a:t>
            </a:r>
            <a:endParaRPr lang="en-US" sz="3000" dirty="0"/>
          </a:p>
        </p:txBody>
      </p:sp>
      <p:sp>
        <p:nvSpPr>
          <p:cNvPr id="4" name="Shape 2"/>
          <p:cNvSpPr/>
          <p:nvPr/>
        </p:nvSpPr>
        <p:spPr>
          <a:xfrm>
            <a:off x="502920" y="1783080"/>
            <a:ext cx="5760720" cy="1417320"/>
          </a:xfrm>
          <a:prstGeom prst="roundRect">
            <a:avLst>
              <a:gd name="adj" fmla="val 5161"/>
            </a:avLst>
          </a:prstGeom>
          <a:solidFill>
            <a:srgbClr val="0B1F3A"/>
          </a:solidFill>
          <a:ln/>
          <a:effectLst>
            <a:outerShdw sx="100000" sy="100000" kx="0" ky="0" algn="bl" rotWithShape="0" blurRad="114300" dist="38100" dir="2700000">
              <a:srgbClr val="0B1F3A">
                <a:alpha val="14000"/>
              </a:srgbClr>
            </a:outerShdw>
          </a:effectLst>
        </p:spPr>
      </p:sp>
      <p:sp>
        <p:nvSpPr>
          <p:cNvPr id="5" name="Text 3"/>
          <p:cNvSpPr/>
          <p:nvPr/>
        </p:nvSpPr>
        <p:spPr>
          <a:xfrm>
            <a:off x="777240" y="1920240"/>
            <a:ext cx="5212080" cy="1143000"/>
          </a:xfrm>
          <a:prstGeom prst="rect">
            <a:avLst/>
          </a:prstGeom>
          <a:noFill/>
          <a:ln/>
        </p:spPr>
        <p:txBody>
          <a:bodyPr wrap="square" lIns="0" tIns="0" rIns="0" bIns="0" rtlCol="0" anchor="ctr"/>
          <a:lstStyle/>
          <a:p>
            <a:pPr algn="l" indent="0" marL="0">
              <a:lnSpc>
                <a:spcPct val="140000"/>
              </a:lnSpc>
              <a:buNone/>
            </a:pPr>
            <a:r>
              <a:rPr lang="en-US" sz="1400" dirty="0">
                <a:solidFill>
                  <a:srgbClr val="FFB703"/>
                </a:solidFill>
                <a:latin typeface="Courier New" pitchFamily="34" charset="0"/>
                <a:ea typeface="Courier New" pitchFamily="34" charset="-122"/>
                <a:cs typeface="Courier New" pitchFamily="34" charset="-120"/>
              </a:rPr>
              <a:t>f_c = 1 / (2*pi*sqrt(R1*R2*C1*C2))</a:t>
            </a:r>
            <a:endParaRPr lang="en-US" sz="1400" dirty="0"/>
          </a:p>
          <a:p>
            <a:pPr algn="l" indent="0" marL="0">
              <a:lnSpc>
                <a:spcPct val="140000"/>
              </a:lnSpc>
              <a:buNone/>
            </a:pPr>
            <a:r>
              <a:rPr lang="en-US" sz="1400" dirty="0">
                <a:solidFill>
                  <a:srgbClr val="E7ECF4"/>
                </a:solidFill>
                <a:latin typeface="Courier New" pitchFamily="34" charset="0"/>
                <a:ea typeface="Courier New" pitchFamily="34" charset="-122"/>
                <a:cs typeface="Courier New" pitchFamily="34" charset="-120"/>
              </a:rPr>
              <a:t>Unity-gain, 2nd-order low-pass (op-amp based)</a:t>
            </a:r>
            <a:endParaRPr lang="en-US" sz="1400" dirty="0"/>
          </a:p>
        </p:txBody>
      </p:sp>
      <p:sp>
        <p:nvSpPr>
          <p:cNvPr id="6" name="Shape 4"/>
          <p:cNvSpPr/>
          <p:nvPr/>
        </p:nvSpPr>
        <p:spPr>
          <a:xfrm>
            <a:off x="521208" y="3511296"/>
            <a:ext cx="82296" cy="82296"/>
          </a:xfrm>
          <a:prstGeom prst="ellipse">
            <a:avLst/>
          </a:prstGeom>
          <a:solidFill>
            <a:srgbClr val="00B4D8"/>
          </a:solidFill>
          <a:ln/>
        </p:spPr>
      </p:sp>
      <p:sp>
        <p:nvSpPr>
          <p:cNvPr id="7" name="Text 5"/>
          <p:cNvSpPr/>
          <p:nvPr/>
        </p:nvSpPr>
        <p:spPr>
          <a:xfrm>
            <a:off x="777240" y="3355848"/>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4748B"/>
                </a:solidFill>
                <a:latin typeface="Calibri" pitchFamily="34" charset="0"/>
                <a:ea typeface="Calibri" pitchFamily="34" charset="-122"/>
                <a:cs typeface="Calibri" pitchFamily="34" charset="-120"/>
              </a:rPr>
              <a:t>R1 = R2 swept 1 kilohm to 100 kilohm together; C1 = C2 = 10 nanofarad fixed; dual +-15V supply, LT1001 op-amp model.</a:t>
            </a:r>
            <a:endParaRPr lang="en-US" sz="1130" dirty="0"/>
          </a:p>
        </p:txBody>
      </p:sp>
      <p:sp>
        <p:nvSpPr>
          <p:cNvPr id="8" name="Shape 6"/>
          <p:cNvSpPr/>
          <p:nvPr/>
        </p:nvSpPr>
        <p:spPr>
          <a:xfrm>
            <a:off x="521208" y="4169664"/>
            <a:ext cx="82296" cy="82296"/>
          </a:xfrm>
          <a:prstGeom prst="ellipse">
            <a:avLst/>
          </a:prstGeom>
          <a:solidFill>
            <a:srgbClr val="00B4D8"/>
          </a:solidFill>
          <a:ln/>
        </p:spPr>
      </p:sp>
      <p:sp>
        <p:nvSpPr>
          <p:cNvPr id="9" name="Text 7"/>
          <p:cNvSpPr/>
          <p:nvPr/>
        </p:nvSpPr>
        <p:spPr>
          <a:xfrm>
            <a:off x="777240" y="4014216"/>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4748B"/>
                </a:solidFill>
                <a:latin typeface="Calibri" pitchFamily="34" charset="0"/>
                <a:ea typeface="Calibri" pitchFamily="34" charset="-122"/>
                <a:cs typeface="Calibri" pitchFamily="34" charset="-120"/>
              </a:rPr>
              <a:t>This is the one topology here that's actually used in production analog signal-conditioning circuits — not just a textbook passive network.</a:t>
            </a:r>
            <a:endParaRPr lang="en-US" sz="1130" dirty="0"/>
          </a:p>
        </p:txBody>
      </p:sp>
      <p:sp>
        <p:nvSpPr>
          <p:cNvPr id="10" name="Shape 8"/>
          <p:cNvSpPr/>
          <p:nvPr/>
        </p:nvSpPr>
        <p:spPr>
          <a:xfrm>
            <a:off x="521208" y="4828032"/>
            <a:ext cx="82296" cy="82296"/>
          </a:xfrm>
          <a:prstGeom prst="ellipse">
            <a:avLst/>
          </a:prstGeom>
          <a:solidFill>
            <a:srgbClr val="00B4D8"/>
          </a:solidFill>
          <a:ln/>
        </p:spPr>
      </p:sp>
      <p:sp>
        <p:nvSpPr>
          <p:cNvPr id="11" name="Text 9"/>
          <p:cNvSpPr/>
          <p:nvPr/>
        </p:nvSpPr>
        <p:spPr>
          <a:xfrm>
            <a:off x="777240" y="4672584"/>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4748B"/>
                </a:solidFill>
                <a:latin typeface="Calibri" pitchFamily="34" charset="0"/>
                <a:ea typeface="Calibri" pitchFamily="34" charset="-122"/>
                <a:cs typeface="Calibri" pitchFamily="34" charset="-120"/>
              </a:rPr>
              <a:t>Its op-amp feedback path gives it a distinct response shape from the three purely passive circuits.</a:t>
            </a:r>
            <a:endParaRPr lang="en-US" sz="1130" dirty="0"/>
          </a:p>
        </p:txBody>
      </p:sp>
      <p:sp>
        <p:nvSpPr>
          <p:cNvPr id="12" name="Shape 10"/>
          <p:cNvSpPr/>
          <p:nvPr/>
        </p:nvSpPr>
        <p:spPr>
          <a:xfrm>
            <a:off x="6583680" y="1783080"/>
            <a:ext cx="5120640" cy="4160520"/>
          </a:xfrm>
          <a:prstGeom prst="roundRect">
            <a:avLst>
              <a:gd name="adj" fmla="val 1538"/>
            </a:avLst>
          </a:prstGeom>
          <a:solidFill>
            <a:srgbClr val="EAEEF4"/>
          </a:solidFill>
          <a:ln w="15875">
            <a:solidFill>
              <a:srgbClr val="9FB1C8"/>
            </a:solidFill>
            <a:prstDash val="dash"/>
          </a:ln>
        </p:spPr>
      </p:sp>
      <p:pic>
        <p:nvPicPr>
          <p:cNvPr id="13" name="Image 0" descr="/sessions/blissful-zealous-babbage/mnt/outputs/ppt/icons/microchip_64748B.png">    </p:cNvPr>
          <p:cNvPicPr>
            <a:picLocks noChangeAspect="1"/>
          </p:cNvPicPr>
          <p:nvPr/>
        </p:nvPicPr>
        <p:blipFill>
          <a:blip r:embed="rId1"/>
          <a:stretch>
            <a:fillRect/>
          </a:stretch>
        </p:blipFill>
        <p:spPr>
          <a:xfrm>
            <a:off x="8860536" y="2498141"/>
            <a:ext cx="566928" cy="566928"/>
          </a:xfrm>
          <a:prstGeom prst="rect">
            <a:avLst/>
          </a:prstGeom>
        </p:spPr>
      </p:pic>
      <p:sp>
        <p:nvSpPr>
          <p:cNvPr id="14" name="Text 11"/>
          <p:cNvSpPr/>
          <p:nvPr/>
        </p:nvSpPr>
        <p:spPr>
          <a:xfrm>
            <a:off x="6766560" y="2980030"/>
            <a:ext cx="4754880"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SCHEMATIC + WAVEFORM</a:t>
            </a:r>
            <a:endParaRPr lang="en-US" sz="1300" dirty="0"/>
          </a:p>
        </p:txBody>
      </p:sp>
      <p:sp>
        <p:nvSpPr>
          <p:cNvPr id="15" name="Text 12"/>
          <p:cNvSpPr/>
          <p:nvPr/>
        </p:nvSpPr>
        <p:spPr>
          <a:xfrm>
            <a:off x="6858000" y="3327502"/>
            <a:ext cx="4572000" cy="1331366"/>
          </a:xfrm>
          <a:prstGeom prst="rect">
            <a:avLst/>
          </a:prstGeom>
          <a:noFill/>
          <a:ln/>
        </p:spPr>
        <p:txBody>
          <a:bodyPr wrap="square" lIns="0" tIns="0" rIns="0" bIns="0" rtlCol="0" anchor="ctr"/>
          <a:lstStyle/>
          <a:p>
            <a:pPr algn="ctr" indent="0" marL="0">
              <a:buNone/>
            </a:pPr>
            <a:r>
              <a:rPr lang="en-US" sz="1050" i="1" dirty="0">
                <a:solidFill>
                  <a:srgbClr val="8695AB"/>
                </a:solidFill>
                <a:latin typeface="Calibri" pitchFamily="34" charset="0"/>
                <a:ea typeface="Calibri" pitchFamily="34" charset="-122"/>
                <a:cs typeface="Calibri" pitchFamily="34" charset="-120"/>
              </a:rPr>
              <a:t>e.g. LTspice schematic and</a:t>
            </a:r>
            <a:endParaRPr lang="en-US" sz="1050" dirty="0"/>
          </a:p>
          <a:p>
            <a:pPr algn="ctr" indent="0" marL="0">
              <a:buNone/>
            </a:pPr>
            <a:r>
              <a:rPr lang="en-US" sz="1050" i="1" dirty="0">
                <a:solidFill>
                  <a:srgbClr val="8695AB"/>
                </a:solidFill>
                <a:latin typeface="Calibri" pitchFamily="34" charset="0"/>
                <a:ea typeface="Calibri" pitchFamily="34" charset="-122"/>
                <a:cs typeface="Calibri" pitchFamily="34" charset="-120"/>
              </a:rPr>
              <a:t>step response screenshot</a:t>
            </a:r>
            <a:endParaRPr lang="en-US" sz="1050" dirty="0"/>
          </a:p>
        </p:txBody>
      </p:sp>
      <p:sp>
        <p:nvSpPr>
          <p:cNvPr id="16" name="Shape 13"/>
          <p:cNvSpPr/>
          <p:nvPr/>
        </p:nvSpPr>
        <p:spPr>
          <a:xfrm>
            <a:off x="502920" y="5989320"/>
            <a:ext cx="5760720" cy="411480"/>
          </a:xfrm>
          <a:prstGeom prst="roundRect">
            <a:avLst>
              <a:gd name="adj" fmla="val 13333"/>
            </a:avLst>
          </a:prstGeom>
          <a:solidFill>
            <a:srgbClr val="FFF8E8"/>
          </a:solidFill>
          <a:ln w="12700">
            <a:solidFill>
              <a:srgbClr val="F0C24B"/>
            </a:solidFill>
            <a:prstDash val="solid"/>
          </a:ln>
        </p:spPr>
      </p:sp>
      <p:sp>
        <p:nvSpPr>
          <p:cNvPr id="17" name="Text 14"/>
          <p:cNvSpPr/>
          <p:nvPr/>
        </p:nvSpPr>
        <p:spPr>
          <a:xfrm>
            <a:off x="667512" y="5989320"/>
            <a:ext cx="5431536" cy="411480"/>
          </a:xfrm>
          <a:prstGeom prst="rect">
            <a:avLst/>
          </a:prstGeom>
          <a:noFill/>
          <a:ln/>
        </p:spPr>
        <p:txBody>
          <a:bodyPr wrap="square" lIns="0" tIns="0" rIns="0" bIns="0" rtlCol="0" anchor="ctr"/>
          <a:lstStyle/>
          <a:p>
            <a:pPr indent="0" marL="0">
              <a:lnSpc>
                <a:spcPct val="112000"/>
              </a:lnSpc>
              <a:buNone/>
            </a:pPr>
            <a:r>
              <a:rPr lang="en-US" sz="870" b="1" dirty="0">
                <a:solidFill>
                  <a:srgbClr val="9A6B00"/>
                </a:solidFill>
                <a:latin typeface="Calibri" pitchFamily="34" charset="0"/>
                <a:ea typeface="Calibri" pitchFamily="34" charset="-122"/>
                <a:cs typeface="Calibri" pitchFamily="34" charset="-120"/>
              </a:rPr>
              <a:t>  IN PLAIN TERMS (for the CSE side):  </a:t>
            </a:r>
            <a:pPr indent="0" marL="0">
              <a:lnSpc>
                <a:spcPct val="112000"/>
              </a:lnSpc>
              <a:buNone/>
            </a:pPr>
            <a:r>
              <a:rPr lang="en-US" sz="870" dirty="0">
                <a:solidFill>
                  <a:srgbClr val="3D3620"/>
                </a:solidFill>
                <a:latin typeface="Calibri" pitchFamily="34" charset="0"/>
                <a:ea typeface="Calibri" pitchFamily="34" charset="-122"/>
                <a:cs typeface="Calibri" pitchFamily="34" charset="-120"/>
              </a:rPr>
              <a:t>An op-amp is just a powered amplifier chip with feedback wired around it — think of it as an "active" filter that can shape a signal more precisely than a passive RC network alone.</a:t>
            </a:r>
            <a:endParaRPr lang="en-US" sz="870" dirty="0"/>
          </a:p>
        </p:txBody>
      </p:sp>
      <p:sp>
        <p:nvSpPr>
          <p:cNvPr id="18" name="Text 1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9" name="Text 1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2. CIRCUITS &amp; FAULT THEORY</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RC Ladder Network — Cascaded Stages</a:t>
            </a:r>
            <a:endParaRPr lang="en-US" sz="3000" dirty="0"/>
          </a:p>
        </p:txBody>
      </p:sp>
      <p:sp>
        <p:nvSpPr>
          <p:cNvPr id="4" name="Shape 2"/>
          <p:cNvSpPr/>
          <p:nvPr/>
        </p:nvSpPr>
        <p:spPr>
          <a:xfrm>
            <a:off x="502920" y="1783080"/>
            <a:ext cx="5760720" cy="1417320"/>
          </a:xfrm>
          <a:prstGeom prst="roundRect">
            <a:avLst>
              <a:gd name="adj" fmla="val 5161"/>
            </a:avLst>
          </a:prstGeom>
          <a:solidFill>
            <a:srgbClr val="0B1F3A"/>
          </a:solidFill>
          <a:ln/>
          <a:effectLst>
            <a:outerShdw sx="100000" sy="100000" kx="0" ky="0" algn="bl" rotWithShape="0" blurRad="114300" dist="38100" dir="2700000">
              <a:srgbClr val="0B1F3A">
                <a:alpha val="14000"/>
              </a:srgbClr>
            </a:outerShdw>
          </a:effectLst>
        </p:spPr>
      </p:sp>
      <p:sp>
        <p:nvSpPr>
          <p:cNvPr id="5" name="Text 3"/>
          <p:cNvSpPr/>
          <p:nvPr/>
        </p:nvSpPr>
        <p:spPr>
          <a:xfrm>
            <a:off x="777240" y="1920240"/>
            <a:ext cx="5212080" cy="1143000"/>
          </a:xfrm>
          <a:prstGeom prst="rect">
            <a:avLst/>
          </a:prstGeom>
          <a:noFill/>
          <a:ln/>
        </p:spPr>
        <p:txBody>
          <a:bodyPr wrap="square" lIns="0" tIns="0" rIns="0" bIns="0" rtlCol="0" anchor="ctr"/>
          <a:lstStyle/>
          <a:p>
            <a:pPr algn="l" indent="0" marL="0">
              <a:lnSpc>
                <a:spcPct val="140000"/>
              </a:lnSpc>
              <a:buNone/>
            </a:pPr>
            <a:r>
              <a:rPr lang="en-US" sz="1400" dirty="0">
                <a:solidFill>
                  <a:srgbClr val="FFB703"/>
                </a:solidFill>
                <a:latin typeface="Courier New" pitchFamily="34" charset="0"/>
                <a:ea typeface="Courier New" pitchFamily="34" charset="-122"/>
                <a:cs typeface="Courier New" pitchFamily="34" charset="-120"/>
              </a:rPr>
              <a:t>Stage 1: 1/(1+sR1C1)   -&gt;   Stage 2: 1/(1+sR2C2)</a:t>
            </a:r>
            <a:endParaRPr lang="en-US" sz="1400" dirty="0"/>
          </a:p>
          <a:p>
            <a:pPr algn="l" indent="0" marL="0">
              <a:lnSpc>
                <a:spcPct val="140000"/>
              </a:lnSpc>
              <a:buNone/>
            </a:pPr>
            <a:r>
              <a:rPr lang="en-US" sz="1400" dirty="0">
                <a:solidFill>
                  <a:srgbClr val="E7ECF4"/>
                </a:solidFill>
                <a:latin typeface="Courier New" pitchFamily="34" charset="0"/>
                <a:ea typeface="Courier New" pitchFamily="34" charset="-122"/>
                <a:cs typeface="Courier New" pitchFamily="34" charset="-120"/>
              </a:rPr>
              <a:t>H(s) = Stage1(s) * Stage2(s)   (multi-pole)</a:t>
            </a:r>
            <a:endParaRPr lang="en-US" sz="1400" dirty="0"/>
          </a:p>
        </p:txBody>
      </p:sp>
      <p:sp>
        <p:nvSpPr>
          <p:cNvPr id="6" name="Shape 4"/>
          <p:cNvSpPr/>
          <p:nvPr/>
        </p:nvSpPr>
        <p:spPr>
          <a:xfrm>
            <a:off x="521208" y="3511296"/>
            <a:ext cx="82296" cy="82296"/>
          </a:xfrm>
          <a:prstGeom prst="ellipse">
            <a:avLst/>
          </a:prstGeom>
          <a:solidFill>
            <a:srgbClr val="00B4D8"/>
          </a:solidFill>
          <a:ln/>
        </p:spPr>
      </p:sp>
      <p:sp>
        <p:nvSpPr>
          <p:cNvPr id="7" name="Text 5"/>
          <p:cNvSpPr/>
          <p:nvPr/>
        </p:nvSpPr>
        <p:spPr>
          <a:xfrm>
            <a:off x="777240" y="3355848"/>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4748B"/>
                </a:solidFill>
                <a:latin typeface="Calibri" pitchFamily="34" charset="0"/>
                <a:ea typeface="Calibri" pitchFamily="34" charset="-122"/>
                <a:cs typeface="Calibri" pitchFamily="34" charset="-120"/>
              </a:rPr>
              <a:t>Two RC stages in series, R1 = R2 swept together 100 ohm to 10 kilohm, C1 = C2 = 10 microfarad — each stage contributes its own pole.</a:t>
            </a:r>
            <a:endParaRPr lang="en-US" sz="1130" dirty="0"/>
          </a:p>
        </p:txBody>
      </p:sp>
      <p:sp>
        <p:nvSpPr>
          <p:cNvPr id="8" name="Shape 6"/>
          <p:cNvSpPr/>
          <p:nvPr/>
        </p:nvSpPr>
        <p:spPr>
          <a:xfrm>
            <a:off x="521208" y="4169664"/>
            <a:ext cx="82296" cy="82296"/>
          </a:xfrm>
          <a:prstGeom prst="ellipse">
            <a:avLst/>
          </a:prstGeom>
          <a:solidFill>
            <a:srgbClr val="00B4D8"/>
          </a:solidFill>
          <a:ln/>
        </p:spPr>
      </p:sp>
      <p:sp>
        <p:nvSpPr>
          <p:cNvPr id="9" name="Text 7"/>
          <p:cNvSpPr/>
          <p:nvPr/>
        </p:nvSpPr>
        <p:spPr>
          <a:xfrm>
            <a:off x="777240" y="4014216"/>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4748B"/>
                </a:solidFill>
                <a:latin typeface="Calibri" pitchFamily="34" charset="0"/>
                <a:ea typeface="Calibri" pitchFamily="34" charset="-122"/>
                <a:cs typeface="Calibri" pitchFamily="34" charset="-120"/>
              </a:rPr>
              <a:t>A fault in an earlier stage propagates and interacts with the second stage, producing subtler waveform changes than a single RC stage would.</a:t>
            </a:r>
            <a:endParaRPr lang="en-US" sz="1130" dirty="0"/>
          </a:p>
        </p:txBody>
      </p:sp>
      <p:sp>
        <p:nvSpPr>
          <p:cNvPr id="10" name="Shape 8"/>
          <p:cNvSpPr/>
          <p:nvPr/>
        </p:nvSpPr>
        <p:spPr>
          <a:xfrm>
            <a:off x="521208" y="4828032"/>
            <a:ext cx="82296" cy="82296"/>
          </a:xfrm>
          <a:prstGeom prst="ellipse">
            <a:avLst/>
          </a:prstGeom>
          <a:solidFill>
            <a:srgbClr val="00B4D8"/>
          </a:solidFill>
          <a:ln/>
        </p:spPr>
      </p:sp>
      <p:sp>
        <p:nvSpPr>
          <p:cNvPr id="11" name="Text 9"/>
          <p:cNvSpPr/>
          <p:nvPr/>
        </p:nvSpPr>
        <p:spPr>
          <a:xfrm>
            <a:off x="777240" y="4672584"/>
            <a:ext cx="5486400" cy="640080"/>
          </a:xfrm>
          <a:prstGeom prst="rect">
            <a:avLst/>
          </a:prstGeom>
          <a:noFill/>
          <a:ln/>
        </p:spPr>
        <p:txBody>
          <a:bodyPr wrap="square" lIns="0" tIns="0" rIns="0" bIns="0" rtlCol="0" anchor="ctr"/>
          <a:lstStyle/>
          <a:p>
            <a:pPr indent="0" marL="0">
              <a:lnSpc>
                <a:spcPct val="122000"/>
              </a:lnSpc>
              <a:buNone/>
            </a:pPr>
            <a:r>
              <a:rPr lang="en-US" sz="1130" dirty="0">
                <a:solidFill>
                  <a:srgbClr val="64748B"/>
                </a:solidFill>
                <a:latin typeface="Calibri" pitchFamily="34" charset="0"/>
                <a:ea typeface="Calibri" pitchFamily="34" charset="-122"/>
                <a:cs typeface="Calibri" pitchFamily="34" charset="-120"/>
              </a:rPr>
              <a:t>This structural similarity to the plain RC circuit is exactly what makes the two easy to confuse later, in Results.</a:t>
            </a:r>
            <a:endParaRPr lang="en-US" sz="1130" dirty="0"/>
          </a:p>
        </p:txBody>
      </p:sp>
      <p:sp>
        <p:nvSpPr>
          <p:cNvPr id="12" name="Shape 10"/>
          <p:cNvSpPr/>
          <p:nvPr/>
        </p:nvSpPr>
        <p:spPr>
          <a:xfrm>
            <a:off x="6583680" y="1783080"/>
            <a:ext cx="5120640" cy="4160520"/>
          </a:xfrm>
          <a:prstGeom prst="roundRect">
            <a:avLst>
              <a:gd name="adj" fmla="val 1538"/>
            </a:avLst>
          </a:prstGeom>
          <a:solidFill>
            <a:srgbClr val="EAEEF4"/>
          </a:solidFill>
          <a:ln w="15875">
            <a:solidFill>
              <a:srgbClr val="9FB1C8"/>
            </a:solidFill>
            <a:prstDash val="dash"/>
          </a:ln>
        </p:spPr>
      </p:sp>
      <p:pic>
        <p:nvPicPr>
          <p:cNvPr id="13" name="Image 0" descr="/sessions/blissful-zealous-babbage/mnt/outputs/ppt/icons/microchip_64748B.png">    </p:cNvPr>
          <p:cNvPicPr>
            <a:picLocks noChangeAspect="1"/>
          </p:cNvPicPr>
          <p:nvPr/>
        </p:nvPicPr>
        <p:blipFill>
          <a:blip r:embed="rId1"/>
          <a:stretch>
            <a:fillRect/>
          </a:stretch>
        </p:blipFill>
        <p:spPr>
          <a:xfrm>
            <a:off x="8860536" y="2498141"/>
            <a:ext cx="566928" cy="566928"/>
          </a:xfrm>
          <a:prstGeom prst="rect">
            <a:avLst/>
          </a:prstGeom>
        </p:spPr>
      </p:pic>
      <p:sp>
        <p:nvSpPr>
          <p:cNvPr id="14" name="Text 11"/>
          <p:cNvSpPr/>
          <p:nvPr/>
        </p:nvSpPr>
        <p:spPr>
          <a:xfrm>
            <a:off x="6766560" y="2980030"/>
            <a:ext cx="4754880"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SCHEMATIC + WAVEFORM</a:t>
            </a:r>
            <a:endParaRPr lang="en-US" sz="1300" dirty="0"/>
          </a:p>
        </p:txBody>
      </p:sp>
      <p:sp>
        <p:nvSpPr>
          <p:cNvPr id="15" name="Text 12"/>
          <p:cNvSpPr/>
          <p:nvPr/>
        </p:nvSpPr>
        <p:spPr>
          <a:xfrm>
            <a:off x="6858000" y="3327502"/>
            <a:ext cx="4572000" cy="1331366"/>
          </a:xfrm>
          <a:prstGeom prst="rect">
            <a:avLst/>
          </a:prstGeom>
          <a:noFill/>
          <a:ln/>
        </p:spPr>
        <p:txBody>
          <a:bodyPr wrap="square" lIns="0" tIns="0" rIns="0" bIns="0" rtlCol="0" anchor="ctr"/>
          <a:lstStyle/>
          <a:p>
            <a:pPr algn="ctr" indent="0" marL="0">
              <a:buNone/>
            </a:pPr>
            <a:r>
              <a:rPr lang="en-US" sz="1050" i="1" dirty="0">
                <a:solidFill>
                  <a:srgbClr val="8695AB"/>
                </a:solidFill>
                <a:latin typeface="Calibri" pitchFamily="34" charset="0"/>
                <a:ea typeface="Calibri" pitchFamily="34" charset="-122"/>
                <a:cs typeface="Calibri" pitchFamily="34" charset="-120"/>
              </a:rPr>
              <a:t>e.g. LTspice schematic and</a:t>
            </a:r>
            <a:endParaRPr lang="en-US" sz="1050" dirty="0"/>
          </a:p>
          <a:p>
            <a:pPr algn="ctr" indent="0" marL="0">
              <a:buNone/>
            </a:pPr>
            <a:r>
              <a:rPr lang="en-US" sz="1050" i="1" dirty="0">
                <a:solidFill>
                  <a:srgbClr val="8695AB"/>
                </a:solidFill>
                <a:latin typeface="Calibri" pitchFamily="34" charset="0"/>
                <a:ea typeface="Calibri" pitchFamily="34" charset="-122"/>
                <a:cs typeface="Calibri" pitchFamily="34" charset="-120"/>
              </a:rPr>
              <a:t>step response screenshot</a:t>
            </a:r>
            <a:endParaRPr lang="en-US" sz="1050" dirty="0"/>
          </a:p>
        </p:txBody>
      </p:sp>
      <p:sp>
        <p:nvSpPr>
          <p:cNvPr id="16" name="Shape 13"/>
          <p:cNvSpPr/>
          <p:nvPr/>
        </p:nvSpPr>
        <p:spPr>
          <a:xfrm>
            <a:off x="502920" y="5989320"/>
            <a:ext cx="5760720" cy="411480"/>
          </a:xfrm>
          <a:prstGeom prst="roundRect">
            <a:avLst>
              <a:gd name="adj" fmla="val 13333"/>
            </a:avLst>
          </a:prstGeom>
          <a:solidFill>
            <a:srgbClr val="FFF8E8"/>
          </a:solidFill>
          <a:ln w="12700">
            <a:solidFill>
              <a:srgbClr val="F0C24B"/>
            </a:solidFill>
            <a:prstDash val="solid"/>
          </a:ln>
        </p:spPr>
      </p:sp>
      <p:sp>
        <p:nvSpPr>
          <p:cNvPr id="17" name="Text 14"/>
          <p:cNvSpPr/>
          <p:nvPr/>
        </p:nvSpPr>
        <p:spPr>
          <a:xfrm>
            <a:off x="667512" y="5989320"/>
            <a:ext cx="5431536" cy="411480"/>
          </a:xfrm>
          <a:prstGeom prst="rect">
            <a:avLst/>
          </a:prstGeom>
          <a:noFill/>
          <a:ln/>
        </p:spPr>
        <p:txBody>
          <a:bodyPr wrap="square" lIns="0" tIns="0" rIns="0" bIns="0" rtlCol="0" anchor="ctr"/>
          <a:lstStyle/>
          <a:p>
            <a:pPr indent="0" marL="0">
              <a:lnSpc>
                <a:spcPct val="112000"/>
              </a:lnSpc>
              <a:buNone/>
            </a:pPr>
            <a:r>
              <a:rPr lang="en-US" sz="870" b="1" dirty="0">
                <a:solidFill>
                  <a:srgbClr val="9A6B00"/>
                </a:solidFill>
                <a:latin typeface="Calibri" pitchFamily="34" charset="0"/>
                <a:ea typeface="Calibri" pitchFamily="34" charset="-122"/>
                <a:cs typeface="Calibri" pitchFamily="34" charset="-120"/>
              </a:rPr>
              <a:t>  IN PLAIN TERMS (for the CSE side):  </a:t>
            </a:r>
            <a:pPr indent="0" marL="0">
              <a:lnSpc>
                <a:spcPct val="112000"/>
              </a:lnSpc>
              <a:buNone/>
            </a:pPr>
            <a:r>
              <a:rPr lang="en-US" sz="870" dirty="0">
                <a:solidFill>
                  <a:srgbClr val="3D3620"/>
                </a:solidFill>
                <a:latin typeface="Calibri" pitchFamily="34" charset="0"/>
                <a:ea typeface="Calibri" pitchFamily="34" charset="-122"/>
                <a:cs typeface="Calibri" pitchFamily="34" charset="-120"/>
              </a:rPr>
              <a:t>Two RC "buckets" chained together, one feeding into the next — more stages give a smoother, more gradual response than a single RC stage.</a:t>
            </a:r>
            <a:endParaRPr lang="en-US" sz="870" dirty="0"/>
          </a:p>
        </p:txBody>
      </p:sp>
      <p:sp>
        <p:nvSpPr>
          <p:cNvPr id="18" name="Text 1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9" name="Text 1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2. CIRCUITS &amp; FAULT THEORY</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Same Circuit, Five Different Personalities</a:t>
            </a:r>
            <a:endParaRPr lang="en-US" sz="3000" dirty="0"/>
          </a:p>
        </p:txBody>
      </p:sp>
      <p:sp>
        <p:nvSpPr>
          <p:cNvPr id="4" name="Text 2"/>
          <p:cNvSpPr/>
          <p:nvPr/>
        </p:nvSpPr>
        <p:spPr>
          <a:xfrm>
            <a:off x="502920" y="1417320"/>
            <a:ext cx="10515600" cy="365760"/>
          </a:xfrm>
          <a:prstGeom prst="rect">
            <a:avLst/>
          </a:prstGeom>
          <a:noFill/>
          <a:ln/>
        </p:spPr>
        <p:txBody>
          <a:bodyPr wrap="square" lIns="0" tIns="0" rIns="0" bIns="0" rtlCol="0" anchor="ctr"/>
          <a:lstStyle/>
          <a:p>
            <a:pPr indent="0" marL="0">
              <a:buNone/>
            </a:pPr>
            <a:r>
              <a:rPr lang="en-US" sz="1250" i="1" dirty="0">
                <a:solidFill>
                  <a:srgbClr val="64748B"/>
                </a:solidFill>
                <a:latin typeface="Calibri" pitchFamily="34" charset="0"/>
                <a:ea typeface="Calibri" pitchFamily="34" charset="-122"/>
                <a:cs typeface="Calibri" pitchFamily="34" charset="-120"/>
              </a:rPr>
              <a:t>Example: an RC low-pass filter's step response under each of the five fault conditions.</a:t>
            </a:r>
            <a:endParaRPr lang="en-US" sz="1250" dirty="0"/>
          </a:p>
        </p:txBody>
      </p:sp>
      <p:sp>
        <p:nvSpPr>
          <p:cNvPr id="5" name="Shape 3"/>
          <p:cNvSpPr/>
          <p:nvPr/>
        </p:nvSpPr>
        <p:spPr>
          <a:xfrm>
            <a:off x="502920" y="1965960"/>
            <a:ext cx="2066544" cy="3794760"/>
          </a:xfrm>
          <a:prstGeom prst="roundRect">
            <a:avLst>
              <a:gd name="adj" fmla="val 3097"/>
            </a:avLst>
          </a:prstGeom>
          <a:solidFill>
            <a:srgbClr val="EAEEF4"/>
          </a:solidFill>
          <a:ln w="15875">
            <a:solidFill>
              <a:srgbClr val="9FB1C8"/>
            </a:solidFill>
            <a:prstDash val="dash"/>
          </a:ln>
        </p:spPr>
      </p:sp>
      <p:pic>
        <p:nvPicPr>
          <p:cNvPr id="6" name="Image 0" descr="/sessions/blissful-zealous-babbage/mnt/outputs/ppt/icons/wave_64748B.png">    </p:cNvPr>
          <p:cNvPicPr>
            <a:picLocks noChangeAspect="1"/>
          </p:cNvPicPr>
          <p:nvPr/>
        </p:nvPicPr>
        <p:blipFill>
          <a:blip r:embed="rId1"/>
          <a:stretch>
            <a:fillRect/>
          </a:stretch>
        </p:blipFill>
        <p:spPr>
          <a:xfrm>
            <a:off x="1252728" y="2593238"/>
            <a:ext cx="566928" cy="566928"/>
          </a:xfrm>
          <a:prstGeom prst="rect">
            <a:avLst/>
          </a:prstGeom>
        </p:spPr>
      </p:pic>
      <p:sp>
        <p:nvSpPr>
          <p:cNvPr id="7" name="Text 4"/>
          <p:cNvSpPr/>
          <p:nvPr/>
        </p:nvSpPr>
        <p:spPr>
          <a:xfrm>
            <a:off x="685800" y="3075127"/>
            <a:ext cx="1700784"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WAVEFORM</a:t>
            </a:r>
            <a:endParaRPr lang="en-US" sz="1300" dirty="0"/>
          </a:p>
        </p:txBody>
      </p:sp>
      <p:sp>
        <p:nvSpPr>
          <p:cNvPr id="8" name="Text 5"/>
          <p:cNvSpPr/>
          <p:nvPr/>
        </p:nvSpPr>
        <p:spPr>
          <a:xfrm>
            <a:off x="777240" y="3422599"/>
            <a:ext cx="1517904" cy="1214323"/>
          </a:xfrm>
          <a:prstGeom prst="rect">
            <a:avLst/>
          </a:prstGeom>
          <a:noFill/>
          <a:ln/>
        </p:spPr>
        <p:txBody>
          <a:bodyPr wrap="square" lIns="0" tIns="0" rIns="0" bIns="0" rtlCol="0" anchor="ctr"/>
          <a:lstStyle/>
          <a:p>
            <a:pPr algn="ctr" indent="0" marL="0">
              <a:buNone/>
            </a:pPr>
            <a:r>
              <a:rPr lang="en-US" sz="1050" i="1" dirty="0">
                <a:solidFill>
                  <a:srgbClr val="8695AB"/>
                </a:solidFill>
                <a:latin typeface="Calibri" pitchFamily="34" charset="0"/>
                <a:ea typeface="Calibri" pitchFamily="34" charset="-122"/>
                <a:cs typeface="Calibri" pitchFamily="34" charset="-120"/>
              </a:rPr>
              <a:t>Normal response</a:t>
            </a:r>
            <a:endParaRPr lang="en-US" sz="1050" dirty="0"/>
          </a:p>
        </p:txBody>
      </p:sp>
      <p:sp>
        <p:nvSpPr>
          <p:cNvPr id="9" name="Shape 6"/>
          <p:cNvSpPr/>
          <p:nvPr/>
        </p:nvSpPr>
        <p:spPr>
          <a:xfrm>
            <a:off x="502920" y="5888736"/>
            <a:ext cx="2066544" cy="365760"/>
          </a:xfrm>
          <a:prstGeom prst="roundRect">
            <a:avLst>
              <a:gd name="adj" fmla="val 15000"/>
            </a:avLst>
          </a:prstGeom>
          <a:solidFill>
            <a:srgbClr val="0B1F3A"/>
          </a:solidFill>
          <a:ln/>
        </p:spPr>
      </p:sp>
      <p:sp>
        <p:nvSpPr>
          <p:cNvPr id="10" name="Text 7"/>
          <p:cNvSpPr/>
          <p:nvPr/>
        </p:nvSpPr>
        <p:spPr>
          <a:xfrm>
            <a:off x="502920" y="5888736"/>
            <a:ext cx="2066544"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Normal</a:t>
            </a:r>
            <a:endParaRPr lang="en-US" sz="1250" dirty="0"/>
          </a:p>
        </p:txBody>
      </p:sp>
      <p:sp>
        <p:nvSpPr>
          <p:cNvPr id="11" name="Shape 8"/>
          <p:cNvSpPr/>
          <p:nvPr/>
        </p:nvSpPr>
        <p:spPr>
          <a:xfrm>
            <a:off x="2738628" y="1965960"/>
            <a:ext cx="2066544" cy="3794760"/>
          </a:xfrm>
          <a:prstGeom prst="roundRect">
            <a:avLst>
              <a:gd name="adj" fmla="val 3097"/>
            </a:avLst>
          </a:prstGeom>
          <a:solidFill>
            <a:srgbClr val="EAEEF4"/>
          </a:solidFill>
          <a:ln w="15875">
            <a:solidFill>
              <a:srgbClr val="9FB1C8"/>
            </a:solidFill>
            <a:prstDash val="dash"/>
          </a:ln>
        </p:spPr>
      </p:sp>
      <p:pic>
        <p:nvPicPr>
          <p:cNvPr id="12" name="Image 1" descr="/sessions/blissful-zealous-babbage/mnt/outputs/ppt/icons/wave_64748B.png">    </p:cNvPr>
          <p:cNvPicPr>
            <a:picLocks noChangeAspect="1"/>
          </p:cNvPicPr>
          <p:nvPr/>
        </p:nvPicPr>
        <p:blipFill>
          <a:blip r:embed="rId2"/>
          <a:stretch>
            <a:fillRect/>
          </a:stretch>
        </p:blipFill>
        <p:spPr>
          <a:xfrm>
            <a:off x="3488436" y="2593238"/>
            <a:ext cx="566928" cy="566928"/>
          </a:xfrm>
          <a:prstGeom prst="rect">
            <a:avLst/>
          </a:prstGeom>
        </p:spPr>
      </p:pic>
      <p:sp>
        <p:nvSpPr>
          <p:cNvPr id="13" name="Text 9"/>
          <p:cNvSpPr/>
          <p:nvPr/>
        </p:nvSpPr>
        <p:spPr>
          <a:xfrm>
            <a:off x="2921508" y="3075127"/>
            <a:ext cx="1700784"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WAVEFORM</a:t>
            </a:r>
            <a:endParaRPr lang="en-US" sz="1300" dirty="0"/>
          </a:p>
        </p:txBody>
      </p:sp>
      <p:sp>
        <p:nvSpPr>
          <p:cNvPr id="14" name="Text 10"/>
          <p:cNvSpPr/>
          <p:nvPr/>
        </p:nvSpPr>
        <p:spPr>
          <a:xfrm>
            <a:off x="3012948" y="3422599"/>
            <a:ext cx="1517904" cy="1214323"/>
          </a:xfrm>
          <a:prstGeom prst="rect">
            <a:avLst/>
          </a:prstGeom>
          <a:noFill/>
          <a:ln/>
        </p:spPr>
        <p:txBody>
          <a:bodyPr wrap="square" lIns="0" tIns="0" rIns="0" bIns="0" rtlCol="0" anchor="ctr"/>
          <a:lstStyle/>
          <a:p>
            <a:pPr algn="ctr" indent="0" marL="0">
              <a:buNone/>
            </a:pPr>
            <a:r>
              <a:rPr lang="en-US" sz="1050" i="1" dirty="0">
                <a:solidFill>
                  <a:srgbClr val="8695AB"/>
                </a:solidFill>
                <a:latin typeface="Calibri" pitchFamily="34" charset="0"/>
                <a:ea typeface="Calibri" pitchFamily="34" charset="-122"/>
                <a:cs typeface="Calibri" pitchFamily="34" charset="-120"/>
              </a:rPr>
              <a:t>Drift response</a:t>
            </a:r>
            <a:endParaRPr lang="en-US" sz="1050" dirty="0"/>
          </a:p>
        </p:txBody>
      </p:sp>
      <p:sp>
        <p:nvSpPr>
          <p:cNvPr id="15" name="Shape 11"/>
          <p:cNvSpPr/>
          <p:nvPr/>
        </p:nvSpPr>
        <p:spPr>
          <a:xfrm>
            <a:off x="2738628" y="5888736"/>
            <a:ext cx="2066544" cy="365760"/>
          </a:xfrm>
          <a:prstGeom prst="roundRect">
            <a:avLst>
              <a:gd name="adj" fmla="val 15000"/>
            </a:avLst>
          </a:prstGeom>
          <a:solidFill>
            <a:srgbClr val="0B1F3A"/>
          </a:solidFill>
          <a:ln/>
        </p:spPr>
      </p:sp>
      <p:sp>
        <p:nvSpPr>
          <p:cNvPr id="16" name="Text 12"/>
          <p:cNvSpPr/>
          <p:nvPr/>
        </p:nvSpPr>
        <p:spPr>
          <a:xfrm>
            <a:off x="2738628" y="5888736"/>
            <a:ext cx="2066544"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Drift</a:t>
            </a:r>
            <a:endParaRPr lang="en-US" sz="1250" dirty="0"/>
          </a:p>
        </p:txBody>
      </p:sp>
      <p:sp>
        <p:nvSpPr>
          <p:cNvPr id="17" name="Shape 13"/>
          <p:cNvSpPr/>
          <p:nvPr/>
        </p:nvSpPr>
        <p:spPr>
          <a:xfrm>
            <a:off x="4974336" y="1965960"/>
            <a:ext cx="2066544" cy="3794760"/>
          </a:xfrm>
          <a:prstGeom prst="roundRect">
            <a:avLst>
              <a:gd name="adj" fmla="val 3097"/>
            </a:avLst>
          </a:prstGeom>
          <a:solidFill>
            <a:srgbClr val="EAEEF4"/>
          </a:solidFill>
          <a:ln w="15875">
            <a:solidFill>
              <a:srgbClr val="9FB1C8"/>
            </a:solidFill>
            <a:prstDash val="dash"/>
          </a:ln>
        </p:spPr>
      </p:sp>
      <p:pic>
        <p:nvPicPr>
          <p:cNvPr id="18" name="Image 2" descr="/sessions/blissful-zealous-babbage/mnt/outputs/ppt/icons/wave_64748B.png">    </p:cNvPr>
          <p:cNvPicPr>
            <a:picLocks noChangeAspect="1"/>
          </p:cNvPicPr>
          <p:nvPr/>
        </p:nvPicPr>
        <p:blipFill>
          <a:blip r:embed="rId3"/>
          <a:stretch>
            <a:fillRect/>
          </a:stretch>
        </p:blipFill>
        <p:spPr>
          <a:xfrm>
            <a:off x="5724144" y="2593238"/>
            <a:ext cx="566928" cy="566928"/>
          </a:xfrm>
          <a:prstGeom prst="rect">
            <a:avLst/>
          </a:prstGeom>
        </p:spPr>
      </p:pic>
      <p:sp>
        <p:nvSpPr>
          <p:cNvPr id="19" name="Text 14"/>
          <p:cNvSpPr/>
          <p:nvPr/>
        </p:nvSpPr>
        <p:spPr>
          <a:xfrm>
            <a:off x="5157216" y="3075127"/>
            <a:ext cx="1700784"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WAVEFORM</a:t>
            </a:r>
            <a:endParaRPr lang="en-US" sz="1300" dirty="0"/>
          </a:p>
        </p:txBody>
      </p:sp>
      <p:sp>
        <p:nvSpPr>
          <p:cNvPr id="20" name="Text 15"/>
          <p:cNvSpPr/>
          <p:nvPr/>
        </p:nvSpPr>
        <p:spPr>
          <a:xfrm>
            <a:off x="5248656" y="3422599"/>
            <a:ext cx="1517904" cy="1214323"/>
          </a:xfrm>
          <a:prstGeom prst="rect">
            <a:avLst/>
          </a:prstGeom>
          <a:noFill/>
          <a:ln/>
        </p:spPr>
        <p:txBody>
          <a:bodyPr wrap="square" lIns="0" tIns="0" rIns="0" bIns="0" rtlCol="0" anchor="ctr"/>
          <a:lstStyle/>
          <a:p>
            <a:pPr algn="ctr" indent="0" marL="0">
              <a:buNone/>
            </a:pPr>
            <a:r>
              <a:rPr lang="en-US" sz="1050" i="1" dirty="0">
                <a:solidFill>
                  <a:srgbClr val="8695AB"/>
                </a:solidFill>
                <a:latin typeface="Calibri" pitchFamily="34" charset="0"/>
                <a:ea typeface="Calibri" pitchFamily="34" charset="-122"/>
                <a:cs typeface="Calibri" pitchFamily="34" charset="-120"/>
              </a:rPr>
              <a:t>Open response</a:t>
            </a:r>
            <a:endParaRPr lang="en-US" sz="1050" dirty="0"/>
          </a:p>
        </p:txBody>
      </p:sp>
      <p:sp>
        <p:nvSpPr>
          <p:cNvPr id="21" name="Shape 16"/>
          <p:cNvSpPr/>
          <p:nvPr/>
        </p:nvSpPr>
        <p:spPr>
          <a:xfrm>
            <a:off x="4974336" y="5888736"/>
            <a:ext cx="2066544" cy="365760"/>
          </a:xfrm>
          <a:prstGeom prst="roundRect">
            <a:avLst>
              <a:gd name="adj" fmla="val 15000"/>
            </a:avLst>
          </a:prstGeom>
          <a:solidFill>
            <a:srgbClr val="0B1F3A"/>
          </a:solidFill>
          <a:ln/>
        </p:spPr>
      </p:sp>
      <p:sp>
        <p:nvSpPr>
          <p:cNvPr id="22" name="Text 17"/>
          <p:cNvSpPr/>
          <p:nvPr/>
        </p:nvSpPr>
        <p:spPr>
          <a:xfrm>
            <a:off x="4974336" y="5888736"/>
            <a:ext cx="2066544"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Open</a:t>
            </a:r>
            <a:endParaRPr lang="en-US" sz="1250" dirty="0"/>
          </a:p>
        </p:txBody>
      </p:sp>
      <p:sp>
        <p:nvSpPr>
          <p:cNvPr id="23" name="Shape 18"/>
          <p:cNvSpPr/>
          <p:nvPr/>
        </p:nvSpPr>
        <p:spPr>
          <a:xfrm>
            <a:off x="7210044" y="1965960"/>
            <a:ext cx="2066544" cy="3794760"/>
          </a:xfrm>
          <a:prstGeom prst="roundRect">
            <a:avLst>
              <a:gd name="adj" fmla="val 3097"/>
            </a:avLst>
          </a:prstGeom>
          <a:solidFill>
            <a:srgbClr val="EAEEF4"/>
          </a:solidFill>
          <a:ln w="15875">
            <a:solidFill>
              <a:srgbClr val="9FB1C8"/>
            </a:solidFill>
            <a:prstDash val="dash"/>
          </a:ln>
        </p:spPr>
      </p:sp>
      <p:pic>
        <p:nvPicPr>
          <p:cNvPr id="24" name="Image 3" descr="/sessions/blissful-zealous-babbage/mnt/outputs/ppt/icons/wave_64748B.png">    </p:cNvPr>
          <p:cNvPicPr>
            <a:picLocks noChangeAspect="1"/>
          </p:cNvPicPr>
          <p:nvPr/>
        </p:nvPicPr>
        <p:blipFill>
          <a:blip r:embed="rId4"/>
          <a:stretch>
            <a:fillRect/>
          </a:stretch>
        </p:blipFill>
        <p:spPr>
          <a:xfrm>
            <a:off x="7959852" y="2593238"/>
            <a:ext cx="566928" cy="566928"/>
          </a:xfrm>
          <a:prstGeom prst="rect">
            <a:avLst/>
          </a:prstGeom>
        </p:spPr>
      </p:pic>
      <p:sp>
        <p:nvSpPr>
          <p:cNvPr id="25" name="Text 19"/>
          <p:cNvSpPr/>
          <p:nvPr/>
        </p:nvSpPr>
        <p:spPr>
          <a:xfrm>
            <a:off x="7392924" y="3075127"/>
            <a:ext cx="1700784"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WAVEFORM</a:t>
            </a:r>
            <a:endParaRPr lang="en-US" sz="1300" dirty="0"/>
          </a:p>
        </p:txBody>
      </p:sp>
      <p:sp>
        <p:nvSpPr>
          <p:cNvPr id="26" name="Text 20"/>
          <p:cNvSpPr/>
          <p:nvPr/>
        </p:nvSpPr>
        <p:spPr>
          <a:xfrm>
            <a:off x="7484364" y="3422599"/>
            <a:ext cx="1517904" cy="1214323"/>
          </a:xfrm>
          <a:prstGeom prst="rect">
            <a:avLst/>
          </a:prstGeom>
          <a:noFill/>
          <a:ln/>
        </p:spPr>
        <p:txBody>
          <a:bodyPr wrap="square" lIns="0" tIns="0" rIns="0" bIns="0" rtlCol="0" anchor="ctr"/>
          <a:lstStyle/>
          <a:p>
            <a:pPr algn="ctr" indent="0" marL="0">
              <a:buNone/>
            </a:pPr>
            <a:r>
              <a:rPr lang="en-US" sz="1050" i="1" dirty="0">
                <a:solidFill>
                  <a:srgbClr val="8695AB"/>
                </a:solidFill>
                <a:latin typeface="Calibri" pitchFamily="34" charset="0"/>
                <a:ea typeface="Calibri" pitchFamily="34" charset="-122"/>
                <a:cs typeface="Calibri" pitchFamily="34" charset="-120"/>
              </a:rPr>
              <a:t>Short response</a:t>
            </a:r>
            <a:endParaRPr lang="en-US" sz="1050" dirty="0"/>
          </a:p>
        </p:txBody>
      </p:sp>
      <p:sp>
        <p:nvSpPr>
          <p:cNvPr id="27" name="Shape 21"/>
          <p:cNvSpPr/>
          <p:nvPr/>
        </p:nvSpPr>
        <p:spPr>
          <a:xfrm>
            <a:off x="7210044" y="5888736"/>
            <a:ext cx="2066544" cy="365760"/>
          </a:xfrm>
          <a:prstGeom prst="roundRect">
            <a:avLst>
              <a:gd name="adj" fmla="val 15000"/>
            </a:avLst>
          </a:prstGeom>
          <a:solidFill>
            <a:srgbClr val="0B1F3A"/>
          </a:solidFill>
          <a:ln/>
        </p:spPr>
      </p:sp>
      <p:sp>
        <p:nvSpPr>
          <p:cNvPr id="28" name="Text 22"/>
          <p:cNvSpPr/>
          <p:nvPr/>
        </p:nvSpPr>
        <p:spPr>
          <a:xfrm>
            <a:off x="7210044" y="5888736"/>
            <a:ext cx="2066544"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Short</a:t>
            </a:r>
            <a:endParaRPr lang="en-US" sz="1250" dirty="0"/>
          </a:p>
        </p:txBody>
      </p:sp>
      <p:sp>
        <p:nvSpPr>
          <p:cNvPr id="29" name="Shape 23"/>
          <p:cNvSpPr/>
          <p:nvPr/>
        </p:nvSpPr>
        <p:spPr>
          <a:xfrm>
            <a:off x="9445752" y="1965960"/>
            <a:ext cx="2066544" cy="3794760"/>
          </a:xfrm>
          <a:prstGeom prst="roundRect">
            <a:avLst>
              <a:gd name="adj" fmla="val 3097"/>
            </a:avLst>
          </a:prstGeom>
          <a:solidFill>
            <a:srgbClr val="EAEEF4"/>
          </a:solidFill>
          <a:ln w="15875">
            <a:solidFill>
              <a:srgbClr val="9FB1C8"/>
            </a:solidFill>
            <a:prstDash val="dash"/>
          </a:ln>
        </p:spPr>
      </p:sp>
      <p:pic>
        <p:nvPicPr>
          <p:cNvPr id="30" name="Image 4" descr="/sessions/blissful-zealous-babbage/mnt/outputs/ppt/icons/wave_64748B.png">    </p:cNvPr>
          <p:cNvPicPr>
            <a:picLocks noChangeAspect="1"/>
          </p:cNvPicPr>
          <p:nvPr/>
        </p:nvPicPr>
        <p:blipFill>
          <a:blip r:embed="rId5"/>
          <a:stretch>
            <a:fillRect/>
          </a:stretch>
        </p:blipFill>
        <p:spPr>
          <a:xfrm>
            <a:off x="10195560" y="2593238"/>
            <a:ext cx="566928" cy="566928"/>
          </a:xfrm>
          <a:prstGeom prst="rect">
            <a:avLst/>
          </a:prstGeom>
        </p:spPr>
      </p:pic>
      <p:sp>
        <p:nvSpPr>
          <p:cNvPr id="31" name="Text 24"/>
          <p:cNvSpPr/>
          <p:nvPr/>
        </p:nvSpPr>
        <p:spPr>
          <a:xfrm>
            <a:off x="9628632" y="3075127"/>
            <a:ext cx="1700784"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WAVEFORM</a:t>
            </a:r>
            <a:endParaRPr lang="en-US" sz="1300" dirty="0"/>
          </a:p>
        </p:txBody>
      </p:sp>
      <p:sp>
        <p:nvSpPr>
          <p:cNvPr id="32" name="Text 25"/>
          <p:cNvSpPr/>
          <p:nvPr/>
        </p:nvSpPr>
        <p:spPr>
          <a:xfrm>
            <a:off x="9720072" y="3422599"/>
            <a:ext cx="1517904" cy="1214323"/>
          </a:xfrm>
          <a:prstGeom prst="rect">
            <a:avLst/>
          </a:prstGeom>
          <a:noFill/>
          <a:ln/>
        </p:spPr>
        <p:txBody>
          <a:bodyPr wrap="square" lIns="0" tIns="0" rIns="0" bIns="0" rtlCol="0" anchor="ctr"/>
          <a:lstStyle/>
          <a:p>
            <a:pPr algn="ctr" indent="0" marL="0">
              <a:buNone/>
            </a:pPr>
            <a:r>
              <a:rPr lang="en-US" sz="1050" i="1" dirty="0">
                <a:solidFill>
                  <a:srgbClr val="8695AB"/>
                </a:solidFill>
                <a:latin typeface="Calibri" pitchFamily="34" charset="0"/>
                <a:ea typeface="Calibri" pitchFamily="34" charset="-122"/>
                <a:cs typeface="Calibri" pitchFamily="34" charset="-120"/>
              </a:rPr>
              <a:t>Noise response</a:t>
            </a:r>
            <a:endParaRPr lang="en-US" sz="1050" dirty="0"/>
          </a:p>
        </p:txBody>
      </p:sp>
      <p:sp>
        <p:nvSpPr>
          <p:cNvPr id="33" name="Shape 26"/>
          <p:cNvSpPr/>
          <p:nvPr/>
        </p:nvSpPr>
        <p:spPr>
          <a:xfrm>
            <a:off x="9445752" y="5888736"/>
            <a:ext cx="2066544" cy="365760"/>
          </a:xfrm>
          <a:prstGeom prst="roundRect">
            <a:avLst>
              <a:gd name="adj" fmla="val 15000"/>
            </a:avLst>
          </a:prstGeom>
          <a:solidFill>
            <a:srgbClr val="0B1F3A"/>
          </a:solidFill>
          <a:ln/>
        </p:spPr>
      </p:sp>
      <p:sp>
        <p:nvSpPr>
          <p:cNvPr id="34" name="Text 27"/>
          <p:cNvSpPr/>
          <p:nvPr/>
        </p:nvSpPr>
        <p:spPr>
          <a:xfrm>
            <a:off x="9445752" y="5888736"/>
            <a:ext cx="2066544"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Noise</a:t>
            </a:r>
            <a:endParaRPr lang="en-US" sz="1250" dirty="0"/>
          </a:p>
        </p:txBody>
      </p:sp>
      <p:sp>
        <p:nvSpPr>
          <p:cNvPr id="35" name="Text 28"/>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36" name="Text 29"/>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3. DATA PIPELINE</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The End-to-End Pipeline</a:t>
            </a:r>
            <a:endParaRPr lang="en-US" sz="3000" dirty="0"/>
          </a:p>
        </p:txBody>
      </p:sp>
      <p:sp>
        <p:nvSpPr>
          <p:cNvPr id="4" name="Shape 2"/>
          <p:cNvSpPr/>
          <p:nvPr/>
        </p:nvSpPr>
        <p:spPr>
          <a:xfrm>
            <a:off x="1844040" y="3063240"/>
            <a:ext cx="853440" cy="0"/>
          </a:xfrm>
          <a:prstGeom prst="line">
            <a:avLst/>
          </a:prstGeom>
          <a:noFill/>
          <a:ln w="22225">
            <a:solidFill>
              <a:srgbClr val="AEBED4"/>
            </a:solidFill>
            <a:prstDash val="solid"/>
            <a:tailEnd type="triangle"/>
          </a:ln>
        </p:spPr>
      </p:sp>
      <p:sp>
        <p:nvSpPr>
          <p:cNvPr id="5" name="Shape 3"/>
          <p:cNvSpPr/>
          <p:nvPr/>
        </p:nvSpPr>
        <p:spPr>
          <a:xfrm>
            <a:off x="929640" y="2606040"/>
            <a:ext cx="914400" cy="91440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6" name="Image 0" descr="/sessions/blissful-zealous-babbage/mnt/outputs/ppt/icons/flask_00B4D8.png">    </p:cNvPr>
          <p:cNvPicPr>
            <a:picLocks noChangeAspect="1"/>
          </p:cNvPicPr>
          <p:nvPr/>
        </p:nvPicPr>
        <p:blipFill>
          <a:blip r:embed="rId1"/>
          <a:stretch>
            <a:fillRect/>
          </a:stretch>
        </p:blipFill>
        <p:spPr>
          <a:xfrm>
            <a:off x="1053084" y="2729484"/>
            <a:ext cx="667512" cy="667512"/>
          </a:xfrm>
          <a:prstGeom prst="rect">
            <a:avLst/>
          </a:prstGeom>
        </p:spPr>
      </p:pic>
      <p:sp>
        <p:nvSpPr>
          <p:cNvPr id="7" name="Shape 4"/>
          <p:cNvSpPr/>
          <p:nvPr/>
        </p:nvSpPr>
        <p:spPr>
          <a:xfrm>
            <a:off x="829056" y="2505456"/>
            <a:ext cx="292608" cy="292608"/>
          </a:xfrm>
          <a:prstGeom prst="ellipse">
            <a:avLst/>
          </a:prstGeom>
          <a:solidFill>
            <a:srgbClr val="FFB703"/>
          </a:solidFill>
          <a:ln/>
        </p:spPr>
      </p:sp>
      <p:sp>
        <p:nvSpPr>
          <p:cNvPr id="8" name="Text 5"/>
          <p:cNvSpPr/>
          <p:nvPr/>
        </p:nvSpPr>
        <p:spPr>
          <a:xfrm>
            <a:off x="829056" y="2496312"/>
            <a:ext cx="292608" cy="292608"/>
          </a:xfrm>
          <a:prstGeom prst="rect">
            <a:avLst/>
          </a:prstGeom>
          <a:noFill/>
          <a:ln/>
        </p:spPr>
        <p:txBody>
          <a:bodyPr wrap="square" lIns="0" tIns="0" rIns="0" bIns="0" rtlCol="0" anchor="ctr"/>
          <a:lstStyle/>
          <a:p>
            <a:pPr algn="ctr" indent="0" marL="0">
              <a:buNone/>
            </a:pPr>
            <a:r>
              <a:rPr lang="en-US" sz="1100" b="1" dirty="0">
                <a:solidFill>
                  <a:srgbClr val="0B1F3A"/>
                </a:solidFill>
                <a:latin typeface="Cambria" pitchFamily="34" charset="0"/>
                <a:ea typeface="Cambria" pitchFamily="34" charset="-122"/>
                <a:cs typeface="Cambria" pitchFamily="34" charset="-120"/>
              </a:rPr>
              <a:t>1</a:t>
            </a:r>
            <a:endParaRPr lang="en-US" sz="1100" dirty="0"/>
          </a:p>
        </p:txBody>
      </p:sp>
      <p:sp>
        <p:nvSpPr>
          <p:cNvPr id="9" name="Text 6"/>
          <p:cNvSpPr/>
          <p:nvPr/>
        </p:nvSpPr>
        <p:spPr>
          <a:xfrm>
            <a:off x="548640" y="3666744"/>
            <a:ext cx="1676400" cy="320040"/>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Simulate</a:t>
            </a:r>
            <a:endParaRPr lang="en-US" sz="1300" dirty="0"/>
          </a:p>
        </p:txBody>
      </p:sp>
      <p:sp>
        <p:nvSpPr>
          <p:cNvPr id="10" name="Text 7"/>
          <p:cNvSpPr/>
          <p:nvPr/>
        </p:nvSpPr>
        <p:spPr>
          <a:xfrm>
            <a:off x="548640" y="4005072"/>
            <a:ext cx="1676400" cy="640080"/>
          </a:xfrm>
          <a:prstGeom prst="rect">
            <a:avLst/>
          </a:prstGeom>
          <a:noFill/>
          <a:ln/>
        </p:spPr>
        <p:txBody>
          <a:bodyPr wrap="square" lIns="0" tIns="0" rIns="0" bIns="0" rtlCol="0" anchor="ctr"/>
          <a:lstStyle/>
          <a:p>
            <a:pPr algn="ctr" indent="0" marL="0">
              <a:lnSpc>
                <a:spcPct val="115000"/>
              </a:lnSpc>
              <a:buNone/>
            </a:pPr>
            <a:r>
              <a:rPr lang="en-US" sz="950" dirty="0">
                <a:solidFill>
                  <a:srgbClr val="64748B"/>
                </a:solidFill>
                <a:latin typeface="Calibri" pitchFamily="34" charset="0"/>
                <a:ea typeface="Calibri" pitchFamily="34" charset="-122"/>
                <a:cs typeface="Calibri" pitchFamily="34" charset="-120"/>
              </a:rPr>
              <a:t>Model 4 circuits in</a:t>
            </a:r>
            <a:endParaRPr lang="en-US" sz="950" dirty="0"/>
          </a:p>
          <a:p>
            <a:pPr algn="ctr" indent="0" marL="0">
              <a:lnSpc>
                <a:spcPct val="115000"/>
              </a:lnSpc>
              <a:buNone/>
            </a:pPr>
            <a:r>
              <a:rPr lang="en-US" sz="950" dirty="0">
                <a:solidFill>
                  <a:srgbClr val="64748B"/>
                </a:solidFill>
                <a:latin typeface="Calibri" pitchFamily="34" charset="0"/>
                <a:ea typeface="Calibri" pitchFamily="34" charset="-122"/>
                <a:cs typeface="Calibri" pitchFamily="34" charset="-120"/>
              </a:rPr>
              <a:t>LTspice XVII</a:t>
            </a:r>
            <a:endParaRPr lang="en-US" sz="950" dirty="0"/>
          </a:p>
        </p:txBody>
      </p:sp>
      <p:sp>
        <p:nvSpPr>
          <p:cNvPr id="11" name="Shape 8"/>
          <p:cNvSpPr/>
          <p:nvPr/>
        </p:nvSpPr>
        <p:spPr>
          <a:xfrm>
            <a:off x="3611880" y="3063240"/>
            <a:ext cx="853440" cy="0"/>
          </a:xfrm>
          <a:prstGeom prst="line">
            <a:avLst/>
          </a:prstGeom>
          <a:noFill/>
          <a:ln w="22225">
            <a:solidFill>
              <a:srgbClr val="AEBED4"/>
            </a:solidFill>
            <a:prstDash val="solid"/>
            <a:tailEnd type="triangle"/>
          </a:ln>
        </p:spPr>
      </p:sp>
      <p:sp>
        <p:nvSpPr>
          <p:cNvPr id="12" name="Shape 9"/>
          <p:cNvSpPr/>
          <p:nvPr/>
        </p:nvSpPr>
        <p:spPr>
          <a:xfrm>
            <a:off x="2697480" y="2606040"/>
            <a:ext cx="914400" cy="91440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3" name="Image 1" descr="/sessions/blissful-zealous-babbage/mnt/outputs/ppt/icons/sliders_00B4D8.png">    </p:cNvPr>
          <p:cNvPicPr>
            <a:picLocks noChangeAspect="1"/>
          </p:cNvPicPr>
          <p:nvPr/>
        </p:nvPicPr>
        <p:blipFill>
          <a:blip r:embed="rId2"/>
          <a:stretch>
            <a:fillRect/>
          </a:stretch>
        </p:blipFill>
        <p:spPr>
          <a:xfrm>
            <a:off x="2820924" y="2729484"/>
            <a:ext cx="667512" cy="667512"/>
          </a:xfrm>
          <a:prstGeom prst="rect">
            <a:avLst/>
          </a:prstGeom>
        </p:spPr>
      </p:pic>
      <p:sp>
        <p:nvSpPr>
          <p:cNvPr id="14" name="Shape 10"/>
          <p:cNvSpPr/>
          <p:nvPr/>
        </p:nvSpPr>
        <p:spPr>
          <a:xfrm>
            <a:off x="2596896" y="2505456"/>
            <a:ext cx="292608" cy="292608"/>
          </a:xfrm>
          <a:prstGeom prst="ellipse">
            <a:avLst/>
          </a:prstGeom>
          <a:solidFill>
            <a:srgbClr val="FFB703"/>
          </a:solidFill>
          <a:ln/>
        </p:spPr>
      </p:sp>
      <p:sp>
        <p:nvSpPr>
          <p:cNvPr id="15" name="Text 11"/>
          <p:cNvSpPr/>
          <p:nvPr/>
        </p:nvSpPr>
        <p:spPr>
          <a:xfrm>
            <a:off x="2596896" y="2496312"/>
            <a:ext cx="292608" cy="292608"/>
          </a:xfrm>
          <a:prstGeom prst="rect">
            <a:avLst/>
          </a:prstGeom>
          <a:noFill/>
          <a:ln/>
        </p:spPr>
        <p:txBody>
          <a:bodyPr wrap="square" lIns="0" tIns="0" rIns="0" bIns="0" rtlCol="0" anchor="ctr"/>
          <a:lstStyle/>
          <a:p>
            <a:pPr algn="ctr" indent="0" marL="0">
              <a:buNone/>
            </a:pPr>
            <a:r>
              <a:rPr lang="en-US" sz="1100" b="1" dirty="0">
                <a:solidFill>
                  <a:srgbClr val="0B1F3A"/>
                </a:solidFill>
                <a:latin typeface="Cambria" pitchFamily="34" charset="0"/>
                <a:ea typeface="Cambria" pitchFamily="34" charset="-122"/>
                <a:cs typeface="Cambria" pitchFamily="34" charset="-120"/>
              </a:rPr>
              <a:t>2</a:t>
            </a:r>
            <a:endParaRPr lang="en-US" sz="1100" dirty="0"/>
          </a:p>
        </p:txBody>
      </p:sp>
      <p:sp>
        <p:nvSpPr>
          <p:cNvPr id="16" name="Text 12"/>
          <p:cNvSpPr/>
          <p:nvPr/>
        </p:nvSpPr>
        <p:spPr>
          <a:xfrm>
            <a:off x="2316480" y="3666744"/>
            <a:ext cx="1676400" cy="320040"/>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Sweep</a:t>
            </a:r>
            <a:endParaRPr lang="en-US" sz="1300" dirty="0"/>
          </a:p>
        </p:txBody>
      </p:sp>
      <p:sp>
        <p:nvSpPr>
          <p:cNvPr id="17" name="Text 13"/>
          <p:cNvSpPr/>
          <p:nvPr/>
        </p:nvSpPr>
        <p:spPr>
          <a:xfrm>
            <a:off x="2316480" y="4005072"/>
            <a:ext cx="1676400" cy="640080"/>
          </a:xfrm>
          <a:prstGeom prst="rect">
            <a:avLst/>
          </a:prstGeom>
          <a:noFill/>
          <a:ln/>
        </p:spPr>
        <p:txBody>
          <a:bodyPr wrap="square" lIns="0" tIns="0" rIns="0" bIns="0" rtlCol="0" anchor="ctr"/>
          <a:lstStyle/>
          <a:p>
            <a:pPr algn="ctr" indent="0" marL="0">
              <a:lnSpc>
                <a:spcPct val="115000"/>
              </a:lnSpc>
              <a:buNone/>
            </a:pPr>
            <a:r>
              <a:rPr lang="en-US" sz="950" dirty="0">
                <a:solidFill>
                  <a:srgbClr val="64748B"/>
                </a:solidFill>
                <a:latin typeface="Calibri" pitchFamily="34" charset="0"/>
                <a:ea typeface="Calibri" pitchFamily="34" charset="-122"/>
                <a:cs typeface="Calibri" pitchFamily="34" charset="-120"/>
              </a:rPr>
              <a:t>Vary R/L/C values</a:t>
            </a:r>
            <a:endParaRPr lang="en-US" sz="950" dirty="0"/>
          </a:p>
          <a:p>
            <a:pPr algn="ctr" indent="0" marL="0">
              <a:lnSpc>
                <a:spcPct val="115000"/>
              </a:lnSpc>
              <a:buNone/>
            </a:pPr>
            <a:r>
              <a:rPr lang="en-US" sz="950" dirty="0">
                <a:solidFill>
                  <a:srgbClr val="64748B"/>
                </a:solidFill>
                <a:latin typeface="Calibri" pitchFamily="34" charset="0"/>
                <a:ea typeface="Calibri" pitchFamily="34" charset="-122"/>
                <a:cs typeface="Calibri" pitchFamily="34" charset="-120"/>
              </a:rPr>
              <a:t>across realistic ranges</a:t>
            </a:r>
            <a:endParaRPr lang="en-US" sz="950" dirty="0"/>
          </a:p>
        </p:txBody>
      </p:sp>
      <p:sp>
        <p:nvSpPr>
          <p:cNvPr id="18" name="Shape 14"/>
          <p:cNvSpPr/>
          <p:nvPr/>
        </p:nvSpPr>
        <p:spPr>
          <a:xfrm>
            <a:off x="5379720" y="3063240"/>
            <a:ext cx="853440" cy="0"/>
          </a:xfrm>
          <a:prstGeom prst="line">
            <a:avLst/>
          </a:prstGeom>
          <a:noFill/>
          <a:ln w="22225">
            <a:solidFill>
              <a:srgbClr val="AEBED4"/>
            </a:solidFill>
            <a:prstDash val="solid"/>
            <a:tailEnd type="triangle"/>
          </a:ln>
        </p:spPr>
      </p:sp>
      <p:sp>
        <p:nvSpPr>
          <p:cNvPr id="19" name="Shape 15"/>
          <p:cNvSpPr/>
          <p:nvPr/>
        </p:nvSpPr>
        <p:spPr>
          <a:xfrm>
            <a:off x="4465320" y="2606040"/>
            <a:ext cx="914400" cy="91440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20" name="Image 2" descr="/sessions/blissful-zealous-babbage/mnt/outputs/ppt/icons/filter_00B4D8.png">    </p:cNvPr>
          <p:cNvPicPr>
            <a:picLocks noChangeAspect="1"/>
          </p:cNvPicPr>
          <p:nvPr/>
        </p:nvPicPr>
        <p:blipFill>
          <a:blip r:embed="rId3"/>
          <a:stretch>
            <a:fillRect/>
          </a:stretch>
        </p:blipFill>
        <p:spPr>
          <a:xfrm>
            <a:off x="4588764" y="2729484"/>
            <a:ext cx="667512" cy="667512"/>
          </a:xfrm>
          <a:prstGeom prst="rect">
            <a:avLst/>
          </a:prstGeom>
        </p:spPr>
      </p:pic>
      <p:sp>
        <p:nvSpPr>
          <p:cNvPr id="21" name="Shape 16"/>
          <p:cNvSpPr/>
          <p:nvPr/>
        </p:nvSpPr>
        <p:spPr>
          <a:xfrm>
            <a:off x="4364736" y="2505456"/>
            <a:ext cx="292608" cy="292608"/>
          </a:xfrm>
          <a:prstGeom prst="ellipse">
            <a:avLst/>
          </a:prstGeom>
          <a:solidFill>
            <a:srgbClr val="FFB703"/>
          </a:solidFill>
          <a:ln/>
        </p:spPr>
      </p:sp>
      <p:sp>
        <p:nvSpPr>
          <p:cNvPr id="22" name="Text 17"/>
          <p:cNvSpPr/>
          <p:nvPr/>
        </p:nvSpPr>
        <p:spPr>
          <a:xfrm>
            <a:off x="4364736" y="2496312"/>
            <a:ext cx="292608" cy="292608"/>
          </a:xfrm>
          <a:prstGeom prst="rect">
            <a:avLst/>
          </a:prstGeom>
          <a:noFill/>
          <a:ln/>
        </p:spPr>
        <p:txBody>
          <a:bodyPr wrap="square" lIns="0" tIns="0" rIns="0" bIns="0" rtlCol="0" anchor="ctr"/>
          <a:lstStyle/>
          <a:p>
            <a:pPr algn="ctr" indent="0" marL="0">
              <a:buNone/>
            </a:pPr>
            <a:r>
              <a:rPr lang="en-US" sz="1100" b="1" dirty="0">
                <a:solidFill>
                  <a:srgbClr val="0B1F3A"/>
                </a:solidFill>
                <a:latin typeface="Cambria" pitchFamily="34" charset="0"/>
                <a:ea typeface="Cambria" pitchFamily="34" charset="-122"/>
                <a:cs typeface="Cambria" pitchFamily="34" charset="-120"/>
              </a:rPr>
              <a:t>3</a:t>
            </a:r>
            <a:endParaRPr lang="en-US" sz="1100" dirty="0"/>
          </a:p>
        </p:txBody>
      </p:sp>
      <p:sp>
        <p:nvSpPr>
          <p:cNvPr id="23" name="Text 18"/>
          <p:cNvSpPr/>
          <p:nvPr/>
        </p:nvSpPr>
        <p:spPr>
          <a:xfrm>
            <a:off x="4084320" y="3666744"/>
            <a:ext cx="1676400" cy="320040"/>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Extract</a:t>
            </a:r>
            <a:endParaRPr lang="en-US" sz="1300" dirty="0"/>
          </a:p>
        </p:txBody>
      </p:sp>
      <p:sp>
        <p:nvSpPr>
          <p:cNvPr id="24" name="Text 19"/>
          <p:cNvSpPr/>
          <p:nvPr/>
        </p:nvSpPr>
        <p:spPr>
          <a:xfrm>
            <a:off x="4084320" y="4005072"/>
            <a:ext cx="1676400" cy="640080"/>
          </a:xfrm>
          <a:prstGeom prst="rect">
            <a:avLst/>
          </a:prstGeom>
          <a:noFill/>
          <a:ln/>
        </p:spPr>
        <p:txBody>
          <a:bodyPr wrap="square" lIns="0" tIns="0" rIns="0" bIns="0" rtlCol="0" anchor="ctr"/>
          <a:lstStyle/>
          <a:p>
            <a:pPr algn="ctr" indent="0" marL="0">
              <a:lnSpc>
                <a:spcPct val="115000"/>
              </a:lnSpc>
              <a:buNone/>
            </a:pPr>
            <a:r>
              <a:rPr lang="en-US" sz="950" dirty="0">
                <a:solidFill>
                  <a:srgbClr val="64748B"/>
                </a:solidFill>
                <a:latin typeface="Calibri" pitchFamily="34" charset="0"/>
                <a:ea typeface="Calibri" pitchFamily="34" charset="-122"/>
                <a:cs typeface="Calibri" pitchFamily="34" charset="-120"/>
              </a:rPr>
              <a:t>17 features per</a:t>
            </a:r>
            <a:endParaRPr lang="en-US" sz="950" dirty="0"/>
          </a:p>
          <a:p>
            <a:pPr algn="ctr" indent="0" marL="0">
              <a:lnSpc>
                <a:spcPct val="115000"/>
              </a:lnSpc>
              <a:buNone/>
            </a:pPr>
            <a:r>
              <a:rPr lang="en-US" sz="950" dirty="0">
                <a:solidFill>
                  <a:srgbClr val="64748B"/>
                </a:solidFill>
                <a:latin typeface="Calibri" pitchFamily="34" charset="0"/>
                <a:ea typeface="Calibri" pitchFamily="34" charset="-122"/>
                <a:cs typeface="Calibri" pitchFamily="34" charset="-120"/>
              </a:rPr>
              <a:t>waveform</a:t>
            </a:r>
            <a:endParaRPr lang="en-US" sz="950" dirty="0"/>
          </a:p>
        </p:txBody>
      </p:sp>
      <p:sp>
        <p:nvSpPr>
          <p:cNvPr id="25" name="Shape 20"/>
          <p:cNvSpPr/>
          <p:nvPr/>
        </p:nvSpPr>
        <p:spPr>
          <a:xfrm>
            <a:off x="7147560" y="3063240"/>
            <a:ext cx="853440" cy="0"/>
          </a:xfrm>
          <a:prstGeom prst="line">
            <a:avLst/>
          </a:prstGeom>
          <a:noFill/>
          <a:ln w="22225">
            <a:solidFill>
              <a:srgbClr val="AEBED4"/>
            </a:solidFill>
            <a:prstDash val="solid"/>
            <a:tailEnd type="triangle"/>
          </a:ln>
        </p:spPr>
      </p:sp>
      <p:sp>
        <p:nvSpPr>
          <p:cNvPr id="26" name="Shape 21"/>
          <p:cNvSpPr/>
          <p:nvPr/>
        </p:nvSpPr>
        <p:spPr>
          <a:xfrm>
            <a:off x="6233160" y="2606040"/>
            <a:ext cx="914400" cy="91440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27" name="Image 3" descr="/sessions/blissful-zealous-babbage/mnt/outputs/ppt/icons/brain_00B4D8.png">    </p:cNvPr>
          <p:cNvPicPr>
            <a:picLocks noChangeAspect="1"/>
          </p:cNvPicPr>
          <p:nvPr/>
        </p:nvPicPr>
        <p:blipFill>
          <a:blip r:embed="rId4"/>
          <a:stretch>
            <a:fillRect/>
          </a:stretch>
        </p:blipFill>
        <p:spPr>
          <a:xfrm>
            <a:off x="6356604" y="2729484"/>
            <a:ext cx="667512" cy="667512"/>
          </a:xfrm>
          <a:prstGeom prst="rect">
            <a:avLst/>
          </a:prstGeom>
        </p:spPr>
      </p:pic>
      <p:sp>
        <p:nvSpPr>
          <p:cNvPr id="28" name="Shape 22"/>
          <p:cNvSpPr/>
          <p:nvPr/>
        </p:nvSpPr>
        <p:spPr>
          <a:xfrm>
            <a:off x="6132576" y="2505456"/>
            <a:ext cx="292608" cy="292608"/>
          </a:xfrm>
          <a:prstGeom prst="ellipse">
            <a:avLst/>
          </a:prstGeom>
          <a:solidFill>
            <a:srgbClr val="FFB703"/>
          </a:solidFill>
          <a:ln/>
        </p:spPr>
      </p:sp>
      <p:sp>
        <p:nvSpPr>
          <p:cNvPr id="29" name="Text 23"/>
          <p:cNvSpPr/>
          <p:nvPr/>
        </p:nvSpPr>
        <p:spPr>
          <a:xfrm>
            <a:off x="6132576" y="2496312"/>
            <a:ext cx="292608" cy="292608"/>
          </a:xfrm>
          <a:prstGeom prst="rect">
            <a:avLst/>
          </a:prstGeom>
          <a:noFill/>
          <a:ln/>
        </p:spPr>
        <p:txBody>
          <a:bodyPr wrap="square" lIns="0" tIns="0" rIns="0" bIns="0" rtlCol="0" anchor="ctr"/>
          <a:lstStyle/>
          <a:p>
            <a:pPr algn="ctr" indent="0" marL="0">
              <a:buNone/>
            </a:pPr>
            <a:r>
              <a:rPr lang="en-US" sz="1100" b="1" dirty="0">
                <a:solidFill>
                  <a:srgbClr val="0B1F3A"/>
                </a:solidFill>
                <a:latin typeface="Cambria" pitchFamily="34" charset="0"/>
                <a:ea typeface="Cambria" pitchFamily="34" charset="-122"/>
                <a:cs typeface="Cambria" pitchFamily="34" charset="-120"/>
              </a:rPr>
              <a:t>4</a:t>
            </a:r>
            <a:endParaRPr lang="en-US" sz="1100" dirty="0"/>
          </a:p>
        </p:txBody>
      </p:sp>
      <p:sp>
        <p:nvSpPr>
          <p:cNvPr id="30" name="Text 24"/>
          <p:cNvSpPr/>
          <p:nvPr/>
        </p:nvSpPr>
        <p:spPr>
          <a:xfrm>
            <a:off x="5852160" y="3666744"/>
            <a:ext cx="1676400" cy="320040"/>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Train &amp; Tune</a:t>
            </a:r>
            <a:endParaRPr lang="en-US" sz="1300" dirty="0"/>
          </a:p>
        </p:txBody>
      </p:sp>
      <p:sp>
        <p:nvSpPr>
          <p:cNvPr id="31" name="Text 25"/>
          <p:cNvSpPr/>
          <p:nvPr/>
        </p:nvSpPr>
        <p:spPr>
          <a:xfrm>
            <a:off x="5852160" y="4005072"/>
            <a:ext cx="1676400" cy="640080"/>
          </a:xfrm>
          <a:prstGeom prst="rect">
            <a:avLst/>
          </a:prstGeom>
          <a:noFill/>
          <a:ln/>
        </p:spPr>
        <p:txBody>
          <a:bodyPr wrap="square" lIns="0" tIns="0" rIns="0" bIns="0" rtlCol="0" anchor="ctr"/>
          <a:lstStyle/>
          <a:p>
            <a:pPr algn="ctr" indent="0" marL="0">
              <a:lnSpc>
                <a:spcPct val="115000"/>
              </a:lnSpc>
              <a:buNone/>
            </a:pPr>
            <a:r>
              <a:rPr lang="en-US" sz="950" dirty="0">
                <a:solidFill>
                  <a:srgbClr val="64748B"/>
                </a:solidFill>
                <a:latin typeface="Calibri" pitchFamily="34" charset="0"/>
                <a:ea typeface="Calibri" pitchFamily="34" charset="-122"/>
                <a:cs typeface="Calibri" pitchFamily="34" charset="-120"/>
              </a:rPr>
              <a:t>SVM kernels +</a:t>
            </a:r>
            <a:endParaRPr lang="en-US" sz="950" dirty="0"/>
          </a:p>
          <a:p>
            <a:pPr algn="ctr" indent="0" marL="0">
              <a:lnSpc>
                <a:spcPct val="115000"/>
              </a:lnSpc>
              <a:buNone/>
            </a:pPr>
            <a:r>
              <a:rPr lang="en-US" sz="950" dirty="0">
                <a:solidFill>
                  <a:srgbClr val="64748B"/>
                </a:solidFill>
                <a:latin typeface="Calibri" pitchFamily="34" charset="0"/>
                <a:ea typeface="Calibri" pitchFamily="34" charset="-122"/>
                <a:cs typeface="Calibri" pitchFamily="34" charset="-120"/>
              </a:rPr>
              <a:t>GridSearchCV</a:t>
            </a:r>
            <a:endParaRPr lang="en-US" sz="950" dirty="0"/>
          </a:p>
        </p:txBody>
      </p:sp>
      <p:sp>
        <p:nvSpPr>
          <p:cNvPr id="32" name="Shape 26"/>
          <p:cNvSpPr/>
          <p:nvPr/>
        </p:nvSpPr>
        <p:spPr>
          <a:xfrm>
            <a:off x="8915400" y="3063240"/>
            <a:ext cx="853440" cy="0"/>
          </a:xfrm>
          <a:prstGeom prst="line">
            <a:avLst/>
          </a:prstGeom>
          <a:noFill/>
          <a:ln w="22225">
            <a:solidFill>
              <a:srgbClr val="AEBED4"/>
            </a:solidFill>
            <a:prstDash val="solid"/>
            <a:tailEnd type="triangle"/>
          </a:ln>
        </p:spPr>
      </p:sp>
      <p:sp>
        <p:nvSpPr>
          <p:cNvPr id="33" name="Shape 27"/>
          <p:cNvSpPr/>
          <p:nvPr/>
        </p:nvSpPr>
        <p:spPr>
          <a:xfrm>
            <a:off x="8001000" y="2606040"/>
            <a:ext cx="914400" cy="91440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34" name="Image 4" descr="/sessions/blissful-zealous-babbage/mnt/outputs/ppt/icons/tools_00B4D8.png">    </p:cNvPr>
          <p:cNvPicPr>
            <a:picLocks noChangeAspect="1"/>
          </p:cNvPicPr>
          <p:nvPr/>
        </p:nvPicPr>
        <p:blipFill>
          <a:blip r:embed="rId5"/>
          <a:stretch>
            <a:fillRect/>
          </a:stretch>
        </p:blipFill>
        <p:spPr>
          <a:xfrm>
            <a:off x="8124444" y="2729484"/>
            <a:ext cx="667512" cy="667512"/>
          </a:xfrm>
          <a:prstGeom prst="rect">
            <a:avLst/>
          </a:prstGeom>
        </p:spPr>
      </p:pic>
      <p:sp>
        <p:nvSpPr>
          <p:cNvPr id="35" name="Shape 28"/>
          <p:cNvSpPr/>
          <p:nvPr/>
        </p:nvSpPr>
        <p:spPr>
          <a:xfrm>
            <a:off x="7900416" y="2505456"/>
            <a:ext cx="292608" cy="292608"/>
          </a:xfrm>
          <a:prstGeom prst="ellipse">
            <a:avLst/>
          </a:prstGeom>
          <a:solidFill>
            <a:srgbClr val="FFB703"/>
          </a:solidFill>
          <a:ln/>
        </p:spPr>
      </p:sp>
      <p:sp>
        <p:nvSpPr>
          <p:cNvPr id="36" name="Text 29"/>
          <p:cNvSpPr/>
          <p:nvPr/>
        </p:nvSpPr>
        <p:spPr>
          <a:xfrm>
            <a:off x="7900416" y="2496312"/>
            <a:ext cx="292608" cy="292608"/>
          </a:xfrm>
          <a:prstGeom prst="rect">
            <a:avLst/>
          </a:prstGeom>
          <a:noFill/>
          <a:ln/>
        </p:spPr>
        <p:txBody>
          <a:bodyPr wrap="square" lIns="0" tIns="0" rIns="0" bIns="0" rtlCol="0" anchor="ctr"/>
          <a:lstStyle/>
          <a:p>
            <a:pPr algn="ctr" indent="0" marL="0">
              <a:buNone/>
            </a:pPr>
            <a:r>
              <a:rPr lang="en-US" sz="1100" b="1" dirty="0">
                <a:solidFill>
                  <a:srgbClr val="0B1F3A"/>
                </a:solidFill>
                <a:latin typeface="Cambria" pitchFamily="34" charset="0"/>
                <a:ea typeface="Cambria" pitchFamily="34" charset="-122"/>
                <a:cs typeface="Cambria" pitchFamily="34" charset="-120"/>
              </a:rPr>
              <a:t>5</a:t>
            </a:r>
            <a:endParaRPr lang="en-US" sz="1100" dirty="0"/>
          </a:p>
        </p:txBody>
      </p:sp>
      <p:sp>
        <p:nvSpPr>
          <p:cNvPr id="37" name="Text 30"/>
          <p:cNvSpPr/>
          <p:nvPr/>
        </p:nvSpPr>
        <p:spPr>
          <a:xfrm>
            <a:off x="7620000" y="3666744"/>
            <a:ext cx="1676400" cy="320040"/>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Correct</a:t>
            </a:r>
            <a:endParaRPr lang="en-US" sz="1300" dirty="0"/>
          </a:p>
        </p:txBody>
      </p:sp>
      <p:sp>
        <p:nvSpPr>
          <p:cNvPr id="38" name="Text 31"/>
          <p:cNvSpPr/>
          <p:nvPr/>
        </p:nvSpPr>
        <p:spPr>
          <a:xfrm>
            <a:off x="7620000" y="4005072"/>
            <a:ext cx="1676400" cy="640080"/>
          </a:xfrm>
          <a:prstGeom prst="rect">
            <a:avLst/>
          </a:prstGeom>
          <a:noFill/>
          <a:ln/>
        </p:spPr>
        <p:txBody>
          <a:bodyPr wrap="square" lIns="0" tIns="0" rIns="0" bIns="0" rtlCol="0" anchor="ctr"/>
          <a:lstStyle/>
          <a:p>
            <a:pPr algn="ctr" indent="0" marL="0">
              <a:lnSpc>
                <a:spcPct val="115000"/>
              </a:lnSpc>
              <a:buNone/>
            </a:pPr>
            <a:r>
              <a:rPr lang="en-US" sz="950" dirty="0">
                <a:solidFill>
                  <a:srgbClr val="64748B"/>
                </a:solidFill>
                <a:latin typeface="Calibri" pitchFamily="34" charset="0"/>
                <a:ea typeface="Calibri" pitchFamily="34" charset="-122"/>
                <a:cs typeface="Calibri" pitchFamily="34" charset="-120"/>
              </a:rPr>
              <a:t>Topology-aware</a:t>
            </a:r>
            <a:endParaRPr lang="en-US" sz="950" dirty="0"/>
          </a:p>
          <a:p>
            <a:pPr algn="ctr" indent="0" marL="0">
              <a:lnSpc>
                <a:spcPct val="115000"/>
              </a:lnSpc>
              <a:buNone/>
            </a:pPr>
            <a:r>
              <a:rPr lang="en-US" sz="950" dirty="0">
                <a:solidFill>
                  <a:srgbClr val="64748B"/>
                </a:solidFill>
                <a:latin typeface="Calibri" pitchFamily="34" charset="0"/>
                <a:ea typeface="Calibri" pitchFamily="34" charset="-122"/>
                <a:cs typeface="Calibri" pitchFamily="34" charset="-120"/>
              </a:rPr>
              <a:t>post-processing</a:t>
            </a:r>
            <a:endParaRPr lang="en-US" sz="950" dirty="0"/>
          </a:p>
        </p:txBody>
      </p:sp>
      <p:sp>
        <p:nvSpPr>
          <p:cNvPr id="39" name="Shape 32"/>
          <p:cNvSpPr/>
          <p:nvPr/>
        </p:nvSpPr>
        <p:spPr>
          <a:xfrm>
            <a:off x="9768840" y="2606040"/>
            <a:ext cx="914400" cy="91440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40" name="Image 5" descr="/sessions/blissful-zealous-babbage/mnt/outputs/ppt/icons/rocket_00B4D8.png">    </p:cNvPr>
          <p:cNvPicPr>
            <a:picLocks noChangeAspect="1"/>
          </p:cNvPicPr>
          <p:nvPr/>
        </p:nvPicPr>
        <p:blipFill>
          <a:blip r:embed="rId6"/>
          <a:stretch>
            <a:fillRect/>
          </a:stretch>
        </p:blipFill>
        <p:spPr>
          <a:xfrm>
            <a:off x="9892284" y="2729484"/>
            <a:ext cx="667512" cy="667512"/>
          </a:xfrm>
          <a:prstGeom prst="rect">
            <a:avLst/>
          </a:prstGeom>
        </p:spPr>
      </p:pic>
      <p:sp>
        <p:nvSpPr>
          <p:cNvPr id="41" name="Shape 33"/>
          <p:cNvSpPr/>
          <p:nvPr/>
        </p:nvSpPr>
        <p:spPr>
          <a:xfrm>
            <a:off x="9668256" y="2505456"/>
            <a:ext cx="292608" cy="292608"/>
          </a:xfrm>
          <a:prstGeom prst="ellipse">
            <a:avLst/>
          </a:prstGeom>
          <a:solidFill>
            <a:srgbClr val="FFB703"/>
          </a:solidFill>
          <a:ln/>
        </p:spPr>
      </p:sp>
      <p:sp>
        <p:nvSpPr>
          <p:cNvPr id="42" name="Text 34"/>
          <p:cNvSpPr/>
          <p:nvPr/>
        </p:nvSpPr>
        <p:spPr>
          <a:xfrm>
            <a:off x="9668256" y="2496312"/>
            <a:ext cx="292608" cy="292608"/>
          </a:xfrm>
          <a:prstGeom prst="rect">
            <a:avLst/>
          </a:prstGeom>
          <a:noFill/>
          <a:ln/>
        </p:spPr>
        <p:txBody>
          <a:bodyPr wrap="square" lIns="0" tIns="0" rIns="0" bIns="0" rtlCol="0" anchor="ctr"/>
          <a:lstStyle/>
          <a:p>
            <a:pPr algn="ctr" indent="0" marL="0">
              <a:buNone/>
            </a:pPr>
            <a:r>
              <a:rPr lang="en-US" sz="1100" b="1" dirty="0">
                <a:solidFill>
                  <a:srgbClr val="0B1F3A"/>
                </a:solidFill>
                <a:latin typeface="Cambria" pitchFamily="34" charset="0"/>
                <a:ea typeface="Cambria" pitchFamily="34" charset="-122"/>
                <a:cs typeface="Cambria" pitchFamily="34" charset="-120"/>
              </a:rPr>
              <a:t>6</a:t>
            </a:r>
            <a:endParaRPr lang="en-US" sz="1100" dirty="0"/>
          </a:p>
        </p:txBody>
      </p:sp>
      <p:sp>
        <p:nvSpPr>
          <p:cNvPr id="43" name="Text 35"/>
          <p:cNvSpPr/>
          <p:nvPr/>
        </p:nvSpPr>
        <p:spPr>
          <a:xfrm>
            <a:off x="9387840" y="3666744"/>
            <a:ext cx="1676400" cy="320040"/>
          </a:xfrm>
          <a:prstGeom prst="rect">
            <a:avLst/>
          </a:prstGeom>
          <a:noFill/>
          <a:ln/>
        </p:spPr>
        <p:txBody>
          <a:bodyPr wrap="square" lIns="0" tIns="0" rIns="0" bIns="0" rtlCol="0" anchor="ctr"/>
          <a:lstStyle/>
          <a:p>
            <a:pPr algn="ctr" indent="0" marL="0">
              <a:buNone/>
            </a:pPr>
            <a:r>
              <a:rPr lang="en-US" sz="1300" b="1" dirty="0">
                <a:solidFill>
                  <a:srgbClr val="0B1F3A"/>
                </a:solidFill>
                <a:latin typeface="Calibri" pitchFamily="34" charset="0"/>
                <a:ea typeface="Calibri" pitchFamily="34" charset="-122"/>
                <a:cs typeface="Calibri" pitchFamily="34" charset="-120"/>
              </a:rPr>
              <a:t>Deploy</a:t>
            </a:r>
            <a:endParaRPr lang="en-US" sz="1300" dirty="0"/>
          </a:p>
        </p:txBody>
      </p:sp>
      <p:sp>
        <p:nvSpPr>
          <p:cNvPr id="44" name="Text 36"/>
          <p:cNvSpPr/>
          <p:nvPr/>
        </p:nvSpPr>
        <p:spPr>
          <a:xfrm>
            <a:off x="9387840" y="4005072"/>
            <a:ext cx="1676400" cy="640080"/>
          </a:xfrm>
          <a:prstGeom prst="rect">
            <a:avLst/>
          </a:prstGeom>
          <a:noFill/>
          <a:ln/>
        </p:spPr>
        <p:txBody>
          <a:bodyPr wrap="square" lIns="0" tIns="0" rIns="0" bIns="0" rtlCol="0" anchor="ctr"/>
          <a:lstStyle/>
          <a:p>
            <a:pPr algn="ctr" indent="0" marL="0">
              <a:lnSpc>
                <a:spcPct val="115000"/>
              </a:lnSpc>
              <a:buNone/>
            </a:pPr>
            <a:r>
              <a:rPr lang="en-US" sz="950" dirty="0">
                <a:solidFill>
                  <a:srgbClr val="64748B"/>
                </a:solidFill>
                <a:latin typeface="Calibri" pitchFamily="34" charset="0"/>
                <a:ea typeface="Calibri" pitchFamily="34" charset="-122"/>
                <a:cs typeface="Calibri" pitchFamily="34" charset="-120"/>
              </a:rPr>
              <a:t>Live Streamlit</a:t>
            </a:r>
            <a:endParaRPr lang="en-US" sz="950" dirty="0"/>
          </a:p>
          <a:p>
            <a:pPr algn="ctr" indent="0" marL="0">
              <a:lnSpc>
                <a:spcPct val="115000"/>
              </a:lnSpc>
              <a:buNone/>
            </a:pPr>
            <a:r>
              <a:rPr lang="en-US" sz="950" dirty="0">
                <a:solidFill>
                  <a:srgbClr val="64748B"/>
                </a:solidFill>
                <a:latin typeface="Calibri" pitchFamily="34" charset="0"/>
                <a:ea typeface="Calibri" pitchFamily="34" charset="-122"/>
                <a:cs typeface="Calibri" pitchFamily="34" charset="-120"/>
              </a:rPr>
              <a:t>web app</a:t>
            </a:r>
            <a:endParaRPr lang="en-US" sz="950" dirty="0"/>
          </a:p>
        </p:txBody>
      </p:sp>
      <p:sp>
        <p:nvSpPr>
          <p:cNvPr id="45" name="Shape 37"/>
          <p:cNvSpPr/>
          <p:nvPr/>
        </p:nvSpPr>
        <p:spPr>
          <a:xfrm>
            <a:off x="502920" y="4983480"/>
            <a:ext cx="10607040" cy="914400"/>
          </a:xfrm>
          <a:prstGeom prst="roundRect">
            <a:avLst>
              <a:gd name="adj" fmla="val 8000"/>
            </a:avLst>
          </a:prstGeom>
          <a:solidFill>
            <a:srgbClr val="0B1F3A"/>
          </a:solidFill>
          <a:ln/>
          <a:effectLst>
            <a:outerShdw sx="100000" sy="100000" kx="0" ky="0" algn="bl" rotWithShape="0" blurRad="114300" dist="38100" dir="2700000">
              <a:srgbClr val="0B1F3A">
                <a:alpha val="14000"/>
              </a:srgbClr>
            </a:outerShdw>
          </a:effectLst>
        </p:spPr>
      </p:sp>
      <p:sp>
        <p:nvSpPr>
          <p:cNvPr id="46" name="Text 38"/>
          <p:cNvSpPr/>
          <p:nvPr/>
        </p:nvSpPr>
        <p:spPr>
          <a:xfrm>
            <a:off x="822960" y="4983480"/>
            <a:ext cx="9966960" cy="914400"/>
          </a:xfrm>
          <a:prstGeom prst="rect">
            <a:avLst/>
          </a:prstGeom>
          <a:noFill/>
          <a:ln/>
        </p:spPr>
        <p:txBody>
          <a:bodyPr wrap="square" lIns="0" tIns="0" rIns="0" bIns="0" rtlCol="0" anchor="ctr"/>
          <a:lstStyle/>
          <a:p>
            <a:pPr algn="l" indent="0" marL="0">
              <a:lnSpc>
                <a:spcPct val="120000"/>
              </a:lnSpc>
              <a:buNone/>
            </a:pPr>
            <a:r>
              <a:rPr lang="en-US" sz="1300" b="1" dirty="0">
                <a:solidFill>
                  <a:srgbClr val="FFB703"/>
                </a:solidFill>
                <a:latin typeface="Calibri" pitchFamily="34" charset="0"/>
                <a:ea typeface="Calibri" pitchFamily="34" charset="-122"/>
                <a:cs typeface="Calibri" pitchFamily="34" charset="-120"/>
              </a:rPr>
              <a:t>Every stage is grounded in real simulation physics</a:t>
            </a:r>
            <a:pPr algn="l" indent="0" marL="0">
              <a:lnSpc>
                <a:spcPct val="120000"/>
              </a:lnSpc>
              <a:buNone/>
            </a:pPr>
            <a:r>
              <a:rPr lang="en-US" sz="1300" dirty="0">
                <a:solidFill>
                  <a:srgbClr val="E7ECF4"/>
                </a:solidFill>
                <a:latin typeface="Calibri" pitchFamily="34" charset="0"/>
                <a:ea typeface="Calibri" pitchFamily="34" charset="-122"/>
                <a:cs typeface="Calibri" pitchFamily="34" charset="-120"/>
              </a:rPr>
              <a:t> — no synthetic data augmentation was used in the final pipeline, only genuine LTspice parameter sweeps.</a:t>
            </a:r>
            <a:endParaRPr lang="en-US" sz="1300" dirty="0"/>
          </a:p>
        </p:txBody>
      </p:sp>
      <p:sp>
        <p:nvSpPr>
          <p:cNvPr id="47" name="Text 39"/>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48" name="Text 40"/>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3. DATA PIPELINE · STEP 1</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Simulating Real Circuit Behavior in LTspice</a:t>
            </a:r>
            <a:endParaRPr lang="en-US" sz="3000" dirty="0"/>
          </a:p>
        </p:txBody>
      </p:sp>
      <p:sp>
        <p:nvSpPr>
          <p:cNvPr id="4" name="Shape 2"/>
          <p:cNvSpPr/>
          <p:nvPr/>
        </p:nvSpPr>
        <p:spPr>
          <a:xfrm>
            <a:off x="502920" y="1828800"/>
            <a:ext cx="566928" cy="566928"/>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5" name="Image 0" descr="/sessions/blissful-zealous-babbage/mnt/outputs/ppt/icons/flask_00B4D8.png">    </p:cNvPr>
          <p:cNvPicPr>
            <a:picLocks noChangeAspect="1"/>
          </p:cNvPicPr>
          <p:nvPr/>
        </p:nvPicPr>
        <p:blipFill>
          <a:blip r:embed="rId1"/>
          <a:stretch>
            <a:fillRect/>
          </a:stretch>
        </p:blipFill>
        <p:spPr>
          <a:xfrm>
            <a:off x="579455" y="1905335"/>
            <a:ext cx="413857" cy="413857"/>
          </a:xfrm>
          <a:prstGeom prst="rect">
            <a:avLst/>
          </a:prstGeom>
        </p:spPr>
      </p:pic>
      <p:sp>
        <p:nvSpPr>
          <p:cNvPr id="6" name="Text 3"/>
          <p:cNvSpPr/>
          <p:nvPr/>
        </p:nvSpPr>
        <p:spPr>
          <a:xfrm>
            <a:off x="1280160" y="1801368"/>
            <a:ext cx="5029200" cy="32004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Why SPICE instead of pure math?</a:t>
            </a:r>
            <a:endParaRPr lang="en-US" sz="1300" dirty="0"/>
          </a:p>
        </p:txBody>
      </p:sp>
      <p:sp>
        <p:nvSpPr>
          <p:cNvPr id="7" name="Text 4"/>
          <p:cNvSpPr/>
          <p:nvPr/>
        </p:nvSpPr>
        <p:spPr>
          <a:xfrm>
            <a:off x="1280160" y="2121408"/>
            <a:ext cx="5074920" cy="621792"/>
          </a:xfrm>
          <a:prstGeom prst="rect">
            <a:avLst/>
          </a:prstGeom>
          <a:noFill/>
          <a:ln/>
        </p:spPr>
        <p:txBody>
          <a:bodyPr wrap="square" lIns="0" tIns="0" rIns="0" bIns="0" rtlCol="0" anchor="ctr"/>
          <a:lstStyle/>
          <a:p>
            <a:pPr indent="0" marL="0">
              <a:lnSpc>
                <a:spcPct val="116000"/>
              </a:lnSpc>
              <a:buNone/>
            </a:pPr>
            <a:r>
              <a:rPr lang="en-US" sz="1030" dirty="0">
                <a:solidFill>
                  <a:srgbClr val="64748B"/>
                </a:solidFill>
                <a:latin typeface="Calibri" pitchFamily="34" charset="0"/>
                <a:ea typeface="Calibri" pitchFamily="34" charset="-122"/>
                <a:cs typeface="Calibri" pitchFamily="34" charset="-120"/>
              </a:rPr>
              <a:t>LTspice's transient solver captures op-amp behavior, component tolerances and transient effects that a hand-derived transfer function alone would miss.</a:t>
            </a:r>
            <a:endParaRPr lang="en-US" sz="1030" dirty="0"/>
          </a:p>
        </p:txBody>
      </p:sp>
      <p:sp>
        <p:nvSpPr>
          <p:cNvPr id="8" name="Shape 5"/>
          <p:cNvSpPr/>
          <p:nvPr/>
        </p:nvSpPr>
        <p:spPr>
          <a:xfrm>
            <a:off x="502920" y="2816352"/>
            <a:ext cx="566928" cy="566928"/>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9" name="Image 1" descr="/sessions/blissful-zealous-babbage/mnt/outputs/ppt/icons/chartline_00B4D8.png">    </p:cNvPr>
          <p:cNvPicPr>
            <a:picLocks noChangeAspect="1"/>
          </p:cNvPicPr>
          <p:nvPr/>
        </p:nvPicPr>
        <p:blipFill>
          <a:blip r:embed="rId2"/>
          <a:stretch>
            <a:fillRect/>
          </a:stretch>
        </p:blipFill>
        <p:spPr>
          <a:xfrm>
            <a:off x="579455" y="2892887"/>
            <a:ext cx="413857" cy="413857"/>
          </a:xfrm>
          <a:prstGeom prst="rect">
            <a:avLst/>
          </a:prstGeom>
        </p:spPr>
      </p:pic>
      <p:sp>
        <p:nvSpPr>
          <p:cNvPr id="10" name="Text 6"/>
          <p:cNvSpPr/>
          <p:nvPr/>
        </p:nvSpPr>
        <p:spPr>
          <a:xfrm>
            <a:off x="1280160" y="2788920"/>
            <a:ext cx="5029200" cy="32004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A step input drives every circuit</a:t>
            </a:r>
            <a:endParaRPr lang="en-US" sz="1300" dirty="0"/>
          </a:p>
        </p:txBody>
      </p:sp>
      <p:sp>
        <p:nvSpPr>
          <p:cNvPr id="11" name="Text 7"/>
          <p:cNvSpPr/>
          <p:nvPr/>
        </p:nvSpPr>
        <p:spPr>
          <a:xfrm>
            <a:off x="1280160" y="3108960"/>
            <a:ext cx="5074920" cy="621792"/>
          </a:xfrm>
          <a:prstGeom prst="rect">
            <a:avLst/>
          </a:prstGeom>
          <a:noFill/>
          <a:ln/>
        </p:spPr>
        <p:txBody>
          <a:bodyPr wrap="square" lIns="0" tIns="0" rIns="0" bIns="0" rtlCol="0" anchor="ctr"/>
          <a:lstStyle/>
          <a:p>
            <a:pPr indent="0" marL="0">
              <a:lnSpc>
                <a:spcPct val="116000"/>
              </a:lnSpc>
              <a:buNone/>
            </a:pPr>
            <a:r>
              <a:rPr lang="en-US" sz="1030" dirty="0">
                <a:solidFill>
                  <a:srgbClr val="64748B"/>
                </a:solidFill>
                <a:latin typeface="Calibri" pitchFamily="34" charset="0"/>
                <a:ea typeface="Calibri" pitchFamily="34" charset="-122"/>
                <a:cs typeface="Calibri" pitchFamily="34" charset="-120"/>
              </a:rPr>
              <a:t>A PULSE voltage source jumps 0V to 5V (1ns rise time), mimicking a sudden real-world input change.</a:t>
            </a:r>
            <a:endParaRPr lang="en-US" sz="1030" dirty="0"/>
          </a:p>
        </p:txBody>
      </p:sp>
      <p:sp>
        <p:nvSpPr>
          <p:cNvPr id="12" name="Shape 8"/>
          <p:cNvSpPr/>
          <p:nvPr/>
        </p:nvSpPr>
        <p:spPr>
          <a:xfrm>
            <a:off x="502920" y="3803904"/>
            <a:ext cx="566928" cy="566928"/>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3" name="Image 2" descr="/sessions/blissful-zealous-babbage/mnt/outputs/ppt/icons/sliders_00B4D8.png">    </p:cNvPr>
          <p:cNvPicPr>
            <a:picLocks noChangeAspect="1"/>
          </p:cNvPicPr>
          <p:nvPr/>
        </p:nvPicPr>
        <p:blipFill>
          <a:blip r:embed="rId3"/>
          <a:stretch>
            <a:fillRect/>
          </a:stretch>
        </p:blipFill>
        <p:spPr>
          <a:xfrm>
            <a:off x="579455" y="3880439"/>
            <a:ext cx="413857" cy="413857"/>
          </a:xfrm>
          <a:prstGeom prst="rect">
            <a:avLst/>
          </a:prstGeom>
        </p:spPr>
      </p:pic>
      <p:sp>
        <p:nvSpPr>
          <p:cNvPr id="14" name="Text 9"/>
          <p:cNvSpPr/>
          <p:nvPr/>
        </p:nvSpPr>
        <p:spPr>
          <a:xfrm>
            <a:off x="1280160" y="3776472"/>
            <a:ext cx="5029200" cy="320040"/>
          </a:xfrm>
          <a:prstGeom prst="rect">
            <a:avLst/>
          </a:prstGeom>
          <a:noFill/>
          <a:ln/>
        </p:spPr>
        <p:txBody>
          <a:bodyPr wrap="square" lIns="0" tIns="0" rIns="0" bIns="0" rtlCol="0" anchor="ctr"/>
          <a:lstStyle/>
          <a:p>
            <a:pPr indent="0" marL="0">
              <a:buNone/>
            </a:pPr>
            <a:r>
              <a:rPr lang="en-US" sz="1300" b="1" dirty="0">
                <a:solidFill>
                  <a:srgbClr val="0B1F3A"/>
                </a:solidFill>
                <a:latin typeface="Calibri" pitchFamily="34" charset="0"/>
                <a:ea typeface="Calibri" pitchFamily="34" charset="-122"/>
                <a:cs typeface="Calibri" pitchFamily="34" charset="-120"/>
              </a:rPr>
              <a:t>.tran captures the transient response</a:t>
            </a:r>
            <a:endParaRPr lang="en-US" sz="1300" dirty="0"/>
          </a:p>
        </p:txBody>
      </p:sp>
      <p:sp>
        <p:nvSpPr>
          <p:cNvPr id="15" name="Text 10"/>
          <p:cNvSpPr/>
          <p:nvPr/>
        </p:nvSpPr>
        <p:spPr>
          <a:xfrm>
            <a:off x="1280160" y="4096512"/>
            <a:ext cx="5074920" cy="621792"/>
          </a:xfrm>
          <a:prstGeom prst="rect">
            <a:avLst/>
          </a:prstGeom>
          <a:noFill/>
          <a:ln/>
        </p:spPr>
        <p:txBody>
          <a:bodyPr wrap="square" lIns="0" tIns="0" rIns="0" bIns="0" rtlCol="0" anchor="ctr"/>
          <a:lstStyle/>
          <a:p>
            <a:pPr indent="0" marL="0">
              <a:lnSpc>
                <a:spcPct val="116000"/>
              </a:lnSpc>
              <a:buNone/>
            </a:pPr>
            <a:r>
              <a:rPr lang="en-US" sz="1030" dirty="0">
                <a:solidFill>
                  <a:srgbClr val="64748B"/>
                </a:solidFill>
                <a:latin typeface="Calibri" pitchFamily="34" charset="0"/>
                <a:ea typeface="Calibri" pitchFamily="34" charset="-122"/>
                <a:cs typeface="Calibri" pitchFamily="34" charset="-120"/>
              </a:rPr>
              <a:t>The .tran directive runs the simulation and records Vout at 200 time points as the circuit reacts to the step.</a:t>
            </a:r>
            <a:endParaRPr lang="en-US" sz="1030" dirty="0"/>
          </a:p>
        </p:txBody>
      </p:sp>
      <p:sp>
        <p:nvSpPr>
          <p:cNvPr id="16" name="Shape 11"/>
          <p:cNvSpPr/>
          <p:nvPr/>
        </p:nvSpPr>
        <p:spPr>
          <a:xfrm>
            <a:off x="6583680" y="1828800"/>
            <a:ext cx="5120640" cy="2514600"/>
          </a:xfrm>
          <a:prstGeom prst="roundRect">
            <a:avLst>
              <a:gd name="adj" fmla="val 2545"/>
            </a:avLst>
          </a:prstGeom>
          <a:solidFill>
            <a:srgbClr val="EAEEF4"/>
          </a:solidFill>
          <a:ln w="15875">
            <a:solidFill>
              <a:srgbClr val="9FB1C8"/>
            </a:solidFill>
            <a:prstDash val="dash"/>
          </a:ln>
        </p:spPr>
      </p:sp>
      <p:pic>
        <p:nvPicPr>
          <p:cNvPr id="17" name="Image 3" descr="/sessions/blissful-zealous-babbage/mnt/outputs/ppt/icons/microchip_64748B.png">    </p:cNvPr>
          <p:cNvPicPr>
            <a:picLocks noChangeAspect="1"/>
          </p:cNvPicPr>
          <p:nvPr/>
        </p:nvPicPr>
        <p:blipFill>
          <a:blip r:embed="rId4"/>
          <a:stretch>
            <a:fillRect/>
          </a:stretch>
        </p:blipFill>
        <p:spPr>
          <a:xfrm>
            <a:off x="8860536" y="2148840"/>
            <a:ext cx="566928" cy="566928"/>
          </a:xfrm>
          <a:prstGeom prst="rect">
            <a:avLst/>
          </a:prstGeom>
        </p:spPr>
      </p:pic>
      <p:sp>
        <p:nvSpPr>
          <p:cNvPr id="18" name="Text 12"/>
          <p:cNvSpPr/>
          <p:nvPr/>
        </p:nvSpPr>
        <p:spPr>
          <a:xfrm>
            <a:off x="6766560" y="2630729"/>
            <a:ext cx="4754880"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LTSPICE SCHEMATIC</a:t>
            </a:r>
            <a:endParaRPr lang="en-US" sz="1300" dirty="0"/>
          </a:p>
        </p:txBody>
      </p:sp>
      <p:sp>
        <p:nvSpPr>
          <p:cNvPr id="19" name="Text 13"/>
          <p:cNvSpPr/>
          <p:nvPr/>
        </p:nvSpPr>
        <p:spPr>
          <a:xfrm>
            <a:off x="6858000" y="2978201"/>
            <a:ext cx="4572000" cy="804672"/>
          </a:xfrm>
          <a:prstGeom prst="rect">
            <a:avLst/>
          </a:prstGeom>
          <a:noFill/>
          <a:ln/>
        </p:spPr>
        <p:txBody>
          <a:bodyPr wrap="square" lIns="0" tIns="0" rIns="0" bIns="0" rtlCol="0" anchor="ctr"/>
          <a:lstStyle/>
          <a:p>
            <a:pPr algn="ctr" indent="0" marL="0">
              <a:buNone/>
            </a:pPr>
            <a:r>
              <a:rPr lang="en-US" sz="1050" i="1" dirty="0">
                <a:solidFill>
                  <a:srgbClr val="8695AB"/>
                </a:solidFill>
                <a:latin typeface="Calibri" pitchFamily="34" charset="0"/>
                <a:ea typeface="Calibri" pitchFamily="34" charset="-122"/>
                <a:cs typeface="Calibri" pitchFamily="34" charset="-120"/>
              </a:rPr>
              <a:t>e.g. screenshot of the .asc</a:t>
            </a:r>
            <a:endParaRPr lang="en-US" sz="1050" dirty="0"/>
          </a:p>
          <a:p>
            <a:pPr algn="ctr" indent="0" marL="0">
              <a:buNone/>
            </a:pPr>
            <a:r>
              <a:rPr lang="en-US" sz="1050" i="1" dirty="0">
                <a:solidFill>
                  <a:srgbClr val="8695AB"/>
                </a:solidFill>
                <a:latin typeface="Calibri" pitchFamily="34" charset="0"/>
                <a:ea typeface="Calibri" pitchFamily="34" charset="-122"/>
                <a:cs typeface="Calibri" pitchFamily="34" charset="-120"/>
              </a:rPr>
              <a:t>circuit diagram in LTspice XVII</a:t>
            </a:r>
            <a:endParaRPr lang="en-US" sz="1050" dirty="0"/>
          </a:p>
        </p:txBody>
      </p:sp>
      <p:sp>
        <p:nvSpPr>
          <p:cNvPr id="20" name="Shape 14"/>
          <p:cNvSpPr/>
          <p:nvPr/>
        </p:nvSpPr>
        <p:spPr>
          <a:xfrm>
            <a:off x="6583680" y="4526280"/>
            <a:ext cx="5120640" cy="1463040"/>
          </a:xfrm>
          <a:prstGeom prst="roundRect">
            <a:avLst>
              <a:gd name="adj" fmla="val 5000"/>
            </a:avLst>
          </a:prstGeom>
          <a:solidFill>
            <a:srgbClr val="0B1F3A"/>
          </a:solidFill>
          <a:ln/>
          <a:effectLst>
            <a:outerShdw sx="100000" sy="100000" kx="0" ky="0" algn="bl" rotWithShape="0" blurRad="114300" dist="38100" dir="2700000">
              <a:srgbClr val="0B1F3A">
                <a:alpha val="14000"/>
              </a:srgbClr>
            </a:outerShdw>
          </a:effectLst>
        </p:spPr>
      </p:sp>
      <p:sp>
        <p:nvSpPr>
          <p:cNvPr id="21" name="Text 15"/>
          <p:cNvSpPr/>
          <p:nvPr/>
        </p:nvSpPr>
        <p:spPr>
          <a:xfrm>
            <a:off x="6858000" y="4663440"/>
            <a:ext cx="4572000" cy="1188720"/>
          </a:xfrm>
          <a:prstGeom prst="rect">
            <a:avLst/>
          </a:prstGeom>
          <a:noFill/>
          <a:ln/>
        </p:spPr>
        <p:txBody>
          <a:bodyPr wrap="square" lIns="0" tIns="0" rIns="0" bIns="0" rtlCol="0" anchor="ctr"/>
          <a:lstStyle/>
          <a:p>
            <a:pPr algn="l" indent="0" marL="0">
              <a:lnSpc>
                <a:spcPct val="140000"/>
              </a:lnSpc>
              <a:buNone/>
            </a:pPr>
            <a:r>
              <a:rPr lang="en-US" sz="1250" dirty="0">
                <a:solidFill>
                  <a:srgbClr val="E7ECF4"/>
                </a:solidFill>
                <a:latin typeface="Courier New" pitchFamily="34" charset="0"/>
                <a:ea typeface="Courier New" pitchFamily="34" charset="-122"/>
                <a:cs typeface="Courier New" pitchFamily="34" charset="-120"/>
              </a:rPr>
              <a:t>V1  PULSE(0 5 0 1n 1n 95m 200m)</a:t>
            </a:r>
            <a:endParaRPr lang="en-US" sz="1250" dirty="0"/>
          </a:p>
          <a:p>
            <a:pPr algn="l" indent="0" marL="0">
              <a:lnSpc>
                <a:spcPct val="140000"/>
              </a:lnSpc>
              <a:buNone/>
            </a:pPr>
            <a:r>
              <a:rPr lang="en-US" sz="1250" dirty="0">
                <a:solidFill>
                  <a:srgbClr val="E7ECF4"/>
                </a:solidFill>
                <a:latin typeface="Courier New" pitchFamily="34" charset="0"/>
                <a:ea typeface="Courier New" pitchFamily="34" charset="-122"/>
                <a:cs typeface="Courier New" pitchFamily="34" charset="-120"/>
              </a:rPr>
              <a:t>.tran 95m</a:t>
            </a:r>
            <a:endParaRPr lang="en-US" sz="1250" dirty="0"/>
          </a:p>
          <a:p>
            <a:pPr algn="l" indent="0" marL="0">
              <a:lnSpc>
                <a:spcPct val="140000"/>
              </a:lnSpc>
              <a:buNone/>
            </a:pPr>
            <a:r>
              <a:rPr lang="en-US" sz="1250" dirty="0">
                <a:solidFill>
                  <a:srgbClr val="E7ECF4"/>
                </a:solidFill>
                <a:latin typeface="Courier New" pitchFamily="34" charset="0"/>
                <a:ea typeface="Courier New" pitchFamily="34" charset="-122"/>
                <a:cs typeface="Courier New" pitchFamily="34" charset="-120"/>
              </a:rPr>
              <a:t>.step param Rval 100 10000 200</a:t>
            </a:r>
            <a:endParaRPr lang="en-US" sz="1250" dirty="0"/>
          </a:p>
        </p:txBody>
      </p:sp>
      <p:sp>
        <p:nvSpPr>
          <p:cNvPr id="22" name="Shape 16"/>
          <p:cNvSpPr/>
          <p:nvPr/>
        </p:nvSpPr>
        <p:spPr>
          <a:xfrm>
            <a:off x="502920" y="6263640"/>
            <a:ext cx="11185855" cy="457200"/>
          </a:xfrm>
          <a:prstGeom prst="roundRect">
            <a:avLst>
              <a:gd name="adj" fmla="val 12000"/>
            </a:avLst>
          </a:prstGeom>
          <a:solidFill>
            <a:srgbClr val="FFF8E8"/>
          </a:solidFill>
          <a:ln w="12700">
            <a:solidFill>
              <a:srgbClr val="F0C24B"/>
            </a:solidFill>
            <a:prstDash val="solid"/>
          </a:ln>
        </p:spPr>
      </p:sp>
      <p:sp>
        <p:nvSpPr>
          <p:cNvPr id="23" name="Text 17"/>
          <p:cNvSpPr/>
          <p:nvPr/>
        </p:nvSpPr>
        <p:spPr>
          <a:xfrm>
            <a:off x="667512" y="6263640"/>
            <a:ext cx="10856671" cy="457200"/>
          </a:xfrm>
          <a:prstGeom prst="rect">
            <a:avLst/>
          </a:prstGeom>
          <a:noFill/>
          <a:ln/>
        </p:spPr>
        <p:txBody>
          <a:bodyPr wrap="square" lIns="0" tIns="0" rIns="0" bIns="0" rtlCol="0" anchor="ctr"/>
          <a:lstStyle/>
          <a:p>
            <a:pPr indent="0" marL="0">
              <a:lnSpc>
                <a:spcPct val="112000"/>
              </a:lnSpc>
              <a:buNone/>
            </a:pPr>
            <a:r>
              <a:rPr lang="en-US" sz="950" b="1" dirty="0">
                <a:solidFill>
                  <a:srgbClr val="9A6B00"/>
                </a:solidFill>
                <a:latin typeface="Calibri" pitchFamily="34" charset="0"/>
                <a:ea typeface="Calibri" pitchFamily="34" charset="-122"/>
                <a:cs typeface="Calibri" pitchFamily="34" charset="-120"/>
              </a:rPr>
              <a:t>  IN PLAIN TERMS (for the CSE side):  </a:t>
            </a:r>
            <a:pPr indent="0" marL="0">
              <a:lnSpc>
                <a:spcPct val="112000"/>
              </a:lnSpc>
              <a:buNone/>
            </a:pPr>
            <a:r>
              <a:rPr lang="en-US" sz="950" dirty="0">
                <a:solidFill>
                  <a:srgbClr val="3D3620"/>
                </a:solidFill>
                <a:latin typeface="Calibri" pitchFamily="34" charset="0"/>
                <a:ea typeface="Calibri" pitchFamily="34" charset="-122"/>
                <a:cs typeface="Calibri" pitchFamily="34" charset="-120"/>
              </a:rPr>
              <a:t>Think of this like a unit test: give the circuit a sudden voltage change and record how it reacts over time — that recorded reaction is the raw data.</a:t>
            </a:r>
            <a:endParaRPr lang="en-US" sz="950" dirty="0"/>
          </a:p>
        </p:txBody>
      </p:sp>
      <p:sp>
        <p:nvSpPr>
          <p:cNvPr id="24" name="Text 18"/>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5" name="Text 19"/>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3. DATA PIPELINE · STEP 2</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Parameter Sweeps: Simulating Real-World Variation</a:t>
            </a:r>
            <a:endParaRPr lang="en-US" sz="3000" dirty="0"/>
          </a:p>
        </p:txBody>
      </p:sp>
      <p:sp>
        <p:nvSpPr>
          <p:cNvPr id="4" name="Text 2"/>
          <p:cNvSpPr/>
          <p:nvPr/>
        </p:nvSpPr>
        <p:spPr>
          <a:xfrm>
            <a:off x="502920" y="1737360"/>
            <a:ext cx="10607040" cy="777240"/>
          </a:xfrm>
          <a:prstGeom prst="rect">
            <a:avLst/>
          </a:prstGeom>
          <a:noFill/>
          <a:ln/>
        </p:spPr>
        <p:txBody>
          <a:bodyPr wrap="square" lIns="0" tIns="0" rIns="0" bIns="0" rtlCol="0" anchor="ctr"/>
          <a:lstStyle/>
          <a:p>
            <a:pPr indent="0" marL="0">
              <a:lnSpc>
                <a:spcPct val="128000"/>
              </a:lnSpc>
              <a:buNone/>
            </a:pPr>
            <a:r>
              <a:rPr lang="en-US" sz="1300" dirty="0">
                <a:solidFill>
                  <a:srgbClr val="1E293B"/>
                </a:solidFill>
                <a:latin typeface="Calibri" pitchFamily="34" charset="0"/>
                <a:ea typeface="Calibri" pitchFamily="34" charset="-122"/>
                <a:cs typeface="Calibri" pitchFamily="34" charset="-120"/>
              </a:rPr>
              <a:t>A single fixed waveform per fault would teach the model almost nothing. The </a:t>
            </a:r>
            <a:pPr indent="0" marL="0">
              <a:lnSpc>
                <a:spcPct val="128000"/>
              </a:lnSpc>
              <a:buNone/>
            </a:pPr>
            <a:r>
              <a:rPr lang="en-US" sz="1300" b="1" dirty="0">
                <a:solidFill>
                  <a:srgbClr val="0B1F3A"/>
                </a:solidFill>
                <a:latin typeface="Courier New" pitchFamily="34" charset="0"/>
                <a:ea typeface="Courier New" pitchFamily="34" charset="-122"/>
                <a:cs typeface="Courier New" pitchFamily="34" charset="-120"/>
              </a:rPr>
              <a:t>.step param</a:t>
            </a:r>
            <a:pPr indent="0" marL="0">
              <a:lnSpc>
                <a:spcPct val="128000"/>
              </a:lnSpc>
              <a:buNone/>
            </a:pPr>
            <a:r>
              <a:rPr lang="en-US" sz="1300" dirty="0">
                <a:solidFill>
                  <a:srgbClr val="1E293B"/>
                </a:solidFill>
                <a:latin typeface="Calibri" pitchFamily="34" charset="0"/>
                <a:ea typeface="Calibri" pitchFamily="34" charset="-122"/>
                <a:cs typeface="Calibri" pitchFamily="34" charset="-120"/>
              </a:rPr>
              <a:t> directive instead sweeps a component value across a realistic range, generating roughly 51 independent transient runs per fault class, per circuit.</a:t>
            </a:r>
            <a:endParaRPr lang="en-US" sz="1300" dirty="0"/>
          </a:p>
        </p:txBody>
      </p:sp>
      <p:sp>
        <p:nvSpPr>
          <p:cNvPr id="5" name="Shape 3"/>
          <p:cNvSpPr/>
          <p:nvPr/>
        </p:nvSpPr>
        <p:spPr>
          <a:xfrm>
            <a:off x="502920" y="2606040"/>
            <a:ext cx="10607040" cy="530352"/>
          </a:xfrm>
          <a:prstGeom prst="roundRect">
            <a:avLst>
              <a:gd name="adj" fmla="val 10345"/>
            </a:avLst>
          </a:prstGeom>
          <a:solidFill>
            <a:srgbClr val="0B1F3A"/>
          </a:solidFill>
          <a:ln/>
        </p:spPr>
      </p:sp>
      <p:sp>
        <p:nvSpPr>
          <p:cNvPr id="6" name="Text 4"/>
          <p:cNvSpPr/>
          <p:nvPr/>
        </p:nvSpPr>
        <p:spPr>
          <a:xfrm>
            <a:off x="502920" y="2606040"/>
            <a:ext cx="2377440" cy="530352"/>
          </a:xfrm>
          <a:prstGeom prst="rect">
            <a:avLst/>
          </a:prstGeom>
          <a:noFill/>
          <a:ln/>
        </p:spPr>
        <p:txBody>
          <a:bodyPr wrap="square" lIns="0" tIns="17780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Circuit</a:t>
            </a:r>
            <a:endParaRPr lang="en-US" sz="1200" dirty="0"/>
          </a:p>
        </p:txBody>
      </p:sp>
      <p:sp>
        <p:nvSpPr>
          <p:cNvPr id="7" name="Text 5"/>
          <p:cNvSpPr/>
          <p:nvPr/>
        </p:nvSpPr>
        <p:spPr>
          <a:xfrm>
            <a:off x="2880360" y="2606040"/>
            <a:ext cx="5029200"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Normal / Drift sweep</a:t>
            </a:r>
            <a:endParaRPr lang="en-US" sz="1200" dirty="0"/>
          </a:p>
        </p:txBody>
      </p:sp>
      <p:sp>
        <p:nvSpPr>
          <p:cNvPr id="8" name="Text 6"/>
          <p:cNvSpPr/>
          <p:nvPr/>
        </p:nvSpPr>
        <p:spPr>
          <a:xfrm>
            <a:off x="7909560" y="2606040"/>
            <a:ext cx="3200400"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Fixed components</a:t>
            </a:r>
            <a:endParaRPr lang="en-US" sz="1200" dirty="0"/>
          </a:p>
        </p:txBody>
      </p:sp>
      <p:sp>
        <p:nvSpPr>
          <p:cNvPr id="9" name="Shape 7"/>
          <p:cNvSpPr/>
          <p:nvPr/>
        </p:nvSpPr>
        <p:spPr>
          <a:xfrm>
            <a:off x="502920" y="3136392"/>
            <a:ext cx="10607040" cy="530352"/>
          </a:xfrm>
          <a:prstGeom prst="rect">
            <a:avLst/>
          </a:prstGeom>
          <a:solidFill>
            <a:srgbClr val="FFFFFF"/>
          </a:solidFill>
          <a:ln w="9525">
            <a:solidFill>
              <a:srgbClr val="E4E9F1"/>
            </a:solidFill>
            <a:prstDash val="solid"/>
          </a:ln>
        </p:spPr>
      </p:sp>
      <p:sp>
        <p:nvSpPr>
          <p:cNvPr id="10" name="Text 8"/>
          <p:cNvSpPr/>
          <p:nvPr/>
        </p:nvSpPr>
        <p:spPr>
          <a:xfrm>
            <a:off x="502920" y="3136392"/>
            <a:ext cx="2377440" cy="530352"/>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RC</a:t>
            </a:r>
            <a:endParaRPr lang="en-US" sz="1200" dirty="0"/>
          </a:p>
        </p:txBody>
      </p:sp>
      <p:sp>
        <p:nvSpPr>
          <p:cNvPr id="11" name="Text 9"/>
          <p:cNvSpPr/>
          <p:nvPr/>
        </p:nvSpPr>
        <p:spPr>
          <a:xfrm>
            <a:off x="2880360" y="3136392"/>
            <a:ext cx="502920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R: 100 ohm -&gt; 10 kilohm</a:t>
            </a:r>
            <a:endParaRPr lang="en-US" sz="1200" dirty="0"/>
          </a:p>
        </p:txBody>
      </p:sp>
      <p:sp>
        <p:nvSpPr>
          <p:cNvPr id="12" name="Text 10"/>
          <p:cNvSpPr/>
          <p:nvPr/>
        </p:nvSpPr>
        <p:spPr>
          <a:xfrm>
            <a:off x="7909560" y="3136392"/>
            <a:ext cx="320040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C = 10 uF</a:t>
            </a:r>
            <a:endParaRPr lang="en-US" sz="1200" dirty="0"/>
          </a:p>
        </p:txBody>
      </p:sp>
      <p:sp>
        <p:nvSpPr>
          <p:cNvPr id="13" name="Shape 11"/>
          <p:cNvSpPr/>
          <p:nvPr/>
        </p:nvSpPr>
        <p:spPr>
          <a:xfrm>
            <a:off x="502920" y="3666744"/>
            <a:ext cx="10607040" cy="530352"/>
          </a:xfrm>
          <a:prstGeom prst="rect">
            <a:avLst/>
          </a:prstGeom>
          <a:solidFill>
            <a:srgbClr val="EEF2F7"/>
          </a:solidFill>
          <a:ln w="9525">
            <a:solidFill>
              <a:srgbClr val="E4E9F1"/>
            </a:solidFill>
            <a:prstDash val="solid"/>
          </a:ln>
        </p:spPr>
      </p:sp>
      <p:sp>
        <p:nvSpPr>
          <p:cNvPr id="14" name="Text 12"/>
          <p:cNvSpPr/>
          <p:nvPr/>
        </p:nvSpPr>
        <p:spPr>
          <a:xfrm>
            <a:off x="502920" y="3666744"/>
            <a:ext cx="2377440" cy="530352"/>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RLC</a:t>
            </a:r>
            <a:endParaRPr lang="en-US" sz="1200" dirty="0"/>
          </a:p>
        </p:txBody>
      </p:sp>
      <p:sp>
        <p:nvSpPr>
          <p:cNvPr id="15" name="Text 13"/>
          <p:cNvSpPr/>
          <p:nvPr/>
        </p:nvSpPr>
        <p:spPr>
          <a:xfrm>
            <a:off x="2880360" y="3666744"/>
            <a:ext cx="502920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L: 1 mH -&gt; 100 mH</a:t>
            </a:r>
            <a:endParaRPr lang="en-US" sz="1200" dirty="0"/>
          </a:p>
        </p:txBody>
      </p:sp>
      <p:sp>
        <p:nvSpPr>
          <p:cNvPr id="16" name="Text 14"/>
          <p:cNvSpPr/>
          <p:nvPr/>
        </p:nvSpPr>
        <p:spPr>
          <a:xfrm>
            <a:off x="7909560" y="3666744"/>
            <a:ext cx="320040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R = 10 ohm, C = 100 uF</a:t>
            </a:r>
            <a:endParaRPr lang="en-US" sz="1200" dirty="0"/>
          </a:p>
        </p:txBody>
      </p:sp>
      <p:sp>
        <p:nvSpPr>
          <p:cNvPr id="17" name="Shape 15"/>
          <p:cNvSpPr/>
          <p:nvPr/>
        </p:nvSpPr>
        <p:spPr>
          <a:xfrm>
            <a:off x="502920" y="4197096"/>
            <a:ext cx="10607040" cy="530352"/>
          </a:xfrm>
          <a:prstGeom prst="rect">
            <a:avLst/>
          </a:prstGeom>
          <a:solidFill>
            <a:srgbClr val="FFFFFF"/>
          </a:solidFill>
          <a:ln w="9525">
            <a:solidFill>
              <a:srgbClr val="E4E9F1"/>
            </a:solidFill>
            <a:prstDash val="solid"/>
          </a:ln>
        </p:spPr>
      </p:sp>
      <p:sp>
        <p:nvSpPr>
          <p:cNvPr id="18" name="Text 16"/>
          <p:cNvSpPr/>
          <p:nvPr/>
        </p:nvSpPr>
        <p:spPr>
          <a:xfrm>
            <a:off x="502920" y="4197096"/>
            <a:ext cx="2377440" cy="530352"/>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Sallen-Key</a:t>
            </a:r>
            <a:endParaRPr lang="en-US" sz="1200" dirty="0"/>
          </a:p>
        </p:txBody>
      </p:sp>
      <p:sp>
        <p:nvSpPr>
          <p:cNvPr id="19" name="Text 17"/>
          <p:cNvSpPr/>
          <p:nvPr/>
        </p:nvSpPr>
        <p:spPr>
          <a:xfrm>
            <a:off x="2880360" y="4197096"/>
            <a:ext cx="502920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R1=R2: 1 kilohm -&gt; 100 kilohm</a:t>
            </a:r>
            <a:endParaRPr lang="en-US" sz="1200" dirty="0"/>
          </a:p>
        </p:txBody>
      </p:sp>
      <p:sp>
        <p:nvSpPr>
          <p:cNvPr id="20" name="Text 18"/>
          <p:cNvSpPr/>
          <p:nvPr/>
        </p:nvSpPr>
        <p:spPr>
          <a:xfrm>
            <a:off x="7909560" y="4197096"/>
            <a:ext cx="320040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C1=C2 = 10 nF, +-15V supply</a:t>
            </a:r>
            <a:endParaRPr lang="en-US" sz="1200" dirty="0"/>
          </a:p>
        </p:txBody>
      </p:sp>
      <p:sp>
        <p:nvSpPr>
          <p:cNvPr id="21" name="Shape 19"/>
          <p:cNvSpPr/>
          <p:nvPr/>
        </p:nvSpPr>
        <p:spPr>
          <a:xfrm>
            <a:off x="502920" y="4727448"/>
            <a:ext cx="10607040" cy="530352"/>
          </a:xfrm>
          <a:prstGeom prst="rect">
            <a:avLst/>
          </a:prstGeom>
          <a:solidFill>
            <a:srgbClr val="EEF2F7"/>
          </a:solidFill>
          <a:ln w="9525">
            <a:solidFill>
              <a:srgbClr val="E4E9F1"/>
            </a:solidFill>
            <a:prstDash val="solid"/>
          </a:ln>
        </p:spPr>
      </p:sp>
      <p:sp>
        <p:nvSpPr>
          <p:cNvPr id="22" name="Text 20"/>
          <p:cNvSpPr/>
          <p:nvPr/>
        </p:nvSpPr>
        <p:spPr>
          <a:xfrm>
            <a:off x="502920" y="4727448"/>
            <a:ext cx="2377440" cy="530352"/>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RC Ladder</a:t>
            </a:r>
            <a:endParaRPr lang="en-US" sz="1200" dirty="0"/>
          </a:p>
        </p:txBody>
      </p:sp>
      <p:sp>
        <p:nvSpPr>
          <p:cNvPr id="23" name="Text 21"/>
          <p:cNvSpPr/>
          <p:nvPr/>
        </p:nvSpPr>
        <p:spPr>
          <a:xfrm>
            <a:off x="2880360" y="4727448"/>
            <a:ext cx="502920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R1=R2: 100 ohm -&gt; 10 kilohm</a:t>
            </a:r>
            <a:endParaRPr lang="en-US" sz="1200" dirty="0"/>
          </a:p>
        </p:txBody>
      </p:sp>
      <p:sp>
        <p:nvSpPr>
          <p:cNvPr id="24" name="Text 22"/>
          <p:cNvSpPr/>
          <p:nvPr/>
        </p:nvSpPr>
        <p:spPr>
          <a:xfrm>
            <a:off x="7909560" y="4727448"/>
            <a:ext cx="320040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C1=C2 = 10 uF</a:t>
            </a:r>
            <a:endParaRPr lang="en-US" sz="1200" dirty="0"/>
          </a:p>
        </p:txBody>
      </p:sp>
      <p:sp>
        <p:nvSpPr>
          <p:cNvPr id="25" name="Shape 23"/>
          <p:cNvSpPr/>
          <p:nvPr/>
        </p:nvSpPr>
        <p:spPr>
          <a:xfrm>
            <a:off x="502920" y="5257800"/>
            <a:ext cx="10607040" cy="640080"/>
          </a:xfrm>
          <a:prstGeom prst="roundRect">
            <a:avLst>
              <a:gd name="adj" fmla="val 11429"/>
            </a:avLst>
          </a:prstGeom>
          <a:solidFill>
            <a:srgbClr val="0B1F3A"/>
          </a:solidFill>
          <a:ln/>
          <a:effectLst>
            <a:outerShdw sx="100000" sy="100000" kx="0" ky="0" algn="bl" rotWithShape="0" blurRad="114300" dist="38100" dir="2700000">
              <a:srgbClr val="0B1F3A">
                <a:alpha val="14000"/>
              </a:srgbClr>
            </a:outerShdw>
          </a:effectLst>
        </p:spPr>
      </p:sp>
      <p:sp>
        <p:nvSpPr>
          <p:cNvPr id="26" name="Text 24"/>
          <p:cNvSpPr/>
          <p:nvPr/>
        </p:nvSpPr>
        <p:spPr>
          <a:xfrm>
            <a:off x="502920" y="5257800"/>
            <a:ext cx="10607040" cy="640080"/>
          </a:xfrm>
          <a:prstGeom prst="rect">
            <a:avLst/>
          </a:prstGeom>
          <a:noFill/>
          <a:ln/>
        </p:spPr>
        <p:txBody>
          <a:bodyPr wrap="square" lIns="0" tIns="0" rIns="0" bIns="0" rtlCol="0" anchor="ctr"/>
          <a:lstStyle/>
          <a:p>
            <a:pPr algn="ctr" indent="0" marL="0">
              <a:buNone/>
            </a:pPr>
            <a:r>
              <a:rPr lang="en-US" sz="1300" b="1" dirty="0">
                <a:solidFill>
                  <a:srgbClr val="FFB703"/>
                </a:solidFill>
                <a:latin typeface="Calibri" pitchFamily="34" charset="0"/>
                <a:ea typeface="Calibri" pitchFamily="34" charset="-122"/>
                <a:cs typeface="Calibri" pitchFamily="34" charset="-120"/>
              </a:rPr>
              <a:t>~51 sweep steps x 4 circuits x 5 faults =~ 1,019 total samples</a:t>
            </a:r>
            <a:endParaRPr lang="en-US" sz="1300" dirty="0"/>
          </a:p>
        </p:txBody>
      </p:sp>
      <p:sp>
        <p:nvSpPr>
          <p:cNvPr id="27" name="Text 2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8" name="Text 2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3. DATA PIPELINE · STEP 2</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How Each Fault Is Modeled in LTspice</a:t>
            </a:r>
            <a:endParaRPr lang="en-US" sz="3000" dirty="0"/>
          </a:p>
        </p:txBody>
      </p:sp>
      <p:sp>
        <p:nvSpPr>
          <p:cNvPr id="4" name="Shape 2"/>
          <p:cNvSpPr/>
          <p:nvPr/>
        </p:nvSpPr>
        <p:spPr>
          <a:xfrm>
            <a:off x="502920" y="1828800"/>
            <a:ext cx="10607040" cy="530352"/>
          </a:xfrm>
          <a:prstGeom prst="roundRect">
            <a:avLst>
              <a:gd name="adj" fmla="val 10345"/>
            </a:avLst>
          </a:prstGeom>
          <a:solidFill>
            <a:srgbClr val="0B1F3A"/>
          </a:solidFill>
          <a:ln/>
        </p:spPr>
      </p:sp>
      <p:sp>
        <p:nvSpPr>
          <p:cNvPr id="5" name="Text 3"/>
          <p:cNvSpPr/>
          <p:nvPr/>
        </p:nvSpPr>
        <p:spPr>
          <a:xfrm>
            <a:off x="502920" y="1828800"/>
            <a:ext cx="1554480" cy="530352"/>
          </a:xfrm>
          <a:prstGeom prst="rect">
            <a:avLst/>
          </a:prstGeom>
          <a:noFill/>
          <a:ln/>
        </p:spPr>
        <p:txBody>
          <a:bodyPr wrap="square" lIns="0" tIns="17780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Fault</a:t>
            </a:r>
            <a:endParaRPr lang="en-US" sz="1200" dirty="0"/>
          </a:p>
        </p:txBody>
      </p:sp>
      <p:sp>
        <p:nvSpPr>
          <p:cNvPr id="6" name="Text 4"/>
          <p:cNvSpPr/>
          <p:nvPr/>
        </p:nvSpPr>
        <p:spPr>
          <a:xfrm>
            <a:off x="2057400" y="1828800"/>
            <a:ext cx="5760720"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Modeling mechanism</a:t>
            </a:r>
            <a:endParaRPr lang="en-US" sz="1200" dirty="0"/>
          </a:p>
        </p:txBody>
      </p:sp>
      <p:sp>
        <p:nvSpPr>
          <p:cNvPr id="7" name="Text 5"/>
          <p:cNvSpPr/>
          <p:nvPr/>
        </p:nvSpPr>
        <p:spPr>
          <a:xfrm>
            <a:off x="7818120" y="1828800"/>
            <a:ext cx="3291840"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Concretely (RC example)</a:t>
            </a:r>
            <a:endParaRPr lang="en-US" sz="1200" dirty="0"/>
          </a:p>
        </p:txBody>
      </p:sp>
      <p:sp>
        <p:nvSpPr>
          <p:cNvPr id="8" name="Shape 6"/>
          <p:cNvSpPr/>
          <p:nvPr/>
        </p:nvSpPr>
        <p:spPr>
          <a:xfrm>
            <a:off x="502920" y="2359152"/>
            <a:ext cx="10607040" cy="530352"/>
          </a:xfrm>
          <a:prstGeom prst="rect">
            <a:avLst/>
          </a:prstGeom>
          <a:solidFill>
            <a:srgbClr val="FFFFFF"/>
          </a:solidFill>
          <a:ln w="9525">
            <a:solidFill>
              <a:srgbClr val="E4E9F1"/>
            </a:solidFill>
            <a:prstDash val="solid"/>
          </a:ln>
        </p:spPr>
      </p:sp>
      <p:sp>
        <p:nvSpPr>
          <p:cNvPr id="9" name="Text 7"/>
          <p:cNvSpPr/>
          <p:nvPr/>
        </p:nvSpPr>
        <p:spPr>
          <a:xfrm>
            <a:off x="502920" y="2359152"/>
            <a:ext cx="1554480" cy="530352"/>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Normal</a:t>
            </a:r>
            <a:endParaRPr lang="en-US" sz="1200" dirty="0"/>
          </a:p>
        </p:txBody>
      </p:sp>
      <p:sp>
        <p:nvSpPr>
          <p:cNvPr id="10" name="Text 8"/>
          <p:cNvSpPr/>
          <p:nvPr/>
        </p:nvSpPr>
        <p:spPr>
          <a:xfrm>
            <a:off x="2057400" y="2359152"/>
            <a:ext cx="576072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Component at nominal design value, swept across a healthy range</a:t>
            </a:r>
            <a:endParaRPr lang="en-US" sz="1200" dirty="0"/>
          </a:p>
        </p:txBody>
      </p:sp>
      <p:sp>
        <p:nvSpPr>
          <p:cNvPr id="11" name="Text 9"/>
          <p:cNvSpPr/>
          <p:nvPr/>
        </p:nvSpPr>
        <p:spPr>
          <a:xfrm>
            <a:off x="7818120" y="2359152"/>
            <a:ext cx="329184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R: 100 ohm -&gt; 10 kilohm</a:t>
            </a:r>
            <a:endParaRPr lang="en-US" sz="1200" dirty="0"/>
          </a:p>
        </p:txBody>
      </p:sp>
      <p:sp>
        <p:nvSpPr>
          <p:cNvPr id="12" name="Shape 10"/>
          <p:cNvSpPr/>
          <p:nvPr/>
        </p:nvSpPr>
        <p:spPr>
          <a:xfrm>
            <a:off x="502920" y="2889504"/>
            <a:ext cx="10607040" cy="530352"/>
          </a:xfrm>
          <a:prstGeom prst="rect">
            <a:avLst/>
          </a:prstGeom>
          <a:solidFill>
            <a:srgbClr val="EEF2F7"/>
          </a:solidFill>
          <a:ln w="9525">
            <a:solidFill>
              <a:srgbClr val="E4E9F1"/>
            </a:solidFill>
            <a:prstDash val="solid"/>
          </a:ln>
        </p:spPr>
      </p:sp>
      <p:sp>
        <p:nvSpPr>
          <p:cNvPr id="13" name="Text 11"/>
          <p:cNvSpPr/>
          <p:nvPr/>
        </p:nvSpPr>
        <p:spPr>
          <a:xfrm>
            <a:off x="502920" y="2889504"/>
            <a:ext cx="1554480" cy="530352"/>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Drift</a:t>
            </a:r>
            <a:endParaRPr lang="en-US" sz="1200" dirty="0"/>
          </a:p>
        </p:txBody>
      </p:sp>
      <p:sp>
        <p:nvSpPr>
          <p:cNvPr id="14" name="Text 12"/>
          <p:cNvSpPr/>
          <p:nvPr/>
        </p:nvSpPr>
        <p:spPr>
          <a:xfrm>
            <a:off x="2057400" y="2889504"/>
            <a:ext cx="576072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Same component, same wide sweep — treated as the healthy range itself</a:t>
            </a:r>
            <a:endParaRPr lang="en-US" sz="1200" dirty="0"/>
          </a:p>
        </p:txBody>
      </p:sp>
      <p:sp>
        <p:nvSpPr>
          <p:cNvPr id="15" name="Text 13"/>
          <p:cNvSpPr/>
          <p:nvPr/>
        </p:nvSpPr>
        <p:spPr>
          <a:xfrm>
            <a:off x="7818120" y="2889504"/>
            <a:ext cx="329184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R: 100 ohm -&gt; 10 kilohm</a:t>
            </a:r>
            <a:endParaRPr lang="en-US" sz="1200" dirty="0"/>
          </a:p>
        </p:txBody>
      </p:sp>
      <p:sp>
        <p:nvSpPr>
          <p:cNvPr id="16" name="Shape 14"/>
          <p:cNvSpPr/>
          <p:nvPr/>
        </p:nvSpPr>
        <p:spPr>
          <a:xfrm>
            <a:off x="502920" y="3419856"/>
            <a:ext cx="10607040" cy="530352"/>
          </a:xfrm>
          <a:prstGeom prst="rect">
            <a:avLst/>
          </a:prstGeom>
          <a:solidFill>
            <a:srgbClr val="FFFFFF"/>
          </a:solidFill>
          <a:ln w="9525">
            <a:solidFill>
              <a:srgbClr val="E4E9F1"/>
            </a:solidFill>
            <a:prstDash val="solid"/>
          </a:ln>
        </p:spPr>
      </p:sp>
      <p:sp>
        <p:nvSpPr>
          <p:cNvPr id="17" name="Text 15"/>
          <p:cNvSpPr/>
          <p:nvPr/>
        </p:nvSpPr>
        <p:spPr>
          <a:xfrm>
            <a:off x="502920" y="3419856"/>
            <a:ext cx="1554480" cy="530352"/>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Open</a:t>
            </a:r>
            <a:endParaRPr lang="en-US" sz="1200" dirty="0"/>
          </a:p>
        </p:txBody>
      </p:sp>
      <p:sp>
        <p:nvSpPr>
          <p:cNvPr id="18" name="Text 16"/>
          <p:cNvSpPr/>
          <p:nvPr/>
        </p:nvSpPr>
        <p:spPr>
          <a:xfrm>
            <a:off x="2057400" y="3419856"/>
            <a:ext cx="576072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Affected resistor swept toward near-infinite resistance</a:t>
            </a:r>
            <a:endParaRPr lang="en-US" sz="1200" dirty="0"/>
          </a:p>
        </p:txBody>
      </p:sp>
      <p:sp>
        <p:nvSpPr>
          <p:cNvPr id="19" name="Text 17"/>
          <p:cNvSpPr/>
          <p:nvPr/>
        </p:nvSpPr>
        <p:spPr>
          <a:xfrm>
            <a:off x="7818120" y="3419856"/>
            <a:ext cx="329184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R: 1 megaohm -&gt; 1 gigaohm</a:t>
            </a:r>
            <a:endParaRPr lang="en-US" sz="1200" dirty="0"/>
          </a:p>
        </p:txBody>
      </p:sp>
      <p:sp>
        <p:nvSpPr>
          <p:cNvPr id="20" name="Shape 18"/>
          <p:cNvSpPr/>
          <p:nvPr/>
        </p:nvSpPr>
        <p:spPr>
          <a:xfrm>
            <a:off x="502920" y="3950208"/>
            <a:ext cx="10607040" cy="530352"/>
          </a:xfrm>
          <a:prstGeom prst="rect">
            <a:avLst/>
          </a:prstGeom>
          <a:solidFill>
            <a:srgbClr val="EEF2F7"/>
          </a:solidFill>
          <a:ln w="9525">
            <a:solidFill>
              <a:srgbClr val="E4E9F1"/>
            </a:solidFill>
            <a:prstDash val="solid"/>
          </a:ln>
        </p:spPr>
      </p:sp>
      <p:sp>
        <p:nvSpPr>
          <p:cNvPr id="21" name="Text 19"/>
          <p:cNvSpPr/>
          <p:nvPr/>
        </p:nvSpPr>
        <p:spPr>
          <a:xfrm>
            <a:off x="502920" y="3950208"/>
            <a:ext cx="1554480" cy="530352"/>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Short</a:t>
            </a:r>
            <a:endParaRPr lang="en-US" sz="1200" dirty="0"/>
          </a:p>
        </p:txBody>
      </p:sp>
      <p:sp>
        <p:nvSpPr>
          <p:cNvPr id="22" name="Text 20"/>
          <p:cNvSpPr/>
          <p:nvPr/>
        </p:nvSpPr>
        <p:spPr>
          <a:xfrm>
            <a:off x="2057400" y="3950208"/>
            <a:ext cx="576072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Affected reactive component swept toward its opposite extreme</a:t>
            </a:r>
            <a:endParaRPr lang="en-US" sz="1200" dirty="0"/>
          </a:p>
        </p:txBody>
      </p:sp>
      <p:sp>
        <p:nvSpPr>
          <p:cNvPr id="23" name="Text 21"/>
          <p:cNvSpPr/>
          <p:nvPr/>
        </p:nvSpPr>
        <p:spPr>
          <a:xfrm>
            <a:off x="7818120" y="3950208"/>
            <a:ext cx="329184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C: 0.1 pF -&gt; 10 pF</a:t>
            </a:r>
            <a:endParaRPr lang="en-US" sz="1200" dirty="0"/>
          </a:p>
        </p:txBody>
      </p:sp>
      <p:sp>
        <p:nvSpPr>
          <p:cNvPr id="24" name="Shape 22"/>
          <p:cNvSpPr/>
          <p:nvPr/>
        </p:nvSpPr>
        <p:spPr>
          <a:xfrm>
            <a:off x="502920" y="4480560"/>
            <a:ext cx="10607040" cy="530352"/>
          </a:xfrm>
          <a:prstGeom prst="rect">
            <a:avLst/>
          </a:prstGeom>
          <a:solidFill>
            <a:srgbClr val="FFFFFF"/>
          </a:solidFill>
          <a:ln w="9525">
            <a:solidFill>
              <a:srgbClr val="E4E9F1"/>
            </a:solidFill>
            <a:prstDash val="solid"/>
          </a:ln>
        </p:spPr>
      </p:sp>
      <p:sp>
        <p:nvSpPr>
          <p:cNvPr id="25" name="Text 23"/>
          <p:cNvSpPr/>
          <p:nvPr/>
        </p:nvSpPr>
        <p:spPr>
          <a:xfrm>
            <a:off x="502920" y="4480560"/>
            <a:ext cx="1554480" cy="530352"/>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Noise</a:t>
            </a:r>
            <a:endParaRPr lang="en-US" sz="1200" dirty="0"/>
          </a:p>
        </p:txBody>
      </p:sp>
      <p:sp>
        <p:nvSpPr>
          <p:cNvPr id="26" name="Text 24"/>
          <p:cNvSpPr/>
          <p:nvPr/>
        </p:nvSpPr>
        <p:spPr>
          <a:xfrm>
            <a:off x="2057400" y="4480560"/>
            <a:ext cx="576072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Gaussian noise added post-hoc to normal waveforms, not simulated in LTspice</a:t>
            </a:r>
            <a:endParaRPr lang="en-US" sz="1200" dirty="0"/>
          </a:p>
        </p:txBody>
      </p:sp>
      <p:sp>
        <p:nvSpPr>
          <p:cNvPr id="27" name="Text 25"/>
          <p:cNvSpPr/>
          <p:nvPr/>
        </p:nvSpPr>
        <p:spPr>
          <a:xfrm>
            <a:off x="7818120" y="4480560"/>
            <a:ext cx="329184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SNR = 25 dB, seed = 42</a:t>
            </a:r>
            <a:endParaRPr lang="en-US" sz="1200" dirty="0"/>
          </a:p>
        </p:txBody>
      </p:sp>
      <p:sp>
        <p:nvSpPr>
          <p:cNvPr id="28" name="Text 2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9" name="Text 2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3. DATA PIPELINE · STEP 2</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From LTspice Output to a Clean Dataset</a:t>
            </a:r>
            <a:endParaRPr lang="en-US" sz="3000" dirty="0"/>
          </a:p>
        </p:txBody>
      </p:sp>
      <p:sp>
        <p:nvSpPr>
          <p:cNvPr id="4" name="Text 2"/>
          <p:cNvSpPr/>
          <p:nvPr/>
        </p:nvSpPr>
        <p:spPr>
          <a:xfrm>
            <a:off x="502920" y="1737360"/>
            <a:ext cx="10607040" cy="685800"/>
          </a:xfrm>
          <a:prstGeom prst="rect">
            <a:avLst/>
          </a:prstGeom>
          <a:noFill/>
          <a:ln/>
        </p:spPr>
        <p:txBody>
          <a:bodyPr wrap="square" lIns="0" tIns="0" rIns="0" bIns="0" rtlCol="0" anchor="ctr"/>
          <a:lstStyle/>
          <a:p>
            <a:pPr indent="0" marL="0">
              <a:lnSpc>
                <a:spcPct val="125000"/>
              </a:lnSpc>
              <a:buNone/>
            </a:pPr>
            <a:r>
              <a:rPr lang="en-US" sz="1250" dirty="0">
                <a:solidFill>
                  <a:srgbClr val="1E293B"/>
                </a:solidFill>
                <a:latin typeface="Calibri" pitchFamily="34" charset="0"/>
                <a:ea typeface="Calibri" pitchFamily="34" charset="-122"/>
                <a:cs typeface="Calibri" pitchFamily="34" charset="-120"/>
              </a:rPr>
              <a:t>Each .step sweep produces one exported text file containing dozens of stacked runs. A parser walks the file, splits it back into individual runs, and resamples every run onto a common 200-point time grid:</a:t>
            </a:r>
            <a:endParaRPr lang="en-US" sz="1250" dirty="0"/>
          </a:p>
        </p:txBody>
      </p:sp>
      <p:sp>
        <p:nvSpPr>
          <p:cNvPr id="5" name="Shape 3"/>
          <p:cNvSpPr/>
          <p:nvPr/>
        </p:nvSpPr>
        <p:spPr>
          <a:xfrm>
            <a:off x="502920" y="2514600"/>
            <a:ext cx="10607040" cy="2331720"/>
          </a:xfrm>
          <a:prstGeom prst="roundRect">
            <a:avLst>
              <a:gd name="adj" fmla="val 3137"/>
            </a:avLst>
          </a:prstGeom>
          <a:solidFill>
            <a:srgbClr val="0B1F3A"/>
          </a:solidFill>
          <a:ln/>
          <a:effectLst>
            <a:outerShdw sx="100000" sy="100000" kx="0" ky="0" algn="bl" rotWithShape="0" blurRad="114300" dist="38100" dir="2700000">
              <a:srgbClr val="0B1F3A">
                <a:alpha val="14000"/>
              </a:srgbClr>
            </a:outerShdw>
          </a:effectLst>
        </p:spPr>
      </p:sp>
      <p:sp>
        <p:nvSpPr>
          <p:cNvPr id="6" name="Text 4"/>
          <p:cNvSpPr/>
          <p:nvPr/>
        </p:nvSpPr>
        <p:spPr>
          <a:xfrm>
            <a:off x="777240" y="2651760"/>
            <a:ext cx="10058400" cy="2057400"/>
          </a:xfrm>
          <a:prstGeom prst="rect">
            <a:avLst/>
          </a:prstGeom>
          <a:noFill/>
          <a:ln/>
        </p:spPr>
        <p:txBody>
          <a:bodyPr wrap="square" lIns="0" tIns="0" rIns="0" bIns="0" rtlCol="0" anchor="ctr"/>
          <a:lstStyle/>
          <a:p>
            <a:pPr algn="l" indent="0" marL="0">
              <a:lnSpc>
                <a:spcPct val="140000"/>
              </a:lnSpc>
              <a:buNone/>
            </a:pPr>
            <a:r>
              <a:rPr lang="en-US" sz="1300" dirty="0">
                <a:solidFill>
                  <a:srgbClr val="E7ECF4"/>
                </a:solidFill>
                <a:latin typeface="Courier New" pitchFamily="34" charset="0"/>
                <a:ea typeface="Courier New" pitchFamily="34" charset="-122"/>
                <a:cs typeface="Courier New" pitchFamily="34" charset="-120"/>
              </a:rPr>
              <a:t>for line in file:</a:t>
            </a:r>
            <a:endParaRPr lang="en-US" sz="1300" dirty="0"/>
          </a:p>
          <a:p>
            <a:pPr algn="l" indent="0" marL="0">
              <a:lnSpc>
                <a:spcPct val="140000"/>
              </a:lnSpc>
              <a:buNone/>
            </a:pPr>
            <a:r>
              <a:rPr lang="en-US" sz="1300" dirty="0">
                <a:solidFill>
                  <a:srgbClr val="E7ECF4"/>
                </a:solidFill>
                <a:latin typeface="Courier New" pitchFamily="34" charset="0"/>
                <a:ea typeface="Courier New" pitchFamily="34" charset="-122"/>
                <a:cs typeface="Courier New" pitchFamily="34" charset="-120"/>
              </a:rPr>
              <a:t>    if line starts with "Step Information": start new run</a:t>
            </a:r>
            <a:endParaRPr lang="en-US" sz="1300" dirty="0"/>
          </a:p>
          <a:p>
            <a:pPr algn="l" indent="0" marL="0">
              <a:lnSpc>
                <a:spcPct val="140000"/>
              </a:lnSpc>
              <a:buNone/>
            </a:pPr>
            <a:r>
              <a:rPr lang="en-US" sz="1300" dirty="0">
                <a:solidFill>
                  <a:srgbClr val="E7ECF4"/>
                </a:solidFill>
                <a:latin typeface="Courier New" pitchFamily="34" charset="0"/>
                <a:ea typeface="Courier New" pitchFamily="34" charset="-122"/>
                <a:cs typeface="Courier New" pitchFamily="34" charset="-120"/>
              </a:rPr>
              <a:t>    else: accumulate (time, voltage) pairs</a:t>
            </a:r>
            <a:endParaRPr lang="en-US" sz="1300" dirty="0"/>
          </a:p>
          <a:p>
            <a:pPr algn="l" indent="0" marL="0">
              <a:lnSpc>
                <a:spcPct val="140000"/>
              </a:lnSpc>
              <a:buNone/>
            </a:pPr>
            <a:endParaRPr lang="en-US" sz="1300" dirty="0"/>
          </a:p>
          <a:p>
            <a:pPr algn="l" indent="0" marL="0">
              <a:lnSpc>
                <a:spcPct val="140000"/>
              </a:lnSpc>
              <a:buNone/>
            </a:pPr>
            <a:r>
              <a:rPr lang="en-US" sz="1300" dirty="0">
                <a:solidFill>
                  <a:srgbClr val="E7ECF4"/>
                </a:solidFill>
                <a:latin typeface="Courier New" pitchFamily="34" charset="0"/>
                <a:ea typeface="Courier New" pitchFamily="34" charset="-122"/>
                <a:cs typeface="Courier New" pitchFamily="34" charset="-120"/>
              </a:rPr>
              <a:t>resample(t, v, t_end, n=200):</a:t>
            </a:r>
            <a:endParaRPr lang="en-US" sz="1300" dirty="0"/>
          </a:p>
          <a:p>
            <a:pPr algn="l" indent="0" marL="0">
              <a:lnSpc>
                <a:spcPct val="140000"/>
              </a:lnSpc>
              <a:buNone/>
            </a:pPr>
            <a:r>
              <a:rPr lang="en-US" sz="1300" dirty="0">
                <a:solidFill>
                  <a:srgbClr val="E7ECF4"/>
                </a:solidFill>
                <a:latin typeface="Courier New" pitchFamily="34" charset="0"/>
                <a:ea typeface="Courier New" pitchFamily="34" charset="-122"/>
                <a:cs typeface="Courier New" pitchFamily="34" charset="-120"/>
              </a:rPr>
              <a:t>    grid = linspace(0, t_end, 200)</a:t>
            </a:r>
            <a:endParaRPr lang="en-US" sz="1300" dirty="0"/>
          </a:p>
          <a:p>
            <a:pPr algn="l" indent="0" marL="0">
              <a:lnSpc>
                <a:spcPct val="140000"/>
              </a:lnSpc>
              <a:buNone/>
            </a:pPr>
            <a:r>
              <a:rPr lang="en-US" sz="1300" dirty="0">
                <a:solidFill>
                  <a:srgbClr val="E7ECF4"/>
                </a:solidFill>
                <a:latin typeface="Courier New" pitchFamily="34" charset="0"/>
                <a:ea typeface="Courier New" pitchFamily="34" charset="-122"/>
                <a:cs typeface="Courier New" pitchFamily="34" charset="-120"/>
              </a:rPr>
              <a:t>    return interp1d(t, v)(grid)   # uniform length for every sample</a:t>
            </a:r>
            <a:endParaRPr lang="en-US" sz="1300" dirty="0"/>
          </a:p>
        </p:txBody>
      </p:sp>
      <p:sp>
        <p:nvSpPr>
          <p:cNvPr id="7" name="Text 5"/>
          <p:cNvSpPr/>
          <p:nvPr/>
        </p:nvSpPr>
        <p:spPr>
          <a:xfrm>
            <a:off x="502920" y="5029200"/>
            <a:ext cx="10607040" cy="457200"/>
          </a:xfrm>
          <a:prstGeom prst="rect">
            <a:avLst/>
          </a:prstGeom>
          <a:noFill/>
          <a:ln/>
        </p:spPr>
        <p:txBody>
          <a:bodyPr wrap="square" lIns="0" tIns="0" rIns="0" bIns="0" rtlCol="0" anchor="ctr"/>
          <a:lstStyle/>
          <a:p>
            <a:pPr indent="0" marL="0">
              <a:lnSpc>
                <a:spcPct val="120000"/>
              </a:lnSpc>
              <a:buNone/>
            </a:pPr>
            <a:r>
              <a:rPr lang="en-US" sz="1150" i="1" dirty="0">
                <a:solidFill>
                  <a:srgbClr val="64748B"/>
                </a:solidFill>
                <a:latin typeface="Calibri" pitchFamily="34" charset="0"/>
                <a:ea typeface="Calibri" pitchFamily="34" charset="-122"/>
                <a:cs typeface="Calibri" pitchFamily="34" charset="-120"/>
              </a:rPr>
              <a:t>This turns dozens of variable-length LTspice runs into one uniform, ML-ready table of 200 voltage points per sample.</a:t>
            </a:r>
            <a:endParaRPr lang="en-US" sz="115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3. DATA PIPELINE · STEP 3</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A Look at the Raw Dataset: master_dataset_sweep.csv</a:t>
            </a:r>
            <a:endParaRPr lang="en-US" sz="3000" dirty="0"/>
          </a:p>
        </p:txBody>
      </p:sp>
      <p:sp>
        <p:nvSpPr>
          <p:cNvPr id="4" name="Text 2"/>
          <p:cNvSpPr/>
          <p:nvPr/>
        </p:nvSpPr>
        <p:spPr>
          <a:xfrm>
            <a:off x="502920" y="1691640"/>
            <a:ext cx="10607040" cy="777240"/>
          </a:xfrm>
          <a:prstGeom prst="rect">
            <a:avLst/>
          </a:prstGeom>
          <a:noFill/>
          <a:ln/>
        </p:spPr>
        <p:txBody>
          <a:bodyPr wrap="square" lIns="0" tIns="0" rIns="0" bIns="0" rtlCol="0" anchor="ctr"/>
          <a:lstStyle/>
          <a:p>
            <a:pPr indent="0" marL="0">
              <a:lnSpc>
                <a:spcPct val="128000"/>
              </a:lnSpc>
              <a:buNone/>
            </a:pPr>
            <a:r>
              <a:rPr lang="en-US" sz="1250" dirty="0">
                <a:solidFill>
                  <a:srgbClr val="1E293B"/>
                </a:solidFill>
                <a:latin typeface="Calibri" pitchFamily="34" charset="0"/>
                <a:ea typeface="Calibri" pitchFamily="34" charset="-122"/>
                <a:cs typeface="Calibri" pitchFamily="34" charset="-120"/>
              </a:rPr>
              <a:t>Every LTspice sweep run becomes one row: a circuit label, a fault label, the swept parameter value, and </a:t>
            </a:r>
            <a:pPr indent="0" marL="0">
              <a:lnSpc>
                <a:spcPct val="128000"/>
              </a:lnSpc>
              <a:buNone/>
            </a:pPr>
            <a:r>
              <a:rPr lang="en-US" sz="1250" b="1" dirty="0">
                <a:solidFill>
                  <a:srgbClr val="0B1F3A"/>
                </a:solidFill>
                <a:latin typeface="Calibri" pitchFamily="34" charset="0"/>
                <a:ea typeface="Calibri" pitchFamily="34" charset="-122"/>
                <a:cs typeface="Calibri" pitchFamily="34" charset="-120"/>
              </a:rPr>
              <a:t>200 raw voltage samples</a:t>
            </a:r>
            <a:pPr indent="0" marL="0">
              <a:lnSpc>
                <a:spcPct val="128000"/>
              </a:lnSpc>
              <a:buNone/>
            </a:pPr>
            <a:r>
              <a:rPr lang="en-US" sz="1250" dirty="0">
                <a:solidFill>
                  <a:srgbClr val="1E293B"/>
                </a:solidFill>
                <a:latin typeface="Calibri" pitchFamily="34" charset="0"/>
                <a:ea typeface="Calibri" pitchFamily="34" charset="-122"/>
                <a:cs typeface="Calibri" pitchFamily="34" charset="-120"/>
              </a:rPr>
              <a:t> (v0 ... v199) tracing the full transient response. This is the direct, unprocessed output of Step 2 — nothing has been engineered yet.</a:t>
            </a:r>
            <a:endParaRPr lang="en-US" sz="1250" dirty="0"/>
          </a:p>
        </p:txBody>
      </p:sp>
      <p:sp>
        <p:nvSpPr>
          <p:cNvPr id="5" name="Shape 3"/>
          <p:cNvSpPr/>
          <p:nvPr/>
        </p:nvSpPr>
        <p:spPr>
          <a:xfrm>
            <a:off x="502920" y="2606040"/>
            <a:ext cx="10607040" cy="512064"/>
          </a:xfrm>
          <a:prstGeom prst="roundRect">
            <a:avLst>
              <a:gd name="adj" fmla="val 10714"/>
            </a:avLst>
          </a:prstGeom>
          <a:solidFill>
            <a:srgbClr val="0B1F3A"/>
          </a:solidFill>
          <a:ln/>
        </p:spPr>
      </p:sp>
      <p:sp>
        <p:nvSpPr>
          <p:cNvPr id="6" name="Text 4"/>
          <p:cNvSpPr/>
          <p:nvPr/>
        </p:nvSpPr>
        <p:spPr>
          <a:xfrm>
            <a:off x="502920" y="2606040"/>
            <a:ext cx="731520" cy="512064"/>
          </a:xfrm>
          <a:prstGeom prst="rect">
            <a:avLst/>
          </a:prstGeom>
          <a:noFill/>
          <a:ln/>
        </p:spPr>
        <p:txBody>
          <a:bodyPr wrap="square" lIns="0" tIns="177800" rIns="0" bIns="0" rtlCol="0" anchor="ctr"/>
          <a:lstStyle/>
          <a:p>
            <a:pPr algn="l" indent="0" marL="0">
              <a:buNone/>
            </a:pPr>
            <a:r>
              <a:rPr lang="en-US" sz="1050" b="1" dirty="0">
                <a:solidFill>
                  <a:srgbClr val="FFFFFF"/>
                </a:solidFill>
                <a:latin typeface="Calibri" pitchFamily="34" charset="0"/>
                <a:ea typeface="Calibri" pitchFamily="34" charset="-122"/>
                <a:cs typeface="Calibri" pitchFamily="34" charset="-120"/>
              </a:rPr>
              <a:t>id</a:t>
            </a:r>
            <a:endParaRPr lang="en-US" sz="1050" dirty="0"/>
          </a:p>
        </p:txBody>
      </p:sp>
      <p:sp>
        <p:nvSpPr>
          <p:cNvPr id="7" name="Text 5"/>
          <p:cNvSpPr/>
          <p:nvPr/>
        </p:nvSpPr>
        <p:spPr>
          <a:xfrm>
            <a:off x="1234440" y="2606040"/>
            <a:ext cx="1280160"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circuit</a:t>
            </a:r>
            <a:endParaRPr lang="en-US" sz="1050" dirty="0"/>
          </a:p>
        </p:txBody>
      </p:sp>
      <p:sp>
        <p:nvSpPr>
          <p:cNvPr id="8" name="Text 6"/>
          <p:cNvSpPr/>
          <p:nvPr/>
        </p:nvSpPr>
        <p:spPr>
          <a:xfrm>
            <a:off x="2514600" y="2606040"/>
            <a:ext cx="1188720"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fault</a:t>
            </a:r>
            <a:endParaRPr lang="en-US" sz="1050" dirty="0"/>
          </a:p>
        </p:txBody>
      </p:sp>
      <p:sp>
        <p:nvSpPr>
          <p:cNvPr id="9" name="Text 7"/>
          <p:cNvSpPr/>
          <p:nvPr/>
        </p:nvSpPr>
        <p:spPr>
          <a:xfrm>
            <a:off x="3703320" y="2606040"/>
            <a:ext cx="1737360"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param_value</a:t>
            </a:r>
            <a:endParaRPr lang="en-US" sz="1050" dirty="0"/>
          </a:p>
        </p:txBody>
      </p:sp>
      <p:sp>
        <p:nvSpPr>
          <p:cNvPr id="10" name="Text 8"/>
          <p:cNvSpPr/>
          <p:nvPr/>
        </p:nvSpPr>
        <p:spPr>
          <a:xfrm>
            <a:off x="5440680" y="2606040"/>
            <a:ext cx="1234440"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v0</a:t>
            </a:r>
            <a:endParaRPr lang="en-US" sz="1050" dirty="0"/>
          </a:p>
        </p:txBody>
      </p:sp>
      <p:sp>
        <p:nvSpPr>
          <p:cNvPr id="11" name="Text 9"/>
          <p:cNvSpPr/>
          <p:nvPr/>
        </p:nvSpPr>
        <p:spPr>
          <a:xfrm>
            <a:off x="6675120" y="2606040"/>
            <a:ext cx="1234440"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v1</a:t>
            </a:r>
            <a:endParaRPr lang="en-US" sz="1050" dirty="0"/>
          </a:p>
        </p:txBody>
      </p:sp>
      <p:sp>
        <p:nvSpPr>
          <p:cNvPr id="12" name="Text 10"/>
          <p:cNvSpPr/>
          <p:nvPr/>
        </p:nvSpPr>
        <p:spPr>
          <a:xfrm>
            <a:off x="7909560" y="2606040"/>
            <a:ext cx="1234440"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v2</a:t>
            </a:r>
            <a:endParaRPr lang="en-US" sz="1050" dirty="0"/>
          </a:p>
        </p:txBody>
      </p:sp>
      <p:sp>
        <p:nvSpPr>
          <p:cNvPr id="13" name="Text 11"/>
          <p:cNvSpPr/>
          <p:nvPr/>
        </p:nvSpPr>
        <p:spPr>
          <a:xfrm>
            <a:off x="9144000" y="2606040"/>
            <a:ext cx="777240"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t>
            </a:r>
            <a:endParaRPr lang="en-US" sz="1050" dirty="0"/>
          </a:p>
        </p:txBody>
      </p:sp>
      <p:sp>
        <p:nvSpPr>
          <p:cNvPr id="14" name="Text 12"/>
          <p:cNvSpPr/>
          <p:nvPr/>
        </p:nvSpPr>
        <p:spPr>
          <a:xfrm>
            <a:off x="9921240" y="2606040"/>
            <a:ext cx="1188720" cy="51206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v199</a:t>
            </a:r>
            <a:endParaRPr lang="en-US" sz="1050" dirty="0"/>
          </a:p>
        </p:txBody>
      </p:sp>
      <p:sp>
        <p:nvSpPr>
          <p:cNvPr id="15" name="Shape 13"/>
          <p:cNvSpPr/>
          <p:nvPr/>
        </p:nvSpPr>
        <p:spPr>
          <a:xfrm>
            <a:off x="502920" y="3118104"/>
            <a:ext cx="10607040" cy="512064"/>
          </a:xfrm>
          <a:prstGeom prst="rect">
            <a:avLst/>
          </a:prstGeom>
          <a:solidFill>
            <a:srgbClr val="FFFFFF"/>
          </a:solidFill>
          <a:ln w="9525">
            <a:solidFill>
              <a:srgbClr val="E4E9F1"/>
            </a:solidFill>
            <a:prstDash val="solid"/>
          </a:ln>
        </p:spPr>
      </p:sp>
      <p:sp>
        <p:nvSpPr>
          <p:cNvPr id="16" name="Text 14"/>
          <p:cNvSpPr/>
          <p:nvPr/>
        </p:nvSpPr>
        <p:spPr>
          <a:xfrm>
            <a:off x="502920" y="3118104"/>
            <a:ext cx="731520" cy="512064"/>
          </a:xfrm>
          <a:prstGeom prst="rect">
            <a:avLst/>
          </a:prstGeom>
          <a:noFill/>
          <a:ln/>
        </p:spPr>
        <p:txBody>
          <a:bodyPr wrap="square" lIns="0" tIns="177800" rIns="0" bIns="0" rtlCol="0" anchor="ctr"/>
          <a:lstStyle/>
          <a:p>
            <a:pPr algn="l" indent="0" marL="0">
              <a:buNone/>
            </a:pPr>
            <a:r>
              <a:rPr lang="en-US" sz="1050" b="1" dirty="0">
                <a:solidFill>
                  <a:srgbClr val="1E293B"/>
                </a:solidFill>
                <a:latin typeface="Calibri" pitchFamily="34" charset="0"/>
                <a:ea typeface="Calibri" pitchFamily="34" charset="-122"/>
                <a:cs typeface="Calibri" pitchFamily="34" charset="-120"/>
              </a:rPr>
              <a:t>0</a:t>
            </a:r>
            <a:endParaRPr lang="en-US" sz="1050" dirty="0"/>
          </a:p>
        </p:txBody>
      </p:sp>
      <p:sp>
        <p:nvSpPr>
          <p:cNvPr id="17" name="Text 15"/>
          <p:cNvSpPr/>
          <p:nvPr/>
        </p:nvSpPr>
        <p:spPr>
          <a:xfrm>
            <a:off x="1234440" y="3118104"/>
            <a:ext cx="128016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RC</a:t>
            </a:r>
            <a:endParaRPr lang="en-US" sz="1050" dirty="0"/>
          </a:p>
        </p:txBody>
      </p:sp>
      <p:sp>
        <p:nvSpPr>
          <p:cNvPr id="18" name="Text 16"/>
          <p:cNvSpPr/>
          <p:nvPr/>
        </p:nvSpPr>
        <p:spPr>
          <a:xfrm>
            <a:off x="2514600" y="3118104"/>
            <a:ext cx="118872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normal</a:t>
            </a:r>
            <a:endParaRPr lang="en-US" sz="1050" dirty="0"/>
          </a:p>
        </p:txBody>
      </p:sp>
      <p:sp>
        <p:nvSpPr>
          <p:cNvPr id="19" name="Text 17"/>
          <p:cNvSpPr/>
          <p:nvPr/>
        </p:nvSpPr>
        <p:spPr>
          <a:xfrm>
            <a:off x="3703320" y="3118104"/>
            <a:ext cx="173736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100 ohm</a:t>
            </a:r>
            <a:endParaRPr lang="en-US" sz="1050" dirty="0"/>
          </a:p>
        </p:txBody>
      </p:sp>
      <p:sp>
        <p:nvSpPr>
          <p:cNvPr id="20" name="Text 18"/>
          <p:cNvSpPr/>
          <p:nvPr/>
        </p:nvSpPr>
        <p:spPr>
          <a:xfrm>
            <a:off x="5440680" y="3118104"/>
            <a:ext cx="123444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0.000</a:t>
            </a:r>
            <a:endParaRPr lang="en-US" sz="1050" dirty="0"/>
          </a:p>
        </p:txBody>
      </p:sp>
      <p:sp>
        <p:nvSpPr>
          <p:cNvPr id="21" name="Text 19"/>
          <p:cNvSpPr/>
          <p:nvPr/>
        </p:nvSpPr>
        <p:spPr>
          <a:xfrm>
            <a:off x="6675120" y="3118104"/>
            <a:ext cx="123444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1.962</a:t>
            </a:r>
            <a:endParaRPr lang="en-US" sz="1050" dirty="0"/>
          </a:p>
        </p:txBody>
      </p:sp>
      <p:sp>
        <p:nvSpPr>
          <p:cNvPr id="22" name="Text 20"/>
          <p:cNvSpPr/>
          <p:nvPr/>
        </p:nvSpPr>
        <p:spPr>
          <a:xfrm>
            <a:off x="7909560" y="3118104"/>
            <a:ext cx="123444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3.080</a:t>
            </a:r>
            <a:endParaRPr lang="en-US" sz="1050" dirty="0"/>
          </a:p>
        </p:txBody>
      </p:sp>
      <p:sp>
        <p:nvSpPr>
          <p:cNvPr id="23" name="Text 21"/>
          <p:cNvSpPr/>
          <p:nvPr/>
        </p:nvSpPr>
        <p:spPr>
          <a:xfrm>
            <a:off x="9144000" y="3118104"/>
            <a:ext cx="77724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a:t>
            </a:r>
            <a:endParaRPr lang="en-US" sz="1050" dirty="0"/>
          </a:p>
        </p:txBody>
      </p:sp>
      <p:sp>
        <p:nvSpPr>
          <p:cNvPr id="24" name="Text 22"/>
          <p:cNvSpPr/>
          <p:nvPr/>
        </p:nvSpPr>
        <p:spPr>
          <a:xfrm>
            <a:off x="9921240" y="3118104"/>
            <a:ext cx="118872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5.000</a:t>
            </a:r>
            <a:endParaRPr lang="en-US" sz="1050" dirty="0"/>
          </a:p>
        </p:txBody>
      </p:sp>
      <p:sp>
        <p:nvSpPr>
          <p:cNvPr id="25" name="Shape 23"/>
          <p:cNvSpPr/>
          <p:nvPr/>
        </p:nvSpPr>
        <p:spPr>
          <a:xfrm>
            <a:off x="502920" y="3630168"/>
            <a:ext cx="10607040" cy="512064"/>
          </a:xfrm>
          <a:prstGeom prst="rect">
            <a:avLst/>
          </a:prstGeom>
          <a:solidFill>
            <a:srgbClr val="EEF2F7"/>
          </a:solidFill>
          <a:ln w="9525">
            <a:solidFill>
              <a:srgbClr val="E4E9F1"/>
            </a:solidFill>
            <a:prstDash val="solid"/>
          </a:ln>
        </p:spPr>
      </p:sp>
      <p:sp>
        <p:nvSpPr>
          <p:cNvPr id="26" name="Text 24"/>
          <p:cNvSpPr/>
          <p:nvPr/>
        </p:nvSpPr>
        <p:spPr>
          <a:xfrm>
            <a:off x="502920" y="3630168"/>
            <a:ext cx="731520" cy="512064"/>
          </a:xfrm>
          <a:prstGeom prst="rect">
            <a:avLst/>
          </a:prstGeom>
          <a:noFill/>
          <a:ln/>
        </p:spPr>
        <p:txBody>
          <a:bodyPr wrap="square" lIns="0" tIns="177800" rIns="0" bIns="0" rtlCol="0" anchor="ctr"/>
          <a:lstStyle/>
          <a:p>
            <a:pPr algn="l" indent="0" marL="0">
              <a:buNone/>
            </a:pPr>
            <a:r>
              <a:rPr lang="en-US" sz="1050" b="1" dirty="0">
                <a:solidFill>
                  <a:srgbClr val="1E293B"/>
                </a:solidFill>
                <a:latin typeface="Calibri" pitchFamily="34" charset="0"/>
                <a:ea typeface="Calibri" pitchFamily="34" charset="-122"/>
                <a:cs typeface="Calibri" pitchFamily="34" charset="-120"/>
              </a:rPr>
              <a:t>102</a:t>
            </a:r>
            <a:endParaRPr lang="en-US" sz="1050" dirty="0"/>
          </a:p>
        </p:txBody>
      </p:sp>
      <p:sp>
        <p:nvSpPr>
          <p:cNvPr id="27" name="Text 25"/>
          <p:cNvSpPr/>
          <p:nvPr/>
        </p:nvSpPr>
        <p:spPr>
          <a:xfrm>
            <a:off x="1234440" y="3630168"/>
            <a:ext cx="128016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RC</a:t>
            </a:r>
            <a:endParaRPr lang="en-US" sz="1050" dirty="0"/>
          </a:p>
        </p:txBody>
      </p:sp>
      <p:sp>
        <p:nvSpPr>
          <p:cNvPr id="28" name="Text 26"/>
          <p:cNvSpPr/>
          <p:nvPr/>
        </p:nvSpPr>
        <p:spPr>
          <a:xfrm>
            <a:off x="2514600" y="3630168"/>
            <a:ext cx="118872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open</a:t>
            </a:r>
            <a:endParaRPr lang="en-US" sz="1050" dirty="0"/>
          </a:p>
        </p:txBody>
      </p:sp>
      <p:sp>
        <p:nvSpPr>
          <p:cNvPr id="29" name="Text 27"/>
          <p:cNvSpPr/>
          <p:nvPr/>
        </p:nvSpPr>
        <p:spPr>
          <a:xfrm>
            <a:off x="3703320" y="3630168"/>
            <a:ext cx="173736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n/a</a:t>
            </a:r>
            <a:endParaRPr lang="en-US" sz="1050" dirty="0"/>
          </a:p>
        </p:txBody>
      </p:sp>
      <p:sp>
        <p:nvSpPr>
          <p:cNvPr id="30" name="Text 28"/>
          <p:cNvSpPr/>
          <p:nvPr/>
        </p:nvSpPr>
        <p:spPr>
          <a:xfrm>
            <a:off x="5440680" y="3630168"/>
            <a:ext cx="123444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0.000</a:t>
            </a:r>
            <a:endParaRPr lang="en-US" sz="1050" dirty="0"/>
          </a:p>
        </p:txBody>
      </p:sp>
      <p:sp>
        <p:nvSpPr>
          <p:cNvPr id="31" name="Text 29"/>
          <p:cNvSpPr/>
          <p:nvPr/>
        </p:nvSpPr>
        <p:spPr>
          <a:xfrm>
            <a:off x="6675120" y="3630168"/>
            <a:ext cx="123444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0.000</a:t>
            </a:r>
            <a:endParaRPr lang="en-US" sz="1050" dirty="0"/>
          </a:p>
        </p:txBody>
      </p:sp>
      <p:sp>
        <p:nvSpPr>
          <p:cNvPr id="32" name="Text 30"/>
          <p:cNvSpPr/>
          <p:nvPr/>
        </p:nvSpPr>
        <p:spPr>
          <a:xfrm>
            <a:off x="7909560" y="3630168"/>
            <a:ext cx="123444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0.000</a:t>
            </a:r>
            <a:endParaRPr lang="en-US" sz="1050" dirty="0"/>
          </a:p>
        </p:txBody>
      </p:sp>
      <p:sp>
        <p:nvSpPr>
          <p:cNvPr id="33" name="Text 31"/>
          <p:cNvSpPr/>
          <p:nvPr/>
        </p:nvSpPr>
        <p:spPr>
          <a:xfrm>
            <a:off x="9144000" y="3630168"/>
            <a:ext cx="77724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a:t>
            </a:r>
            <a:endParaRPr lang="en-US" sz="1050" dirty="0"/>
          </a:p>
        </p:txBody>
      </p:sp>
      <p:sp>
        <p:nvSpPr>
          <p:cNvPr id="34" name="Text 32"/>
          <p:cNvSpPr/>
          <p:nvPr/>
        </p:nvSpPr>
        <p:spPr>
          <a:xfrm>
            <a:off x="9921240" y="3630168"/>
            <a:ext cx="118872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0.047</a:t>
            </a:r>
            <a:endParaRPr lang="en-US" sz="1050" dirty="0"/>
          </a:p>
        </p:txBody>
      </p:sp>
      <p:sp>
        <p:nvSpPr>
          <p:cNvPr id="35" name="Shape 33"/>
          <p:cNvSpPr/>
          <p:nvPr/>
        </p:nvSpPr>
        <p:spPr>
          <a:xfrm>
            <a:off x="502920" y="4142232"/>
            <a:ext cx="10607040" cy="512064"/>
          </a:xfrm>
          <a:prstGeom prst="rect">
            <a:avLst/>
          </a:prstGeom>
          <a:solidFill>
            <a:srgbClr val="FFFFFF"/>
          </a:solidFill>
          <a:ln w="9525">
            <a:solidFill>
              <a:srgbClr val="E4E9F1"/>
            </a:solidFill>
            <a:prstDash val="solid"/>
          </a:ln>
        </p:spPr>
      </p:sp>
      <p:sp>
        <p:nvSpPr>
          <p:cNvPr id="36" name="Text 34"/>
          <p:cNvSpPr/>
          <p:nvPr/>
        </p:nvSpPr>
        <p:spPr>
          <a:xfrm>
            <a:off x="502920" y="4142232"/>
            <a:ext cx="731520" cy="512064"/>
          </a:xfrm>
          <a:prstGeom prst="rect">
            <a:avLst/>
          </a:prstGeom>
          <a:noFill/>
          <a:ln/>
        </p:spPr>
        <p:txBody>
          <a:bodyPr wrap="square" lIns="0" tIns="177800" rIns="0" bIns="0" rtlCol="0" anchor="ctr"/>
          <a:lstStyle/>
          <a:p>
            <a:pPr algn="l" indent="0" marL="0">
              <a:buNone/>
            </a:pPr>
            <a:r>
              <a:rPr lang="en-US" sz="1050" b="1" dirty="0">
                <a:solidFill>
                  <a:srgbClr val="1E293B"/>
                </a:solidFill>
                <a:latin typeface="Calibri" pitchFamily="34" charset="0"/>
                <a:ea typeface="Calibri" pitchFamily="34" charset="-122"/>
                <a:cs typeface="Calibri" pitchFamily="34" charset="-120"/>
              </a:rPr>
              <a:t>153</a:t>
            </a:r>
            <a:endParaRPr lang="en-US" sz="1050" dirty="0"/>
          </a:p>
        </p:txBody>
      </p:sp>
      <p:sp>
        <p:nvSpPr>
          <p:cNvPr id="37" name="Text 35"/>
          <p:cNvSpPr/>
          <p:nvPr/>
        </p:nvSpPr>
        <p:spPr>
          <a:xfrm>
            <a:off x="1234440" y="4142232"/>
            <a:ext cx="128016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RC</a:t>
            </a:r>
            <a:endParaRPr lang="en-US" sz="1050" dirty="0"/>
          </a:p>
        </p:txBody>
      </p:sp>
      <p:sp>
        <p:nvSpPr>
          <p:cNvPr id="38" name="Text 36"/>
          <p:cNvSpPr/>
          <p:nvPr/>
        </p:nvSpPr>
        <p:spPr>
          <a:xfrm>
            <a:off x="2514600" y="4142232"/>
            <a:ext cx="118872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short</a:t>
            </a:r>
            <a:endParaRPr lang="en-US" sz="1050" dirty="0"/>
          </a:p>
        </p:txBody>
      </p:sp>
      <p:sp>
        <p:nvSpPr>
          <p:cNvPr id="39" name="Text 37"/>
          <p:cNvSpPr/>
          <p:nvPr/>
        </p:nvSpPr>
        <p:spPr>
          <a:xfrm>
            <a:off x="3703320" y="4142232"/>
            <a:ext cx="173736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n/a</a:t>
            </a:r>
            <a:endParaRPr lang="en-US" sz="1050" dirty="0"/>
          </a:p>
        </p:txBody>
      </p:sp>
      <p:sp>
        <p:nvSpPr>
          <p:cNvPr id="40" name="Text 38"/>
          <p:cNvSpPr/>
          <p:nvPr/>
        </p:nvSpPr>
        <p:spPr>
          <a:xfrm>
            <a:off x="5440680" y="4142232"/>
            <a:ext cx="123444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0.000</a:t>
            </a:r>
            <a:endParaRPr lang="en-US" sz="1050" dirty="0"/>
          </a:p>
        </p:txBody>
      </p:sp>
      <p:sp>
        <p:nvSpPr>
          <p:cNvPr id="41" name="Text 39"/>
          <p:cNvSpPr/>
          <p:nvPr/>
        </p:nvSpPr>
        <p:spPr>
          <a:xfrm>
            <a:off x="6675120" y="4142232"/>
            <a:ext cx="123444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5.000</a:t>
            </a:r>
            <a:endParaRPr lang="en-US" sz="1050" dirty="0"/>
          </a:p>
        </p:txBody>
      </p:sp>
      <p:sp>
        <p:nvSpPr>
          <p:cNvPr id="42" name="Text 40"/>
          <p:cNvSpPr/>
          <p:nvPr/>
        </p:nvSpPr>
        <p:spPr>
          <a:xfrm>
            <a:off x="7909560" y="4142232"/>
            <a:ext cx="123444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5.000</a:t>
            </a:r>
            <a:endParaRPr lang="en-US" sz="1050" dirty="0"/>
          </a:p>
        </p:txBody>
      </p:sp>
      <p:sp>
        <p:nvSpPr>
          <p:cNvPr id="43" name="Text 41"/>
          <p:cNvSpPr/>
          <p:nvPr/>
        </p:nvSpPr>
        <p:spPr>
          <a:xfrm>
            <a:off x="9144000" y="4142232"/>
            <a:ext cx="77724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a:t>
            </a:r>
            <a:endParaRPr lang="en-US" sz="1050" dirty="0"/>
          </a:p>
        </p:txBody>
      </p:sp>
      <p:sp>
        <p:nvSpPr>
          <p:cNvPr id="44" name="Text 42"/>
          <p:cNvSpPr/>
          <p:nvPr/>
        </p:nvSpPr>
        <p:spPr>
          <a:xfrm>
            <a:off x="9921240" y="4142232"/>
            <a:ext cx="118872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5.000</a:t>
            </a:r>
            <a:endParaRPr lang="en-US" sz="1050" dirty="0"/>
          </a:p>
        </p:txBody>
      </p:sp>
      <p:sp>
        <p:nvSpPr>
          <p:cNvPr id="45" name="Shape 43"/>
          <p:cNvSpPr/>
          <p:nvPr/>
        </p:nvSpPr>
        <p:spPr>
          <a:xfrm>
            <a:off x="502920" y="4654296"/>
            <a:ext cx="10607040" cy="512064"/>
          </a:xfrm>
          <a:prstGeom prst="rect">
            <a:avLst/>
          </a:prstGeom>
          <a:solidFill>
            <a:srgbClr val="EEF2F7"/>
          </a:solidFill>
          <a:ln w="9525">
            <a:solidFill>
              <a:srgbClr val="E4E9F1"/>
            </a:solidFill>
            <a:prstDash val="solid"/>
          </a:ln>
        </p:spPr>
      </p:sp>
      <p:sp>
        <p:nvSpPr>
          <p:cNvPr id="46" name="Text 44"/>
          <p:cNvSpPr/>
          <p:nvPr/>
        </p:nvSpPr>
        <p:spPr>
          <a:xfrm>
            <a:off x="502920" y="4654296"/>
            <a:ext cx="731520" cy="512064"/>
          </a:xfrm>
          <a:prstGeom prst="rect">
            <a:avLst/>
          </a:prstGeom>
          <a:noFill/>
          <a:ln/>
        </p:spPr>
        <p:txBody>
          <a:bodyPr wrap="square" lIns="0" tIns="177800" rIns="0" bIns="0" rtlCol="0" anchor="ctr"/>
          <a:lstStyle/>
          <a:p>
            <a:pPr algn="l" indent="0" marL="0">
              <a:buNone/>
            </a:pPr>
            <a:r>
              <a:rPr lang="en-US" sz="1050" b="1" dirty="0">
                <a:solidFill>
                  <a:srgbClr val="1E293B"/>
                </a:solidFill>
                <a:latin typeface="Calibri" pitchFamily="34" charset="0"/>
                <a:ea typeface="Calibri" pitchFamily="34" charset="-122"/>
                <a:cs typeface="Calibri" pitchFamily="34" charset="-120"/>
              </a:rPr>
              <a:t>255</a:t>
            </a:r>
            <a:endParaRPr lang="en-US" sz="1050" dirty="0"/>
          </a:p>
        </p:txBody>
      </p:sp>
      <p:sp>
        <p:nvSpPr>
          <p:cNvPr id="47" name="Text 45"/>
          <p:cNvSpPr/>
          <p:nvPr/>
        </p:nvSpPr>
        <p:spPr>
          <a:xfrm>
            <a:off x="1234440" y="4654296"/>
            <a:ext cx="128016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RLC</a:t>
            </a:r>
            <a:endParaRPr lang="en-US" sz="1050" dirty="0"/>
          </a:p>
        </p:txBody>
      </p:sp>
      <p:sp>
        <p:nvSpPr>
          <p:cNvPr id="48" name="Text 46"/>
          <p:cNvSpPr/>
          <p:nvPr/>
        </p:nvSpPr>
        <p:spPr>
          <a:xfrm>
            <a:off x="2514600" y="4654296"/>
            <a:ext cx="118872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drift</a:t>
            </a:r>
            <a:endParaRPr lang="en-US" sz="1050" dirty="0"/>
          </a:p>
        </p:txBody>
      </p:sp>
      <p:sp>
        <p:nvSpPr>
          <p:cNvPr id="49" name="Text 47"/>
          <p:cNvSpPr/>
          <p:nvPr/>
        </p:nvSpPr>
        <p:spPr>
          <a:xfrm>
            <a:off x="3703320" y="4654296"/>
            <a:ext cx="173736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12.0 mH</a:t>
            </a:r>
            <a:endParaRPr lang="en-US" sz="1050" dirty="0"/>
          </a:p>
        </p:txBody>
      </p:sp>
      <p:sp>
        <p:nvSpPr>
          <p:cNvPr id="50" name="Text 48"/>
          <p:cNvSpPr/>
          <p:nvPr/>
        </p:nvSpPr>
        <p:spPr>
          <a:xfrm>
            <a:off x="5440680" y="4654296"/>
            <a:ext cx="123444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0.000</a:t>
            </a:r>
            <a:endParaRPr lang="en-US" sz="1050" dirty="0"/>
          </a:p>
        </p:txBody>
      </p:sp>
      <p:sp>
        <p:nvSpPr>
          <p:cNvPr id="51" name="Text 49"/>
          <p:cNvSpPr/>
          <p:nvPr/>
        </p:nvSpPr>
        <p:spPr>
          <a:xfrm>
            <a:off x="6675120" y="4654296"/>
            <a:ext cx="123444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0.000</a:t>
            </a:r>
            <a:endParaRPr lang="en-US" sz="1050" dirty="0"/>
          </a:p>
        </p:txBody>
      </p:sp>
      <p:sp>
        <p:nvSpPr>
          <p:cNvPr id="52" name="Text 50"/>
          <p:cNvSpPr/>
          <p:nvPr/>
        </p:nvSpPr>
        <p:spPr>
          <a:xfrm>
            <a:off x="7909560" y="4654296"/>
            <a:ext cx="123444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0.002</a:t>
            </a:r>
            <a:endParaRPr lang="en-US" sz="1050" dirty="0"/>
          </a:p>
        </p:txBody>
      </p:sp>
      <p:sp>
        <p:nvSpPr>
          <p:cNvPr id="53" name="Text 51"/>
          <p:cNvSpPr/>
          <p:nvPr/>
        </p:nvSpPr>
        <p:spPr>
          <a:xfrm>
            <a:off x="9144000" y="4654296"/>
            <a:ext cx="77724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a:t>
            </a:r>
            <a:endParaRPr lang="en-US" sz="1050" dirty="0"/>
          </a:p>
        </p:txBody>
      </p:sp>
      <p:sp>
        <p:nvSpPr>
          <p:cNvPr id="54" name="Text 52"/>
          <p:cNvSpPr/>
          <p:nvPr/>
        </p:nvSpPr>
        <p:spPr>
          <a:xfrm>
            <a:off x="9921240" y="4654296"/>
            <a:ext cx="1188720" cy="512064"/>
          </a:xfrm>
          <a:prstGeom prst="rect">
            <a:avLst/>
          </a:prstGeom>
          <a:noFill/>
          <a:ln/>
        </p:spPr>
        <p:txBody>
          <a:bodyPr wrap="square" lIns="0" tIns="0" rIns="0" bIns="0" rtlCol="0" anchor="ctr"/>
          <a:lstStyle/>
          <a:p>
            <a:pPr algn="ctr" indent="0" marL="0">
              <a:buNone/>
            </a:pPr>
            <a:r>
              <a:rPr lang="en-US" sz="1050" dirty="0">
                <a:solidFill>
                  <a:srgbClr val="1E293B"/>
                </a:solidFill>
                <a:latin typeface="Calibri" pitchFamily="34" charset="0"/>
                <a:ea typeface="Calibri" pitchFamily="34" charset="-122"/>
                <a:cs typeface="Calibri" pitchFamily="34" charset="-120"/>
              </a:rPr>
              <a:t>8.668</a:t>
            </a:r>
            <a:endParaRPr lang="en-US" sz="1050" dirty="0"/>
          </a:p>
        </p:txBody>
      </p:sp>
      <p:sp>
        <p:nvSpPr>
          <p:cNvPr id="55" name="Text 53"/>
          <p:cNvSpPr/>
          <p:nvPr/>
        </p:nvSpPr>
        <p:spPr>
          <a:xfrm>
            <a:off x="502920" y="5166360"/>
            <a:ext cx="10607040" cy="1005840"/>
          </a:xfrm>
          <a:prstGeom prst="rect">
            <a:avLst/>
          </a:prstGeom>
          <a:noFill/>
          <a:ln/>
        </p:spPr>
        <p:txBody>
          <a:bodyPr wrap="square" lIns="0" tIns="0" rIns="0" bIns="0" rtlCol="0" anchor="ctr"/>
          <a:lstStyle/>
          <a:p>
            <a:pPr indent="0" marL="0">
              <a:lnSpc>
                <a:spcPct val="125000"/>
              </a:lnSpc>
              <a:buNone/>
            </a:pPr>
            <a:r>
              <a:rPr lang="en-US" sz="1100" b="1" dirty="0">
                <a:solidFill>
                  <a:srgbClr val="0B1F3A"/>
                </a:solidFill>
                <a:latin typeface="Calibri" pitchFamily="34" charset="0"/>
                <a:ea typeface="Calibri" pitchFamily="34" charset="-122"/>
                <a:cs typeface="Calibri" pitchFamily="34" charset="-120"/>
              </a:rPr>
              <a:t>1,019 rows x 204 columns total. </a:t>
            </a:r>
            <a:pPr indent="0" marL="0">
              <a:lnSpc>
                <a:spcPct val="125000"/>
              </a:lnSpc>
              <a:buNone/>
            </a:pPr>
            <a:r>
              <a:rPr lang="en-US" sz="1100" dirty="0">
                <a:solidFill>
                  <a:srgbClr val="64748B"/>
                </a:solidFill>
                <a:latin typeface="Calibri" pitchFamily="34" charset="0"/>
                <a:ea typeface="Calibri" pitchFamily="34" charset="-122"/>
                <a:cs typeface="Calibri" pitchFamily="34" charset="-120"/>
              </a:rPr>
              <a:t>Notice how the shape alone tells a story: RC_open barely rises off 0V, RC_short jumps straight to 5V, and RLC_drift overshoots past 5V before settling — that oscillation ("ringing") is only possible because the RLC circuit has an inductor. A few param_value entries show as n/a because of a parsing quirk in the original sweep export — a real, minor rough edge left visible here rather than smoothed over.</a:t>
            </a:r>
            <a:endParaRPr lang="en-US" sz="1100" dirty="0"/>
          </a:p>
        </p:txBody>
      </p:sp>
      <p:sp>
        <p:nvSpPr>
          <p:cNvPr id="56" name="Text 54"/>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57" name="Text 55"/>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3. DATA PIPELINE</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1,019 Samples, Evenly Balanced Across Fault Types</a:t>
            </a:r>
            <a:endParaRPr lang="en-US" sz="3000" dirty="0"/>
          </a:p>
        </p:txBody>
      </p:sp>
      <p:graphicFrame>
        <p:nvGraphicFramePr>
          <p:cNvPr id="4" name="Chart 0" descr=""/>
          <p:cNvGraphicFramePr/>
          <p:nvPr/>
        </p:nvGraphicFramePr>
        <p:xfrm>
          <a:off x="502920" y="1691640"/>
          <a:ext cx="5486400" cy="42062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903720" y="1874520"/>
            <a:ext cx="548640" cy="54864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6" name="Image 0" descr="/sessions/blissful-zealous-babbage/mnt/outputs/ppt/icons/balance_00B4D8.png">    </p:cNvPr>
          <p:cNvPicPr>
            <a:picLocks noChangeAspect="1"/>
          </p:cNvPicPr>
          <p:nvPr/>
        </p:nvPicPr>
        <p:blipFill>
          <a:blip r:embed="rId2"/>
          <a:stretch>
            <a:fillRect/>
          </a:stretch>
        </p:blipFill>
        <p:spPr>
          <a:xfrm>
            <a:off x="6977786" y="1948586"/>
            <a:ext cx="400507" cy="400507"/>
          </a:xfrm>
          <a:prstGeom prst="rect">
            <a:avLst/>
          </a:prstGeom>
        </p:spPr>
      </p:pic>
      <p:sp>
        <p:nvSpPr>
          <p:cNvPr id="7" name="Text 3"/>
          <p:cNvSpPr/>
          <p:nvPr/>
        </p:nvSpPr>
        <p:spPr>
          <a:xfrm>
            <a:off x="7635240" y="1856232"/>
            <a:ext cx="4023360" cy="365760"/>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Perfectly balanced classes</a:t>
            </a:r>
            <a:endParaRPr lang="en-US" sz="1350" dirty="0"/>
          </a:p>
        </p:txBody>
      </p:sp>
      <p:sp>
        <p:nvSpPr>
          <p:cNvPr id="8" name="Text 4"/>
          <p:cNvSpPr/>
          <p:nvPr/>
        </p:nvSpPr>
        <p:spPr>
          <a:xfrm>
            <a:off x="7635240" y="2203704"/>
            <a:ext cx="4023360" cy="822960"/>
          </a:xfrm>
          <a:prstGeom prst="rect">
            <a:avLst/>
          </a:prstGeom>
          <a:noFill/>
          <a:ln/>
        </p:spPr>
        <p:txBody>
          <a:bodyPr wrap="square" lIns="0" tIns="0" rIns="0" bIns="0" rtlCol="0" anchor="ctr"/>
          <a:lstStyle/>
          <a:p>
            <a:pPr indent="0" marL="0">
              <a:lnSpc>
                <a:spcPct val="120000"/>
              </a:lnSpc>
              <a:buNone/>
            </a:pPr>
            <a:r>
              <a:rPr lang="en-US" sz="1050" dirty="0">
                <a:solidFill>
                  <a:srgbClr val="64748B"/>
                </a:solidFill>
                <a:latin typeface="Calibri" pitchFamily="34" charset="0"/>
                <a:ea typeface="Calibri" pitchFamily="34" charset="-122"/>
                <a:cs typeface="Calibri" pitchFamily="34" charset="-120"/>
              </a:rPr>
              <a:t>Each fault type accounts for about 20% of samples, so the model can't win by just guessing the majority label.</a:t>
            </a:r>
            <a:endParaRPr lang="en-US" sz="1050" dirty="0"/>
          </a:p>
        </p:txBody>
      </p:sp>
      <p:sp>
        <p:nvSpPr>
          <p:cNvPr id="9" name="Shape 5"/>
          <p:cNvSpPr/>
          <p:nvPr/>
        </p:nvSpPr>
        <p:spPr>
          <a:xfrm>
            <a:off x="6903720" y="3172968"/>
            <a:ext cx="548640" cy="54864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0" name="Image 1" descr="/sessions/blissful-zealous-babbage/mnt/outputs/ppt/icons/sitemap_00B4D8.png">    </p:cNvPr>
          <p:cNvPicPr>
            <a:picLocks noChangeAspect="1"/>
          </p:cNvPicPr>
          <p:nvPr/>
        </p:nvPicPr>
        <p:blipFill>
          <a:blip r:embed="rId3"/>
          <a:stretch>
            <a:fillRect/>
          </a:stretch>
        </p:blipFill>
        <p:spPr>
          <a:xfrm>
            <a:off x="6977786" y="3247034"/>
            <a:ext cx="400507" cy="400507"/>
          </a:xfrm>
          <a:prstGeom prst="rect">
            <a:avLst/>
          </a:prstGeom>
        </p:spPr>
      </p:pic>
      <p:sp>
        <p:nvSpPr>
          <p:cNvPr id="11" name="Text 6"/>
          <p:cNvSpPr/>
          <p:nvPr/>
        </p:nvSpPr>
        <p:spPr>
          <a:xfrm>
            <a:off x="7635240" y="3154680"/>
            <a:ext cx="4023360" cy="365760"/>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20 total labels</a:t>
            </a:r>
            <a:endParaRPr lang="en-US" sz="1350" dirty="0"/>
          </a:p>
        </p:txBody>
      </p:sp>
      <p:sp>
        <p:nvSpPr>
          <p:cNvPr id="12" name="Text 7"/>
          <p:cNvSpPr/>
          <p:nvPr/>
        </p:nvSpPr>
        <p:spPr>
          <a:xfrm>
            <a:off x="7635240" y="3502152"/>
            <a:ext cx="4023360" cy="822960"/>
          </a:xfrm>
          <a:prstGeom prst="rect">
            <a:avLst/>
          </a:prstGeom>
          <a:noFill/>
          <a:ln/>
        </p:spPr>
        <p:txBody>
          <a:bodyPr wrap="square" lIns="0" tIns="0" rIns="0" bIns="0" rtlCol="0" anchor="ctr"/>
          <a:lstStyle/>
          <a:p>
            <a:pPr indent="0" marL="0">
              <a:lnSpc>
                <a:spcPct val="120000"/>
              </a:lnSpc>
              <a:buNone/>
            </a:pPr>
            <a:r>
              <a:rPr lang="en-US" sz="1050" dirty="0">
                <a:solidFill>
                  <a:srgbClr val="64748B"/>
                </a:solidFill>
                <a:latin typeface="Calibri" pitchFamily="34" charset="0"/>
                <a:ea typeface="Calibri" pitchFamily="34" charset="-122"/>
                <a:cs typeface="Calibri" pitchFamily="34" charset="-120"/>
              </a:rPr>
              <a:t>Each sample is tagged circuit_fault, e.g. RC_open or SALLEN_KEY_drift — 4 circuits times 5 faults.</a:t>
            </a:r>
            <a:endParaRPr lang="en-US" sz="1050" dirty="0"/>
          </a:p>
        </p:txBody>
      </p:sp>
      <p:sp>
        <p:nvSpPr>
          <p:cNvPr id="13" name="Shape 8"/>
          <p:cNvSpPr/>
          <p:nvPr/>
        </p:nvSpPr>
        <p:spPr>
          <a:xfrm>
            <a:off x="6903720" y="4471416"/>
            <a:ext cx="548640" cy="54864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4" name="Image 2" descr="/sessions/blissful-zealous-babbage/mnt/outputs/ppt/icons/database_00B4D8.png">    </p:cNvPr>
          <p:cNvPicPr>
            <a:picLocks noChangeAspect="1"/>
          </p:cNvPicPr>
          <p:nvPr/>
        </p:nvPicPr>
        <p:blipFill>
          <a:blip r:embed="rId4"/>
          <a:stretch>
            <a:fillRect/>
          </a:stretch>
        </p:blipFill>
        <p:spPr>
          <a:xfrm>
            <a:off x="6977786" y="4545482"/>
            <a:ext cx="400507" cy="400507"/>
          </a:xfrm>
          <a:prstGeom prst="rect">
            <a:avLst/>
          </a:prstGeom>
        </p:spPr>
      </p:pic>
      <p:sp>
        <p:nvSpPr>
          <p:cNvPr id="15" name="Text 9"/>
          <p:cNvSpPr/>
          <p:nvPr/>
        </p:nvSpPr>
        <p:spPr>
          <a:xfrm>
            <a:off x="7635240" y="4453128"/>
            <a:ext cx="4023360" cy="365760"/>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About 51 samples per class</a:t>
            </a:r>
            <a:endParaRPr lang="en-US" sz="1350" dirty="0"/>
          </a:p>
        </p:txBody>
      </p:sp>
      <p:sp>
        <p:nvSpPr>
          <p:cNvPr id="16" name="Text 10"/>
          <p:cNvSpPr/>
          <p:nvPr/>
        </p:nvSpPr>
        <p:spPr>
          <a:xfrm>
            <a:off x="7635240" y="4800600"/>
            <a:ext cx="4023360" cy="822960"/>
          </a:xfrm>
          <a:prstGeom prst="rect">
            <a:avLst/>
          </a:prstGeom>
          <a:noFill/>
          <a:ln/>
        </p:spPr>
        <p:txBody>
          <a:bodyPr wrap="square" lIns="0" tIns="0" rIns="0" bIns="0" rtlCol="0" anchor="ctr"/>
          <a:lstStyle/>
          <a:p>
            <a:pPr indent="0" marL="0">
              <a:lnSpc>
                <a:spcPct val="120000"/>
              </a:lnSpc>
              <a:buNone/>
            </a:pPr>
            <a:r>
              <a:rPr lang="en-US" sz="1050" dirty="0">
                <a:solidFill>
                  <a:srgbClr val="64748B"/>
                </a:solidFill>
                <a:latin typeface="Calibri" pitchFamily="34" charset="0"/>
                <a:ea typeface="Calibri" pitchFamily="34" charset="-122"/>
                <a:cs typeface="Calibri" pitchFamily="34" charset="-120"/>
              </a:rPr>
              <a:t>1,019 divided across 20 classes averages to roughly 51 samples each — a genuinely small-data problem.</a:t>
            </a:r>
            <a:endParaRPr lang="en-US" sz="1050" dirty="0"/>
          </a:p>
        </p:txBody>
      </p:sp>
      <p:sp>
        <p:nvSpPr>
          <p:cNvPr id="17" name="Text 11"/>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8" name="Text 12"/>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3. DATA PIPELINE</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Train/Test Split: Keeping Evaluation Honest</a:t>
            </a:r>
            <a:endParaRPr lang="en-US" sz="3000" dirty="0"/>
          </a:p>
        </p:txBody>
      </p:sp>
      <p:sp>
        <p:nvSpPr>
          <p:cNvPr id="4" name="Shape 2"/>
          <p:cNvSpPr/>
          <p:nvPr/>
        </p:nvSpPr>
        <p:spPr>
          <a:xfrm>
            <a:off x="502920" y="1783080"/>
            <a:ext cx="10607040" cy="1051560"/>
          </a:xfrm>
          <a:prstGeom prst="roundRect">
            <a:avLst>
              <a:gd name="adj" fmla="val 6957"/>
            </a:avLst>
          </a:prstGeom>
          <a:solidFill>
            <a:srgbClr val="0B1F3A"/>
          </a:solidFill>
          <a:ln/>
          <a:effectLst>
            <a:outerShdw sx="100000" sy="100000" kx="0" ky="0" algn="bl" rotWithShape="0" blurRad="114300" dist="38100" dir="2700000">
              <a:srgbClr val="0B1F3A">
                <a:alpha val="14000"/>
              </a:srgbClr>
            </a:outerShdw>
          </a:effectLst>
        </p:spPr>
      </p:sp>
      <p:sp>
        <p:nvSpPr>
          <p:cNvPr id="5" name="Text 3"/>
          <p:cNvSpPr/>
          <p:nvPr/>
        </p:nvSpPr>
        <p:spPr>
          <a:xfrm>
            <a:off x="777240" y="1920240"/>
            <a:ext cx="10058400" cy="777240"/>
          </a:xfrm>
          <a:prstGeom prst="rect">
            <a:avLst/>
          </a:prstGeom>
          <a:noFill/>
          <a:ln/>
        </p:spPr>
        <p:txBody>
          <a:bodyPr wrap="square" lIns="0" tIns="0" rIns="0" bIns="0" rtlCol="0" anchor="ctr"/>
          <a:lstStyle/>
          <a:p>
            <a:pPr algn="l" indent="0" marL="0">
              <a:lnSpc>
                <a:spcPct val="140000"/>
              </a:lnSpc>
              <a:buNone/>
            </a:pPr>
            <a:r>
              <a:rPr lang="en-US" sz="1450" dirty="0">
                <a:solidFill>
                  <a:srgbClr val="E7ECF4"/>
                </a:solidFill>
                <a:latin typeface="Courier New" pitchFamily="34" charset="0"/>
                <a:ea typeface="Courier New" pitchFamily="34" charset="-122"/>
                <a:cs typeface="Courier New" pitchFamily="34" charset="-120"/>
              </a:rPr>
              <a:t>train_test_split(X, y, test_size=0.20, random_state=42, stratify=y)</a:t>
            </a:r>
            <a:endParaRPr lang="en-US" sz="1450" dirty="0"/>
          </a:p>
        </p:txBody>
      </p:sp>
      <p:sp>
        <p:nvSpPr>
          <p:cNvPr id="6" name="Shape 4"/>
          <p:cNvSpPr/>
          <p:nvPr/>
        </p:nvSpPr>
        <p:spPr>
          <a:xfrm>
            <a:off x="502920" y="3200400"/>
            <a:ext cx="502920" cy="50292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7" name="Image 0" descr="/sessions/blissful-zealous-babbage/mnt/outputs/ppt/icons/layer_00B4D8.png">    </p:cNvPr>
          <p:cNvPicPr>
            <a:picLocks noChangeAspect="1"/>
          </p:cNvPicPr>
          <p:nvPr/>
        </p:nvPicPr>
        <p:blipFill>
          <a:blip r:embed="rId1"/>
          <a:stretch>
            <a:fillRect/>
          </a:stretch>
        </p:blipFill>
        <p:spPr>
          <a:xfrm>
            <a:off x="570814" y="3268294"/>
            <a:ext cx="367132" cy="367132"/>
          </a:xfrm>
          <a:prstGeom prst="rect">
            <a:avLst/>
          </a:prstGeom>
        </p:spPr>
      </p:pic>
      <p:sp>
        <p:nvSpPr>
          <p:cNvPr id="8" name="Text 5"/>
          <p:cNvSpPr/>
          <p:nvPr/>
        </p:nvSpPr>
        <p:spPr>
          <a:xfrm>
            <a:off x="1188720" y="3218688"/>
            <a:ext cx="9875520" cy="640080"/>
          </a:xfrm>
          <a:prstGeom prst="rect">
            <a:avLst/>
          </a:prstGeom>
          <a:noFill/>
          <a:ln/>
        </p:spPr>
        <p:txBody>
          <a:bodyPr wrap="square" lIns="0" tIns="0" rIns="0" bIns="0" rtlCol="0" anchor="ctr"/>
          <a:lstStyle/>
          <a:p>
            <a:pPr indent="0" marL="0">
              <a:lnSpc>
                <a:spcPct val="120000"/>
              </a:lnSpc>
              <a:buNone/>
            </a:pPr>
            <a:r>
              <a:rPr lang="en-US" sz="1180" b="1" dirty="0">
                <a:solidFill>
                  <a:srgbClr val="0B1F3A"/>
                </a:solidFill>
                <a:latin typeface="Calibri" pitchFamily="34" charset="0"/>
                <a:ea typeface="Calibri" pitchFamily="34" charset="-122"/>
                <a:cs typeface="Calibri" pitchFamily="34" charset="-120"/>
              </a:rPr>
              <a:t>80/20 split:  </a:t>
            </a:r>
            <a:pPr indent="0" marL="0">
              <a:lnSpc>
                <a:spcPct val="120000"/>
              </a:lnSpc>
              <a:buNone/>
            </a:pPr>
            <a:r>
              <a:rPr lang="en-US" sz="1180" dirty="0">
                <a:solidFill>
                  <a:srgbClr val="64748B"/>
                </a:solidFill>
                <a:latin typeface="Calibri" pitchFamily="34" charset="0"/>
                <a:ea typeface="Calibri" pitchFamily="34" charset="-122"/>
                <a:cs typeface="Calibri" pitchFamily="34" charset="-120"/>
              </a:rPr>
              <a:t>About 815 samples train the model; the remaining ~204 are held out purely for evaluation.</a:t>
            </a:r>
            <a:endParaRPr lang="en-US" sz="1180" dirty="0"/>
          </a:p>
        </p:txBody>
      </p:sp>
      <p:sp>
        <p:nvSpPr>
          <p:cNvPr id="9" name="Shape 6"/>
          <p:cNvSpPr/>
          <p:nvPr/>
        </p:nvSpPr>
        <p:spPr>
          <a:xfrm>
            <a:off x="502920" y="3977640"/>
            <a:ext cx="502920" cy="50292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0" name="Image 1" descr="/sessions/blissful-zealous-babbage/mnt/outputs/ppt/icons/balance_00B4D8.png">    </p:cNvPr>
          <p:cNvPicPr>
            <a:picLocks noChangeAspect="1"/>
          </p:cNvPicPr>
          <p:nvPr/>
        </p:nvPicPr>
        <p:blipFill>
          <a:blip r:embed="rId2"/>
          <a:stretch>
            <a:fillRect/>
          </a:stretch>
        </p:blipFill>
        <p:spPr>
          <a:xfrm>
            <a:off x="570814" y="4045534"/>
            <a:ext cx="367132" cy="367132"/>
          </a:xfrm>
          <a:prstGeom prst="rect">
            <a:avLst/>
          </a:prstGeom>
        </p:spPr>
      </p:pic>
      <p:sp>
        <p:nvSpPr>
          <p:cNvPr id="11" name="Text 7"/>
          <p:cNvSpPr/>
          <p:nvPr/>
        </p:nvSpPr>
        <p:spPr>
          <a:xfrm>
            <a:off x="1188720" y="3995928"/>
            <a:ext cx="9875520" cy="640080"/>
          </a:xfrm>
          <a:prstGeom prst="rect">
            <a:avLst/>
          </a:prstGeom>
          <a:noFill/>
          <a:ln/>
        </p:spPr>
        <p:txBody>
          <a:bodyPr wrap="square" lIns="0" tIns="0" rIns="0" bIns="0" rtlCol="0" anchor="ctr"/>
          <a:lstStyle/>
          <a:p>
            <a:pPr indent="0" marL="0">
              <a:lnSpc>
                <a:spcPct val="120000"/>
              </a:lnSpc>
              <a:buNone/>
            </a:pPr>
            <a:r>
              <a:rPr lang="en-US" sz="1180" b="1" dirty="0">
                <a:solidFill>
                  <a:srgbClr val="0B1F3A"/>
                </a:solidFill>
                <a:latin typeface="Calibri" pitchFamily="34" charset="0"/>
                <a:ea typeface="Calibri" pitchFamily="34" charset="-122"/>
                <a:cs typeface="Calibri" pitchFamily="34" charset="-120"/>
              </a:rPr>
              <a:t>Stratified by class:  </a:t>
            </a:r>
            <a:pPr indent="0" marL="0">
              <a:lnSpc>
                <a:spcPct val="120000"/>
              </a:lnSpc>
              <a:buNone/>
            </a:pPr>
            <a:r>
              <a:rPr lang="en-US" sz="1180" dirty="0">
                <a:solidFill>
                  <a:srgbClr val="64748B"/>
                </a:solidFill>
                <a:latin typeface="Calibri" pitchFamily="34" charset="0"/>
                <a:ea typeface="Calibri" pitchFamily="34" charset="-122"/>
                <a:cs typeface="Calibri" pitchFamily="34" charset="-120"/>
              </a:rPr>
              <a:t>Every one of the 20 classes keeps its ~80/20 proportion in both sets — no class is accidentally left thin in testing.</a:t>
            </a:r>
            <a:endParaRPr lang="en-US" sz="1180" dirty="0"/>
          </a:p>
        </p:txBody>
      </p:sp>
      <p:sp>
        <p:nvSpPr>
          <p:cNvPr id="12" name="Shape 8"/>
          <p:cNvSpPr/>
          <p:nvPr/>
        </p:nvSpPr>
        <p:spPr>
          <a:xfrm>
            <a:off x="502920" y="4754880"/>
            <a:ext cx="502920" cy="50292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3" name="Image 2" descr="/sessions/blissful-zealous-babbage/mnt/outputs/ppt/icons/tools_00B4D8.png">    </p:cNvPr>
          <p:cNvPicPr>
            <a:picLocks noChangeAspect="1"/>
          </p:cNvPicPr>
          <p:nvPr/>
        </p:nvPicPr>
        <p:blipFill>
          <a:blip r:embed="rId3"/>
          <a:stretch>
            <a:fillRect/>
          </a:stretch>
        </p:blipFill>
        <p:spPr>
          <a:xfrm>
            <a:off x="570814" y="4822774"/>
            <a:ext cx="367132" cy="367132"/>
          </a:xfrm>
          <a:prstGeom prst="rect">
            <a:avLst/>
          </a:prstGeom>
        </p:spPr>
      </p:pic>
      <p:sp>
        <p:nvSpPr>
          <p:cNvPr id="14" name="Text 9"/>
          <p:cNvSpPr/>
          <p:nvPr/>
        </p:nvSpPr>
        <p:spPr>
          <a:xfrm>
            <a:off x="1188720" y="4773168"/>
            <a:ext cx="9875520" cy="640080"/>
          </a:xfrm>
          <a:prstGeom prst="rect">
            <a:avLst/>
          </a:prstGeom>
          <a:noFill/>
          <a:ln/>
        </p:spPr>
        <p:txBody>
          <a:bodyPr wrap="square" lIns="0" tIns="0" rIns="0" bIns="0" rtlCol="0" anchor="ctr"/>
          <a:lstStyle/>
          <a:p>
            <a:pPr indent="0" marL="0">
              <a:lnSpc>
                <a:spcPct val="120000"/>
              </a:lnSpc>
              <a:buNone/>
            </a:pPr>
            <a:r>
              <a:rPr lang="en-US" sz="1180" b="1" dirty="0">
                <a:solidFill>
                  <a:srgbClr val="0B1F3A"/>
                </a:solidFill>
                <a:latin typeface="Calibri" pitchFamily="34" charset="0"/>
                <a:ea typeface="Calibri" pitchFamily="34" charset="-122"/>
                <a:cs typeface="Calibri" pitchFamily="34" charset="-120"/>
              </a:rPr>
              <a:t>Fixed random seed:  </a:t>
            </a:r>
            <a:pPr indent="0" marL="0">
              <a:lnSpc>
                <a:spcPct val="120000"/>
              </a:lnSpc>
              <a:buNone/>
            </a:pPr>
            <a:r>
              <a:rPr lang="en-US" sz="1180" dirty="0">
                <a:solidFill>
                  <a:srgbClr val="64748B"/>
                </a:solidFill>
                <a:latin typeface="Calibri" pitchFamily="34" charset="0"/>
                <a:ea typeface="Calibri" pitchFamily="34" charset="-122"/>
                <a:cs typeface="Calibri" pitchFamily="34" charset="-120"/>
              </a:rPr>
              <a:t>random_state=42 makes the split reproducible — the same test samples every time the pipeline reruns.</a:t>
            </a:r>
            <a:endParaRPr lang="en-US" sz="1180" dirty="0"/>
          </a:p>
        </p:txBody>
      </p:sp>
      <p:sp>
        <p:nvSpPr>
          <p:cNvPr id="15" name="Shape 10"/>
          <p:cNvSpPr/>
          <p:nvPr/>
        </p:nvSpPr>
        <p:spPr>
          <a:xfrm>
            <a:off x="502920" y="5532120"/>
            <a:ext cx="502920" cy="50292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6" name="Image 3" descr="/sessions/blissful-zealous-babbage/mnt/outputs/ppt/icons/search_00B4D8.png">    </p:cNvPr>
          <p:cNvPicPr>
            <a:picLocks noChangeAspect="1"/>
          </p:cNvPicPr>
          <p:nvPr/>
        </p:nvPicPr>
        <p:blipFill>
          <a:blip r:embed="rId4"/>
          <a:stretch>
            <a:fillRect/>
          </a:stretch>
        </p:blipFill>
        <p:spPr>
          <a:xfrm>
            <a:off x="570814" y="5600014"/>
            <a:ext cx="367132" cy="367132"/>
          </a:xfrm>
          <a:prstGeom prst="rect">
            <a:avLst/>
          </a:prstGeom>
        </p:spPr>
      </p:pic>
      <p:sp>
        <p:nvSpPr>
          <p:cNvPr id="17" name="Text 11"/>
          <p:cNvSpPr/>
          <p:nvPr/>
        </p:nvSpPr>
        <p:spPr>
          <a:xfrm>
            <a:off x="1188720" y="5550408"/>
            <a:ext cx="9875520" cy="640080"/>
          </a:xfrm>
          <a:prstGeom prst="rect">
            <a:avLst/>
          </a:prstGeom>
          <a:noFill/>
          <a:ln/>
        </p:spPr>
        <p:txBody>
          <a:bodyPr wrap="square" lIns="0" tIns="0" rIns="0" bIns="0" rtlCol="0" anchor="ctr"/>
          <a:lstStyle/>
          <a:p>
            <a:pPr indent="0" marL="0">
              <a:lnSpc>
                <a:spcPct val="120000"/>
              </a:lnSpc>
              <a:buNone/>
            </a:pPr>
            <a:r>
              <a:rPr lang="en-US" sz="1180" b="1" dirty="0">
                <a:solidFill>
                  <a:srgbClr val="0B1F3A"/>
                </a:solidFill>
                <a:latin typeface="Calibri" pitchFamily="34" charset="0"/>
                <a:ea typeface="Calibri" pitchFamily="34" charset="-122"/>
                <a:cs typeface="Calibri" pitchFamily="34" charset="-120"/>
              </a:rPr>
              <a:t>Test set never touched during tuning:  </a:t>
            </a:r>
            <a:pPr indent="0" marL="0">
              <a:lnSpc>
                <a:spcPct val="120000"/>
              </a:lnSpc>
              <a:buNone/>
            </a:pPr>
            <a:r>
              <a:rPr lang="en-US" sz="1180" dirty="0">
                <a:solidFill>
                  <a:srgbClr val="64748B"/>
                </a:solidFill>
                <a:latin typeface="Calibri" pitchFamily="34" charset="0"/>
                <a:ea typeface="Calibri" pitchFamily="34" charset="-122"/>
                <a:cs typeface="Calibri" pitchFamily="34" charset="-120"/>
              </a:rPr>
              <a:t>GridSearchCV only ever sees the training set; the test set is reserved for the one final, honest accuracy number.</a:t>
            </a:r>
            <a:endParaRPr lang="en-US" sz="1180" dirty="0"/>
          </a:p>
        </p:txBody>
      </p:sp>
      <p:sp>
        <p:nvSpPr>
          <p:cNvPr id="18" name="Text 12"/>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9" name="Text 13"/>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4. FEATURE ENGINEERING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From Waveform to Numbers</a:t>
            </a:r>
            <a:endParaRPr lang="en-US" sz="3000" dirty="0"/>
          </a:p>
        </p:txBody>
      </p:sp>
      <p:sp>
        <p:nvSpPr>
          <p:cNvPr id="4" name="Text 2"/>
          <p:cNvSpPr/>
          <p:nvPr/>
        </p:nvSpPr>
        <p:spPr>
          <a:xfrm>
            <a:off x="502920" y="1783080"/>
            <a:ext cx="10515600" cy="777240"/>
          </a:xfrm>
          <a:prstGeom prst="rect">
            <a:avLst/>
          </a:prstGeom>
          <a:noFill/>
          <a:ln/>
        </p:spPr>
        <p:txBody>
          <a:bodyPr wrap="square" lIns="0" tIns="0" rIns="0" bIns="0" rtlCol="0" anchor="ctr"/>
          <a:lstStyle/>
          <a:p>
            <a:pPr indent="0" marL="0">
              <a:lnSpc>
                <a:spcPct val="128000"/>
              </a:lnSpc>
              <a:buNone/>
            </a:pPr>
            <a:r>
              <a:rPr lang="en-US" sz="1400" dirty="0">
                <a:solidFill>
                  <a:srgbClr val="1E293B"/>
                </a:solidFill>
                <a:latin typeface="Calibri" pitchFamily="34" charset="0"/>
                <a:ea typeface="Calibri" pitchFamily="34" charset="-122"/>
                <a:cs typeface="Calibri" pitchFamily="34" charset="-120"/>
              </a:rPr>
              <a:t>Each raw sample is 200 individual voltage readings — too high-dimensional and noisy for a classic SVM to learn from efficiently. Instead, every waveform is compressed into </a:t>
            </a:r>
            <a:pPr indent="0" marL="0">
              <a:lnSpc>
                <a:spcPct val="128000"/>
              </a:lnSpc>
              <a:buNone/>
            </a:pPr>
            <a:r>
              <a:rPr lang="en-US" sz="1400" b="1" dirty="0">
                <a:solidFill>
                  <a:srgbClr val="0B1F3A"/>
                </a:solidFill>
                <a:latin typeface="Calibri" pitchFamily="34" charset="0"/>
                <a:ea typeface="Calibri" pitchFamily="34" charset="-122"/>
                <a:cs typeface="Calibri" pitchFamily="34" charset="-120"/>
              </a:rPr>
              <a:t>17 compact, physically meaningful numbers</a:t>
            </a:r>
            <a:pPr indent="0" marL="0">
              <a:lnSpc>
                <a:spcPct val="128000"/>
              </a:lnSpc>
              <a:buNone/>
            </a:pPr>
            <a:r>
              <a:rPr lang="en-US" sz="1400" dirty="0">
                <a:solidFill>
                  <a:srgbClr val="1E293B"/>
                </a:solidFill>
                <a:latin typeface="Calibri" pitchFamily="34" charset="0"/>
                <a:ea typeface="Calibri" pitchFamily="34" charset="-122"/>
                <a:cs typeface="Calibri" pitchFamily="34" charset="-120"/>
              </a:rPr>
              <a:t> that fall into two families:</a:t>
            </a:r>
            <a:endParaRPr lang="en-US" sz="1400" dirty="0"/>
          </a:p>
        </p:txBody>
      </p:sp>
      <p:sp>
        <p:nvSpPr>
          <p:cNvPr id="5" name="Shape 3"/>
          <p:cNvSpPr/>
          <p:nvPr/>
        </p:nvSpPr>
        <p:spPr>
          <a:xfrm>
            <a:off x="502920" y="2743200"/>
            <a:ext cx="5166360" cy="1417320"/>
          </a:xfrm>
          <a:prstGeom prst="roundRect">
            <a:avLst>
              <a:gd name="adj" fmla="val 5806"/>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6" name="Shape 4"/>
          <p:cNvSpPr/>
          <p:nvPr/>
        </p:nvSpPr>
        <p:spPr>
          <a:xfrm>
            <a:off x="758952" y="3108960"/>
            <a:ext cx="685800" cy="68580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7" name="Image 0" descr="/sessions/blissful-zealous-babbage/mnt/outputs/ppt/icons/chartline_00B4D8.png">    </p:cNvPr>
          <p:cNvPicPr>
            <a:picLocks noChangeAspect="1"/>
          </p:cNvPicPr>
          <p:nvPr/>
        </p:nvPicPr>
        <p:blipFill>
          <a:blip r:embed="rId1"/>
          <a:stretch>
            <a:fillRect/>
          </a:stretch>
        </p:blipFill>
        <p:spPr>
          <a:xfrm>
            <a:off x="851535" y="3201543"/>
            <a:ext cx="500634" cy="500634"/>
          </a:xfrm>
          <a:prstGeom prst="rect">
            <a:avLst/>
          </a:prstGeom>
        </p:spPr>
      </p:pic>
      <p:sp>
        <p:nvSpPr>
          <p:cNvPr id="8" name="Text 5"/>
          <p:cNvSpPr/>
          <p:nvPr/>
        </p:nvSpPr>
        <p:spPr>
          <a:xfrm>
            <a:off x="1600200" y="2926080"/>
            <a:ext cx="3886200" cy="365760"/>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Time-domain shape</a:t>
            </a:r>
            <a:endParaRPr lang="en-US" sz="1450" dirty="0"/>
          </a:p>
        </p:txBody>
      </p:sp>
      <p:sp>
        <p:nvSpPr>
          <p:cNvPr id="9" name="Text 6"/>
          <p:cNvSpPr/>
          <p:nvPr/>
        </p:nvSpPr>
        <p:spPr>
          <a:xfrm>
            <a:off x="1600200" y="3310128"/>
            <a:ext cx="3840480" cy="777240"/>
          </a:xfrm>
          <a:prstGeom prst="rect">
            <a:avLst/>
          </a:prstGeom>
          <a:noFill/>
          <a:ln/>
        </p:spPr>
        <p:txBody>
          <a:bodyPr wrap="square" lIns="0" tIns="0" rIns="0" bIns="0" rtlCol="0" anchor="ctr"/>
          <a:lstStyle/>
          <a:p>
            <a:pPr indent="0" marL="0">
              <a:lnSpc>
                <a:spcPct val="120000"/>
              </a:lnSpc>
              <a:buNone/>
            </a:pPr>
            <a:r>
              <a:rPr lang="en-US" sz="1050" dirty="0">
                <a:solidFill>
                  <a:srgbClr val="64748B"/>
                </a:solidFill>
                <a:latin typeface="Calibri" pitchFamily="34" charset="0"/>
                <a:ea typeface="Calibri" pitchFamily="34" charset="-122"/>
                <a:cs typeface="Calibri" pitchFamily="34" charset="-120"/>
              </a:rPr>
              <a:t>How the signal looks over time — peak voltage, RMS, rise time, settling time, skewness, kurtosis, DC level.</a:t>
            </a:r>
            <a:endParaRPr lang="en-US" sz="1050" dirty="0"/>
          </a:p>
        </p:txBody>
      </p:sp>
      <p:sp>
        <p:nvSpPr>
          <p:cNvPr id="10" name="Shape 7"/>
          <p:cNvSpPr/>
          <p:nvPr/>
        </p:nvSpPr>
        <p:spPr>
          <a:xfrm>
            <a:off x="6126480" y="2743200"/>
            <a:ext cx="5166360" cy="1417320"/>
          </a:xfrm>
          <a:prstGeom prst="roundRect">
            <a:avLst>
              <a:gd name="adj" fmla="val 5806"/>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1" name="Shape 8"/>
          <p:cNvSpPr/>
          <p:nvPr/>
        </p:nvSpPr>
        <p:spPr>
          <a:xfrm>
            <a:off x="6382512" y="3108960"/>
            <a:ext cx="685800" cy="68580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2" name="Image 1" descr="/sessions/blissful-zealous-babbage/mnt/outputs/ppt/icons/wave_00B4D8.png">    </p:cNvPr>
          <p:cNvPicPr>
            <a:picLocks noChangeAspect="1"/>
          </p:cNvPicPr>
          <p:nvPr/>
        </p:nvPicPr>
        <p:blipFill>
          <a:blip r:embed="rId2"/>
          <a:stretch>
            <a:fillRect/>
          </a:stretch>
        </p:blipFill>
        <p:spPr>
          <a:xfrm>
            <a:off x="6475095" y="3201543"/>
            <a:ext cx="500634" cy="500634"/>
          </a:xfrm>
          <a:prstGeom prst="rect">
            <a:avLst/>
          </a:prstGeom>
        </p:spPr>
      </p:pic>
      <p:sp>
        <p:nvSpPr>
          <p:cNvPr id="13" name="Text 9"/>
          <p:cNvSpPr/>
          <p:nvPr/>
        </p:nvSpPr>
        <p:spPr>
          <a:xfrm>
            <a:off x="7223760" y="2926080"/>
            <a:ext cx="3886200" cy="365760"/>
          </a:xfrm>
          <a:prstGeom prst="rect">
            <a:avLst/>
          </a:prstGeom>
          <a:noFill/>
          <a:ln/>
        </p:spPr>
        <p:txBody>
          <a:bodyPr wrap="square" lIns="0" tIns="0" rIns="0" bIns="0" rtlCol="0" anchor="ctr"/>
          <a:lstStyle/>
          <a:p>
            <a:pPr indent="0" marL="0">
              <a:buNone/>
            </a:pPr>
            <a:r>
              <a:rPr lang="en-US" sz="1450" b="1" dirty="0">
                <a:solidFill>
                  <a:srgbClr val="0B1F3A"/>
                </a:solidFill>
                <a:latin typeface="Calibri" pitchFamily="34" charset="0"/>
                <a:ea typeface="Calibri" pitchFamily="34" charset="-122"/>
                <a:cs typeface="Calibri" pitchFamily="34" charset="-120"/>
              </a:rPr>
              <a:t>Frequency-domain content</a:t>
            </a:r>
            <a:endParaRPr lang="en-US" sz="1450" dirty="0"/>
          </a:p>
        </p:txBody>
      </p:sp>
      <p:sp>
        <p:nvSpPr>
          <p:cNvPr id="14" name="Text 10"/>
          <p:cNvSpPr/>
          <p:nvPr/>
        </p:nvSpPr>
        <p:spPr>
          <a:xfrm>
            <a:off x="7223760" y="3310128"/>
            <a:ext cx="3840480" cy="777240"/>
          </a:xfrm>
          <a:prstGeom prst="rect">
            <a:avLst/>
          </a:prstGeom>
          <a:noFill/>
          <a:ln/>
        </p:spPr>
        <p:txBody>
          <a:bodyPr wrap="square" lIns="0" tIns="0" rIns="0" bIns="0" rtlCol="0" anchor="ctr"/>
          <a:lstStyle/>
          <a:p>
            <a:pPr indent="0" marL="0">
              <a:lnSpc>
                <a:spcPct val="120000"/>
              </a:lnSpc>
              <a:buNone/>
            </a:pPr>
            <a:r>
              <a:rPr lang="en-US" sz="1050" dirty="0">
                <a:solidFill>
                  <a:srgbClr val="64748B"/>
                </a:solidFill>
                <a:latin typeface="Calibri" pitchFamily="34" charset="0"/>
                <a:ea typeface="Calibri" pitchFamily="34" charset="-122"/>
                <a:cs typeface="Calibri" pitchFamily="34" charset="-120"/>
              </a:rPr>
              <a:t>How much energy sits at which frequency — dominant frequency, spectral energy, centroid, bandwidth, entropy.</a:t>
            </a:r>
            <a:endParaRPr lang="en-US" sz="1050" dirty="0"/>
          </a:p>
        </p:txBody>
      </p:sp>
      <p:sp>
        <p:nvSpPr>
          <p:cNvPr id="15" name="Shape 11"/>
          <p:cNvSpPr/>
          <p:nvPr/>
        </p:nvSpPr>
        <p:spPr>
          <a:xfrm>
            <a:off x="502920" y="4480560"/>
            <a:ext cx="10607040" cy="1600200"/>
          </a:xfrm>
          <a:prstGeom prst="roundRect">
            <a:avLst>
              <a:gd name="adj" fmla="val 4000"/>
            </a:avLst>
          </a:prstGeom>
          <a:solidFill>
            <a:srgbClr val="EAEEF4"/>
          </a:solidFill>
          <a:ln w="15875">
            <a:solidFill>
              <a:srgbClr val="9FB1C8"/>
            </a:solidFill>
            <a:prstDash val="dash"/>
          </a:ln>
        </p:spPr>
      </p:sp>
      <p:pic>
        <p:nvPicPr>
          <p:cNvPr id="16" name="Image 2" descr="/sessions/blissful-zealous-babbage/mnt/outputs/ppt/icons/wave_64748B.png">    </p:cNvPr>
          <p:cNvPicPr>
            <a:picLocks noChangeAspect="1"/>
          </p:cNvPicPr>
          <p:nvPr/>
        </p:nvPicPr>
        <p:blipFill>
          <a:blip r:embed="rId3"/>
          <a:stretch>
            <a:fillRect/>
          </a:stretch>
        </p:blipFill>
        <p:spPr>
          <a:xfrm>
            <a:off x="5534406" y="4592574"/>
            <a:ext cx="544068" cy="544068"/>
          </a:xfrm>
          <a:prstGeom prst="rect">
            <a:avLst/>
          </a:prstGeom>
        </p:spPr>
      </p:pic>
      <p:sp>
        <p:nvSpPr>
          <p:cNvPr id="17" name="Text 12"/>
          <p:cNvSpPr/>
          <p:nvPr/>
        </p:nvSpPr>
        <p:spPr>
          <a:xfrm>
            <a:off x="685800" y="5055032"/>
            <a:ext cx="10241280"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ANNOTATED WAVEFORM</a:t>
            </a:r>
            <a:endParaRPr lang="en-US" sz="1300" dirty="0"/>
          </a:p>
        </p:txBody>
      </p:sp>
      <p:sp>
        <p:nvSpPr>
          <p:cNvPr id="18" name="Text 13"/>
          <p:cNvSpPr/>
          <p:nvPr/>
        </p:nvSpPr>
        <p:spPr>
          <a:xfrm>
            <a:off x="777240" y="5402504"/>
            <a:ext cx="10058400" cy="512064"/>
          </a:xfrm>
          <a:prstGeom prst="rect">
            <a:avLst/>
          </a:prstGeom>
          <a:noFill/>
          <a:ln/>
        </p:spPr>
        <p:txBody>
          <a:bodyPr wrap="square" lIns="0" tIns="0" rIns="0" bIns="0" rtlCol="0" anchor="ctr"/>
          <a:lstStyle/>
          <a:p>
            <a:pPr algn="ctr" indent="0" marL="0">
              <a:buNone/>
            </a:pPr>
            <a:r>
              <a:rPr lang="en-US" sz="1050" i="1" dirty="0">
                <a:solidFill>
                  <a:srgbClr val="8695AB"/>
                </a:solidFill>
                <a:latin typeface="Calibri" pitchFamily="34" charset="0"/>
                <a:ea typeface="Calibri" pitchFamily="34" charset="-122"/>
                <a:cs typeface="Calibri" pitchFamily="34" charset="-120"/>
              </a:rPr>
              <a:t>e.g. a single trace with peak voltage, rise time and settling time marked</a:t>
            </a:r>
            <a:endParaRPr lang="en-US" sz="1050" dirty="0"/>
          </a:p>
        </p:txBody>
      </p:sp>
      <p:sp>
        <p:nvSpPr>
          <p:cNvPr id="19" name="Text 14"/>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0" name="Text 15"/>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4. FEATURE ENGINEERING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Time-Domain Features: Amplitude &amp; Shape</a:t>
            </a:r>
            <a:endParaRPr lang="en-US" sz="3000" dirty="0"/>
          </a:p>
        </p:txBody>
      </p:sp>
      <p:sp>
        <p:nvSpPr>
          <p:cNvPr id="4" name="Shape 2"/>
          <p:cNvSpPr/>
          <p:nvPr/>
        </p:nvSpPr>
        <p:spPr>
          <a:xfrm>
            <a:off x="502920" y="1828800"/>
            <a:ext cx="10607040" cy="1737360"/>
          </a:xfrm>
          <a:prstGeom prst="roundRect">
            <a:avLst>
              <a:gd name="adj" fmla="val 4211"/>
            </a:avLst>
          </a:prstGeom>
          <a:solidFill>
            <a:srgbClr val="0B1F3A"/>
          </a:solidFill>
          <a:ln/>
          <a:effectLst>
            <a:outerShdw sx="100000" sy="100000" kx="0" ky="0" algn="bl" rotWithShape="0" blurRad="114300" dist="38100" dir="2700000">
              <a:srgbClr val="0B1F3A">
                <a:alpha val="14000"/>
              </a:srgbClr>
            </a:outerShdw>
          </a:effectLst>
        </p:spPr>
      </p:sp>
      <p:sp>
        <p:nvSpPr>
          <p:cNvPr id="5" name="Text 3"/>
          <p:cNvSpPr/>
          <p:nvPr/>
        </p:nvSpPr>
        <p:spPr>
          <a:xfrm>
            <a:off x="777240" y="1965960"/>
            <a:ext cx="10058400" cy="1463040"/>
          </a:xfrm>
          <a:prstGeom prst="rect">
            <a:avLst/>
          </a:prstGeom>
          <a:noFill/>
          <a:ln/>
        </p:spPr>
        <p:txBody>
          <a:bodyPr wrap="square" lIns="0" tIns="0" rIns="0" bIns="0" rtlCol="0" anchor="ctr"/>
          <a:lstStyle/>
          <a:p>
            <a:pPr algn="l" indent="0" marL="0">
              <a:lnSpc>
                <a:spcPct val="140000"/>
              </a:lnSpc>
              <a:buNone/>
            </a:pPr>
            <a:r>
              <a:rPr lang="en-US" sz="1450" dirty="0">
                <a:solidFill>
                  <a:srgbClr val="E7ECF4"/>
                </a:solidFill>
                <a:latin typeface="Courier New" pitchFamily="34" charset="0"/>
                <a:ea typeface="Courier New" pitchFamily="34" charset="-122"/>
                <a:cs typeface="Courier New" pitchFamily="34" charset="-120"/>
              </a:rPr>
              <a:t>f1  peak_voltage  = max(v)</a:t>
            </a:r>
            <a:endParaRPr lang="en-US" sz="1450" dirty="0"/>
          </a:p>
          <a:p>
            <a:pPr algn="l" indent="0" marL="0">
              <a:lnSpc>
                <a:spcPct val="140000"/>
              </a:lnSpc>
              <a:buNone/>
            </a:pPr>
            <a:r>
              <a:rPr lang="en-US" sz="1450" dirty="0">
                <a:solidFill>
                  <a:srgbClr val="E7ECF4"/>
                </a:solidFill>
                <a:latin typeface="Courier New" pitchFamily="34" charset="0"/>
                <a:ea typeface="Courier New" pitchFamily="34" charset="-122"/>
                <a:cs typeface="Courier New" pitchFamily="34" charset="-120"/>
              </a:rPr>
              <a:t>f2  rms_value     = sqrt( mean(v^2) )</a:t>
            </a:r>
            <a:endParaRPr lang="en-US" sz="1450" dirty="0"/>
          </a:p>
          <a:p>
            <a:pPr algn="l" indent="0" marL="0">
              <a:lnSpc>
                <a:spcPct val="140000"/>
              </a:lnSpc>
              <a:buNone/>
            </a:pPr>
            <a:r>
              <a:rPr lang="en-US" sz="1450" dirty="0">
                <a:solidFill>
                  <a:srgbClr val="E7ECF4"/>
                </a:solidFill>
                <a:latin typeface="Courier New" pitchFamily="34" charset="0"/>
                <a:ea typeface="Courier New" pitchFamily="34" charset="-122"/>
                <a:cs typeface="Courier New" pitchFamily="34" charset="-120"/>
              </a:rPr>
              <a:t>f3  mean_voltage  = mean(v)</a:t>
            </a:r>
            <a:endParaRPr lang="en-US" sz="1450" dirty="0"/>
          </a:p>
          <a:p>
            <a:pPr algn="l" indent="0" marL="0">
              <a:lnSpc>
                <a:spcPct val="140000"/>
              </a:lnSpc>
              <a:buNone/>
            </a:pPr>
            <a:r>
              <a:rPr lang="en-US" sz="1450" dirty="0">
                <a:solidFill>
                  <a:srgbClr val="E7ECF4"/>
                </a:solidFill>
                <a:latin typeface="Courier New" pitchFamily="34" charset="0"/>
                <a:ea typeface="Courier New" pitchFamily="34" charset="-122"/>
                <a:cs typeface="Courier New" pitchFamily="34" charset="-120"/>
              </a:rPr>
              <a:t>f4  std_voltage   = std(v)</a:t>
            </a:r>
            <a:endParaRPr lang="en-US" sz="1450" dirty="0"/>
          </a:p>
        </p:txBody>
      </p:sp>
      <p:sp>
        <p:nvSpPr>
          <p:cNvPr id="6" name="Text 4"/>
          <p:cNvSpPr/>
          <p:nvPr/>
        </p:nvSpPr>
        <p:spPr>
          <a:xfrm>
            <a:off x="502920" y="3794760"/>
            <a:ext cx="10607040" cy="1737360"/>
          </a:xfrm>
          <a:prstGeom prst="rect">
            <a:avLst/>
          </a:prstGeom>
          <a:noFill/>
          <a:ln/>
        </p:spPr>
        <p:txBody>
          <a:bodyPr wrap="square" lIns="0" tIns="0" rIns="0" bIns="0" rtlCol="0" anchor="ctr"/>
          <a:lstStyle/>
          <a:p>
            <a:pPr indent="0" marL="0">
              <a:lnSpc>
                <a:spcPct val="132000"/>
              </a:lnSpc>
              <a:buNone/>
            </a:pPr>
            <a:r>
              <a:rPr lang="en-US" sz="1250" b="1" dirty="0">
                <a:solidFill>
                  <a:srgbClr val="0B1F3A"/>
                </a:solidFill>
                <a:latin typeface="Calibri" pitchFamily="34" charset="0"/>
                <a:ea typeface="Calibri" pitchFamily="34" charset="-122"/>
                <a:cs typeface="Calibri" pitchFamily="34" charset="-120"/>
              </a:rPr>
              <a:t>These four numbers describe the basic size and spread of a waveform. </a:t>
            </a:r>
            <a:pPr indent="0" marL="0">
              <a:lnSpc>
                <a:spcPct val="132000"/>
              </a:lnSpc>
              <a:buNone/>
            </a:pPr>
            <a:r>
              <a:rPr lang="en-US" sz="1250" dirty="0">
                <a:solidFill>
                  <a:srgbClr val="64748B"/>
                </a:solidFill>
                <a:latin typeface="Calibri" pitchFamily="34" charset="0"/>
                <a:ea typeface="Calibri" pitchFamily="34" charset="-122"/>
                <a:cs typeface="Calibri" pitchFamily="34" charset="-120"/>
              </a:rPr>
              <a:t>A shorted capacitor pushes peak_voltage toward the full 5V almost immediately; an open circuit keeps it near 0V. std_voltage in particular turns out to be one of the two most important features in the trained model (see Results).</a:t>
            </a:r>
            <a:endParaRPr lang="en-US" sz="125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4. FEATURE ENGINEERING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Time-Domain Features: Timing</a:t>
            </a:r>
            <a:endParaRPr lang="en-US" sz="3000" dirty="0"/>
          </a:p>
        </p:txBody>
      </p:sp>
      <p:sp>
        <p:nvSpPr>
          <p:cNvPr id="4" name="Shape 2"/>
          <p:cNvSpPr/>
          <p:nvPr/>
        </p:nvSpPr>
        <p:spPr>
          <a:xfrm>
            <a:off x="502920" y="1828800"/>
            <a:ext cx="10607040" cy="1737360"/>
          </a:xfrm>
          <a:prstGeom prst="roundRect">
            <a:avLst>
              <a:gd name="adj" fmla="val 4211"/>
            </a:avLst>
          </a:prstGeom>
          <a:solidFill>
            <a:srgbClr val="0B1F3A"/>
          </a:solidFill>
          <a:ln/>
          <a:effectLst>
            <a:outerShdw sx="100000" sy="100000" kx="0" ky="0" algn="bl" rotWithShape="0" blurRad="114300" dist="38100" dir="2700000">
              <a:srgbClr val="0B1F3A">
                <a:alpha val="14000"/>
              </a:srgbClr>
            </a:outerShdw>
          </a:effectLst>
        </p:spPr>
      </p:sp>
      <p:sp>
        <p:nvSpPr>
          <p:cNvPr id="5" name="Text 3"/>
          <p:cNvSpPr/>
          <p:nvPr/>
        </p:nvSpPr>
        <p:spPr>
          <a:xfrm>
            <a:off x="777240" y="1965960"/>
            <a:ext cx="10058400" cy="1463040"/>
          </a:xfrm>
          <a:prstGeom prst="rect">
            <a:avLst/>
          </a:prstGeom>
          <a:noFill/>
          <a:ln/>
        </p:spPr>
        <p:txBody>
          <a:bodyPr wrap="square" lIns="0" tIns="0" rIns="0" bIns="0" rtlCol="0" anchor="ctr"/>
          <a:lstStyle/>
          <a:p>
            <a:pPr algn="l" indent="0" marL="0">
              <a:lnSpc>
                <a:spcPct val="140000"/>
              </a:lnSpc>
              <a:buNone/>
            </a:pPr>
            <a:r>
              <a:rPr lang="en-US" sz="1400" dirty="0">
                <a:solidFill>
                  <a:srgbClr val="E7ECF4"/>
                </a:solidFill>
                <a:latin typeface="Courier New" pitchFamily="34" charset="0"/>
                <a:ea typeface="Courier New" pitchFamily="34" charset="-122"/>
                <a:cs typeface="Courier New" pitchFamily="34" charset="-120"/>
              </a:rPr>
              <a:t>f5  rise_time      = t(at 90% peak) - t(at 10% peak)</a:t>
            </a:r>
            <a:endParaRPr lang="en-US" sz="1400" dirty="0"/>
          </a:p>
          <a:p>
            <a:pPr algn="l" indent="0" marL="0">
              <a:lnSpc>
                <a:spcPct val="140000"/>
              </a:lnSpc>
              <a:buNone/>
            </a:pPr>
            <a:r>
              <a:rPr lang="en-US" sz="1400" dirty="0">
                <a:solidFill>
                  <a:srgbClr val="E7ECF4"/>
                </a:solidFill>
                <a:latin typeface="Courier New" pitchFamily="34" charset="0"/>
                <a:ea typeface="Courier New" pitchFamily="34" charset="-122"/>
                <a:cs typeface="Courier New" pitchFamily="34" charset="-120"/>
              </a:rPr>
              <a:t>f6  settling_time  = last t where |v(t) - v_final| &gt; 2% * |v_final|</a:t>
            </a:r>
            <a:endParaRPr lang="en-US" sz="1400" dirty="0"/>
          </a:p>
        </p:txBody>
      </p:sp>
      <p:sp>
        <p:nvSpPr>
          <p:cNvPr id="6" name="Text 4"/>
          <p:cNvSpPr/>
          <p:nvPr/>
        </p:nvSpPr>
        <p:spPr>
          <a:xfrm>
            <a:off x="502920" y="3794760"/>
            <a:ext cx="10607040" cy="1737360"/>
          </a:xfrm>
          <a:prstGeom prst="rect">
            <a:avLst/>
          </a:prstGeom>
          <a:noFill/>
          <a:ln/>
        </p:spPr>
        <p:txBody>
          <a:bodyPr wrap="square" lIns="0" tIns="0" rIns="0" bIns="0" rtlCol="0" anchor="ctr"/>
          <a:lstStyle/>
          <a:p>
            <a:pPr indent="0" marL="0">
              <a:lnSpc>
                <a:spcPct val="132000"/>
              </a:lnSpc>
              <a:buNone/>
            </a:pPr>
            <a:r>
              <a:rPr lang="en-US" sz="1250" b="1" dirty="0">
                <a:solidFill>
                  <a:srgbClr val="0B1F3A"/>
                </a:solidFill>
                <a:latin typeface="Calibri" pitchFamily="34" charset="0"/>
                <a:ea typeface="Calibri" pitchFamily="34" charset="-122"/>
                <a:cs typeface="Calibri" pitchFamily="34" charset="-120"/>
              </a:rPr>
              <a:t>rise_time is the single most important feature in the trained model — </a:t>
            </a:r>
            <a:pPr indent="0" marL="0">
              <a:lnSpc>
                <a:spcPct val="132000"/>
              </a:lnSpc>
              <a:buNone/>
            </a:pPr>
            <a:r>
              <a:rPr lang="en-US" sz="1250" dirty="0">
                <a:solidFill>
                  <a:srgbClr val="64748B"/>
                </a:solidFill>
                <a:latin typeface="Calibri" pitchFamily="34" charset="0"/>
                <a:ea typeface="Calibri" pitchFamily="34" charset="-122"/>
                <a:cs typeface="Calibri" pitchFamily="34" charset="-120"/>
              </a:rPr>
              <a:t>it directly captures how fast a circuit charges, which is exactly what open (never charges) and short (charges instantly) faults change most. settling_time captures how long oscillation or transients persist before the signal stabilizes.</a:t>
            </a:r>
            <a:endParaRPr lang="en-US" sz="125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4. FEATURE ENGINEERING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Time-Domain Features: Statistical Shape</a:t>
            </a:r>
            <a:endParaRPr lang="en-US" sz="3000" dirty="0"/>
          </a:p>
        </p:txBody>
      </p:sp>
      <p:sp>
        <p:nvSpPr>
          <p:cNvPr id="4" name="Shape 2"/>
          <p:cNvSpPr/>
          <p:nvPr/>
        </p:nvSpPr>
        <p:spPr>
          <a:xfrm>
            <a:off x="502920" y="1828800"/>
            <a:ext cx="10607040" cy="1737360"/>
          </a:xfrm>
          <a:prstGeom prst="roundRect">
            <a:avLst>
              <a:gd name="adj" fmla="val 4211"/>
            </a:avLst>
          </a:prstGeom>
          <a:solidFill>
            <a:srgbClr val="0B1F3A"/>
          </a:solidFill>
          <a:ln/>
          <a:effectLst>
            <a:outerShdw sx="100000" sy="100000" kx="0" ky="0" algn="bl" rotWithShape="0" blurRad="114300" dist="38100" dir="2700000">
              <a:srgbClr val="0B1F3A">
                <a:alpha val="14000"/>
              </a:srgbClr>
            </a:outerShdw>
          </a:effectLst>
        </p:spPr>
      </p:sp>
      <p:sp>
        <p:nvSpPr>
          <p:cNvPr id="5" name="Text 3"/>
          <p:cNvSpPr/>
          <p:nvPr/>
        </p:nvSpPr>
        <p:spPr>
          <a:xfrm>
            <a:off x="777240" y="1965960"/>
            <a:ext cx="10058400" cy="1463040"/>
          </a:xfrm>
          <a:prstGeom prst="rect">
            <a:avLst/>
          </a:prstGeom>
          <a:noFill/>
          <a:ln/>
        </p:spPr>
        <p:txBody>
          <a:bodyPr wrap="square" lIns="0" tIns="0" rIns="0" bIns="0" rtlCol="0" anchor="ctr"/>
          <a:lstStyle/>
          <a:p>
            <a:pPr algn="l" indent="0" marL="0">
              <a:lnSpc>
                <a:spcPct val="140000"/>
              </a:lnSpc>
              <a:buNone/>
            </a:pPr>
            <a:r>
              <a:rPr lang="en-US" sz="1400" dirty="0">
                <a:solidFill>
                  <a:srgbClr val="E7ECF4"/>
                </a:solidFill>
                <a:latin typeface="Courier New" pitchFamily="34" charset="0"/>
                <a:ea typeface="Courier New" pitchFamily="34" charset="-122"/>
                <a:cs typeface="Courier New" pitchFamily="34" charset="-120"/>
              </a:rPr>
              <a:t>f7  skewness  = E[ (v - mean)^3 ] / std^3    (asymmetry)</a:t>
            </a:r>
            <a:endParaRPr lang="en-US" sz="1400" dirty="0"/>
          </a:p>
          <a:p>
            <a:pPr algn="l" indent="0" marL="0">
              <a:lnSpc>
                <a:spcPct val="140000"/>
              </a:lnSpc>
              <a:buNone/>
            </a:pPr>
            <a:r>
              <a:rPr lang="en-US" sz="1400" dirty="0">
                <a:solidFill>
                  <a:srgbClr val="E7ECF4"/>
                </a:solidFill>
                <a:latin typeface="Courier New" pitchFamily="34" charset="0"/>
                <a:ea typeface="Courier New" pitchFamily="34" charset="-122"/>
                <a:cs typeface="Courier New" pitchFamily="34" charset="-120"/>
              </a:rPr>
              <a:t>f8  kurtosis  = E[ (v - mean)^4 ] / std^4     (peakedness)</a:t>
            </a:r>
            <a:endParaRPr lang="en-US" sz="1400" dirty="0"/>
          </a:p>
        </p:txBody>
      </p:sp>
      <p:sp>
        <p:nvSpPr>
          <p:cNvPr id="6" name="Text 4"/>
          <p:cNvSpPr/>
          <p:nvPr/>
        </p:nvSpPr>
        <p:spPr>
          <a:xfrm>
            <a:off x="502920" y="3794760"/>
            <a:ext cx="10607040" cy="1737360"/>
          </a:xfrm>
          <a:prstGeom prst="rect">
            <a:avLst/>
          </a:prstGeom>
          <a:noFill/>
          <a:ln/>
        </p:spPr>
        <p:txBody>
          <a:bodyPr wrap="square" lIns="0" tIns="0" rIns="0" bIns="0" rtlCol="0" anchor="ctr"/>
          <a:lstStyle/>
          <a:p>
            <a:pPr indent="0" marL="0">
              <a:lnSpc>
                <a:spcPct val="132000"/>
              </a:lnSpc>
              <a:buNone/>
            </a:pPr>
            <a:r>
              <a:rPr lang="en-US" sz="1250" dirty="0">
                <a:solidFill>
                  <a:srgbClr val="1E293B"/>
                </a:solidFill>
                <a:latin typeface="Calibri" pitchFamily="34" charset="0"/>
                <a:ea typeface="Calibri" pitchFamily="34" charset="-122"/>
                <a:cs typeface="Calibri" pitchFamily="34" charset="-120"/>
              </a:rPr>
              <a:t>Borrowed from statistics, these describe the </a:t>
            </a:r>
            <a:pPr indent="0" marL="0">
              <a:lnSpc>
                <a:spcPct val="132000"/>
              </a:lnSpc>
              <a:buNone/>
            </a:pPr>
            <a:r>
              <a:rPr lang="en-US" sz="1250" b="1" i="1" dirty="0">
                <a:solidFill>
                  <a:srgbClr val="0B1F3A"/>
                </a:solidFill>
                <a:latin typeface="Calibri" pitchFamily="34" charset="0"/>
                <a:ea typeface="Calibri" pitchFamily="34" charset="-122"/>
                <a:cs typeface="Calibri" pitchFamily="34" charset="-120"/>
              </a:rPr>
              <a:t>shape</a:t>
            </a:r>
            <a:pPr indent="0" marL="0">
              <a:lnSpc>
                <a:spcPct val="132000"/>
              </a:lnSpc>
              <a:buNone/>
            </a:pPr>
            <a:r>
              <a:rPr lang="en-US" sz="1250" dirty="0">
                <a:solidFill>
                  <a:srgbClr val="64748B"/>
                </a:solidFill>
                <a:latin typeface="Calibri" pitchFamily="34" charset="0"/>
                <a:ea typeface="Calibri" pitchFamily="34" charset="-122"/>
                <a:cs typeface="Calibri" pitchFamily="34" charset="-120"/>
              </a:rPr>
              <a:t> of the voltage distribution across the whole waveform, not just its size. A lopsided charge/discharge curve skews one way; a noisy signal has different kurtosis than a smooth one — useful signal the size-based features alone miss.</a:t>
            </a:r>
            <a:endParaRPr lang="en-US" sz="125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4. FEATURE ENGINEERING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Frequency-Domain Features: The FFT</a:t>
            </a:r>
            <a:endParaRPr lang="en-US" sz="3000" dirty="0"/>
          </a:p>
        </p:txBody>
      </p:sp>
      <p:sp>
        <p:nvSpPr>
          <p:cNvPr id="4" name="Text 2"/>
          <p:cNvSpPr/>
          <p:nvPr/>
        </p:nvSpPr>
        <p:spPr>
          <a:xfrm>
            <a:off x="502920" y="1828800"/>
            <a:ext cx="10607040" cy="1005840"/>
          </a:xfrm>
          <a:prstGeom prst="rect">
            <a:avLst/>
          </a:prstGeom>
          <a:noFill/>
          <a:ln/>
        </p:spPr>
        <p:txBody>
          <a:bodyPr wrap="square" lIns="0" tIns="0" rIns="0" bIns="0" rtlCol="0" anchor="ctr"/>
          <a:lstStyle/>
          <a:p>
            <a:pPr indent="0" marL="0">
              <a:lnSpc>
                <a:spcPct val="130000"/>
              </a:lnSpc>
              <a:buNone/>
            </a:pPr>
            <a:r>
              <a:rPr lang="en-US" sz="1350" dirty="0">
                <a:solidFill>
                  <a:srgbClr val="1E293B"/>
                </a:solidFill>
                <a:latin typeface="Calibri" pitchFamily="34" charset="0"/>
                <a:ea typeface="Calibri" pitchFamily="34" charset="-122"/>
                <a:cs typeface="Calibri" pitchFamily="34" charset="-120"/>
              </a:rPr>
              <a:t>The Fast Fourier Transform rewrites a signal from “voltage over time” into “energy at each frequency.” </a:t>
            </a:r>
            <a:pPr indent="0" marL="0">
              <a:lnSpc>
                <a:spcPct val="130000"/>
              </a:lnSpc>
              <a:buNone/>
            </a:pPr>
            <a:r>
              <a:rPr lang="en-US" sz="1350" dirty="0">
                <a:solidFill>
                  <a:srgbClr val="64748B"/>
                </a:solidFill>
                <a:latin typeface="Calibri" pitchFamily="34" charset="0"/>
                <a:ea typeface="Calibri" pitchFamily="34" charset="-122"/>
                <a:cs typeface="Calibri" pitchFamily="34" charset="-120"/>
              </a:rPr>
              <a:t>A smooth RC charging curve is dominated by low frequencies; noise spreads energy across many frequencies; an RLC's ringing shows a clear peak at its oscillation frequency.</a:t>
            </a:r>
            <a:endParaRPr lang="en-US" sz="1350" dirty="0"/>
          </a:p>
        </p:txBody>
      </p:sp>
      <p:sp>
        <p:nvSpPr>
          <p:cNvPr id="5" name="Shape 3"/>
          <p:cNvSpPr/>
          <p:nvPr/>
        </p:nvSpPr>
        <p:spPr>
          <a:xfrm>
            <a:off x="502920" y="3017520"/>
            <a:ext cx="10607040" cy="1051560"/>
          </a:xfrm>
          <a:prstGeom prst="roundRect">
            <a:avLst>
              <a:gd name="adj" fmla="val 6957"/>
            </a:avLst>
          </a:prstGeom>
          <a:solidFill>
            <a:srgbClr val="0B1F3A"/>
          </a:solidFill>
          <a:ln/>
          <a:effectLst>
            <a:outerShdw sx="100000" sy="100000" kx="0" ky="0" algn="bl" rotWithShape="0" blurRad="114300" dist="38100" dir="2700000">
              <a:srgbClr val="0B1F3A">
                <a:alpha val="14000"/>
              </a:srgbClr>
            </a:outerShdw>
          </a:effectLst>
        </p:spPr>
      </p:sp>
      <p:sp>
        <p:nvSpPr>
          <p:cNvPr id="6" name="Text 4"/>
          <p:cNvSpPr/>
          <p:nvPr/>
        </p:nvSpPr>
        <p:spPr>
          <a:xfrm>
            <a:off x="777240" y="3154680"/>
            <a:ext cx="10058400" cy="777240"/>
          </a:xfrm>
          <a:prstGeom prst="rect">
            <a:avLst/>
          </a:prstGeom>
          <a:noFill/>
          <a:ln/>
        </p:spPr>
        <p:txBody>
          <a:bodyPr wrap="square" lIns="0" tIns="0" rIns="0" bIns="0" rtlCol="0" anchor="ctr"/>
          <a:lstStyle/>
          <a:p>
            <a:pPr algn="l" indent="0" marL="0">
              <a:lnSpc>
                <a:spcPct val="140000"/>
              </a:lnSpc>
              <a:buNone/>
            </a:pPr>
            <a:r>
              <a:rPr lang="en-US" sz="1500" dirty="0">
                <a:solidFill>
                  <a:srgbClr val="E7ECF4"/>
                </a:solidFill>
                <a:latin typeface="Courier New" pitchFamily="34" charset="0"/>
                <a:ea typeface="Courier New" pitchFamily="34" charset="-122"/>
                <a:cs typeface="Courier New" pitchFamily="34" charset="-120"/>
              </a:rPr>
              <a:t>V(f) = FFT( v(t) )    |    magnitude spectrum |V(f)|</a:t>
            </a:r>
            <a:endParaRPr lang="en-US" sz="1500" dirty="0"/>
          </a:p>
        </p:txBody>
      </p:sp>
      <p:sp>
        <p:nvSpPr>
          <p:cNvPr id="7" name="Text 5"/>
          <p:cNvSpPr/>
          <p:nvPr/>
        </p:nvSpPr>
        <p:spPr>
          <a:xfrm>
            <a:off x="502920" y="4251960"/>
            <a:ext cx="10607040" cy="457200"/>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Five features (next slide) are computed from this magnitude spectrum rather than from the raw time signal.</a:t>
            </a:r>
            <a:endParaRPr lang="en-US" sz="1150" dirty="0"/>
          </a:p>
        </p:txBody>
      </p:sp>
      <p:sp>
        <p:nvSpPr>
          <p:cNvPr id="8" name="Shape 6"/>
          <p:cNvSpPr/>
          <p:nvPr/>
        </p:nvSpPr>
        <p:spPr>
          <a:xfrm>
            <a:off x="502920" y="5029200"/>
            <a:ext cx="11185855" cy="457200"/>
          </a:xfrm>
          <a:prstGeom prst="roundRect">
            <a:avLst>
              <a:gd name="adj" fmla="val 12000"/>
            </a:avLst>
          </a:prstGeom>
          <a:solidFill>
            <a:srgbClr val="FFF8E8"/>
          </a:solidFill>
          <a:ln w="12700">
            <a:solidFill>
              <a:srgbClr val="F0C24B"/>
            </a:solidFill>
            <a:prstDash val="solid"/>
          </a:ln>
        </p:spPr>
      </p:sp>
      <p:sp>
        <p:nvSpPr>
          <p:cNvPr id="9" name="Text 7"/>
          <p:cNvSpPr/>
          <p:nvPr/>
        </p:nvSpPr>
        <p:spPr>
          <a:xfrm>
            <a:off x="667512" y="5029200"/>
            <a:ext cx="10856671" cy="457200"/>
          </a:xfrm>
          <a:prstGeom prst="rect">
            <a:avLst/>
          </a:prstGeom>
          <a:noFill/>
          <a:ln/>
        </p:spPr>
        <p:txBody>
          <a:bodyPr wrap="square" lIns="0" tIns="0" rIns="0" bIns="0" rtlCol="0" anchor="ctr"/>
          <a:lstStyle/>
          <a:p>
            <a:pPr indent="0" marL="0">
              <a:lnSpc>
                <a:spcPct val="112000"/>
              </a:lnSpc>
              <a:buNone/>
            </a:pPr>
            <a:r>
              <a:rPr lang="en-US" sz="950" b="1" dirty="0">
                <a:solidFill>
                  <a:srgbClr val="9A6B00"/>
                </a:solidFill>
                <a:latin typeface="Calibri" pitchFamily="34" charset="0"/>
                <a:ea typeface="Calibri" pitchFamily="34" charset="-122"/>
                <a:cs typeface="Calibri" pitchFamily="34" charset="-120"/>
              </a:rPr>
              <a:t>  IN PLAIN TERMS (for the ECE side):  </a:t>
            </a:r>
            <a:pPr indent="0" marL="0">
              <a:lnSpc>
                <a:spcPct val="112000"/>
              </a:lnSpc>
              <a:buNone/>
            </a:pPr>
            <a:r>
              <a:rPr lang="en-US" sz="950" dirty="0">
                <a:solidFill>
                  <a:srgbClr val="3D3620"/>
                </a:solidFill>
                <a:latin typeface="Calibri" pitchFamily="34" charset="0"/>
                <a:ea typeface="Calibri" pitchFamily="34" charset="-122"/>
                <a:cs typeface="Calibri" pitchFamily="34" charset="-120"/>
              </a:rPr>
              <a:t>FFT is standard signal-processing math you already know from courses — this step is no different than reading a spectrum analyzer, just done in code instead of on a bench instrument.</a:t>
            </a:r>
            <a:endParaRPr lang="en-US" sz="950" dirty="0"/>
          </a:p>
        </p:txBody>
      </p:sp>
      <p:sp>
        <p:nvSpPr>
          <p:cNvPr id="10" name="Text 8"/>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1" name="Text 9"/>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4. FEATURE ENGINEERING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Frequency-Domain Features: Spectral Descriptors</a:t>
            </a:r>
            <a:endParaRPr lang="en-US" sz="3000" dirty="0"/>
          </a:p>
        </p:txBody>
      </p:sp>
      <p:sp>
        <p:nvSpPr>
          <p:cNvPr id="4" name="Shape 2"/>
          <p:cNvSpPr/>
          <p:nvPr/>
        </p:nvSpPr>
        <p:spPr>
          <a:xfrm>
            <a:off x="502920" y="1828800"/>
            <a:ext cx="10607040" cy="1737360"/>
          </a:xfrm>
          <a:prstGeom prst="roundRect">
            <a:avLst>
              <a:gd name="adj" fmla="val 4211"/>
            </a:avLst>
          </a:prstGeom>
          <a:solidFill>
            <a:srgbClr val="0B1F3A"/>
          </a:solidFill>
          <a:ln/>
          <a:effectLst>
            <a:outerShdw sx="100000" sy="100000" kx="0" ky="0" algn="bl" rotWithShape="0" blurRad="114300" dist="38100" dir="2700000">
              <a:srgbClr val="0B1F3A">
                <a:alpha val="14000"/>
              </a:srgbClr>
            </a:outerShdw>
          </a:effectLst>
        </p:spPr>
      </p:sp>
      <p:sp>
        <p:nvSpPr>
          <p:cNvPr id="5" name="Text 3"/>
          <p:cNvSpPr/>
          <p:nvPr/>
        </p:nvSpPr>
        <p:spPr>
          <a:xfrm>
            <a:off x="777240" y="1965960"/>
            <a:ext cx="10058400" cy="1463040"/>
          </a:xfrm>
          <a:prstGeom prst="rect">
            <a:avLst/>
          </a:prstGeom>
          <a:noFill/>
          <a:ln/>
        </p:spPr>
        <p:txBody>
          <a:bodyPr wrap="square" lIns="0" tIns="0" rIns="0" bIns="0" rtlCol="0" anchor="ctr"/>
          <a:lstStyle/>
          <a:p>
            <a:pPr algn="l" indent="0" marL="0">
              <a:lnSpc>
                <a:spcPct val="140000"/>
              </a:lnSpc>
              <a:buNone/>
            </a:pPr>
            <a:r>
              <a:rPr lang="en-US" sz="1200" dirty="0">
                <a:solidFill>
                  <a:srgbClr val="E7ECF4"/>
                </a:solidFill>
                <a:latin typeface="Courier New" pitchFamily="34" charset="0"/>
                <a:ea typeface="Courier New" pitchFamily="34" charset="-122"/>
                <a:cs typeface="Courier New" pitchFamily="34" charset="-120"/>
              </a:rPr>
              <a:t>f9   dominant_freq       = f at max |V(f)|,  50-2000 Hz band</a:t>
            </a:r>
            <a:endParaRPr lang="en-US" sz="1200" dirty="0"/>
          </a:p>
          <a:p>
            <a:pPr algn="l" indent="0" marL="0">
              <a:lnSpc>
                <a:spcPct val="140000"/>
              </a:lnSpc>
              <a:buNone/>
            </a:pPr>
            <a:r>
              <a:rPr lang="en-US" sz="1200" dirty="0">
                <a:solidFill>
                  <a:srgbClr val="E7ECF4"/>
                </a:solidFill>
                <a:latin typeface="Courier New" pitchFamily="34" charset="0"/>
                <a:ea typeface="Courier New" pitchFamily="34" charset="-122"/>
                <a:cs typeface="Courier New" pitchFamily="34" charset="-120"/>
              </a:rPr>
              <a:t>f10  spectral_energy     = sum( |V(f)|^2 )</a:t>
            </a:r>
            <a:endParaRPr lang="en-US" sz="1200" dirty="0"/>
          </a:p>
          <a:p>
            <a:pPr algn="l" indent="0" marL="0">
              <a:lnSpc>
                <a:spcPct val="140000"/>
              </a:lnSpc>
              <a:buNone/>
            </a:pPr>
            <a:r>
              <a:rPr lang="en-US" sz="1200" dirty="0">
                <a:solidFill>
                  <a:srgbClr val="E7ECF4"/>
                </a:solidFill>
                <a:latin typeface="Courier New" pitchFamily="34" charset="0"/>
                <a:ea typeface="Courier New" pitchFamily="34" charset="-122"/>
                <a:cs typeface="Courier New" pitchFamily="34" charset="-120"/>
              </a:rPr>
              <a:t>f11  spectral_centroid   = sum(f*|V(f)|) / sum(|V(f)|)   ("center of mass")</a:t>
            </a:r>
            <a:endParaRPr lang="en-US" sz="1200" dirty="0"/>
          </a:p>
          <a:p>
            <a:pPr algn="l" indent="0" marL="0">
              <a:lnSpc>
                <a:spcPct val="140000"/>
              </a:lnSpc>
              <a:buNone/>
            </a:pPr>
            <a:r>
              <a:rPr lang="en-US" sz="1200" dirty="0">
                <a:solidFill>
                  <a:srgbClr val="E7ECF4"/>
                </a:solidFill>
                <a:latin typeface="Courier New" pitchFamily="34" charset="0"/>
                <a:ea typeface="Courier New" pitchFamily="34" charset="-122"/>
                <a:cs typeface="Courier New" pitchFamily="34" charset="-120"/>
              </a:rPr>
              <a:t>f12  bandwidth           = sqrt( sum((f-centroid)^2 * |V(f)|) / sum(|V(f)|) )</a:t>
            </a:r>
            <a:endParaRPr lang="en-US" sz="1200" dirty="0"/>
          </a:p>
          <a:p>
            <a:pPr algn="l" indent="0" marL="0">
              <a:lnSpc>
                <a:spcPct val="140000"/>
              </a:lnSpc>
              <a:buNone/>
            </a:pPr>
            <a:r>
              <a:rPr lang="en-US" sz="1200" dirty="0">
                <a:solidFill>
                  <a:srgbClr val="E7ECF4"/>
                </a:solidFill>
                <a:latin typeface="Courier New" pitchFamily="34" charset="0"/>
                <a:ea typeface="Courier New" pitchFamily="34" charset="-122"/>
                <a:cs typeface="Courier New" pitchFamily="34" charset="-120"/>
              </a:rPr>
              <a:t>f13  spectral_entropy    = -sum( p(f) * log2 p(f) ),  p(f)=|V(f)|^2/total</a:t>
            </a:r>
            <a:endParaRPr lang="en-US" sz="1200" dirty="0"/>
          </a:p>
        </p:txBody>
      </p:sp>
      <p:sp>
        <p:nvSpPr>
          <p:cNvPr id="6" name="Text 4"/>
          <p:cNvSpPr/>
          <p:nvPr/>
        </p:nvSpPr>
        <p:spPr>
          <a:xfrm>
            <a:off x="502920" y="3794760"/>
            <a:ext cx="10607040" cy="1737360"/>
          </a:xfrm>
          <a:prstGeom prst="rect">
            <a:avLst/>
          </a:prstGeom>
          <a:noFill/>
          <a:ln/>
        </p:spPr>
        <p:txBody>
          <a:bodyPr wrap="square" lIns="0" tIns="0" rIns="0" bIns="0" rtlCol="0" anchor="ctr"/>
          <a:lstStyle/>
          <a:p>
            <a:pPr indent="0" marL="0">
              <a:lnSpc>
                <a:spcPct val="132000"/>
              </a:lnSpc>
              <a:buNone/>
            </a:pPr>
            <a:r>
              <a:rPr lang="en-US" sz="1250" b="1" dirty="0">
                <a:solidFill>
                  <a:srgbClr val="0B1F3A"/>
                </a:solidFill>
                <a:latin typeface="Calibri" pitchFamily="34" charset="0"/>
                <a:ea typeface="Calibri" pitchFamily="34" charset="-122"/>
                <a:cs typeface="Calibri" pitchFamily="34" charset="-120"/>
              </a:rPr>
              <a:t>spectral_entropy is the third most important feature overall — </a:t>
            </a:r>
            <a:pPr indent="0" marL="0">
              <a:lnSpc>
                <a:spcPct val="132000"/>
              </a:lnSpc>
              <a:buNone/>
            </a:pPr>
            <a:r>
              <a:rPr lang="en-US" sz="1250" dirty="0">
                <a:solidFill>
                  <a:srgbClr val="64748B"/>
                </a:solidFill>
                <a:latin typeface="Calibri" pitchFamily="34" charset="0"/>
                <a:ea typeface="Calibri" pitchFamily="34" charset="-122"/>
                <a:cs typeface="Calibri" pitchFamily="34" charset="-120"/>
              </a:rPr>
              <a:t>a clean charging curve has low entropy (energy concentrated at low frequency); noise has high entropy (energy spread everywhere). This single number does a lot of work separating noise faults from everything else.</a:t>
            </a:r>
            <a:endParaRPr lang="en-US" sz="125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4. FEATURE ENGINEERING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Structural Features</a:t>
            </a:r>
            <a:endParaRPr lang="en-US" sz="3000" dirty="0"/>
          </a:p>
        </p:txBody>
      </p:sp>
      <p:sp>
        <p:nvSpPr>
          <p:cNvPr id="4" name="Shape 2"/>
          <p:cNvSpPr/>
          <p:nvPr/>
        </p:nvSpPr>
        <p:spPr>
          <a:xfrm>
            <a:off x="502920" y="1828800"/>
            <a:ext cx="10607040" cy="1737360"/>
          </a:xfrm>
          <a:prstGeom prst="roundRect">
            <a:avLst>
              <a:gd name="adj" fmla="val 4211"/>
            </a:avLst>
          </a:prstGeom>
          <a:solidFill>
            <a:srgbClr val="0B1F3A"/>
          </a:solidFill>
          <a:ln/>
          <a:effectLst>
            <a:outerShdw sx="100000" sy="100000" kx="0" ky="0" algn="bl" rotWithShape="0" blurRad="114300" dist="38100" dir="2700000">
              <a:srgbClr val="0B1F3A">
                <a:alpha val="14000"/>
              </a:srgbClr>
            </a:outerShdw>
          </a:effectLst>
        </p:spPr>
      </p:sp>
      <p:sp>
        <p:nvSpPr>
          <p:cNvPr id="5" name="Text 3"/>
          <p:cNvSpPr/>
          <p:nvPr/>
        </p:nvSpPr>
        <p:spPr>
          <a:xfrm>
            <a:off x="777240" y="1965960"/>
            <a:ext cx="10058400" cy="1463040"/>
          </a:xfrm>
          <a:prstGeom prst="rect">
            <a:avLst/>
          </a:prstGeom>
          <a:noFill/>
          <a:ln/>
        </p:spPr>
        <p:txBody>
          <a:bodyPr wrap="square" lIns="0" tIns="0" rIns="0" bIns="0" rtlCol="0" anchor="ctr"/>
          <a:lstStyle/>
          <a:p>
            <a:pPr algn="l" indent="0" marL="0">
              <a:lnSpc>
                <a:spcPct val="140000"/>
              </a:lnSpc>
              <a:buNone/>
            </a:pPr>
            <a:r>
              <a:rPr lang="en-US" sz="1400" dirty="0">
                <a:solidFill>
                  <a:srgbClr val="E7ECF4"/>
                </a:solidFill>
                <a:latin typeface="Courier New" pitchFamily="34" charset="0"/>
                <a:ea typeface="Courier New" pitchFamily="34" charset="-122"/>
                <a:cs typeface="Courier New" pitchFamily="34" charset="-120"/>
              </a:rPr>
              <a:t>f15  zero_crossing_rate  = crossings of (v - mean(v)) per sample</a:t>
            </a:r>
            <a:endParaRPr lang="en-US" sz="1400" dirty="0"/>
          </a:p>
          <a:p>
            <a:pPr algn="l" indent="0" marL="0">
              <a:lnSpc>
                <a:spcPct val="140000"/>
              </a:lnSpc>
              <a:buNone/>
            </a:pPr>
            <a:r>
              <a:rPr lang="en-US" sz="1400" dirty="0">
                <a:solidFill>
                  <a:srgbClr val="E7ECF4"/>
                </a:solidFill>
                <a:latin typeface="Courier New" pitchFamily="34" charset="0"/>
                <a:ea typeface="Courier New" pitchFamily="34" charset="-122"/>
                <a:cs typeface="Courier New" pitchFamily="34" charset="-120"/>
              </a:rPr>
              <a:t>f16  crest_factor        = max(|v|) / rms_value</a:t>
            </a:r>
            <a:endParaRPr lang="en-US" sz="1400" dirty="0"/>
          </a:p>
          <a:p>
            <a:pPr algn="l" indent="0" marL="0">
              <a:lnSpc>
                <a:spcPct val="140000"/>
              </a:lnSpc>
              <a:buNone/>
            </a:pPr>
            <a:r>
              <a:rPr lang="en-US" sz="1400" dirty="0">
                <a:solidFill>
                  <a:srgbClr val="E7ECF4"/>
                </a:solidFill>
                <a:latin typeface="Courier New" pitchFamily="34" charset="0"/>
                <a:ea typeface="Courier New" pitchFamily="34" charset="-122"/>
                <a:cs typeface="Courier New" pitchFamily="34" charset="-120"/>
              </a:rPr>
              <a:t>f14  energy              = sum(v^2)</a:t>
            </a:r>
            <a:endParaRPr lang="en-US" sz="1400" dirty="0"/>
          </a:p>
        </p:txBody>
      </p:sp>
      <p:sp>
        <p:nvSpPr>
          <p:cNvPr id="6" name="Text 4"/>
          <p:cNvSpPr/>
          <p:nvPr/>
        </p:nvSpPr>
        <p:spPr>
          <a:xfrm>
            <a:off x="502920" y="3794760"/>
            <a:ext cx="10607040" cy="1737360"/>
          </a:xfrm>
          <a:prstGeom prst="rect">
            <a:avLst/>
          </a:prstGeom>
          <a:noFill/>
          <a:ln/>
        </p:spPr>
        <p:txBody>
          <a:bodyPr wrap="square" lIns="0" tIns="0" rIns="0" bIns="0" rtlCol="0" anchor="ctr"/>
          <a:lstStyle/>
          <a:p>
            <a:pPr indent="0" marL="0">
              <a:lnSpc>
                <a:spcPct val="132000"/>
              </a:lnSpc>
              <a:buNone/>
            </a:pPr>
            <a:r>
              <a:rPr lang="en-US" sz="1250" b="1" dirty="0">
                <a:solidFill>
                  <a:srgbClr val="0B1F3A"/>
                </a:solidFill>
                <a:latin typeface="Calibri" pitchFamily="34" charset="0"/>
                <a:ea typeface="Calibri" pitchFamily="34" charset="-122"/>
                <a:cs typeface="Calibri" pitchFamily="34" charset="-120"/>
              </a:rPr>
              <a:t>crest_factor is the fourth most important feature — </a:t>
            </a:r>
            <a:pPr indent="0" marL="0">
              <a:lnSpc>
                <a:spcPct val="132000"/>
              </a:lnSpc>
              <a:buNone/>
            </a:pPr>
            <a:r>
              <a:rPr lang="en-US" sz="1250" dirty="0">
                <a:solidFill>
                  <a:srgbClr val="64748B"/>
                </a:solidFill>
                <a:latin typeface="Calibri" pitchFamily="34" charset="0"/>
                <a:ea typeface="Calibri" pitchFamily="34" charset="-122"/>
                <a:cs typeface="Calibri" pitchFamily="34" charset="-120"/>
              </a:rPr>
              <a:t>it compares a signal's peak to its average power, which distinguishes a sharp, spiky waveform from a smooth one. zero_crossing_rate and energy add further structural context that complements the pure amplitude features.</a:t>
            </a:r>
            <a:endParaRPr lang="en-US" sz="125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4. FEATURE ENGINEERING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17 Features, Three Families</a:t>
            </a:r>
            <a:endParaRPr lang="en-US" sz="3000" dirty="0"/>
          </a:p>
        </p:txBody>
      </p:sp>
      <p:sp>
        <p:nvSpPr>
          <p:cNvPr id="4" name="Shape 2"/>
          <p:cNvSpPr/>
          <p:nvPr/>
        </p:nvSpPr>
        <p:spPr>
          <a:xfrm>
            <a:off x="502920" y="1783080"/>
            <a:ext cx="3429000" cy="4617720"/>
          </a:xfrm>
          <a:prstGeom prst="roundRect">
            <a:avLst>
              <a:gd name="adj" fmla="val 2400"/>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5" name="Shape 3"/>
          <p:cNvSpPr/>
          <p:nvPr/>
        </p:nvSpPr>
        <p:spPr>
          <a:xfrm>
            <a:off x="502920" y="1783080"/>
            <a:ext cx="3429000" cy="594360"/>
          </a:xfrm>
          <a:prstGeom prst="roundRect">
            <a:avLst>
              <a:gd name="adj" fmla="val 13846"/>
            </a:avLst>
          </a:prstGeom>
          <a:solidFill>
            <a:srgbClr val="0B1F3A"/>
          </a:solidFill>
          <a:ln/>
        </p:spPr>
      </p:sp>
      <p:sp>
        <p:nvSpPr>
          <p:cNvPr id="6" name="Shape 4"/>
          <p:cNvSpPr/>
          <p:nvPr/>
        </p:nvSpPr>
        <p:spPr>
          <a:xfrm>
            <a:off x="502920" y="2075688"/>
            <a:ext cx="3429000" cy="301752"/>
          </a:xfrm>
          <a:prstGeom prst="rect">
            <a:avLst/>
          </a:prstGeom>
          <a:solidFill>
            <a:srgbClr val="0B1F3A"/>
          </a:solidFill>
          <a:ln w="12700">
            <a:solidFill>
              <a:srgbClr val="0B1F3A"/>
            </a:solidFill>
            <a:prstDash val="solid"/>
          </a:ln>
        </p:spPr>
      </p:sp>
      <p:sp>
        <p:nvSpPr>
          <p:cNvPr id="7" name="Text 5"/>
          <p:cNvSpPr/>
          <p:nvPr/>
        </p:nvSpPr>
        <p:spPr>
          <a:xfrm>
            <a:off x="502920" y="1783080"/>
            <a:ext cx="3429000" cy="5943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Time-Domain (9)</a:t>
            </a:r>
            <a:endParaRPr lang="en-US" sz="1400" dirty="0"/>
          </a:p>
        </p:txBody>
      </p:sp>
      <p:sp>
        <p:nvSpPr>
          <p:cNvPr id="8" name="Shape 6"/>
          <p:cNvSpPr/>
          <p:nvPr/>
        </p:nvSpPr>
        <p:spPr>
          <a:xfrm>
            <a:off x="777240" y="2642616"/>
            <a:ext cx="82296" cy="82296"/>
          </a:xfrm>
          <a:prstGeom prst="ellipse">
            <a:avLst/>
          </a:prstGeom>
          <a:solidFill>
            <a:srgbClr val="00B4D8"/>
          </a:solidFill>
          <a:ln/>
        </p:spPr>
      </p:sp>
      <p:sp>
        <p:nvSpPr>
          <p:cNvPr id="9" name="Text 7"/>
          <p:cNvSpPr/>
          <p:nvPr/>
        </p:nvSpPr>
        <p:spPr>
          <a:xfrm>
            <a:off x="1005840" y="2514600"/>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Peak voltage</a:t>
            </a:r>
            <a:endParaRPr lang="en-US" sz="1200" dirty="0"/>
          </a:p>
        </p:txBody>
      </p:sp>
      <p:sp>
        <p:nvSpPr>
          <p:cNvPr id="10" name="Shape 8"/>
          <p:cNvSpPr/>
          <p:nvPr/>
        </p:nvSpPr>
        <p:spPr>
          <a:xfrm>
            <a:off x="777240" y="3081528"/>
            <a:ext cx="82296" cy="82296"/>
          </a:xfrm>
          <a:prstGeom prst="ellipse">
            <a:avLst/>
          </a:prstGeom>
          <a:solidFill>
            <a:srgbClr val="00B4D8"/>
          </a:solidFill>
          <a:ln/>
        </p:spPr>
      </p:sp>
      <p:sp>
        <p:nvSpPr>
          <p:cNvPr id="11" name="Text 9"/>
          <p:cNvSpPr/>
          <p:nvPr/>
        </p:nvSpPr>
        <p:spPr>
          <a:xfrm>
            <a:off x="1005840" y="2953512"/>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RMS value</a:t>
            </a:r>
            <a:endParaRPr lang="en-US" sz="1200" dirty="0"/>
          </a:p>
        </p:txBody>
      </p:sp>
      <p:sp>
        <p:nvSpPr>
          <p:cNvPr id="12" name="Shape 10"/>
          <p:cNvSpPr/>
          <p:nvPr/>
        </p:nvSpPr>
        <p:spPr>
          <a:xfrm>
            <a:off x="777240" y="3520440"/>
            <a:ext cx="82296" cy="82296"/>
          </a:xfrm>
          <a:prstGeom prst="ellipse">
            <a:avLst/>
          </a:prstGeom>
          <a:solidFill>
            <a:srgbClr val="00B4D8"/>
          </a:solidFill>
          <a:ln/>
        </p:spPr>
      </p:sp>
      <p:sp>
        <p:nvSpPr>
          <p:cNvPr id="13" name="Text 11"/>
          <p:cNvSpPr/>
          <p:nvPr/>
        </p:nvSpPr>
        <p:spPr>
          <a:xfrm>
            <a:off x="1005840" y="3392424"/>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Mean voltage</a:t>
            </a:r>
            <a:endParaRPr lang="en-US" sz="1200" dirty="0"/>
          </a:p>
        </p:txBody>
      </p:sp>
      <p:sp>
        <p:nvSpPr>
          <p:cNvPr id="14" name="Shape 12"/>
          <p:cNvSpPr/>
          <p:nvPr/>
        </p:nvSpPr>
        <p:spPr>
          <a:xfrm>
            <a:off x="777240" y="3959352"/>
            <a:ext cx="82296" cy="82296"/>
          </a:xfrm>
          <a:prstGeom prst="ellipse">
            <a:avLst/>
          </a:prstGeom>
          <a:solidFill>
            <a:srgbClr val="00B4D8"/>
          </a:solidFill>
          <a:ln/>
        </p:spPr>
      </p:sp>
      <p:sp>
        <p:nvSpPr>
          <p:cNvPr id="15" name="Text 13"/>
          <p:cNvSpPr/>
          <p:nvPr/>
        </p:nvSpPr>
        <p:spPr>
          <a:xfrm>
            <a:off x="1005840" y="3831336"/>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Std. deviation</a:t>
            </a:r>
            <a:endParaRPr lang="en-US" sz="1200" dirty="0"/>
          </a:p>
        </p:txBody>
      </p:sp>
      <p:sp>
        <p:nvSpPr>
          <p:cNvPr id="16" name="Shape 14"/>
          <p:cNvSpPr/>
          <p:nvPr/>
        </p:nvSpPr>
        <p:spPr>
          <a:xfrm>
            <a:off x="777240" y="4398264"/>
            <a:ext cx="82296" cy="82296"/>
          </a:xfrm>
          <a:prstGeom prst="ellipse">
            <a:avLst/>
          </a:prstGeom>
          <a:solidFill>
            <a:srgbClr val="00B4D8"/>
          </a:solidFill>
          <a:ln/>
        </p:spPr>
      </p:sp>
      <p:sp>
        <p:nvSpPr>
          <p:cNvPr id="17" name="Text 15"/>
          <p:cNvSpPr/>
          <p:nvPr/>
        </p:nvSpPr>
        <p:spPr>
          <a:xfrm>
            <a:off x="1005840" y="4270248"/>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Rise time</a:t>
            </a:r>
            <a:endParaRPr lang="en-US" sz="1200" dirty="0"/>
          </a:p>
        </p:txBody>
      </p:sp>
      <p:sp>
        <p:nvSpPr>
          <p:cNvPr id="18" name="Shape 16"/>
          <p:cNvSpPr/>
          <p:nvPr/>
        </p:nvSpPr>
        <p:spPr>
          <a:xfrm>
            <a:off x="777240" y="4837176"/>
            <a:ext cx="82296" cy="82296"/>
          </a:xfrm>
          <a:prstGeom prst="ellipse">
            <a:avLst/>
          </a:prstGeom>
          <a:solidFill>
            <a:srgbClr val="00B4D8"/>
          </a:solidFill>
          <a:ln/>
        </p:spPr>
      </p:sp>
      <p:sp>
        <p:nvSpPr>
          <p:cNvPr id="19" name="Text 17"/>
          <p:cNvSpPr/>
          <p:nvPr/>
        </p:nvSpPr>
        <p:spPr>
          <a:xfrm>
            <a:off x="1005840" y="4709160"/>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Settling time</a:t>
            </a:r>
            <a:endParaRPr lang="en-US" sz="1200" dirty="0"/>
          </a:p>
        </p:txBody>
      </p:sp>
      <p:sp>
        <p:nvSpPr>
          <p:cNvPr id="20" name="Shape 18"/>
          <p:cNvSpPr/>
          <p:nvPr/>
        </p:nvSpPr>
        <p:spPr>
          <a:xfrm>
            <a:off x="777240" y="5276088"/>
            <a:ext cx="82296" cy="82296"/>
          </a:xfrm>
          <a:prstGeom prst="ellipse">
            <a:avLst/>
          </a:prstGeom>
          <a:solidFill>
            <a:srgbClr val="00B4D8"/>
          </a:solidFill>
          <a:ln/>
        </p:spPr>
      </p:sp>
      <p:sp>
        <p:nvSpPr>
          <p:cNvPr id="21" name="Text 19"/>
          <p:cNvSpPr/>
          <p:nvPr/>
        </p:nvSpPr>
        <p:spPr>
          <a:xfrm>
            <a:off x="1005840" y="5148072"/>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Skewness</a:t>
            </a:r>
            <a:endParaRPr lang="en-US" sz="1200" dirty="0"/>
          </a:p>
        </p:txBody>
      </p:sp>
      <p:sp>
        <p:nvSpPr>
          <p:cNvPr id="22" name="Shape 20"/>
          <p:cNvSpPr/>
          <p:nvPr/>
        </p:nvSpPr>
        <p:spPr>
          <a:xfrm>
            <a:off x="777240" y="5715000"/>
            <a:ext cx="82296" cy="82296"/>
          </a:xfrm>
          <a:prstGeom prst="ellipse">
            <a:avLst/>
          </a:prstGeom>
          <a:solidFill>
            <a:srgbClr val="00B4D8"/>
          </a:solidFill>
          <a:ln/>
        </p:spPr>
      </p:sp>
      <p:sp>
        <p:nvSpPr>
          <p:cNvPr id="23" name="Text 21"/>
          <p:cNvSpPr/>
          <p:nvPr/>
        </p:nvSpPr>
        <p:spPr>
          <a:xfrm>
            <a:off x="1005840" y="5586984"/>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Kurtosis</a:t>
            </a:r>
            <a:endParaRPr lang="en-US" sz="1200" dirty="0"/>
          </a:p>
        </p:txBody>
      </p:sp>
      <p:sp>
        <p:nvSpPr>
          <p:cNvPr id="24" name="Shape 22"/>
          <p:cNvSpPr/>
          <p:nvPr/>
        </p:nvSpPr>
        <p:spPr>
          <a:xfrm>
            <a:off x="777240" y="6153912"/>
            <a:ext cx="82296" cy="82296"/>
          </a:xfrm>
          <a:prstGeom prst="ellipse">
            <a:avLst/>
          </a:prstGeom>
          <a:solidFill>
            <a:srgbClr val="00B4D8"/>
          </a:solidFill>
          <a:ln/>
        </p:spPr>
      </p:sp>
      <p:sp>
        <p:nvSpPr>
          <p:cNvPr id="25" name="Text 23"/>
          <p:cNvSpPr/>
          <p:nvPr/>
        </p:nvSpPr>
        <p:spPr>
          <a:xfrm>
            <a:off x="1005840" y="6025896"/>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DC level</a:t>
            </a:r>
            <a:endParaRPr lang="en-US" sz="1200" dirty="0"/>
          </a:p>
        </p:txBody>
      </p:sp>
      <p:sp>
        <p:nvSpPr>
          <p:cNvPr id="26" name="Shape 24"/>
          <p:cNvSpPr/>
          <p:nvPr/>
        </p:nvSpPr>
        <p:spPr>
          <a:xfrm>
            <a:off x="4251960" y="1783080"/>
            <a:ext cx="3429000" cy="4617720"/>
          </a:xfrm>
          <a:prstGeom prst="roundRect">
            <a:avLst>
              <a:gd name="adj" fmla="val 2400"/>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27" name="Shape 25"/>
          <p:cNvSpPr/>
          <p:nvPr/>
        </p:nvSpPr>
        <p:spPr>
          <a:xfrm>
            <a:off x="4251960" y="1783080"/>
            <a:ext cx="3429000" cy="594360"/>
          </a:xfrm>
          <a:prstGeom prst="roundRect">
            <a:avLst>
              <a:gd name="adj" fmla="val 13846"/>
            </a:avLst>
          </a:prstGeom>
          <a:solidFill>
            <a:srgbClr val="0B1F3A"/>
          </a:solidFill>
          <a:ln/>
        </p:spPr>
      </p:sp>
      <p:sp>
        <p:nvSpPr>
          <p:cNvPr id="28" name="Shape 26"/>
          <p:cNvSpPr/>
          <p:nvPr/>
        </p:nvSpPr>
        <p:spPr>
          <a:xfrm>
            <a:off x="4251960" y="2075688"/>
            <a:ext cx="3429000" cy="301752"/>
          </a:xfrm>
          <a:prstGeom prst="rect">
            <a:avLst/>
          </a:prstGeom>
          <a:solidFill>
            <a:srgbClr val="0B1F3A"/>
          </a:solidFill>
          <a:ln w="12700">
            <a:solidFill>
              <a:srgbClr val="0B1F3A"/>
            </a:solidFill>
            <a:prstDash val="solid"/>
          </a:ln>
        </p:spPr>
      </p:sp>
      <p:sp>
        <p:nvSpPr>
          <p:cNvPr id="29" name="Text 27"/>
          <p:cNvSpPr/>
          <p:nvPr/>
        </p:nvSpPr>
        <p:spPr>
          <a:xfrm>
            <a:off x="4251960" y="1783080"/>
            <a:ext cx="3429000" cy="5943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Frequency-Domain (5)</a:t>
            </a:r>
            <a:endParaRPr lang="en-US" sz="1400" dirty="0"/>
          </a:p>
        </p:txBody>
      </p:sp>
      <p:sp>
        <p:nvSpPr>
          <p:cNvPr id="30" name="Shape 28"/>
          <p:cNvSpPr/>
          <p:nvPr/>
        </p:nvSpPr>
        <p:spPr>
          <a:xfrm>
            <a:off x="4526280" y="2642616"/>
            <a:ext cx="82296" cy="82296"/>
          </a:xfrm>
          <a:prstGeom prst="ellipse">
            <a:avLst/>
          </a:prstGeom>
          <a:solidFill>
            <a:srgbClr val="FFB703"/>
          </a:solidFill>
          <a:ln/>
        </p:spPr>
      </p:sp>
      <p:sp>
        <p:nvSpPr>
          <p:cNvPr id="31" name="Text 29"/>
          <p:cNvSpPr/>
          <p:nvPr/>
        </p:nvSpPr>
        <p:spPr>
          <a:xfrm>
            <a:off x="4754880" y="2514600"/>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Dominant frequency</a:t>
            </a:r>
            <a:endParaRPr lang="en-US" sz="1200" dirty="0"/>
          </a:p>
        </p:txBody>
      </p:sp>
      <p:sp>
        <p:nvSpPr>
          <p:cNvPr id="32" name="Shape 30"/>
          <p:cNvSpPr/>
          <p:nvPr/>
        </p:nvSpPr>
        <p:spPr>
          <a:xfrm>
            <a:off x="4526280" y="3081528"/>
            <a:ext cx="82296" cy="82296"/>
          </a:xfrm>
          <a:prstGeom prst="ellipse">
            <a:avLst/>
          </a:prstGeom>
          <a:solidFill>
            <a:srgbClr val="FFB703"/>
          </a:solidFill>
          <a:ln/>
        </p:spPr>
      </p:sp>
      <p:sp>
        <p:nvSpPr>
          <p:cNvPr id="33" name="Text 31"/>
          <p:cNvSpPr/>
          <p:nvPr/>
        </p:nvSpPr>
        <p:spPr>
          <a:xfrm>
            <a:off x="4754880" y="2953512"/>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Spectral energy</a:t>
            </a:r>
            <a:endParaRPr lang="en-US" sz="1200" dirty="0"/>
          </a:p>
        </p:txBody>
      </p:sp>
      <p:sp>
        <p:nvSpPr>
          <p:cNvPr id="34" name="Shape 32"/>
          <p:cNvSpPr/>
          <p:nvPr/>
        </p:nvSpPr>
        <p:spPr>
          <a:xfrm>
            <a:off x="4526280" y="3520440"/>
            <a:ext cx="82296" cy="82296"/>
          </a:xfrm>
          <a:prstGeom prst="ellipse">
            <a:avLst/>
          </a:prstGeom>
          <a:solidFill>
            <a:srgbClr val="FFB703"/>
          </a:solidFill>
          <a:ln/>
        </p:spPr>
      </p:sp>
      <p:sp>
        <p:nvSpPr>
          <p:cNvPr id="35" name="Text 33"/>
          <p:cNvSpPr/>
          <p:nvPr/>
        </p:nvSpPr>
        <p:spPr>
          <a:xfrm>
            <a:off x="4754880" y="3392424"/>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Spectral centroid</a:t>
            </a:r>
            <a:endParaRPr lang="en-US" sz="1200" dirty="0"/>
          </a:p>
        </p:txBody>
      </p:sp>
      <p:sp>
        <p:nvSpPr>
          <p:cNvPr id="36" name="Shape 34"/>
          <p:cNvSpPr/>
          <p:nvPr/>
        </p:nvSpPr>
        <p:spPr>
          <a:xfrm>
            <a:off x="4526280" y="3959352"/>
            <a:ext cx="82296" cy="82296"/>
          </a:xfrm>
          <a:prstGeom prst="ellipse">
            <a:avLst/>
          </a:prstGeom>
          <a:solidFill>
            <a:srgbClr val="FFB703"/>
          </a:solidFill>
          <a:ln/>
        </p:spPr>
      </p:sp>
      <p:sp>
        <p:nvSpPr>
          <p:cNvPr id="37" name="Text 35"/>
          <p:cNvSpPr/>
          <p:nvPr/>
        </p:nvSpPr>
        <p:spPr>
          <a:xfrm>
            <a:off x="4754880" y="3831336"/>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Bandwidth</a:t>
            </a:r>
            <a:endParaRPr lang="en-US" sz="1200" dirty="0"/>
          </a:p>
        </p:txBody>
      </p:sp>
      <p:sp>
        <p:nvSpPr>
          <p:cNvPr id="38" name="Shape 36"/>
          <p:cNvSpPr/>
          <p:nvPr/>
        </p:nvSpPr>
        <p:spPr>
          <a:xfrm>
            <a:off x="4526280" y="4398264"/>
            <a:ext cx="82296" cy="82296"/>
          </a:xfrm>
          <a:prstGeom prst="ellipse">
            <a:avLst/>
          </a:prstGeom>
          <a:solidFill>
            <a:srgbClr val="FFB703"/>
          </a:solidFill>
          <a:ln/>
        </p:spPr>
      </p:sp>
      <p:sp>
        <p:nvSpPr>
          <p:cNvPr id="39" name="Text 37"/>
          <p:cNvSpPr/>
          <p:nvPr/>
        </p:nvSpPr>
        <p:spPr>
          <a:xfrm>
            <a:off x="4754880" y="4270248"/>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Spectral entropy</a:t>
            </a:r>
            <a:endParaRPr lang="en-US" sz="1200" dirty="0"/>
          </a:p>
        </p:txBody>
      </p:sp>
      <p:sp>
        <p:nvSpPr>
          <p:cNvPr id="40" name="Shape 38"/>
          <p:cNvSpPr/>
          <p:nvPr/>
        </p:nvSpPr>
        <p:spPr>
          <a:xfrm>
            <a:off x="8001000" y="1783080"/>
            <a:ext cx="3429000" cy="4617720"/>
          </a:xfrm>
          <a:prstGeom prst="roundRect">
            <a:avLst>
              <a:gd name="adj" fmla="val 2400"/>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41" name="Shape 39"/>
          <p:cNvSpPr/>
          <p:nvPr/>
        </p:nvSpPr>
        <p:spPr>
          <a:xfrm>
            <a:off x="8001000" y="1783080"/>
            <a:ext cx="3429000" cy="594360"/>
          </a:xfrm>
          <a:prstGeom prst="roundRect">
            <a:avLst>
              <a:gd name="adj" fmla="val 13846"/>
            </a:avLst>
          </a:prstGeom>
          <a:solidFill>
            <a:srgbClr val="0B1F3A"/>
          </a:solidFill>
          <a:ln/>
        </p:spPr>
      </p:sp>
      <p:sp>
        <p:nvSpPr>
          <p:cNvPr id="42" name="Shape 40"/>
          <p:cNvSpPr/>
          <p:nvPr/>
        </p:nvSpPr>
        <p:spPr>
          <a:xfrm>
            <a:off x="8001000" y="2075688"/>
            <a:ext cx="3429000" cy="301752"/>
          </a:xfrm>
          <a:prstGeom prst="rect">
            <a:avLst/>
          </a:prstGeom>
          <a:solidFill>
            <a:srgbClr val="0B1F3A"/>
          </a:solidFill>
          <a:ln w="12700">
            <a:solidFill>
              <a:srgbClr val="0B1F3A"/>
            </a:solidFill>
            <a:prstDash val="solid"/>
          </a:ln>
        </p:spPr>
      </p:sp>
      <p:sp>
        <p:nvSpPr>
          <p:cNvPr id="43" name="Text 41"/>
          <p:cNvSpPr/>
          <p:nvPr/>
        </p:nvSpPr>
        <p:spPr>
          <a:xfrm>
            <a:off x="8001000" y="1783080"/>
            <a:ext cx="3429000" cy="5943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Structural (3)</a:t>
            </a:r>
            <a:endParaRPr lang="en-US" sz="1400" dirty="0"/>
          </a:p>
        </p:txBody>
      </p:sp>
      <p:sp>
        <p:nvSpPr>
          <p:cNvPr id="44" name="Shape 42"/>
          <p:cNvSpPr/>
          <p:nvPr/>
        </p:nvSpPr>
        <p:spPr>
          <a:xfrm>
            <a:off x="8275320" y="2642616"/>
            <a:ext cx="82296" cy="82296"/>
          </a:xfrm>
          <a:prstGeom prst="ellipse">
            <a:avLst/>
          </a:prstGeom>
          <a:solidFill>
            <a:srgbClr val="5EAE7A"/>
          </a:solidFill>
          <a:ln/>
        </p:spPr>
      </p:sp>
      <p:sp>
        <p:nvSpPr>
          <p:cNvPr id="45" name="Text 43"/>
          <p:cNvSpPr/>
          <p:nvPr/>
        </p:nvSpPr>
        <p:spPr>
          <a:xfrm>
            <a:off x="8503920" y="2514600"/>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Zero-crossing rate</a:t>
            </a:r>
            <a:endParaRPr lang="en-US" sz="1200" dirty="0"/>
          </a:p>
        </p:txBody>
      </p:sp>
      <p:sp>
        <p:nvSpPr>
          <p:cNvPr id="46" name="Shape 44"/>
          <p:cNvSpPr/>
          <p:nvPr/>
        </p:nvSpPr>
        <p:spPr>
          <a:xfrm>
            <a:off x="8275320" y="3081528"/>
            <a:ext cx="82296" cy="82296"/>
          </a:xfrm>
          <a:prstGeom prst="ellipse">
            <a:avLst/>
          </a:prstGeom>
          <a:solidFill>
            <a:srgbClr val="5EAE7A"/>
          </a:solidFill>
          <a:ln/>
        </p:spPr>
      </p:sp>
      <p:sp>
        <p:nvSpPr>
          <p:cNvPr id="47" name="Text 45"/>
          <p:cNvSpPr/>
          <p:nvPr/>
        </p:nvSpPr>
        <p:spPr>
          <a:xfrm>
            <a:off x="8503920" y="2953512"/>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Crest factor</a:t>
            </a:r>
            <a:endParaRPr lang="en-US" sz="1200" dirty="0"/>
          </a:p>
        </p:txBody>
      </p:sp>
      <p:sp>
        <p:nvSpPr>
          <p:cNvPr id="48" name="Shape 46"/>
          <p:cNvSpPr/>
          <p:nvPr/>
        </p:nvSpPr>
        <p:spPr>
          <a:xfrm>
            <a:off x="8275320" y="3520440"/>
            <a:ext cx="82296" cy="82296"/>
          </a:xfrm>
          <a:prstGeom prst="ellipse">
            <a:avLst/>
          </a:prstGeom>
          <a:solidFill>
            <a:srgbClr val="5EAE7A"/>
          </a:solidFill>
          <a:ln/>
        </p:spPr>
      </p:sp>
      <p:sp>
        <p:nvSpPr>
          <p:cNvPr id="49" name="Text 47"/>
          <p:cNvSpPr/>
          <p:nvPr/>
        </p:nvSpPr>
        <p:spPr>
          <a:xfrm>
            <a:off x="8503920" y="3392424"/>
            <a:ext cx="2697480" cy="365760"/>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Signal energy</a:t>
            </a:r>
            <a:endParaRPr lang="en-US" sz="1200" dirty="0"/>
          </a:p>
        </p:txBody>
      </p:sp>
      <p:sp>
        <p:nvSpPr>
          <p:cNvPr id="50" name="Text 48"/>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51" name="Text 49"/>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4. FEATURE ENGINEERING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Why Feature Scaling Matters</a:t>
            </a:r>
            <a:endParaRPr lang="en-US" sz="3000" dirty="0"/>
          </a:p>
        </p:txBody>
      </p:sp>
      <p:sp>
        <p:nvSpPr>
          <p:cNvPr id="4" name="Text 2"/>
          <p:cNvSpPr/>
          <p:nvPr/>
        </p:nvSpPr>
        <p:spPr>
          <a:xfrm>
            <a:off x="502920" y="1783080"/>
            <a:ext cx="10607040" cy="960120"/>
          </a:xfrm>
          <a:prstGeom prst="rect">
            <a:avLst/>
          </a:prstGeom>
          <a:noFill/>
          <a:ln/>
        </p:spPr>
        <p:txBody>
          <a:bodyPr wrap="square" lIns="0" tIns="0" rIns="0" bIns="0" rtlCol="0" anchor="ctr"/>
          <a:lstStyle/>
          <a:p>
            <a:pPr indent="0" marL="0">
              <a:lnSpc>
                <a:spcPct val="130000"/>
              </a:lnSpc>
              <a:buNone/>
            </a:pPr>
            <a:r>
              <a:rPr lang="en-US" sz="1350" dirty="0">
                <a:solidFill>
                  <a:srgbClr val="1E293B"/>
                </a:solidFill>
                <a:latin typeface="Calibri" pitchFamily="34" charset="0"/>
                <a:ea typeface="Calibri" pitchFamily="34" charset="-122"/>
                <a:cs typeface="Calibri" pitchFamily="34" charset="-120"/>
              </a:rPr>
              <a:t>The 17 features live on wildly different scales — </a:t>
            </a:r>
            <a:pPr indent="0" marL="0">
              <a:lnSpc>
                <a:spcPct val="130000"/>
              </a:lnSpc>
              <a:buNone/>
            </a:pPr>
            <a:r>
              <a:rPr lang="en-US" sz="1350" i="1" dirty="0">
                <a:solidFill>
                  <a:srgbClr val="1E293B"/>
                </a:solidFill>
                <a:latin typeface="Calibri" pitchFamily="34" charset="0"/>
                <a:ea typeface="Calibri" pitchFamily="34" charset="-122"/>
                <a:cs typeface="Calibri" pitchFamily="34" charset="-120"/>
              </a:rPr>
              <a:t>spectral_energy can be in the thousands while crest_factor is close to 1.</a:t>
            </a:r>
            <a:pPr indent="0" marL="0">
              <a:lnSpc>
                <a:spcPct val="130000"/>
              </a:lnSpc>
              <a:buNone/>
            </a:pPr>
            <a:r>
              <a:rPr lang="en-US" sz="1350" dirty="0">
                <a:solidFill>
                  <a:srgbClr val="1E293B"/>
                </a:solidFill>
                <a:latin typeface="Calibri" pitchFamily="34" charset="0"/>
                <a:ea typeface="Calibri" pitchFamily="34" charset="-122"/>
                <a:cs typeface="Calibri" pitchFamily="34" charset="-120"/>
              </a:rPr>
              <a:t> An SVM's distance-based math would let large-scale features silently dominate, so every feature is standardized before training:</a:t>
            </a:r>
            <a:endParaRPr lang="en-US" sz="1350" dirty="0"/>
          </a:p>
        </p:txBody>
      </p:sp>
      <p:sp>
        <p:nvSpPr>
          <p:cNvPr id="5" name="Shape 3"/>
          <p:cNvSpPr/>
          <p:nvPr/>
        </p:nvSpPr>
        <p:spPr>
          <a:xfrm>
            <a:off x="502920" y="2880360"/>
            <a:ext cx="10607040" cy="1051560"/>
          </a:xfrm>
          <a:prstGeom prst="roundRect">
            <a:avLst>
              <a:gd name="adj" fmla="val 6957"/>
            </a:avLst>
          </a:prstGeom>
          <a:solidFill>
            <a:srgbClr val="0B1F3A"/>
          </a:solidFill>
          <a:ln/>
          <a:effectLst>
            <a:outerShdw sx="100000" sy="100000" kx="0" ky="0" algn="bl" rotWithShape="0" blurRad="114300" dist="38100" dir="2700000">
              <a:srgbClr val="0B1F3A">
                <a:alpha val="14000"/>
              </a:srgbClr>
            </a:outerShdw>
          </a:effectLst>
        </p:spPr>
      </p:sp>
      <p:sp>
        <p:nvSpPr>
          <p:cNvPr id="6" name="Text 4"/>
          <p:cNvSpPr/>
          <p:nvPr/>
        </p:nvSpPr>
        <p:spPr>
          <a:xfrm>
            <a:off x="777240" y="3017520"/>
            <a:ext cx="10058400" cy="777240"/>
          </a:xfrm>
          <a:prstGeom prst="rect">
            <a:avLst/>
          </a:prstGeom>
          <a:noFill/>
          <a:ln/>
        </p:spPr>
        <p:txBody>
          <a:bodyPr wrap="square" lIns="0" tIns="0" rIns="0" bIns="0" rtlCol="0" anchor="ctr"/>
          <a:lstStyle/>
          <a:p>
            <a:pPr algn="l" indent="0" marL="0">
              <a:lnSpc>
                <a:spcPct val="140000"/>
              </a:lnSpc>
              <a:buNone/>
            </a:pPr>
            <a:r>
              <a:rPr lang="en-US" sz="1500" dirty="0">
                <a:solidFill>
                  <a:srgbClr val="E7ECF4"/>
                </a:solidFill>
                <a:latin typeface="Courier New" pitchFamily="34" charset="0"/>
                <a:ea typeface="Courier New" pitchFamily="34" charset="-122"/>
                <a:cs typeface="Courier New" pitchFamily="34" charset="-120"/>
              </a:rPr>
              <a:t>z = (x - mean) / std     &lt;-      sklearn StandardScaler</a:t>
            </a:r>
            <a:endParaRPr lang="en-US" sz="1500" dirty="0"/>
          </a:p>
        </p:txBody>
      </p:sp>
      <p:sp>
        <p:nvSpPr>
          <p:cNvPr id="7" name="Text 5"/>
          <p:cNvSpPr/>
          <p:nvPr/>
        </p:nvSpPr>
        <p:spPr>
          <a:xfrm>
            <a:off x="502920" y="4114800"/>
            <a:ext cx="10607040" cy="822960"/>
          </a:xfrm>
          <a:prstGeom prst="rect">
            <a:avLst/>
          </a:prstGeom>
          <a:noFill/>
          <a:ln/>
        </p:spPr>
        <p:txBody>
          <a:bodyPr wrap="square" lIns="0" tIns="0" rIns="0" bIns="0" rtlCol="0" anchor="ctr"/>
          <a:lstStyle/>
          <a:p>
            <a:pPr indent="0" marL="0">
              <a:lnSpc>
                <a:spcPct val="130000"/>
              </a:lnSpc>
              <a:buNone/>
            </a:pPr>
            <a:r>
              <a:rPr lang="en-US" sz="1250" b="1" dirty="0">
                <a:solidFill>
                  <a:srgbClr val="0B1F3A"/>
                </a:solidFill>
                <a:latin typeface="Calibri" pitchFamily="34" charset="0"/>
                <a:ea typeface="Calibri" pitchFamily="34" charset="-122"/>
                <a:cs typeface="Calibri" pitchFamily="34" charset="-120"/>
              </a:rPr>
              <a:t>Critically: </a:t>
            </a:r>
            <a:pPr indent="0" marL="0">
              <a:lnSpc>
                <a:spcPct val="130000"/>
              </a:lnSpc>
              <a:buNone/>
            </a:pPr>
            <a:r>
              <a:rPr lang="en-US" sz="1250" dirty="0">
                <a:solidFill>
                  <a:srgbClr val="64748B"/>
                </a:solidFill>
                <a:latin typeface="Calibri" pitchFamily="34" charset="0"/>
                <a:ea typeface="Calibri" pitchFamily="34" charset="-122"/>
                <a:cs typeface="Calibri" pitchFamily="34" charset="-120"/>
              </a:rPr>
              <a:t>the scaler is fit only on the training set, then applied to the test set — fitting on all the data first would leak test-set statistics into training and quietly inflate the reported accuracy.</a:t>
            </a:r>
            <a:endParaRPr lang="en-US" sz="125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4. FEATURE ENGINEERING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The Transformed Dataset: features_v2.csv</a:t>
            </a:r>
            <a:endParaRPr lang="en-US" sz="3000" dirty="0"/>
          </a:p>
        </p:txBody>
      </p:sp>
      <p:sp>
        <p:nvSpPr>
          <p:cNvPr id="4" name="Text 2"/>
          <p:cNvSpPr/>
          <p:nvPr/>
        </p:nvSpPr>
        <p:spPr>
          <a:xfrm>
            <a:off x="502920" y="1691640"/>
            <a:ext cx="10607040" cy="685800"/>
          </a:xfrm>
          <a:prstGeom prst="rect">
            <a:avLst/>
          </a:prstGeom>
          <a:noFill/>
          <a:ln/>
        </p:spPr>
        <p:txBody>
          <a:bodyPr wrap="square" lIns="0" tIns="0" rIns="0" bIns="0" rtlCol="0" anchor="ctr"/>
          <a:lstStyle/>
          <a:p>
            <a:pPr indent="0" marL="0">
              <a:lnSpc>
                <a:spcPct val="128000"/>
              </a:lnSpc>
              <a:buNone/>
            </a:pPr>
            <a:r>
              <a:rPr lang="en-US" sz="1250" b="1" dirty="0">
                <a:solidFill>
                  <a:srgbClr val="0B1F3A"/>
                </a:solidFill>
                <a:latin typeface="Calibri" pitchFamily="34" charset="0"/>
                <a:ea typeface="Calibri" pitchFamily="34" charset="-122"/>
                <a:cs typeface="Calibri" pitchFamily="34" charset="-120"/>
              </a:rPr>
              <a:t>This is the file the SVM actually trains on. </a:t>
            </a:r>
            <a:pPr indent="0" marL="0">
              <a:lnSpc>
                <a:spcPct val="128000"/>
              </a:lnSpc>
              <a:buNone/>
            </a:pPr>
            <a:r>
              <a:rPr lang="en-US" sz="1250" dirty="0">
                <a:solidFill>
                  <a:srgbClr val="1E293B"/>
                </a:solidFill>
                <a:latin typeface="Calibri" pitchFamily="34" charset="0"/>
                <a:ea typeface="Calibri" pitchFamily="34" charset="-122"/>
                <a:cs typeface="Calibri" pitchFamily="34" charset="-120"/>
              </a:rPr>
              <a:t>Each row still has one sample_id, circuit and fault label — but the 200 raw voltage points are now gone, replaced by the 17 engineered numbers (f1...f17) from the previous slides.</a:t>
            </a:r>
            <a:endParaRPr lang="en-US" sz="1250" dirty="0"/>
          </a:p>
        </p:txBody>
      </p:sp>
      <p:sp>
        <p:nvSpPr>
          <p:cNvPr id="5" name="Shape 3"/>
          <p:cNvSpPr/>
          <p:nvPr/>
        </p:nvSpPr>
        <p:spPr>
          <a:xfrm>
            <a:off x="502920" y="2423160"/>
            <a:ext cx="10607040" cy="512064"/>
          </a:xfrm>
          <a:prstGeom prst="roundRect">
            <a:avLst>
              <a:gd name="adj" fmla="val 10714"/>
            </a:avLst>
          </a:prstGeom>
          <a:solidFill>
            <a:srgbClr val="0B1F3A"/>
          </a:solidFill>
          <a:ln/>
        </p:spPr>
      </p:sp>
      <p:sp>
        <p:nvSpPr>
          <p:cNvPr id="6" name="Text 4"/>
          <p:cNvSpPr/>
          <p:nvPr/>
        </p:nvSpPr>
        <p:spPr>
          <a:xfrm>
            <a:off x="502920" y="2423160"/>
            <a:ext cx="1508760" cy="512064"/>
          </a:xfrm>
          <a:prstGeom prst="rect">
            <a:avLst/>
          </a:prstGeom>
          <a:noFill/>
          <a:ln/>
        </p:spPr>
        <p:txBody>
          <a:bodyPr wrap="square" lIns="0" tIns="177800" rIns="0" bIns="0" rtlCol="0" anchor="ctr"/>
          <a:lstStyle/>
          <a:p>
            <a:pPr algn="l" indent="0" marL="0">
              <a:buNone/>
            </a:pPr>
            <a:r>
              <a:rPr lang="en-US" sz="1020" b="1" dirty="0">
                <a:solidFill>
                  <a:srgbClr val="FFFFFF"/>
                </a:solidFill>
                <a:latin typeface="Calibri" pitchFamily="34" charset="0"/>
                <a:ea typeface="Calibri" pitchFamily="34" charset="-122"/>
                <a:cs typeface="Calibri" pitchFamily="34" charset="-120"/>
              </a:rPr>
              <a:t>circuit</a:t>
            </a:r>
            <a:endParaRPr lang="en-US" sz="1020" dirty="0"/>
          </a:p>
        </p:txBody>
      </p:sp>
      <p:sp>
        <p:nvSpPr>
          <p:cNvPr id="7" name="Text 5"/>
          <p:cNvSpPr/>
          <p:nvPr/>
        </p:nvSpPr>
        <p:spPr>
          <a:xfrm>
            <a:off x="2011680" y="2423160"/>
            <a:ext cx="1143000" cy="512064"/>
          </a:xfrm>
          <a:prstGeom prst="rect">
            <a:avLst/>
          </a:prstGeom>
          <a:noFill/>
          <a:ln/>
        </p:spPr>
        <p:txBody>
          <a:bodyPr wrap="square" lIns="0" tIns="0" rIns="0" bIns="0" rtlCol="0" anchor="ctr"/>
          <a:lstStyle/>
          <a:p>
            <a:pPr algn="ctr" indent="0" marL="0">
              <a:buNone/>
            </a:pPr>
            <a:r>
              <a:rPr lang="en-US" sz="1020" b="1" dirty="0">
                <a:solidFill>
                  <a:srgbClr val="FFFFFF"/>
                </a:solidFill>
                <a:latin typeface="Calibri" pitchFamily="34" charset="0"/>
                <a:ea typeface="Calibri" pitchFamily="34" charset="-122"/>
                <a:cs typeface="Calibri" pitchFamily="34" charset="-120"/>
              </a:rPr>
              <a:t>fault</a:t>
            </a:r>
            <a:endParaRPr lang="en-US" sz="1020" dirty="0"/>
          </a:p>
        </p:txBody>
      </p:sp>
      <p:sp>
        <p:nvSpPr>
          <p:cNvPr id="8" name="Text 6"/>
          <p:cNvSpPr/>
          <p:nvPr/>
        </p:nvSpPr>
        <p:spPr>
          <a:xfrm>
            <a:off x="3154680" y="2423160"/>
            <a:ext cx="1097280" cy="512064"/>
          </a:xfrm>
          <a:prstGeom prst="rect">
            <a:avLst/>
          </a:prstGeom>
          <a:noFill/>
          <a:ln/>
        </p:spPr>
        <p:txBody>
          <a:bodyPr wrap="square" lIns="0" tIns="0" rIns="0" bIns="0" rtlCol="0" anchor="ctr"/>
          <a:lstStyle/>
          <a:p>
            <a:pPr algn="ctr" indent="0" marL="0">
              <a:buNone/>
            </a:pPr>
            <a:r>
              <a:rPr lang="en-US" sz="1020" b="1" dirty="0">
                <a:solidFill>
                  <a:srgbClr val="FFFFFF"/>
                </a:solidFill>
                <a:latin typeface="Calibri" pitchFamily="34" charset="0"/>
                <a:ea typeface="Calibri" pitchFamily="34" charset="-122"/>
                <a:cs typeface="Calibri" pitchFamily="34" charset="-120"/>
              </a:rPr>
              <a:t>f1 peak</a:t>
            </a:r>
            <a:endParaRPr lang="en-US" sz="1020" dirty="0"/>
          </a:p>
        </p:txBody>
      </p:sp>
      <p:sp>
        <p:nvSpPr>
          <p:cNvPr id="9" name="Text 7"/>
          <p:cNvSpPr/>
          <p:nvPr/>
        </p:nvSpPr>
        <p:spPr>
          <a:xfrm>
            <a:off x="4251960" y="2423160"/>
            <a:ext cx="1051560" cy="512064"/>
          </a:xfrm>
          <a:prstGeom prst="rect">
            <a:avLst/>
          </a:prstGeom>
          <a:noFill/>
          <a:ln/>
        </p:spPr>
        <p:txBody>
          <a:bodyPr wrap="square" lIns="0" tIns="0" rIns="0" bIns="0" rtlCol="0" anchor="ctr"/>
          <a:lstStyle/>
          <a:p>
            <a:pPr algn="ctr" indent="0" marL="0">
              <a:buNone/>
            </a:pPr>
            <a:r>
              <a:rPr lang="en-US" sz="1020" b="1" dirty="0">
                <a:solidFill>
                  <a:srgbClr val="FFFFFF"/>
                </a:solidFill>
                <a:latin typeface="Calibri" pitchFamily="34" charset="0"/>
                <a:ea typeface="Calibri" pitchFamily="34" charset="-122"/>
                <a:cs typeface="Calibri" pitchFamily="34" charset="-120"/>
              </a:rPr>
              <a:t>f4 std</a:t>
            </a:r>
            <a:endParaRPr lang="en-US" sz="1020" dirty="0"/>
          </a:p>
        </p:txBody>
      </p:sp>
      <p:sp>
        <p:nvSpPr>
          <p:cNvPr id="10" name="Text 8"/>
          <p:cNvSpPr/>
          <p:nvPr/>
        </p:nvSpPr>
        <p:spPr>
          <a:xfrm>
            <a:off x="5303520" y="2423160"/>
            <a:ext cx="1143000" cy="512064"/>
          </a:xfrm>
          <a:prstGeom prst="rect">
            <a:avLst/>
          </a:prstGeom>
          <a:noFill/>
          <a:ln/>
        </p:spPr>
        <p:txBody>
          <a:bodyPr wrap="square" lIns="0" tIns="0" rIns="0" bIns="0" rtlCol="0" anchor="ctr"/>
          <a:lstStyle/>
          <a:p>
            <a:pPr algn="ctr" indent="0" marL="0">
              <a:buNone/>
            </a:pPr>
            <a:r>
              <a:rPr lang="en-US" sz="1020" b="1" dirty="0">
                <a:solidFill>
                  <a:srgbClr val="FFFFFF"/>
                </a:solidFill>
                <a:latin typeface="Calibri" pitchFamily="34" charset="0"/>
                <a:ea typeface="Calibri" pitchFamily="34" charset="-122"/>
                <a:cs typeface="Calibri" pitchFamily="34" charset="-120"/>
              </a:rPr>
              <a:t>f5 rise_t</a:t>
            </a:r>
            <a:endParaRPr lang="en-US" sz="1020" dirty="0"/>
          </a:p>
        </p:txBody>
      </p:sp>
      <p:sp>
        <p:nvSpPr>
          <p:cNvPr id="11" name="Text 9"/>
          <p:cNvSpPr/>
          <p:nvPr/>
        </p:nvSpPr>
        <p:spPr>
          <a:xfrm>
            <a:off x="6446520" y="2423160"/>
            <a:ext cx="1508760" cy="512064"/>
          </a:xfrm>
          <a:prstGeom prst="rect">
            <a:avLst/>
          </a:prstGeom>
          <a:noFill/>
          <a:ln/>
        </p:spPr>
        <p:txBody>
          <a:bodyPr wrap="square" lIns="0" tIns="0" rIns="0" bIns="0" rtlCol="0" anchor="ctr"/>
          <a:lstStyle/>
          <a:p>
            <a:pPr algn="ctr" indent="0" marL="0">
              <a:buNone/>
            </a:pPr>
            <a:r>
              <a:rPr lang="en-US" sz="1020" b="1" dirty="0">
                <a:solidFill>
                  <a:srgbClr val="FFFFFF"/>
                </a:solidFill>
                <a:latin typeface="Calibri" pitchFamily="34" charset="0"/>
                <a:ea typeface="Calibri" pitchFamily="34" charset="-122"/>
                <a:cs typeface="Calibri" pitchFamily="34" charset="-120"/>
              </a:rPr>
              <a:t>f9 dom.freq</a:t>
            </a:r>
            <a:endParaRPr lang="en-US" sz="1020" dirty="0"/>
          </a:p>
        </p:txBody>
      </p:sp>
      <p:sp>
        <p:nvSpPr>
          <p:cNvPr id="12" name="Text 10"/>
          <p:cNvSpPr/>
          <p:nvPr/>
        </p:nvSpPr>
        <p:spPr>
          <a:xfrm>
            <a:off x="7955280" y="2423160"/>
            <a:ext cx="1463040" cy="512064"/>
          </a:xfrm>
          <a:prstGeom prst="rect">
            <a:avLst/>
          </a:prstGeom>
          <a:noFill/>
          <a:ln/>
        </p:spPr>
        <p:txBody>
          <a:bodyPr wrap="square" lIns="0" tIns="0" rIns="0" bIns="0" rtlCol="0" anchor="ctr"/>
          <a:lstStyle/>
          <a:p>
            <a:pPr algn="ctr" indent="0" marL="0">
              <a:buNone/>
            </a:pPr>
            <a:r>
              <a:rPr lang="en-US" sz="1020" b="1" dirty="0">
                <a:solidFill>
                  <a:srgbClr val="FFFFFF"/>
                </a:solidFill>
                <a:latin typeface="Calibri" pitchFamily="34" charset="0"/>
                <a:ea typeface="Calibri" pitchFamily="34" charset="-122"/>
                <a:cs typeface="Calibri" pitchFamily="34" charset="-120"/>
              </a:rPr>
              <a:t>f13 entropy</a:t>
            </a:r>
            <a:endParaRPr lang="en-US" sz="1020" dirty="0"/>
          </a:p>
        </p:txBody>
      </p:sp>
      <p:sp>
        <p:nvSpPr>
          <p:cNvPr id="13" name="Text 11"/>
          <p:cNvSpPr/>
          <p:nvPr/>
        </p:nvSpPr>
        <p:spPr>
          <a:xfrm>
            <a:off x="9418320" y="2423160"/>
            <a:ext cx="1691640" cy="512064"/>
          </a:xfrm>
          <a:prstGeom prst="rect">
            <a:avLst/>
          </a:prstGeom>
          <a:noFill/>
          <a:ln/>
        </p:spPr>
        <p:txBody>
          <a:bodyPr wrap="square" lIns="0" tIns="0" rIns="0" bIns="0" rtlCol="0" anchor="ctr"/>
          <a:lstStyle/>
          <a:p>
            <a:pPr algn="ctr" indent="0" marL="0">
              <a:buNone/>
            </a:pPr>
            <a:r>
              <a:rPr lang="en-US" sz="1020" b="1" dirty="0">
                <a:solidFill>
                  <a:srgbClr val="FFFFFF"/>
                </a:solidFill>
                <a:latin typeface="Calibri" pitchFamily="34" charset="0"/>
                <a:ea typeface="Calibri" pitchFamily="34" charset="-122"/>
                <a:cs typeface="Calibri" pitchFamily="34" charset="-120"/>
              </a:rPr>
              <a:t>f17 dc_lvl</a:t>
            </a:r>
            <a:endParaRPr lang="en-US" sz="1020" dirty="0"/>
          </a:p>
        </p:txBody>
      </p:sp>
      <p:sp>
        <p:nvSpPr>
          <p:cNvPr id="14" name="Shape 12"/>
          <p:cNvSpPr/>
          <p:nvPr/>
        </p:nvSpPr>
        <p:spPr>
          <a:xfrm>
            <a:off x="502920" y="2935224"/>
            <a:ext cx="10607040" cy="512064"/>
          </a:xfrm>
          <a:prstGeom prst="rect">
            <a:avLst/>
          </a:prstGeom>
          <a:solidFill>
            <a:srgbClr val="FFFFFF"/>
          </a:solidFill>
          <a:ln w="9525">
            <a:solidFill>
              <a:srgbClr val="E4E9F1"/>
            </a:solidFill>
            <a:prstDash val="solid"/>
          </a:ln>
        </p:spPr>
      </p:sp>
      <p:sp>
        <p:nvSpPr>
          <p:cNvPr id="15" name="Text 13"/>
          <p:cNvSpPr/>
          <p:nvPr/>
        </p:nvSpPr>
        <p:spPr>
          <a:xfrm>
            <a:off x="502920" y="2935224"/>
            <a:ext cx="1508760" cy="512064"/>
          </a:xfrm>
          <a:prstGeom prst="rect">
            <a:avLst/>
          </a:prstGeom>
          <a:noFill/>
          <a:ln/>
        </p:spPr>
        <p:txBody>
          <a:bodyPr wrap="square" lIns="0" tIns="177800" rIns="0" bIns="0" rtlCol="0" anchor="ctr"/>
          <a:lstStyle/>
          <a:p>
            <a:pPr algn="l" indent="0" marL="0">
              <a:buNone/>
            </a:pPr>
            <a:r>
              <a:rPr lang="en-US" sz="1020" b="1" dirty="0">
                <a:solidFill>
                  <a:srgbClr val="1E293B"/>
                </a:solidFill>
                <a:latin typeface="Calibri" pitchFamily="34" charset="0"/>
                <a:ea typeface="Calibri" pitchFamily="34" charset="-122"/>
                <a:cs typeface="Calibri" pitchFamily="34" charset="-120"/>
              </a:rPr>
              <a:t>RC</a:t>
            </a:r>
            <a:endParaRPr lang="en-US" sz="1020" dirty="0"/>
          </a:p>
        </p:txBody>
      </p:sp>
      <p:sp>
        <p:nvSpPr>
          <p:cNvPr id="16" name="Text 14"/>
          <p:cNvSpPr/>
          <p:nvPr/>
        </p:nvSpPr>
        <p:spPr>
          <a:xfrm>
            <a:off x="2011680" y="2935224"/>
            <a:ext cx="114300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open</a:t>
            </a:r>
            <a:endParaRPr lang="en-US" sz="1020" dirty="0"/>
          </a:p>
        </p:txBody>
      </p:sp>
      <p:sp>
        <p:nvSpPr>
          <p:cNvPr id="17" name="Text 15"/>
          <p:cNvSpPr/>
          <p:nvPr/>
        </p:nvSpPr>
        <p:spPr>
          <a:xfrm>
            <a:off x="3154680" y="2935224"/>
            <a:ext cx="109728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0.047</a:t>
            </a:r>
            <a:endParaRPr lang="en-US" sz="1020" dirty="0"/>
          </a:p>
        </p:txBody>
      </p:sp>
      <p:sp>
        <p:nvSpPr>
          <p:cNvPr id="18" name="Text 16"/>
          <p:cNvSpPr/>
          <p:nvPr/>
        </p:nvSpPr>
        <p:spPr>
          <a:xfrm>
            <a:off x="4251960" y="2935224"/>
            <a:ext cx="105156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0.014</a:t>
            </a:r>
            <a:endParaRPr lang="en-US" sz="1020" dirty="0"/>
          </a:p>
        </p:txBody>
      </p:sp>
      <p:sp>
        <p:nvSpPr>
          <p:cNvPr id="19" name="Text 17"/>
          <p:cNvSpPr/>
          <p:nvPr/>
        </p:nvSpPr>
        <p:spPr>
          <a:xfrm>
            <a:off x="5303520" y="2935224"/>
            <a:ext cx="114300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0.076 s</a:t>
            </a:r>
            <a:endParaRPr lang="en-US" sz="1020" dirty="0"/>
          </a:p>
        </p:txBody>
      </p:sp>
      <p:sp>
        <p:nvSpPr>
          <p:cNvPr id="20" name="Text 18"/>
          <p:cNvSpPr/>
          <p:nvPr/>
        </p:nvSpPr>
        <p:spPr>
          <a:xfrm>
            <a:off x="6446520" y="2935224"/>
            <a:ext cx="150876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52.4 Hz</a:t>
            </a:r>
            <a:endParaRPr lang="en-US" sz="1020" dirty="0"/>
          </a:p>
        </p:txBody>
      </p:sp>
      <p:sp>
        <p:nvSpPr>
          <p:cNvPr id="21" name="Text 19"/>
          <p:cNvSpPr/>
          <p:nvPr/>
        </p:nvSpPr>
        <p:spPr>
          <a:xfrm>
            <a:off x="7955280" y="2935224"/>
            <a:ext cx="146304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0.926</a:t>
            </a:r>
            <a:endParaRPr lang="en-US" sz="1020" dirty="0"/>
          </a:p>
        </p:txBody>
      </p:sp>
      <p:sp>
        <p:nvSpPr>
          <p:cNvPr id="22" name="Text 20"/>
          <p:cNvSpPr/>
          <p:nvPr/>
        </p:nvSpPr>
        <p:spPr>
          <a:xfrm>
            <a:off x="9418320" y="2935224"/>
            <a:ext cx="169164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0.045</a:t>
            </a:r>
            <a:endParaRPr lang="en-US" sz="1020" dirty="0"/>
          </a:p>
        </p:txBody>
      </p:sp>
      <p:sp>
        <p:nvSpPr>
          <p:cNvPr id="23" name="Shape 21"/>
          <p:cNvSpPr/>
          <p:nvPr/>
        </p:nvSpPr>
        <p:spPr>
          <a:xfrm>
            <a:off x="502920" y="3447288"/>
            <a:ext cx="10607040" cy="512064"/>
          </a:xfrm>
          <a:prstGeom prst="rect">
            <a:avLst/>
          </a:prstGeom>
          <a:solidFill>
            <a:srgbClr val="EEF2F7"/>
          </a:solidFill>
          <a:ln w="9525">
            <a:solidFill>
              <a:srgbClr val="E4E9F1"/>
            </a:solidFill>
            <a:prstDash val="solid"/>
          </a:ln>
        </p:spPr>
      </p:sp>
      <p:sp>
        <p:nvSpPr>
          <p:cNvPr id="24" name="Text 22"/>
          <p:cNvSpPr/>
          <p:nvPr/>
        </p:nvSpPr>
        <p:spPr>
          <a:xfrm>
            <a:off x="502920" y="3447288"/>
            <a:ext cx="1508760" cy="512064"/>
          </a:xfrm>
          <a:prstGeom prst="rect">
            <a:avLst/>
          </a:prstGeom>
          <a:noFill/>
          <a:ln/>
        </p:spPr>
        <p:txBody>
          <a:bodyPr wrap="square" lIns="0" tIns="177800" rIns="0" bIns="0" rtlCol="0" anchor="ctr"/>
          <a:lstStyle/>
          <a:p>
            <a:pPr algn="l" indent="0" marL="0">
              <a:buNone/>
            </a:pPr>
            <a:r>
              <a:rPr lang="en-US" sz="1020" b="1" dirty="0">
                <a:solidFill>
                  <a:srgbClr val="1E293B"/>
                </a:solidFill>
                <a:latin typeface="Calibri" pitchFamily="34" charset="0"/>
                <a:ea typeface="Calibri" pitchFamily="34" charset="-122"/>
                <a:cs typeface="Calibri" pitchFamily="34" charset="-120"/>
              </a:rPr>
              <a:t>RC</a:t>
            </a:r>
            <a:endParaRPr lang="en-US" sz="1020" dirty="0"/>
          </a:p>
        </p:txBody>
      </p:sp>
      <p:sp>
        <p:nvSpPr>
          <p:cNvPr id="25" name="Text 23"/>
          <p:cNvSpPr/>
          <p:nvPr/>
        </p:nvSpPr>
        <p:spPr>
          <a:xfrm>
            <a:off x="2011680" y="3447288"/>
            <a:ext cx="114300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short</a:t>
            </a:r>
            <a:endParaRPr lang="en-US" sz="1020" dirty="0"/>
          </a:p>
        </p:txBody>
      </p:sp>
      <p:sp>
        <p:nvSpPr>
          <p:cNvPr id="26" name="Text 24"/>
          <p:cNvSpPr/>
          <p:nvPr/>
        </p:nvSpPr>
        <p:spPr>
          <a:xfrm>
            <a:off x="3154680" y="3447288"/>
            <a:ext cx="109728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5.000</a:t>
            </a:r>
            <a:endParaRPr lang="en-US" sz="1020" dirty="0"/>
          </a:p>
        </p:txBody>
      </p:sp>
      <p:sp>
        <p:nvSpPr>
          <p:cNvPr id="27" name="Text 25"/>
          <p:cNvSpPr/>
          <p:nvPr/>
        </p:nvSpPr>
        <p:spPr>
          <a:xfrm>
            <a:off x="4251960" y="3447288"/>
            <a:ext cx="105156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0.353</a:t>
            </a:r>
            <a:endParaRPr lang="en-US" sz="1020" dirty="0"/>
          </a:p>
        </p:txBody>
      </p:sp>
      <p:sp>
        <p:nvSpPr>
          <p:cNvPr id="28" name="Text 26"/>
          <p:cNvSpPr/>
          <p:nvPr/>
        </p:nvSpPr>
        <p:spPr>
          <a:xfrm>
            <a:off x="5303520" y="3447288"/>
            <a:ext cx="114300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0.000 s</a:t>
            </a:r>
            <a:endParaRPr lang="en-US" sz="1020" dirty="0"/>
          </a:p>
        </p:txBody>
      </p:sp>
      <p:sp>
        <p:nvSpPr>
          <p:cNvPr id="29" name="Text 27"/>
          <p:cNvSpPr/>
          <p:nvPr/>
        </p:nvSpPr>
        <p:spPr>
          <a:xfrm>
            <a:off x="6446520" y="3447288"/>
            <a:ext cx="150876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900.7 Hz</a:t>
            </a:r>
            <a:endParaRPr lang="en-US" sz="1020" dirty="0"/>
          </a:p>
        </p:txBody>
      </p:sp>
      <p:sp>
        <p:nvSpPr>
          <p:cNvPr id="30" name="Text 28"/>
          <p:cNvSpPr/>
          <p:nvPr/>
        </p:nvSpPr>
        <p:spPr>
          <a:xfrm>
            <a:off x="7955280" y="3447288"/>
            <a:ext cx="146304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0.042</a:t>
            </a:r>
            <a:endParaRPr lang="en-US" sz="1020" dirty="0"/>
          </a:p>
        </p:txBody>
      </p:sp>
      <p:sp>
        <p:nvSpPr>
          <p:cNvPr id="31" name="Text 29"/>
          <p:cNvSpPr/>
          <p:nvPr/>
        </p:nvSpPr>
        <p:spPr>
          <a:xfrm>
            <a:off x="9418320" y="3447288"/>
            <a:ext cx="169164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5.000</a:t>
            </a:r>
            <a:endParaRPr lang="en-US" sz="1020" dirty="0"/>
          </a:p>
        </p:txBody>
      </p:sp>
      <p:sp>
        <p:nvSpPr>
          <p:cNvPr id="32" name="Shape 30"/>
          <p:cNvSpPr/>
          <p:nvPr/>
        </p:nvSpPr>
        <p:spPr>
          <a:xfrm>
            <a:off x="502920" y="3959352"/>
            <a:ext cx="10607040" cy="512064"/>
          </a:xfrm>
          <a:prstGeom prst="rect">
            <a:avLst/>
          </a:prstGeom>
          <a:solidFill>
            <a:srgbClr val="FFFFFF"/>
          </a:solidFill>
          <a:ln w="9525">
            <a:solidFill>
              <a:srgbClr val="E4E9F1"/>
            </a:solidFill>
            <a:prstDash val="solid"/>
          </a:ln>
        </p:spPr>
      </p:sp>
      <p:sp>
        <p:nvSpPr>
          <p:cNvPr id="33" name="Text 31"/>
          <p:cNvSpPr/>
          <p:nvPr/>
        </p:nvSpPr>
        <p:spPr>
          <a:xfrm>
            <a:off x="502920" y="3959352"/>
            <a:ext cx="1508760" cy="512064"/>
          </a:xfrm>
          <a:prstGeom prst="rect">
            <a:avLst/>
          </a:prstGeom>
          <a:noFill/>
          <a:ln/>
        </p:spPr>
        <p:txBody>
          <a:bodyPr wrap="square" lIns="0" tIns="177800" rIns="0" bIns="0" rtlCol="0" anchor="ctr"/>
          <a:lstStyle/>
          <a:p>
            <a:pPr algn="l" indent="0" marL="0">
              <a:buNone/>
            </a:pPr>
            <a:r>
              <a:rPr lang="en-US" sz="1020" b="1" dirty="0">
                <a:solidFill>
                  <a:srgbClr val="1E293B"/>
                </a:solidFill>
                <a:latin typeface="Calibri" pitchFamily="34" charset="0"/>
                <a:ea typeface="Calibri" pitchFamily="34" charset="-122"/>
                <a:cs typeface="Calibri" pitchFamily="34" charset="-120"/>
              </a:rPr>
              <a:t>RLC</a:t>
            </a:r>
            <a:endParaRPr lang="en-US" sz="1020" dirty="0"/>
          </a:p>
        </p:txBody>
      </p:sp>
      <p:sp>
        <p:nvSpPr>
          <p:cNvPr id="34" name="Text 32"/>
          <p:cNvSpPr/>
          <p:nvPr/>
        </p:nvSpPr>
        <p:spPr>
          <a:xfrm>
            <a:off x="2011680" y="3959352"/>
            <a:ext cx="114300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drift</a:t>
            </a:r>
            <a:endParaRPr lang="en-US" sz="1020" dirty="0"/>
          </a:p>
        </p:txBody>
      </p:sp>
      <p:sp>
        <p:nvSpPr>
          <p:cNvPr id="35" name="Text 33"/>
          <p:cNvSpPr/>
          <p:nvPr/>
        </p:nvSpPr>
        <p:spPr>
          <a:xfrm>
            <a:off x="3154680" y="3959352"/>
            <a:ext cx="109728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8.668</a:t>
            </a:r>
            <a:endParaRPr lang="en-US" sz="1020" dirty="0"/>
          </a:p>
        </p:txBody>
      </p:sp>
      <p:sp>
        <p:nvSpPr>
          <p:cNvPr id="36" name="Text 34"/>
          <p:cNvSpPr/>
          <p:nvPr/>
        </p:nvSpPr>
        <p:spPr>
          <a:xfrm>
            <a:off x="4251960" y="3959352"/>
            <a:ext cx="105156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2.835</a:t>
            </a:r>
            <a:endParaRPr lang="en-US" sz="1020" dirty="0"/>
          </a:p>
        </p:txBody>
      </p:sp>
      <p:sp>
        <p:nvSpPr>
          <p:cNvPr id="37" name="Text 35"/>
          <p:cNvSpPr/>
          <p:nvPr/>
        </p:nvSpPr>
        <p:spPr>
          <a:xfrm>
            <a:off x="5303520" y="3959352"/>
            <a:ext cx="114300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0.062 s</a:t>
            </a:r>
            <a:endParaRPr lang="en-US" sz="1020" dirty="0"/>
          </a:p>
        </p:txBody>
      </p:sp>
      <p:sp>
        <p:nvSpPr>
          <p:cNvPr id="38" name="Text 36"/>
          <p:cNvSpPr/>
          <p:nvPr/>
        </p:nvSpPr>
        <p:spPr>
          <a:xfrm>
            <a:off x="6446520" y="3959352"/>
            <a:ext cx="150876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52.4 Hz</a:t>
            </a:r>
            <a:endParaRPr lang="en-US" sz="1020" dirty="0"/>
          </a:p>
        </p:txBody>
      </p:sp>
      <p:sp>
        <p:nvSpPr>
          <p:cNvPr id="39" name="Text 37"/>
          <p:cNvSpPr/>
          <p:nvPr/>
        </p:nvSpPr>
        <p:spPr>
          <a:xfrm>
            <a:off x="7955280" y="3959352"/>
            <a:ext cx="146304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1.243</a:t>
            </a:r>
            <a:endParaRPr lang="en-US" sz="1020" dirty="0"/>
          </a:p>
        </p:txBody>
      </p:sp>
      <p:sp>
        <p:nvSpPr>
          <p:cNvPr id="40" name="Text 38"/>
          <p:cNvSpPr/>
          <p:nvPr/>
        </p:nvSpPr>
        <p:spPr>
          <a:xfrm>
            <a:off x="9418320" y="3959352"/>
            <a:ext cx="169164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8.276</a:t>
            </a:r>
            <a:endParaRPr lang="en-US" sz="1020" dirty="0"/>
          </a:p>
        </p:txBody>
      </p:sp>
      <p:sp>
        <p:nvSpPr>
          <p:cNvPr id="41" name="Shape 39"/>
          <p:cNvSpPr/>
          <p:nvPr/>
        </p:nvSpPr>
        <p:spPr>
          <a:xfrm>
            <a:off x="502920" y="4471416"/>
            <a:ext cx="10607040" cy="512064"/>
          </a:xfrm>
          <a:prstGeom prst="rect">
            <a:avLst/>
          </a:prstGeom>
          <a:solidFill>
            <a:srgbClr val="EEF2F7"/>
          </a:solidFill>
          <a:ln w="9525">
            <a:solidFill>
              <a:srgbClr val="E4E9F1"/>
            </a:solidFill>
            <a:prstDash val="solid"/>
          </a:ln>
        </p:spPr>
      </p:sp>
      <p:sp>
        <p:nvSpPr>
          <p:cNvPr id="42" name="Text 40"/>
          <p:cNvSpPr/>
          <p:nvPr/>
        </p:nvSpPr>
        <p:spPr>
          <a:xfrm>
            <a:off x="502920" y="4471416"/>
            <a:ext cx="1508760" cy="512064"/>
          </a:xfrm>
          <a:prstGeom prst="rect">
            <a:avLst/>
          </a:prstGeom>
          <a:noFill/>
          <a:ln/>
        </p:spPr>
        <p:txBody>
          <a:bodyPr wrap="square" lIns="0" tIns="177800" rIns="0" bIns="0" rtlCol="0" anchor="ctr"/>
          <a:lstStyle/>
          <a:p>
            <a:pPr algn="l" indent="0" marL="0">
              <a:buNone/>
            </a:pPr>
            <a:r>
              <a:rPr lang="en-US" sz="1020" b="1" dirty="0">
                <a:solidFill>
                  <a:srgbClr val="1E293B"/>
                </a:solidFill>
                <a:latin typeface="Calibri" pitchFamily="34" charset="0"/>
                <a:ea typeface="Calibri" pitchFamily="34" charset="-122"/>
                <a:cs typeface="Calibri" pitchFamily="34" charset="-120"/>
              </a:rPr>
              <a:t>SALLEN_KEY</a:t>
            </a:r>
            <a:endParaRPr lang="en-US" sz="1020" dirty="0"/>
          </a:p>
        </p:txBody>
      </p:sp>
      <p:sp>
        <p:nvSpPr>
          <p:cNvPr id="43" name="Text 41"/>
          <p:cNvSpPr/>
          <p:nvPr/>
        </p:nvSpPr>
        <p:spPr>
          <a:xfrm>
            <a:off x="2011680" y="4471416"/>
            <a:ext cx="114300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noise</a:t>
            </a:r>
            <a:endParaRPr lang="en-US" sz="1020" dirty="0"/>
          </a:p>
        </p:txBody>
      </p:sp>
      <p:sp>
        <p:nvSpPr>
          <p:cNvPr id="44" name="Text 42"/>
          <p:cNvSpPr/>
          <p:nvPr/>
        </p:nvSpPr>
        <p:spPr>
          <a:xfrm>
            <a:off x="3154680" y="4471416"/>
            <a:ext cx="109728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5.704</a:t>
            </a:r>
            <a:endParaRPr lang="en-US" sz="1020" dirty="0"/>
          </a:p>
        </p:txBody>
      </p:sp>
      <p:sp>
        <p:nvSpPr>
          <p:cNvPr id="45" name="Text 43"/>
          <p:cNvSpPr/>
          <p:nvPr/>
        </p:nvSpPr>
        <p:spPr>
          <a:xfrm>
            <a:off x="4251960" y="4471416"/>
            <a:ext cx="105156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0.446</a:t>
            </a:r>
            <a:endParaRPr lang="en-US" sz="1020" dirty="0"/>
          </a:p>
        </p:txBody>
      </p:sp>
      <p:sp>
        <p:nvSpPr>
          <p:cNvPr id="46" name="Text 44"/>
          <p:cNvSpPr/>
          <p:nvPr/>
        </p:nvSpPr>
        <p:spPr>
          <a:xfrm>
            <a:off x="5303520" y="4471416"/>
            <a:ext cx="114300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0.020 s</a:t>
            </a:r>
            <a:endParaRPr lang="en-US" sz="1020" dirty="0"/>
          </a:p>
        </p:txBody>
      </p:sp>
      <p:sp>
        <p:nvSpPr>
          <p:cNvPr id="47" name="Text 45"/>
          <p:cNvSpPr/>
          <p:nvPr/>
        </p:nvSpPr>
        <p:spPr>
          <a:xfrm>
            <a:off x="6446520" y="4471416"/>
            <a:ext cx="150876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1194.0 Hz</a:t>
            </a:r>
            <a:endParaRPr lang="en-US" sz="1020" dirty="0"/>
          </a:p>
        </p:txBody>
      </p:sp>
      <p:sp>
        <p:nvSpPr>
          <p:cNvPr id="48" name="Text 46"/>
          <p:cNvSpPr/>
          <p:nvPr/>
        </p:nvSpPr>
        <p:spPr>
          <a:xfrm>
            <a:off x="7955280" y="4471416"/>
            <a:ext cx="146304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0.063</a:t>
            </a:r>
            <a:endParaRPr lang="en-US" sz="1020" dirty="0"/>
          </a:p>
        </p:txBody>
      </p:sp>
      <p:sp>
        <p:nvSpPr>
          <p:cNvPr id="49" name="Text 47"/>
          <p:cNvSpPr/>
          <p:nvPr/>
        </p:nvSpPr>
        <p:spPr>
          <a:xfrm>
            <a:off x="9418320" y="4471416"/>
            <a:ext cx="1691640" cy="512064"/>
          </a:xfrm>
          <a:prstGeom prst="rect">
            <a:avLst/>
          </a:prstGeom>
          <a:noFill/>
          <a:ln/>
        </p:spPr>
        <p:txBody>
          <a:bodyPr wrap="square" lIns="0" tIns="0" rIns="0" bIns="0" rtlCol="0" anchor="ctr"/>
          <a:lstStyle/>
          <a:p>
            <a:pPr algn="ctr" indent="0" marL="0">
              <a:buNone/>
            </a:pPr>
            <a:r>
              <a:rPr lang="en-US" sz="1020" dirty="0">
                <a:solidFill>
                  <a:srgbClr val="1E293B"/>
                </a:solidFill>
                <a:latin typeface="Calibri" pitchFamily="34" charset="0"/>
                <a:ea typeface="Calibri" pitchFamily="34" charset="-122"/>
                <a:cs typeface="Calibri" pitchFamily="34" charset="-120"/>
              </a:rPr>
              <a:t>5.064</a:t>
            </a:r>
            <a:endParaRPr lang="en-US" sz="1020" dirty="0"/>
          </a:p>
        </p:txBody>
      </p:sp>
      <p:sp>
        <p:nvSpPr>
          <p:cNvPr id="50" name="Text 48"/>
          <p:cNvSpPr/>
          <p:nvPr/>
        </p:nvSpPr>
        <p:spPr>
          <a:xfrm>
            <a:off x="502920" y="5074920"/>
            <a:ext cx="10607040" cy="1097280"/>
          </a:xfrm>
          <a:prstGeom prst="rect">
            <a:avLst/>
          </a:prstGeom>
          <a:noFill/>
          <a:ln/>
        </p:spPr>
        <p:txBody>
          <a:bodyPr wrap="square" lIns="0" tIns="0" rIns="0" bIns="0" rtlCol="0" anchor="ctr"/>
          <a:lstStyle/>
          <a:p>
            <a:pPr indent="0" marL="0">
              <a:lnSpc>
                <a:spcPct val="125000"/>
              </a:lnSpc>
              <a:buNone/>
            </a:pPr>
            <a:r>
              <a:rPr lang="en-US" sz="1100" dirty="0">
                <a:solidFill>
                  <a:srgbClr val="64748B"/>
                </a:solidFill>
                <a:latin typeface="Calibri" pitchFamily="34" charset="0"/>
                <a:ea typeface="Calibri" pitchFamily="34" charset="-122"/>
                <a:cs typeface="Calibri" pitchFamily="34" charset="-120"/>
              </a:rPr>
              <a:t>1,019 rows x 20 columns (sample_id + circuit + fault + 17 features) — a 10x reduction from 204 columns, with each number chosen to carry physical meaning rather than just compressing data blindly. </a:t>
            </a:r>
            <a:pPr indent="0" marL="0">
              <a:lnSpc>
                <a:spcPct val="125000"/>
              </a:lnSpc>
              <a:buNone/>
            </a:pPr>
            <a:r>
              <a:rPr lang="en-US" sz="1100" dirty="0">
                <a:solidFill>
                  <a:srgbClr val="64748B"/>
                </a:solidFill>
                <a:latin typeface="Calibri" pitchFamily="34" charset="0"/>
                <a:ea typeface="Calibri" pitchFamily="34" charset="-122"/>
                <a:cs typeface="Calibri" pitchFamily="34" charset="-120"/>
              </a:rPr>
              <a:t>Notice RC_short and RLC_drift both have dominant_freq near 52 Hz while SALLEN_KEY_noise sits at 1194 Hz, and RC_short's spectral entropy (0.042) is far lower than RLC_drift's (1.243) — exactly the kind of separation the SVM will learn to exploit next.</a:t>
            </a:r>
            <a:endParaRPr lang="en-US" sz="1100" dirty="0"/>
          </a:p>
        </p:txBody>
      </p:sp>
      <p:sp>
        <p:nvSpPr>
          <p:cNvPr id="51" name="Text 49"/>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52" name="Text 50"/>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5. MACHINE LEARNING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Support Vector Machines: The Big Idea</a:t>
            </a:r>
            <a:endParaRPr lang="en-US" sz="3000" dirty="0"/>
          </a:p>
        </p:txBody>
      </p:sp>
      <p:sp>
        <p:nvSpPr>
          <p:cNvPr id="4" name="Text 2"/>
          <p:cNvSpPr/>
          <p:nvPr/>
        </p:nvSpPr>
        <p:spPr>
          <a:xfrm>
            <a:off x="502920" y="1828800"/>
            <a:ext cx="10607040" cy="914400"/>
          </a:xfrm>
          <a:prstGeom prst="rect">
            <a:avLst/>
          </a:prstGeom>
          <a:noFill/>
          <a:ln/>
        </p:spPr>
        <p:txBody>
          <a:bodyPr wrap="square" lIns="0" tIns="0" rIns="0" bIns="0" rtlCol="0" anchor="ctr"/>
          <a:lstStyle/>
          <a:p>
            <a:pPr indent="0" marL="0">
              <a:lnSpc>
                <a:spcPct val="130000"/>
              </a:lnSpc>
              <a:buNone/>
            </a:pPr>
            <a:r>
              <a:rPr lang="en-US" sz="1400" dirty="0">
                <a:solidFill>
                  <a:srgbClr val="1E293B"/>
                </a:solidFill>
                <a:latin typeface="Calibri" pitchFamily="34" charset="0"/>
                <a:ea typeface="Calibri" pitchFamily="34" charset="-122"/>
                <a:cs typeface="Calibri" pitchFamily="34" charset="-120"/>
              </a:rPr>
              <a:t>An SVM looks at labeled examples in feature space and draws the boundary that separates classes with the </a:t>
            </a:r>
            <a:pPr indent="0" marL="0">
              <a:lnSpc>
                <a:spcPct val="130000"/>
              </a:lnSpc>
              <a:buNone/>
            </a:pPr>
            <a:r>
              <a:rPr lang="en-US" sz="1400" b="1" dirty="0">
                <a:solidFill>
                  <a:srgbClr val="0B1F3A"/>
                </a:solidFill>
                <a:latin typeface="Calibri" pitchFamily="34" charset="0"/>
                <a:ea typeface="Calibri" pitchFamily="34" charset="-122"/>
                <a:cs typeface="Calibri" pitchFamily="34" charset="-120"/>
              </a:rPr>
              <a:t>widest possible margin</a:t>
            </a:r>
            <a:pPr indent="0" marL="0">
              <a:lnSpc>
                <a:spcPct val="130000"/>
              </a:lnSpc>
              <a:buNone/>
            </a:pPr>
            <a:r>
              <a:rPr lang="en-US" sz="1400" dirty="0">
                <a:solidFill>
                  <a:srgbClr val="1E293B"/>
                </a:solidFill>
                <a:latin typeface="Calibri" pitchFamily="34" charset="0"/>
                <a:ea typeface="Calibri" pitchFamily="34" charset="-122"/>
                <a:cs typeface="Calibri" pitchFamily="34" charset="-120"/>
              </a:rPr>
              <a:t> — not just any line that works, but the one furthest from the nearest points of each class.</a:t>
            </a:r>
            <a:endParaRPr lang="en-US" sz="1400" dirty="0"/>
          </a:p>
        </p:txBody>
      </p:sp>
      <p:sp>
        <p:nvSpPr>
          <p:cNvPr id="5" name="Shape 3"/>
          <p:cNvSpPr/>
          <p:nvPr/>
        </p:nvSpPr>
        <p:spPr>
          <a:xfrm>
            <a:off x="502920" y="2926080"/>
            <a:ext cx="530352" cy="530352"/>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6" name="Image 0" descr="/sessions/blissful-zealous-babbage/mnt/outputs/ppt/icons/handright_00B4D8.png">    </p:cNvPr>
          <p:cNvPicPr>
            <a:picLocks noChangeAspect="1"/>
          </p:cNvPicPr>
          <p:nvPr/>
        </p:nvPicPr>
        <p:blipFill>
          <a:blip r:embed="rId1"/>
          <a:stretch>
            <a:fillRect/>
          </a:stretch>
        </p:blipFill>
        <p:spPr>
          <a:xfrm>
            <a:off x="574518" y="2997678"/>
            <a:ext cx="387157" cy="387157"/>
          </a:xfrm>
          <a:prstGeom prst="rect">
            <a:avLst/>
          </a:prstGeom>
        </p:spPr>
      </p:pic>
      <p:sp>
        <p:nvSpPr>
          <p:cNvPr id="7" name="Text 4"/>
          <p:cNvSpPr/>
          <p:nvPr/>
        </p:nvSpPr>
        <p:spPr>
          <a:xfrm>
            <a:off x="1234440" y="2907792"/>
            <a:ext cx="9784080" cy="777240"/>
          </a:xfrm>
          <a:prstGeom prst="rect">
            <a:avLst/>
          </a:prstGeom>
          <a:noFill/>
          <a:ln/>
        </p:spPr>
        <p:txBody>
          <a:bodyPr wrap="square" lIns="0" tIns="0" rIns="0" bIns="0" rtlCol="0" anchor="ctr"/>
          <a:lstStyle/>
          <a:p>
            <a:pPr indent="0" marL="0">
              <a:lnSpc>
                <a:spcPct val="122000"/>
              </a:lnSpc>
              <a:buNone/>
            </a:pPr>
            <a:r>
              <a:rPr lang="en-US" sz="1200" b="1" dirty="0">
                <a:solidFill>
                  <a:srgbClr val="0B1F3A"/>
                </a:solidFill>
                <a:latin typeface="Calibri" pitchFamily="34" charset="0"/>
                <a:ea typeface="Calibri" pitchFamily="34" charset="-122"/>
                <a:cs typeface="Calibri" pitchFamily="34" charset="-120"/>
              </a:rPr>
              <a:t>Support vectors:  </a:t>
            </a:r>
            <a:pPr indent="0" marL="0">
              <a:lnSpc>
                <a:spcPct val="122000"/>
              </a:lnSpc>
              <a:buNone/>
            </a:pPr>
            <a:r>
              <a:rPr lang="en-US" sz="1200" dirty="0">
                <a:solidFill>
                  <a:srgbClr val="64748B"/>
                </a:solidFill>
                <a:latin typeface="Calibri" pitchFamily="34" charset="0"/>
                <a:ea typeface="Calibri" pitchFamily="34" charset="-122"/>
                <a:cs typeface="Calibri" pitchFamily="34" charset="-120"/>
              </a:rPr>
              <a:t>Only the closest points to the boundary matter for defining it — these are the “support vectors” that give the algorithm its name.</a:t>
            </a:r>
            <a:endParaRPr lang="en-US" sz="1200" dirty="0"/>
          </a:p>
        </p:txBody>
      </p:sp>
      <p:sp>
        <p:nvSpPr>
          <p:cNvPr id="8" name="Shape 5"/>
          <p:cNvSpPr/>
          <p:nvPr/>
        </p:nvSpPr>
        <p:spPr>
          <a:xfrm>
            <a:off x="502920" y="3886200"/>
            <a:ext cx="530352" cy="530352"/>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9" name="Image 1" descr="/sessions/blissful-zealous-babbage/mnt/outputs/ppt/icons/balance_00B4D8.png">    </p:cNvPr>
          <p:cNvPicPr>
            <a:picLocks noChangeAspect="1"/>
          </p:cNvPicPr>
          <p:nvPr/>
        </p:nvPicPr>
        <p:blipFill>
          <a:blip r:embed="rId2"/>
          <a:stretch>
            <a:fillRect/>
          </a:stretch>
        </p:blipFill>
        <p:spPr>
          <a:xfrm>
            <a:off x="574518" y="3957798"/>
            <a:ext cx="387157" cy="387157"/>
          </a:xfrm>
          <a:prstGeom prst="rect">
            <a:avLst/>
          </a:prstGeom>
        </p:spPr>
      </p:pic>
      <p:sp>
        <p:nvSpPr>
          <p:cNvPr id="10" name="Text 6"/>
          <p:cNvSpPr/>
          <p:nvPr/>
        </p:nvSpPr>
        <p:spPr>
          <a:xfrm>
            <a:off x="1234440" y="3867912"/>
            <a:ext cx="9784080" cy="777240"/>
          </a:xfrm>
          <a:prstGeom prst="rect">
            <a:avLst/>
          </a:prstGeom>
          <a:noFill/>
          <a:ln/>
        </p:spPr>
        <p:txBody>
          <a:bodyPr wrap="square" lIns="0" tIns="0" rIns="0" bIns="0" rtlCol="0" anchor="ctr"/>
          <a:lstStyle/>
          <a:p>
            <a:pPr indent="0" marL="0">
              <a:lnSpc>
                <a:spcPct val="122000"/>
              </a:lnSpc>
              <a:buNone/>
            </a:pPr>
            <a:r>
              <a:rPr lang="en-US" sz="1200" b="1" dirty="0">
                <a:solidFill>
                  <a:srgbClr val="0B1F3A"/>
                </a:solidFill>
                <a:latin typeface="Calibri" pitchFamily="34" charset="0"/>
                <a:ea typeface="Calibri" pitchFamily="34" charset="-122"/>
                <a:cs typeface="Calibri" pitchFamily="34" charset="-120"/>
              </a:rPr>
              <a:t>Margin maximization:  </a:t>
            </a:r>
            <a:pPr indent="0" marL="0">
              <a:lnSpc>
                <a:spcPct val="122000"/>
              </a:lnSpc>
              <a:buNone/>
            </a:pPr>
            <a:r>
              <a:rPr lang="en-US" sz="1200" dirty="0">
                <a:solidFill>
                  <a:srgbClr val="64748B"/>
                </a:solidFill>
                <a:latin typeface="Calibri" pitchFamily="34" charset="0"/>
                <a:ea typeface="Calibri" pitchFamily="34" charset="-122"/>
                <a:cs typeface="Calibri" pitchFamily="34" charset="-120"/>
              </a:rPr>
              <a:t>A wider margin between classes tends to generalize better to new, unseen data than a boundary that barely squeezes between them.</a:t>
            </a:r>
            <a:endParaRPr lang="en-US" sz="1200" dirty="0"/>
          </a:p>
        </p:txBody>
      </p:sp>
      <p:sp>
        <p:nvSpPr>
          <p:cNvPr id="11" name="Shape 7"/>
          <p:cNvSpPr/>
          <p:nvPr/>
        </p:nvSpPr>
        <p:spPr>
          <a:xfrm>
            <a:off x="502920" y="4846320"/>
            <a:ext cx="530352" cy="530352"/>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2" name="Image 2" descr="/sessions/blissful-zealous-babbage/mnt/outputs/ppt/icons/puzzle_00B4D8.png">    </p:cNvPr>
          <p:cNvPicPr>
            <a:picLocks noChangeAspect="1"/>
          </p:cNvPicPr>
          <p:nvPr/>
        </p:nvPicPr>
        <p:blipFill>
          <a:blip r:embed="rId3"/>
          <a:stretch>
            <a:fillRect/>
          </a:stretch>
        </p:blipFill>
        <p:spPr>
          <a:xfrm>
            <a:off x="574518" y="4917918"/>
            <a:ext cx="387157" cy="387157"/>
          </a:xfrm>
          <a:prstGeom prst="rect">
            <a:avLst/>
          </a:prstGeom>
        </p:spPr>
      </p:pic>
      <p:sp>
        <p:nvSpPr>
          <p:cNvPr id="13" name="Text 8"/>
          <p:cNvSpPr/>
          <p:nvPr/>
        </p:nvSpPr>
        <p:spPr>
          <a:xfrm>
            <a:off x="1234440" y="4828032"/>
            <a:ext cx="9784080" cy="777240"/>
          </a:xfrm>
          <a:prstGeom prst="rect">
            <a:avLst/>
          </a:prstGeom>
          <a:noFill/>
          <a:ln/>
        </p:spPr>
        <p:txBody>
          <a:bodyPr wrap="square" lIns="0" tIns="0" rIns="0" bIns="0" rtlCol="0" anchor="ctr"/>
          <a:lstStyle/>
          <a:p>
            <a:pPr indent="0" marL="0">
              <a:lnSpc>
                <a:spcPct val="122000"/>
              </a:lnSpc>
              <a:buNone/>
            </a:pPr>
            <a:r>
              <a:rPr lang="en-US" sz="1200" b="1" dirty="0">
                <a:solidFill>
                  <a:srgbClr val="0B1F3A"/>
                </a:solidFill>
                <a:latin typeface="Calibri" pitchFamily="34" charset="0"/>
                <a:ea typeface="Calibri" pitchFamily="34" charset="-122"/>
                <a:cs typeface="Calibri" pitchFamily="34" charset="-120"/>
              </a:rPr>
              <a:t>The kernel question:  </a:t>
            </a:r>
            <a:pPr indent="0" marL="0">
              <a:lnSpc>
                <a:spcPct val="122000"/>
              </a:lnSpc>
              <a:buNone/>
            </a:pPr>
            <a:r>
              <a:rPr lang="en-US" sz="1200" dirty="0">
                <a:solidFill>
                  <a:srgbClr val="64748B"/>
                </a:solidFill>
                <a:latin typeface="Calibri" pitchFamily="34" charset="0"/>
                <a:ea typeface="Calibri" pitchFamily="34" charset="-122"/>
                <a:cs typeface="Calibri" pitchFamily="34" charset="-120"/>
              </a:rPr>
              <a:t>Real data is rarely separable with a straight line — the next slide covers how SVMs handle that.</a:t>
            </a:r>
            <a:endParaRPr lang="en-US" sz="1200" dirty="0"/>
          </a:p>
        </p:txBody>
      </p:sp>
      <p:sp>
        <p:nvSpPr>
          <p:cNvPr id="14" name="Text 9"/>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5" name="Text 10"/>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5. MACHINE LEARNING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SVM Math: Hyperplanes &amp; Margins</a:t>
            </a:r>
            <a:endParaRPr lang="en-US" sz="3000" dirty="0"/>
          </a:p>
        </p:txBody>
      </p:sp>
      <p:sp>
        <p:nvSpPr>
          <p:cNvPr id="4" name="Shape 2"/>
          <p:cNvSpPr/>
          <p:nvPr/>
        </p:nvSpPr>
        <p:spPr>
          <a:xfrm>
            <a:off x="502920" y="1828800"/>
            <a:ext cx="10607040" cy="1874520"/>
          </a:xfrm>
          <a:prstGeom prst="roundRect">
            <a:avLst>
              <a:gd name="adj" fmla="val 3902"/>
            </a:avLst>
          </a:prstGeom>
          <a:solidFill>
            <a:srgbClr val="0B1F3A"/>
          </a:solidFill>
          <a:ln/>
          <a:effectLst>
            <a:outerShdw sx="100000" sy="100000" kx="0" ky="0" algn="bl" rotWithShape="0" blurRad="114300" dist="38100" dir="2700000">
              <a:srgbClr val="0B1F3A">
                <a:alpha val="14000"/>
              </a:srgbClr>
            </a:outerShdw>
          </a:effectLst>
        </p:spPr>
      </p:sp>
      <p:sp>
        <p:nvSpPr>
          <p:cNvPr id="5" name="Text 3"/>
          <p:cNvSpPr/>
          <p:nvPr/>
        </p:nvSpPr>
        <p:spPr>
          <a:xfrm>
            <a:off x="777240" y="1965960"/>
            <a:ext cx="10058400" cy="1600200"/>
          </a:xfrm>
          <a:prstGeom prst="rect">
            <a:avLst/>
          </a:prstGeom>
          <a:noFill/>
          <a:ln/>
        </p:spPr>
        <p:txBody>
          <a:bodyPr wrap="square" lIns="0" tIns="0" rIns="0" bIns="0" rtlCol="0" anchor="ctr"/>
          <a:lstStyle/>
          <a:p>
            <a:pPr algn="l" indent="0" marL="0">
              <a:lnSpc>
                <a:spcPct val="140000"/>
              </a:lnSpc>
              <a:buNone/>
            </a:pPr>
            <a:r>
              <a:rPr lang="en-US" sz="1400" dirty="0">
                <a:solidFill>
                  <a:srgbClr val="E7ECF4"/>
                </a:solidFill>
                <a:latin typeface="Courier New" pitchFamily="34" charset="0"/>
                <a:ea typeface="Courier New" pitchFamily="34" charset="-122"/>
                <a:cs typeface="Courier New" pitchFamily="34" charset="-120"/>
              </a:rPr>
              <a:t>Decision boundary:   w . x + b = 0</a:t>
            </a:r>
            <a:endParaRPr lang="en-US" sz="1400" dirty="0"/>
          </a:p>
          <a:p>
            <a:pPr algn="l" indent="0" marL="0">
              <a:lnSpc>
                <a:spcPct val="140000"/>
              </a:lnSpc>
              <a:buNone/>
            </a:pPr>
            <a:r>
              <a:rPr lang="en-US" sz="1400" dirty="0">
                <a:solidFill>
                  <a:srgbClr val="E7ECF4"/>
                </a:solidFill>
                <a:latin typeface="Courier New" pitchFamily="34" charset="0"/>
                <a:ea typeface="Courier New" pitchFamily="34" charset="-122"/>
                <a:cs typeface="Courier New" pitchFamily="34" charset="-120"/>
              </a:rPr>
              <a:t>Classify:            sign(w . x + b)</a:t>
            </a:r>
            <a:endParaRPr lang="en-US" sz="1400" dirty="0"/>
          </a:p>
          <a:p>
            <a:pPr algn="l" indent="0" marL="0">
              <a:lnSpc>
                <a:spcPct val="140000"/>
              </a:lnSpc>
              <a:buNone/>
            </a:pPr>
            <a:r>
              <a:rPr lang="en-US" sz="1400" dirty="0">
                <a:solidFill>
                  <a:srgbClr val="E7ECF4"/>
                </a:solidFill>
                <a:latin typeface="Courier New" pitchFamily="34" charset="0"/>
                <a:ea typeface="Courier New" pitchFamily="34" charset="-122"/>
                <a:cs typeface="Courier New" pitchFamily="34" charset="-120"/>
              </a:rPr>
              <a:t>Margin width:        2 / ||w||          (maximize this)</a:t>
            </a:r>
            <a:endParaRPr lang="en-US" sz="1400" dirty="0"/>
          </a:p>
          <a:p>
            <a:pPr algn="l" indent="0" marL="0">
              <a:lnSpc>
                <a:spcPct val="140000"/>
              </a:lnSpc>
              <a:buNone/>
            </a:pPr>
            <a:r>
              <a:rPr lang="en-US" sz="1400" dirty="0">
                <a:solidFill>
                  <a:srgbClr val="E7ECF4"/>
                </a:solidFill>
                <a:latin typeface="Courier New" pitchFamily="34" charset="0"/>
                <a:ea typeface="Courier New" pitchFamily="34" charset="-122"/>
                <a:cs typeface="Courier New" pitchFamily="34" charset="-120"/>
              </a:rPr>
              <a:t>Training objective:  minimize ||w||^2 / 2, subject to correct classification</a:t>
            </a:r>
            <a:endParaRPr lang="en-US" sz="1400" dirty="0"/>
          </a:p>
        </p:txBody>
      </p:sp>
      <p:sp>
        <p:nvSpPr>
          <p:cNvPr id="6" name="Text 4"/>
          <p:cNvSpPr/>
          <p:nvPr/>
        </p:nvSpPr>
        <p:spPr>
          <a:xfrm>
            <a:off x="502920" y="3977640"/>
            <a:ext cx="10607040" cy="1005840"/>
          </a:xfrm>
          <a:prstGeom prst="rect">
            <a:avLst/>
          </a:prstGeom>
          <a:noFill/>
          <a:ln/>
        </p:spPr>
        <p:txBody>
          <a:bodyPr wrap="square" lIns="0" tIns="0" rIns="0" bIns="0" rtlCol="0" anchor="ctr"/>
          <a:lstStyle/>
          <a:p>
            <a:pPr indent="0" marL="0">
              <a:lnSpc>
                <a:spcPct val="130000"/>
              </a:lnSpc>
              <a:buNone/>
            </a:pPr>
            <a:r>
              <a:rPr lang="en-US" sz="1250" b="1" dirty="0">
                <a:solidFill>
                  <a:srgbClr val="0B1F3A"/>
                </a:solidFill>
                <a:latin typeface="Courier New" pitchFamily="34" charset="0"/>
                <a:ea typeface="Courier New" pitchFamily="34" charset="-122"/>
                <a:cs typeface="Courier New" pitchFamily="34" charset="-120"/>
              </a:rPr>
              <a:t>w</a:t>
            </a:r>
            <a:pPr indent="0" marL="0">
              <a:lnSpc>
                <a:spcPct val="130000"/>
              </a:lnSpc>
              <a:buNone/>
            </a:pPr>
            <a:r>
              <a:rPr lang="en-US" sz="1250" dirty="0">
                <a:solidFill>
                  <a:srgbClr val="1E293B"/>
                </a:solidFill>
                <a:latin typeface="Calibri" pitchFamily="34" charset="0"/>
                <a:ea typeface="Calibri" pitchFamily="34" charset="-122"/>
                <a:cs typeface="Calibri" pitchFamily="34" charset="-120"/>
              </a:rPr>
              <a:t> is a weight vector (one number per feature) and </a:t>
            </a:r>
            <a:pPr indent="0" marL="0">
              <a:lnSpc>
                <a:spcPct val="130000"/>
              </a:lnSpc>
              <a:buNone/>
            </a:pPr>
            <a:r>
              <a:rPr lang="en-US" sz="1250" b="1" dirty="0">
                <a:solidFill>
                  <a:srgbClr val="0B1F3A"/>
                </a:solidFill>
                <a:latin typeface="Courier New" pitchFamily="34" charset="0"/>
                <a:ea typeface="Courier New" pitchFamily="34" charset="-122"/>
                <a:cs typeface="Courier New" pitchFamily="34" charset="-120"/>
              </a:rPr>
              <a:t>b</a:t>
            </a:r>
            <a:pPr indent="0" marL="0">
              <a:lnSpc>
                <a:spcPct val="130000"/>
              </a:lnSpc>
              <a:buNone/>
            </a:pPr>
            <a:r>
              <a:rPr lang="en-US" sz="1250" dirty="0">
                <a:solidFill>
                  <a:srgbClr val="1E293B"/>
                </a:solidFill>
                <a:latin typeface="Calibri" pitchFamily="34" charset="0"/>
                <a:ea typeface="Calibri" pitchFamily="34" charset="-122"/>
                <a:cs typeface="Calibri" pitchFamily="34" charset="-120"/>
              </a:rPr>
              <a:t> is a bias term. In the linear-kernel model, the size of each weight in </a:t>
            </a:r>
            <a:pPr indent="0" marL="0">
              <a:lnSpc>
                <a:spcPct val="130000"/>
              </a:lnSpc>
              <a:buNone/>
            </a:pPr>
            <a:r>
              <a:rPr lang="en-US" sz="1250" b="1" dirty="0">
                <a:solidFill>
                  <a:srgbClr val="0B1F3A"/>
                </a:solidFill>
                <a:latin typeface="Courier New" pitchFamily="34" charset="0"/>
                <a:ea typeface="Courier New" pitchFamily="34" charset="-122"/>
                <a:cs typeface="Courier New" pitchFamily="34" charset="-120"/>
              </a:rPr>
              <a:t>w</a:t>
            </a:r>
            <a:pPr indent="0" marL="0">
              <a:lnSpc>
                <a:spcPct val="130000"/>
              </a:lnSpc>
              <a:buNone/>
            </a:pPr>
            <a:r>
              <a:rPr lang="en-US" sz="1250" dirty="0">
                <a:solidFill>
                  <a:srgbClr val="1E293B"/>
                </a:solidFill>
                <a:latin typeface="Calibri" pitchFamily="34" charset="0"/>
                <a:ea typeface="Calibri" pitchFamily="34" charset="-122"/>
                <a:cs typeface="Calibri" pitchFamily="34" charset="-120"/>
              </a:rPr>
              <a:t> is literally what the Feature Importance chart (in Results) is built from — larger |weight| means that feature moves the boundary more.</a:t>
            </a:r>
            <a:endParaRPr lang="en-US" sz="1250" dirty="0"/>
          </a:p>
        </p:txBody>
      </p:sp>
      <p:sp>
        <p:nvSpPr>
          <p:cNvPr id="7" name="Shape 5"/>
          <p:cNvSpPr/>
          <p:nvPr/>
        </p:nvSpPr>
        <p:spPr>
          <a:xfrm>
            <a:off x="502920" y="5257800"/>
            <a:ext cx="11185855" cy="502920"/>
          </a:xfrm>
          <a:prstGeom prst="roundRect">
            <a:avLst>
              <a:gd name="adj" fmla="val 10909"/>
            </a:avLst>
          </a:prstGeom>
          <a:solidFill>
            <a:srgbClr val="FFF8E8"/>
          </a:solidFill>
          <a:ln w="12700">
            <a:solidFill>
              <a:srgbClr val="F0C24B"/>
            </a:solidFill>
            <a:prstDash val="solid"/>
          </a:ln>
        </p:spPr>
      </p:sp>
      <p:sp>
        <p:nvSpPr>
          <p:cNvPr id="8" name="Text 6"/>
          <p:cNvSpPr/>
          <p:nvPr/>
        </p:nvSpPr>
        <p:spPr>
          <a:xfrm>
            <a:off x="667512" y="5257800"/>
            <a:ext cx="10856671" cy="502920"/>
          </a:xfrm>
          <a:prstGeom prst="rect">
            <a:avLst/>
          </a:prstGeom>
          <a:noFill/>
          <a:ln/>
        </p:spPr>
        <p:txBody>
          <a:bodyPr wrap="square" lIns="0" tIns="0" rIns="0" bIns="0" rtlCol="0" anchor="ctr"/>
          <a:lstStyle/>
          <a:p>
            <a:pPr indent="0" marL="0">
              <a:lnSpc>
                <a:spcPct val="112000"/>
              </a:lnSpc>
              <a:buNone/>
            </a:pPr>
            <a:r>
              <a:rPr lang="en-US" sz="950" b="1" dirty="0">
                <a:solidFill>
                  <a:srgbClr val="9A6B00"/>
                </a:solidFill>
                <a:latin typeface="Calibri" pitchFamily="34" charset="0"/>
                <a:ea typeface="Calibri" pitchFamily="34" charset="-122"/>
                <a:cs typeface="Calibri" pitchFamily="34" charset="-120"/>
              </a:rPr>
              <a:t>  IN PLAIN TERMS (for the ECE side):  </a:t>
            </a:r>
            <a:pPr indent="0" marL="0">
              <a:lnSpc>
                <a:spcPct val="112000"/>
              </a:lnSpc>
              <a:buNone/>
            </a:pPr>
            <a:r>
              <a:rPr lang="en-US" sz="950" dirty="0">
                <a:solidFill>
                  <a:srgbClr val="3D3620"/>
                </a:solidFill>
                <a:latin typeface="Calibri" pitchFamily="34" charset="0"/>
                <a:ea typeface="Calibri" pitchFamily="34" charset="-122"/>
                <a:cs typeface="Calibri" pitchFamily="34" charset="-120"/>
              </a:rPr>
              <a:t>This is the same optimization idea as finding the best-fit line in a graph, just with a margin-width twist. You don't need to solve this by hand — scikit-learn's SVC does it in one line of code.</a:t>
            </a:r>
            <a:endParaRPr lang="en-US" sz="950" dirty="0"/>
          </a:p>
        </p:txBody>
      </p:sp>
      <p:sp>
        <p:nvSpPr>
          <p:cNvPr id="9" name="Text 7"/>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0" name="Text 8"/>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5. MACHINE LEARNING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The Kernel Trick</a:t>
            </a:r>
            <a:endParaRPr lang="en-US" sz="3000" dirty="0"/>
          </a:p>
        </p:txBody>
      </p:sp>
      <p:sp>
        <p:nvSpPr>
          <p:cNvPr id="4" name="Text 2"/>
          <p:cNvSpPr/>
          <p:nvPr/>
        </p:nvSpPr>
        <p:spPr>
          <a:xfrm>
            <a:off x="502920" y="1783080"/>
            <a:ext cx="10607040" cy="868680"/>
          </a:xfrm>
          <a:prstGeom prst="rect">
            <a:avLst/>
          </a:prstGeom>
          <a:noFill/>
          <a:ln/>
        </p:spPr>
        <p:txBody>
          <a:bodyPr wrap="square" lIns="0" tIns="0" rIns="0" bIns="0" rtlCol="0" anchor="ctr"/>
          <a:lstStyle/>
          <a:p>
            <a:pPr indent="0" marL="0">
              <a:lnSpc>
                <a:spcPct val="128000"/>
              </a:lnSpc>
              <a:buNone/>
            </a:pPr>
            <a:r>
              <a:rPr lang="en-US" sz="1300" dirty="0">
                <a:solidFill>
                  <a:srgbClr val="1E293B"/>
                </a:solidFill>
                <a:latin typeface="Calibri" pitchFamily="34" charset="0"/>
                <a:ea typeface="Calibri" pitchFamily="34" charset="-122"/>
                <a:cs typeface="Calibri" pitchFamily="34" charset="-120"/>
              </a:rPr>
              <a:t>A straight-line boundary can't separate classes that curl around each other in feature space. Kernels let the SVM measure similarity as if the data had been projected into a higher-dimensional space — without ever computing that projection directly.</a:t>
            </a:r>
            <a:endParaRPr lang="en-US" sz="1300" dirty="0"/>
          </a:p>
        </p:txBody>
      </p:sp>
      <p:sp>
        <p:nvSpPr>
          <p:cNvPr id="5" name="Shape 3"/>
          <p:cNvSpPr/>
          <p:nvPr/>
        </p:nvSpPr>
        <p:spPr>
          <a:xfrm>
            <a:off x="502920" y="2743200"/>
            <a:ext cx="10607040" cy="566928"/>
          </a:xfrm>
          <a:prstGeom prst="roundRect">
            <a:avLst>
              <a:gd name="adj" fmla="val 9677"/>
            </a:avLst>
          </a:prstGeom>
          <a:solidFill>
            <a:srgbClr val="0B1F3A"/>
          </a:solidFill>
          <a:ln/>
        </p:spPr>
      </p:sp>
      <p:sp>
        <p:nvSpPr>
          <p:cNvPr id="6" name="Text 4"/>
          <p:cNvSpPr/>
          <p:nvPr/>
        </p:nvSpPr>
        <p:spPr>
          <a:xfrm>
            <a:off x="502920" y="2743200"/>
            <a:ext cx="2194560" cy="566928"/>
          </a:xfrm>
          <a:prstGeom prst="rect">
            <a:avLst/>
          </a:prstGeom>
          <a:noFill/>
          <a:ln/>
        </p:spPr>
        <p:txBody>
          <a:bodyPr wrap="square" lIns="0" tIns="17780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Kernel</a:t>
            </a:r>
            <a:endParaRPr lang="en-US" sz="1200" dirty="0"/>
          </a:p>
        </p:txBody>
      </p:sp>
      <p:sp>
        <p:nvSpPr>
          <p:cNvPr id="7" name="Text 5"/>
          <p:cNvSpPr/>
          <p:nvPr/>
        </p:nvSpPr>
        <p:spPr>
          <a:xfrm>
            <a:off x="2697480" y="2743200"/>
            <a:ext cx="512064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Similarity function K(x, x')</a:t>
            </a:r>
            <a:endParaRPr lang="en-US" sz="1200" dirty="0"/>
          </a:p>
        </p:txBody>
      </p:sp>
      <p:sp>
        <p:nvSpPr>
          <p:cNvPr id="8" name="Text 6"/>
          <p:cNvSpPr/>
          <p:nvPr/>
        </p:nvSpPr>
        <p:spPr>
          <a:xfrm>
            <a:off x="7818120" y="2743200"/>
            <a:ext cx="3291840" cy="56692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Shape of boundary</a:t>
            </a:r>
            <a:endParaRPr lang="en-US" sz="1200" dirty="0"/>
          </a:p>
        </p:txBody>
      </p:sp>
      <p:sp>
        <p:nvSpPr>
          <p:cNvPr id="9" name="Shape 7"/>
          <p:cNvSpPr/>
          <p:nvPr/>
        </p:nvSpPr>
        <p:spPr>
          <a:xfrm>
            <a:off x="502920" y="3310128"/>
            <a:ext cx="10607040" cy="566928"/>
          </a:xfrm>
          <a:prstGeom prst="rect">
            <a:avLst/>
          </a:prstGeom>
          <a:solidFill>
            <a:srgbClr val="FFFFFF"/>
          </a:solidFill>
          <a:ln w="9525">
            <a:solidFill>
              <a:srgbClr val="E4E9F1"/>
            </a:solidFill>
            <a:prstDash val="solid"/>
          </a:ln>
        </p:spPr>
      </p:sp>
      <p:sp>
        <p:nvSpPr>
          <p:cNvPr id="10" name="Text 8"/>
          <p:cNvSpPr/>
          <p:nvPr/>
        </p:nvSpPr>
        <p:spPr>
          <a:xfrm>
            <a:off x="502920" y="3310128"/>
            <a:ext cx="2194560" cy="566928"/>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Linear</a:t>
            </a:r>
            <a:endParaRPr lang="en-US" sz="1200" dirty="0"/>
          </a:p>
        </p:txBody>
      </p:sp>
      <p:sp>
        <p:nvSpPr>
          <p:cNvPr id="11" name="Text 9"/>
          <p:cNvSpPr/>
          <p:nvPr/>
        </p:nvSpPr>
        <p:spPr>
          <a:xfrm>
            <a:off x="2697480" y="3310128"/>
            <a:ext cx="5120640" cy="566928"/>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x . x'</a:t>
            </a:r>
            <a:endParaRPr lang="en-US" sz="1200" dirty="0"/>
          </a:p>
        </p:txBody>
      </p:sp>
      <p:sp>
        <p:nvSpPr>
          <p:cNvPr id="12" name="Text 10"/>
          <p:cNvSpPr/>
          <p:nvPr/>
        </p:nvSpPr>
        <p:spPr>
          <a:xfrm>
            <a:off x="7818120" y="3310128"/>
            <a:ext cx="3291840" cy="566928"/>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Straight line / flat plane</a:t>
            </a:r>
            <a:endParaRPr lang="en-US" sz="1200" dirty="0"/>
          </a:p>
        </p:txBody>
      </p:sp>
      <p:sp>
        <p:nvSpPr>
          <p:cNvPr id="13" name="Shape 11"/>
          <p:cNvSpPr/>
          <p:nvPr/>
        </p:nvSpPr>
        <p:spPr>
          <a:xfrm>
            <a:off x="502920" y="3877056"/>
            <a:ext cx="10607040" cy="566928"/>
          </a:xfrm>
          <a:prstGeom prst="rect">
            <a:avLst/>
          </a:prstGeom>
          <a:solidFill>
            <a:srgbClr val="EEF2F7"/>
          </a:solidFill>
          <a:ln w="9525">
            <a:solidFill>
              <a:srgbClr val="E4E9F1"/>
            </a:solidFill>
            <a:prstDash val="solid"/>
          </a:ln>
        </p:spPr>
      </p:sp>
      <p:sp>
        <p:nvSpPr>
          <p:cNvPr id="14" name="Text 12"/>
          <p:cNvSpPr/>
          <p:nvPr/>
        </p:nvSpPr>
        <p:spPr>
          <a:xfrm>
            <a:off x="502920" y="3877056"/>
            <a:ext cx="2194560" cy="566928"/>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RBF</a:t>
            </a:r>
            <a:endParaRPr lang="en-US" sz="1200" dirty="0"/>
          </a:p>
        </p:txBody>
      </p:sp>
      <p:sp>
        <p:nvSpPr>
          <p:cNvPr id="15" name="Text 13"/>
          <p:cNvSpPr/>
          <p:nvPr/>
        </p:nvSpPr>
        <p:spPr>
          <a:xfrm>
            <a:off x="2697480" y="3877056"/>
            <a:ext cx="5120640" cy="566928"/>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exp( -gamma * ||x - x'||^2 )</a:t>
            </a:r>
            <a:endParaRPr lang="en-US" sz="1200" dirty="0"/>
          </a:p>
        </p:txBody>
      </p:sp>
      <p:sp>
        <p:nvSpPr>
          <p:cNvPr id="16" name="Text 14"/>
          <p:cNvSpPr/>
          <p:nvPr/>
        </p:nvSpPr>
        <p:spPr>
          <a:xfrm>
            <a:off x="7818120" y="3877056"/>
            <a:ext cx="3291840" cy="566928"/>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Smooth, flexible curve</a:t>
            </a:r>
            <a:endParaRPr lang="en-US" sz="1200" dirty="0"/>
          </a:p>
        </p:txBody>
      </p:sp>
      <p:sp>
        <p:nvSpPr>
          <p:cNvPr id="17" name="Shape 15"/>
          <p:cNvSpPr/>
          <p:nvPr/>
        </p:nvSpPr>
        <p:spPr>
          <a:xfrm>
            <a:off x="502920" y="4443984"/>
            <a:ext cx="10607040" cy="566928"/>
          </a:xfrm>
          <a:prstGeom prst="rect">
            <a:avLst/>
          </a:prstGeom>
          <a:solidFill>
            <a:srgbClr val="FFFFFF"/>
          </a:solidFill>
          <a:ln w="9525">
            <a:solidFill>
              <a:srgbClr val="E4E9F1"/>
            </a:solidFill>
            <a:prstDash val="solid"/>
          </a:ln>
        </p:spPr>
      </p:sp>
      <p:sp>
        <p:nvSpPr>
          <p:cNvPr id="18" name="Text 16"/>
          <p:cNvSpPr/>
          <p:nvPr/>
        </p:nvSpPr>
        <p:spPr>
          <a:xfrm>
            <a:off x="502920" y="4443984"/>
            <a:ext cx="2194560" cy="566928"/>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Polynomial</a:t>
            </a:r>
            <a:endParaRPr lang="en-US" sz="1200" dirty="0"/>
          </a:p>
        </p:txBody>
      </p:sp>
      <p:sp>
        <p:nvSpPr>
          <p:cNvPr id="19" name="Text 17"/>
          <p:cNvSpPr/>
          <p:nvPr/>
        </p:nvSpPr>
        <p:spPr>
          <a:xfrm>
            <a:off x="2697480" y="4443984"/>
            <a:ext cx="5120640" cy="566928"/>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(gamma * x . x' + r)^d</a:t>
            </a:r>
            <a:endParaRPr lang="en-US" sz="1200" dirty="0"/>
          </a:p>
        </p:txBody>
      </p:sp>
      <p:sp>
        <p:nvSpPr>
          <p:cNvPr id="20" name="Text 18"/>
          <p:cNvSpPr/>
          <p:nvPr/>
        </p:nvSpPr>
        <p:spPr>
          <a:xfrm>
            <a:off x="7818120" y="4443984"/>
            <a:ext cx="3291840" cy="566928"/>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Curved, degree-d surface</a:t>
            </a:r>
            <a:endParaRPr lang="en-US" sz="1200" dirty="0"/>
          </a:p>
        </p:txBody>
      </p:sp>
      <p:sp>
        <p:nvSpPr>
          <p:cNvPr id="21" name="Text 19"/>
          <p:cNvSpPr/>
          <p:nvPr/>
        </p:nvSpPr>
        <p:spPr>
          <a:xfrm>
            <a:off x="502920" y="4572000"/>
            <a:ext cx="10607040" cy="457200"/>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gamma controls how far a single training example's influence reaches — this project's tuned RBF model uses gamma = 0.1.</a:t>
            </a:r>
            <a:endParaRPr lang="en-US" sz="1150" dirty="0"/>
          </a:p>
        </p:txBody>
      </p:sp>
      <p:sp>
        <p:nvSpPr>
          <p:cNvPr id="22" name="Shape 20"/>
          <p:cNvSpPr/>
          <p:nvPr/>
        </p:nvSpPr>
        <p:spPr>
          <a:xfrm>
            <a:off x="502920" y="5120640"/>
            <a:ext cx="11185855" cy="457200"/>
          </a:xfrm>
          <a:prstGeom prst="roundRect">
            <a:avLst>
              <a:gd name="adj" fmla="val 12000"/>
            </a:avLst>
          </a:prstGeom>
          <a:solidFill>
            <a:srgbClr val="FFF8E8"/>
          </a:solidFill>
          <a:ln w="12700">
            <a:solidFill>
              <a:srgbClr val="F0C24B"/>
            </a:solidFill>
            <a:prstDash val="solid"/>
          </a:ln>
        </p:spPr>
      </p:sp>
      <p:sp>
        <p:nvSpPr>
          <p:cNvPr id="23" name="Text 21"/>
          <p:cNvSpPr/>
          <p:nvPr/>
        </p:nvSpPr>
        <p:spPr>
          <a:xfrm>
            <a:off x="667512" y="5120640"/>
            <a:ext cx="10856671" cy="457200"/>
          </a:xfrm>
          <a:prstGeom prst="rect">
            <a:avLst/>
          </a:prstGeom>
          <a:noFill/>
          <a:ln/>
        </p:spPr>
        <p:txBody>
          <a:bodyPr wrap="square" lIns="0" tIns="0" rIns="0" bIns="0" rtlCol="0" anchor="ctr"/>
          <a:lstStyle/>
          <a:p>
            <a:pPr indent="0" marL="0">
              <a:lnSpc>
                <a:spcPct val="112000"/>
              </a:lnSpc>
              <a:buNone/>
            </a:pPr>
            <a:r>
              <a:rPr lang="en-US" sz="950" b="1" dirty="0">
                <a:solidFill>
                  <a:srgbClr val="9A6B00"/>
                </a:solidFill>
                <a:latin typeface="Calibri" pitchFamily="34" charset="0"/>
                <a:ea typeface="Calibri" pitchFamily="34" charset="-122"/>
                <a:cs typeface="Calibri" pitchFamily="34" charset="-120"/>
              </a:rPr>
              <a:t>  IN PLAIN TERMS (for the ECE side):  </a:t>
            </a:r>
            <a:pPr indent="0" marL="0">
              <a:lnSpc>
                <a:spcPct val="112000"/>
              </a:lnSpc>
              <a:buNone/>
            </a:pPr>
            <a:r>
              <a:rPr lang="en-US" sz="950" dirty="0">
                <a:solidFill>
                  <a:srgbClr val="3D3620"/>
                </a:solidFill>
                <a:latin typeface="Calibri" pitchFamily="34" charset="0"/>
                <a:ea typeface="Calibri" pitchFamily="34" charset="-122"/>
                <a:cs typeface="Calibri" pitchFamily="34" charset="-120"/>
              </a:rPr>
              <a:t>A "kernel" is just the shape of boundary the model is allowed to draw between classes — Linear is a straight cut, RBF and Polynomial can bend to fit curvier data.</a:t>
            </a:r>
            <a:endParaRPr lang="en-US" sz="950" dirty="0"/>
          </a:p>
        </p:txBody>
      </p:sp>
      <p:sp>
        <p:nvSpPr>
          <p:cNvPr id="24" name="Text 22"/>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5" name="Text 23"/>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5. MACHINE LEARNING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Multi-Class Strategy: One-vs-One</a:t>
            </a:r>
            <a:endParaRPr lang="en-US" sz="3000" dirty="0"/>
          </a:p>
        </p:txBody>
      </p:sp>
      <p:sp>
        <p:nvSpPr>
          <p:cNvPr id="4" name="Text 2"/>
          <p:cNvSpPr/>
          <p:nvPr/>
        </p:nvSpPr>
        <p:spPr>
          <a:xfrm>
            <a:off x="502920" y="1828800"/>
            <a:ext cx="10607040" cy="777240"/>
          </a:xfrm>
          <a:prstGeom prst="rect">
            <a:avLst/>
          </a:prstGeom>
          <a:noFill/>
          <a:ln/>
        </p:spPr>
        <p:txBody>
          <a:bodyPr wrap="square" lIns="0" tIns="0" rIns="0" bIns="0" rtlCol="0" anchor="ctr"/>
          <a:lstStyle/>
          <a:p>
            <a:pPr indent="0" marL="0">
              <a:lnSpc>
                <a:spcPct val="128000"/>
              </a:lnSpc>
              <a:buNone/>
            </a:pPr>
            <a:r>
              <a:rPr lang="en-US" sz="1350" dirty="0">
                <a:solidFill>
                  <a:srgbClr val="1E293B"/>
                </a:solidFill>
                <a:latin typeface="Calibri" pitchFamily="34" charset="0"/>
                <a:ea typeface="Calibri" pitchFamily="34" charset="-122"/>
                <a:cs typeface="Calibri" pitchFamily="34" charset="-120"/>
              </a:rPr>
              <a:t>An SVM is naturally a binary (two-class) classifier. scikit-learn's SVC handles 20 classes by training one small binary classifier for every possible pair of classes, then combining their votes:</a:t>
            </a:r>
            <a:endParaRPr lang="en-US" sz="1350" dirty="0"/>
          </a:p>
        </p:txBody>
      </p:sp>
      <p:sp>
        <p:nvSpPr>
          <p:cNvPr id="5" name="Shape 3"/>
          <p:cNvSpPr/>
          <p:nvPr/>
        </p:nvSpPr>
        <p:spPr>
          <a:xfrm>
            <a:off x="502920" y="2743200"/>
            <a:ext cx="10607040" cy="1234440"/>
          </a:xfrm>
          <a:prstGeom prst="roundRect">
            <a:avLst>
              <a:gd name="adj" fmla="val 5926"/>
            </a:avLst>
          </a:prstGeom>
          <a:solidFill>
            <a:srgbClr val="0B1F3A"/>
          </a:solidFill>
          <a:ln/>
          <a:effectLst>
            <a:outerShdw sx="100000" sy="100000" kx="0" ky="0" algn="bl" rotWithShape="0" blurRad="114300" dist="38100" dir="2700000">
              <a:srgbClr val="0B1F3A">
                <a:alpha val="14000"/>
              </a:srgbClr>
            </a:outerShdw>
          </a:effectLst>
        </p:spPr>
      </p:sp>
      <p:sp>
        <p:nvSpPr>
          <p:cNvPr id="6" name="Text 4"/>
          <p:cNvSpPr/>
          <p:nvPr/>
        </p:nvSpPr>
        <p:spPr>
          <a:xfrm>
            <a:off x="777240" y="2880360"/>
            <a:ext cx="10058400" cy="960120"/>
          </a:xfrm>
          <a:prstGeom prst="rect">
            <a:avLst/>
          </a:prstGeom>
          <a:noFill/>
          <a:ln/>
        </p:spPr>
        <p:txBody>
          <a:bodyPr wrap="square" lIns="0" tIns="0" rIns="0" bIns="0" rtlCol="0" anchor="ctr"/>
          <a:lstStyle/>
          <a:p>
            <a:pPr algn="l" indent="0" marL="0">
              <a:lnSpc>
                <a:spcPct val="140000"/>
              </a:lnSpc>
              <a:buNone/>
            </a:pPr>
            <a:r>
              <a:rPr lang="en-US" sz="1500" dirty="0">
                <a:solidFill>
                  <a:srgbClr val="E7ECF4"/>
                </a:solidFill>
                <a:latin typeface="Courier New" pitchFamily="34" charset="0"/>
                <a:ea typeface="Courier New" pitchFamily="34" charset="-122"/>
                <a:cs typeface="Courier New" pitchFamily="34" charset="-120"/>
              </a:rPr>
              <a:t>Number of binary classifiers = C(20, 2) = 20*19 / 2 = 190</a:t>
            </a:r>
            <a:endParaRPr lang="en-US" sz="1500" dirty="0"/>
          </a:p>
          <a:p>
            <a:pPr algn="l" indent="0" marL="0">
              <a:lnSpc>
                <a:spcPct val="140000"/>
              </a:lnSpc>
              <a:buNone/>
            </a:pPr>
            <a:r>
              <a:rPr lang="en-US" sz="1500" dirty="0">
                <a:solidFill>
                  <a:srgbClr val="E7ECF4"/>
                </a:solidFill>
                <a:latin typeface="Courier New" pitchFamily="34" charset="0"/>
                <a:ea typeface="Courier New" pitchFamily="34" charset="-122"/>
                <a:cs typeface="Courier New" pitchFamily="34" charset="-120"/>
              </a:rPr>
              <a:t>decision_function_shape="ovo"   (scikit-learn SVC default)</a:t>
            </a:r>
            <a:endParaRPr lang="en-US" sz="1500" dirty="0"/>
          </a:p>
        </p:txBody>
      </p:sp>
      <p:sp>
        <p:nvSpPr>
          <p:cNvPr id="7" name="Text 5"/>
          <p:cNvSpPr/>
          <p:nvPr/>
        </p:nvSpPr>
        <p:spPr>
          <a:xfrm>
            <a:off x="502920" y="4251960"/>
            <a:ext cx="10607040" cy="822960"/>
          </a:xfrm>
          <a:prstGeom prst="rect">
            <a:avLst/>
          </a:prstGeom>
          <a:noFill/>
          <a:ln/>
        </p:spPr>
        <p:txBody>
          <a:bodyPr wrap="square" lIns="0" tIns="0" rIns="0" bIns="0" rtlCol="0" anchor="ctr"/>
          <a:lstStyle/>
          <a:p>
            <a:pPr indent="0" marL="0">
              <a:lnSpc>
                <a:spcPct val="130000"/>
              </a:lnSpc>
              <a:buNone/>
            </a:pPr>
            <a:r>
              <a:rPr lang="en-US" sz="1250" dirty="0">
                <a:solidFill>
                  <a:srgbClr val="000000"/>
                </a:solidFill>
                <a:latin typeface="Calibri" pitchFamily="34" charset="0"/>
                <a:ea typeface="Calibri" pitchFamily="34" charset="-122"/>
                <a:cs typeface="Calibri" pitchFamily="34" charset="-120"/>
              </a:rPr>
              <a:t>Each of the 190 mini-classifiers votes on which of its two classes a sample looks more like; the class with the most votes wins. </a:t>
            </a:r>
            <a:pPr indent="0" marL="0">
              <a:lnSpc>
                <a:spcPct val="130000"/>
              </a:lnSpc>
              <a:buNone/>
            </a:pPr>
            <a:r>
              <a:rPr lang="en-US" sz="1250" dirty="0">
                <a:solidFill>
                  <a:srgbClr val="64748B"/>
                </a:solidFill>
                <a:latin typeface="Calibri" pitchFamily="34" charset="0"/>
                <a:ea typeface="Calibri" pitchFamily="34" charset="-122"/>
                <a:cs typeface="Calibri" pitchFamily="34" charset="-120"/>
              </a:rPr>
              <a:t>This is what lets a single SVC model handle a 20-way problem without any special multi-class math of its own.</a:t>
            </a:r>
            <a:endParaRPr lang="en-US" sz="1250" dirty="0"/>
          </a:p>
        </p:txBody>
      </p:sp>
      <p:sp>
        <p:nvSpPr>
          <p:cNvPr id="8"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9"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5. MACHINE LEARNING · STEP 1: BASELINE</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Baseline Results — Before Any Tuning</a:t>
            </a:r>
            <a:endParaRPr lang="en-US" sz="3000" dirty="0"/>
          </a:p>
        </p:txBody>
      </p:sp>
      <p:sp>
        <p:nvSpPr>
          <p:cNvPr id="4" name="Text 2"/>
          <p:cNvSpPr/>
          <p:nvPr/>
        </p:nvSpPr>
        <p:spPr>
          <a:xfrm>
            <a:off x="502920" y="1783080"/>
            <a:ext cx="10607040" cy="777240"/>
          </a:xfrm>
          <a:prstGeom prst="rect">
            <a:avLst/>
          </a:prstGeom>
          <a:noFill/>
          <a:ln/>
        </p:spPr>
        <p:txBody>
          <a:bodyPr wrap="square" lIns="0" tIns="0" rIns="0" bIns="0" rtlCol="0" anchor="ctr"/>
          <a:lstStyle/>
          <a:p>
            <a:pPr indent="0" marL="0">
              <a:lnSpc>
                <a:spcPct val="128000"/>
              </a:lnSpc>
              <a:buNone/>
            </a:pPr>
            <a:r>
              <a:rPr lang="en-US" sz="1300" dirty="0">
                <a:solidFill>
                  <a:srgbClr val="1E293B"/>
                </a:solidFill>
                <a:latin typeface="Calibri" pitchFamily="34" charset="0"/>
                <a:ea typeface="Calibri" pitchFamily="34" charset="-122"/>
                <a:cs typeface="Calibri" pitchFamily="34" charset="-120"/>
              </a:rPr>
              <a:t>Before touching a single hyperparameter, all three kernels are trained with scikit-learn's near-default settings </a:t>
            </a:r>
            <a:pPr indent="0" marL="0">
              <a:lnSpc>
                <a:spcPct val="128000"/>
              </a:lnSpc>
              <a:buNone/>
            </a:pPr>
            <a:r>
              <a:rPr lang="en-US" sz="1300" b="1" dirty="0">
                <a:solidFill>
                  <a:srgbClr val="0B1F3A"/>
                </a:solidFill>
                <a:latin typeface="Courier New" pitchFamily="34" charset="0"/>
                <a:ea typeface="Courier New" pitchFamily="34" charset="-122"/>
                <a:cs typeface="Courier New" pitchFamily="34" charset="-120"/>
              </a:rPr>
              <a:t>(C=1.0, gamma="scale")</a:t>
            </a:r>
            <a:pPr indent="0" marL="0">
              <a:lnSpc>
                <a:spcPct val="128000"/>
              </a:lnSpc>
              <a:buNone/>
            </a:pPr>
            <a:r>
              <a:rPr lang="en-US" sz="1300" dirty="0">
                <a:solidFill>
                  <a:srgbClr val="1E293B"/>
                </a:solidFill>
                <a:latin typeface="Calibri" pitchFamily="34" charset="0"/>
                <a:ea typeface="Calibri" pitchFamily="34" charset="-122"/>
                <a:cs typeface="Calibri" pitchFamily="34" charset="-120"/>
              </a:rPr>
              <a:t> on the same 80/20 split. This is the honest starting point every improvement from here on is measured against.</a:t>
            </a:r>
            <a:endParaRPr lang="en-US" sz="1300" dirty="0"/>
          </a:p>
        </p:txBody>
      </p:sp>
      <p:sp>
        <p:nvSpPr>
          <p:cNvPr id="5" name="Shape 3"/>
          <p:cNvSpPr/>
          <p:nvPr/>
        </p:nvSpPr>
        <p:spPr>
          <a:xfrm>
            <a:off x="502920" y="2697480"/>
            <a:ext cx="3429000" cy="2834640"/>
          </a:xfrm>
          <a:prstGeom prst="roundRect">
            <a:avLst>
              <a:gd name="adj" fmla="val 2903"/>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6" name="Shape 4"/>
          <p:cNvSpPr/>
          <p:nvPr/>
        </p:nvSpPr>
        <p:spPr>
          <a:xfrm>
            <a:off x="1906524" y="2953512"/>
            <a:ext cx="621792" cy="621792"/>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7" name="Image 0" descr="/sessions/blissful-zealous-babbage/mnt/outputs/ppt/icons/chartline_00B4D8.png">    </p:cNvPr>
          <p:cNvPicPr>
            <a:picLocks noChangeAspect="1"/>
          </p:cNvPicPr>
          <p:nvPr/>
        </p:nvPicPr>
        <p:blipFill>
          <a:blip r:embed="rId1"/>
          <a:stretch>
            <a:fillRect/>
          </a:stretch>
        </p:blipFill>
        <p:spPr>
          <a:xfrm>
            <a:off x="1990466" y="3037454"/>
            <a:ext cx="453908" cy="453908"/>
          </a:xfrm>
          <a:prstGeom prst="rect">
            <a:avLst/>
          </a:prstGeom>
        </p:spPr>
      </p:pic>
      <p:sp>
        <p:nvSpPr>
          <p:cNvPr id="8" name="Text 5"/>
          <p:cNvSpPr/>
          <p:nvPr/>
        </p:nvSpPr>
        <p:spPr>
          <a:xfrm>
            <a:off x="502920" y="3703320"/>
            <a:ext cx="3429000" cy="365760"/>
          </a:xfrm>
          <a:prstGeom prst="rect">
            <a:avLst/>
          </a:prstGeom>
          <a:noFill/>
          <a:ln/>
        </p:spPr>
        <p:txBody>
          <a:bodyPr wrap="square" lIns="0" tIns="0" rIns="0" bIns="0" rtlCol="0" anchor="ctr"/>
          <a:lstStyle/>
          <a:p>
            <a:pPr algn="ctr" indent="0" marL="0">
              <a:buNone/>
            </a:pPr>
            <a:r>
              <a:rPr lang="en-US" sz="1700" b="1" dirty="0">
                <a:solidFill>
                  <a:srgbClr val="0B1F3A"/>
                </a:solidFill>
                <a:latin typeface="Cambria" pitchFamily="34" charset="0"/>
                <a:ea typeface="Cambria" pitchFamily="34" charset="-122"/>
                <a:cs typeface="Cambria" pitchFamily="34" charset="-120"/>
              </a:rPr>
              <a:t>Linear</a:t>
            </a:r>
            <a:endParaRPr lang="en-US" sz="1700" dirty="0"/>
          </a:p>
        </p:txBody>
      </p:sp>
      <p:sp>
        <p:nvSpPr>
          <p:cNvPr id="9" name="Text 6"/>
          <p:cNvSpPr/>
          <p:nvPr/>
        </p:nvSpPr>
        <p:spPr>
          <a:xfrm>
            <a:off x="640080" y="4114800"/>
            <a:ext cx="3154680" cy="502920"/>
          </a:xfrm>
          <a:prstGeom prst="rect">
            <a:avLst/>
          </a:prstGeom>
          <a:noFill/>
          <a:ln/>
        </p:spPr>
        <p:txBody>
          <a:bodyPr wrap="square" lIns="0" tIns="0" rIns="0" bIns="0" rtlCol="0" anchor="ctr"/>
          <a:lstStyle/>
          <a:p>
            <a:pPr algn="ctr" indent="0" marL="0">
              <a:lnSpc>
                <a:spcPct val="115000"/>
              </a:lnSpc>
              <a:buNone/>
            </a:pPr>
            <a:r>
              <a:rPr lang="en-US" sz="870" dirty="0">
                <a:solidFill>
                  <a:srgbClr val="64748B"/>
                </a:solidFill>
                <a:latin typeface="Courier New" pitchFamily="34" charset="0"/>
                <a:ea typeface="Courier New" pitchFamily="34" charset="-122"/>
                <a:cs typeface="Courier New" pitchFamily="34" charset="-120"/>
              </a:rPr>
              <a:t>SVC(kernel="linear", C=1.0)</a:t>
            </a:r>
            <a:endParaRPr lang="en-US" sz="870" dirty="0"/>
          </a:p>
        </p:txBody>
      </p:sp>
      <p:sp>
        <p:nvSpPr>
          <p:cNvPr id="10" name="Text 7"/>
          <p:cNvSpPr/>
          <p:nvPr/>
        </p:nvSpPr>
        <p:spPr>
          <a:xfrm>
            <a:off x="502920" y="4754880"/>
            <a:ext cx="3429000" cy="548640"/>
          </a:xfrm>
          <a:prstGeom prst="rect">
            <a:avLst/>
          </a:prstGeom>
          <a:noFill/>
          <a:ln/>
        </p:spPr>
        <p:txBody>
          <a:bodyPr wrap="square" lIns="0" tIns="0" rIns="0" bIns="0" rtlCol="0" anchor="ctr"/>
          <a:lstStyle/>
          <a:p>
            <a:pPr algn="ctr" indent="0" marL="0">
              <a:buNone/>
            </a:pPr>
            <a:r>
              <a:rPr lang="en-US" sz="2600" b="1" dirty="0">
                <a:solidFill>
                  <a:srgbClr val="0B1F3A"/>
                </a:solidFill>
                <a:latin typeface="Cambria" pitchFamily="34" charset="0"/>
                <a:ea typeface="Cambria" pitchFamily="34" charset="-122"/>
                <a:cs typeface="Cambria" pitchFamily="34" charset="-120"/>
              </a:rPr>
              <a:t>77.94%</a:t>
            </a:r>
            <a:endParaRPr lang="en-US" sz="2600" dirty="0"/>
          </a:p>
        </p:txBody>
      </p:sp>
      <p:sp>
        <p:nvSpPr>
          <p:cNvPr id="11" name="Text 8"/>
          <p:cNvSpPr/>
          <p:nvPr/>
        </p:nvSpPr>
        <p:spPr>
          <a:xfrm>
            <a:off x="502920" y="5257800"/>
            <a:ext cx="3429000" cy="27432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test accuracy (default)</a:t>
            </a:r>
            <a:endParaRPr lang="en-US" sz="900" dirty="0"/>
          </a:p>
        </p:txBody>
      </p:sp>
      <p:sp>
        <p:nvSpPr>
          <p:cNvPr id="12" name="Shape 9"/>
          <p:cNvSpPr/>
          <p:nvPr/>
        </p:nvSpPr>
        <p:spPr>
          <a:xfrm>
            <a:off x="4251960" y="2697480"/>
            <a:ext cx="3429000" cy="2834640"/>
          </a:xfrm>
          <a:prstGeom prst="roundRect">
            <a:avLst>
              <a:gd name="adj" fmla="val 2903"/>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3" name="Shape 10"/>
          <p:cNvSpPr/>
          <p:nvPr/>
        </p:nvSpPr>
        <p:spPr>
          <a:xfrm>
            <a:off x="5655564" y="2953512"/>
            <a:ext cx="621792" cy="621792"/>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4" name="Image 1" descr="/sessions/blissful-zealous-babbage/mnt/outputs/ppt/icons/wave_00B4D8.png">    </p:cNvPr>
          <p:cNvPicPr>
            <a:picLocks noChangeAspect="1"/>
          </p:cNvPicPr>
          <p:nvPr/>
        </p:nvPicPr>
        <p:blipFill>
          <a:blip r:embed="rId2"/>
          <a:stretch>
            <a:fillRect/>
          </a:stretch>
        </p:blipFill>
        <p:spPr>
          <a:xfrm>
            <a:off x="5739506" y="3037454"/>
            <a:ext cx="453908" cy="453908"/>
          </a:xfrm>
          <a:prstGeom prst="rect">
            <a:avLst/>
          </a:prstGeom>
        </p:spPr>
      </p:pic>
      <p:sp>
        <p:nvSpPr>
          <p:cNvPr id="15" name="Text 11"/>
          <p:cNvSpPr/>
          <p:nvPr/>
        </p:nvSpPr>
        <p:spPr>
          <a:xfrm>
            <a:off x="4251960" y="3703320"/>
            <a:ext cx="3429000" cy="365760"/>
          </a:xfrm>
          <a:prstGeom prst="rect">
            <a:avLst/>
          </a:prstGeom>
          <a:noFill/>
          <a:ln/>
        </p:spPr>
        <p:txBody>
          <a:bodyPr wrap="square" lIns="0" tIns="0" rIns="0" bIns="0" rtlCol="0" anchor="ctr"/>
          <a:lstStyle/>
          <a:p>
            <a:pPr algn="ctr" indent="0" marL="0">
              <a:buNone/>
            </a:pPr>
            <a:r>
              <a:rPr lang="en-US" sz="1700" b="1" dirty="0">
                <a:solidFill>
                  <a:srgbClr val="0B1F3A"/>
                </a:solidFill>
                <a:latin typeface="Cambria" pitchFamily="34" charset="0"/>
                <a:ea typeface="Cambria" pitchFamily="34" charset="-122"/>
                <a:cs typeface="Cambria" pitchFamily="34" charset="-120"/>
              </a:rPr>
              <a:t>RBF</a:t>
            </a:r>
            <a:endParaRPr lang="en-US" sz="1700" dirty="0"/>
          </a:p>
        </p:txBody>
      </p:sp>
      <p:sp>
        <p:nvSpPr>
          <p:cNvPr id="16" name="Text 12"/>
          <p:cNvSpPr/>
          <p:nvPr/>
        </p:nvSpPr>
        <p:spPr>
          <a:xfrm>
            <a:off x="4389120" y="4114800"/>
            <a:ext cx="3154680" cy="502920"/>
          </a:xfrm>
          <a:prstGeom prst="rect">
            <a:avLst/>
          </a:prstGeom>
          <a:noFill/>
          <a:ln/>
        </p:spPr>
        <p:txBody>
          <a:bodyPr wrap="square" lIns="0" tIns="0" rIns="0" bIns="0" rtlCol="0" anchor="ctr"/>
          <a:lstStyle/>
          <a:p>
            <a:pPr algn="ctr" indent="0" marL="0">
              <a:lnSpc>
                <a:spcPct val="115000"/>
              </a:lnSpc>
              <a:buNone/>
            </a:pPr>
            <a:r>
              <a:rPr lang="en-US" sz="870" dirty="0">
                <a:solidFill>
                  <a:srgbClr val="64748B"/>
                </a:solidFill>
                <a:latin typeface="Courier New" pitchFamily="34" charset="0"/>
                <a:ea typeface="Courier New" pitchFamily="34" charset="-122"/>
                <a:cs typeface="Courier New" pitchFamily="34" charset="-120"/>
              </a:rPr>
              <a:t>SVC(kernel="rbf", C=1.0, gamma="scale")</a:t>
            </a:r>
            <a:endParaRPr lang="en-US" sz="870" dirty="0"/>
          </a:p>
        </p:txBody>
      </p:sp>
      <p:sp>
        <p:nvSpPr>
          <p:cNvPr id="17" name="Text 13"/>
          <p:cNvSpPr/>
          <p:nvPr/>
        </p:nvSpPr>
        <p:spPr>
          <a:xfrm>
            <a:off x="4251960" y="4754880"/>
            <a:ext cx="3429000" cy="548640"/>
          </a:xfrm>
          <a:prstGeom prst="rect">
            <a:avLst/>
          </a:prstGeom>
          <a:noFill/>
          <a:ln/>
        </p:spPr>
        <p:txBody>
          <a:bodyPr wrap="square" lIns="0" tIns="0" rIns="0" bIns="0" rtlCol="0" anchor="ctr"/>
          <a:lstStyle/>
          <a:p>
            <a:pPr algn="ctr" indent="0" marL="0">
              <a:buNone/>
            </a:pPr>
            <a:r>
              <a:rPr lang="en-US" sz="2600" b="1" dirty="0">
                <a:solidFill>
                  <a:srgbClr val="0B1F3A"/>
                </a:solidFill>
                <a:latin typeface="Cambria" pitchFamily="34" charset="0"/>
                <a:ea typeface="Cambria" pitchFamily="34" charset="-122"/>
                <a:cs typeface="Cambria" pitchFamily="34" charset="-120"/>
              </a:rPr>
              <a:t>71.08%</a:t>
            </a:r>
            <a:endParaRPr lang="en-US" sz="2600" dirty="0"/>
          </a:p>
        </p:txBody>
      </p:sp>
      <p:sp>
        <p:nvSpPr>
          <p:cNvPr id="18" name="Text 14"/>
          <p:cNvSpPr/>
          <p:nvPr/>
        </p:nvSpPr>
        <p:spPr>
          <a:xfrm>
            <a:off x="4251960" y="5257800"/>
            <a:ext cx="3429000" cy="27432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test accuracy (default)</a:t>
            </a:r>
            <a:endParaRPr lang="en-US" sz="900" dirty="0"/>
          </a:p>
        </p:txBody>
      </p:sp>
      <p:sp>
        <p:nvSpPr>
          <p:cNvPr id="19" name="Shape 15"/>
          <p:cNvSpPr/>
          <p:nvPr/>
        </p:nvSpPr>
        <p:spPr>
          <a:xfrm>
            <a:off x="8001000" y="2697480"/>
            <a:ext cx="3429000" cy="2834640"/>
          </a:xfrm>
          <a:prstGeom prst="roundRect">
            <a:avLst>
              <a:gd name="adj" fmla="val 2903"/>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20" name="Shape 16"/>
          <p:cNvSpPr/>
          <p:nvPr/>
        </p:nvSpPr>
        <p:spPr>
          <a:xfrm>
            <a:off x="9404604" y="2953512"/>
            <a:ext cx="621792" cy="621792"/>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21" name="Image 2" descr="/sessions/blissful-zealous-babbage/mnt/outputs/ppt/icons/chartbar_00B4D8.png">    </p:cNvPr>
          <p:cNvPicPr>
            <a:picLocks noChangeAspect="1"/>
          </p:cNvPicPr>
          <p:nvPr/>
        </p:nvPicPr>
        <p:blipFill>
          <a:blip r:embed="rId3"/>
          <a:stretch>
            <a:fillRect/>
          </a:stretch>
        </p:blipFill>
        <p:spPr>
          <a:xfrm>
            <a:off x="9488546" y="3037454"/>
            <a:ext cx="453908" cy="453908"/>
          </a:xfrm>
          <a:prstGeom prst="rect">
            <a:avLst/>
          </a:prstGeom>
        </p:spPr>
      </p:pic>
      <p:sp>
        <p:nvSpPr>
          <p:cNvPr id="22" name="Text 17"/>
          <p:cNvSpPr/>
          <p:nvPr/>
        </p:nvSpPr>
        <p:spPr>
          <a:xfrm>
            <a:off x="8001000" y="3703320"/>
            <a:ext cx="3429000" cy="365760"/>
          </a:xfrm>
          <a:prstGeom prst="rect">
            <a:avLst/>
          </a:prstGeom>
          <a:noFill/>
          <a:ln/>
        </p:spPr>
        <p:txBody>
          <a:bodyPr wrap="square" lIns="0" tIns="0" rIns="0" bIns="0" rtlCol="0" anchor="ctr"/>
          <a:lstStyle/>
          <a:p>
            <a:pPr algn="ctr" indent="0" marL="0">
              <a:buNone/>
            </a:pPr>
            <a:r>
              <a:rPr lang="en-US" sz="1700" b="1" dirty="0">
                <a:solidFill>
                  <a:srgbClr val="0B1F3A"/>
                </a:solidFill>
                <a:latin typeface="Cambria" pitchFamily="34" charset="0"/>
                <a:ea typeface="Cambria" pitchFamily="34" charset="-122"/>
                <a:cs typeface="Cambria" pitchFamily="34" charset="-120"/>
              </a:rPr>
              <a:t>Polynomial</a:t>
            </a:r>
            <a:endParaRPr lang="en-US" sz="1700" dirty="0"/>
          </a:p>
        </p:txBody>
      </p:sp>
      <p:sp>
        <p:nvSpPr>
          <p:cNvPr id="23" name="Text 18"/>
          <p:cNvSpPr/>
          <p:nvPr/>
        </p:nvSpPr>
        <p:spPr>
          <a:xfrm>
            <a:off x="8138160" y="4114800"/>
            <a:ext cx="3154680" cy="502920"/>
          </a:xfrm>
          <a:prstGeom prst="rect">
            <a:avLst/>
          </a:prstGeom>
          <a:noFill/>
          <a:ln/>
        </p:spPr>
        <p:txBody>
          <a:bodyPr wrap="square" lIns="0" tIns="0" rIns="0" bIns="0" rtlCol="0" anchor="ctr"/>
          <a:lstStyle/>
          <a:p>
            <a:pPr algn="ctr" indent="0" marL="0">
              <a:lnSpc>
                <a:spcPct val="115000"/>
              </a:lnSpc>
              <a:buNone/>
            </a:pPr>
            <a:r>
              <a:rPr lang="en-US" sz="870" dirty="0">
                <a:solidFill>
                  <a:srgbClr val="64748B"/>
                </a:solidFill>
                <a:latin typeface="Courier New" pitchFamily="34" charset="0"/>
                <a:ea typeface="Courier New" pitchFamily="34" charset="-122"/>
                <a:cs typeface="Courier New" pitchFamily="34" charset="-120"/>
              </a:rPr>
              <a:t>SVC(kernel="poly", C=1.0, gamma="scale", degree=3)</a:t>
            </a:r>
            <a:endParaRPr lang="en-US" sz="870" dirty="0"/>
          </a:p>
        </p:txBody>
      </p:sp>
      <p:sp>
        <p:nvSpPr>
          <p:cNvPr id="24" name="Text 19"/>
          <p:cNvSpPr/>
          <p:nvPr/>
        </p:nvSpPr>
        <p:spPr>
          <a:xfrm>
            <a:off x="8001000" y="4754880"/>
            <a:ext cx="3429000" cy="548640"/>
          </a:xfrm>
          <a:prstGeom prst="rect">
            <a:avLst/>
          </a:prstGeom>
          <a:noFill/>
          <a:ln/>
        </p:spPr>
        <p:txBody>
          <a:bodyPr wrap="square" lIns="0" tIns="0" rIns="0" bIns="0" rtlCol="0" anchor="ctr"/>
          <a:lstStyle/>
          <a:p>
            <a:pPr algn="ctr" indent="0" marL="0">
              <a:buNone/>
            </a:pPr>
            <a:r>
              <a:rPr lang="en-US" sz="2600" b="1" dirty="0">
                <a:solidFill>
                  <a:srgbClr val="0B1F3A"/>
                </a:solidFill>
                <a:latin typeface="Cambria" pitchFamily="34" charset="0"/>
                <a:ea typeface="Cambria" pitchFamily="34" charset="-122"/>
                <a:cs typeface="Cambria" pitchFamily="34" charset="-120"/>
              </a:rPr>
              <a:t>75.49%</a:t>
            </a:r>
            <a:endParaRPr lang="en-US" sz="2600" dirty="0"/>
          </a:p>
        </p:txBody>
      </p:sp>
      <p:sp>
        <p:nvSpPr>
          <p:cNvPr id="25" name="Text 20"/>
          <p:cNvSpPr/>
          <p:nvPr/>
        </p:nvSpPr>
        <p:spPr>
          <a:xfrm>
            <a:off x="8001000" y="5257800"/>
            <a:ext cx="3429000" cy="274320"/>
          </a:xfrm>
          <a:prstGeom prst="rect">
            <a:avLst/>
          </a:prstGeom>
          <a:noFill/>
          <a:ln/>
        </p:spPr>
        <p:txBody>
          <a:bodyPr wrap="square" lIns="0" tIns="0" rIns="0" bIns="0" rtlCol="0" anchor="ctr"/>
          <a:lstStyle/>
          <a:p>
            <a:pPr algn="ctr" indent="0" marL="0">
              <a:buNone/>
            </a:pPr>
            <a:r>
              <a:rPr lang="en-US" sz="900" dirty="0">
                <a:solidFill>
                  <a:srgbClr val="64748B"/>
                </a:solidFill>
                <a:latin typeface="Calibri" pitchFamily="34" charset="0"/>
                <a:ea typeface="Calibri" pitchFamily="34" charset="-122"/>
                <a:cs typeface="Calibri" pitchFamily="34" charset="-120"/>
              </a:rPr>
              <a:t>test accuracy (default)</a:t>
            </a:r>
            <a:endParaRPr lang="en-US" sz="900" dirty="0"/>
          </a:p>
        </p:txBody>
      </p:sp>
      <p:sp>
        <p:nvSpPr>
          <p:cNvPr id="26" name="Shape 21"/>
          <p:cNvSpPr/>
          <p:nvPr/>
        </p:nvSpPr>
        <p:spPr>
          <a:xfrm>
            <a:off x="502920" y="5760720"/>
            <a:ext cx="10607040" cy="594360"/>
          </a:xfrm>
          <a:prstGeom prst="roundRect">
            <a:avLst>
              <a:gd name="adj" fmla="val 10769"/>
            </a:avLst>
          </a:prstGeom>
          <a:solidFill>
            <a:srgbClr val="EEF2F7"/>
          </a:solidFill>
          <a:ln w="12700">
            <a:solidFill>
              <a:srgbClr val="E4E9F1"/>
            </a:solidFill>
            <a:prstDash val="solid"/>
          </a:ln>
        </p:spPr>
      </p:sp>
      <p:sp>
        <p:nvSpPr>
          <p:cNvPr id="27" name="Text 22"/>
          <p:cNvSpPr/>
          <p:nvPr/>
        </p:nvSpPr>
        <p:spPr>
          <a:xfrm>
            <a:off x="502920" y="5760720"/>
            <a:ext cx="10607040" cy="594360"/>
          </a:xfrm>
          <a:prstGeom prst="rect">
            <a:avLst/>
          </a:prstGeom>
          <a:noFill/>
          <a:ln/>
        </p:spPr>
        <p:txBody>
          <a:bodyPr wrap="square" lIns="0" tIns="0" rIns="0" bIns="0" rtlCol="0" anchor="ctr"/>
          <a:lstStyle/>
          <a:p>
            <a:pPr algn="ctr" indent="0" marL="0">
              <a:buNone/>
            </a:pPr>
            <a:r>
              <a:rPr lang="en-US" sz="1100" i="1" dirty="0">
                <a:solidFill>
                  <a:srgbClr val="0B1F3A"/>
                </a:solidFill>
                <a:latin typeface="Calibri" pitchFamily="34" charset="0"/>
                <a:ea typeface="Calibri" pitchFamily="34" charset="-122"/>
                <a:cs typeface="Calibri" pitchFamily="34" charset="-120"/>
              </a:rPr>
              <a:t>Even untuned, Linear already beats RBF — a sign the 17 hand-engineered features do real work before the classifier even sees them.</a:t>
            </a:r>
            <a:endParaRPr lang="en-US" sz="1100" dirty="0"/>
          </a:p>
        </p:txBody>
      </p:sp>
      <p:sp>
        <p:nvSpPr>
          <p:cNvPr id="28" name="Text 23"/>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9" name="Text 2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5. MACHINE LEARNING · STEP 2: TUNING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Tuning with GridSearchCV</a:t>
            </a:r>
            <a:endParaRPr lang="en-US" sz="3000" dirty="0"/>
          </a:p>
        </p:txBody>
      </p:sp>
      <p:sp>
        <p:nvSpPr>
          <p:cNvPr id="4" name="Text 2"/>
          <p:cNvSpPr/>
          <p:nvPr/>
        </p:nvSpPr>
        <p:spPr>
          <a:xfrm>
            <a:off x="502920" y="1737360"/>
            <a:ext cx="10607040" cy="777240"/>
          </a:xfrm>
          <a:prstGeom prst="rect">
            <a:avLst/>
          </a:prstGeom>
          <a:noFill/>
          <a:ln/>
        </p:spPr>
        <p:txBody>
          <a:bodyPr wrap="square" lIns="0" tIns="0" rIns="0" bIns="0" rtlCol="0" anchor="ctr"/>
          <a:lstStyle/>
          <a:p>
            <a:pPr indent="0" marL="0">
              <a:lnSpc>
                <a:spcPct val="128000"/>
              </a:lnSpc>
              <a:buNone/>
            </a:pPr>
            <a:r>
              <a:rPr lang="en-US" sz="1300" dirty="0">
                <a:solidFill>
                  <a:srgbClr val="1E293B"/>
                </a:solidFill>
                <a:latin typeface="Calibri" pitchFamily="34" charset="0"/>
                <a:ea typeface="Calibri" pitchFamily="34" charset="-122"/>
                <a:cs typeface="Calibri" pitchFamily="34" charset="-120"/>
              </a:rPr>
              <a:t>The baseline numbers leave room on the table — untuned RBF scores only </a:t>
            </a:r>
            <a:pPr indent="0" marL="0">
              <a:lnSpc>
                <a:spcPct val="128000"/>
              </a:lnSpc>
              <a:buNone/>
            </a:pPr>
            <a:r>
              <a:rPr lang="en-US" sz="1300" b="1" dirty="0">
                <a:solidFill>
                  <a:srgbClr val="D9695F"/>
                </a:solidFill>
                <a:latin typeface="Calibri" pitchFamily="34" charset="0"/>
                <a:ea typeface="Calibri" pitchFamily="34" charset="-122"/>
                <a:cs typeface="Calibri" pitchFamily="34" charset="-120"/>
              </a:rPr>
              <a:t>71.1%</a:t>
            </a:r>
            <a:pPr indent="0" marL="0">
              <a:lnSpc>
                <a:spcPct val="128000"/>
              </a:lnSpc>
              <a:buNone/>
            </a:pPr>
            <a:r>
              <a:rPr lang="en-US" sz="1300" dirty="0">
                <a:solidFill>
                  <a:srgbClr val="1E293B"/>
                </a:solidFill>
                <a:latin typeface="Calibri" pitchFamily="34" charset="0"/>
                <a:ea typeface="Calibri" pitchFamily="34" charset="-122"/>
                <a:cs typeface="Calibri" pitchFamily="34" charset="-120"/>
              </a:rPr>
              <a:t>. GridSearchCV exhaustively tries every combination in a grid of hyperparameters, scoring each with 5-fold cross-validation on the training set only.</a:t>
            </a:r>
            <a:endParaRPr lang="en-US" sz="1300" dirty="0"/>
          </a:p>
        </p:txBody>
      </p:sp>
      <p:sp>
        <p:nvSpPr>
          <p:cNvPr id="5" name="Shape 3"/>
          <p:cNvSpPr/>
          <p:nvPr/>
        </p:nvSpPr>
        <p:spPr>
          <a:xfrm>
            <a:off x="502920" y="2606040"/>
            <a:ext cx="10607040" cy="530352"/>
          </a:xfrm>
          <a:prstGeom prst="roundRect">
            <a:avLst>
              <a:gd name="adj" fmla="val 10345"/>
            </a:avLst>
          </a:prstGeom>
          <a:solidFill>
            <a:srgbClr val="0B1F3A"/>
          </a:solidFill>
          <a:ln/>
        </p:spPr>
      </p:sp>
      <p:sp>
        <p:nvSpPr>
          <p:cNvPr id="6" name="Text 4"/>
          <p:cNvSpPr/>
          <p:nvPr/>
        </p:nvSpPr>
        <p:spPr>
          <a:xfrm>
            <a:off x="502920" y="2606040"/>
            <a:ext cx="1920240" cy="530352"/>
          </a:xfrm>
          <a:prstGeom prst="rect">
            <a:avLst/>
          </a:prstGeom>
          <a:noFill/>
          <a:ln/>
        </p:spPr>
        <p:txBody>
          <a:bodyPr wrap="square" lIns="0" tIns="17780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Kernel</a:t>
            </a:r>
            <a:endParaRPr lang="en-US" sz="1200" dirty="0"/>
          </a:p>
        </p:txBody>
      </p:sp>
      <p:sp>
        <p:nvSpPr>
          <p:cNvPr id="7" name="Text 5"/>
          <p:cNvSpPr/>
          <p:nvPr/>
        </p:nvSpPr>
        <p:spPr>
          <a:xfrm>
            <a:off x="2423160" y="2606040"/>
            <a:ext cx="4663440"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Grid searched</a:t>
            </a:r>
            <a:endParaRPr lang="en-US" sz="1200" dirty="0"/>
          </a:p>
        </p:txBody>
      </p:sp>
      <p:sp>
        <p:nvSpPr>
          <p:cNvPr id="8" name="Text 6"/>
          <p:cNvSpPr/>
          <p:nvPr/>
        </p:nvSpPr>
        <p:spPr>
          <a:xfrm>
            <a:off x="7086600" y="2606040"/>
            <a:ext cx="2011680"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Combinations</a:t>
            </a:r>
            <a:endParaRPr lang="en-US" sz="1200" dirty="0"/>
          </a:p>
        </p:txBody>
      </p:sp>
      <p:sp>
        <p:nvSpPr>
          <p:cNvPr id="9" name="Text 7"/>
          <p:cNvSpPr/>
          <p:nvPr/>
        </p:nvSpPr>
        <p:spPr>
          <a:xfrm>
            <a:off x="9098280" y="2606040"/>
            <a:ext cx="2011680" cy="53035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Total fits (x5 folds)</a:t>
            </a:r>
            <a:endParaRPr lang="en-US" sz="1200" dirty="0"/>
          </a:p>
        </p:txBody>
      </p:sp>
      <p:sp>
        <p:nvSpPr>
          <p:cNvPr id="10" name="Shape 8"/>
          <p:cNvSpPr/>
          <p:nvPr/>
        </p:nvSpPr>
        <p:spPr>
          <a:xfrm>
            <a:off x="502920" y="3136392"/>
            <a:ext cx="10607040" cy="530352"/>
          </a:xfrm>
          <a:prstGeom prst="rect">
            <a:avLst/>
          </a:prstGeom>
          <a:solidFill>
            <a:srgbClr val="FFFFFF"/>
          </a:solidFill>
          <a:ln w="9525">
            <a:solidFill>
              <a:srgbClr val="E4E9F1"/>
            </a:solidFill>
            <a:prstDash val="solid"/>
          </a:ln>
        </p:spPr>
      </p:sp>
      <p:sp>
        <p:nvSpPr>
          <p:cNvPr id="11" name="Text 9"/>
          <p:cNvSpPr/>
          <p:nvPr/>
        </p:nvSpPr>
        <p:spPr>
          <a:xfrm>
            <a:off x="502920" y="3136392"/>
            <a:ext cx="1920240" cy="530352"/>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Linear</a:t>
            </a:r>
            <a:endParaRPr lang="en-US" sz="1200" dirty="0"/>
          </a:p>
        </p:txBody>
      </p:sp>
      <p:sp>
        <p:nvSpPr>
          <p:cNvPr id="12" name="Text 10"/>
          <p:cNvSpPr/>
          <p:nvPr/>
        </p:nvSpPr>
        <p:spPr>
          <a:xfrm>
            <a:off x="2423160" y="3136392"/>
            <a:ext cx="466344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C in {0.001 ... 1000} (7 values)</a:t>
            </a:r>
            <a:endParaRPr lang="en-US" sz="1200" dirty="0"/>
          </a:p>
        </p:txBody>
      </p:sp>
      <p:sp>
        <p:nvSpPr>
          <p:cNvPr id="13" name="Text 11"/>
          <p:cNvSpPr/>
          <p:nvPr/>
        </p:nvSpPr>
        <p:spPr>
          <a:xfrm>
            <a:off x="7086600" y="3136392"/>
            <a:ext cx="201168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7</a:t>
            </a:r>
            <a:endParaRPr lang="en-US" sz="1200" dirty="0"/>
          </a:p>
        </p:txBody>
      </p:sp>
      <p:sp>
        <p:nvSpPr>
          <p:cNvPr id="14" name="Text 12"/>
          <p:cNvSpPr/>
          <p:nvPr/>
        </p:nvSpPr>
        <p:spPr>
          <a:xfrm>
            <a:off x="9098280" y="3136392"/>
            <a:ext cx="201168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35</a:t>
            </a:r>
            <a:endParaRPr lang="en-US" sz="1200" dirty="0"/>
          </a:p>
        </p:txBody>
      </p:sp>
      <p:sp>
        <p:nvSpPr>
          <p:cNvPr id="15" name="Shape 13"/>
          <p:cNvSpPr/>
          <p:nvPr/>
        </p:nvSpPr>
        <p:spPr>
          <a:xfrm>
            <a:off x="502920" y="3666744"/>
            <a:ext cx="10607040" cy="530352"/>
          </a:xfrm>
          <a:prstGeom prst="rect">
            <a:avLst/>
          </a:prstGeom>
          <a:solidFill>
            <a:srgbClr val="EEF2F7"/>
          </a:solidFill>
          <a:ln w="9525">
            <a:solidFill>
              <a:srgbClr val="E4E9F1"/>
            </a:solidFill>
            <a:prstDash val="solid"/>
          </a:ln>
        </p:spPr>
      </p:sp>
      <p:sp>
        <p:nvSpPr>
          <p:cNvPr id="16" name="Text 14"/>
          <p:cNvSpPr/>
          <p:nvPr/>
        </p:nvSpPr>
        <p:spPr>
          <a:xfrm>
            <a:off x="502920" y="3666744"/>
            <a:ext cx="1920240" cy="530352"/>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RBF</a:t>
            </a:r>
            <a:endParaRPr lang="en-US" sz="1200" dirty="0"/>
          </a:p>
        </p:txBody>
      </p:sp>
      <p:sp>
        <p:nvSpPr>
          <p:cNvPr id="17" name="Text 15"/>
          <p:cNvSpPr/>
          <p:nvPr/>
        </p:nvSpPr>
        <p:spPr>
          <a:xfrm>
            <a:off x="2423160" y="3666744"/>
            <a:ext cx="466344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C (5) x gamma (6)</a:t>
            </a:r>
            <a:endParaRPr lang="en-US" sz="1200" dirty="0"/>
          </a:p>
        </p:txBody>
      </p:sp>
      <p:sp>
        <p:nvSpPr>
          <p:cNvPr id="18" name="Text 16"/>
          <p:cNvSpPr/>
          <p:nvPr/>
        </p:nvSpPr>
        <p:spPr>
          <a:xfrm>
            <a:off x="7086600" y="3666744"/>
            <a:ext cx="201168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30</a:t>
            </a:r>
            <a:endParaRPr lang="en-US" sz="1200" dirty="0"/>
          </a:p>
        </p:txBody>
      </p:sp>
      <p:sp>
        <p:nvSpPr>
          <p:cNvPr id="19" name="Text 17"/>
          <p:cNvSpPr/>
          <p:nvPr/>
        </p:nvSpPr>
        <p:spPr>
          <a:xfrm>
            <a:off x="9098280" y="3666744"/>
            <a:ext cx="201168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150</a:t>
            </a:r>
            <a:endParaRPr lang="en-US" sz="1200" dirty="0"/>
          </a:p>
        </p:txBody>
      </p:sp>
      <p:sp>
        <p:nvSpPr>
          <p:cNvPr id="20" name="Shape 18"/>
          <p:cNvSpPr/>
          <p:nvPr/>
        </p:nvSpPr>
        <p:spPr>
          <a:xfrm>
            <a:off x="502920" y="4197096"/>
            <a:ext cx="10607040" cy="530352"/>
          </a:xfrm>
          <a:prstGeom prst="rect">
            <a:avLst/>
          </a:prstGeom>
          <a:solidFill>
            <a:srgbClr val="FFFFFF"/>
          </a:solidFill>
          <a:ln w="9525">
            <a:solidFill>
              <a:srgbClr val="E4E9F1"/>
            </a:solidFill>
            <a:prstDash val="solid"/>
          </a:ln>
        </p:spPr>
      </p:sp>
      <p:sp>
        <p:nvSpPr>
          <p:cNvPr id="21" name="Text 19"/>
          <p:cNvSpPr/>
          <p:nvPr/>
        </p:nvSpPr>
        <p:spPr>
          <a:xfrm>
            <a:off x="502920" y="4197096"/>
            <a:ext cx="1920240" cy="530352"/>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Polynomial</a:t>
            </a:r>
            <a:endParaRPr lang="en-US" sz="1200" dirty="0"/>
          </a:p>
        </p:txBody>
      </p:sp>
      <p:sp>
        <p:nvSpPr>
          <p:cNvPr id="22" name="Text 20"/>
          <p:cNvSpPr/>
          <p:nvPr/>
        </p:nvSpPr>
        <p:spPr>
          <a:xfrm>
            <a:off x="2423160" y="4197096"/>
            <a:ext cx="466344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C (4) x gamma (3) x degree (2)</a:t>
            </a:r>
            <a:endParaRPr lang="en-US" sz="1200" dirty="0"/>
          </a:p>
        </p:txBody>
      </p:sp>
      <p:sp>
        <p:nvSpPr>
          <p:cNvPr id="23" name="Text 21"/>
          <p:cNvSpPr/>
          <p:nvPr/>
        </p:nvSpPr>
        <p:spPr>
          <a:xfrm>
            <a:off x="7086600" y="4197096"/>
            <a:ext cx="201168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24</a:t>
            </a:r>
            <a:endParaRPr lang="en-US" sz="1200" dirty="0"/>
          </a:p>
        </p:txBody>
      </p:sp>
      <p:sp>
        <p:nvSpPr>
          <p:cNvPr id="24" name="Text 22"/>
          <p:cNvSpPr/>
          <p:nvPr/>
        </p:nvSpPr>
        <p:spPr>
          <a:xfrm>
            <a:off x="9098280" y="4197096"/>
            <a:ext cx="2011680" cy="530352"/>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120</a:t>
            </a:r>
            <a:endParaRPr lang="en-US" sz="1200" dirty="0"/>
          </a:p>
        </p:txBody>
      </p:sp>
      <p:sp>
        <p:nvSpPr>
          <p:cNvPr id="25" name="Shape 23"/>
          <p:cNvSpPr/>
          <p:nvPr/>
        </p:nvSpPr>
        <p:spPr>
          <a:xfrm>
            <a:off x="502920" y="4892040"/>
            <a:ext cx="10607040" cy="777240"/>
          </a:xfrm>
          <a:prstGeom prst="roundRect">
            <a:avLst>
              <a:gd name="adj" fmla="val 9412"/>
            </a:avLst>
          </a:prstGeom>
          <a:solidFill>
            <a:srgbClr val="0B1F3A"/>
          </a:solidFill>
          <a:ln/>
          <a:effectLst>
            <a:outerShdw sx="100000" sy="100000" kx="0" ky="0" algn="bl" rotWithShape="0" blurRad="114300" dist="38100" dir="2700000">
              <a:srgbClr val="0B1F3A">
                <a:alpha val="14000"/>
              </a:srgbClr>
            </a:outerShdw>
          </a:effectLst>
        </p:spPr>
      </p:sp>
      <p:sp>
        <p:nvSpPr>
          <p:cNvPr id="26" name="Text 24"/>
          <p:cNvSpPr/>
          <p:nvPr/>
        </p:nvSpPr>
        <p:spPr>
          <a:xfrm>
            <a:off x="822960" y="4892040"/>
            <a:ext cx="9966960" cy="777240"/>
          </a:xfrm>
          <a:prstGeom prst="rect">
            <a:avLst/>
          </a:prstGeom>
          <a:noFill/>
          <a:ln/>
        </p:spPr>
        <p:txBody>
          <a:bodyPr wrap="square" lIns="0" tIns="0" rIns="0" bIns="0" rtlCol="0" anchor="ctr"/>
          <a:lstStyle/>
          <a:p>
            <a:pPr indent="0" marL="0">
              <a:lnSpc>
                <a:spcPct val="120000"/>
              </a:lnSpc>
              <a:buNone/>
            </a:pPr>
            <a:r>
              <a:rPr lang="en-US" sz="1250" b="1" dirty="0">
                <a:solidFill>
                  <a:srgbClr val="FFB703"/>
                </a:solidFill>
                <a:latin typeface="Calibri" pitchFamily="34" charset="0"/>
                <a:ea typeface="Calibri" pitchFamily="34" charset="-122"/>
                <a:cs typeface="Calibri" pitchFamily="34" charset="-120"/>
              </a:rPr>
              <a:t>305 total model fits searched</a:t>
            </a:r>
            <a:pPr indent="0" marL="0">
              <a:lnSpc>
                <a:spcPct val="120000"/>
              </a:lnSpc>
              <a:buNone/>
            </a:pPr>
            <a:r>
              <a:rPr lang="en-US" sz="1250" dirty="0">
                <a:solidFill>
                  <a:srgbClr val="E7ECF4"/>
                </a:solidFill>
                <a:latin typeface="Calibri" pitchFamily="34" charset="0"/>
                <a:ea typeface="Calibri" pitchFamily="34" charset="-122"/>
                <a:cs typeface="Calibri" pitchFamily="34" charset="-120"/>
              </a:rPr>
              <a:t>  — best RBF found: C=100, gamma=0.1, lifting it from 71.1% to 76.96% before the topology rule.</a:t>
            </a:r>
            <a:endParaRPr lang="en-US" sz="1250" dirty="0"/>
          </a:p>
        </p:txBody>
      </p:sp>
      <p:sp>
        <p:nvSpPr>
          <p:cNvPr id="27" name="Text 2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8" name="Text 2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5. MACHINE LEARNING · STEP 2: TUNING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Why 5-Fold Cross-Validation?</a:t>
            </a:r>
            <a:endParaRPr lang="en-US" sz="3000" dirty="0"/>
          </a:p>
        </p:txBody>
      </p:sp>
      <p:sp>
        <p:nvSpPr>
          <p:cNvPr id="4" name="Text 2"/>
          <p:cNvSpPr/>
          <p:nvPr/>
        </p:nvSpPr>
        <p:spPr>
          <a:xfrm>
            <a:off x="502920" y="1737360"/>
            <a:ext cx="10607040" cy="777240"/>
          </a:xfrm>
          <a:prstGeom prst="rect">
            <a:avLst/>
          </a:prstGeom>
          <a:noFill/>
          <a:ln/>
        </p:spPr>
        <p:txBody>
          <a:bodyPr wrap="square" lIns="0" tIns="0" rIns="0" bIns="0" rtlCol="0" anchor="ctr"/>
          <a:lstStyle/>
          <a:p>
            <a:pPr indent="0" marL="0">
              <a:lnSpc>
                <a:spcPct val="128000"/>
              </a:lnSpc>
              <a:buNone/>
            </a:pPr>
            <a:r>
              <a:rPr lang="en-US" sz="1300" dirty="0">
                <a:solidFill>
                  <a:srgbClr val="1E293B"/>
                </a:solidFill>
                <a:latin typeface="Calibri" pitchFamily="34" charset="0"/>
                <a:ea typeface="Calibri" pitchFamily="34" charset="-122"/>
                <a:cs typeface="Calibri" pitchFamily="34" charset="-120"/>
              </a:rPr>
              <a:t>Testing one hyperparameter setting on a single train/validation split can just get lucky. 5-fold CV instead splits the training data into 5 equal chunks and rotates which chunk is held out:</a:t>
            </a:r>
            <a:endParaRPr lang="en-US" sz="1300" dirty="0"/>
          </a:p>
        </p:txBody>
      </p:sp>
      <p:sp>
        <p:nvSpPr>
          <p:cNvPr id="5" name="Shape 3"/>
          <p:cNvSpPr/>
          <p:nvPr/>
        </p:nvSpPr>
        <p:spPr>
          <a:xfrm>
            <a:off x="502920" y="2697480"/>
            <a:ext cx="1920240" cy="475488"/>
          </a:xfrm>
          <a:prstGeom prst="roundRect">
            <a:avLst>
              <a:gd name="adj" fmla="val 9615"/>
            </a:avLst>
          </a:prstGeom>
          <a:solidFill>
            <a:srgbClr val="FFB703"/>
          </a:solidFill>
          <a:ln w="12700">
            <a:solidFill>
              <a:srgbClr val="FFB703"/>
            </a:solidFill>
            <a:prstDash val="solid"/>
          </a:ln>
        </p:spPr>
      </p:sp>
      <p:sp>
        <p:nvSpPr>
          <p:cNvPr id="6" name="Text 4"/>
          <p:cNvSpPr/>
          <p:nvPr/>
        </p:nvSpPr>
        <p:spPr>
          <a:xfrm>
            <a:off x="502920" y="2697480"/>
            <a:ext cx="1920240" cy="475488"/>
          </a:xfrm>
          <a:prstGeom prst="rect">
            <a:avLst/>
          </a:prstGeom>
          <a:noFill/>
          <a:ln/>
        </p:spPr>
        <p:txBody>
          <a:bodyPr wrap="square" lIns="0" tIns="0" rIns="0" bIns="0" rtlCol="0" anchor="ctr"/>
          <a:lstStyle/>
          <a:p>
            <a:pPr algn="ctr" indent="0" marL="0">
              <a:buNone/>
            </a:pPr>
            <a:r>
              <a:rPr lang="en-US" sz="1050" b="1" dirty="0">
                <a:solidFill>
                  <a:srgbClr val="0B1F3A"/>
                </a:solidFill>
                <a:latin typeface="Calibri" pitchFamily="34" charset="0"/>
                <a:ea typeface="Calibri" pitchFamily="34" charset="-122"/>
                <a:cs typeface="Calibri" pitchFamily="34" charset="-120"/>
              </a:rPr>
              <a:t>Validate</a:t>
            </a:r>
            <a:endParaRPr lang="en-US" sz="1050" dirty="0"/>
          </a:p>
        </p:txBody>
      </p:sp>
      <p:sp>
        <p:nvSpPr>
          <p:cNvPr id="7" name="Shape 5"/>
          <p:cNvSpPr/>
          <p:nvPr/>
        </p:nvSpPr>
        <p:spPr>
          <a:xfrm>
            <a:off x="2560320" y="2697480"/>
            <a:ext cx="1920240" cy="475488"/>
          </a:xfrm>
          <a:prstGeom prst="roundRect">
            <a:avLst>
              <a:gd name="adj" fmla="val 9615"/>
            </a:avLst>
          </a:prstGeom>
          <a:solidFill>
            <a:srgbClr val="DCE6F5"/>
          </a:solidFill>
          <a:ln w="12700">
            <a:solidFill>
              <a:srgbClr val="C3D2E8"/>
            </a:solidFill>
            <a:prstDash val="solid"/>
          </a:ln>
        </p:spPr>
      </p:sp>
      <p:sp>
        <p:nvSpPr>
          <p:cNvPr id="8" name="Text 6"/>
          <p:cNvSpPr/>
          <p:nvPr/>
        </p:nvSpPr>
        <p:spPr>
          <a:xfrm>
            <a:off x="2560320" y="2697480"/>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9" name="Shape 7"/>
          <p:cNvSpPr/>
          <p:nvPr/>
        </p:nvSpPr>
        <p:spPr>
          <a:xfrm>
            <a:off x="4617720" y="2697480"/>
            <a:ext cx="1920240" cy="475488"/>
          </a:xfrm>
          <a:prstGeom prst="roundRect">
            <a:avLst>
              <a:gd name="adj" fmla="val 9615"/>
            </a:avLst>
          </a:prstGeom>
          <a:solidFill>
            <a:srgbClr val="DCE6F5"/>
          </a:solidFill>
          <a:ln w="12700">
            <a:solidFill>
              <a:srgbClr val="C3D2E8"/>
            </a:solidFill>
            <a:prstDash val="solid"/>
          </a:ln>
        </p:spPr>
      </p:sp>
      <p:sp>
        <p:nvSpPr>
          <p:cNvPr id="10" name="Text 8"/>
          <p:cNvSpPr/>
          <p:nvPr/>
        </p:nvSpPr>
        <p:spPr>
          <a:xfrm>
            <a:off x="4617720" y="2697480"/>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11" name="Shape 9"/>
          <p:cNvSpPr/>
          <p:nvPr/>
        </p:nvSpPr>
        <p:spPr>
          <a:xfrm>
            <a:off x="6675120" y="2697480"/>
            <a:ext cx="1920240" cy="475488"/>
          </a:xfrm>
          <a:prstGeom prst="roundRect">
            <a:avLst>
              <a:gd name="adj" fmla="val 9615"/>
            </a:avLst>
          </a:prstGeom>
          <a:solidFill>
            <a:srgbClr val="DCE6F5"/>
          </a:solidFill>
          <a:ln w="12700">
            <a:solidFill>
              <a:srgbClr val="C3D2E8"/>
            </a:solidFill>
            <a:prstDash val="solid"/>
          </a:ln>
        </p:spPr>
      </p:sp>
      <p:sp>
        <p:nvSpPr>
          <p:cNvPr id="12" name="Text 10"/>
          <p:cNvSpPr/>
          <p:nvPr/>
        </p:nvSpPr>
        <p:spPr>
          <a:xfrm>
            <a:off x="6675120" y="2697480"/>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13" name="Shape 11"/>
          <p:cNvSpPr/>
          <p:nvPr/>
        </p:nvSpPr>
        <p:spPr>
          <a:xfrm>
            <a:off x="8732520" y="2697480"/>
            <a:ext cx="1920240" cy="475488"/>
          </a:xfrm>
          <a:prstGeom prst="roundRect">
            <a:avLst>
              <a:gd name="adj" fmla="val 9615"/>
            </a:avLst>
          </a:prstGeom>
          <a:solidFill>
            <a:srgbClr val="DCE6F5"/>
          </a:solidFill>
          <a:ln w="12700">
            <a:solidFill>
              <a:srgbClr val="C3D2E8"/>
            </a:solidFill>
            <a:prstDash val="solid"/>
          </a:ln>
        </p:spPr>
      </p:sp>
      <p:sp>
        <p:nvSpPr>
          <p:cNvPr id="14" name="Text 12"/>
          <p:cNvSpPr/>
          <p:nvPr/>
        </p:nvSpPr>
        <p:spPr>
          <a:xfrm>
            <a:off x="8732520" y="2697480"/>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15" name="Shape 13"/>
          <p:cNvSpPr/>
          <p:nvPr/>
        </p:nvSpPr>
        <p:spPr>
          <a:xfrm>
            <a:off x="502920" y="3264408"/>
            <a:ext cx="1920240" cy="475488"/>
          </a:xfrm>
          <a:prstGeom prst="roundRect">
            <a:avLst>
              <a:gd name="adj" fmla="val 9615"/>
            </a:avLst>
          </a:prstGeom>
          <a:solidFill>
            <a:srgbClr val="DCE6F5"/>
          </a:solidFill>
          <a:ln w="12700">
            <a:solidFill>
              <a:srgbClr val="C3D2E8"/>
            </a:solidFill>
            <a:prstDash val="solid"/>
          </a:ln>
        </p:spPr>
      </p:sp>
      <p:sp>
        <p:nvSpPr>
          <p:cNvPr id="16" name="Text 14"/>
          <p:cNvSpPr/>
          <p:nvPr/>
        </p:nvSpPr>
        <p:spPr>
          <a:xfrm>
            <a:off x="502920" y="3264408"/>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17" name="Shape 15"/>
          <p:cNvSpPr/>
          <p:nvPr/>
        </p:nvSpPr>
        <p:spPr>
          <a:xfrm>
            <a:off x="2560320" y="3264408"/>
            <a:ext cx="1920240" cy="475488"/>
          </a:xfrm>
          <a:prstGeom prst="roundRect">
            <a:avLst>
              <a:gd name="adj" fmla="val 9615"/>
            </a:avLst>
          </a:prstGeom>
          <a:solidFill>
            <a:srgbClr val="FFB703"/>
          </a:solidFill>
          <a:ln w="12700">
            <a:solidFill>
              <a:srgbClr val="FFB703"/>
            </a:solidFill>
            <a:prstDash val="solid"/>
          </a:ln>
        </p:spPr>
      </p:sp>
      <p:sp>
        <p:nvSpPr>
          <p:cNvPr id="18" name="Text 16"/>
          <p:cNvSpPr/>
          <p:nvPr/>
        </p:nvSpPr>
        <p:spPr>
          <a:xfrm>
            <a:off x="2560320" y="3264408"/>
            <a:ext cx="1920240" cy="475488"/>
          </a:xfrm>
          <a:prstGeom prst="rect">
            <a:avLst/>
          </a:prstGeom>
          <a:noFill/>
          <a:ln/>
        </p:spPr>
        <p:txBody>
          <a:bodyPr wrap="square" lIns="0" tIns="0" rIns="0" bIns="0" rtlCol="0" anchor="ctr"/>
          <a:lstStyle/>
          <a:p>
            <a:pPr algn="ctr" indent="0" marL="0">
              <a:buNone/>
            </a:pPr>
            <a:r>
              <a:rPr lang="en-US" sz="1050" b="1" dirty="0">
                <a:solidFill>
                  <a:srgbClr val="0B1F3A"/>
                </a:solidFill>
                <a:latin typeface="Calibri" pitchFamily="34" charset="0"/>
                <a:ea typeface="Calibri" pitchFamily="34" charset="-122"/>
                <a:cs typeface="Calibri" pitchFamily="34" charset="-120"/>
              </a:rPr>
              <a:t>Validate</a:t>
            </a:r>
            <a:endParaRPr lang="en-US" sz="1050" dirty="0"/>
          </a:p>
        </p:txBody>
      </p:sp>
      <p:sp>
        <p:nvSpPr>
          <p:cNvPr id="19" name="Shape 17"/>
          <p:cNvSpPr/>
          <p:nvPr/>
        </p:nvSpPr>
        <p:spPr>
          <a:xfrm>
            <a:off x="4617720" y="3264408"/>
            <a:ext cx="1920240" cy="475488"/>
          </a:xfrm>
          <a:prstGeom prst="roundRect">
            <a:avLst>
              <a:gd name="adj" fmla="val 9615"/>
            </a:avLst>
          </a:prstGeom>
          <a:solidFill>
            <a:srgbClr val="DCE6F5"/>
          </a:solidFill>
          <a:ln w="12700">
            <a:solidFill>
              <a:srgbClr val="C3D2E8"/>
            </a:solidFill>
            <a:prstDash val="solid"/>
          </a:ln>
        </p:spPr>
      </p:sp>
      <p:sp>
        <p:nvSpPr>
          <p:cNvPr id="20" name="Text 18"/>
          <p:cNvSpPr/>
          <p:nvPr/>
        </p:nvSpPr>
        <p:spPr>
          <a:xfrm>
            <a:off x="4617720" y="3264408"/>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21" name="Shape 19"/>
          <p:cNvSpPr/>
          <p:nvPr/>
        </p:nvSpPr>
        <p:spPr>
          <a:xfrm>
            <a:off x="6675120" y="3264408"/>
            <a:ext cx="1920240" cy="475488"/>
          </a:xfrm>
          <a:prstGeom prst="roundRect">
            <a:avLst>
              <a:gd name="adj" fmla="val 9615"/>
            </a:avLst>
          </a:prstGeom>
          <a:solidFill>
            <a:srgbClr val="DCE6F5"/>
          </a:solidFill>
          <a:ln w="12700">
            <a:solidFill>
              <a:srgbClr val="C3D2E8"/>
            </a:solidFill>
            <a:prstDash val="solid"/>
          </a:ln>
        </p:spPr>
      </p:sp>
      <p:sp>
        <p:nvSpPr>
          <p:cNvPr id="22" name="Text 20"/>
          <p:cNvSpPr/>
          <p:nvPr/>
        </p:nvSpPr>
        <p:spPr>
          <a:xfrm>
            <a:off x="6675120" y="3264408"/>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23" name="Shape 21"/>
          <p:cNvSpPr/>
          <p:nvPr/>
        </p:nvSpPr>
        <p:spPr>
          <a:xfrm>
            <a:off x="8732520" y="3264408"/>
            <a:ext cx="1920240" cy="475488"/>
          </a:xfrm>
          <a:prstGeom prst="roundRect">
            <a:avLst>
              <a:gd name="adj" fmla="val 9615"/>
            </a:avLst>
          </a:prstGeom>
          <a:solidFill>
            <a:srgbClr val="DCE6F5"/>
          </a:solidFill>
          <a:ln w="12700">
            <a:solidFill>
              <a:srgbClr val="C3D2E8"/>
            </a:solidFill>
            <a:prstDash val="solid"/>
          </a:ln>
        </p:spPr>
      </p:sp>
      <p:sp>
        <p:nvSpPr>
          <p:cNvPr id="24" name="Text 22"/>
          <p:cNvSpPr/>
          <p:nvPr/>
        </p:nvSpPr>
        <p:spPr>
          <a:xfrm>
            <a:off x="8732520" y="3264408"/>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25" name="Shape 23"/>
          <p:cNvSpPr/>
          <p:nvPr/>
        </p:nvSpPr>
        <p:spPr>
          <a:xfrm>
            <a:off x="502920" y="3831336"/>
            <a:ext cx="1920240" cy="475488"/>
          </a:xfrm>
          <a:prstGeom prst="roundRect">
            <a:avLst>
              <a:gd name="adj" fmla="val 9615"/>
            </a:avLst>
          </a:prstGeom>
          <a:solidFill>
            <a:srgbClr val="DCE6F5"/>
          </a:solidFill>
          <a:ln w="12700">
            <a:solidFill>
              <a:srgbClr val="C3D2E8"/>
            </a:solidFill>
            <a:prstDash val="solid"/>
          </a:ln>
        </p:spPr>
      </p:sp>
      <p:sp>
        <p:nvSpPr>
          <p:cNvPr id="26" name="Text 24"/>
          <p:cNvSpPr/>
          <p:nvPr/>
        </p:nvSpPr>
        <p:spPr>
          <a:xfrm>
            <a:off x="502920" y="3831336"/>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27" name="Shape 25"/>
          <p:cNvSpPr/>
          <p:nvPr/>
        </p:nvSpPr>
        <p:spPr>
          <a:xfrm>
            <a:off x="2560320" y="3831336"/>
            <a:ext cx="1920240" cy="475488"/>
          </a:xfrm>
          <a:prstGeom prst="roundRect">
            <a:avLst>
              <a:gd name="adj" fmla="val 9615"/>
            </a:avLst>
          </a:prstGeom>
          <a:solidFill>
            <a:srgbClr val="DCE6F5"/>
          </a:solidFill>
          <a:ln w="12700">
            <a:solidFill>
              <a:srgbClr val="C3D2E8"/>
            </a:solidFill>
            <a:prstDash val="solid"/>
          </a:ln>
        </p:spPr>
      </p:sp>
      <p:sp>
        <p:nvSpPr>
          <p:cNvPr id="28" name="Text 26"/>
          <p:cNvSpPr/>
          <p:nvPr/>
        </p:nvSpPr>
        <p:spPr>
          <a:xfrm>
            <a:off x="2560320" y="3831336"/>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29" name="Shape 27"/>
          <p:cNvSpPr/>
          <p:nvPr/>
        </p:nvSpPr>
        <p:spPr>
          <a:xfrm>
            <a:off x="4617720" y="3831336"/>
            <a:ext cx="1920240" cy="475488"/>
          </a:xfrm>
          <a:prstGeom prst="roundRect">
            <a:avLst>
              <a:gd name="adj" fmla="val 9615"/>
            </a:avLst>
          </a:prstGeom>
          <a:solidFill>
            <a:srgbClr val="FFB703"/>
          </a:solidFill>
          <a:ln w="12700">
            <a:solidFill>
              <a:srgbClr val="FFB703"/>
            </a:solidFill>
            <a:prstDash val="solid"/>
          </a:ln>
        </p:spPr>
      </p:sp>
      <p:sp>
        <p:nvSpPr>
          <p:cNvPr id="30" name="Text 28"/>
          <p:cNvSpPr/>
          <p:nvPr/>
        </p:nvSpPr>
        <p:spPr>
          <a:xfrm>
            <a:off x="4617720" y="3831336"/>
            <a:ext cx="1920240" cy="475488"/>
          </a:xfrm>
          <a:prstGeom prst="rect">
            <a:avLst/>
          </a:prstGeom>
          <a:noFill/>
          <a:ln/>
        </p:spPr>
        <p:txBody>
          <a:bodyPr wrap="square" lIns="0" tIns="0" rIns="0" bIns="0" rtlCol="0" anchor="ctr"/>
          <a:lstStyle/>
          <a:p>
            <a:pPr algn="ctr" indent="0" marL="0">
              <a:buNone/>
            </a:pPr>
            <a:r>
              <a:rPr lang="en-US" sz="1050" b="1" dirty="0">
                <a:solidFill>
                  <a:srgbClr val="0B1F3A"/>
                </a:solidFill>
                <a:latin typeface="Calibri" pitchFamily="34" charset="0"/>
                <a:ea typeface="Calibri" pitchFamily="34" charset="-122"/>
                <a:cs typeface="Calibri" pitchFamily="34" charset="-120"/>
              </a:rPr>
              <a:t>Validate</a:t>
            </a:r>
            <a:endParaRPr lang="en-US" sz="1050" dirty="0"/>
          </a:p>
        </p:txBody>
      </p:sp>
      <p:sp>
        <p:nvSpPr>
          <p:cNvPr id="31" name="Shape 29"/>
          <p:cNvSpPr/>
          <p:nvPr/>
        </p:nvSpPr>
        <p:spPr>
          <a:xfrm>
            <a:off x="6675120" y="3831336"/>
            <a:ext cx="1920240" cy="475488"/>
          </a:xfrm>
          <a:prstGeom prst="roundRect">
            <a:avLst>
              <a:gd name="adj" fmla="val 9615"/>
            </a:avLst>
          </a:prstGeom>
          <a:solidFill>
            <a:srgbClr val="DCE6F5"/>
          </a:solidFill>
          <a:ln w="12700">
            <a:solidFill>
              <a:srgbClr val="C3D2E8"/>
            </a:solidFill>
            <a:prstDash val="solid"/>
          </a:ln>
        </p:spPr>
      </p:sp>
      <p:sp>
        <p:nvSpPr>
          <p:cNvPr id="32" name="Text 30"/>
          <p:cNvSpPr/>
          <p:nvPr/>
        </p:nvSpPr>
        <p:spPr>
          <a:xfrm>
            <a:off x="6675120" y="3831336"/>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33" name="Shape 31"/>
          <p:cNvSpPr/>
          <p:nvPr/>
        </p:nvSpPr>
        <p:spPr>
          <a:xfrm>
            <a:off x="8732520" y="3831336"/>
            <a:ext cx="1920240" cy="475488"/>
          </a:xfrm>
          <a:prstGeom prst="roundRect">
            <a:avLst>
              <a:gd name="adj" fmla="val 9615"/>
            </a:avLst>
          </a:prstGeom>
          <a:solidFill>
            <a:srgbClr val="DCE6F5"/>
          </a:solidFill>
          <a:ln w="12700">
            <a:solidFill>
              <a:srgbClr val="C3D2E8"/>
            </a:solidFill>
            <a:prstDash val="solid"/>
          </a:ln>
        </p:spPr>
      </p:sp>
      <p:sp>
        <p:nvSpPr>
          <p:cNvPr id="34" name="Text 32"/>
          <p:cNvSpPr/>
          <p:nvPr/>
        </p:nvSpPr>
        <p:spPr>
          <a:xfrm>
            <a:off x="8732520" y="3831336"/>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35" name="Shape 33"/>
          <p:cNvSpPr/>
          <p:nvPr/>
        </p:nvSpPr>
        <p:spPr>
          <a:xfrm>
            <a:off x="502920" y="4398264"/>
            <a:ext cx="1920240" cy="475488"/>
          </a:xfrm>
          <a:prstGeom prst="roundRect">
            <a:avLst>
              <a:gd name="adj" fmla="val 9615"/>
            </a:avLst>
          </a:prstGeom>
          <a:solidFill>
            <a:srgbClr val="DCE6F5"/>
          </a:solidFill>
          <a:ln w="12700">
            <a:solidFill>
              <a:srgbClr val="C3D2E8"/>
            </a:solidFill>
            <a:prstDash val="solid"/>
          </a:ln>
        </p:spPr>
      </p:sp>
      <p:sp>
        <p:nvSpPr>
          <p:cNvPr id="36" name="Text 34"/>
          <p:cNvSpPr/>
          <p:nvPr/>
        </p:nvSpPr>
        <p:spPr>
          <a:xfrm>
            <a:off x="502920" y="4398264"/>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37" name="Shape 35"/>
          <p:cNvSpPr/>
          <p:nvPr/>
        </p:nvSpPr>
        <p:spPr>
          <a:xfrm>
            <a:off x="2560320" y="4398264"/>
            <a:ext cx="1920240" cy="475488"/>
          </a:xfrm>
          <a:prstGeom prst="roundRect">
            <a:avLst>
              <a:gd name="adj" fmla="val 9615"/>
            </a:avLst>
          </a:prstGeom>
          <a:solidFill>
            <a:srgbClr val="DCE6F5"/>
          </a:solidFill>
          <a:ln w="12700">
            <a:solidFill>
              <a:srgbClr val="C3D2E8"/>
            </a:solidFill>
            <a:prstDash val="solid"/>
          </a:ln>
        </p:spPr>
      </p:sp>
      <p:sp>
        <p:nvSpPr>
          <p:cNvPr id="38" name="Text 36"/>
          <p:cNvSpPr/>
          <p:nvPr/>
        </p:nvSpPr>
        <p:spPr>
          <a:xfrm>
            <a:off x="2560320" y="4398264"/>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39" name="Shape 37"/>
          <p:cNvSpPr/>
          <p:nvPr/>
        </p:nvSpPr>
        <p:spPr>
          <a:xfrm>
            <a:off x="4617720" y="4398264"/>
            <a:ext cx="1920240" cy="475488"/>
          </a:xfrm>
          <a:prstGeom prst="roundRect">
            <a:avLst>
              <a:gd name="adj" fmla="val 9615"/>
            </a:avLst>
          </a:prstGeom>
          <a:solidFill>
            <a:srgbClr val="DCE6F5"/>
          </a:solidFill>
          <a:ln w="12700">
            <a:solidFill>
              <a:srgbClr val="C3D2E8"/>
            </a:solidFill>
            <a:prstDash val="solid"/>
          </a:ln>
        </p:spPr>
      </p:sp>
      <p:sp>
        <p:nvSpPr>
          <p:cNvPr id="40" name="Text 38"/>
          <p:cNvSpPr/>
          <p:nvPr/>
        </p:nvSpPr>
        <p:spPr>
          <a:xfrm>
            <a:off x="4617720" y="4398264"/>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41" name="Shape 39"/>
          <p:cNvSpPr/>
          <p:nvPr/>
        </p:nvSpPr>
        <p:spPr>
          <a:xfrm>
            <a:off x="6675120" y="4398264"/>
            <a:ext cx="1920240" cy="475488"/>
          </a:xfrm>
          <a:prstGeom prst="roundRect">
            <a:avLst>
              <a:gd name="adj" fmla="val 9615"/>
            </a:avLst>
          </a:prstGeom>
          <a:solidFill>
            <a:srgbClr val="FFB703"/>
          </a:solidFill>
          <a:ln w="12700">
            <a:solidFill>
              <a:srgbClr val="FFB703"/>
            </a:solidFill>
            <a:prstDash val="solid"/>
          </a:ln>
        </p:spPr>
      </p:sp>
      <p:sp>
        <p:nvSpPr>
          <p:cNvPr id="42" name="Text 40"/>
          <p:cNvSpPr/>
          <p:nvPr/>
        </p:nvSpPr>
        <p:spPr>
          <a:xfrm>
            <a:off x="6675120" y="4398264"/>
            <a:ext cx="1920240" cy="475488"/>
          </a:xfrm>
          <a:prstGeom prst="rect">
            <a:avLst/>
          </a:prstGeom>
          <a:noFill/>
          <a:ln/>
        </p:spPr>
        <p:txBody>
          <a:bodyPr wrap="square" lIns="0" tIns="0" rIns="0" bIns="0" rtlCol="0" anchor="ctr"/>
          <a:lstStyle/>
          <a:p>
            <a:pPr algn="ctr" indent="0" marL="0">
              <a:buNone/>
            </a:pPr>
            <a:r>
              <a:rPr lang="en-US" sz="1050" b="1" dirty="0">
                <a:solidFill>
                  <a:srgbClr val="0B1F3A"/>
                </a:solidFill>
                <a:latin typeface="Calibri" pitchFamily="34" charset="0"/>
                <a:ea typeface="Calibri" pitchFamily="34" charset="-122"/>
                <a:cs typeface="Calibri" pitchFamily="34" charset="-120"/>
              </a:rPr>
              <a:t>Validate</a:t>
            </a:r>
            <a:endParaRPr lang="en-US" sz="1050" dirty="0"/>
          </a:p>
        </p:txBody>
      </p:sp>
      <p:sp>
        <p:nvSpPr>
          <p:cNvPr id="43" name="Shape 41"/>
          <p:cNvSpPr/>
          <p:nvPr/>
        </p:nvSpPr>
        <p:spPr>
          <a:xfrm>
            <a:off x="8732520" y="4398264"/>
            <a:ext cx="1920240" cy="475488"/>
          </a:xfrm>
          <a:prstGeom prst="roundRect">
            <a:avLst>
              <a:gd name="adj" fmla="val 9615"/>
            </a:avLst>
          </a:prstGeom>
          <a:solidFill>
            <a:srgbClr val="DCE6F5"/>
          </a:solidFill>
          <a:ln w="12700">
            <a:solidFill>
              <a:srgbClr val="C3D2E8"/>
            </a:solidFill>
            <a:prstDash val="solid"/>
          </a:ln>
        </p:spPr>
      </p:sp>
      <p:sp>
        <p:nvSpPr>
          <p:cNvPr id="44" name="Text 42"/>
          <p:cNvSpPr/>
          <p:nvPr/>
        </p:nvSpPr>
        <p:spPr>
          <a:xfrm>
            <a:off x="8732520" y="4398264"/>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45" name="Shape 43"/>
          <p:cNvSpPr/>
          <p:nvPr/>
        </p:nvSpPr>
        <p:spPr>
          <a:xfrm>
            <a:off x="502920" y="4965192"/>
            <a:ext cx="1920240" cy="475488"/>
          </a:xfrm>
          <a:prstGeom prst="roundRect">
            <a:avLst>
              <a:gd name="adj" fmla="val 9615"/>
            </a:avLst>
          </a:prstGeom>
          <a:solidFill>
            <a:srgbClr val="DCE6F5"/>
          </a:solidFill>
          <a:ln w="12700">
            <a:solidFill>
              <a:srgbClr val="C3D2E8"/>
            </a:solidFill>
            <a:prstDash val="solid"/>
          </a:ln>
        </p:spPr>
      </p:sp>
      <p:sp>
        <p:nvSpPr>
          <p:cNvPr id="46" name="Text 44"/>
          <p:cNvSpPr/>
          <p:nvPr/>
        </p:nvSpPr>
        <p:spPr>
          <a:xfrm>
            <a:off x="502920" y="4965192"/>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47" name="Shape 45"/>
          <p:cNvSpPr/>
          <p:nvPr/>
        </p:nvSpPr>
        <p:spPr>
          <a:xfrm>
            <a:off x="2560320" y="4965192"/>
            <a:ext cx="1920240" cy="475488"/>
          </a:xfrm>
          <a:prstGeom prst="roundRect">
            <a:avLst>
              <a:gd name="adj" fmla="val 9615"/>
            </a:avLst>
          </a:prstGeom>
          <a:solidFill>
            <a:srgbClr val="DCE6F5"/>
          </a:solidFill>
          <a:ln w="12700">
            <a:solidFill>
              <a:srgbClr val="C3D2E8"/>
            </a:solidFill>
            <a:prstDash val="solid"/>
          </a:ln>
        </p:spPr>
      </p:sp>
      <p:sp>
        <p:nvSpPr>
          <p:cNvPr id="48" name="Text 46"/>
          <p:cNvSpPr/>
          <p:nvPr/>
        </p:nvSpPr>
        <p:spPr>
          <a:xfrm>
            <a:off x="2560320" y="4965192"/>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49" name="Shape 47"/>
          <p:cNvSpPr/>
          <p:nvPr/>
        </p:nvSpPr>
        <p:spPr>
          <a:xfrm>
            <a:off x="4617720" y="4965192"/>
            <a:ext cx="1920240" cy="475488"/>
          </a:xfrm>
          <a:prstGeom prst="roundRect">
            <a:avLst>
              <a:gd name="adj" fmla="val 9615"/>
            </a:avLst>
          </a:prstGeom>
          <a:solidFill>
            <a:srgbClr val="DCE6F5"/>
          </a:solidFill>
          <a:ln w="12700">
            <a:solidFill>
              <a:srgbClr val="C3D2E8"/>
            </a:solidFill>
            <a:prstDash val="solid"/>
          </a:ln>
        </p:spPr>
      </p:sp>
      <p:sp>
        <p:nvSpPr>
          <p:cNvPr id="50" name="Text 48"/>
          <p:cNvSpPr/>
          <p:nvPr/>
        </p:nvSpPr>
        <p:spPr>
          <a:xfrm>
            <a:off x="4617720" y="4965192"/>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51" name="Shape 49"/>
          <p:cNvSpPr/>
          <p:nvPr/>
        </p:nvSpPr>
        <p:spPr>
          <a:xfrm>
            <a:off x="6675120" y="4965192"/>
            <a:ext cx="1920240" cy="475488"/>
          </a:xfrm>
          <a:prstGeom prst="roundRect">
            <a:avLst>
              <a:gd name="adj" fmla="val 9615"/>
            </a:avLst>
          </a:prstGeom>
          <a:solidFill>
            <a:srgbClr val="DCE6F5"/>
          </a:solidFill>
          <a:ln w="12700">
            <a:solidFill>
              <a:srgbClr val="C3D2E8"/>
            </a:solidFill>
            <a:prstDash val="solid"/>
          </a:ln>
        </p:spPr>
      </p:sp>
      <p:sp>
        <p:nvSpPr>
          <p:cNvPr id="52" name="Text 50"/>
          <p:cNvSpPr/>
          <p:nvPr/>
        </p:nvSpPr>
        <p:spPr>
          <a:xfrm>
            <a:off x="6675120" y="4965192"/>
            <a:ext cx="1920240" cy="475488"/>
          </a:xfrm>
          <a:prstGeom prst="rect">
            <a:avLst/>
          </a:prstGeom>
          <a:noFill/>
          <a:ln/>
        </p:spPr>
        <p:txBody>
          <a:bodyPr wrap="square" lIns="0" tIns="0" rIns="0" bIns="0" rtlCol="0" anchor="ctr"/>
          <a:lstStyle/>
          <a:p>
            <a:pPr algn="ctr" indent="0" marL="0">
              <a:buNone/>
            </a:pPr>
            <a:r>
              <a:rPr lang="en-US" sz="1050" dirty="0">
                <a:solidFill>
                  <a:srgbClr val="5B6B84"/>
                </a:solidFill>
                <a:latin typeface="Calibri" pitchFamily="34" charset="0"/>
                <a:ea typeface="Calibri" pitchFamily="34" charset="-122"/>
                <a:cs typeface="Calibri" pitchFamily="34" charset="-120"/>
              </a:rPr>
              <a:t>Train</a:t>
            </a:r>
            <a:endParaRPr lang="en-US" sz="1050" dirty="0"/>
          </a:p>
        </p:txBody>
      </p:sp>
      <p:sp>
        <p:nvSpPr>
          <p:cNvPr id="53" name="Shape 51"/>
          <p:cNvSpPr/>
          <p:nvPr/>
        </p:nvSpPr>
        <p:spPr>
          <a:xfrm>
            <a:off x="8732520" y="4965192"/>
            <a:ext cx="1920240" cy="475488"/>
          </a:xfrm>
          <a:prstGeom prst="roundRect">
            <a:avLst>
              <a:gd name="adj" fmla="val 9615"/>
            </a:avLst>
          </a:prstGeom>
          <a:solidFill>
            <a:srgbClr val="FFB703"/>
          </a:solidFill>
          <a:ln w="12700">
            <a:solidFill>
              <a:srgbClr val="FFB703"/>
            </a:solidFill>
            <a:prstDash val="solid"/>
          </a:ln>
        </p:spPr>
      </p:sp>
      <p:sp>
        <p:nvSpPr>
          <p:cNvPr id="54" name="Text 52"/>
          <p:cNvSpPr/>
          <p:nvPr/>
        </p:nvSpPr>
        <p:spPr>
          <a:xfrm>
            <a:off x="8732520" y="4965192"/>
            <a:ext cx="1920240" cy="475488"/>
          </a:xfrm>
          <a:prstGeom prst="rect">
            <a:avLst/>
          </a:prstGeom>
          <a:noFill/>
          <a:ln/>
        </p:spPr>
        <p:txBody>
          <a:bodyPr wrap="square" lIns="0" tIns="0" rIns="0" bIns="0" rtlCol="0" anchor="ctr"/>
          <a:lstStyle/>
          <a:p>
            <a:pPr algn="ctr" indent="0" marL="0">
              <a:buNone/>
            </a:pPr>
            <a:r>
              <a:rPr lang="en-US" sz="1050" b="1" dirty="0">
                <a:solidFill>
                  <a:srgbClr val="0B1F3A"/>
                </a:solidFill>
                <a:latin typeface="Calibri" pitchFamily="34" charset="0"/>
                <a:ea typeface="Calibri" pitchFamily="34" charset="-122"/>
                <a:cs typeface="Calibri" pitchFamily="34" charset="-120"/>
              </a:rPr>
              <a:t>Validate</a:t>
            </a:r>
            <a:endParaRPr lang="en-US" sz="1050" dirty="0"/>
          </a:p>
        </p:txBody>
      </p:sp>
      <p:sp>
        <p:nvSpPr>
          <p:cNvPr id="55" name="Text 53"/>
          <p:cNvSpPr/>
          <p:nvPr/>
        </p:nvSpPr>
        <p:spPr>
          <a:xfrm>
            <a:off x="502920" y="5623560"/>
            <a:ext cx="10607040" cy="731520"/>
          </a:xfrm>
          <a:prstGeom prst="rect">
            <a:avLst/>
          </a:prstGeom>
          <a:noFill/>
          <a:ln/>
        </p:spPr>
        <p:txBody>
          <a:bodyPr wrap="square" lIns="0" tIns="0" rIns="0" bIns="0" rtlCol="0" anchor="ctr"/>
          <a:lstStyle/>
          <a:p>
            <a:pPr indent="0" marL="0">
              <a:lnSpc>
                <a:spcPct val="125000"/>
              </a:lnSpc>
              <a:buNone/>
            </a:pPr>
            <a:r>
              <a:rPr lang="en-US" sz="1100" dirty="0">
                <a:solidFill>
                  <a:srgbClr val="64748B"/>
                </a:solidFill>
                <a:latin typeface="Calibri" pitchFamily="34" charset="0"/>
                <a:ea typeface="Calibri" pitchFamily="34" charset="-122"/>
                <a:cs typeface="Calibri" pitchFamily="34" charset="-120"/>
              </a:rPr>
              <a:t>Each of the 5 rows is one “fold”: 4/5 of the training data trains the model, 1/5 validates it — and the role rotates so every sample is validated on exactly once. The average across all 5 folds gives a far more reliable accuracy estimate than any single split.</a:t>
            </a:r>
            <a:endParaRPr lang="en-US" sz="1100" dirty="0"/>
          </a:p>
        </p:txBody>
      </p:sp>
      <p:sp>
        <p:nvSpPr>
          <p:cNvPr id="56" name="Text 54"/>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57" name="Text 55"/>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5. MACHINE LEARNING · STEP 2: TUNING</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Tuned Results — What GridSearchCV Bought Us</a:t>
            </a:r>
            <a:endParaRPr lang="en-US" sz="3000" dirty="0"/>
          </a:p>
        </p:txBody>
      </p:sp>
      <p:sp>
        <p:nvSpPr>
          <p:cNvPr id="4" name="Shape 2"/>
          <p:cNvSpPr/>
          <p:nvPr/>
        </p:nvSpPr>
        <p:spPr>
          <a:xfrm>
            <a:off x="502920" y="1828800"/>
            <a:ext cx="3429000" cy="3703320"/>
          </a:xfrm>
          <a:prstGeom prst="roundRect">
            <a:avLst>
              <a:gd name="adj" fmla="val 2400"/>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5" name="Shape 3"/>
          <p:cNvSpPr/>
          <p:nvPr/>
        </p:nvSpPr>
        <p:spPr>
          <a:xfrm>
            <a:off x="1888236" y="2103120"/>
            <a:ext cx="658368" cy="658368"/>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6" name="Image 0" descr="/sessions/blissful-zealous-babbage/mnt/outputs/ppt/icons/chartline_00B4D8.png">    </p:cNvPr>
          <p:cNvPicPr>
            <a:picLocks noChangeAspect="1"/>
          </p:cNvPicPr>
          <p:nvPr/>
        </p:nvPicPr>
        <p:blipFill>
          <a:blip r:embed="rId1"/>
          <a:stretch>
            <a:fillRect/>
          </a:stretch>
        </p:blipFill>
        <p:spPr>
          <a:xfrm>
            <a:off x="1977116" y="2192000"/>
            <a:ext cx="480609" cy="480609"/>
          </a:xfrm>
          <a:prstGeom prst="rect">
            <a:avLst/>
          </a:prstGeom>
        </p:spPr>
      </p:pic>
      <p:sp>
        <p:nvSpPr>
          <p:cNvPr id="7" name="Text 4"/>
          <p:cNvSpPr/>
          <p:nvPr/>
        </p:nvSpPr>
        <p:spPr>
          <a:xfrm>
            <a:off x="502920" y="2880360"/>
            <a:ext cx="3429000" cy="365760"/>
          </a:xfrm>
          <a:prstGeom prst="rect">
            <a:avLst/>
          </a:prstGeom>
          <a:noFill/>
          <a:ln/>
        </p:spPr>
        <p:txBody>
          <a:bodyPr wrap="square" lIns="0" tIns="0" rIns="0" bIns="0" rtlCol="0" anchor="ctr"/>
          <a:lstStyle/>
          <a:p>
            <a:pPr algn="ctr" indent="0" marL="0">
              <a:buNone/>
            </a:pPr>
            <a:r>
              <a:rPr lang="en-US" sz="1700" b="1" dirty="0">
                <a:solidFill>
                  <a:srgbClr val="0B1F3A"/>
                </a:solidFill>
                <a:latin typeface="Cambria" pitchFamily="34" charset="0"/>
                <a:ea typeface="Cambria" pitchFamily="34" charset="-122"/>
                <a:cs typeface="Cambria" pitchFamily="34" charset="-120"/>
              </a:rPr>
              <a:t>Linear</a:t>
            </a:r>
            <a:endParaRPr lang="en-US" sz="1700" dirty="0"/>
          </a:p>
        </p:txBody>
      </p:sp>
      <p:sp>
        <p:nvSpPr>
          <p:cNvPr id="8" name="Text 5"/>
          <p:cNvSpPr/>
          <p:nvPr/>
        </p:nvSpPr>
        <p:spPr>
          <a:xfrm>
            <a:off x="502920" y="3337560"/>
            <a:ext cx="3429000" cy="365760"/>
          </a:xfrm>
          <a:prstGeom prst="rect">
            <a:avLst/>
          </a:prstGeom>
          <a:noFill/>
          <a:ln/>
        </p:spPr>
        <p:txBody>
          <a:bodyPr wrap="square" lIns="0" tIns="0" rIns="0" bIns="0" rtlCol="0" anchor="ctr"/>
          <a:lstStyle/>
          <a:p>
            <a:pPr algn="ctr" indent="0" marL="0">
              <a:buNone/>
            </a:pPr>
            <a:r>
              <a:rPr lang="en-US" sz="1300" dirty="0">
                <a:solidFill>
                  <a:srgbClr val="9FB1C8"/>
                </a:solidFill>
                <a:latin typeface="Calibri" pitchFamily="34" charset="0"/>
                <a:ea typeface="Calibri" pitchFamily="34" charset="-122"/>
                <a:cs typeface="Calibri" pitchFamily="34" charset="-120"/>
              </a:rPr>
              <a:t>77.94%</a:t>
            </a:r>
            <a:pPr algn="ctr" indent="0" marL="0">
              <a:buNone/>
            </a:pPr>
            <a:r>
              <a:rPr lang="en-US" sz="1300" dirty="0">
                <a:solidFill>
                  <a:srgbClr val="9FB1C8"/>
                </a:solidFill>
                <a:latin typeface="Calibri" pitchFamily="34" charset="0"/>
                <a:ea typeface="Calibri" pitchFamily="34" charset="-122"/>
                <a:cs typeface="Calibri" pitchFamily="34" charset="-120"/>
              </a:rPr>
              <a:t>  -&gt;  </a:t>
            </a:r>
            <a:pPr algn="ctr" indent="0" marL="0">
              <a:buNone/>
            </a:pPr>
            <a:r>
              <a:rPr lang="en-US" sz="1300" b="1" dirty="0">
                <a:solidFill>
                  <a:srgbClr val="0B1F3A"/>
                </a:solidFill>
                <a:latin typeface="Calibri" pitchFamily="34" charset="0"/>
                <a:ea typeface="Calibri" pitchFamily="34" charset="-122"/>
                <a:cs typeface="Calibri" pitchFamily="34" charset="-120"/>
              </a:rPr>
              <a:t>77.45%</a:t>
            </a:r>
            <a:endParaRPr lang="en-US" sz="1300" dirty="0"/>
          </a:p>
        </p:txBody>
      </p:sp>
      <p:sp>
        <p:nvSpPr>
          <p:cNvPr id="9" name="Text 6"/>
          <p:cNvSpPr/>
          <p:nvPr/>
        </p:nvSpPr>
        <p:spPr>
          <a:xfrm>
            <a:off x="502920" y="3794760"/>
            <a:ext cx="3429000" cy="320040"/>
          </a:xfrm>
          <a:prstGeom prst="rect">
            <a:avLst/>
          </a:prstGeom>
          <a:noFill/>
          <a:ln/>
        </p:spPr>
        <p:txBody>
          <a:bodyPr wrap="square" lIns="0" tIns="0" rIns="0" bIns="0" rtlCol="0" anchor="ctr"/>
          <a:lstStyle/>
          <a:p>
            <a:pPr algn="ctr" indent="0" marL="0">
              <a:buNone/>
            </a:pPr>
            <a:r>
              <a:rPr lang="en-US" sz="1000" dirty="0">
                <a:solidFill>
                  <a:srgbClr val="D9695F"/>
                </a:solidFill>
                <a:latin typeface="Calibri" pitchFamily="34" charset="0"/>
                <a:ea typeface="Calibri" pitchFamily="34" charset="-122"/>
                <a:cs typeface="Calibri" pitchFamily="34" charset="-120"/>
              </a:rPr>
              <a:t>-0.49 pts vs. baseline</a:t>
            </a:r>
            <a:endParaRPr lang="en-US" sz="1000" dirty="0"/>
          </a:p>
        </p:txBody>
      </p:sp>
      <p:sp>
        <p:nvSpPr>
          <p:cNvPr id="10" name="Shape 7"/>
          <p:cNvSpPr/>
          <p:nvPr/>
        </p:nvSpPr>
        <p:spPr>
          <a:xfrm>
            <a:off x="4251960" y="1828800"/>
            <a:ext cx="3429000" cy="3703320"/>
          </a:xfrm>
          <a:prstGeom prst="roundRect">
            <a:avLst>
              <a:gd name="adj" fmla="val 2400"/>
            </a:avLst>
          </a:prstGeom>
          <a:solidFill>
            <a:srgbClr val="0B1F3A"/>
          </a:solidFill>
          <a:ln w="12700">
            <a:solidFill>
              <a:srgbClr val="0B1F3A"/>
            </a:solidFill>
            <a:prstDash val="solid"/>
          </a:ln>
          <a:effectLst>
            <a:outerShdw sx="100000" sy="100000" kx="0" ky="0" algn="bl" rotWithShape="0" blurRad="177800" dist="38100" dir="2700000">
              <a:srgbClr val="0B1F3A">
                <a:alpha val="22000"/>
              </a:srgbClr>
            </a:outerShdw>
          </a:effectLst>
        </p:spPr>
      </p:sp>
      <p:sp>
        <p:nvSpPr>
          <p:cNvPr id="11" name="Text 8"/>
          <p:cNvSpPr/>
          <p:nvPr/>
        </p:nvSpPr>
        <p:spPr>
          <a:xfrm>
            <a:off x="4251960" y="2011680"/>
            <a:ext cx="3429000" cy="274320"/>
          </a:xfrm>
          <a:prstGeom prst="rect">
            <a:avLst/>
          </a:prstGeom>
          <a:noFill/>
          <a:ln/>
        </p:spPr>
        <p:txBody>
          <a:bodyPr wrap="square" lIns="0" tIns="0" rIns="0" bIns="0" rtlCol="0" anchor="ctr"/>
          <a:lstStyle/>
          <a:p>
            <a:pPr algn="ctr" indent="0" marL="0">
              <a:buNone/>
            </a:pPr>
            <a:r>
              <a:rPr lang="en-US" sz="1050" b="1" spc="150" kern="0" dirty="0">
                <a:solidFill>
                  <a:srgbClr val="FFB703"/>
                </a:solidFill>
                <a:latin typeface="Calibri" pitchFamily="34" charset="0"/>
                <a:ea typeface="Calibri" pitchFamily="34" charset="-122"/>
                <a:cs typeface="Calibri" pitchFamily="34" charset="-120"/>
              </a:rPr>
              <a:t>BEST MODEL</a:t>
            </a:r>
            <a:endParaRPr lang="en-US" sz="1050" dirty="0"/>
          </a:p>
        </p:txBody>
      </p:sp>
      <p:sp>
        <p:nvSpPr>
          <p:cNvPr id="12" name="Shape 9"/>
          <p:cNvSpPr/>
          <p:nvPr/>
        </p:nvSpPr>
        <p:spPr>
          <a:xfrm>
            <a:off x="5637276" y="2331720"/>
            <a:ext cx="658368" cy="658368"/>
          </a:xfrm>
          <a:prstGeom prst="ellipse">
            <a:avLst/>
          </a:prstGeom>
          <a:solidFill>
            <a:srgbClr val="00B4D8"/>
          </a:solidFill>
          <a:ln/>
          <a:effectLst>
            <a:outerShdw sx="100000" sy="100000" kx="0" ky="0" algn="bl" rotWithShape="0" blurRad="114300" dist="38100" dir="2700000">
              <a:srgbClr val="0B1F3A">
                <a:alpha val="14000"/>
              </a:srgbClr>
            </a:outerShdw>
          </a:effectLst>
        </p:spPr>
      </p:sp>
      <p:pic>
        <p:nvPicPr>
          <p:cNvPr id="13" name="Image 1" descr="/sessions/blissful-zealous-babbage/mnt/outputs/ppt/icons/wave_0B1F3A.png">    </p:cNvPr>
          <p:cNvPicPr>
            <a:picLocks noChangeAspect="1"/>
          </p:cNvPicPr>
          <p:nvPr/>
        </p:nvPicPr>
        <p:blipFill>
          <a:blip r:embed="rId2"/>
          <a:stretch>
            <a:fillRect/>
          </a:stretch>
        </p:blipFill>
        <p:spPr>
          <a:xfrm>
            <a:off x="5726156" y="2420600"/>
            <a:ext cx="480609" cy="480609"/>
          </a:xfrm>
          <a:prstGeom prst="rect">
            <a:avLst/>
          </a:prstGeom>
        </p:spPr>
      </p:pic>
      <p:sp>
        <p:nvSpPr>
          <p:cNvPr id="14" name="Text 10"/>
          <p:cNvSpPr/>
          <p:nvPr/>
        </p:nvSpPr>
        <p:spPr>
          <a:xfrm>
            <a:off x="4251960" y="3108960"/>
            <a:ext cx="3429000" cy="36576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RBF</a:t>
            </a:r>
            <a:endParaRPr lang="en-US" sz="1700" dirty="0"/>
          </a:p>
        </p:txBody>
      </p:sp>
      <p:sp>
        <p:nvSpPr>
          <p:cNvPr id="15" name="Text 11"/>
          <p:cNvSpPr/>
          <p:nvPr/>
        </p:nvSpPr>
        <p:spPr>
          <a:xfrm>
            <a:off x="4251960" y="3566160"/>
            <a:ext cx="3429000" cy="365760"/>
          </a:xfrm>
          <a:prstGeom prst="rect">
            <a:avLst/>
          </a:prstGeom>
          <a:noFill/>
          <a:ln/>
        </p:spPr>
        <p:txBody>
          <a:bodyPr wrap="square" lIns="0" tIns="0" rIns="0" bIns="0" rtlCol="0" anchor="ctr"/>
          <a:lstStyle/>
          <a:p>
            <a:pPr algn="ctr" indent="0" marL="0">
              <a:buNone/>
            </a:pPr>
            <a:r>
              <a:rPr lang="en-US" sz="1300" dirty="0">
                <a:solidFill>
                  <a:srgbClr val="8899B5"/>
                </a:solidFill>
                <a:latin typeface="Calibri" pitchFamily="34" charset="0"/>
                <a:ea typeface="Calibri" pitchFamily="34" charset="-122"/>
                <a:cs typeface="Calibri" pitchFamily="34" charset="-120"/>
              </a:rPr>
              <a:t>71.08%</a:t>
            </a:r>
            <a:pPr algn="ctr" indent="0" marL="0">
              <a:buNone/>
            </a:pPr>
            <a:r>
              <a:rPr lang="en-US" sz="1300" dirty="0">
                <a:solidFill>
                  <a:srgbClr val="8899B5"/>
                </a:solidFill>
                <a:latin typeface="Calibri" pitchFamily="34" charset="0"/>
                <a:ea typeface="Calibri" pitchFamily="34" charset="-122"/>
                <a:cs typeface="Calibri" pitchFamily="34" charset="-120"/>
              </a:rPr>
              <a:t>  -&gt;  </a:t>
            </a:r>
            <a:pPr algn="ctr" indent="0" marL="0">
              <a:buNone/>
            </a:pPr>
            <a:r>
              <a:rPr lang="en-US" sz="1300" b="1" dirty="0">
                <a:solidFill>
                  <a:srgbClr val="FFB703"/>
                </a:solidFill>
                <a:latin typeface="Calibri" pitchFamily="34" charset="0"/>
                <a:ea typeface="Calibri" pitchFamily="34" charset="-122"/>
                <a:cs typeface="Calibri" pitchFamily="34" charset="-120"/>
              </a:rPr>
              <a:t>78.43%</a:t>
            </a:r>
            <a:endParaRPr lang="en-US" sz="1300" dirty="0"/>
          </a:p>
        </p:txBody>
      </p:sp>
      <p:sp>
        <p:nvSpPr>
          <p:cNvPr id="16" name="Text 12"/>
          <p:cNvSpPr/>
          <p:nvPr/>
        </p:nvSpPr>
        <p:spPr>
          <a:xfrm>
            <a:off x="4251960" y="4023360"/>
            <a:ext cx="3429000" cy="320040"/>
          </a:xfrm>
          <a:prstGeom prst="rect">
            <a:avLst/>
          </a:prstGeom>
          <a:noFill/>
          <a:ln/>
        </p:spPr>
        <p:txBody>
          <a:bodyPr wrap="square" lIns="0" tIns="0" rIns="0" bIns="0" rtlCol="0" anchor="ctr"/>
          <a:lstStyle/>
          <a:p>
            <a:pPr algn="ctr" indent="0" marL="0">
              <a:buNone/>
            </a:pPr>
            <a:r>
              <a:rPr lang="en-US" sz="1000" dirty="0">
                <a:solidFill>
                  <a:srgbClr val="C9D6E8"/>
                </a:solidFill>
                <a:latin typeface="Calibri" pitchFamily="34" charset="0"/>
                <a:ea typeface="Calibri" pitchFamily="34" charset="-122"/>
                <a:cs typeface="Calibri" pitchFamily="34" charset="-120"/>
              </a:rPr>
              <a:t>+7.35 pts vs. baseline</a:t>
            </a:r>
            <a:endParaRPr lang="en-US" sz="1000" dirty="0"/>
          </a:p>
        </p:txBody>
      </p:sp>
      <p:sp>
        <p:nvSpPr>
          <p:cNvPr id="17" name="Shape 13"/>
          <p:cNvSpPr/>
          <p:nvPr/>
        </p:nvSpPr>
        <p:spPr>
          <a:xfrm>
            <a:off x="8001000" y="1828800"/>
            <a:ext cx="3429000" cy="3703320"/>
          </a:xfrm>
          <a:prstGeom prst="roundRect">
            <a:avLst>
              <a:gd name="adj" fmla="val 2400"/>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8" name="Shape 14"/>
          <p:cNvSpPr/>
          <p:nvPr/>
        </p:nvSpPr>
        <p:spPr>
          <a:xfrm>
            <a:off x="9386316" y="2103120"/>
            <a:ext cx="658368" cy="658368"/>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9" name="Image 2" descr="/sessions/blissful-zealous-babbage/mnt/outputs/ppt/icons/chartbar_00B4D8.png">    </p:cNvPr>
          <p:cNvPicPr>
            <a:picLocks noChangeAspect="1"/>
          </p:cNvPicPr>
          <p:nvPr/>
        </p:nvPicPr>
        <p:blipFill>
          <a:blip r:embed="rId3"/>
          <a:stretch>
            <a:fillRect/>
          </a:stretch>
        </p:blipFill>
        <p:spPr>
          <a:xfrm>
            <a:off x="9475196" y="2192000"/>
            <a:ext cx="480609" cy="480609"/>
          </a:xfrm>
          <a:prstGeom prst="rect">
            <a:avLst/>
          </a:prstGeom>
        </p:spPr>
      </p:pic>
      <p:sp>
        <p:nvSpPr>
          <p:cNvPr id="20" name="Text 15"/>
          <p:cNvSpPr/>
          <p:nvPr/>
        </p:nvSpPr>
        <p:spPr>
          <a:xfrm>
            <a:off x="8001000" y="2880360"/>
            <a:ext cx="3429000" cy="365760"/>
          </a:xfrm>
          <a:prstGeom prst="rect">
            <a:avLst/>
          </a:prstGeom>
          <a:noFill/>
          <a:ln/>
        </p:spPr>
        <p:txBody>
          <a:bodyPr wrap="square" lIns="0" tIns="0" rIns="0" bIns="0" rtlCol="0" anchor="ctr"/>
          <a:lstStyle/>
          <a:p>
            <a:pPr algn="ctr" indent="0" marL="0">
              <a:buNone/>
            </a:pPr>
            <a:r>
              <a:rPr lang="en-US" sz="1700" b="1" dirty="0">
                <a:solidFill>
                  <a:srgbClr val="0B1F3A"/>
                </a:solidFill>
                <a:latin typeface="Cambria" pitchFamily="34" charset="0"/>
                <a:ea typeface="Cambria" pitchFamily="34" charset="-122"/>
                <a:cs typeface="Cambria" pitchFamily="34" charset="-120"/>
              </a:rPr>
              <a:t>Polynomial</a:t>
            </a:r>
            <a:endParaRPr lang="en-US" sz="1700" dirty="0"/>
          </a:p>
        </p:txBody>
      </p:sp>
      <p:sp>
        <p:nvSpPr>
          <p:cNvPr id="21" name="Text 16"/>
          <p:cNvSpPr/>
          <p:nvPr/>
        </p:nvSpPr>
        <p:spPr>
          <a:xfrm>
            <a:off x="8001000" y="3337560"/>
            <a:ext cx="3429000" cy="365760"/>
          </a:xfrm>
          <a:prstGeom prst="rect">
            <a:avLst/>
          </a:prstGeom>
          <a:noFill/>
          <a:ln/>
        </p:spPr>
        <p:txBody>
          <a:bodyPr wrap="square" lIns="0" tIns="0" rIns="0" bIns="0" rtlCol="0" anchor="ctr"/>
          <a:lstStyle/>
          <a:p>
            <a:pPr algn="ctr" indent="0" marL="0">
              <a:buNone/>
            </a:pPr>
            <a:r>
              <a:rPr lang="en-US" sz="1300" dirty="0">
                <a:solidFill>
                  <a:srgbClr val="9FB1C8"/>
                </a:solidFill>
                <a:latin typeface="Calibri" pitchFamily="34" charset="0"/>
                <a:ea typeface="Calibri" pitchFamily="34" charset="-122"/>
                <a:cs typeface="Calibri" pitchFamily="34" charset="-120"/>
              </a:rPr>
              <a:t>75.49%</a:t>
            </a:r>
            <a:pPr algn="ctr" indent="0" marL="0">
              <a:buNone/>
            </a:pPr>
            <a:r>
              <a:rPr lang="en-US" sz="1300" dirty="0">
                <a:solidFill>
                  <a:srgbClr val="9FB1C8"/>
                </a:solidFill>
                <a:latin typeface="Calibri" pitchFamily="34" charset="0"/>
                <a:ea typeface="Calibri" pitchFamily="34" charset="-122"/>
                <a:cs typeface="Calibri" pitchFamily="34" charset="-120"/>
              </a:rPr>
              <a:t>  -&gt;  </a:t>
            </a:r>
            <a:pPr algn="ctr" indent="0" marL="0">
              <a:buNone/>
            </a:pPr>
            <a:r>
              <a:rPr lang="en-US" sz="1300" b="1" dirty="0">
                <a:solidFill>
                  <a:srgbClr val="0B1F3A"/>
                </a:solidFill>
                <a:latin typeface="Calibri" pitchFamily="34" charset="0"/>
                <a:ea typeface="Calibri" pitchFamily="34" charset="-122"/>
                <a:cs typeface="Calibri" pitchFamily="34" charset="-120"/>
              </a:rPr>
              <a:t>77.94%</a:t>
            </a:r>
            <a:endParaRPr lang="en-US" sz="1300" dirty="0"/>
          </a:p>
        </p:txBody>
      </p:sp>
      <p:sp>
        <p:nvSpPr>
          <p:cNvPr id="22" name="Text 17"/>
          <p:cNvSpPr/>
          <p:nvPr/>
        </p:nvSpPr>
        <p:spPr>
          <a:xfrm>
            <a:off x="8001000" y="3794760"/>
            <a:ext cx="3429000" cy="320040"/>
          </a:xfrm>
          <a:prstGeom prst="rect">
            <a:avLst/>
          </a:prstGeom>
          <a:noFill/>
          <a:ln/>
        </p:spPr>
        <p:txBody>
          <a:bodyPr wrap="square" lIns="0" tIns="0" rIns="0" bIns="0" rtlCol="0" anchor="ctr"/>
          <a:lstStyle/>
          <a:p>
            <a:pPr algn="ctr" indent="0" marL="0">
              <a:buNone/>
            </a:pPr>
            <a:r>
              <a:rPr lang="en-US" sz="1000" dirty="0">
                <a:solidFill>
                  <a:srgbClr val="5EAE7A"/>
                </a:solidFill>
                <a:latin typeface="Calibri" pitchFamily="34" charset="0"/>
                <a:ea typeface="Calibri" pitchFamily="34" charset="-122"/>
                <a:cs typeface="Calibri" pitchFamily="34" charset="-120"/>
              </a:rPr>
              <a:t>+2.45 pts vs. baseline</a:t>
            </a:r>
            <a:endParaRPr lang="en-US" sz="1000" dirty="0"/>
          </a:p>
        </p:txBody>
      </p:sp>
      <p:sp>
        <p:nvSpPr>
          <p:cNvPr id="23" name="Text 18"/>
          <p:cNvSpPr/>
          <p:nvPr/>
        </p:nvSpPr>
        <p:spPr>
          <a:xfrm>
            <a:off x="502920" y="5669280"/>
            <a:ext cx="10607040" cy="640080"/>
          </a:xfrm>
          <a:prstGeom prst="rect">
            <a:avLst/>
          </a:prstGeom>
          <a:noFill/>
          <a:ln/>
        </p:spPr>
        <p:txBody>
          <a:bodyPr wrap="square" lIns="0" tIns="0" rIns="0" bIns="0" rtlCol="0" anchor="ctr"/>
          <a:lstStyle/>
          <a:p>
            <a:pPr indent="0" marL="0">
              <a:lnSpc>
                <a:spcPct val="122000"/>
              </a:lnSpc>
              <a:buNone/>
            </a:pPr>
            <a:r>
              <a:rPr lang="en-US" sz="1030" b="1" dirty="0">
                <a:solidFill>
                  <a:srgbClr val="0B1F3A"/>
                </a:solidFill>
                <a:latin typeface="Calibri" pitchFamily="34" charset="0"/>
                <a:ea typeface="Calibri" pitchFamily="34" charset="-122"/>
                <a:cs typeface="Calibri" pitchFamily="34" charset="-120"/>
              </a:rPr>
              <a:t>Note: </a:t>
            </a:r>
            <a:pPr indent="0" marL="0">
              <a:lnSpc>
                <a:spcPct val="122000"/>
              </a:lnSpc>
              <a:buNone/>
            </a:pPr>
            <a:r>
              <a:rPr lang="en-US" sz="1030" dirty="0">
                <a:solidFill>
                  <a:srgbClr val="64748B"/>
                </a:solidFill>
                <a:latin typeface="Calibri" pitchFamily="34" charset="0"/>
                <a:ea typeface="Calibri" pitchFamily="34" charset="-122"/>
                <a:cs typeface="Calibri" pitchFamily="34" charset="-120"/>
              </a:rPr>
              <a:t>the topology-aware correction rule (Section 6) is applied uniformly to all six numbers above, so these deltas isolate the effect of GridSearchCV tuning alone. Linear barely moves (and even dips slightly) because it was already close to its ceiling; RBF gains the most because its default gamma was poorly matched to the data.</a:t>
            </a:r>
            <a:endParaRPr lang="en-US" sz="1030" dirty="0"/>
          </a:p>
        </p:txBody>
      </p:sp>
      <p:sp>
        <p:nvSpPr>
          <p:cNvPr id="24" name="Text 19"/>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5" name="Text 20"/>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6. THE SMART FIXES · PART 1</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Diagnosing a Blind Spot: RC_open vs. RC_short</a:t>
            </a:r>
            <a:endParaRPr lang="en-US" sz="3000" dirty="0"/>
          </a:p>
        </p:txBody>
      </p:sp>
      <p:sp>
        <p:nvSpPr>
          <p:cNvPr id="4" name="Text 2"/>
          <p:cNvSpPr/>
          <p:nvPr/>
        </p:nvSpPr>
        <p:spPr>
          <a:xfrm>
            <a:off x="502920" y="1783080"/>
            <a:ext cx="10607040" cy="914400"/>
          </a:xfrm>
          <a:prstGeom prst="rect">
            <a:avLst/>
          </a:prstGeom>
          <a:noFill/>
          <a:ln/>
        </p:spPr>
        <p:txBody>
          <a:bodyPr wrap="square" lIns="0" tIns="0" rIns="0" bIns="0" rtlCol="0" anchor="ctr"/>
          <a:lstStyle/>
          <a:p>
            <a:pPr indent="0" marL="0">
              <a:lnSpc>
                <a:spcPct val="130000"/>
              </a:lnSpc>
              <a:buNone/>
            </a:pPr>
            <a:r>
              <a:rPr lang="en-US" sz="1350" dirty="0">
                <a:solidFill>
                  <a:srgbClr val="1E293B"/>
                </a:solidFill>
                <a:latin typeface="Calibri" pitchFamily="34" charset="0"/>
                <a:ea typeface="Calibri" pitchFamily="34" charset="-122"/>
                <a:cs typeface="Calibri" pitchFamily="34" charset="-120"/>
              </a:rPr>
              <a:t>With the original 16 features, RC_open and RC_short were completely confused — </a:t>
            </a:r>
            <a:pPr indent="0" marL="0">
              <a:lnSpc>
                <a:spcPct val="130000"/>
              </a:lnSpc>
              <a:buNone/>
            </a:pPr>
            <a:r>
              <a:rPr lang="en-US" sz="1350" b="1" dirty="0">
                <a:solidFill>
                  <a:srgbClr val="D9695F"/>
                </a:solidFill>
                <a:latin typeface="Calibri" pitchFamily="34" charset="0"/>
                <a:ea typeface="Calibri" pitchFamily="34" charset="-122"/>
                <a:cs typeface="Calibri" pitchFamily="34" charset="-120"/>
              </a:rPr>
              <a:t>F1 = 0.000</a:t>
            </a:r>
            <a:pPr indent="0" marL="0">
              <a:lnSpc>
                <a:spcPct val="130000"/>
              </a:lnSpc>
              <a:buNone/>
            </a:pPr>
            <a:r>
              <a:rPr lang="en-US" sz="1350" dirty="0">
                <a:solidFill>
                  <a:srgbClr val="1E293B"/>
                </a:solidFill>
                <a:latin typeface="Calibri" pitchFamily="34" charset="0"/>
                <a:ea typeface="Calibri" pitchFamily="34" charset="-122"/>
                <a:cs typeface="Calibri" pitchFamily="34" charset="-120"/>
              </a:rPr>
              <a:t>. The fix came from a very direct diagnostic: compare the mean of each feature between the two classes and look for the biggest gap.</a:t>
            </a:r>
            <a:endParaRPr lang="en-US" sz="1350" dirty="0"/>
          </a:p>
        </p:txBody>
      </p:sp>
      <p:sp>
        <p:nvSpPr>
          <p:cNvPr id="5" name="Shape 3"/>
          <p:cNvSpPr/>
          <p:nvPr/>
        </p:nvSpPr>
        <p:spPr>
          <a:xfrm>
            <a:off x="502920" y="2880360"/>
            <a:ext cx="10607040" cy="548640"/>
          </a:xfrm>
          <a:prstGeom prst="roundRect">
            <a:avLst>
              <a:gd name="adj" fmla="val 10000"/>
            </a:avLst>
          </a:prstGeom>
          <a:solidFill>
            <a:srgbClr val="0B1F3A"/>
          </a:solidFill>
          <a:ln/>
        </p:spPr>
      </p:sp>
      <p:sp>
        <p:nvSpPr>
          <p:cNvPr id="6" name="Text 4"/>
          <p:cNvSpPr/>
          <p:nvPr/>
        </p:nvSpPr>
        <p:spPr>
          <a:xfrm>
            <a:off x="502920" y="2880360"/>
            <a:ext cx="2743200" cy="548640"/>
          </a:xfrm>
          <a:prstGeom prst="rect">
            <a:avLst/>
          </a:prstGeom>
          <a:noFill/>
          <a:ln/>
        </p:spPr>
        <p:txBody>
          <a:bodyPr wrap="square" lIns="0" tIns="177800" rIns="0" bIns="0" rtlCol="0" anchor="ctr"/>
          <a:lstStyle/>
          <a:p>
            <a:pPr algn="l" indent="0" marL="0">
              <a:buNone/>
            </a:pPr>
            <a:r>
              <a:rPr lang="en-US" sz="1200" b="1" dirty="0">
                <a:solidFill>
                  <a:srgbClr val="FFFFFF"/>
                </a:solidFill>
                <a:latin typeface="Calibri" pitchFamily="34" charset="0"/>
                <a:ea typeface="Calibri" pitchFamily="34" charset="-122"/>
                <a:cs typeface="Calibri" pitchFamily="34" charset="-120"/>
              </a:rPr>
              <a:t>Feature</a:t>
            </a:r>
            <a:endParaRPr lang="en-US" sz="1200" dirty="0"/>
          </a:p>
        </p:txBody>
      </p:sp>
      <p:sp>
        <p:nvSpPr>
          <p:cNvPr id="7" name="Text 5"/>
          <p:cNvSpPr/>
          <p:nvPr/>
        </p:nvSpPr>
        <p:spPr>
          <a:xfrm>
            <a:off x="3246120" y="2880360"/>
            <a:ext cx="274320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RC_open mean</a:t>
            </a:r>
            <a:endParaRPr lang="en-US" sz="1200" dirty="0"/>
          </a:p>
        </p:txBody>
      </p:sp>
      <p:sp>
        <p:nvSpPr>
          <p:cNvPr id="8" name="Text 6"/>
          <p:cNvSpPr/>
          <p:nvPr/>
        </p:nvSpPr>
        <p:spPr>
          <a:xfrm>
            <a:off x="5989320" y="2880360"/>
            <a:ext cx="274320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RC_short mean</a:t>
            </a:r>
            <a:endParaRPr lang="en-US" sz="1200" dirty="0"/>
          </a:p>
        </p:txBody>
      </p:sp>
      <p:sp>
        <p:nvSpPr>
          <p:cNvPr id="9" name="Text 7"/>
          <p:cNvSpPr/>
          <p:nvPr/>
        </p:nvSpPr>
        <p:spPr>
          <a:xfrm>
            <a:off x="8732520" y="2880360"/>
            <a:ext cx="237744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Separable?</a:t>
            </a:r>
            <a:endParaRPr lang="en-US" sz="1200" dirty="0"/>
          </a:p>
        </p:txBody>
      </p:sp>
      <p:sp>
        <p:nvSpPr>
          <p:cNvPr id="10" name="Shape 8"/>
          <p:cNvSpPr/>
          <p:nvPr/>
        </p:nvSpPr>
        <p:spPr>
          <a:xfrm>
            <a:off x="502920" y="3429000"/>
            <a:ext cx="10607040" cy="548640"/>
          </a:xfrm>
          <a:prstGeom prst="rect">
            <a:avLst/>
          </a:prstGeom>
          <a:solidFill>
            <a:srgbClr val="FFFFFF"/>
          </a:solidFill>
          <a:ln w="9525">
            <a:solidFill>
              <a:srgbClr val="E4E9F1"/>
            </a:solidFill>
            <a:prstDash val="solid"/>
          </a:ln>
        </p:spPr>
      </p:sp>
      <p:sp>
        <p:nvSpPr>
          <p:cNvPr id="11" name="Text 9"/>
          <p:cNvSpPr/>
          <p:nvPr/>
        </p:nvSpPr>
        <p:spPr>
          <a:xfrm>
            <a:off x="502920" y="3429000"/>
            <a:ext cx="2743200" cy="548640"/>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peak_voltage</a:t>
            </a:r>
            <a:endParaRPr lang="en-US" sz="1200" dirty="0"/>
          </a:p>
        </p:txBody>
      </p:sp>
      <p:sp>
        <p:nvSpPr>
          <p:cNvPr id="12" name="Text 10"/>
          <p:cNvSpPr/>
          <p:nvPr/>
        </p:nvSpPr>
        <p:spPr>
          <a:xfrm>
            <a:off x="3246120" y="3429000"/>
            <a:ext cx="2743200" cy="548640"/>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~0.02 V</a:t>
            </a:r>
            <a:endParaRPr lang="en-US" sz="1200" dirty="0"/>
          </a:p>
        </p:txBody>
      </p:sp>
      <p:sp>
        <p:nvSpPr>
          <p:cNvPr id="13" name="Text 11"/>
          <p:cNvSpPr/>
          <p:nvPr/>
        </p:nvSpPr>
        <p:spPr>
          <a:xfrm>
            <a:off x="5989320" y="3429000"/>
            <a:ext cx="2743200" cy="548640"/>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~5.00 V</a:t>
            </a:r>
            <a:endParaRPr lang="en-US" sz="1200" dirty="0"/>
          </a:p>
        </p:txBody>
      </p:sp>
      <p:sp>
        <p:nvSpPr>
          <p:cNvPr id="14" name="Text 12"/>
          <p:cNvSpPr/>
          <p:nvPr/>
        </p:nvSpPr>
        <p:spPr>
          <a:xfrm>
            <a:off x="8732520" y="3429000"/>
            <a:ext cx="2377440" cy="548640"/>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Yes — but noisy</a:t>
            </a:r>
            <a:endParaRPr lang="en-US" sz="1200" dirty="0"/>
          </a:p>
        </p:txBody>
      </p:sp>
      <p:sp>
        <p:nvSpPr>
          <p:cNvPr id="15" name="Shape 13"/>
          <p:cNvSpPr/>
          <p:nvPr/>
        </p:nvSpPr>
        <p:spPr>
          <a:xfrm>
            <a:off x="502920" y="3977640"/>
            <a:ext cx="10607040" cy="548640"/>
          </a:xfrm>
          <a:prstGeom prst="rect">
            <a:avLst/>
          </a:prstGeom>
          <a:solidFill>
            <a:srgbClr val="EEF2F7"/>
          </a:solidFill>
          <a:ln w="9525">
            <a:solidFill>
              <a:srgbClr val="E4E9F1"/>
            </a:solidFill>
            <a:prstDash val="solid"/>
          </a:ln>
        </p:spPr>
      </p:sp>
      <p:sp>
        <p:nvSpPr>
          <p:cNvPr id="16" name="Text 14"/>
          <p:cNvSpPr/>
          <p:nvPr/>
        </p:nvSpPr>
        <p:spPr>
          <a:xfrm>
            <a:off x="502920" y="3977640"/>
            <a:ext cx="2743200" cy="548640"/>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rise_time</a:t>
            </a:r>
            <a:endParaRPr lang="en-US" sz="1200" dirty="0"/>
          </a:p>
        </p:txBody>
      </p:sp>
      <p:sp>
        <p:nvSpPr>
          <p:cNvPr id="17" name="Text 15"/>
          <p:cNvSpPr/>
          <p:nvPr/>
        </p:nvSpPr>
        <p:spPr>
          <a:xfrm>
            <a:off x="3246120" y="3977640"/>
            <a:ext cx="2743200" cy="548640"/>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~0.095 s (never rises)</a:t>
            </a:r>
            <a:endParaRPr lang="en-US" sz="1200" dirty="0"/>
          </a:p>
        </p:txBody>
      </p:sp>
      <p:sp>
        <p:nvSpPr>
          <p:cNvPr id="18" name="Text 16"/>
          <p:cNvSpPr/>
          <p:nvPr/>
        </p:nvSpPr>
        <p:spPr>
          <a:xfrm>
            <a:off x="5989320" y="3977640"/>
            <a:ext cx="2743200" cy="548640"/>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~0.000002 s (instant)</a:t>
            </a:r>
            <a:endParaRPr lang="en-US" sz="1200" dirty="0"/>
          </a:p>
        </p:txBody>
      </p:sp>
      <p:sp>
        <p:nvSpPr>
          <p:cNvPr id="19" name="Text 17"/>
          <p:cNvSpPr/>
          <p:nvPr/>
        </p:nvSpPr>
        <p:spPr>
          <a:xfrm>
            <a:off x="8732520" y="3977640"/>
            <a:ext cx="2377440" cy="548640"/>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Marginal</a:t>
            </a:r>
            <a:endParaRPr lang="en-US" sz="1200" dirty="0"/>
          </a:p>
        </p:txBody>
      </p:sp>
      <p:sp>
        <p:nvSpPr>
          <p:cNvPr id="20" name="Shape 18"/>
          <p:cNvSpPr/>
          <p:nvPr/>
        </p:nvSpPr>
        <p:spPr>
          <a:xfrm>
            <a:off x="502920" y="4526280"/>
            <a:ext cx="10607040" cy="548640"/>
          </a:xfrm>
          <a:prstGeom prst="rect">
            <a:avLst/>
          </a:prstGeom>
          <a:solidFill>
            <a:srgbClr val="FFFFFF"/>
          </a:solidFill>
          <a:ln w="9525">
            <a:solidFill>
              <a:srgbClr val="E4E9F1"/>
            </a:solidFill>
            <a:prstDash val="solid"/>
          </a:ln>
        </p:spPr>
      </p:sp>
      <p:sp>
        <p:nvSpPr>
          <p:cNvPr id="21" name="Text 19"/>
          <p:cNvSpPr/>
          <p:nvPr/>
        </p:nvSpPr>
        <p:spPr>
          <a:xfrm>
            <a:off x="502920" y="4526280"/>
            <a:ext cx="2743200" cy="548640"/>
          </a:xfrm>
          <a:prstGeom prst="rect">
            <a:avLst/>
          </a:prstGeom>
          <a:noFill/>
          <a:ln/>
        </p:spPr>
        <p:txBody>
          <a:bodyPr wrap="square" lIns="0" tIns="177800" rIns="0" bIns="0" rtlCol="0" anchor="ctr"/>
          <a:lstStyle/>
          <a:p>
            <a:pPr algn="l" indent="0" marL="0">
              <a:buNone/>
            </a:pPr>
            <a:r>
              <a:rPr lang="en-US" sz="1200" b="1" dirty="0">
                <a:solidFill>
                  <a:srgbClr val="1E293B"/>
                </a:solidFill>
                <a:latin typeface="Calibri" pitchFamily="34" charset="0"/>
                <a:ea typeface="Calibri" pitchFamily="34" charset="-122"/>
                <a:cs typeface="Calibri" pitchFamily="34" charset="-120"/>
              </a:rPr>
              <a:t>dc_level (new)</a:t>
            </a:r>
            <a:endParaRPr lang="en-US" sz="1200" dirty="0"/>
          </a:p>
        </p:txBody>
      </p:sp>
      <p:sp>
        <p:nvSpPr>
          <p:cNvPr id="22" name="Text 20"/>
          <p:cNvSpPr/>
          <p:nvPr/>
        </p:nvSpPr>
        <p:spPr>
          <a:xfrm>
            <a:off x="3246120" y="4526280"/>
            <a:ext cx="2743200" cy="548640"/>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~0.02 V</a:t>
            </a:r>
            <a:endParaRPr lang="en-US" sz="1200" dirty="0"/>
          </a:p>
        </p:txBody>
      </p:sp>
      <p:sp>
        <p:nvSpPr>
          <p:cNvPr id="23" name="Text 21"/>
          <p:cNvSpPr/>
          <p:nvPr/>
        </p:nvSpPr>
        <p:spPr>
          <a:xfrm>
            <a:off x="5989320" y="4526280"/>
            <a:ext cx="2743200" cy="548640"/>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~5.00 V</a:t>
            </a:r>
            <a:endParaRPr lang="en-US" sz="1200" dirty="0"/>
          </a:p>
        </p:txBody>
      </p:sp>
      <p:sp>
        <p:nvSpPr>
          <p:cNvPr id="24" name="Text 22"/>
          <p:cNvSpPr/>
          <p:nvPr/>
        </p:nvSpPr>
        <p:spPr>
          <a:xfrm>
            <a:off x="8732520" y="4526280"/>
            <a:ext cx="2377440" cy="548640"/>
          </a:xfrm>
          <a:prstGeom prst="rect">
            <a:avLst/>
          </a:prstGeom>
          <a:noFill/>
          <a:ln/>
        </p:spPr>
        <p:txBody>
          <a:bodyPr wrap="square" lIns="0" tIns="0" rIns="0" bIns="0" rtlCol="0" anchor="ctr"/>
          <a:lstStyle/>
          <a:p>
            <a:pPr algn="ctr" indent="0" marL="0">
              <a:buNone/>
            </a:pPr>
            <a:r>
              <a:rPr lang="en-US" sz="1200" dirty="0">
                <a:solidFill>
                  <a:srgbClr val="1E293B"/>
                </a:solidFill>
                <a:latin typeface="Calibri" pitchFamily="34" charset="0"/>
                <a:ea typeface="Calibri" pitchFamily="34" charset="-122"/>
                <a:cs typeface="Calibri" pitchFamily="34" charset="-120"/>
              </a:rPr>
              <a:t>Yes — cleanly</a:t>
            </a:r>
            <a:endParaRPr lang="en-US" sz="1200" dirty="0"/>
          </a:p>
        </p:txBody>
      </p:sp>
      <p:sp>
        <p:nvSpPr>
          <p:cNvPr id="25" name="Text 23"/>
          <p:cNvSpPr/>
          <p:nvPr/>
        </p:nvSpPr>
        <p:spPr>
          <a:xfrm>
            <a:off x="502920" y="4892040"/>
            <a:ext cx="10607040" cy="548640"/>
          </a:xfrm>
          <a:prstGeom prst="rect">
            <a:avLst/>
          </a:prstGeom>
          <a:noFill/>
          <a:ln/>
        </p:spPr>
        <p:txBody>
          <a:bodyPr wrap="square" lIns="0" tIns="0" rIns="0" bIns="0" rtlCol="0" anchor="ctr"/>
          <a:lstStyle/>
          <a:p>
            <a:pPr indent="0" marL="0">
              <a:lnSpc>
                <a:spcPct val="120000"/>
              </a:lnSpc>
              <a:buNone/>
            </a:pPr>
            <a:r>
              <a:rPr lang="en-US" sz="1150" i="1" dirty="0">
                <a:solidFill>
                  <a:srgbClr val="64748B"/>
                </a:solidFill>
                <a:latin typeface="Calibri" pitchFamily="34" charset="0"/>
                <a:ea typeface="Calibri" pitchFamily="34" charset="-122"/>
                <a:cs typeface="Calibri" pitchFamily="34" charset="-120"/>
              </a:rPr>
              <a:t>Both circuits settle to a flat line by the end of the observation window — the existing features just weren't capturing where that flat line actually sat.</a:t>
            </a:r>
            <a:endParaRPr lang="en-US" sz="1150" dirty="0"/>
          </a:p>
        </p:txBody>
      </p:sp>
      <p:sp>
        <p:nvSpPr>
          <p:cNvPr id="26" name="Text 24"/>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7" name="Text 25"/>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6. THE SMART FIXES · PART 1</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The Fix: A 17th Feature, dc_level</a:t>
            </a:r>
            <a:endParaRPr lang="en-US" sz="3000" dirty="0"/>
          </a:p>
        </p:txBody>
      </p:sp>
      <p:sp>
        <p:nvSpPr>
          <p:cNvPr id="4" name="Shape 2"/>
          <p:cNvSpPr/>
          <p:nvPr/>
        </p:nvSpPr>
        <p:spPr>
          <a:xfrm>
            <a:off x="502920" y="1783080"/>
            <a:ext cx="10607040" cy="1051560"/>
          </a:xfrm>
          <a:prstGeom prst="roundRect">
            <a:avLst>
              <a:gd name="adj" fmla="val 6957"/>
            </a:avLst>
          </a:prstGeom>
          <a:solidFill>
            <a:srgbClr val="0B1F3A"/>
          </a:solidFill>
          <a:ln/>
          <a:effectLst>
            <a:outerShdw sx="100000" sy="100000" kx="0" ky="0" algn="bl" rotWithShape="0" blurRad="114300" dist="38100" dir="2700000">
              <a:srgbClr val="0B1F3A">
                <a:alpha val="14000"/>
              </a:srgbClr>
            </a:outerShdw>
          </a:effectLst>
        </p:spPr>
      </p:sp>
      <p:sp>
        <p:nvSpPr>
          <p:cNvPr id="5" name="Text 3"/>
          <p:cNvSpPr/>
          <p:nvPr/>
        </p:nvSpPr>
        <p:spPr>
          <a:xfrm>
            <a:off x="777240" y="1920240"/>
            <a:ext cx="10058400" cy="777240"/>
          </a:xfrm>
          <a:prstGeom prst="rect">
            <a:avLst/>
          </a:prstGeom>
          <a:noFill/>
          <a:ln/>
        </p:spPr>
        <p:txBody>
          <a:bodyPr wrap="square" lIns="0" tIns="0" rIns="0" bIns="0" rtlCol="0" anchor="ctr"/>
          <a:lstStyle/>
          <a:p>
            <a:pPr algn="l" indent="0" marL="0">
              <a:lnSpc>
                <a:spcPct val="140000"/>
              </a:lnSpc>
              <a:buNone/>
            </a:pPr>
            <a:r>
              <a:rPr lang="en-US" sz="1500" dirty="0">
                <a:solidFill>
                  <a:srgbClr val="E7ECF4"/>
                </a:solidFill>
                <a:latin typeface="Courier New" pitchFamily="34" charset="0"/>
                <a:ea typeface="Courier New" pitchFamily="34" charset="-122"/>
                <a:cs typeface="Courier New" pitchFamily="34" charset="-120"/>
              </a:rPr>
              <a:t>f17_dc_level = mean( v[-20:] )     # last 20 samples of the waveform</a:t>
            </a:r>
            <a:endParaRPr lang="en-US" sz="1500" dirty="0"/>
          </a:p>
        </p:txBody>
      </p:sp>
      <p:sp>
        <p:nvSpPr>
          <p:cNvPr id="6" name="Shape 4"/>
          <p:cNvSpPr/>
          <p:nvPr/>
        </p:nvSpPr>
        <p:spPr>
          <a:xfrm>
            <a:off x="502920" y="3063240"/>
            <a:ext cx="5166360" cy="2880360"/>
          </a:xfrm>
          <a:prstGeom prst="roundRect">
            <a:avLst>
              <a:gd name="adj" fmla="val 2857"/>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7" name="Shape 5"/>
          <p:cNvSpPr/>
          <p:nvPr/>
        </p:nvSpPr>
        <p:spPr>
          <a:xfrm>
            <a:off x="777240" y="3337560"/>
            <a:ext cx="548640" cy="54864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8" name="Image 0" descr="/sessions/blissful-zealous-babbage/mnt/outputs/ppt/icons/plug_00B4D8.png">    </p:cNvPr>
          <p:cNvPicPr>
            <a:picLocks noChangeAspect="1"/>
          </p:cNvPicPr>
          <p:nvPr/>
        </p:nvPicPr>
        <p:blipFill>
          <a:blip r:embed="rId1"/>
          <a:stretch>
            <a:fillRect/>
          </a:stretch>
        </p:blipFill>
        <p:spPr>
          <a:xfrm>
            <a:off x="851306" y="3411626"/>
            <a:ext cx="400507" cy="400507"/>
          </a:xfrm>
          <a:prstGeom prst="rect">
            <a:avLst/>
          </a:prstGeom>
        </p:spPr>
      </p:pic>
      <p:sp>
        <p:nvSpPr>
          <p:cNvPr id="9" name="Text 6"/>
          <p:cNvSpPr/>
          <p:nvPr/>
        </p:nvSpPr>
        <p:spPr>
          <a:xfrm>
            <a:off x="1463040" y="3383280"/>
            <a:ext cx="3977640" cy="45720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RC_open</a:t>
            </a:r>
            <a:endParaRPr lang="en-US" sz="1600" dirty="0"/>
          </a:p>
        </p:txBody>
      </p:sp>
      <p:sp>
        <p:nvSpPr>
          <p:cNvPr id="10" name="Text 7"/>
          <p:cNvSpPr/>
          <p:nvPr/>
        </p:nvSpPr>
        <p:spPr>
          <a:xfrm>
            <a:off x="777240" y="4023360"/>
            <a:ext cx="4617720" cy="1645920"/>
          </a:xfrm>
          <a:prstGeom prst="rect">
            <a:avLst/>
          </a:prstGeom>
          <a:noFill/>
          <a:ln/>
        </p:spPr>
        <p:txBody>
          <a:bodyPr wrap="square" lIns="0" tIns="0" rIns="0" bIns="0" rtlCol="0" anchor="ctr"/>
          <a:lstStyle/>
          <a:p>
            <a:pPr indent="0" marL="0">
              <a:lnSpc>
                <a:spcPct val="130000"/>
              </a:lnSpc>
              <a:buNone/>
            </a:pPr>
            <a:r>
              <a:rPr lang="en-US" sz="1150" dirty="0">
                <a:solidFill>
                  <a:srgbClr val="64748B"/>
                </a:solidFill>
                <a:latin typeface="Calibri" pitchFamily="34" charset="0"/>
                <a:ea typeface="Calibri" pitchFamily="34" charset="-122"/>
                <a:cs typeface="Calibri" pitchFamily="34" charset="-120"/>
              </a:rPr>
              <a:t>Never charges within the 95ms window, so its steady-state DC level sits near 0V.</a:t>
            </a:r>
            <a:endParaRPr lang="en-US" sz="1150" dirty="0"/>
          </a:p>
        </p:txBody>
      </p:sp>
      <p:sp>
        <p:nvSpPr>
          <p:cNvPr id="11" name="Shape 8"/>
          <p:cNvSpPr/>
          <p:nvPr/>
        </p:nvSpPr>
        <p:spPr>
          <a:xfrm>
            <a:off x="6126480" y="3063240"/>
            <a:ext cx="5166360" cy="2880360"/>
          </a:xfrm>
          <a:prstGeom prst="roundRect">
            <a:avLst>
              <a:gd name="adj" fmla="val 2857"/>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2" name="Shape 9"/>
          <p:cNvSpPr/>
          <p:nvPr/>
        </p:nvSpPr>
        <p:spPr>
          <a:xfrm>
            <a:off x="6400800" y="3337560"/>
            <a:ext cx="548640" cy="548640"/>
          </a:xfrm>
          <a:prstGeom prst="ellipse">
            <a:avLst/>
          </a:prstGeom>
          <a:solidFill>
            <a:srgbClr val="D9695F"/>
          </a:solidFill>
          <a:ln/>
          <a:effectLst>
            <a:outerShdw sx="100000" sy="100000" kx="0" ky="0" algn="bl" rotWithShape="0" blurRad="114300" dist="38100" dir="2700000">
              <a:srgbClr val="0B1F3A">
                <a:alpha val="14000"/>
              </a:srgbClr>
            </a:outerShdw>
          </a:effectLst>
        </p:spPr>
      </p:sp>
      <p:pic>
        <p:nvPicPr>
          <p:cNvPr id="13" name="Image 1" descr="/sessions/blissful-zealous-babbage/mnt/outputs/ppt/icons/bolt_FFFFFF.png">    </p:cNvPr>
          <p:cNvPicPr>
            <a:picLocks noChangeAspect="1"/>
          </p:cNvPicPr>
          <p:nvPr/>
        </p:nvPicPr>
        <p:blipFill>
          <a:blip r:embed="rId2"/>
          <a:stretch>
            <a:fillRect/>
          </a:stretch>
        </p:blipFill>
        <p:spPr>
          <a:xfrm>
            <a:off x="6474866" y="3411626"/>
            <a:ext cx="400507" cy="400507"/>
          </a:xfrm>
          <a:prstGeom prst="rect">
            <a:avLst/>
          </a:prstGeom>
        </p:spPr>
      </p:pic>
      <p:sp>
        <p:nvSpPr>
          <p:cNvPr id="14" name="Text 10"/>
          <p:cNvSpPr/>
          <p:nvPr/>
        </p:nvSpPr>
        <p:spPr>
          <a:xfrm>
            <a:off x="7086600" y="3383280"/>
            <a:ext cx="3977640" cy="45720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RC_short</a:t>
            </a:r>
            <a:endParaRPr lang="en-US" sz="1600" dirty="0"/>
          </a:p>
        </p:txBody>
      </p:sp>
      <p:sp>
        <p:nvSpPr>
          <p:cNvPr id="15" name="Text 11"/>
          <p:cNvSpPr/>
          <p:nvPr/>
        </p:nvSpPr>
        <p:spPr>
          <a:xfrm>
            <a:off x="6400800" y="4023360"/>
            <a:ext cx="4617720" cy="1645920"/>
          </a:xfrm>
          <a:prstGeom prst="rect">
            <a:avLst/>
          </a:prstGeom>
          <a:noFill/>
          <a:ln/>
        </p:spPr>
        <p:txBody>
          <a:bodyPr wrap="square" lIns="0" tIns="0" rIns="0" bIns="0" rtlCol="0" anchor="ctr"/>
          <a:lstStyle/>
          <a:p>
            <a:pPr indent="0" marL="0">
              <a:lnSpc>
                <a:spcPct val="130000"/>
              </a:lnSpc>
              <a:buNone/>
            </a:pPr>
            <a:r>
              <a:rPr lang="en-US" sz="1150" dirty="0">
                <a:solidFill>
                  <a:srgbClr val="64748B"/>
                </a:solidFill>
                <a:latin typeface="Calibri" pitchFamily="34" charset="0"/>
                <a:ea typeface="Calibri" pitchFamily="34" charset="-122"/>
                <a:cs typeface="Calibri" pitchFamily="34" charset="-120"/>
              </a:rPr>
              <a:t>Charges almost instantly with a collapsed time constant, so its steady-state DC level sits near 5V.</a:t>
            </a:r>
            <a:endParaRPr lang="en-US" sz="1150" dirty="0"/>
          </a:p>
        </p:txBody>
      </p:sp>
      <p:sp>
        <p:nvSpPr>
          <p:cNvPr id="16" name="Text 12"/>
          <p:cNvSpPr/>
          <p:nvPr/>
        </p:nvSpPr>
        <p:spPr>
          <a:xfrm>
            <a:off x="502920" y="6035040"/>
            <a:ext cx="10607040" cy="457200"/>
          </a:xfrm>
          <a:prstGeom prst="rect">
            <a:avLst/>
          </a:prstGeom>
          <a:noFill/>
          <a:ln/>
        </p:spPr>
        <p:txBody>
          <a:bodyPr wrap="square" lIns="0" tIns="0" rIns="0" bIns="0" rtlCol="0" anchor="ctr"/>
          <a:lstStyle/>
          <a:p>
            <a:pPr indent="0" marL="0">
              <a:buNone/>
            </a:pPr>
            <a:r>
              <a:rPr lang="en-US" sz="1150" b="1" i="1" dirty="0">
                <a:solidFill>
                  <a:srgbClr val="0B1F3A"/>
                </a:solidFill>
                <a:latin typeface="Calibri" pitchFamily="34" charset="0"/>
                <a:ea typeface="Calibri" pitchFamily="34" charset="-122"/>
                <a:cs typeface="Calibri" pitchFamily="34" charset="-120"/>
              </a:rPr>
              <a:t>One new feature, directly targeting a diagnosed failure mode, fixed a class pair the other 16 features couldn't separate.</a:t>
            </a:r>
            <a:endParaRPr lang="en-US" sz="1150" dirty="0"/>
          </a:p>
        </p:txBody>
      </p:sp>
      <p:sp>
        <p:nvSpPr>
          <p:cNvPr id="17" name="Text 13"/>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8" name="Text 1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44</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6. THE SMART FIXES · PART 2</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Topology-Aware Post-Processing</a:t>
            </a:r>
            <a:endParaRPr lang="en-US" sz="3000" dirty="0"/>
          </a:p>
        </p:txBody>
      </p:sp>
      <p:sp>
        <p:nvSpPr>
          <p:cNvPr id="4" name="Shape 2"/>
          <p:cNvSpPr/>
          <p:nvPr/>
        </p:nvSpPr>
        <p:spPr>
          <a:xfrm>
            <a:off x="502920" y="1783080"/>
            <a:ext cx="10607040" cy="1600200"/>
          </a:xfrm>
          <a:prstGeom prst="roundRect">
            <a:avLst>
              <a:gd name="adj" fmla="val 5143"/>
            </a:avLst>
          </a:prstGeom>
          <a:solidFill>
            <a:srgbClr val="0B1F3A"/>
          </a:solidFill>
          <a:ln/>
          <a:effectLst>
            <a:outerShdw sx="100000" sy="100000" kx="0" ky="0" algn="bl" rotWithShape="0" blurRad="114300" dist="38100" dir="2700000">
              <a:srgbClr val="0B1F3A">
                <a:alpha val="14000"/>
              </a:srgbClr>
            </a:outerShdw>
          </a:effectLst>
        </p:spPr>
      </p:sp>
      <p:sp>
        <p:nvSpPr>
          <p:cNvPr id="5" name="Shape 3"/>
          <p:cNvSpPr/>
          <p:nvPr/>
        </p:nvSpPr>
        <p:spPr>
          <a:xfrm>
            <a:off x="777240" y="2048256"/>
            <a:ext cx="621792" cy="621792"/>
          </a:xfrm>
          <a:prstGeom prst="ellipse">
            <a:avLst/>
          </a:prstGeom>
          <a:solidFill>
            <a:srgbClr val="00B4D8"/>
          </a:solidFill>
          <a:ln/>
          <a:effectLst>
            <a:outerShdw sx="100000" sy="100000" kx="0" ky="0" algn="bl" rotWithShape="0" blurRad="114300" dist="38100" dir="2700000">
              <a:srgbClr val="0B1F3A">
                <a:alpha val="14000"/>
              </a:srgbClr>
            </a:outerShdw>
          </a:effectLst>
        </p:spPr>
      </p:sp>
      <p:pic>
        <p:nvPicPr>
          <p:cNvPr id="6" name="Image 0" descr="/sessions/blissful-zealous-babbage/mnt/outputs/ppt/icons/tools_0B1F3A.png">    </p:cNvPr>
          <p:cNvPicPr>
            <a:picLocks noChangeAspect="1"/>
          </p:cNvPicPr>
          <p:nvPr/>
        </p:nvPicPr>
        <p:blipFill>
          <a:blip r:embed="rId1"/>
          <a:stretch>
            <a:fillRect/>
          </a:stretch>
        </p:blipFill>
        <p:spPr>
          <a:xfrm>
            <a:off x="861182" y="2132198"/>
            <a:ext cx="453908" cy="453908"/>
          </a:xfrm>
          <a:prstGeom prst="rect">
            <a:avLst/>
          </a:prstGeom>
        </p:spPr>
      </p:pic>
      <p:sp>
        <p:nvSpPr>
          <p:cNvPr id="7" name="Text 4"/>
          <p:cNvSpPr/>
          <p:nvPr/>
        </p:nvSpPr>
        <p:spPr>
          <a:xfrm>
            <a:off x="1554480" y="1920240"/>
            <a:ext cx="9235440" cy="1371600"/>
          </a:xfrm>
          <a:prstGeom prst="rect">
            <a:avLst/>
          </a:prstGeom>
          <a:noFill/>
          <a:ln/>
        </p:spPr>
        <p:txBody>
          <a:bodyPr wrap="square" lIns="0" tIns="0" rIns="0" bIns="0" rtlCol="0" anchor="ctr"/>
          <a:lstStyle/>
          <a:p>
            <a:pPr indent="0" marL="0">
              <a:lnSpc>
                <a:spcPct val="128000"/>
              </a:lnSpc>
              <a:buNone/>
            </a:pPr>
            <a:r>
              <a:rPr lang="en-US" sz="1200" dirty="0">
                <a:solidFill>
                  <a:srgbClr val="E7ECF4"/>
                </a:solidFill>
                <a:latin typeface="Calibri" pitchFamily="34" charset="0"/>
                <a:ea typeface="Calibri" pitchFamily="34" charset="-122"/>
                <a:cs typeface="Calibri" pitchFamily="34" charset="-120"/>
              </a:rPr>
              <a:t>A plain SVM can output a physically impossible label — e.g. </a:t>
            </a:r>
            <a:pPr indent="0" marL="0">
              <a:lnSpc>
                <a:spcPct val="128000"/>
              </a:lnSpc>
              <a:buNone/>
            </a:pPr>
            <a:r>
              <a:rPr lang="en-US" sz="1200" dirty="0">
                <a:solidFill>
                  <a:srgbClr val="FFB703"/>
                </a:solidFill>
                <a:latin typeface="Courier New" pitchFamily="34" charset="0"/>
                <a:ea typeface="Courier New" pitchFamily="34" charset="-122"/>
                <a:cs typeface="Courier New" pitchFamily="34" charset="-120"/>
              </a:rPr>
              <a:t>"RLC_open"</a:t>
            </a:r>
            <a:pPr indent="0" marL="0">
              <a:lnSpc>
                <a:spcPct val="128000"/>
              </a:lnSpc>
              <a:buNone/>
            </a:pPr>
            <a:r>
              <a:rPr lang="en-US" sz="1200" dirty="0">
                <a:solidFill>
                  <a:srgbClr val="E7ECF4"/>
                </a:solidFill>
                <a:latin typeface="Calibri" pitchFamily="34" charset="0"/>
                <a:ea typeface="Calibri" pitchFamily="34" charset="-122"/>
                <a:cs typeface="Calibri" pitchFamily="34" charset="-120"/>
              </a:rPr>
              <a:t> for a sample known to come from the RC circuit, which has no inductor to open at all.
</a:t>
            </a:r>
            <a:pPr indent="0" marL="0">
              <a:lnSpc>
                <a:spcPct val="128000"/>
              </a:lnSpc>
              <a:buNone/>
            </a:pPr>
            <a:r>
              <a:rPr lang="en-US" sz="1200" b="1" dirty="0">
                <a:solidFill>
                  <a:srgbClr val="FFB703"/>
                </a:solidFill>
                <a:latin typeface="Calibri" pitchFamily="34" charset="0"/>
                <a:ea typeface="Calibri" pitchFamily="34" charset="-122"/>
                <a:cs typeface="Calibri" pitchFamily="34" charset="-120"/>
              </a:rPr>
              <a:t>Rule: </a:t>
            </a:r>
            <a:pPr indent="0" marL="0">
              <a:lnSpc>
                <a:spcPct val="128000"/>
              </a:lnSpc>
              <a:buNone/>
            </a:pPr>
            <a:r>
              <a:rPr lang="en-US" sz="1200" dirty="0">
                <a:solidFill>
                  <a:srgbClr val="E7ECF4"/>
                </a:solidFill>
                <a:latin typeface="Calibri" pitchFamily="34" charset="0"/>
                <a:ea typeface="Calibri" pitchFamily="34" charset="-122"/>
                <a:cs typeface="Calibri" pitchFamily="34" charset="-120"/>
              </a:rPr>
              <a:t>when the predicted class's circuit prefix doesn't match the sample's known true circuit, remap the fault type onto that circuit instead — e.g. RLC_open -&gt; RC_open.</a:t>
            </a:r>
            <a:endParaRPr lang="en-US" sz="1200" dirty="0"/>
          </a:p>
        </p:txBody>
      </p:sp>
      <p:sp>
        <p:nvSpPr>
          <p:cNvPr id="8" name="Shape 5"/>
          <p:cNvSpPr/>
          <p:nvPr/>
        </p:nvSpPr>
        <p:spPr>
          <a:xfrm>
            <a:off x="502920" y="3657600"/>
            <a:ext cx="10607040" cy="685800"/>
          </a:xfrm>
          <a:prstGeom prst="roundRect">
            <a:avLst>
              <a:gd name="adj" fmla="val 10667"/>
            </a:avLst>
          </a:prstGeom>
          <a:solidFill>
            <a:srgbClr val="EEF2F7"/>
          </a:solidFill>
          <a:ln w="12700">
            <a:solidFill>
              <a:srgbClr val="E4E9F1"/>
            </a:solidFill>
            <a:prstDash val="solid"/>
          </a:ln>
        </p:spPr>
      </p:sp>
      <p:sp>
        <p:nvSpPr>
          <p:cNvPr id="9" name="Text 6"/>
          <p:cNvSpPr/>
          <p:nvPr/>
        </p:nvSpPr>
        <p:spPr>
          <a:xfrm>
            <a:off x="502920" y="3657600"/>
            <a:ext cx="10607040" cy="685800"/>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+1.47 points from this rule alone:  76.96%  -&gt;  78.43%</a:t>
            </a:r>
            <a:endParaRPr lang="en-US" sz="1400" dirty="0"/>
          </a:p>
        </p:txBody>
      </p:sp>
      <p:sp>
        <p:nvSpPr>
          <p:cNvPr id="10" name="Shape 7"/>
          <p:cNvSpPr/>
          <p:nvPr/>
        </p:nvSpPr>
        <p:spPr>
          <a:xfrm>
            <a:off x="502920" y="4572000"/>
            <a:ext cx="10607040" cy="1463040"/>
          </a:xfrm>
          <a:prstGeom prst="roundRect">
            <a:avLst>
              <a:gd name="adj" fmla="val 5625"/>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1" name="Shape 8"/>
          <p:cNvSpPr/>
          <p:nvPr/>
        </p:nvSpPr>
        <p:spPr>
          <a:xfrm>
            <a:off x="777240" y="4828032"/>
            <a:ext cx="548640" cy="548640"/>
          </a:xfrm>
          <a:prstGeom prst="ellipse">
            <a:avLst/>
          </a:prstGeom>
          <a:solidFill>
            <a:srgbClr val="D9695F"/>
          </a:solidFill>
          <a:ln/>
          <a:effectLst>
            <a:outerShdw sx="100000" sy="100000" kx="0" ky="0" algn="bl" rotWithShape="0" blurRad="114300" dist="38100" dir="2700000">
              <a:srgbClr val="0B1F3A">
                <a:alpha val="14000"/>
              </a:srgbClr>
            </a:outerShdw>
          </a:effectLst>
        </p:spPr>
      </p:sp>
      <p:pic>
        <p:nvPicPr>
          <p:cNvPr id="12" name="Image 1" descr="/sessions/blissful-zealous-babbage/mnt/outputs/ppt/icons/warn_FFFFFF.png">    </p:cNvPr>
          <p:cNvPicPr>
            <a:picLocks noChangeAspect="1"/>
          </p:cNvPicPr>
          <p:nvPr/>
        </p:nvPicPr>
        <p:blipFill>
          <a:blip r:embed="rId2"/>
          <a:stretch>
            <a:fillRect/>
          </a:stretch>
        </p:blipFill>
        <p:spPr>
          <a:xfrm>
            <a:off x="851306" y="4902098"/>
            <a:ext cx="400507" cy="400507"/>
          </a:xfrm>
          <a:prstGeom prst="rect">
            <a:avLst/>
          </a:prstGeom>
        </p:spPr>
      </p:pic>
      <p:sp>
        <p:nvSpPr>
          <p:cNvPr id="13" name="Text 9"/>
          <p:cNvSpPr/>
          <p:nvPr/>
        </p:nvSpPr>
        <p:spPr>
          <a:xfrm>
            <a:off x="1463040" y="4709160"/>
            <a:ext cx="9509760" cy="1234440"/>
          </a:xfrm>
          <a:prstGeom prst="rect">
            <a:avLst/>
          </a:prstGeom>
          <a:noFill/>
          <a:ln/>
        </p:spPr>
        <p:txBody>
          <a:bodyPr wrap="square" lIns="0" tIns="0" rIns="0" bIns="0" rtlCol="0" anchor="ctr"/>
          <a:lstStyle/>
          <a:p>
            <a:pPr indent="0" marL="0">
              <a:lnSpc>
                <a:spcPct val="125000"/>
              </a:lnSpc>
              <a:buNone/>
            </a:pPr>
            <a:r>
              <a:rPr lang="en-US" sz="1100" b="1" dirty="0">
                <a:solidFill>
                  <a:srgbClr val="0B1F3A"/>
                </a:solidFill>
                <a:latin typeface="Calibri" pitchFamily="34" charset="0"/>
                <a:ea typeface="Calibri" pitchFamily="34" charset="-122"/>
                <a:cs typeface="Calibri" pitchFamily="34" charset="-120"/>
              </a:rPr>
              <a:t>An honest limit: </a:t>
            </a:r>
            <a:pPr indent="0" marL="0">
              <a:lnSpc>
                <a:spcPct val="125000"/>
              </a:lnSpc>
              <a:buNone/>
            </a:pPr>
            <a:r>
              <a:rPr lang="en-US" sz="1100" dirty="0">
                <a:solidFill>
                  <a:srgbClr val="64748B"/>
                </a:solidFill>
                <a:latin typeface="Calibri" pitchFamily="34" charset="0"/>
                <a:ea typeface="Calibri" pitchFamily="34" charset="-122"/>
                <a:cs typeface="Calibri" pitchFamily="34" charset="-120"/>
              </a:rPr>
              <a:t>this rule only catches predictions that land on the wrong topology entirely. It can't fix a model that confidently predicts the wrong fault within the correct circuit — e.g. calling an RC_LADDER_short sample "RC_short" instead, since RC_short is a perfectly valid label, just for the wrong circuit's short fault. See the Confusion Matrix Deep Dive for exactly this case.</a:t>
            </a:r>
            <a:endParaRPr lang="en-US" sz="1100" dirty="0"/>
          </a:p>
        </p:txBody>
      </p:sp>
      <p:sp>
        <p:nvSpPr>
          <p:cNvPr id="14" name="Text 10"/>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5" name="Text 11"/>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45</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10332720" y="822960"/>
            <a:ext cx="822960" cy="-457200"/>
          </a:xfrm>
          <a:prstGeom prst="line">
            <a:avLst/>
          </a:prstGeom>
          <a:noFill/>
          <a:ln w="15875">
            <a:solidFill>
              <a:srgbClr val="00B4D8">
                <a:alpha val="70000"/>
              </a:srgbClr>
            </a:solidFill>
            <a:prstDash val="solid"/>
          </a:ln>
        </p:spPr>
      </p:sp>
      <p:sp>
        <p:nvSpPr>
          <p:cNvPr id="3" name="Shape 1"/>
          <p:cNvSpPr/>
          <p:nvPr/>
        </p:nvSpPr>
        <p:spPr>
          <a:xfrm>
            <a:off x="11155680" y="365760"/>
            <a:ext cx="0" cy="1005840"/>
          </a:xfrm>
          <a:prstGeom prst="line">
            <a:avLst/>
          </a:prstGeom>
          <a:noFill/>
          <a:ln w="15875">
            <a:solidFill>
              <a:srgbClr val="00B4D8">
                <a:alpha val="70000"/>
              </a:srgbClr>
            </a:solidFill>
            <a:prstDash val="solid"/>
          </a:ln>
        </p:spPr>
      </p:sp>
      <p:sp>
        <p:nvSpPr>
          <p:cNvPr id="4" name="Shape 2"/>
          <p:cNvSpPr/>
          <p:nvPr/>
        </p:nvSpPr>
        <p:spPr>
          <a:xfrm>
            <a:off x="11155680" y="1371600"/>
            <a:ext cx="731520" cy="-457200"/>
          </a:xfrm>
          <a:prstGeom prst="line">
            <a:avLst/>
          </a:prstGeom>
          <a:noFill/>
          <a:ln w="15875">
            <a:solidFill>
              <a:srgbClr val="00B4D8">
                <a:alpha val="70000"/>
              </a:srgbClr>
            </a:solidFill>
            <a:prstDash val="solid"/>
          </a:ln>
        </p:spPr>
      </p:sp>
      <p:sp>
        <p:nvSpPr>
          <p:cNvPr id="5" name="Shape 3"/>
          <p:cNvSpPr/>
          <p:nvPr/>
        </p:nvSpPr>
        <p:spPr>
          <a:xfrm>
            <a:off x="10291572" y="781812"/>
            <a:ext cx="82296" cy="82296"/>
          </a:xfrm>
          <a:prstGeom prst="ellipse">
            <a:avLst/>
          </a:prstGeom>
          <a:solidFill>
            <a:srgbClr val="00B4D8"/>
          </a:solidFill>
          <a:ln w="12700">
            <a:solidFill>
              <a:srgbClr val="00B4D8"/>
            </a:solidFill>
            <a:prstDash val="solid"/>
          </a:ln>
        </p:spPr>
      </p:sp>
      <p:sp>
        <p:nvSpPr>
          <p:cNvPr id="6" name="Shape 4"/>
          <p:cNvSpPr/>
          <p:nvPr/>
        </p:nvSpPr>
        <p:spPr>
          <a:xfrm>
            <a:off x="11114532" y="324612"/>
            <a:ext cx="82296" cy="82296"/>
          </a:xfrm>
          <a:prstGeom prst="ellipse">
            <a:avLst/>
          </a:prstGeom>
          <a:solidFill>
            <a:srgbClr val="00B4D8"/>
          </a:solidFill>
          <a:ln w="12700">
            <a:solidFill>
              <a:srgbClr val="00B4D8"/>
            </a:solidFill>
            <a:prstDash val="solid"/>
          </a:ln>
        </p:spPr>
      </p:sp>
      <p:sp>
        <p:nvSpPr>
          <p:cNvPr id="7" name="Shape 5"/>
          <p:cNvSpPr/>
          <p:nvPr/>
        </p:nvSpPr>
        <p:spPr>
          <a:xfrm>
            <a:off x="11114532" y="1330452"/>
            <a:ext cx="82296" cy="82296"/>
          </a:xfrm>
          <a:prstGeom prst="ellipse">
            <a:avLst/>
          </a:prstGeom>
          <a:solidFill>
            <a:srgbClr val="00B4D8"/>
          </a:solidFill>
          <a:ln w="12700">
            <a:solidFill>
              <a:srgbClr val="00B4D8"/>
            </a:solidFill>
            <a:prstDash val="solid"/>
          </a:ln>
        </p:spPr>
      </p:sp>
      <p:sp>
        <p:nvSpPr>
          <p:cNvPr id="8" name="Shape 6"/>
          <p:cNvSpPr/>
          <p:nvPr/>
        </p:nvSpPr>
        <p:spPr>
          <a:xfrm>
            <a:off x="11846052" y="873252"/>
            <a:ext cx="82296" cy="82296"/>
          </a:xfrm>
          <a:prstGeom prst="ellipse">
            <a:avLst/>
          </a:prstGeom>
          <a:solidFill>
            <a:srgbClr val="00B4D8"/>
          </a:solidFill>
          <a:ln w="12700">
            <a:solidFill>
              <a:srgbClr val="00B4D8"/>
            </a:solidFill>
            <a:prstDash val="solid"/>
          </a:ln>
        </p:spPr>
      </p:sp>
      <p:sp>
        <p:nvSpPr>
          <p:cNvPr id="9" name="Text 7"/>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FFB703"/>
                </a:solidFill>
                <a:latin typeface="Calibri" pitchFamily="34" charset="0"/>
                <a:ea typeface="Calibri" pitchFamily="34" charset="-122"/>
                <a:cs typeface="Calibri" pitchFamily="34" charset="-120"/>
              </a:rPr>
              <a:t>7. RESULTS &amp; DEEP ANALYSIS</a:t>
            </a:r>
            <a:endParaRPr lang="en-US" sz="1300" dirty="0"/>
          </a:p>
        </p:txBody>
      </p:sp>
      <p:sp>
        <p:nvSpPr>
          <p:cNvPr id="10" name="Text 8"/>
          <p:cNvSpPr/>
          <p:nvPr/>
        </p:nvSpPr>
        <p:spPr>
          <a:xfrm>
            <a:off x="502920" y="777240"/>
            <a:ext cx="10424160" cy="7772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Headline Number</a:t>
            </a:r>
            <a:endParaRPr lang="en-US" sz="3000" dirty="0"/>
          </a:p>
        </p:txBody>
      </p:sp>
      <p:sp>
        <p:nvSpPr>
          <p:cNvPr id="11" name="Text 9"/>
          <p:cNvSpPr/>
          <p:nvPr/>
        </p:nvSpPr>
        <p:spPr>
          <a:xfrm>
            <a:off x="502920" y="1920240"/>
            <a:ext cx="8229600" cy="1463040"/>
          </a:xfrm>
          <a:prstGeom prst="rect">
            <a:avLst/>
          </a:prstGeom>
          <a:noFill/>
          <a:ln/>
        </p:spPr>
        <p:txBody>
          <a:bodyPr wrap="square" lIns="0" tIns="0" rIns="0" bIns="0" rtlCol="0" anchor="ctr"/>
          <a:lstStyle/>
          <a:p>
            <a:pPr indent="0" marL="0">
              <a:buNone/>
            </a:pPr>
            <a:r>
              <a:rPr lang="en-US" sz="8800" b="1" dirty="0">
                <a:solidFill>
                  <a:srgbClr val="FFB703"/>
                </a:solidFill>
                <a:latin typeface="Cambria" pitchFamily="34" charset="0"/>
                <a:ea typeface="Cambria" pitchFamily="34" charset="-122"/>
                <a:cs typeface="Cambria" pitchFamily="34" charset="-120"/>
              </a:rPr>
              <a:t>78.43%</a:t>
            </a:r>
            <a:endParaRPr lang="en-US" sz="8800" dirty="0"/>
          </a:p>
        </p:txBody>
      </p:sp>
      <p:sp>
        <p:nvSpPr>
          <p:cNvPr id="12" name="Text 10"/>
          <p:cNvSpPr/>
          <p:nvPr/>
        </p:nvSpPr>
        <p:spPr>
          <a:xfrm>
            <a:off x="502920" y="3429000"/>
            <a:ext cx="8229600" cy="457200"/>
          </a:xfrm>
          <a:prstGeom prst="rect">
            <a:avLst/>
          </a:prstGeom>
          <a:noFill/>
          <a:ln/>
        </p:spPr>
        <p:txBody>
          <a:bodyPr wrap="square" lIns="0" tIns="0" rIns="0" bIns="0" rtlCol="0" anchor="ctr"/>
          <a:lstStyle/>
          <a:p>
            <a:pPr indent="0" marL="0">
              <a:buNone/>
            </a:pPr>
            <a:r>
              <a:rPr lang="en-US" sz="1500" i="1" dirty="0">
                <a:solidFill>
                  <a:srgbClr val="C9D6E8"/>
                </a:solidFill>
                <a:latin typeface="Calibri" pitchFamily="34" charset="0"/>
                <a:ea typeface="Calibri" pitchFamily="34" charset="-122"/>
                <a:cs typeface="Calibri" pitchFamily="34" charset="-120"/>
              </a:rPr>
              <a:t>test accuracy on a 20-class problem, from real physics-based data alone</a:t>
            </a:r>
            <a:endParaRPr lang="en-US" sz="1500" dirty="0"/>
          </a:p>
        </p:txBody>
      </p:sp>
      <p:sp>
        <p:nvSpPr>
          <p:cNvPr id="13" name="Text 11"/>
          <p:cNvSpPr/>
          <p:nvPr/>
        </p:nvSpPr>
        <p:spPr>
          <a:xfrm>
            <a:off x="502920" y="4114800"/>
            <a:ext cx="8412480" cy="1280160"/>
          </a:xfrm>
          <a:prstGeom prst="rect">
            <a:avLst/>
          </a:prstGeom>
          <a:noFill/>
          <a:ln/>
        </p:spPr>
        <p:txBody>
          <a:bodyPr wrap="square" lIns="0" tIns="0" rIns="0" bIns="0" rtlCol="0" anchor="ctr"/>
          <a:lstStyle/>
          <a:p>
            <a:pPr indent="0" marL="0">
              <a:lnSpc>
                <a:spcPct val="132000"/>
              </a:lnSpc>
              <a:buNone/>
            </a:pPr>
            <a:r>
              <a:rPr lang="en-US" sz="1350" dirty="0">
                <a:solidFill>
                  <a:srgbClr val="9FB1C8"/>
                </a:solidFill>
                <a:latin typeface="Calibri" pitchFamily="34" charset="0"/>
                <a:ea typeface="Calibri" pitchFamily="34" charset="-122"/>
                <a:cs typeface="Calibri" pitchFamily="34" charset="-120"/>
              </a:rPr>
              <a:t>A random guess would score 5%. </a:t>
            </a:r>
            <a:pPr indent="0" marL="0">
              <a:lnSpc>
                <a:spcPct val="132000"/>
              </a:lnSpc>
              <a:buNone/>
            </a:pPr>
            <a:r>
              <a:rPr lang="en-US" sz="1350" dirty="0">
                <a:solidFill>
                  <a:srgbClr val="E7ECF4"/>
                </a:solidFill>
                <a:latin typeface="Calibri" pitchFamily="34" charset="0"/>
                <a:ea typeface="Calibri" pitchFamily="34" charset="-122"/>
                <a:cs typeface="Calibri" pitchFamily="34" charset="-120"/>
              </a:rPr>
              <a:t>The next several slides break this single number apart: which kernel got us here, which circuits and faults it handles well, where it still struggles, and why the number itself is trustworthy.</a:t>
            </a:r>
            <a:endParaRPr lang="en-US" sz="1350" dirty="0"/>
          </a:p>
        </p:txBody>
      </p:sp>
      <p:sp>
        <p:nvSpPr>
          <p:cNvPr id="14" name="Shape 12"/>
          <p:cNvSpPr/>
          <p:nvPr/>
        </p:nvSpPr>
        <p:spPr>
          <a:xfrm>
            <a:off x="9692640" y="3931920"/>
            <a:ext cx="1371600" cy="1371600"/>
          </a:xfrm>
          <a:prstGeom prst="ellipse">
            <a:avLst/>
          </a:prstGeom>
          <a:solidFill>
            <a:srgbClr val="132A4C"/>
          </a:solidFill>
          <a:ln/>
          <a:effectLst>
            <a:outerShdw sx="100000" sy="100000" kx="0" ky="0" algn="bl" rotWithShape="0" blurRad="114300" dist="38100" dir="2700000">
              <a:srgbClr val="0B1F3A">
                <a:alpha val="14000"/>
              </a:srgbClr>
            </a:outerShdw>
          </a:effectLst>
        </p:spPr>
      </p:sp>
      <p:pic>
        <p:nvPicPr>
          <p:cNvPr id="15" name="Image 0" descr="/sessions/blissful-zealous-babbage/mnt/outputs/ppt/icons/chartbar_FFB703.png">    </p:cNvPr>
          <p:cNvPicPr>
            <a:picLocks noChangeAspect="1"/>
          </p:cNvPicPr>
          <p:nvPr/>
        </p:nvPicPr>
        <p:blipFill>
          <a:blip r:embed="rId1"/>
          <a:stretch>
            <a:fillRect/>
          </a:stretch>
        </p:blipFill>
        <p:spPr>
          <a:xfrm>
            <a:off x="9877806" y="4117086"/>
            <a:ext cx="1001268" cy="1001268"/>
          </a:xfrm>
          <a:prstGeom prst="rect">
            <a:avLst/>
          </a:prstGeom>
        </p:spPr>
      </p:pic>
      <p:sp>
        <p:nvSpPr>
          <p:cNvPr id="16" name="Text 13"/>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7" name="Text 1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46</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7. RESULTS &amp; DEEP ANALYSIS</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RBF + Topology Rule Wins: 78.43%</a:t>
            </a:r>
            <a:endParaRPr lang="en-US" sz="3000" dirty="0"/>
          </a:p>
        </p:txBody>
      </p:sp>
      <p:graphicFrame>
        <p:nvGraphicFramePr>
          <p:cNvPr id="4" name="Chart 0" descr=""/>
          <p:cNvGraphicFramePr/>
          <p:nvPr/>
        </p:nvGraphicFramePr>
        <p:xfrm>
          <a:off x="502920" y="1691640"/>
          <a:ext cx="10607040" cy="39319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6" name="Text 3"/>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47</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7. RESULTS &amp; DEEP ANALYSIS</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Why These Kernel Results Make Sense</a:t>
            </a:r>
            <a:endParaRPr lang="en-US" sz="3000" dirty="0"/>
          </a:p>
        </p:txBody>
      </p:sp>
      <p:sp>
        <p:nvSpPr>
          <p:cNvPr id="4" name="Shape 2"/>
          <p:cNvSpPr/>
          <p:nvPr/>
        </p:nvSpPr>
        <p:spPr>
          <a:xfrm>
            <a:off x="502920" y="1828800"/>
            <a:ext cx="5166360" cy="4160520"/>
          </a:xfrm>
          <a:prstGeom prst="roundRect">
            <a:avLst>
              <a:gd name="adj" fmla="val 1978"/>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5" name="Shape 3"/>
          <p:cNvSpPr/>
          <p:nvPr/>
        </p:nvSpPr>
        <p:spPr>
          <a:xfrm>
            <a:off x="777240" y="2103120"/>
            <a:ext cx="594360" cy="59436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6" name="Image 0" descr="/sessions/blissful-zealous-babbage/mnt/outputs/ppt/icons/chartline_00B4D8.png">    </p:cNvPr>
          <p:cNvPicPr>
            <a:picLocks noChangeAspect="1"/>
          </p:cNvPicPr>
          <p:nvPr/>
        </p:nvPicPr>
        <p:blipFill>
          <a:blip r:embed="rId1"/>
          <a:stretch>
            <a:fillRect/>
          </a:stretch>
        </p:blipFill>
        <p:spPr>
          <a:xfrm>
            <a:off x="857479" y="2183359"/>
            <a:ext cx="433883" cy="433883"/>
          </a:xfrm>
          <a:prstGeom prst="rect">
            <a:avLst/>
          </a:prstGeom>
        </p:spPr>
      </p:pic>
      <p:sp>
        <p:nvSpPr>
          <p:cNvPr id="7" name="Text 4"/>
          <p:cNvSpPr/>
          <p:nvPr/>
        </p:nvSpPr>
        <p:spPr>
          <a:xfrm>
            <a:off x="1554480" y="2176272"/>
            <a:ext cx="3886200" cy="594360"/>
          </a:xfrm>
          <a:prstGeom prst="rect">
            <a:avLst/>
          </a:prstGeom>
          <a:noFill/>
          <a:ln/>
        </p:spPr>
        <p:txBody>
          <a:bodyPr wrap="square" lIns="0" tIns="0" rIns="0" bIns="0" rtlCol="0" anchor="ctr"/>
          <a:lstStyle/>
          <a:p>
            <a:pPr indent="0" marL="0">
              <a:lnSpc>
                <a:spcPct val="110000"/>
              </a:lnSpc>
              <a:buNone/>
            </a:pPr>
            <a:r>
              <a:rPr lang="en-US" sz="1350" b="1" dirty="0">
                <a:solidFill>
                  <a:srgbClr val="0B1F3A"/>
                </a:solidFill>
                <a:latin typeface="Calibri" pitchFamily="34" charset="0"/>
                <a:ea typeface="Calibri" pitchFamily="34" charset="-122"/>
                <a:cs typeface="Calibri" pitchFamily="34" charset="-120"/>
              </a:rPr>
              <a:t>Why Linear already scores 77.9%</a:t>
            </a:r>
            <a:endParaRPr lang="en-US" sz="1350" dirty="0"/>
          </a:p>
        </p:txBody>
      </p:sp>
      <p:sp>
        <p:nvSpPr>
          <p:cNvPr id="8" name="Text 5"/>
          <p:cNvSpPr/>
          <p:nvPr/>
        </p:nvSpPr>
        <p:spPr>
          <a:xfrm>
            <a:off x="777240" y="2880360"/>
            <a:ext cx="4617720" cy="2880360"/>
          </a:xfrm>
          <a:prstGeom prst="rect">
            <a:avLst/>
          </a:prstGeom>
          <a:noFill/>
          <a:ln/>
        </p:spPr>
        <p:txBody>
          <a:bodyPr wrap="square" lIns="0" tIns="0" rIns="0" bIns="0" rtlCol="0" anchor="ctr"/>
          <a:lstStyle/>
          <a:p>
            <a:pPr indent="0" marL="0">
              <a:lnSpc>
                <a:spcPct val="130000"/>
              </a:lnSpc>
              <a:buNone/>
            </a:pPr>
            <a:r>
              <a:rPr lang="en-US" sz="1150" dirty="0">
                <a:solidFill>
                  <a:srgbClr val="64748B"/>
                </a:solidFill>
                <a:latin typeface="Calibri" pitchFamily="34" charset="0"/>
                <a:ea typeface="Calibri" pitchFamily="34" charset="-122"/>
                <a:cs typeface="Calibri" pitchFamily="34" charset="-120"/>
              </a:rPr>
              <a:t>The 17 features are hand-engineered to be physically meaningful — rise_time, dc_level and peak_voltage already separate most classes in a roughly straight-line way. Good features do a lot of the work before the classifier even sees them.</a:t>
            </a:r>
            <a:endParaRPr lang="en-US" sz="1150" dirty="0"/>
          </a:p>
        </p:txBody>
      </p:sp>
      <p:sp>
        <p:nvSpPr>
          <p:cNvPr id="9" name="Shape 6"/>
          <p:cNvSpPr/>
          <p:nvPr/>
        </p:nvSpPr>
        <p:spPr>
          <a:xfrm>
            <a:off x="6126480" y="1828800"/>
            <a:ext cx="5166360" cy="4160520"/>
          </a:xfrm>
          <a:prstGeom prst="roundRect">
            <a:avLst>
              <a:gd name="adj" fmla="val 1978"/>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0" name="Shape 7"/>
          <p:cNvSpPr/>
          <p:nvPr/>
        </p:nvSpPr>
        <p:spPr>
          <a:xfrm>
            <a:off x="6400800" y="2103120"/>
            <a:ext cx="594360" cy="59436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1" name="Image 1" descr="/sessions/blissful-zealous-babbage/mnt/outputs/ppt/icons/wave_00B4D8.png">    </p:cNvPr>
          <p:cNvPicPr>
            <a:picLocks noChangeAspect="1"/>
          </p:cNvPicPr>
          <p:nvPr/>
        </p:nvPicPr>
        <p:blipFill>
          <a:blip r:embed="rId2"/>
          <a:stretch>
            <a:fillRect/>
          </a:stretch>
        </p:blipFill>
        <p:spPr>
          <a:xfrm>
            <a:off x="6481039" y="2183359"/>
            <a:ext cx="433883" cy="433883"/>
          </a:xfrm>
          <a:prstGeom prst="rect">
            <a:avLst/>
          </a:prstGeom>
        </p:spPr>
      </p:pic>
      <p:sp>
        <p:nvSpPr>
          <p:cNvPr id="12" name="Text 8"/>
          <p:cNvSpPr/>
          <p:nvPr/>
        </p:nvSpPr>
        <p:spPr>
          <a:xfrm>
            <a:off x="7178040" y="2176272"/>
            <a:ext cx="3886200" cy="594360"/>
          </a:xfrm>
          <a:prstGeom prst="rect">
            <a:avLst/>
          </a:prstGeom>
          <a:noFill/>
          <a:ln/>
        </p:spPr>
        <p:txBody>
          <a:bodyPr wrap="square" lIns="0" tIns="0" rIns="0" bIns="0" rtlCol="0" anchor="ctr"/>
          <a:lstStyle/>
          <a:p>
            <a:pPr indent="0" marL="0">
              <a:lnSpc>
                <a:spcPct val="110000"/>
              </a:lnSpc>
              <a:buNone/>
            </a:pPr>
            <a:r>
              <a:rPr lang="en-US" sz="1350" b="1" dirty="0">
                <a:solidFill>
                  <a:srgbClr val="0B1F3A"/>
                </a:solidFill>
                <a:latin typeface="Calibri" pitchFamily="34" charset="0"/>
                <a:ea typeface="Calibri" pitchFamily="34" charset="-122"/>
                <a:cs typeface="Calibri" pitchFamily="34" charset="-120"/>
              </a:rPr>
              <a:t>Why RBF needed tuning to win</a:t>
            </a:r>
            <a:endParaRPr lang="en-US" sz="1350" dirty="0"/>
          </a:p>
        </p:txBody>
      </p:sp>
      <p:sp>
        <p:nvSpPr>
          <p:cNvPr id="13" name="Text 9"/>
          <p:cNvSpPr/>
          <p:nvPr/>
        </p:nvSpPr>
        <p:spPr>
          <a:xfrm>
            <a:off x="6400800" y="2880360"/>
            <a:ext cx="4617720" cy="2880360"/>
          </a:xfrm>
          <a:prstGeom prst="rect">
            <a:avLst/>
          </a:prstGeom>
          <a:noFill/>
          <a:ln/>
        </p:spPr>
        <p:txBody>
          <a:bodyPr wrap="square" lIns="0" tIns="0" rIns="0" bIns="0" rtlCol="0" anchor="ctr"/>
          <a:lstStyle/>
          <a:p>
            <a:pPr indent="0" marL="0">
              <a:lnSpc>
                <a:spcPct val="130000"/>
              </a:lnSpc>
              <a:buNone/>
            </a:pPr>
            <a:r>
              <a:rPr lang="en-US" sz="1150" dirty="0">
                <a:solidFill>
                  <a:srgbClr val="64748B"/>
                </a:solidFill>
                <a:latin typeface="Calibri" pitchFamily="34" charset="0"/>
                <a:ea typeface="Calibri" pitchFamily="34" charset="-122"/>
                <a:cs typeface="Calibri" pitchFamily="34" charset="-120"/>
              </a:rPr>
              <a:t>RBF's default gamma didn't match the scale of the standardized features, so its flexible boundary either overfit small pockets of training data or underfit real class structure. Once gamma=0.1 was found by search, that same flexibility became an advantage — enough to edge past Linear.</a:t>
            </a:r>
            <a:endParaRPr lang="en-US" sz="1150" dirty="0"/>
          </a:p>
        </p:txBody>
      </p:sp>
      <p:sp>
        <p:nvSpPr>
          <p:cNvPr id="14" name="Text 10"/>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5" name="Text 11"/>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48</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7. RESULTS &amp; DEEP ANALYSIS</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Not All Circuits Are Equally Easy to Diagnose</a:t>
            </a:r>
            <a:endParaRPr lang="en-US" sz="3000" dirty="0"/>
          </a:p>
        </p:txBody>
      </p:sp>
      <p:graphicFrame>
        <p:nvGraphicFramePr>
          <p:cNvPr id="4" name="Chart 0" descr=""/>
          <p:cNvGraphicFramePr/>
          <p:nvPr/>
        </p:nvGraphicFramePr>
        <p:xfrm>
          <a:off x="502920" y="1691640"/>
          <a:ext cx="6035040" cy="41148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360920" y="2011680"/>
            <a:ext cx="548640" cy="54864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6" name="Image 0" descr="/sessions/blissful-zealous-babbage/mnt/outputs/ppt/icons/chartline_00B4D8.png">    </p:cNvPr>
          <p:cNvPicPr>
            <a:picLocks noChangeAspect="1"/>
          </p:cNvPicPr>
          <p:nvPr/>
        </p:nvPicPr>
        <p:blipFill>
          <a:blip r:embed="rId2"/>
          <a:stretch>
            <a:fillRect/>
          </a:stretch>
        </p:blipFill>
        <p:spPr>
          <a:xfrm>
            <a:off x="7434986" y="2085746"/>
            <a:ext cx="400507" cy="400507"/>
          </a:xfrm>
          <a:prstGeom prst="rect">
            <a:avLst/>
          </a:prstGeom>
        </p:spPr>
      </p:pic>
      <p:sp>
        <p:nvSpPr>
          <p:cNvPr id="7" name="Text 3"/>
          <p:cNvSpPr/>
          <p:nvPr/>
        </p:nvSpPr>
        <p:spPr>
          <a:xfrm>
            <a:off x="8092440" y="1993392"/>
            <a:ext cx="3566160" cy="365760"/>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RLC — 100%</a:t>
            </a:r>
            <a:endParaRPr lang="en-US" sz="1350" dirty="0"/>
          </a:p>
        </p:txBody>
      </p:sp>
      <p:sp>
        <p:nvSpPr>
          <p:cNvPr id="8" name="Text 4"/>
          <p:cNvSpPr/>
          <p:nvPr/>
        </p:nvSpPr>
        <p:spPr>
          <a:xfrm>
            <a:off x="8092440" y="2359152"/>
            <a:ext cx="3566160" cy="1188720"/>
          </a:xfrm>
          <a:prstGeom prst="rect">
            <a:avLst/>
          </a:prstGeom>
          <a:noFill/>
          <a:ln/>
        </p:spPr>
        <p:txBody>
          <a:bodyPr wrap="square" lIns="0" tIns="0" rIns="0" bIns="0" rtlCol="0" anchor="ctr"/>
          <a:lstStyle/>
          <a:p>
            <a:pPr indent="0" marL="0">
              <a:lnSpc>
                <a:spcPct val="122000"/>
              </a:lnSpc>
              <a:buNone/>
            </a:pPr>
            <a:r>
              <a:rPr lang="en-US" sz="1050" dirty="0">
                <a:solidFill>
                  <a:srgbClr val="64748B"/>
                </a:solidFill>
                <a:latin typeface="Calibri" pitchFamily="34" charset="0"/>
                <a:ea typeface="Calibri" pitchFamily="34" charset="-122"/>
                <a:cs typeface="Calibri" pitchFamily="34" charset="-120"/>
              </a:rPr>
              <a:t>Its oscillatory, underdamped response makes each fault look distinctly different from the others.</a:t>
            </a:r>
            <a:endParaRPr lang="en-US" sz="1050" dirty="0"/>
          </a:p>
        </p:txBody>
      </p:sp>
      <p:sp>
        <p:nvSpPr>
          <p:cNvPr id="9" name="Shape 5"/>
          <p:cNvSpPr/>
          <p:nvPr/>
        </p:nvSpPr>
        <p:spPr>
          <a:xfrm>
            <a:off x="7360920" y="3749040"/>
            <a:ext cx="548640" cy="54864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0" name="Image 1" descr="/sessions/blissful-zealous-babbage/mnt/outputs/ppt/icons/warn_00B4D8.png">    </p:cNvPr>
          <p:cNvPicPr>
            <a:picLocks noChangeAspect="1"/>
          </p:cNvPicPr>
          <p:nvPr/>
        </p:nvPicPr>
        <p:blipFill>
          <a:blip r:embed="rId3"/>
          <a:stretch>
            <a:fillRect/>
          </a:stretch>
        </p:blipFill>
        <p:spPr>
          <a:xfrm>
            <a:off x="7434986" y="3823106"/>
            <a:ext cx="400507" cy="400507"/>
          </a:xfrm>
          <a:prstGeom prst="rect">
            <a:avLst/>
          </a:prstGeom>
        </p:spPr>
      </p:pic>
      <p:sp>
        <p:nvSpPr>
          <p:cNvPr id="11" name="Text 6"/>
          <p:cNvSpPr/>
          <p:nvPr/>
        </p:nvSpPr>
        <p:spPr>
          <a:xfrm>
            <a:off x="8092440" y="3730752"/>
            <a:ext cx="3566160" cy="365760"/>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RC &amp; RC Ladder — harder</a:t>
            </a:r>
            <a:endParaRPr lang="en-US" sz="1350" dirty="0"/>
          </a:p>
        </p:txBody>
      </p:sp>
      <p:sp>
        <p:nvSpPr>
          <p:cNvPr id="12" name="Text 7"/>
          <p:cNvSpPr/>
          <p:nvPr/>
        </p:nvSpPr>
        <p:spPr>
          <a:xfrm>
            <a:off x="8092440" y="4096512"/>
            <a:ext cx="3566160" cy="1188720"/>
          </a:xfrm>
          <a:prstGeom prst="rect">
            <a:avLst/>
          </a:prstGeom>
          <a:noFill/>
          <a:ln/>
        </p:spPr>
        <p:txBody>
          <a:bodyPr wrap="square" lIns="0" tIns="0" rIns="0" bIns="0" rtlCol="0" anchor="ctr"/>
          <a:lstStyle/>
          <a:p>
            <a:pPr indent="0" marL="0">
              <a:lnSpc>
                <a:spcPct val="122000"/>
              </a:lnSpc>
              <a:buNone/>
            </a:pPr>
            <a:r>
              <a:rPr lang="en-US" sz="1050" dirty="0">
                <a:solidFill>
                  <a:srgbClr val="64748B"/>
                </a:solidFill>
                <a:latin typeface="Calibri" pitchFamily="34" charset="0"/>
                <a:ea typeface="Calibri" pitchFamily="34" charset="-122"/>
                <a:cs typeface="Calibri" pitchFamily="34" charset="-120"/>
              </a:rPr>
              <a:t>Smoother, more similar-looking passive responses make drift/normal/short faults subtler to tell apart.</a:t>
            </a:r>
            <a:endParaRPr lang="en-US" sz="1050" dirty="0"/>
          </a:p>
        </p:txBody>
      </p:sp>
      <p:sp>
        <p:nvSpPr>
          <p:cNvPr id="13" name="Text 8"/>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4" name="Text 9"/>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49</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7. RESULTS &amp; DEEP ANALYSIS</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Deep Dive: RLC's Perfect Score</a:t>
            </a:r>
            <a:endParaRPr lang="en-US" sz="3000" dirty="0"/>
          </a:p>
        </p:txBody>
      </p:sp>
      <p:sp>
        <p:nvSpPr>
          <p:cNvPr id="4" name="Text 2"/>
          <p:cNvSpPr/>
          <p:nvPr/>
        </p:nvSpPr>
        <p:spPr>
          <a:xfrm>
            <a:off x="502920" y="1737360"/>
            <a:ext cx="10607040" cy="36576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Every one of the 5 fault types on the RLC circuit was classified perfectly in the test set:</a:t>
            </a:r>
            <a:endParaRPr lang="en-US" sz="1300" dirty="0"/>
          </a:p>
        </p:txBody>
      </p:sp>
      <p:sp>
        <p:nvSpPr>
          <p:cNvPr id="5" name="Shape 3"/>
          <p:cNvSpPr/>
          <p:nvPr/>
        </p:nvSpPr>
        <p:spPr>
          <a:xfrm>
            <a:off x="502920" y="2331720"/>
            <a:ext cx="1965960" cy="1188720"/>
          </a:xfrm>
          <a:prstGeom prst="roundRect">
            <a:avLst>
              <a:gd name="adj" fmla="val 6923"/>
            </a:avLst>
          </a:prstGeom>
          <a:solidFill>
            <a:srgbClr val="0B1F3A"/>
          </a:solidFill>
          <a:ln/>
          <a:effectLst>
            <a:outerShdw sx="100000" sy="100000" kx="0" ky="0" algn="bl" rotWithShape="0" blurRad="114300" dist="38100" dir="2700000">
              <a:srgbClr val="0B1F3A">
                <a:alpha val="14000"/>
              </a:srgbClr>
            </a:outerShdw>
          </a:effectLst>
        </p:spPr>
      </p:sp>
      <p:sp>
        <p:nvSpPr>
          <p:cNvPr id="6" name="Text 4"/>
          <p:cNvSpPr/>
          <p:nvPr/>
        </p:nvSpPr>
        <p:spPr>
          <a:xfrm>
            <a:off x="502920" y="2468880"/>
            <a:ext cx="1965960" cy="548640"/>
          </a:xfrm>
          <a:prstGeom prst="rect">
            <a:avLst/>
          </a:prstGeom>
          <a:noFill/>
          <a:ln/>
        </p:spPr>
        <p:txBody>
          <a:bodyPr wrap="square" lIns="0" tIns="0" rIns="0" bIns="0" rtlCol="0" anchor="ctr"/>
          <a:lstStyle/>
          <a:p>
            <a:pPr algn="ctr" indent="0" marL="0">
              <a:buNone/>
            </a:pPr>
            <a:r>
              <a:rPr lang="en-US" sz="2000" b="1" dirty="0">
                <a:solidFill>
                  <a:srgbClr val="FFB703"/>
                </a:solidFill>
                <a:latin typeface="Cambria" pitchFamily="34" charset="0"/>
                <a:ea typeface="Cambria" pitchFamily="34" charset="-122"/>
                <a:cs typeface="Cambria" pitchFamily="34" charset="-120"/>
              </a:rPr>
              <a:t>100%</a:t>
            </a:r>
            <a:endParaRPr lang="en-US" sz="2000" dirty="0"/>
          </a:p>
        </p:txBody>
      </p:sp>
      <p:sp>
        <p:nvSpPr>
          <p:cNvPr id="7" name="Text 5"/>
          <p:cNvSpPr/>
          <p:nvPr/>
        </p:nvSpPr>
        <p:spPr>
          <a:xfrm>
            <a:off x="502920" y="3044952"/>
            <a:ext cx="1965960" cy="365760"/>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Normal</a:t>
            </a:r>
            <a:endParaRPr lang="en-US" sz="1150" dirty="0"/>
          </a:p>
        </p:txBody>
      </p:sp>
      <p:sp>
        <p:nvSpPr>
          <p:cNvPr id="8" name="Shape 6"/>
          <p:cNvSpPr/>
          <p:nvPr/>
        </p:nvSpPr>
        <p:spPr>
          <a:xfrm>
            <a:off x="2651760" y="2331720"/>
            <a:ext cx="1965960" cy="1188720"/>
          </a:xfrm>
          <a:prstGeom prst="roundRect">
            <a:avLst>
              <a:gd name="adj" fmla="val 6923"/>
            </a:avLst>
          </a:prstGeom>
          <a:solidFill>
            <a:srgbClr val="0B1F3A"/>
          </a:solidFill>
          <a:ln/>
          <a:effectLst>
            <a:outerShdw sx="100000" sy="100000" kx="0" ky="0" algn="bl" rotWithShape="0" blurRad="114300" dist="38100" dir="2700000">
              <a:srgbClr val="0B1F3A">
                <a:alpha val="14000"/>
              </a:srgbClr>
            </a:outerShdw>
          </a:effectLst>
        </p:spPr>
      </p:sp>
      <p:sp>
        <p:nvSpPr>
          <p:cNvPr id="9" name="Text 7"/>
          <p:cNvSpPr/>
          <p:nvPr/>
        </p:nvSpPr>
        <p:spPr>
          <a:xfrm>
            <a:off x="2651760" y="2468880"/>
            <a:ext cx="1965960" cy="548640"/>
          </a:xfrm>
          <a:prstGeom prst="rect">
            <a:avLst/>
          </a:prstGeom>
          <a:noFill/>
          <a:ln/>
        </p:spPr>
        <p:txBody>
          <a:bodyPr wrap="square" lIns="0" tIns="0" rIns="0" bIns="0" rtlCol="0" anchor="ctr"/>
          <a:lstStyle/>
          <a:p>
            <a:pPr algn="ctr" indent="0" marL="0">
              <a:buNone/>
            </a:pPr>
            <a:r>
              <a:rPr lang="en-US" sz="2000" b="1" dirty="0">
                <a:solidFill>
                  <a:srgbClr val="FFB703"/>
                </a:solidFill>
                <a:latin typeface="Cambria" pitchFamily="34" charset="0"/>
                <a:ea typeface="Cambria" pitchFamily="34" charset="-122"/>
                <a:cs typeface="Cambria" pitchFamily="34" charset="-120"/>
              </a:rPr>
              <a:t>100%</a:t>
            </a:r>
            <a:endParaRPr lang="en-US" sz="2000" dirty="0"/>
          </a:p>
        </p:txBody>
      </p:sp>
      <p:sp>
        <p:nvSpPr>
          <p:cNvPr id="10" name="Text 8"/>
          <p:cNvSpPr/>
          <p:nvPr/>
        </p:nvSpPr>
        <p:spPr>
          <a:xfrm>
            <a:off x="2651760" y="3044952"/>
            <a:ext cx="1965960" cy="365760"/>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Drift</a:t>
            </a:r>
            <a:endParaRPr lang="en-US" sz="1150" dirty="0"/>
          </a:p>
        </p:txBody>
      </p:sp>
      <p:sp>
        <p:nvSpPr>
          <p:cNvPr id="11" name="Shape 9"/>
          <p:cNvSpPr/>
          <p:nvPr/>
        </p:nvSpPr>
        <p:spPr>
          <a:xfrm>
            <a:off x="4800600" y="2331720"/>
            <a:ext cx="1965960" cy="1188720"/>
          </a:xfrm>
          <a:prstGeom prst="roundRect">
            <a:avLst>
              <a:gd name="adj" fmla="val 6923"/>
            </a:avLst>
          </a:prstGeom>
          <a:solidFill>
            <a:srgbClr val="0B1F3A"/>
          </a:solidFill>
          <a:ln/>
          <a:effectLst>
            <a:outerShdw sx="100000" sy="100000" kx="0" ky="0" algn="bl" rotWithShape="0" blurRad="114300" dist="38100" dir="2700000">
              <a:srgbClr val="0B1F3A">
                <a:alpha val="14000"/>
              </a:srgbClr>
            </a:outerShdw>
          </a:effectLst>
        </p:spPr>
      </p:sp>
      <p:sp>
        <p:nvSpPr>
          <p:cNvPr id="12" name="Text 10"/>
          <p:cNvSpPr/>
          <p:nvPr/>
        </p:nvSpPr>
        <p:spPr>
          <a:xfrm>
            <a:off x="4800600" y="2468880"/>
            <a:ext cx="1965960" cy="548640"/>
          </a:xfrm>
          <a:prstGeom prst="rect">
            <a:avLst/>
          </a:prstGeom>
          <a:noFill/>
          <a:ln/>
        </p:spPr>
        <p:txBody>
          <a:bodyPr wrap="square" lIns="0" tIns="0" rIns="0" bIns="0" rtlCol="0" anchor="ctr"/>
          <a:lstStyle/>
          <a:p>
            <a:pPr algn="ctr" indent="0" marL="0">
              <a:buNone/>
            </a:pPr>
            <a:r>
              <a:rPr lang="en-US" sz="2000" b="1" dirty="0">
                <a:solidFill>
                  <a:srgbClr val="FFB703"/>
                </a:solidFill>
                <a:latin typeface="Cambria" pitchFamily="34" charset="0"/>
                <a:ea typeface="Cambria" pitchFamily="34" charset="-122"/>
                <a:cs typeface="Cambria" pitchFamily="34" charset="-120"/>
              </a:rPr>
              <a:t>100%</a:t>
            </a:r>
            <a:endParaRPr lang="en-US" sz="2000" dirty="0"/>
          </a:p>
        </p:txBody>
      </p:sp>
      <p:sp>
        <p:nvSpPr>
          <p:cNvPr id="13" name="Text 11"/>
          <p:cNvSpPr/>
          <p:nvPr/>
        </p:nvSpPr>
        <p:spPr>
          <a:xfrm>
            <a:off x="4800600" y="3044952"/>
            <a:ext cx="1965960" cy="365760"/>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Open</a:t>
            </a:r>
            <a:endParaRPr lang="en-US" sz="1150" dirty="0"/>
          </a:p>
        </p:txBody>
      </p:sp>
      <p:sp>
        <p:nvSpPr>
          <p:cNvPr id="14" name="Shape 12"/>
          <p:cNvSpPr/>
          <p:nvPr/>
        </p:nvSpPr>
        <p:spPr>
          <a:xfrm>
            <a:off x="6949440" y="2331720"/>
            <a:ext cx="1965960" cy="1188720"/>
          </a:xfrm>
          <a:prstGeom prst="roundRect">
            <a:avLst>
              <a:gd name="adj" fmla="val 6923"/>
            </a:avLst>
          </a:prstGeom>
          <a:solidFill>
            <a:srgbClr val="0B1F3A"/>
          </a:solidFill>
          <a:ln/>
          <a:effectLst>
            <a:outerShdw sx="100000" sy="100000" kx="0" ky="0" algn="bl" rotWithShape="0" blurRad="114300" dist="38100" dir="2700000">
              <a:srgbClr val="0B1F3A">
                <a:alpha val="14000"/>
              </a:srgbClr>
            </a:outerShdw>
          </a:effectLst>
        </p:spPr>
      </p:sp>
      <p:sp>
        <p:nvSpPr>
          <p:cNvPr id="15" name="Text 13"/>
          <p:cNvSpPr/>
          <p:nvPr/>
        </p:nvSpPr>
        <p:spPr>
          <a:xfrm>
            <a:off x="6949440" y="2468880"/>
            <a:ext cx="1965960" cy="548640"/>
          </a:xfrm>
          <a:prstGeom prst="rect">
            <a:avLst/>
          </a:prstGeom>
          <a:noFill/>
          <a:ln/>
        </p:spPr>
        <p:txBody>
          <a:bodyPr wrap="square" lIns="0" tIns="0" rIns="0" bIns="0" rtlCol="0" anchor="ctr"/>
          <a:lstStyle/>
          <a:p>
            <a:pPr algn="ctr" indent="0" marL="0">
              <a:buNone/>
            </a:pPr>
            <a:r>
              <a:rPr lang="en-US" sz="2000" b="1" dirty="0">
                <a:solidFill>
                  <a:srgbClr val="FFB703"/>
                </a:solidFill>
                <a:latin typeface="Cambria" pitchFamily="34" charset="0"/>
                <a:ea typeface="Cambria" pitchFamily="34" charset="-122"/>
                <a:cs typeface="Cambria" pitchFamily="34" charset="-120"/>
              </a:rPr>
              <a:t>100%</a:t>
            </a:r>
            <a:endParaRPr lang="en-US" sz="2000" dirty="0"/>
          </a:p>
        </p:txBody>
      </p:sp>
      <p:sp>
        <p:nvSpPr>
          <p:cNvPr id="16" name="Text 14"/>
          <p:cNvSpPr/>
          <p:nvPr/>
        </p:nvSpPr>
        <p:spPr>
          <a:xfrm>
            <a:off x="6949440" y="3044952"/>
            <a:ext cx="1965960" cy="365760"/>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Short</a:t>
            </a:r>
            <a:endParaRPr lang="en-US" sz="1150" dirty="0"/>
          </a:p>
        </p:txBody>
      </p:sp>
      <p:sp>
        <p:nvSpPr>
          <p:cNvPr id="17" name="Shape 15"/>
          <p:cNvSpPr/>
          <p:nvPr/>
        </p:nvSpPr>
        <p:spPr>
          <a:xfrm>
            <a:off x="9098280" y="2331720"/>
            <a:ext cx="1965960" cy="1188720"/>
          </a:xfrm>
          <a:prstGeom prst="roundRect">
            <a:avLst>
              <a:gd name="adj" fmla="val 6923"/>
            </a:avLst>
          </a:prstGeom>
          <a:solidFill>
            <a:srgbClr val="0B1F3A"/>
          </a:solidFill>
          <a:ln/>
          <a:effectLst>
            <a:outerShdw sx="100000" sy="100000" kx="0" ky="0" algn="bl" rotWithShape="0" blurRad="114300" dist="38100" dir="2700000">
              <a:srgbClr val="0B1F3A">
                <a:alpha val="14000"/>
              </a:srgbClr>
            </a:outerShdw>
          </a:effectLst>
        </p:spPr>
      </p:sp>
      <p:sp>
        <p:nvSpPr>
          <p:cNvPr id="18" name="Text 16"/>
          <p:cNvSpPr/>
          <p:nvPr/>
        </p:nvSpPr>
        <p:spPr>
          <a:xfrm>
            <a:off x="9098280" y="2468880"/>
            <a:ext cx="1965960" cy="548640"/>
          </a:xfrm>
          <a:prstGeom prst="rect">
            <a:avLst/>
          </a:prstGeom>
          <a:noFill/>
          <a:ln/>
        </p:spPr>
        <p:txBody>
          <a:bodyPr wrap="square" lIns="0" tIns="0" rIns="0" bIns="0" rtlCol="0" anchor="ctr"/>
          <a:lstStyle/>
          <a:p>
            <a:pPr algn="ctr" indent="0" marL="0">
              <a:buNone/>
            </a:pPr>
            <a:r>
              <a:rPr lang="en-US" sz="2000" b="1" dirty="0">
                <a:solidFill>
                  <a:srgbClr val="FFB703"/>
                </a:solidFill>
                <a:latin typeface="Cambria" pitchFamily="34" charset="0"/>
                <a:ea typeface="Cambria" pitchFamily="34" charset="-122"/>
                <a:cs typeface="Cambria" pitchFamily="34" charset="-120"/>
              </a:rPr>
              <a:t>100%</a:t>
            </a:r>
            <a:endParaRPr lang="en-US" sz="2000" dirty="0"/>
          </a:p>
        </p:txBody>
      </p:sp>
      <p:sp>
        <p:nvSpPr>
          <p:cNvPr id="19" name="Text 17"/>
          <p:cNvSpPr/>
          <p:nvPr/>
        </p:nvSpPr>
        <p:spPr>
          <a:xfrm>
            <a:off x="9098280" y="3044952"/>
            <a:ext cx="1965960" cy="365760"/>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Noise</a:t>
            </a:r>
            <a:endParaRPr lang="en-US" sz="1150" dirty="0"/>
          </a:p>
        </p:txBody>
      </p:sp>
      <p:sp>
        <p:nvSpPr>
          <p:cNvPr id="20" name="Text 18"/>
          <p:cNvSpPr/>
          <p:nvPr/>
        </p:nvSpPr>
        <p:spPr>
          <a:xfrm>
            <a:off x="502920" y="3840480"/>
            <a:ext cx="10607040" cy="1554480"/>
          </a:xfrm>
          <a:prstGeom prst="rect">
            <a:avLst/>
          </a:prstGeom>
          <a:noFill/>
          <a:ln/>
        </p:spPr>
        <p:txBody>
          <a:bodyPr wrap="square" lIns="0" tIns="0" rIns="0" bIns="0" rtlCol="0" anchor="ctr"/>
          <a:lstStyle/>
          <a:p>
            <a:pPr indent="0" marL="0">
              <a:lnSpc>
                <a:spcPct val="132000"/>
              </a:lnSpc>
              <a:buNone/>
            </a:pPr>
            <a:r>
              <a:rPr lang="en-US" sz="1250" b="1" dirty="0">
                <a:solidFill>
                  <a:srgbClr val="0B1F3A"/>
                </a:solidFill>
                <a:latin typeface="Calibri" pitchFamily="34" charset="0"/>
                <a:ea typeface="Calibri" pitchFamily="34" charset="-122"/>
                <a:cs typeface="Calibri" pitchFamily="34" charset="-120"/>
              </a:rPr>
              <a:t>Why: </a:t>
            </a:r>
            <a:pPr indent="0" marL="0">
              <a:lnSpc>
                <a:spcPct val="132000"/>
              </a:lnSpc>
              <a:buNone/>
            </a:pPr>
            <a:r>
              <a:rPr lang="en-US" sz="1250" dirty="0">
                <a:solidFill>
                  <a:srgbClr val="64748B"/>
                </a:solidFill>
                <a:latin typeface="Calibri" pitchFamily="34" charset="0"/>
                <a:ea typeface="Calibri" pitchFamily="34" charset="-122"/>
                <a:cs typeface="Calibri" pitchFamily="34" charset="-120"/>
              </a:rPr>
              <a:t>the RLC circuit's underdamped, oscillatory response is far more distinctive than a passive RC network's smooth curve. An inductance drift shifts the ringing frequency; an open blocks current entirely; a short changes the damping — each fault leaves a very different fingerprint in both the time and frequency domain, which rise_time, dominant_freq and spectral_entropy pick up cleanly.</a:t>
            </a:r>
            <a:endParaRPr lang="en-US" sz="1250" dirty="0"/>
          </a:p>
        </p:txBody>
      </p:sp>
      <p:sp>
        <p:nvSpPr>
          <p:cNvPr id="21" name="Text 19"/>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2" name="Text 20"/>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50</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7. RESULTS &amp; DEEP ANALYSIS</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Deep Dive: Why RC &amp; RC Ladder Are Harder</a:t>
            </a:r>
            <a:endParaRPr lang="en-US" sz="3000" dirty="0"/>
          </a:p>
        </p:txBody>
      </p:sp>
      <p:sp>
        <p:nvSpPr>
          <p:cNvPr id="4" name="Shape 2"/>
          <p:cNvSpPr/>
          <p:nvPr/>
        </p:nvSpPr>
        <p:spPr>
          <a:xfrm>
            <a:off x="502920" y="1828800"/>
            <a:ext cx="10607040" cy="713232"/>
          </a:xfrm>
          <a:prstGeom prst="roundRect">
            <a:avLst>
              <a:gd name="adj" fmla="val 8974"/>
            </a:avLst>
          </a:prstGeom>
          <a:solidFill>
            <a:srgbClr val="FFFFFF"/>
          </a:solidFill>
          <a:ln w="12700">
            <a:solidFill>
              <a:srgbClr val="E4E9F1"/>
            </a:solidFill>
            <a:prstDash val="solid"/>
          </a:ln>
          <a:effectLst>
            <a:outerShdw sx="100000" sy="100000" kx="0" ky="0" algn="bl" rotWithShape="0" blurRad="63500" dist="38100" dir="2700000">
              <a:srgbClr val="0B1F3A">
                <a:alpha val="6000"/>
              </a:srgbClr>
            </a:outerShdw>
          </a:effectLst>
        </p:spPr>
      </p:sp>
      <p:sp>
        <p:nvSpPr>
          <p:cNvPr id="5" name="Text 3"/>
          <p:cNvSpPr/>
          <p:nvPr/>
        </p:nvSpPr>
        <p:spPr>
          <a:xfrm>
            <a:off x="731520" y="1828800"/>
            <a:ext cx="2560320" cy="713232"/>
          </a:xfrm>
          <a:prstGeom prst="rect">
            <a:avLst/>
          </a:prstGeom>
          <a:noFill/>
          <a:ln/>
        </p:spPr>
        <p:txBody>
          <a:bodyPr wrap="square" lIns="0" tIns="0" rIns="0" bIns="0" rtlCol="0" anchor="ctr"/>
          <a:lstStyle/>
          <a:p>
            <a:pPr indent="0" marL="0">
              <a:buNone/>
            </a:pPr>
            <a:r>
              <a:rPr lang="en-US" sz="1300" b="1" dirty="0">
                <a:solidFill>
                  <a:srgbClr val="0B1F3A"/>
                </a:solidFill>
                <a:latin typeface="Courier New" pitchFamily="34" charset="0"/>
                <a:ea typeface="Courier New" pitchFamily="34" charset="-122"/>
                <a:cs typeface="Courier New" pitchFamily="34" charset="-120"/>
              </a:rPr>
              <a:t>RC_drift</a:t>
            </a:r>
            <a:endParaRPr lang="en-US" sz="1300" dirty="0"/>
          </a:p>
        </p:txBody>
      </p:sp>
      <p:sp>
        <p:nvSpPr>
          <p:cNvPr id="6" name="Text 4"/>
          <p:cNvSpPr/>
          <p:nvPr/>
        </p:nvSpPr>
        <p:spPr>
          <a:xfrm>
            <a:off x="3246120" y="1828800"/>
            <a:ext cx="1188720" cy="713232"/>
          </a:xfrm>
          <a:prstGeom prst="rect">
            <a:avLst/>
          </a:prstGeom>
          <a:noFill/>
          <a:ln/>
        </p:spPr>
        <p:txBody>
          <a:bodyPr wrap="square" lIns="0" tIns="0" rIns="0" bIns="0" rtlCol="0" anchor="ctr"/>
          <a:lstStyle/>
          <a:p>
            <a:pPr indent="0" marL="0">
              <a:buNone/>
            </a:pPr>
            <a:r>
              <a:rPr lang="en-US" sz="1700" b="1" dirty="0">
                <a:solidFill>
                  <a:srgbClr val="D9695F"/>
                </a:solidFill>
                <a:latin typeface="Cambria" pitchFamily="34" charset="0"/>
                <a:ea typeface="Cambria" pitchFamily="34" charset="-122"/>
                <a:cs typeface="Cambria" pitchFamily="34" charset="-120"/>
              </a:rPr>
              <a:t>30%</a:t>
            </a:r>
            <a:endParaRPr lang="en-US" sz="1700" dirty="0"/>
          </a:p>
        </p:txBody>
      </p:sp>
      <p:sp>
        <p:nvSpPr>
          <p:cNvPr id="7" name="Text 5"/>
          <p:cNvSpPr/>
          <p:nvPr/>
        </p:nvSpPr>
        <p:spPr>
          <a:xfrm>
            <a:off x="4526280" y="1828800"/>
            <a:ext cx="6400800" cy="713232"/>
          </a:xfrm>
          <a:prstGeom prst="rect">
            <a:avLst/>
          </a:prstGeom>
          <a:noFill/>
          <a:ln/>
        </p:spPr>
        <p:txBody>
          <a:bodyPr wrap="square" lIns="0" tIns="0" rIns="0" bIns="0" rtlCol="0" anchor="ctr"/>
          <a:lstStyle/>
          <a:p>
            <a:pPr indent="0" marL="0">
              <a:buNone/>
            </a:pPr>
            <a:r>
              <a:rPr lang="en-US" sz="1130" dirty="0">
                <a:solidFill>
                  <a:srgbClr val="64748B"/>
                </a:solidFill>
                <a:latin typeface="Calibri" pitchFamily="34" charset="0"/>
                <a:ea typeface="Calibri" pitchFamily="34" charset="-122"/>
                <a:cs typeface="Calibri" pitchFamily="34" charset="-120"/>
              </a:rPr>
              <a:t>correct — 60% misread as RC_normal</a:t>
            </a:r>
            <a:endParaRPr lang="en-US" sz="1130" dirty="0"/>
          </a:p>
        </p:txBody>
      </p:sp>
      <p:sp>
        <p:nvSpPr>
          <p:cNvPr id="8" name="Shape 6"/>
          <p:cNvSpPr/>
          <p:nvPr/>
        </p:nvSpPr>
        <p:spPr>
          <a:xfrm>
            <a:off x="502920" y="2670048"/>
            <a:ext cx="10607040" cy="713232"/>
          </a:xfrm>
          <a:prstGeom prst="roundRect">
            <a:avLst>
              <a:gd name="adj" fmla="val 8974"/>
            </a:avLst>
          </a:prstGeom>
          <a:solidFill>
            <a:srgbClr val="FFFFFF"/>
          </a:solidFill>
          <a:ln w="12700">
            <a:solidFill>
              <a:srgbClr val="E4E9F1"/>
            </a:solidFill>
            <a:prstDash val="solid"/>
          </a:ln>
          <a:effectLst>
            <a:outerShdw sx="100000" sy="100000" kx="0" ky="0" algn="bl" rotWithShape="0" blurRad="63500" dist="38100" dir="2700000">
              <a:srgbClr val="0B1F3A">
                <a:alpha val="6000"/>
              </a:srgbClr>
            </a:outerShdw>
          </a:effectLst>
        </p:spPr>
      </p:sp>
      <p:sp>
        <p:nvSpPr>
          <p:cNvPr id="9" name="Text 7"/>
          <p:cNvSpPr/>
          <p:nvPr/>
        </p:nvSpPr>
        <p:spPr>
          <a:xfrm>
            <a:off x="731520" y="2670048"/>
            <a:ext cx="2560320" cy="713232"/>
          </a:xfrm>
          <a:prstGeom prst="rect">
            <a:avLst/>
          </a:prstGeom>
          <a:noFill/>
          <a:ln/>
        </p:spPr>
        <p:txBody>
          <a:bodyPr wrap="square" lIns="0" tIns="0" rIns="0" bIns="0" rtlCol="0" anchor="ctr"/>
          <a:lstStyle/>
          <a:p>
            <a:pPr indent="0" marL="0">
              <a:buNone/>
            </a:pPr>
            <a:r>
              <a:rPr lang="en-US" sz="1300" b="1" dirty="0">
                <a:solidFill>
                  <a:srgbClr val="0B1F3A"/>
                </a:solidFill>
                <a:latin typeface="Courier New" pitchFamily="34" charset="0"/>
                <a:ea typeface="Courier New" pitchFamily="34" charset="-122"/>
                <a:cs typeface="Courier New" pitchFamily="34" charset="-120"/>
              </a:rPr>
              <a:t>RC_open</a:t>
            </a:r>
            <a:endParaRPr lang="en-US" sz="1300" dirty="0"/>
          </a:p>
        </p:txBody>
      </p:sp>
      <p:sp>
        <p:nvSpPr>
          <p:cNvPr id="10" name="Text 8"/>
          <p:cNvSpPr/>
          <p:nvPr/>
        </p:nvSpPr>
        <p:spPr>
          <a:xfrm>
            <a:off x="3246120" y="2670048"/>
            <a:ext cx="1188720" cy="713232"/>
          </a:xfrm>
          <a:prstGeom prst="rect">
            <a:avLst/>
          </a:prstGeom>
          <a:noFill/>
          <a:ln/>
        </p:spPr>
        <p:txBody>
          <a:bodyPr wrap="square" lIns="0" tIns="0" rIns="0" bIns="0" rtlCol="0" anchor="ctr"/>
          <a:lstStyle/>
          <a:p>
            <a:pPr indent="0" marL="0">
              <a:buNone/>
            </a:pPr>
            <a:r>
              <a:rPr lang="en-US" sz="1700" b="1" dirty="0">
                <a:solidFill>
                  <a:srgbClr val="D9695F"/>
                </a:solidFill>
                <a:latin typeface="Cambria" pitchFamily="34" charset="0"/>
                <a:ea typeface="Cambria" pitchFamily="34" charset="-122"/>
                <a:cs typeface="Cambria" pitchFamily="34" charset="-120"/>
              </a:rPr>
              <a:t>30%</a:t>
            </a:r>
            <a:endParaRPr lang="en-US" sz="1700" dirty="0"/>
          </a:p>
        </p:txBody>
      </p:sp>
      <p:sp>
        <p:nvSpPr>
          <p:cNvPr id="11" name="Text 9"/>
          <p:cNvSpPr/>
          <p:nvPr/>
        </p:nvSpPr>
        <p:spPr>
          <a:xfrm>
            <a:off x="4526280" y="2670048"/>
            <a:ext cx="6400800" cy="713232"/>
          </a:xfrm>
          <a:prstGeom prst="rect">
            <a:avLst/>
          </a:prstGeom>
          <a:noFill/>
          <a:ln/>
        </p:spPr>
        <p:txBody>
          <a:bodyPr wrap="square" lIns="0" tIns="0" rIns="0" bIns="0" rtlCol="0" anchor="ctr"/>
          <a:lstStyle/>
          <a:p>
            <a:pPr indent="0" marL="0">
              <a:buNone/>
            </a:pPr>
            <a:r>
              <a:rPr lang="en-US" sz="1130" dirty="0">
                <a:solidFill>
                  <a:srgbClr val="64748B"/>
                </a:solidFill>
                <a:latin typeface="Calibri" pitchFamily="34" charset="0"/>
                <a:ea typeface="Calibri" pitchFamily="34" charset="-122"/>
                <a:cs typeface="Calibri" pitchFamily="34" charset="-120"/>
              </a:rPr>
              <a:t>correct — 70% misread as RLC_open (cross-topology)</a:t>
            </a:r>
            <a:endParaRPr lang="en-US" sz="1130" dirty="0"/>
          </a:p>
        </p:txBody>
      </p:sp>
      <p:sp>
        <p:nvSpPr>
          <p:cNvPr id="12" name="Shape 10"/>
          <p:cNvSpPr/>
          <p:nvPr/>
        </p:nvSpPr>
        <p:spPr>
          <a:xfrm>
            <a:off x="502920" y="3511296"/>
            <a:ext cx="10607040" cy="713232"/>
          </a:xfrm>
          <a:prstGeom prst="roundRect">
            <a:avLst>
              <a:gd name="adj" fmla="val 8974"/>
            </a:avLst>
          </a:prstGeom>
          <a:solidFill>
            <a:srgbClr val="FFFFFF"/>
          </a:solidFill>
          <a:ln w="12700">
            <a:solidFill>
              <a:srgbClr val="E4E9F1"/>
            </a:solidFill>
            <a:prstDash val="solid"/>
          </a:ln>
          <a:effectLst>
            <a:outerShdw sx="100000" sy="100000" kx="0" ky="0" algn="bl" rotWithShape="0" blurRad="63500" dist="38100" dir="2700000">
              <a:srgbClr val="0B1F3A">
                <a:alpha val="6000"/>
              </a:srgbClr>
            </a:outerShdw>
          </a:effectLst>
        </p:spPr>
      </p:sp>
      <p:sp>
        <p:nvSpPr>
          <p:cNvPr id="13" name="Text 11"/>
          <p:cNvSpPr/>
          <p:nvPr/>
        </p:nvSpPr>
        <p:spPr>
          <a:xfrm>
            <a:off x="731520" y="3511296"/>
            <a:ext cx="2560320" cy="713232"/>
          </a:xfrm>
          <a:prstGeom prst="rect">
            <a:avLst/>
          </a:prstGeom>
          <a:noFill/>
          <a:ln/>
        </p:spPr>
        <p:txBody>
          <a:bodyPr wrap="square" lIns="0" tIns="0" rIns="0" bIns="0" rtlCol="0" anchor="ctr"/>
          <a:lstStyle/>
          <a:p>
            <a:pPr indent="0" marL="0">
              <a:buNone/>
            </a:pPr>
            <a:r>
              <a:rPr lang="en-US" sz="1300" b="1" dirty="0">
                <a:solidFill>
                  <a:srgbClr val="0B1F3A"/>
                </a:solidFill>
                <a:latin typeface="Courier New" pitchFamily="34" charset="0"/>
                <a:ea typeface="Courier New" pitchFamily="34" charset="-122"/>
                <a:cs typeface="Courier New" pitchFamily="34" charset="-120"/>
              </a:rPr>
              <a:t>RC_LADDER_drift</a:t>
            </a:r>
            <a:endParaRPr lang="en-US" sz="1300" dirty="0"/>
          </a:p>
        </p:txBody>
      </p:sp>
      <p:sp>
        <p:nvSpPr>
          <p:cNvPr id="14" name="Text 12"/>
          <p:cNvSpPr/>
          <p:nvPr/>
        </p:nvSpPr>
        <p:spPr>
          <a:xfrm>
            <a:off x="3246120" y="3511296"/>
            <a:ext cx="1188720" cy="713232"/>
          </a:xfrm>
          <a:prstGeom prst="rect">
            <a:avLst/>
          </a:prstGeom>
          <a:noFill/>
          <a:ln/>
        </p:spPr>
        <p:txBody>
          <a:bodyPr wrap="square" lIns="0" tIns="0" rIns="0" bIns="0" rtlCol="0" anchor="ctr"/>
          <a:lstStyle/>
          <a:p>
            <a:pPr indent="0" marL="0">
              <a:buNone/>
            </a:pPr>
            <a:r>
              <a:rPr lang="en-US" sz="1700" b="1" dirty="0">
                <a:solidFill>
                  <a:srgbClr val="D9695F"/>
                </a:solidFill>
                <a:latin typeface="Cambria" pitchFamily="34" charset="0"/>
                <a:ea typeface="Cambria" pitchFamily="34" charset="-122"/>
                <a:cs typeface="Cambria" pitchFamily="34" charset="-120"/>
              </a:rPr>
              <a:t>30%</a:t>
            </a:r>
            <a:endParaRPr lang="en-US" sz="1700" dirty="0"/>
          </a:p>
        </p:txBody>
      </p:sp>
      <p:sp>
        <p:nvSpPr>
          <p:cNvPr id="15" name="Text 13"/>
          <p:cNvSpPr/>
          <p:nvPr/>
        </p:nvSpPr>
        <p:spPr>
          <a:xfrm>
            <a:off x="4526280" y="3511296"/>
            <a:ext cx="6400800" cy="713232"/>
          </a:xfrm>
          <a:prstGeom prst="rect">
            <a:avLst/>
          </a:prstGeom>
          <a:noFill/>
          <a:ln/>
        </p:spPr>
        <p:txBody>
          <a:bodyPr wrap="square" lIns="0" tIns="0" rIns="0" bIns="0" rtlCol="0" anchor="ctr"/>
          <a:lstStyle/>
          <a:p>
            <a:pPr indent="0" marL="0">
              <a:buNone/>
            </a:pPr>
            <a:r>
              <a:rPr lang="en-US" sz="1130" dirty="0">
                <a:solidFill>
                  <a:srgbClr val="64748B"/>
                </a:solidFill>
                <a:latin typeface="Calibri" pitchFamily="34" charset="0"/>
                <a:ea typeface="Calibri" pitchFamily="34" charset="-122"/>
                <a:cs typeface="Calibri" pitchFamily="34" charset="-120"/>
              </a:rPr>
              <a:t>correct — 70% misread as RC_LADDER_normal</a:t>
            </a:r>
            <a:endParaRPr lang="en-US" sz="1130" dirty="0"/>
          </a:p>
        </p:txBody>
      </p:sp>
      <p:sp>
        <p:nvSpPr>
          <p:cNvPr id="16" name="Shape 14"/>
          <p:cNvSpPr/>
          <p:nvPr/>
        </p:nvSpPr>
        <p:spPr>
          <a:xfrm>
            <a:off x="502920" y="4352544"/>
            <a:ext cx="10607040" cy="713232"/>
          </a:xfrm>
          <a:prstGeom prst="roundRect">
            <a:avLst>
              <a:gd name="adj" fmla="val 8974"/>
            </a:avLst>
          </a:prstGeom>
          <a:solidFill>
            <a:srgbClr val="FFFFFF"/>
          </a:solidFill>
          <a:ln w="12700">
            <a:solidFill>
              <a:srgbClr val="E4E9F1"/>
            </a:solidFill>
            <a:prstDash val="solid"/>
          </a:ln>
          <a:effectLst>
            <a:outerShdw sx="100000" sy="100000" kx="0" ky="0" algn="bl" rotWithShape="0" blurRad="63500" dist="38100" dir="2700000">
              <a:srgbClr val="0B1F3A">
                <a:alpha val="6000"/>
              </a:srgbClr>
            </a:outerShdw>
          </a:effectLst>
        </p:spPr>
      </p:sp>
      <p:sp>
        <p:nvSpPr>
          <p:cNvPr id="17" name="Text 15"/>
          <p:cNvSpPr/>
          <p:nvPr/>
        </p:nvSpPr>
        <p:spPr>
          <a:xfrm>
            <a:off x="731520" y="4352544"/>
            <a:ext cx="2560320" cy="713232"/>
          </a:xfrm>
          <a:prstGeom prst="rect">
            <a:avLst/>
          </a:prstGeom>
          <a:noFill/>
          <a:ln/>
        </p:spPr>
        <p:txBody>
          <a:bodyPr wrap="square" lIns="0" tIns="0" rIns="0" bIns="0" rtlCol="0" anchor="ctr"/>
          <a:lstStyle/>
          <a:p>
            <a:pPr indent="0" marL="0">
              <a:buNone/>
            </a:pPr>
            <a:r>
              <a:rPr lang="en-US" sz="1300" b="1" dirty="0">
                <a:solidFill>
                  <a:srgbClr val="0B1F3A"/>
                </a:solidFill>
                <a:latin typeface="Courier New" pitchFamily="34" charset="0"/>
                <a:ea typeface="Courier New" pitchFamily="34" charset="-122"/>
                <a:cs typeface="Courier New" pitchFamily="34" charset="-120"/>
              </a:rPr>
              <a:t>RC_LADDER_short</a:t>
            </a:r>
            <a:endParaRPr lang="en-US" sz="1300" dirty="0"/>
          </a:p>
        </p:txBody>
      </p:sp>
      <p:sp>
        <p:nvSpPr>
          <p:cNvPr id="18" name="Text 16"/>
          <p:cNvSpPr/>
          <p:nvPr/>
        </p:nvSpPr>
        <p:spPr>
          <a:xfrm>
            <a:off x="3246120" y="4352544"/>
            <a:ext cx="1188720" cy="713232"/>
          </a:xfrm>
          <a:prstGeom prst="rect">
            <a:avLst/>
          </a:prstGeom>
          <a:noFill/>
          <a:ln/>
        </p:spPr>
        <p:txBody>
          <a:bodyPr wrap="square" lIns="0" tIns="0" rIns="0" bIns="0" rtlCol="0" anchor="ctr"/>
          <a:lstStyle/>
          <a:p>
            <a:pPr indent="0" marL="0">
              <a:buNone/>
            </a:pPr>
            <a:r>
              <a:rPr lang="en-US" sz="1700" b="1" dirty="0">
                <a:solidFill>
                  <a:srgbClr val="D9695F"/>
                </a:solidFill>
                <a:latin typeface="Cambria" pitchFamily="34" charset="0"/>
                <a:ea typeface="Cambria" pitchFamily="34" charset="-122"/>
                <a:cs typeface="Cambria" pitchFamily="34" charset="-120"/>
              </a:rPr>
              <a:t>10%</a:t>
            </a:r>
            <a:endParaRPr lang="en-US" sz="1700" dirty="0"/>
          </a:p>
        </p:txBody>
      </p:sp>
      <p:sp>
        <p:nvSpPr>
          <p:cNvPr id="19" name="Text 17"/>
          <p:cNvSpPr/>
          <p:nvPr/>
        </p:nvSpPr>
        <p:spPr>
          <a:xfrm>
            <a:off x="4526280" y="4352544"/>
            <a:ext cx="6400800" cy="713232"/>
          </a:xfrm>
          <a:prstGeom prst="rect">
            <a:avLst/>
          </a:prstGeom>
          <a:noFill/>
          <a:ln/>
        </p:spPr>
        <p:txBody>
          <a:bodyPr wrap="square" lIns="0" tIns="0" rIns="0" bIns="0" rtlCol="0" anchor="ctr"/>
          <a:lstStyle/>
          <a:p>
            <a:pPr indent="0" marL="0">
              <a:buNone/>
            </a:pPr>
            <a:r>
              <a:rPr lang="en-US" sz="1130" dirty="0">
                <a:solidFill>
                  <a:srgbClr val="64748B"/>
                </a:solidFill>
                <a:latin typeface="Calibri" pitchFamily="34" charset="0"/>
                <a:ea typeface="Calibri" pitchFamily="34" charset="-122"/>
                <a:cs typeface="Calibri" pitchFamily="34" charset="-120"/>
              </a:rPr>
              <a:t>correct — 90% misread as RC_short (cross-topology)</a:t>
            </a:r>
            <a:endParaRPr lang="en-US" sz="1130" dirty="0"/>
          </a:p>
        </p:txBody>
      </p:sp>
      <p:sp>
        <p:nvSpPr>
          <p:cNvPr id="20" name="Text 18"/>
          <p:cNvSpPr/>
          <p:nvPr/>
        </p:nvSpPr>
        <p:spPr>
          <a:xfrm>
            <a:off x="502920" y="5330952"/>
            <a:ext cx="10607040" cy="731520"/>
          </a:xfrm>
          <a:prstGeom prst="rect">
            <a:avLst/>
          </a:prstGeom>
          <a:noFill/>
          <a:ln/>
        </p:spPr>
        <p:txBody>
          <a:bodyPr wrap="square" lIns="0" tIns="0" rIns="0" bIns="0" rtlCol="0" anchor="ctr"/>
          <a:lstStyle/>
          <a:p>
            <a:pPr indent="0" marL="0">
              <a:lnSpc>
                <a:spcPct val="125000"/>
              </a:lnSpc>
              <a:buNone/>
            </a:pPr>
            <a:r>
              <a:rPr lang="en-US" sz="1180" b="1" dirty="0">
                <a:solidFill>
                  <a:srgbClr val="0B1F3A"/>
                </a:solidFill>
                <a:latin typeface="Calibri" pitchFamily="34" charset="0"/>
                <a:ea typeface="Calibri" pitchFamily="34" charset="-122"/>
                <a:cs typeface="Calibri" pitchFamily="34" charset="-120"/>
              </a:rPr>
              <a:t>The pattern: </a:t>
            </a:r>
            <a:pPr indent="0" marL="0">
              <a:lnSpc>
                <a:spcPct val="125000"/>
              </a:lnSpc>
              <a:buNone/>
            </a:pPr>
            <a:r>
              <a:rPr lang="en-US" sz="1180" dirty="0">
                <a:solidFill>
                  <a:srgbClr val="64748B"/>
                </a:solidFill>
                <a:latin typeface="Calibri" pitchFamily="34" charset="0"/>
                <a:ea typeface="Calibri" pitchFamily="34" charset="-122"/>
                <a:cs typeface="Calibri" pitchFamily="34" charset="-120"/>
              </a:rPr>
              <a:t>passive RC-family circuits produce smoother, less distinctive waveforms than RLC, so drift blends into normal, and a short in one RC-type circuit looks nearly identical to a short in another. This is explored fully in the Confusion Matrix Deep Dive.</a:t>
            </a:r>
            <a:endParaRPr lang="en-US" sz="1180" dirty="0"/>
          </a:p>
        </p:txBody>
      </p:sp>
      <p:sp>
        <p:nvSpPr>
          <p:cNvPr id="21" name="Text 19"/>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2" name="Text 20"/>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51</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7. RESULTS &amp; DEEP ANALYSIS</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What the Model Weighs — and Where It Excels</a:t>
            </a:r>
            <a:endParaRPr lang="en-US" sz="3000" dirty="0"/>
          </a:p>
        </p:txBody>
      </p:sp>
      <p:sp>
        <p:nvSpPr>
          <p:cNvPr id="4" name="Shape 2"/>
          <p:cNvSpPr/>
          <p:nvPr/>
        </p:nvSpPr>
        <p:spPr>
          <a:xfrm>
            <a:off x="502920" y="1783080"/>
            <a:ext cx="5166360" cy="4251960"/>
          </a:xfrm>
          <a:prstGeom prst="roundRect">
            <a:avLst>
              <a:gd name="adj" fmla="val 1505"/>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pic>
        <p:nvPicPr>
          <p:cNvPr id="5" name="Image 0" descr="panel_featimp.png">    </p:cNvPr>
          <p:cNvPicPr>
            <a:picLocks noChangeAspect="1"/>
          </p:cNvPicPr>
          <p:nvPr/>
        </p:nvPicPr>
        <p:blipFill>
          <a:blip r:embed="rId1"/>
          <a:srcRect l="0" r="0" t="0" b="0"/>
          <a:stretch/>
        </p:blipFill>
        <p:spPr>
          <a:xfrm>
            <a:off x="640080" y="1920240"/>
            <a:ext cx="4892040" cy="3346704"/>
          </a:xfrm>
          <a:prstGeom prst="rect">
            <a:avLst/>
          </a:prstGeom>
        </p:spPr>
      </p:pic>
      <p:sp>
        <p:nvSpPr>
          <p:cNvPr id="6" name="Text 3"/>
          <p:cNvSpPr/>
          <p:nvPr/>
        </p:nvSpPr>
        <p:spPr>
          <a:xfrm>
            <a:off x="685800" y="5623560"/>
            <a:ext cx="4892040" cy="36576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rise_time and std_voltage carry the most weight in the linear model's decisions.</a:t>
            </a:r>
            <a:endParaRPr lang="en-US" sz="1000" dirty="0"/>
          </a:p>
        </p:txBody>
      </p:sp>
      <p:sp>
        <p:nvSpPr>
          <p:cNvPr id="7" name="Shape 4"/>
          <p:cNvSpPr/>
          <p:nvPr/>
        </p:nvSpPr>
        <p:spPr>
          <a:xfrm>
            <a:off x="5943600" y="1783080"/>
            <a:ext cx="5166360" cy="4251960"/>
          </a:xfrm>
          <a:prstGeom prst="roundRect">
            <a:avLst>
              <a:gd name="adj" fmla="val 1505"/>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pic>
        <p:nvPicPr>
          <p:cNvPr id="8" name="Image 1" descr="panel_f1.png">    </p:cNvPr>
          <p:cNvPicPr>
            <a:picLocks noChangeAspect="1"/>
          </p:cNvPicPr>
          <p:nvPr/>
        </p:nvPicPr>
        <p:blipFill>
          <a:blip r:embed="rId2"/>
          <a:srcRect l="0" r="0" t="0" b="0"/>
          <a:stretch/>
        </p:blipFill>
        <p:spPr>
          <a:xfrm>
            <a:off x="6080760" y="1920240"/>
            <a:ext cx="4892040" cy="3346704"/>
          </a:xfrm>
          <a:prstGeom prst="rect">
            <a:avLst/>
          </a:prstGeom>
        </p:spPr>
      </p:pic>
      <p:sp>
        <p:nvSpPr>
          <p:cNvPr id="9" name="Text 5"/>
          <p:cNvSpPr/>
          <p:nvPr/>
        </p:nvSpPr>
        <p:spPr>
          <a:xfrm>
            <a:off x="6126480" y="5623560"/>
            <a:ext cx="4892040" cy="36576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10 of 20 classes hit a perfect or near-perfect F1 score; RC/RC-Ladder faults trail behind.</a:t>
            </a:r>
            <a:endParaRPr lang="en-US" sz="1000" dirty="0"/>
          </a:p>
        </p:txBody>
      </p:sp>
      <p:sp>
        <p:nvSpPr>
          <p:cNvPr id="10" name="Text 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1" name="Text 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52</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7. RESULTS &amp; DEEP ANALYSIS</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Every Prediction, At a Glance</a:t>
            </a:r>
            <a:endParaRPr lang="en-US" sz="3000" dirty="0"/>
          </a:p>
        </p:txBody>
      </p:sp>
      <p:sp>
        <p:nvSpPr>
          <p:cNvPr id="4" name="Shape 2"/>
          <p:cNvSpPr/>
          <p:nvPr/>
        </p:nvSpPr>
        <p:spPr>
          <a:xfrm>
            <a:off x="502920" y="1691640"/>
            <a:ext cx="10607040" cy="4480560"/>
          </a:xfrm>
          <a:prstGeom prst="roundRect">
            <a:avLst>
              <a:gd name="adj" fmla="val 1429"/>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pic>
        <p:nvPicPr>
          <p:cNvPr id="5" name="Image 0" descr="panel_confmat.png">    </p:cNvPr>
          <p:cNvPicPr>
            <a:picLocks noChangeAspect="1"/>
          </p:cNvPicPr>
          <p:nvPr/>
        </p:nvPicPr>
        <p:blipFill>
          <a:blip r:embed="rId1"/>
          <a:srcRect l="0" r="0" t="0" b="0"/>
          <a:stretch/>
        </p:blipFill>
        <p:spPr>
          <a:xfrm>
            <a:off x="685800" y="1828800"/>
            <a:ext cx="10241280" cy="4160520"/>
          </a:xfrm>
          <a:prstGeom prst="rect">
            <a:avLst/>
          </a:prstGeom>
        </p:spPr>
      </p:pic>
      <p:sp>
        <p:nvSpPr>
          <p:cNvPr id="6" name="Text 3"/>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7" name="Text 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53</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7. RESULTS &amp; DEEP ANALYSIS</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Confusion Matrix Deep Dive: Three Error Patterns</a:t>
            </a:r>
            <a:endParaRPr lang="en-US" sz="3000" dirty="0"/>
          </a:p>
        </p:txBody>
      </p:sp>
      <p:sp>
        <p:nvSpPr>
          <p:cNvPr id="4" name="Shape 2"/>
          <p:cNvSpPr/>
          <p:nvPr/>
        </p:nvSpPr>
        <p:spPr>
          <a:xfrm>
            <a:off x="502920" y="1828800"/>
            <a:ext cx="548640" cy="54864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5" name="Image 0" descr="/sessions/blissful-zealous-babbage/mnt/outputs/ppt/icons/chartline_00B4D8.png">    </p:cNvPr>
          <p:cNvPicPr>
            <a:picLocks noChangeAspect="1"/>
          </p:cNvPicPr>
          <p:nvPr/>
        </p:nvPicPr>
        <p:blipFill>
          <a:blip r:embed="rId1"/>
          <a:stretch>
            <a:fillRect/>
          </a:stretch>
        </p:blipFill>
        <p:spPr>
          <a:xfrm>
            <a:off x="576986" y="1902866"/>
            <a:ext cx="400507" cy="400507"/>
          </a:xfrm>
          <a:prstGeom prst="rect">
            <a:avLst/>
          </a:prstGeom>
        </p:spPr>
      </p:pic>
      <p:sp>
        <p:nvSpPr>
          <p:cNvPr id="6" name="Text 3"/>
          <p:cNvSpPr/>
          <p:nvPr/>
        </p:nvSpPr>
        <p:spPr>
          <a:xfrm>
            <a:off x="1234440" y="1801368"/>
            <a:ext cx="9784080" cy="365760"/>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1. Drift blends into Normal</a:t>
            </a:r>
            <a:endParaRPr lang="en-US" sz="1350" dirty="0"/>
          </a:p>
        </p:txBody>
      </p:sp>
      <p:sp>
        <p:nvSpPr>
          <p:cNvPr id="7" name="Text 4"/>
          <p:cNvSpPr/>
          <p:nvPr/>
        </p:nvSpPr>
        <p:spPr>
          <a:xfrm>
            <a:off x="1234440" y="2157984"/>
            <a:ext cx="9784080" cy="868680"/>
          </a:xfrm>
          <a:prstGeom prst="rect">
            <a:avLst/>
          </a:prstGeom>
          <a:noFill/>
          <a:ln/>
        </p:spPr>
        <p:txBody>
          <a:bodyPr wrap="square" lIns="0" tIns="0" rIns="0" bIns="0" rtlCol="0" anchor="ctr"/>
          <a:lstStyle/>
          <a:p>
            <a:pPr indent="0" marL="0">
              <a:lnSpc>
                <a:spcPct val="122000"/>
              </a:lnSpc>
              <a:buNone/>
            </a:pPr>
            <a:r>
              <a:rPr lang="en-US" sz="1100" dirty="0">
                <a:solidFill>
                  <a:srgbClr val="64748B"/>
                </a:solidFill>
                <a:latin typeface="Calibri" pitchFamily="34" charset="0"/>
                <a:ea typeface="Calibri" pitchFamily="34" charset="-122"/>
                <a:cs typeface="Calibri" pitchFamily="34" charset="-120"/>
              </a:rPr>
              <a:t>RC_drift -&gt; RC_normal (6/10), RC_LADDER_drift -&gt; RC_LADDER_normal (7/10), SALLEN_KEY_drift -&gt; SALLEN_KEY_normal (7/11). Expected: drift is defined as a point on the same continuum as normal.</a:t>
            </a:r>
            <a:endParaRPr lang="en-US" sz="1100" dirty="0"/>
          </a:p>
        </p:txBody>
      </p:sp>
      <p:sp>
        <p:nvSpPr>
          <p:cNvPr id="8" name="Shape 5"/>
          <p:cNvSpPr/>
          <p:nvPr/>
        </p:nvSpPr>
        <p:spPr>
          <a:xfrm>
            <a:off x="502920" y="3200400"/>
            <a:ext cx="548640" cy="54864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9" name="Image 1" descr="/sessions/blissful-zealous-babbage/mnt/outputs/ppt/icons/random_00B4D8.png">    </p:cNvPr>
          <p:cNvPicPr>
            <a:picLocks noChangeAspect="1"/>
          </p:cNvPicPr>
          <p:nvPr/>
        </p:nvPicPr>
        <p:blipFill>
          <a:blip r:embed="rId2"/>
          <a:stretch>
            <a:fillRect/>
          </a:stretch>
        </p:blipFill>
        <p:spPr>
          <a:xfrm>
            <a:off x="576986" y="3274466"/>
            <a:ext cx="400507" cy="400507"/>
          </a:xfrm>
          <a:prstGeom prst="rect">
            <a:avLst/>
          </a:prstGeom>
        </p:spPr>
      </p:pic>
      <p:sp>
        <p:nvSpPr>
          <p:cNvPr id="10" name="Text 6"/>
          <p:cNvSpPr/>
          <p:nvPr/>
        </p:nvSpPr>
        <p:spPr>
          <a:xfrm>
            <a:off x="1234440" y="3172968"/>
            <a:ext cx="9784080" cy="365760"/>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2. Same fault, wrong circuit (same family)</a:t>
            </a:r>
            <a:endParaRPr lang="en-US" sz="1350" dirty="0"/>
          </a:p>
        </p:txBody>
      </p:sp>
      <p:sp>
        <p:nvSpPr>
          <p:cNvPr id="11" name="Text 7"/>
          <p:cNvSpPr/>
          <p:nvPr/>
        </p:nvSpPr>
        <p:spPr>
          <a:xfrm>
            <a:off x="1234440" y="3529584"/>
            <a:ext cx="9784080" cy="868680"/>
          </a:xfrm>
          <a:prstGeom prst="rect">
            <a:avLst/>
          </a:prstGeom>
          <a:noFill/>
          <a:ln/>
        </p:spPr>
        <p:txBody>
          <a:bodyPr wrap="square" lIns="0" tIns="0" rIns="0" bIns="0" rtlCol="0" anchor="ctr"/>
          <a:lstStyle/>
          <a:p>
            <a:pPr indent="0" marL="0">
              <a:lnSpc>
                <a:spcPct val="122000"/>
              </a:lnSpc>
              <a:buNone/>
            </a:pPr>
            <a:r>
              <a:rPr lang="en-US" sz="1100" dirty="0">
                <a:solidFill>
                  <a:srgbClr val="64748B"/>
                </a:solidFill>
                <a:latin typeface="Calibri" pitchFamily="34" charset="0"/>
                <a:ea typeface="Calibri" pitchFamily="34" charset="-122"/>
                <a:cs typeface="Calibri" pitchFamily="34" charset="-120"/>
              </a:rPr>
              <a:t>RC_LADDER_short -&gt; RC_short (9/10). Two different passive RC-family circuits produce a nearly identical "instant charge to 5V" waveform when shorted — the model can tell the fault type but not reliably which circuit it's in.</a:t>
            </a:r>
            <a:endParaRPr lang="en-US" sz="1100" dirty="0"/>
          </a:p>
        </p:txBody>
      </p:sp>
      <p:sp>
        <p:nvSpPr>
          <p:cNvPr id="12" name="Shape 8"/>
          <p:cNvSpPr/>
          <p:nvPr/>
        </p:nvSpPr>
        <p:spPr>
          <a:xfrm>
            <a:off x="502920" y="4572000"/>
            <a:ext cx="548640" cy="54864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3" name="Image 2" descr="/sessions/blissful-zealous-babbage/mnt/outputs/ppt/icons/warn_00B4D8.png">    </p:cNvPr>
          <p:cNvPicPr>
            <a:picLocks noChangeAspect="1"/>
          </p:cNvPicPr>
          <p:nvPr/>
        </p:nvPicPr>
        <p:blipFill>
          <a:blip r:embed="rId3"/>
          <a:stretch>
            <a:fillRect/>
          </a:stretch>
        </p:blipFill>
        <p:spPr>
          <a:xfrm>
            <a:off x="576986" y="4646066"/>
            <a:ext cx="400507" cy="400507"/>
          </a:xfrm>
          <a:prstGeom prst="rect">
            <a:avLst/>
          </a:prstGeom>
        </p:spPr>
      </p:pic>
      <p:sp>
        <p:nvSpPr>
          <p:cNvPr id="14" name="Text 9"/>
          <p:cNvSpPr/>
          <p:nvPr/>
        </p:nvSpPr>
        <p:spPr>
          <a:xfrm>
            <a:off x="1234440" y="4544568"/>
            <a:ext cx="9784080" cy="365760"/>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3. A limit the topology rule can't reach</a:t>
            </a:r>
            <a:endParaRPr lang="en-US" sz="1350" dirty="0"/>
          </a:p>
        </p:txBody>
      </p:sp>
      <p:sp>
        <p:nvSpPr>
          <p:cNvPr id="15" name="Text 10"/>
          <p:cNvSpPr/>
          <p:nvPr/>
        </p:nvSpPr>
        <p:spPr>
          <a:xfrm>
            <a:off x="1234440" y="4901184"/>
            <a:ext cx="9784080" cy="868680"/>
          </a:xfrm>
          <a:prstGeom prst="rect">
            <a:avLst/>
          </a:prstGeom>
          <a:noFill/>
          <a:ln/>
        </p:spPr>
        <p:txBody>
          <a:bodyPr wrap="square" lIns="0" tIns="0" rIns="0" bIns="0" rtlCol="0" anchor="ctr"/>
          <a:lstStyle/>
          <a:p>
            <a:pPr indent="0" marL="0">
              <a:lnSpc>
                <a:spcPct val="122000"/>
              </a:lnSpc>
              <a:buNone/>
            </a:pPr>
            <a:r>
              <a:rPr lang="en-US" sz="1100" dirty="0">
                <a:solidFill>
                  <a:srgbClr val="64748B"/>
                </a:solidFill>
                <a:latin typeface="Calibri" pitchFamily="34" charset="0"/>
                <a:ea typeface="Calibri" pitchFamily="34" charset="-122"/>
                <a:cs typeface="Calibri" pitchFamily="34" charset="-120"/>
              </a:rPr>
              <a:t>RC_open -&gt; RLC_open (7/10) survives even after correction, because RLC_open is a valid label for an RLC sample — the rule can't know the true circuit is RC without being told, and both faults produce a similarly flat, non-charging output.</a:t>
            </a:r>
            <a:endParaRPr lang="en-US" sz="1100" dirty="0"/>
          </a:p>
        </p:txBody>
      </p:sp>
      <p:sp>
        <p:nvSpPr>
          <p:cNvPr id="16" name="Text 11"/>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7" name="Text 12"/>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54</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7. RESULTS &amp; DEEP ANALYSIS</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Precision vs. Recall: What the Numbers Really Mean</a:t>
            </a:r>
            <a:endParaRPr lang="en-US" sz="3000" dirty="0"/>
          </a:p>
        </p:txBody>
      </p:sp>
      <p:sp>
        <p:nvSpPr>
          <p:cNvPr id="4" name="Shape 2"/>
          <p:cNvSpPr/>
          <p:nvPr/>
        </p:nvSpPr>
        <p:spPr>
          <a:xfrm>
            <a:off x="502920" y="1828800"/>
            <a:ext cx="5166360" cy="4023360"/>
          </a:xfrm>
          <a:prstGeom prst="roundRect">
            <a:avLst>
              <a:gd name="adj" fmla="val 2045"/>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5" name="Text 3"/>
          <p:cNvSpPr/>
          <p:nvPr/>
        </p:nvSpPr>
        <p:spPr>
          <a:xfrm>
            <a:off x="777240" y="2057400"/>
            <a:ext cx="4617720" cy="36576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RC_LADDER_short</a:t>
            </a:r>
            <a:endParaRPr lang="en-US" sz="1600" dirty="0"/>
          </a:p>
        </p:txBody>
      </p:sp>
      <p:sp>
        <p:nvSpPr>
          <p:cNvPr id="6" name="Text 4"/>
          <p:cNvSpPr/>
          <p:nvPr/>
        </p:nvSpPr>
        <p:spPr>
          <a:xfrm>
            <a:off x="777240" y="2514600"/>
            <a:ext cx="4617720" cy="365760"/>
          </a:xfrm>
          <a:prstGeom prst="rect">
            <a:avLst/>
          </a:prstGeom>
          <a:noFill/>
          <a:ln/>
        </p:spPr>
        <p:txBody>
          <a:bodyPr wrap="square" lIns="0" tIns="0" rIns="0" bIns="0" rtlCol="0" anchor="ctr"/>
          <a:lstStyle/>
          <a:p>
            <a:pPr indent="0" marL="0">
              <a:buNone/>
            </a:pPr>
            <a:r>
              <a:rPr lang="en-US" sz="1300" b="1" dirty="0">
                <a:solidFill>
                  <a:srgbClr val="5EAE7A"/>
                </a:solidFill>
                <a:latin typeface="Calibri" pitchFamily="34" charset="0"/>
                <a:ea typeface="Calibri" pitchFamily="34" charset="-122"/>
                <a:cs typeface="Calibri" pitchFamily="34" charset="-120"/>
              </a:rPr>
              <a:t>Precision = 1.000</a:t>
            </a:r>
            <a:pPr indent="0" marL="0">
              <a:buNone/>
            </a:pPr>
            <a:r>
              <a:rPr lang="en-US" sz="1300" b="1" dirty="0">
                <a:solidFill>
                  <a:srgbClr val="D9695F"/>
                </a:solidFill>
                <a:latin typeface="Calibri" pitchFamily="34" charset="0"/>
                <a:ea typeface="Calibri" pitchFamily="34" charset="-122"/>
                <a:cs typeface="Calibri" pitchFamily="34" charset="-120"/>
              </a:rPr>
              <a:t>   Recall = 0.100</a:t>
            </a:r>
            <a:endParaRPr lang="en-US" sz="1300" dirty="0"/>
          </a:p>
        </p:txBody>
      </p:sp>
      <p:sp>
        <p:nvSpPr>
          <p:cNvPr id="7" name="Text 5"/>
          <p:cNvSpPr/>
          <p:nvPr/>
        </p:nvSpPr>
        <p:spPr>
          <a:xfrm>
            <a:off x="777240" y="3017520"/>
            <a:ext cx="4617720" cy="2651760"/>
          </a:xfrm>
          <a:prstGeom prst="rect">
            <a:avLst/>
          </a:prstGeom>
          <a:noFill/>
          <a:ln/>
        </p:spPr>
        <p:txBody>
          <a:bodyPr wrap="square" lIns="0" tIns="0" rIns="0" bIns="0" rtlCol="0" anchor="ctr"/>
          <a:lstStyle/>
          <a:p>
            <a:pPr indent="0" marL="0">
              <a:lnSpc>
                <a:spcPct val="130000"/>
              </a:lnSpc>
              <a:buNone/>
            </a:pPr>
            <a:r>
              <a:rPr lang="en-US" sz="1150" dirty="0">
                <a:solidFill>
                  <a:srgbClr val="64748B"/>
                </a:solidFill>
                <a:latin typeface="Calibri" pitchFamily="34" charset="0"/>
                <a:ea typeface="Calibri" pitchFamily="34" charset="-122"/>
                <a:cs typeface="Calibri" pitchFamily="34" charset="-120"/>
              </a:rPr>
              <a:t>Every time the model predicts RC_LADDER_short, it's right (precision = 1.0) — but it only catches 1 of every 10 true instances (recall = 0.1), missing the rest by calling them RC_short instead. The model isn't wrong so much as overly cautious about this specific label.</a:t>
            </a:r>
            <a:endParaRPr lang="en-US" sz="1150" dirty="0"/>
          </a:p>
        </p:txBody>
      </p:sp>
      <p:sp>
        <p:nvSpPr>
          <p:cNvPr id="8" name="Shape 6"/>
          <p:cNvSpPr/>
          <p:nvPr/>
        </p:nvSpPr>
        <p:spPr>
          <a:xfrm>
            <a:off x="6126480" y="1828800"/>
            <a:ext cx="5166360" cy="4023360"/>
          </a:xfrm>
          <a:prstGeom prst="roundRect">
            <a:avLst>
              <a:gd name="adj" fmla="val 2045"/>
            </a:avLst>
          </a:prstGeom>
          <a:solidFill>
            <a:srgbClr val="0B1F3A"/>
          </a:solidFill>
          <a:ln/>
          <a:effectLst>
            <a:outerShdw sx="100000" sy="100000" kx="0" ky="0" algn="bl" rotWithShape="0" blurRad="114300" dist="38100" dir="2700000">
              <a:srgbClr val="0B1F3A">
                <a:alpha val="14000"/>
              </a:srgbClr>
            </a:outerShdw>
          </a:effectLst>
        </p:spPr>
      </p:sp>
      <p:sp>
        <p:nvSpPr>
          <p:cNvPr id="9" name="Text 7"/>
          <p:cNvSpPr/>
          <p:nvPr/>
        </p:nvSpPr>
        <p:spPr>
          <a:xfrm>
            <a:off x="6400800" y="2057400"/>
            <a:ext cx="461772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Why this distinction matters</a:t>
            </a:r>
            <a:endParaRPr lang="en-US" sz="1600" dirty="0"/>
          </a:p>
        </p:txBody>
      </p:sp>
      <p:sp>
        <p:nvSpPr>
          <p:cNvPr id="10" name="Text 8"/>
          <p:cNvSpPr/>
          <p:nvPr/>
        </p:nvSpPr>
        <p:spPr>
          <a:xfrm>
            <a:off x="6400800" y="2514600"/>
            <a:ext cx="4617720" cy="3108960"/>
          </a:xfrm>
          <a:prstGeom prst="rect">
            <a:avLst/>
          </a:prstGeom>
          <a:noFill/>
          <a:ln/>
        </p:spPr>
        <p:txBody>
          <a:bodyPr wrap="square" lIns="0" tIns="0" rIns="0" bIns="0" rtlCol="0" anchor="ctr"/>
          <a:lstStyle/>
          <a:p>
            <a:pPr indent="0" marL="0">
              <a:lnSpc>
                <a:spcPct val="130000"/>
              </a:lnSpc>
              <a:buNone/>
            </a:pPr>
            <a:r>
              <a:rPr lang="en-US" sz="1150" dirty="0">
                <a:solidFill>
                  <a:srgbClr val="E7ECF4"/>
                </a:solidFill>
                <a:latin typeface="Calibri" pitchFamily="34" charset="0"/>
                <a:ea typeface="Calibri" pitchFamily="34" charset="-122"/>
                <a:cs typeface="Calibri" pitchFamily="34" charset="-120"/>
              </a:rPr>
              <a:t>A single accuracy number (78.43%) hides this. </a:t>
            </a:r>
            <a:pPr indent="0" marL="0">
              <a:lnSpc>
                <a:spcPct val="130000"/>
              </a:lnSpc>
              <a:buNone/>
            </a:pPr>
            <a:r>
              <a:rPr lang="en-US" sz="1150" dirty="0">
                <a:solidFill>
                  <a:srgbClr val="E7ECF4"/>
                </a:solidFill>
                <a:latin typeface="Calibri" pitchFamily="34" charset="0"/>
                <a:ea typeface="Calibri" pitchFamily="34" charset="-122"/>
                <a:cs typeface="Calibri" pitchFamily="34" charset="-120"/>
              </a:rPr>
              <a:t>F1 combines precision and recall into one score exactly so that a class like this — perfectly precise but rarely triggered — doesn't get miscounted as “working fine.” </a:t>
            </a:r>
            <a:pPr indent="0" marL="0">
              <a:lnSpc>
                <a:spcPct val="130000"/>
              </a:lnSpc>
              <a:buNone/>
            </a:pPr>
            <a:r>
              <a:rPr lang="en-US" sz="1150" b="1" dirty="0">
                <a:solidFill>
                  <a:srgbClr val="FFB703"/>
                </a:solidFill>
                <a:latin typeface="Calibri" pitchFamily="34" charset="0"/>
                <a:ea typeface="Calibri" pitchFamily="34" charset="-122"/>
                <a:cs typeface="Calibri" pitchFamily="34" charset="-120"/>
              </a:rPr>
              <a:t>This is why the Results section leans on F1 and the confusion matrix, not accuracy alone.</a:t>
            </a:r>
            <a:endParaRPr lang="en-US" sz="1150" dirty="0"/>
          </a:p>
        </p:txBody>
      </p:sp>
      <p:sp>
        <p:nvSpPr>
          <p:cNvPr id="11" name="Text 9"/>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2" name="Text 10"/>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55</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10332720" y="822960"/>
            <a:ext cx="822960" cy="-457200"/>
          </a:xfrm>
          <a:prstGeom prst="line">
            <a:avLst/>
          </a:prstGeom>
          <a:noFill/>
          <a:ln w="15875">
            <a:solidFill>
              <a:srgbClr val="00B4D8">
                <a:alpha val="70000"/>
              </a:srgbClr>
            </a:solidFill>
            <a:prstDash val="solid"/>
          </a:ln>
        </p:spPr>
      </p:sp>
      <p:sp>
        <p:nvSpPr>
          <p:cNvPr id="3" name="Shape 1"/>
          <p:cNvSpPr/>
          <p:nvPr/>
        </p:nvSpPr>
        <p:spPr>
          <a:xfrm>
            <a:off x="11155680" y="365760"/>
            <a:ext cx="0" cy="1005840"/>
          </a:xfrm>
          <a:prstGeom prst="line">
            <a:avLst/>
          </a:prstGeom>
          <a:noFill/>
          <a:ln w="15875">
            <a:solidFill>
              <a:srgbClr val="00B4D8">
                <a:alpha val="70000"/>
              </a:srgbClr>
            </a:solidFill>
            <a:prstDash val="solid"/>
          </a:ln>
        </p:spPr>
      </p:sp>
      <p:sp>
        <p:nvSpPr>
          <p:cNvPr id="4" name="Shape 2"/>
          <p:cNvSpPr/>
          <p:nvPr/>
        </p:nvSpPr>
        <p:spPr>
          <a:xfrm>
            <a:off x="11155680" y="1371600"/>
            <a:ext cx="731520" cy="-457200"/>
          </a:xfrm>
          <a:prstGeom prst="line">
            <a:avLst/>
          </a:prstGeom>
          <a:noFill/>
          <a:ln w="15875">
            <a:solidFill>
              <a:srgbClr val="00B4D8">
                <a:alpha val="70000"/>
              </a:srgbClr>
            </a:solidFill>
            <a:prstDash val="solid"/>
          </a:ln>
        </p:spPr>
      </p:sp>
      <p:sp>
        <p:nvSpPr>
          <p:cNvPr id="5" name="Shape 3"/>
          <p:cNvSpPr/>
          <p:nvPr/>
        </p:nvSpPr>
        <p:spPr>
          <a:xfrm>
            <a:off x="10291572" y="781812"/>
            <a:ext cx="82296" cy="82296"/>
          </a:xfrm>
          <a:prstGeom prst="ellipse">
            <a:avLst/>
          </a:prstGeom>
          <a:solidFill>
            <a:srgbClr val="00B4D8"/>
          </a:solidFill>
          <a:ln w="12700">
            <a:solidFill>
              <a:srgbClr val="00B4D8"/>
            </a:solidFill>
            <a:prstDash val="solid"/>
          </a:ln>
        </p:spPr>
      </p:sp>
      <p:sp>
        <p:nvSpPr>
          <p:cNvPr id="6" name="Shape 4"/>
          <p:cNvSpPr/>
          <p:nvPr/>
        </p:nvSpPr>
        <p:spPr>
          <a:xfrm>
            <a:off x="11114532" y="324612"/>
            <a:ext cx="82296" cy="82296"/>
          </a:xfrm>
          <a:prstGeom prst="ellipse">
            <a:avLst/>
          </a:prstGeom>
          <a:solidFill>
            <a:srgbClr val="00B4D8"/>
          </a:solidFill>
          <a:ln w="12700">
            <a:solidFill>
              <a:srgbClr val="00B4D8"/>
            </a:solidFill>
            <a:prstDash val="solid"/>
          </a:ln>
        </p:spPr>
      </p:sp>
      <p:sp>
        <p:nvSpPr>
          <p:cNvPr id="7" name="Shape 5"/>
          <p:cNvSpPr/>
          <p:nvPr/>
        </p:nvSpPr>
        <p:spPr>
          <a:xfrm>
            <a:off x="11114532" y="1330452"/>
            <a:ext cx="82296" cy="82296"/>
          </a:xfrm>
          <a:prstGeom prst="ellipse">
            <a:avLst/>
          </a:prstGeom>
          <a:solidFill>
            <a:srgbClr val="00B4D8"/>
          </a:solidFill>
          <a:ln w="12700">
            <a:solidFill>
              <a:srgbClr val="00B4D8"/>
            </a:solidFill>
            <a:prstDash val="solid"/>
          </a:ln>
        </p:spPr>
      </p:sp>
      <p:sp>
        <p:nvSpPr>
          <p:cNvPr id="8" name="Shape 6"/>
          <p:cNvSpPr/>
          <p:nvPr/>
        </p:nvSpPr>
        <p:spPr>
          <a:xfrm>
            <a:off x="11846052" y="873252"/>
            <a:ext cx="82296" cy="82296"/>
          </a:xfrm>
          <a:prstGeom prst="ellipse">
            <a:avLst/>
          </a:prstGeom>
          <a:solidFill>
            <a:srgbClr val="00B4D8"/>
          </a:solidFill>
          <a:ln w="12700">
            <a:solidFill>
              <a:srgbClr val="00B4D8"/>
            </a:solidFill>
            <a:prstDash val="solid"/>
          </a:ln>
        </p:spPr>
      </p:sp>
      <p:sp>
        <p:nvSpPr>
          <p:cNvPr id="9" name="Text 7"/>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FFB703"/>
                </a:solidFill>
                <a:latin typeface="Calibri" pitchFamily="34" charset="0"/>
                <a:ea typeface="Calibri" pitchFamily="34" charset="-122"/>
                <a:cs typeface="Calibri" pitchFamily="34" charset="-120"/>
              </a:rPr>
              <a:t>8. KEY FINDING &amp; LIMITS</a:t>
            </a:r>
            <a:endParaRPr lang="en-US" sz="1300" dirty="0"/>
          </a:p>
        </p:txBody>
      </p:sp>
      <p:sp>
        <p:nvSpPr>
          <p:cNvPr id="10" name="Text 8"/>
          <p:cNvSpPr/>
          <p:nvPr/>
        </p:nvSpPr>
        <p:spPr>
          <a:xfrm>
            <a:off x="502920" y="777240"/>
            <a:ext cx="10424160" cy="7772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When Higher Accuracy Is the Wrong Answer</a:t>
            </a:r>
            <a:endParaRPr lang="en-US" sz="3000" dirty="0"/>
          </a:p>
        </p:txBody>
      </p:sp>
      <p:sp>
        <p:nvSpPr>
          <p:cNvPr id="11" name="Text 9"/>
          <p:cNvSpPr/>
          <p:nvPr/>
        </p:nvSpPr>
        <p:spPr>
          <a:xfrm>
            <a:off x="502920" y="1874520"/>
            <a:ext cx="8229600" cy="1280160"/>
          </a:xfrm>
          <a:prstGeom prst="rect">
            <a:avLst/>
          </a:prstGeom>
          <a:noFill/>
          <a:ln/>
        </p:spPr>
        <p:txBody>
          <a:bodyPr wrap="square" lIns="0" tIns="0" rIns="0" bIns="0" rtlCol="0" anchor="ctr"/>
          <a:lstStyle/>
          <a:p>
            <a:pPr indent="0" marL="0">
              <a:buNone/>
            </a:pPr>
            <a:r>
              <a:rPr lang="en-US" sz="6800" b="1" dirty="0">
                <a:solidFill>
                  <a:srgbClr val="8B99AF"/>
                </a:solidFill>
                <a:latin typeface="Cambria" pitchFamily="34" charset="0"/>
                <a:ea typeface="Cambria" pitchFamily="34" charset="-122"/>
                <a:cs typeface="Cambria" pitchFamily="34" charset="-120"/>
              </a:rPr>
              <a:t>91%</a:t>
            </a:r>
            <a:pPr indent="0" marL="0">
              <a:buNone/>
            </a:pPr>
            <a:r>
              <a:rPr lang="en-US" sz="4400" b="1" dirty="0">
                <a:solidFill>
                  <a:srgbClr val="5A6B87"/>
                </a:solidFill>
                <a:latin typeface="Cambria" pitchFamily="34" charset="0"/>
                <a:ea typeface="Cambria" pitchFamily="34" charset="-122"/>
                <a:cs typeface="Cambria" pitchFamily="34" charset="-120"/>
              </a:rPr>
              <a:t>  -&gt;  </a:t>
            </a:r>
            <a:pPr indent="0" marL="0">
              <a:buNone/>
            </a:pPr>
            <a:r>
              <a:rPr lang="en-US" sz="6800" b="1" dirty="0">
                <a:solidFill>
                  <a:srgbClr val="FFB703"/>
                </a:solidFill>
                <a:latin typeface="Cambria" pitchFamily="34" charset="0"/>
                <a:ea typeface="Cambria" pitchFamily="34" charset="-122"/>
                <a:cs typeface="Cambria" pitchFamily="34" charset="-120"/>
              </a:rPr>
              <a:t>76%</a:t>
            </a:r>
            <a:endParaRPr lang="en-US" sz="6800" dirty="0"/>
          </a:p>
        </p:txBody>
      </p:sp>
      <p:sp>
        <p:nvSpPr>
          <p:cNvPr id="12" name="Text 10"/>
          <p:cNvSpPr/>
          <p:nvPr/>
        </p:nvSpPr>
        <p:spPr>
          <a:xfrm>
            <a:off x="502920" y="3017520"/>
            <a:ext cx="8229600" cy="365760"/>
          </a:xfrm>
          <a:prstGeom prst="rect">
            <a:avLst/>
          </a:prstGeom>
          <a:noFill/>
          <a:ln/>
        </p:spPr>
        <p:txBody>
          <a:bodyPr wrap="square" lIns="0" tIns="0" rIns="0" bIns="0" rtlCol="0" anchor="ctr"/>
          <a:lstStyle/>
          <a:p>
            <a:pPr indent="0" marL="0">
              <a:buNone/>
            </a:pPr>
            <a:r>
              <a:rPr lang="en-US" sz="1300" i="1" dirty="0">
                <a:solidFill>
                  <a:srgbClr val="9FB1C8"/>
                </a:solidFill>
                <a:latin typeface="Calibri" pitchFamily="34" charset="0"/>
                <a:ea typeface="Calibri" pitchFamily="34" charset="-122"/>
                <a:cs typeface="Calibri" pitchFamily="34" charset="-120"/>
              </a:rPr>
              <a:t>reported accuracy, before vs. after removing synthetic data augmentation</a:t>
            </a:r>
            <a:endParaRPr lang="en-US" sz="1300" dirty="0"/>
          </a:p>
        </p:txBody>
      </p:sp>
      <p:sp>
        <p:nvSpPr>
          <p:cNvPr id="13" name="Text 11"/>
          <p:cNvSpPr/>
          <p:nvPr/>
        </p:nvSpPr>
        <p:spPr>
          <a:xfrm>
            <a:off x="502920" y="3611880"/>
            <a:ext cx="7863840" cy="2468880"/>
          </a:xfrm>
          <a:prstGeom prst="rect">
            <a:avLst/>
          </a:prstGeom>
          <a:noFill/>
          <a:ln/>
        </p:spPr>
        <p:txBody>
          <a:bodyPr wrap="square" lIns="0" tIns="0" rIns="0" bIns="0" rtlCol="0" anchor="ctr"/>
          <a:lstStyle/>
          <a:p>
            <a:pPr indent="0" marL="0">
              <a:lnSpc>
                <a:spcPct val="135000"/>
              </a:lnSpc>
              <a:buNone/>
            </a:pPr>
            <a:r>
              <a:rPr lang="en-US" sz="1400" dirty="0">
                <a:solidFill>
                  <a:srgbClr val="E7ECF4"/>
                </a:solidFill>
                <a:latin typeface="Calibri" pitchFamily="34" charset="0"/>
                <a:ea typeface="Calibri" pitchFamily="34" charset="-122"/>
                <a:cs typeface="Calibri" pitchFamily="34" charset="-120"/>
              </a:rPr>
              <a:t>An earlier version of this pipeline trained on </a:t>
            </a:r>
            <a:pPr indent="0" marL="0">
              <a:lnSpc>
                <a:spcPct val="135000"/>
              </a:lnSpc>
              <a:buNone/>
            </a:pPr>
            <a:r>
              <a:rPr lang="en-US" sz="1400" b="1" dirty="0">
                <a:solidFill>
                  <a:srgbClr val="FFFFFF"/>
                </a:solidFill>
                <a:latin typeface="Calibri" pitchFamily="34" charset="0"/>
                <a:ea typeface="Calibri" pitchFamily="34" charset="-122"/>
                <a:cs typeface="Calibri" pitchFamily="34" charset="-120"/>
              </a:rPr>
              <a:t>Python-augmented synthetic data</a:t>
            </a:r>
            <a:pPr indent="0" marL="0">
              <a:lnSpc>
                <a:spcPct val="135000"/>
              </a:lnSpc>
              <a:buNone/>
            </a:pPr>
            <a:r>
              <a:rPr lang="en-US" sz="1400" dirty="0">
                <a:solidFill>
                  <a:srgbClr val="E7ECF4"/>
                </a:solidFill>
                <a:latin typeface="Calibri" pitchFamily="34" charset="0"/>
                <a:ea typeface="Calibri" pitchFamily="34" charset="-122"/>
                <a:cs typeface="Calibri" pitchFamily="34" charset="-120"/>
              </a:rPr>
              <a:t> and reported 91% accuracy. Replacing it with pure </a:t>
            </a:r>
            <a:pPr indent="0" marL="0">
              <a:lnSpc>
                <a:spcPct val="135000"/>
              </a:lnSpc>
              <a:buNone/>
            </a:pPr>
            <a:r>
              <a:rPr lang="en-US" sz="1400" b="1" dirty="0">
                <a:solidFill>
                  <a:srgbClr val="FFFFFF"/>
                </a:solidFill>
                <a:latin typeface="Calibri" pitchFamily="34" charset="0"/>
                <a:ea typeface="Calibri" pitchFamily="34" charset="-122"/>
                <a:cs typeface="Calibri" pitchFamily="34" charset="-120"/>
              </a:rPr>
              <a:t>physics-based LTspice sweep data</a:t>
            </a:r>
            <a:pPr indent="0" marL="0">
              <a:lnSpc>
                <a:spcPct val="135000"/>
              </a:lnSpc>
              <a:buNone/>
            </a:pPr>
            <a:r>
              <a:rPr lang="en-US" sz="1400" dirty="0">
                <a:solidFill>
                  <a:srgbClr val="E7ECF4"/>
                </a:solidFill>
                <a:latin typeface="Calibri" pitchFamily="34" charset="0"/>
                <a:ea typeface="Calibri" pitchFamily="34" charset="-122"/>
                <a:cs typeface="Calibri" pitchFamily="34" charset="-120"/>
              </a:rPr>
              <a:t> — real simulation variation, no synthetic shortcuts — dropped accuracy to ~76%.
</a:t>
            </a:r>
            <a:pPr indent="0" marL="0">
              <a:lnSpc>
                <a:spcPct val="135000"/>
              </a:lnSpc>
              <a:buNone/>
            </a:pPr>
            <a:r>
              <a:rPr lang="en-US" sz="1400" i="1" dirty="0">
                <a:solidFill>
                  <a:srgbClr val="FFB703"/>
                </a:solidFill>
                <a:latin typeface="Calibri" pitchFamily="34" charset="0"/>
                <a:ea typeface="Calibri" pitchFamily="34" charset="-122"/>
                <a:cs typeface="Calibri" pitchFamily="34" charset="-120"/>
              </a:rPr>
              <a:t>The model hadn't learned circuit fault physics — it had learned to recognise the augmentation transform itself. The lower, honest number is the more trustworthy result.</a:t>
            </a:r>
            <a:endParaRPr lang="en-US" sz="1400" dirty="0"/>
          </a:p>
        </p:txBody>
      </p:sp>
      <p:sp>
        <p:nvSpPr>
          <p:cNvPr id="14" name="Shape 12"/>
          <p:cNvSpPr/>
          <p:nvPr/>
        </p:nvSpPr>
        <p:spPr>
          <a:xfrm>
            <a:off x="9509760" y="3931920"/>
            <a:ext cx="1371600" cy="1371600"/>
          </a:xfrm>
          <a:prstGeom prst="ellipse">
            <a:avLst/>
          </a:prstGeom>
          <a:solidFill>
            <a:srgbClr val="132A4C"/>
          </a:solidFill>
          <a:ln/>
          <a:effectLst>
            <a:outerShdw sx="100000" sy="100000" kx="0" ky="0" algn="bl" rotWithShape="0" blurRad="114300" dist="38100" dir="2700000">
              <a:srgbClr val="0B1F3A">
                <a:alpha val="14000"/>
              </a:srgbClr>
            </a:outerShdw>
          </a:effectLst>
        </p:spPr>
      </p:sp>
      <p:pic>
        <p:nvPicPr>
          <p:cNvPr id="15" name="Image 0" descr="/sessions/blissful-zealous-babbage/mnt/outputs/ppt/icons/bulb_FFB703.png">    </p:cNvPr>
          <p:cNvPicPr>
            <a:picLocks noChangeAspect="1"/>
          </p:cNvPicPr>
          <p:nvPr/>
        </p:nvPicPr>
        <p:blipFill>
          <a:blip r:embed="rId1"/>
          <a:stretch>
            <a:fillRect/>
          </a:stretch>
        </p:blipFill>
        <p:spPr>
          <a:xfrm>
            <a:off x="9694926" y="4117086"/>
            <a:ext cx="1001268" cy="1001268"/>
          </a:xfrm>
          <a:prstGeom prst="rect">
            <a:avLst/>
          </a:prstGeom>
        </p:spPr>
      </p:pic>
      <p:sp>
        <p:nvSpPr>
          <p:cNvPr id="16" name="Text 13"/>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7" name="Text 14"/>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56</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8. KEY FINDING &amp; LIMITS</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Where the Model Still Struggles</a:t>
            </a:r>
            <a:endParaRPr lang="en-US" sz="3000" dirty="0"/>
          </a:p>
        </p:txBody>
      </p:sp>
      <p:sp>
        <p:nvSpPr>
          <p:cNvPr id="4" name="Shape 2"/>
          <p:cNvSpPr/>
          <p:nvPr/>
        </p:nvSpPr>
        <p:spPr>
          <a:xfrm>
            <a:off x="502920" y="1783080"/>
            <a:ext cx="5166360" cy="1691640"/>
          </a:xfrm>
          <a:prstGeom prst="roundRect">
            <a:avLst>
              <a:gd name="adj" fmla="val 4865"/>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5" name="Shape 3"/>
          <p:cNvSpPr/>
          <p:nvPr/>
        </p:nvSpPr>
        <p:spPr>
          <a:xfrm>
            <a:off x="758952" y="2039112"/>
            <a:ext cx="621792" cy="621792"/>
          </a:xfrm>
          <a:prstGeom prst="ellipse">
            <a:avLst/>
          </a:prstGeom>
          <a:solidFill>
            <a:srgbClr val="D9695F"/>
          </a:solidFill>
          <a:ln/>
          <a:effectLst>
            <a:outerShdw sx="100000" sy="100000" kx="0" ky="0" algn="bl" rotWithShape="0" blurRad="114300" dist="38100" dir="2700000">
              <a:srgbClr val="0B1F3A">
                <a:alpha val="14000"/>
              </a:srgbClr>
            </a:outerShdw>
          </a:effectLst>
        </p:spPr>
      </p:sp>
      <p:pic>
        <p:nvPicPr>
          <p:cNvPr id="6" name="Image 0" descr="/sessions/blissful-zealous-babbage/mnt/outputs/ppt/icons/warn_FFFFFF.png">    </p:cNvPr>
          <p:cNvPicPr>
            <a:picLocks noChangeAspect="1"/>
          </p:cNvPicPr>
          <p:nvPr/>
        </p:nvPicPr>
        <p:blipFill>
          <a:blip r:embed="rId1"/>
          <a:stretch>
            <a:fillRect/>
          </a:stretch>
        </p:blipFill>
        <p:spPr>
          <a:xfrm>
            <a:off x="842894" y="2123054"/>
            <a:ext cx="453908" cy="453908"/>
          </a:xfrm>
          <a:prstGeom prst="rect">
            <a:avLst/>
          </a:prstGeom>
        </p:spPr>
      </p:pic>
      <p:sp>
        <p:nvSpPr>
          <p:cNvPr id="7" name="Text 4"/>
          <p:cNvSpPr/>
          <p:nvPr/>
        </p:nvSpPr>
        <p:spPr>
          <a:xfrm>
            <a:off x="1536192" y="2039112"/>
            <a:ext cx="3904488" cy="438912"/>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Small per-class test sets</a:t>
            </a:r>
            <a:endParaRPr lang="en-US" sz="1350" dirty="0"/>
          </a:p>
        </p:txBody>
      </p:sp>
      <p:sp>
        <p:nvSpPr>
          <p:cNvPr id="8" name="Text 5"/>
          <p:cNvSpPr/>
          <p:nvPr/>
        </p:nvSpPr>
        <p:spPr>
          <a:xfrm>
            <a:off x="777240" y="2679192"/>
            <a:ext cx="4617720" cy="731520"/>
          </a:xfrm>
          <a:prstGeom prst="rect">
            <a:avLst/>
          </a:prstGeom>
          <a:noFill/>
          <a:ln/>
        </p:spPr>
        <p:txBody>
          <a:bodyPr wrap="square" lIns="0" tIns="0" rIns="0" bIns="0" rtlCol="0" anchor="ctr"/>
          <a:lstStyle/>
          <a:p>
            <a:pPr indent="0" marL="0">
              <a:lnSpc>
                <a:spcPct val="122000"/>
              </a:lnSpc>
              <a:buNone/>
            </a:pPr>
            <a:r>
              <a:rPr lang="en-US" sz="1050" dirty="0">
                <a:solidFill>
                  <a:srgbClr val="64748B"/>
                </a:solidFill>
                <a:latin typeface="Calibri" pitchFamily="34" charset="0"/>
                <a:ea typeface="Calibri" pitchFamily="34" charset="-122"/>
                <a:cs typeface="Calibri" pitchFamily="34" charset="-120"/>
              </a:rPr>
              <a:t>Only ~10 test samples per class — a couple of misses can swing an F1 score sharply (e.g. RC_LADDER_short F1 = 0.18).</a:t>
            </a:r>
            <a:endParaRPr lang="en-US" sz="1050" dirty="0"/>
          </a:p>
        </p:txBody>
      </p:sp>
      <p:sp>
        <p:nvSpPr>
          <p:cNvPr id="9" name="Shape 6"/>
          <p:cNvSpPr/>
          <p:nvPr/>
        </p:nvSpPr>
        <p:spPr>
          <a:xfrm>
            <a:off x="6126480" y="1783080"/>
            <a:ext cx="5166360" cy="1691640"/>
          </a:xfrm>
          <a:prstGeom prst="roundRect">
            <a:avLst>
              <a:gd name="adj" fmla="val 4865"/>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0" name="Shape 7"/>
          <p:cNvSpPr/>
          <p:nvPr/>
        </p:nvSpPr>
        <p:spPr>
          <a:xfrm>
            <a:off x="6382512" y="2039112"/>
            <a:ext cx="621792" cy="621792"/>
          </a:xfrm>
          <a:prstGeom prst="ellipse">
            <a:avLst/>
          </a:prstGeom>
          <a:solidFill>
            <a:srgbClr val="D9695F"/>
          </a:solidFill>
          <a:ln/>
          <a:effectLst>
            <a:outerShdw sx="100000" sy="100000" kx="0" ky="0" algn="bl" rotWithShape="0" blurRad="114300" dist="38100" dir="2700000">
              <a:srgbClr val="0B1F3A">
                <a:alpha val="14000"/>
              </a:srgbClr>
            </a:outerShdw>
          </a:effectLst>
        </p:spPr>
      </p:sp>
      <p:pic>
        <p:nvPicPr>
          <p:cNvPr id="11" name="Image 1" descr="/sessions/blissful-zealous-babbage/mnt/outputs/ppt/icons/random_FFFFFF.png">    </p:cNvPr>
          <p:cNvPicPr>
            <a:picLocks noChangeAspect="1"/>
          </p:cNvPicPr>
          <p:nvPr/>
        </p:nvPicPr>
        <p:blipFill>
          <a:blip r:embed="rId2"/>
          <a:stretch>
            <a:fillRect/>
          </a:stretch>
        </p:blipFill>
        <p:spPr>
          <a:xfrm>
            <a:off x="6466454" y="2123054"/>
            <a:ext cx="453908" cy="453908"/>
          </a:xfrm>
          <a:prstGeom prst="rect">
            <a:avLst/>
          </a:prstGeom>
        </p:spPr>
      </p:pic>
      <p:sp>
        <p:nvSpPr>
          <p:cNvPr id="12" name="Text 8"/>
          <p:cNvSpPr/>
          <p:nvPr/>
        </p:nvSpPr>
        <p:spPr>
          <a:xfrm>
            <a:off x="7159752" y="2039112"/>
            <a:ext cx="3904488" cy="438912"/>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Drift is the hardest fault everywhere</a:t>
            </a:r>
            <a:endParaRPr lang="en-US" sz="1350" dirty="0"/>
          </a:p>
        </p:txBody>
      </p:sp>
      <p:sp>
        <p:nvSpPr>
          <p:cNvPr id="13" name="Text 9"/>
          <p:cNvSpPr/>
          <p:nvPr/>
        </p:nvSpPr>
        <p:spPr>
          <a:xfrm>
            <a:off x="6400800" y="2679192"/>
            <a:ext cx="4617720" cy="731520"/>
          </a:xfrm>
          <a:prstGeom prst="rect">
            <a:avLst/>
          </a:prstGeom>
          <a:noFill/>
          <a:ln/>
        </p:spPr>
        <p:txBody>
          <a:bodyPr wrap="square" lIns="0" tIns="0" rIns="0" bIns="0" rtlCol="0" anchor="ctr"/>
          <a:lstStyle/>
          <a:p>
            <a:pPr indent="0" marL="0">
              <a:lnSpc>
                <a:spcPct val="122000"/>
              </a:lnSpc>
              <a:buNone/>
            </a:pPr>
            <a:r>
              <a:rPr lang="en-US" sz="1050" dirty="0">
                <a:solidFill>
                  <a:srgbClr val="64748B"/>
                </a:solidFill>
                <a:latin typeface="Calibri" pitchFamily="34" charset="0"/>
                <a:ea typeface="Calibri" pitchFamily="34" charset="-122"/>
                <a:cs typeface="Calibri" pitchFamily="34" charset="-120"/>
              </a:rPr>
              <a:t>Across every circuit, drift is the fault type most often confused with normal — it's inherently a point on a continuum, not a discrete change.</a:t>
            </a:r>
            <a:endParaRPr lang="en-US" sz="1050" dirty="0"/>
          </a:p>
        </p:txBody>
      </p:sp>
      <p:sp>
        <p:nvSpPr>
          <p:cNvPr id="14" name="Shape 10"/>
          <p:cNvSpPr/>
          <p:nvPr/>
        </p:nvSpPr>
        <p:spPr>
          <a:xfrm>
            <a:off x="502920" y="3675888"/>
            <a:ext cx="5166360" cy="1691640"/>
          </a:xfrm>
          <a:prstGeom prst="roundRect">
            <a:avLst>
              <a:gd name="adj" fmla="val 4865"/>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5" name="Shape 11"/>
          <p:cNvSpPr/>
          <p:nvPr/>
        </p:nvSpPr>
        <p:spPr>
          <a:xfrm>
            <a:off x="758952" y="3931920"/>
            <a:ext cx="621792" cy="621792"/>
          </a:xfrm>
          <a:prstGeom prst="ellipse">
            <a:avLst/>
          </a:prstGeom>
          <a:solidFill>
            <a:srgbClr val="D9695F"/>
          </a:solidFill>
          <a:ln/>
          <a:effectLst>
            <a:outerShdw sx="100000" sy="100000" kx="0" ky="0" algn="bl" rotWithShape="0" blurRad="114300" dist="38100" dir="2700000">
              <a:srgbClr val="0B1F3A">
                <a:alpha val="14000"/>
              </a:srgbClr>
            </a:outerShdw>
          </a:effectLst>
        </p:spPr>
      </p:sp>
      <p:pic>
        <p:nvPicPr>
          <p:cNvPr id="16" name="Image 2" descr="/sessions/blissful-zealous-babbage/mnt/outputs/ppt/icons/sitemap_FFFFFF.png">    </p:cNvPr>
          <p:cNvPicPr>
            <a:picLocks noChangeAspect="1"/>
          </p:cNvPicPr>
          <p:nvPr/>
        </p:nvPicPr>
        <p:blipFill>
          <a:blip r:embed="rId3"/>
          <a:stretch>
            <a:fillRect/>
          </a:stretch>
        </p:blipFill>
        <p:spPr>
          <a:xfrm>
            <a:off x="842894" y="4015862"/>
            <a:ext cx="453908" cy="453908"/>
          </a:xfrm>
          <a:prstGeom prst="rect">
            <a:avLst/>
          </a:prstGeom>
        </p:spPr>
      </p:pic>
      <p:sp>
        <p:nvSpPr>
          <p:cNvPr id="17" name="Text 12"/>
          <p:cNvSpPr/>
          <p:nvPr/>
        </p:nvSpPr>
        <p:spPr>
          <a:xfrm>
            <a:off x="1536192" y="3931920"/>
            <a:ext cx="3904488" cy="438912"/>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Limited topology scope</a:t>
            </a:r>
            <a:endParaRPr lang="en-US" sz="1350" dirty="0"/>
          </a:p>
        </p:txBody>
      </p:sp>
      <p:sp>
        <p:nvSpPr>
          <p:cNvPr id="18" name="Text 13"/>
          <p:cNvSpPr/>
          <p:nvPr/>
        </p:nvSpPr>
        <p:spPr>
          <a:xfrm>
            <a:off x="777240" y="4572000"/>
            <a:ext cx="4617720" cy="731520"/>
          </a:xfrm>
          <a:prstGeom prst="rect">
            <a:avLst/>
          </a:prstGeom>
          <a:noFill/>
          <a:ln/>
        </p:spPr>
        <p:txBody>
          <a:bodyPr wrap="square" lIns="0" tIns="0" rIns="0" bIns="0" rtlCol="0" anchor="ctr"/>
          <a:lstStyle/>
          <a:p>
            <a:pPr indent="0" marL="0">
              <a:lnSpc>
                <a:spcPct val="122000"/>
              </a:lnSpc>
              <a:buNone/>
            </a:pPr>
            <a:r>
              <a:rPr lang="en-US" sz="1050" dirty="0">
                <a:solidFill>
                  <a:srgbClr val="64748B"/>
                </a:solidFill>
                <a:latin typeface="Calibri" pitchFamily="34" charset="0"/>
                <a:ea typeface="Calibri" pitchFamily="34" charset="-122"/>
                <a:cs typeface="Calibri" pitchFamily="34" charset="-120"/>
              </a:rPr>
              <a:t>Only 4 topologies and 5 fault types studied so far — real analog designs are far more diverse.</a:t>
            </a:r>
            <a:endParaRPr lang="en-US" sz="1050" dirty="0"/>
          </a:p>
        </p:txBody>
      </p:sp>
      <p:sp>
        <p:nvSpPr>
          <p:cNvPr id="19" name="Shape 14"/>
          <p:cNvSpPr/>
          <p:nvPr/>
        </p:nvSpPr>
        <p:spPr>
          <a:xfrm>
            <a:off x="6126480" y="3675888"/>
            <a:ext cx="5166360" cy="1691640"/>
          </a:xfrm>
          <a:prstGeom prst="roundRect">
            <a:avLst>
              <a:gd name="adj" fmla="val 4865"/>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20" name="Shape 15"/>
          <p:cNvSpPr/>
          <p:nvPr/>
        </p:nvSpPr>
        <p:spPr>
          <a:xfrm>
            <a:off x="6382512" y="3931920"/>
            <a:ext cx="621792" cy="621792"/>
          </a:xfrm>
          <a:prstGeom prst="ellipse">
            <a:avLst/>
          </a:prstGeom>
          <a:solidFill>
            <a:srgbClr val="D9695F"/>
          </a:solidFill>
          <a:ln/>
          <a:effectLst>
            <a:outerShdw sx="100000" sy="100000" kx="0" ky="0" algn="bl" rotWithShape="0" blurRad="114300" dist="38100" dir="2700000">
              <a:srgbClr val="0B1F3A">
                <a:alpha val="14000"/>
              </a:srgbClr>
            </a:outerShdw>
          </a:effectLst>
        </p:spPr>
      </p:sp>
      <p:pic>
        <p:nvPicPr>
          <p:cNvPr id="21" name="Image 3" descr="/sessions/blissful-zealous-babbage/mnt/outputs/ppt/icons/flask_FFFFFF.png">    </p:cNvPr>
          <p:cNvPicPr>
            <a:picLocks noChangeAspect="1"/>
          </p:cNvPicPr>
          <p:nvPr/>
        </p:nvPicPr>
        <p:blipFill>
          <a:blip r:embed="rId4"/>
          <a:stretch>
            <a:fillRect/>
          </a:stretch>
        </p:blipFill>
        <p:spPr>
          <a:xfrm>
            <a:off x="6466454" y="4015862"/>
            <a:ext cx="453908" cy="453908"/>
          </a:xfrm>
          <a:prstGeom prst="rect">
            <a:avLst/>
          </a:prstGeom>
        </p:spPr>
      </p:pic>
      <p:sp>
        <p:nvSpPr>
          <p:cNvPr id="22" name="Text 16"/>
          <p:cNvSpPr/>
          <p:nvPr/>
        </p:nvSpPr>
        <p:spPr>
          <a:xfrm>
            <a:off x="7159752" y="3931920"/>
            <a:ext cx="3904488" cy="438912"/>
          </a:xfrm>
          <a:prstGeom prst="rect">
            <a:avLst/>
          </a:prstGeom>
          <a:noFill/>
          <a:ln/>
        </p:spPr>
        <p:txBody>
          <a:bodyPr wrap="square" lIns="0" tIns="0" rIns="0" bIns="0" rtlCol="0" anchor="ctr"/>
          <a:lstStyle/>
          <a:p>
            <a:pPr indent="0" marL="0">
              <a:buNone/>
            </a:pPr>
            <a:r>
              <a:rPr lang="en-US" sz="1350" b="1" dirty="0">
                <a:solidFill>
                  <a:srgbClr val="0B1F3A"/>
                </a:solidFill>
                <a:latin typeface="Calibri" pitchFamily="34" charset="0"/>
                <a:ea typeface="Calibri" pitchFamily="34" charset="-122"/>
                <a:cs typeface="Calibri" pitchFamily="34" charset="-120"/>
              </a:rPr>
              <a:t>Simulation-only validation</a:t>
            </a:r>
            <a:endParaRPr lang="en-US" sz="1350" dirty="0"/>
          </a:p>
        </p:txBody>
      </p:sp>
      <p:sp>
        <p:nvSpPr>
          <p:cNvPr id="23" name="Text 17"/>
          <p:cNvSpPr/>
          <p:nvPr/>
        </p:nvSpPr>
        <p:spPr>
          <a:xfrm>
            <a:off x="6400800" y="4572000"/>
            <a:ext cx="4617720" cy="731520"/>
          </a:xfrm>
          <a:prstGeom prst="rect">
            <a:avLst/>
          </a:prstGeom>
          <a:noFill/>
          <a:ln/>
        </p:spPr>
        <p:txBody>
          <a:bodyPr wrap="square" lIns="0" tIns="0" rIns="0" bIns="0" rtlCol="0" anchor="ctr"/>
          <a:lstStyle/>
          <a:p>
            <a:pPr indent="0" marL="0">
              <a:lnSpc>
                <a:spcPct val="122000"/>
              </a:lnSpc>
              <a:buNone/>
            </a:pPr>
            <a:r>
              <a:rPr lang="en-US" sz="1050" dirty="0">
                <a:solidFill>
                  <a:srgbClr val="64748B"/>
                </a:solidFill>
                <a:latin typeface="Calibri" pitchFamily="34" charset="0"/>
                <a:ea typeface="Calibri" pitchFamily="34" charset="-122"/>
                <a:cs typeface="Calibri" pitchFamily="34" charset="-120"/>
              </a:rPr>
              <a:t>Entirely LTspice-based — no real hardware fault injection has been performed yet, so the simulation-to-reality gap is untested.</a:t>
            </a:r>
            <a:endParaRPr lang="en-US" sz="1050" dirty="0"/>
          </a:p>
        </p:txBody>
      </p:sp>
      <p:sp>
        <p:nvSpPr>
          <p:cNvPr id="24" name="Shape 18"/>
          <p:cNvSpPr/>
          <p:nvPr/>
        </p:nvSpPr>
        <p:spPr>
          <a:xfrm>
            <a:off x="502920" y="5779008"/>
            <a:ext cx="10607040" cy="621792"/>
          </a:xfrm>
          <a:prstGeom prst="roundRect">
            <a:avLst>
              <a:gd name="adj" fmla="val 11765"/>
            </a:avLst>
          </a:prstGeom>
          <a:solidFill>
            <a:srgbClr val="0B1F3A"/>
          </a:solidFill>
          <a:ln/>
          <a:effectLst>
            <a:outerShdw sx="100000" sy="100000" kx="0" ky="0" algn="bl" rotWithShape="0" blurRad="114300" dist="38100" dir="2700000">
              <a:srgbClr val="0B1F3A">
                <a:alpha val="14000"/>
              </a:srgbClr>
            </a:outerShdw>
          </a:effectLst>
        </p:spPr>
      </p:sp>
      <p:sp>
        <p:nvSpPr>
          <p:cNvPr id="25" name="Text 19"/>
          <p:cNvSpPr/>
          <p:nvPr/>
        </p:nvSpPr>
        <p:spPr>
          <a:xfrm>
            <a:off x="777240" y="5779008"/>
            <a:ext cx="10058400" cy="621792"/>
          </a:xfrm>
          <a:prstGeom prst="rect">
            <a:avLst/>
          </a:prstGeom>
          <a:noFill/>
          <a:ln/>
        </p:spPr>
        <p:txBody>
          <a:bodyPr wrap="square" lIns="0" tIns="0" rIns="0" bIns="0" rtlCol="0" anchor="ctr"/>
          <a:lstStyle/>
          <a:p>
            <a:pPr indent="0" marL="0">
              <a:lnSpc>
                <a:spcPct val="115000"/>
              </a:lnSpc>
              <a:buNone/>
            </a:pPr>
            <a:r>
              <a:rPr lang="en-US" sz="1000" b="1" dirty="0">
                <a:solidFill>
                  <a:srgbClr val="FFB703"/>
                </a:solidFill>
                <a:latin typeface="Calibri" pitchFamily="34" charset="0"/>
                <a:ea typeface="Calibri" pitchFamily="34" charset="-122"/>
                <a:cs typeface="Calibri" pitchFamily="34" charset="-120"/>
              </a:rPr>
              <a:t>How uncertain is 78.43%, really?  </a:t>
            </a:r>
            <a:pPr indent="0" marL="0">
              <a:lnSpc>
                <a:spcPct val="115000"/>
              </a:lnSpc>
              <a:buNone/>
            </a:pPr>
            <a:r>
              <a:rPr lang="en-US" sz="1000" dirty="0">
                <a:solidFill>
                  <a:srgbClr val="E7ECF4"/>
                </a:solidFill>
                <a:latin typeface="Calibri" pitchFamily="34" charset="0"/>
                <a:ea typeface="Calibri" pitchFamily="34" charset="-122"/>
                <a:cs typeface="Calibri" pitchFamily="34" charset="-120"/>
              </a:rPr>
              <a:t>With only 204 test samples, the 95% confidence interval on the headline accuracy is roughly </a:t>
            </a:r>
            <a:pPr indent="0" marL="0">
              <a:lnSpc>
                <a:spcPct val="115000"/>
              </a:lnSpc>
              <a:buNone/>
            </a:pPr>
            <a:r>
              <a:rPr lang="en-US" sz="1000" b="1" dirty="0">
                <a:solidFill>
                  <a:srgbClr val="FFFFFF"/>
                </a:solidFill>
                <a:latin typeface="Calibri" pitchFamily="34" charset="0"/>
                <a:ea typeface="Calibri" pitchFamily="34" charset="-122"/>
                <a:cs typeface="Calibri" pitchFamily="34" charset="-120"/>
              </a:rPr>
              <a:t>78.4% ± 5.6 points</a:t>
            </a:r>
            <a:pPr indent="0" marL="0">
              <a:lnSpc>
                <a:spcPct val="115000"/>
              </a:lnSpc>
              <a:buNone/>
            </a:pPr>
            <a:r>
              <a:rPr lang="en-US" sz="1000" dirty="0">
                <a:solidFill>
                  <a:srgbClr val="E7ECF4"/>
                </a:solidFill>
                <a:latin typeface="Calibri" pitchFamily="34" charset="0"/>
                <a:ea typeface="Calibri" pitchFamily="34" charset="-122"/>
                <a:cs typeface="Calibri" pitchFamily="34" charset="-120"/>
              </a:rPr>
              <a:t> (binomial standard error) — a reminder that a single test-set number this size deserves a healthy margin of doubt.</a:t>
            </a:r>
            <a:endParaRPr lang="en-US" sz="1000" dirty="0"/>
          </a:p>
        </p:txBody>
      </p:sp>
      <p:sp>
        <p:nvSpPr>
          <p:cNvPr id="26" name="Text 20"/>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7" name="Text 21"/>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57</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9. DEMO &amp; CONCLUSION</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Try It Yourself: Live Web App</a:t>
            </a:r>
            <a:endParaRPr lang="en-US" sz="3000" dirty="0"/>
          </a:p>
        </p:txBody>
      </p:sp>
      <p:sp>
        <p:nvSpPr>
          <p:cNvPr id="4" name="Shape 2"/>
          <p:cNvSpPr/>
          <p:nvPr/>
        </p:nvSpPr>
        <p:spPr>
          <a:xfrm>
            <a:off x="502920" y="1783080"/>
            <a:ext cx="6035040" cy="4251960"/>
          </a:xfrm>
          <a:prstGeom prst="roundRect">
            <a:avLst>
              <a:gd name="adj" fmla="val 1505"/>
            </a:avLst>
          </a:prstGeom>
          <a:solidFill>
            <a:srgbClr val="EAEEF4"/>
          </a:solidFill>
          <a:ln w="15875">
            <a:solidFill>
              <a:srgbClr val="9FB1C8"/>
            </a:solidFill>
            <a:prstDash val="dash"/>
          </a:ln>
        </p:spPr>
      </p:sp>
      <p:pic>
        <p:nvPicPr>
          <p:cNvPr id="5" name="Image 0" descr="/sessions/blissful-zealous-babbage/mnt/outputs/ppt/icons/laptop_64748B.png">    </p:cNvPr>
          <p:cNvPicPr>
            <a:picLocks noChangeAspect="1"/>
          </p:cNvPicPr>
          <p:nvPr/>
        </p:nvPicPr>
        <p:blipFill>
          <a:blip r:embed="rId1"/>
          <a:stretch>
            <a:fillRect/>
          </a:stretch>
        </p:blipFill>
        <p:spPr>
          <a:xfrm>
            <a:off x="3236976" y="2520086"/>
            <a:ext cx="566928" cy="566928"/>
          </a:xfrm>
          <a:prstGeom prst="rect">
            <a:avLst/>
          </a:prstGeom>
        </p:spPr>
      </p:pic>
      <p:sp>
        <p:nvSpPr>
          <p:cNvPr id="6" name="Text 3"/>
          <p:cNvSpPr/>
          <p:nvPr/>
        </p:nvSpPr>
        <p:spPr>
          <a:xfrm>
            <a:off x="685800" y="3001975"/>
            <a:ext cx="5669280" cy="365760"/>
          </a:xfrm>
          <a:prstGeom prst="rect">
            <a:avLst/>
          </a:prstGeom>
          <a:noFill/>
          <a:ln/>
        </p:spPr>
        <p:txBody>
          <a:bodyPr wrap="square" lIns="0" tIns="0" rIns="0" bIns="0" rtlCol="0" anchor="ctr"/>
          <a:lstStyle/>
          <a:p>
            <a:pPr algn="ctr" indent="0" marL="0">
              <a:buNone/>
            </a:pPr>
            <a:r>
              <a:rPr lang="en-US" sz="1300" b="1" dirty="0">
                <a:solidFill>
                  <a:srgbClr val="5B6B84"/>
                </a:solidFill>
                <a:latin typeface="Calibri" pitchFamily="34" charset="0"/>
                <a:ea typeface="Calibri" pitchFamily="34" charset="-122"/>
                <a:cs typeface="Calibri" pitchFamily="34" charset="-120"/>
              </a:rPr>
              <a:t>APP SCREENSHOT</a:t>
            </a:r>
            <a:endParaRPr lang="en-US" sz="1300" dirty="0"/>
          </a:p>
        </p:txBody>
      </p:sp>
      <p:sp>
        <p:nvSpPr>
          <p:cNvPr id="7" name="Text 4"/>
          <p:cNvSpPr/>
          <p:nvPr/>
        </p:nvSpPr>
        <p:spPr>
          <a:xfrm>
            <a:off x="777240" y="3349447"/>
            <a:ext cx="5486400" cy="1360627"/>
          </a:xfrm>
          <a:prstGeom prst="rect">
            <a:avLst/>
          </a:prstGeom>
          <a:noFill/>
          <a:ln/>
        </p:spPr>
        <p:txBody>
          <a:bodyPr wrap="square" lIns="0" tIns="0" rIns="0" bIns="0" rtlCol="0" anchor="ctr"/>
          <a:lstStyle/>
          <a:p>
            <a:pPr algn="ctr" indent="0" marL="0">
              <a:buNone/>
            </a:pPr>
            <a:r>
              <a:rPr lang="en-US" sz="1050" i="1" dirty="0">
                <a:solidFill>
                  <a:srgbClr val="8695AB"/>
                </a:solidFill>
                <a:latin typeface="Calibri" pitchFamily="34" charset="0"/>
                <a:ea typeface="Calibri" pitchFamily="34" charset="-122"/>
                <a:cs typeface="Calibri" pitchFamily="34" charset="-120"/>
              </a:rPr>
              <a:t>e.g. screenshot of the Streamlit</a:t>
            </a:r>
            <a:endParaRPr lang="en-US" sz="1050" dirty="0"/>
          </a:p>
          <a:p>
            <a:pPr algn="ctr" indent="0" marL="0">
              <a:buNone/>
            </a:pPr>
            <a:r>
              <a:rPr lang="en-US" sz="1050" i="1" dirty="0">
                <a:solidFill>
                  <a:srgbClr val="8695AB"/>
                </a:solidFill>
                <a:latin typeface="Calibri" pitchFamily="34" charset="0"/>
                <a:ea typeface="Calibri" pitchFamily="34" charset="-122"/>
                <a:cs typeface="Calibri" pitchFamily="34" charset="-120"/>
              </a:rPr>
              <a:t>dashboard / prediction tab</a:t>
            </a:r>
            <a:endParaRPr lang="en-US" sz="1050" dirty="0"/>
          </a:p>
        </p:txBody>
      </p:sp>
      <p:sp>
        <p:nvSpPr>
          <p:cNvPr id="8" name="Shape 5"/>
          <p:cNvSpPr/>
          <p:nvPr/>
        </p:nvSpPr>
        <p:spPr>
          <a:xfrm>
            <a:off x="6903720" y="1828800"/>
            <a:ext cx="548640" cy="54864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9" name="Image 1" descr="/sessions/blissful-zealous-babbage/mnt/outputs/ppt/icons/chartbar_00B4D8.png">    </p:cNvPr>
          <p:cNvPicPr>
            <a:picLocks noChangeAspect="1"/>
          </p:cNvPicPr>
          <p:nvPr/>
        </p:nvPicPr>
        <p:blipFill>
          <a:blip r:embed="rId2"/>
          <a:stretch>
            <a:fillRect/>
          </a:stretch>
        </p:blipFill>
        <p:spPr>
          <a:xfrm>
            <a:off x="6977786" y="1902866"/>
            <a:ext cx="400507" cy="400507"/>
          </a:xfrm>
          <a:prstGeom prst="rect">
            <a:avLst/>
          </a:prstGeom>
        </p:spPr>
      </p:pic>
      <p:sp>
        <p:nvSpPr>
          <p:cNvPr id="10" name="Text 6"/>
          <p:cNvSpPr/>
          <p:nvPr/>
        </p:nvSpPr>
        <p:spPr>
          <a:xfrm>
            <a:off x="7635240" y="1810512"/>
            <a:ext cx="3566160" cy="36576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Dashboard</a:t>
            </a:r>
            <a:endParaRPr lang="en-US" sz="1400" dirty="0"/>
          </a:p>
        </p:txBody>
      </p:sp>
      <p:sp>
        <p:nvSpPr>
          <p:cNvPr id="11" name="Text 7"/>
          <p:cNvSpPr/>
          <p:nvPr/>
        </p:nvSpPr>
        <p:spPr>
          <a:xfrm>
            <a:off x="7635240" y="2176272"/>
            <a:ext cx="3566160" cy="822960"/>
          </a:xfrm>
          <a:prstGeom prst="rect">
            <a:avLst/>
          </a:prstGeom>
          <a:noFill/>
          <a:ln/>
        </p:spPr>
        <p:txBody>
          <a:bodyPr wrap="square" lIns="0" tIns="0" rIns="0" bIns="0" rtlCol="0" anchor="ctr"/>
          <a:lstStyle/>
          <a:p>
            <a:pPr indent="0" marL="0">
              <a:lnSpc>
                <a:spcPct val="122000"/>
              </a:lnSpc>
              <a:buNone/>
            </a:pPr>
            <a:r>
              <a:rPr lang="en-US" sz="1050" dirty="0">
                <a:solidFill>
                  <a:srgbClr val="64748B"/>
                </a:solidFill>
                <a:latin typeface="Calibri" pitchFamily="34" charset="0"/>
                <a:ea typeface="Calibri" pitchFamily="34" charset="-122"/>
                <a:cs typeface="Calibri" pitchFamily="34" charset="-120"/>
              </a:rPr>
              <a:t>All results — kernel comparison, per-circuit accuracy, confusion matrix — in one view.</a:t>
            </a:r>
            <a:endParaRPr lang="en-US" sz="1050" dirty="0"/>
          </a:p>
        </p:txBody>
      </p:sp>
      <p:sp>
        <p:nvSpPr>
          <p:cNvPr id="12" name="Shape 8"/>
          <p:cNvSpPr/>
          <p:nvPr/>
        </p:nvSpPr>
        <p:spPr>
          <a:xfrm>
            <a:off x="6903720" y="3127248"/>
            <a:ext cx="548640" cy="54864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3" name="Image 2" descr="/sessions/blissful-zealous-babbage/mnt/outputs/ppt/icons/search_00B4D8.png">    </p:cNvPr>
          <p:cNvPicPr>
            <a:picLocks noChangeAspect="1"/>
          </p:cNvPicPr>
          <p:nvPr/>
        </p:nvPicPr>
        <p:blipFill>
          <a:blip r:embed="rId3"/>
          <a:stretch>
            <a:fillRect/>
          </a:stretch>
        </p:blipFill>
        <p:spPr>
          <a:xfrm>
            <a:off x="6977786" y="3201314"/>
            <a:ext cx="400507" cy="400507"/>
          </a:xfrm>
          <a:prstGeom prst="rect">
            <a:avLst/>
          </a:prstGeom>
        </p:spPr>
      </p:pic>
      <p:sp>
        <p:nvSpPr>
          <p:cNvPr id="14" name="Text 9"/>
          <p:cNvSpPr/>
          <p:nvPr/>
        </p:nvSpPr>
        <p:spPr>
          <a:xfrm>
            <a:off x="7635240" y="3108960"/>
            <a:ext cx="3566160" cy="36576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Try Prediction</a:t>
            </a:r>
            <a:endParaRPr lang="en-US" sz="1400" dirty="0"/>
          </a:p>
        </p:txBody>
      </p:sp>
      <p:sp>
        <p:nvSpPr>
          <p:cNvPr id="15" name="Text 10"/>
          <p:cNvSpPr/>
          <p:nvPr/>
        </p:nvSpPr>
        <p:spPr>
          <a:xfrm>
            <a:off x="7635240" y="3474720"/>
            <a:ext cx="3566160" cy="822960"/>
          </a:xfrm>
          <a:prstGeom prst="rect">
            <a:avLst/>
          </a:prstGeom>
          <a:noFill/>
          <a:ln/>
        </p:spPr>
        <p:txBody>
          <a:bodyPr wrap="square" lIns="0" tIns="0" rIns="0" bIns="0" rtlCol="0" anchor="ctr"/>
          <a:lstStyle/>
          <a:p>
            <a:pPr indent="0" marL="0">
              <a:lnSpc>
                <a:spcPct val="122000"/>
              </a:lnSpc>
              <a:buNone/>
            </a:pPr>
            <a:r>
              <a:rPr lang="en-US" sz="1050" dirty="0">
                <a:solidFill>
                  <a:srgbClr val="64748B"/>
                </a:solidFill>
                <a:latin typeface="Calibri" pitchFamily="34" charset="0"/>
                <a:ea typeface="Calibri" pitchFamily="34" charset="-122"/>
                <a:cs typeface="Calibri" pitchFamily="34" charset="-120"/>
              </a:rPr>
              <a:t>Pick a sample or enter feature values manually and get an instant fault classification with confidence scores.</a:t>
            </a:r>
            <a:endParaRPr lang="en-US" sz="1050" dirty="0"/>
          </a:p>
        </p:txBody>
      </p:sp>
      <p:sp>
        <p:nvSpPr>
          <p:cNvPr id="16" name="Shape 11"/>
          <p:cNvSpPr/>
          <p:nvPr/>
        </p:nvSpPr>
        <p:spPr>
          <a:xfrm>
            <a:off x="6903720" y="4425696"/>
            <a:ext cx="548640" cy="54864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7" name="Image 3" descr="/sessions/blissful-zealous-babbage/mnt/outputs/ppt/icons/database_00B4D8.png">    </p:cNvPr>
          <p:cNvPicPr>
            <a:picLocks noChangeAspect="1"/>
          </p:cNvPicPr>
          <p:nvPr/>
        </p:nvPicPr>
        <p:blipFill>
          <a:blip r:embed="rId4"/>
          <a:stretch>
            <a:fillRect/>
          </a:stretch>
        </p:blipFill>
        <p:spPr>
          <a:xfrm>
            <a:off x="6977786" y="4499762"/>
            <a:ext cx="400507" cy="400507"/>
          </a:xfrm>
          <a:prstGeom prst="rect">
            <a:avLst/>
          </a:prstGeom>
        </p:spPr>
      </p:pic>
      <p:sp>
        <p:nvSpPr>
          <p:cNvPr id="18" name="Text 12"/>
          <p:cNvSpPr/>
          <p:nvPr/>
        </p:nvSpPr>
        <p:spPr>
          <a:xfrm>
            <a:off x="7635240" y="4407408"/>
            <a:ext cx="3566160" cy="365760"/>
          </a:xfrm>
          <a:prstGeom prst="rect">
            <a:avLst/>
          </a:prstGeom>
          <a:noFill/>
          <a:ln/>
        </p:spPr>
        <p:txBody>
          <a:bodyPr wrap="square" lIns="0" tIns="0" rIns="0" bIns="0" rtlCol="0" anchor="ctr"/>
          <a:lstStyle/>
          <a:p>
            <a:pPr indent="0" marL="0">
              <a:buNone/>
            </a:pPr>
            <a:r>
              <a:rPr lang="en-US" sz="1400" b="1" dirty="0">
                <a:solidFill>
                  <a:srgbClr val="0B1F3A"/>
                </a:solidFill>
                <a:latin typeface="Calibri" pitchFamily="34" charset="0"/>
                <a:ea typeface="Calibri" pitchFamily="34" charset="-122"/>
                <a:cs typeface="Calibri" pitchFamily="34" charset="-120"/>
              </a:rPr>
              <a:t>Dataset</a:t>
            </a:r>
            <a:endParaRPr lang="en-US" sz="1400" dirty="0"/>
          </a:p>
        </p:txBody>
      </p:sp>
      <p:sp>
        <p:nvSpPr>
          <p:cNvPr id="19" name="Text 13"/>
          <p:cNvSpPr/>
          <p:nvPr/>
        </p:nvSpPr>
        <p:spPr>
          <a:xfrm>
            <a:off x="7635240" y="4773168"/>
            <a:ext cx="3566160" cy="822960"/>
          </a:xfrm>
          <a:prstGeom prst="rect">
            <a:avLst/>
          </a:prstGeom>
          <a:noFill/>
          <a:ln/>
        </p:spPr>
        <p:txBody>
          <a:bodyPr wrap="square" lIns="0" tIns="0" rIns="0" bIns="0" rtlCol="0" anchor="ctr"/>
          <a:lstStyle/>
          <a:p>
            <a:pPr indent="0" marL="0">
              <a:lnSpc>
                <a:spcPct val="122000"/>
              </a:lnSpc>
              <a:buNone/>
            </a:pPr>
            <a:r>
              <a:rPr lang="en-US" sz="1050" dirty="0">
                <a:solidFill>
                  <a:srgbClr val="64748B"/>
                </a:solidFill>
                <a:latin typeface="Calibri" pitchFamily="34" charset="0"/>
                <a:ea typeface="Calibri" pitchFamily="34" charset="-122"/>
                <a:cs typeface="Calibri" pitchFamily="34" charset="-120"/>
              </a:rPr>
              <a:t>Browse all 1,019 samples and their 17 extracted features directly in the browser.</a:t>
            </a:r>
            <a:endParaRPr lang="en-US" sz="1050" dirty="0"/>
          </a:p>
        </p:txBody>
      </p:sp>
      <p:sp>
        <p:nvSpPr>
          <p:cNvPr id="20" name="Shape 14"/>
          <p:cNvSpPr/>
          <p:nvPr/>
        </p:nvSpPr>
        <p:spPr>
          <a:xfrm>
            <a:off x="6903720" y="5815584"/>
            <a:ext cx="3931920" cy="566928"/>
          </a:xfrm>
          <a:prstGeom prst="roundRect">
            <a:avLst>
              <a:gd name="adj" fmla="val 50000"/>
            </a:avLst>
          </a:prstGeom>
          <a:solidFill>
            <a:srgbClr val="0B1F3A"/>
          </a:solidFill>
          <a:ln/>
          <a:effectLst>
            <a:outerShdw sx="100000" sy="100000" kx="0" ky="0" algn="bl" rotWithShape="0" blurRad="114300" dist="38100" dir="2700000">
              <a:srgbClr val="0B1F3A">
                <a:alpha val="14000"/>
              </a:srgbClr>
            </a:outerShdw>
          </a:effectLst>
        </p:spPr>
      </p:sp>
      <p:sp>
        <p:nvSpPr>
          <p:cNvPr id="21" name="Text 15">
            <a:hlinkClick r:id="rId5" tooltip=""/>
          </p:cNvPr>
          <p:cNvSpPr/>
          <p:nvPr/>
        </p:nvSpPr>
        <p:spPr>
          <a:xfrm>
            <a:off x="6903720" y="5815584"/>
            <a:ext cx="3931920" cy="566928"/>
          </a:xfrm>
          <a:prstGeom prst="rect">
            <a:avLst/>
          </a:prstGeom>
          <a:noFill/>
          <a:ln/>
        </p:spPr>
        <p:txBody>
          <a:bodyPr wrap="square" lIns="0" tIns="0" rIns="0" bIns="0" rtlCol="0" anchor="ctr"/>
          <a:lstStyle/>
          <a:p>
            <a:pPr algn="ctr" indent="0" marL="0">
              <a:buNone/>
            </a:pPr>
            <a:r>
              <a:rPr lang="en-US" sz="1150" b="1" u="sng" dirty="0">
                <a:solidFill>
                  <a:srgbClr val="00B4D8"/>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analogcircuitsfaultclassification.streamlit.app</a:t>
            </a:r>
            <a:endParaRPr lang="en-US" sz="1150" dirty="0"/>
          </a:p>
        </p:txBody>
      </p:sp>
      <p:sp>
        <p:nvSpPr>
          <p:cNvPr id="22" name="Text 16"/>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23" name="Text 17"/>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58</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9. DEMO &amp; CONCLUSION</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Tech Stack &amp; Tools</a:t>
            </a:r>
            <a:endParaRPr lang="en-US" sz="3000" dirty="0"/>
          </a:p>
        </p:txBody>
      </p:sp>
      <p:sp>
        <p:nvSpPr>
          <p:cNvPr id="4" name="Shape 2"/>
          <p:cNvSpPr/>
          <p:nvPr/>
        </p:nvSpPr>
        <p:spPr>
          <a:xfrm>
            <a:off x="502920" y="1828800"/>
            <a:ext cx="2487168" cy="1920240"/>
          </a:xfrm>
          <a:prstGeom prst="roundRect">
            <a:avLst>
              <a:gd name="adj" fmla="val 4286"/>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5" name="Shape 3"/>
          <p:cNvSpPr/>
          <p:nvPr/>
        </p:nvSpPr>
        <p:spPr>
          <a:xfrm>
            <a:off x="1435608" y="2084832"/>
            <a:ext cx="621792" cy="621792"/>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6" name="Image 0" descr="/sessions/blissful-zealous-babbage/mnt/outputs/ppt/icons/flask_00B4D8.png">    </p:cNvPr>
          <p:cNvPicPr>
            <a:picLocks noChangeAspect="1"/>
          </p:cNvPicPr>
          <p:nvPr/>
        </p:nvPicPr>
        <p:blipFill>
          <a:blip r:embed="rId1"/>
          <a:stretch>
            <a:fillRect/>
          </a:stretch>
        </p:blipFill>
        <p:spPr>
          <a:xfrm>
            <a:off x="1519550" y="2168774"/>
            <a:ext cx="453908" cy="453908"/>
          </a:xfrm>
          <a:prstGeom prst="rect">
            <a:avLst/>
          </a:prstGeom>
        </p:spPr>
      </p:pic>
      <p:sp>
        <p:nvSpPr>
          <p:cNvPr id="7" name="Text 4"/>
          <p:cNvSpPr/>
          <p:nvPr/>
        </p:nvSpPr>
        <p:spPr>
          <a:xfrm>
            <a:off x="640080" y="2816352"/>
            <a:ext cx="2212848" cy="365760"/>
          </a:xfrm>
          <a:prstGeom prst="rect">
            <a:avLst/>
          </a:prstGeom>
          <a:noFill/>
          <a:ln/>
        </p:spPr>
        <p:txBody>
          <a:bodyPr wrap="square" lIns="0" tIns="0" rIns="0" bIns="0" rtlCol="0" anchor="ctr"/>
          <a:lstStyle/>
          <a:p>
            <a:pPr algn="ctr" indent="0" marL="0">
              <a:buNone/>
            </a:pPr>
            <a:r>
              <a:rPr lang="en-US" sz="1250" b="1" dirty="0">
                <a:solidFill>
                  <a:srgbClr val="0B1F3A"/>
                </a:solidFill>
                <a:latin typeface="Calibri" pitchFamily="34" charset="0"/>
                <a:ea typeface="Calibri" pitchFamily="34" charset="-122"/>
                <a:cs typeface="Calibri" pitchFamily="34" charset="-120"/>
              </a:rPr>
              <a:t>LTspice XVII</a:t>
            </a:r>
            <a:endParaRPr lang="en-US" sz="1250" dirty="0"/>
          </a:p>
        </p:txBody>
      </p:sp>
      <p:sp>
        <p:nvSpPr>
          <p:cNvPr id="8" name="Text 5"/>
          <p:cNvSpPr/>
          <p:nvPr/>
        </p:nvSpPr>
        <p:spPr>
          <a:xfrm>
            <a:off x="640080" y="3163824"/>
            <a:ext cx="2212848" cy="502920"/>
          </a:xfrm>
          <a:prstGeom prst="rect">
            <a:avLst/>
          </a:prstGeom>
          <a:noFill/>
          <a:ln/>
        </p:spPr>
        <p:txBody>
          <a:bodyPr wrap="square" lIns="0" tIns="0" rIns="0" bIns="0" rtlCol="0" anchor="ctr"/>
          <a:lstStyle/>
          <a:p>
            <a:pPr algn="ctr" indent="0" marL="0">
              <a:lnSpc>
                <a:spcPct val="115000"/>
              </a:lnSpc>
              <a:buNone/>
            </a:pPr>
            <a:r>
              <a:rPr lang="en-US" sz="900" dirty="0">
                <a:solidFill>
                  <a:srgbClr val="64748B"/>
                </a:solidFill>
                <a:latin typeface="Calibri" pitchFamily="34" charset="0"/>
                <a:ea typeface="Calibri" pitchFamily="34" charset="-122"/>
                <a:cs typeface="Calibri" pitchFamily="34" charset="-120"/>
              </a:rPr>
              <a:t>Circuit simulation &amp; parameter sweeps</a:t>
            </a:r>
            <a:endParaRPr lang="en-US" sz="900" dirty="0"/>
          </a:p>
        </p:txBody>
      </p:sp>
      <p:sp>
        <p:nvSpPr>
          <p:cNvPr id="9" name="Shape 6"/>
          <p:cNvSpPr/>
          <p:nvPr/>
        </p:nvSpPr>
        <p:spPr>
          <a:xfrm>
            <a:off x="3209544" y="1828800"/>
            <a:ext cx="2487168" cy="1920240"/>
          </a:xfrm>
          <a:prstGeom prst="roundRect">
            <a:avLst>
              <a:gd name="adj" fmla="val 4286"/>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0" name="Shape 7"/>
          <p:cNvSpPr/>
          <p:nvPr/>
        </p:nvSpPr>
        <p:spPr>
          <a:xfrm>
            <a:off x="4142232" y="2084832"/>
            <a:ext cx="621792" cy="621792"/>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1" name="Image 1" descr="/sessions/blissful-zealous-babbage/mnt/outputs/ppt/icons/code_00B4D8.png">    </p:cNvPr>
          <p:cNvPicPr>
            <a:picLocks noChangeAspect="1"/>
          </p:cNvPicPr>
          <p:nvPr/>
        </p:nvPicPr>
        <p:blipFill>
          <a:blip r:embed="rId2"/>
          <a:stretch>
            <a:fillRect/>
          </a:stretch>
        </p:blipFill>
        <p:spPr>
          <a:xfrm>
            <a:off x="4226174" y="2168774"/>
            <a:ext cx="453908" cy="453908"/>
          </a:xfrm>
          <a:prstGeom prst="rect">
            <a:avLst/>
          </a:prstGeom>
        </p:spPr>
      </p:pic>
      <p:sp>
        <p:nvSpPr>
          <p:cNvPr id="12" name="Text 8"/>
          <p:cNvSpPr/>
          <p:nvPr/>
        </p:nvSpPr>
        <p:spPr>
          <a:xfrm>
            <a:off x="3346704" y="2816352"/>
            <a:ext cx="2212848" cy="365760"/>
          </a:xfrm>
          <a:prstGeom prst="rect">
            <a:avLst/>
          </a:prstGeom>
          <a:noFill/>
          <a:ln/>
        </p:spPr>
        <p:txBody>
          <a:bodyPr wrap="square" lIns="0" tIns="0" rIns="0" bIns="0" rtlCol="0" anchor="ctr"/>
          <a:lstStyle/>
          <a:p>
            <a:pPr algn="ctr" indent="0" marL="0">
              <a:buNone/>
            </a:pPr>
            <a:r>
              <a:rPr lang="en-US" sz="1250" b="1" dirty="0">
                <a:solidFill>
                  <a:srgbClr val="0B1F3A"/>
                </a:solidFill>
                <a:latin typeface="Calibri" pitchFamily="34" charset="0"/>
                <a:ea typeface="Calibri" pitchFamily="34" charset="-122"/>
                <a:cs typeface="Calibri" pitchFamily="34" charset="-120"/>
              </a:rPr>
              <a:t>Python</a:t>
            </a:r>
            <a:endParaRPr lang="en-US" sz="1250" dirty="0"/>
          </a:p>
        </p:txBody>
      </p:sp>
      <p:sp>
        <p:nvSpPr>
          <p:cNvPr id="13" name="Text 9"/>
          <p:cNvSpPr/>
          <p:nvPr/>
        </p:nvSpPr>
        <p:spPr>
          <a:xfrm>
            <a:off x="3346704" y="3163824"/>
            <a:ext cx="2212848" cy="502920"/>
          </a:xfrm>
          <a:prstGeom prst="rect">
            <a:avLst/>
          </a:prstGeom>
          <a:noFill/>
          <a:ln/>
        </p:spPr>
        <p:txBody>
          <a:bodyPr wrap="square" lIns="0" tIns="0" rIns="0" bIns="0" rtlCol="0" anchor="ctr"/>
          <a:lstStyle/>
          <a:p>
            <a:pPr algn="ctr" indent="0" marL="0">
              <a:lnSpc>
                <a:spcPct val="115000"/>
              </a:lnSpc>
              <a:buNone/>
            </a:pPr>
            <a:r>
              <a:rPr lang="en-US" sz="900" dirty="0">
                <a:solidFill>
                  <a:srgbClr val="64748B"/>
                </a:solidFill>
                <a:latin typeface="Calibri" pitchFamily="34" charset="0"/>
                <a:ea typeface="Calibri" pitchFamily="34" charset="-122"/>
                <a:cs typeface="Calibri" pitchFamily="34" charset="-120"/>
              </a:rPr>
              <a:t>The glue for the entire pipeline</a:t>
            </a:r>
            <a:endParaRPr lang="en-US" sz="900" dirty="0"/>
          </a:p>
        </p:txBody>
      </p:sp>
      <p:sp>
        <p:nvSpPr>
          <p:cNvPr id="14" name="Shape 10"/>
          <p:cNvSpPr/>
          <p:nvPr/>
        </p:nvSpPr>
        <p:spPr>
          <a:xfrm>
            <a:off x="5916168" y="1828800"/>
            <a:ext cx="2487168" cy="1920240"/>
          </a:xfrm>
          <a:prstGeom prst="roundRect">
            <a:avLst>
              <a:gd name="adj" fmla="val 4286"/>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5" name="Shape 11"/>
          <p:cNvSpPr/>
          <p:nvPr/>
        </p:nvSpPr>
        <p:spPr>
          <a:xfrm>
            <a:off x="6848856" y="2084832"/>
            <a:ext cx="621792" cy="621792"/>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6" name="Image 2" descr="/sessions/blissful-zealous-babbage/mnt/outputs/ppt/icons/database_00B4D8.png">    </p:cNvPr>
          <p:cNvPicPr>
            <a:picLocks noChangeAspect="1"/>
          </p:cNvPicPr>
          <p:nvPr/>
        </p:nvPicPr>
        <p:blipFill>
          <a:blip r:embed="rId3"/>
          <a:stretch>
            <a:fillRect/>
          </a:stretch>
        </p:blipFill>
        <p:spPr>
          <a:xfrm>
            <a:off x="6932798" y="2168774"/>
            <a:ext cx="453908" cy="453908"/>
          </a:xfrm>
          <a:prstGeom prst="rect">
            <a:avLst/>
          </a:prstGeom>
        </p:spPr>
      </p:pic>
      <p:sp>
        <p:nvSpPr>
          <p:cNvPr id="17" name="Text 12"/>
          <p:cNvSpPr/>
          <p:nvPr/>
        </p:nvSpPr>
        <p:spPr>
          <a:xfrm>
            <a:off x="6053328" y="2816352"/>
            <a:ext cx="2212848" cy="365760"/>
          </a:xfrm>
          <a:prstGeom prst="rect">
            <a:avLst/>
          </a:prstGeom>
          <a:noFill/>
          <a:ln/>
        </p:spPr>
        <p:txBody>
          <a:bodyPr wrap="square" lIns="0" tIns="0" rIns="0" bIns="0" rtlCol="0" anchor="ctr"/>
          <a:lstStyle/>
          <a:p>
            <a:pPr algn="ctr" indent="0" marL="0">
              <a:buNone/>
            </a:pPr>
            <a:r>
              <a:rPr lang="en-US" sz="1250" b="1" dirty="0">
                <a:solidFill>
                  <a:srgbClr val="0B1F3A"/>
                </a:solidFill>
                <a:latin typeface="Calibri" pitchFamily="34" charset="0"/>
                <a:ea typeface="Calibri" pitchFamily="34" charset="-122"/>
                <a:cs typeface="Calibri" pitchFamily="34" charset="-120"/>
              </a:rPr>
              <a:t>pandas / NumPy</a:t>
            </a:r>
            <a:endParaRPr lang="en-US" sz="1250" dirty="0"/>
          </a:p>
        </p:txBody>
      </p:sp>
      <p:sp>
        <p:nvSpPr>
          <p:cNvPr id="18" name="Text 13"/>
          <p:cNvSpPr/>
          <p:nvPr/>
        </p:nvSpPr>
        <p:spPr>
          <a:xfrm>
            <a:off x="6053328" y="3163824"/>
            <a:ext cx="2212848" cy="502920"/>
          </a:xfrm>
          <a:prstGeom prst="rect">
            <a:avLst/>
          </a:prstGeom>
          <a:noFill/>
          <a:ln/>
        </p:spPr>
        <p:txBody>
          <a:bodyPr wrap="square" lIns="0" tIns="0" rIns="0" bIns="0" rtlCol="0" anchor="ctr"/>
          <a:lstStyle/>
          <a:p>
            <a:pPr algn="ctr" indent="0" marL="0">
              <a:lnSpc>
                <a:spcPct val="115000"/>
              </a:lnSpc>
              <a:buNone/>
            </a:pPr>
            <a:r>
              <a:rPr lang="en-US" sz="900" dirty="0">
                <a:solidFill>
                  <a:srgbClr val="64748B"/>
                </a:solidFill>
                <a:latin typeface="Calibri" pitchFamily="34" charset="0"/>
                <a:ea typeface="Calibri" pitchFamily="34" charset="-122"/>
                <a:cs typeface="Calibri" pitchFamily="34" charset="-120"/>
              </a:rPr>
              <a:t>Data wrangling &amp; numeric computation</a:t>
            </a:r>
            <a:endParaRPr lang="en-US" sz="900" dirty="0"/>
          </a:p>
        </p:txBody>
      </p:sp>
      <p:sp>
        <p:nvSpPr>
          <p:cNvPr id="19" name="Shape 14"/>
          <p:cNvSpPr/>
          <p:nvPr/>
        </p:nvSpPr>
        <p:spPr>
          <a:xfrm>
            <a:off x="8622792" y="1828800"/>
            <a:ext cx="2487168" cy="1920240"/>
          </a:xfrm>
          <a:prstGeom prst="roundRect">
            <a:avLst>
              <a:gd name="adj" fmla="val 4286"/>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20" name="Shape 15"/>
          <p:cNvSpPr/>
          <p:nvPr/>
        </p:nvSpPr>
        <p:spPr>
          <a:xfrm>
            <a:off x="9555480" y="2084832"/>
            <a:ext cx="621792" cy="621792"/>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21" name="Image 3" descr="/sessions/blissful-zealous-babbage/mnt/outputs/ppt/icons/chartline_00B4D8.png">    </p:cNvPr>
          <p:cNvPicPr>
            <a:picLocks noChangeAspect="1"/>
          </p:cNvPicPr>
          <p:nvPr/>
        </p:nvPicPr>
        <p:blipFill>
          <a:blip r:embed="rId4"/>
          <a:stretch>
            <a:fillRect/>
          </a:stretch>
        </p:blipFill>
        <p:spPr>
          <a:xfrm>
            <a:off x="9639422" y="2168774"/>
            <a:ext cx="453908" cy="453908"/>
          </a:xfrm>
          <a:prstGeom prst="rect">
            <a:avLst/>
          </a:prstGeom>
        </p:spPr>
      </p:pic>
      <p:sp>
        <p:nvSpPr>
          <p:cNvPr id="22" name="Text 16"/>
          <p:cNvSpPr/>
          <p:nvPr/>
        </p:nvSpPr>
        <p:spPr>
          <a:xfrm>
            <a:off x="8759952" y="2816352"/>
            <a:ext cx="2212848" cy="365760"/>
          </a:xfrm>
          <a:prstGeom prst="rect">
            <a:avLst/>
          </a:prstGeom>
          <a:noFill/>
          <a:ln/>
        </p:spPr>
        <p:txBody>
          <a:bodyPr wrap="square" lIns="0" tIns="0" rIns="0" bIns="0" rtlCol="0" anchor="ctr"/>
          <a:lstStyle/>
          <a:p>
            <a:pPr algn="ctr" indent="0" marL="0">
              <a:buNone/>
            </a:pPr>
            <a:r>
              <a:rPr lang="en-US" sz="1250" b="1" dirty="0">
                <a:solidFill>
                  <a:srgbClr val="0B1F3A"/>
                </a:solidFill>
                <a:latin typeface="Calibri" pitchFamily="34" charset="0"/>
                <a:ea typeface="Calibri" pitchFamily="34" charset="-122"/>
                <a:cs typeface="Calibri" pitchFamily="34" charset="-120"/>
              </a:rPr>
              <a:t>SciPy</a:t>
            </a:r>
            <a:endParaRPr lang="en-US" sz="1250" dirty="0"/>
          </a:p>
        </p:txBody>
      </p:sp>
      <p:sp>
        <p:nvSpPr>
          <p:cNvPr id="23" name="Text 17"/>
          <p:cNvSpPr/>
          <p:nvPr/>
        </p:nvSpPr>
        <p:spPr>
          <a:xfrm>
            <a:off x="8759952" y="3163824"/>
            <a:ext cx="2212848" cy="502920"/>
          </a:xfrm>
          <a:prstGeom prst="rect">
            <a:avLst/>
          </a:prstGeom>
          <a:noFill/>
          <a:ln/>
        </p:spPr>
        <p:txBody>
          <a:bodyPr wrap="square" lIns="0" tIns="0" rIns="0" bIns="0" rtlCol="0" anchor="ctr"/>
          <a:lstStyle/>
          <a:p>
            <a:pPr algn="ctr" indent="0" marL="0">
              <a:lnSpc>
                <a:spcPct val="115000"/>
              </a:lnSpc>
              <a:buNone/>
            </a:pPr>
            <a:r>
              <a:rPr lang="en-US" sz="900" dirty="0">
                <a:solidFill>
                  <a:srgbClr val="64748B"/>
                </a:solidFill>
                <a:latin typeface="Calibri" pitchFamily="34" charset="0"/>
                <a:ea typeface="Calibri" pitchFamily="34" charset="-122"/>
                <a:cs typeface="Calibri" pitchFamily="34" charset="-120"/>
              </a:rPr>
              <a:t>FFT, skewness/kurtosis, interpolation</a:t>
            </a:r>
            <a:endParaRPr lang="en-US" sz="900" dirty="0"/>
          </a:p>
        </p:txBody>
      </p:sp>
      <p:sp>
        <p:nvSpPr>
          <p:cNvPr id="24" name="Shape 18"/>
          <p:cNvSpPr/>
          <p:nvPr/>
        </p:nvSpPr>
        <p:spPr>
          <a:xfrm>
            <a:off x="502920" y="3977640"/>
            <a:ext cx="2487168" cy="1920240"/>
          </a:xfrm>
          <a:prstGeom prst="roundRect">
            <a:avLst>
              <a:gd name="adj" fmla="val 4286"/>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25" name="Shape 19"/>
          <p:cNvSpPr/>
          <p:nvPr/>
        </p:nvSpPr>
        <p:spPr>
          <a:xfrm>
            <a:off x="1435608" y="4233672"/>
            <a:ext cx="621792" cy="621792"/>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26" name="Image 4" descr="/sessions/blissful-zealous-babbage/mnt/outputs/ppt/icons/brain_00B4D8.png">    </p:cNvPr>
          <p:cNvPicPr>
            <a:picLocks noChangeAspect="1"/>
          </p:cNvPicPr>
          <p:nvPr/>
        </p:nvPicPr>
        <p:blipFill>
          <a:blip r:embed="rId5"/>
          <a:stretch>
            <a:fillRect/>
          </a:stretch>
        </p:blipFill>
        <p:spPr>
          <a:xfrm>
            <a:off x="1519550" y="4317614"/>
            <a:ext cx="453908" cy="453908"/>
          </a:xfrm>
          <a:prstGeom prst="rect">
            <a:avLst/>
          </a:prstGeom>
        </p:spPr>
      </p:pic>
      <p:sp>
        <p:nvSpPr>
          <p:cNvPr id="27" name="Text 20"/>
          <p:cNvSpPr/>
          <p:nvPr/>
        </p:nvSpPr>
        <p:spPr>
          <a:xfrm>
            <a:off x="640080" y="4965192"/>
            <a:ext cx="2212848" cy="365760"/>
          </a:xfrm>
          <a:prstGeom prst="rect">
            <a:avLst/>
          </a:prstGeom>
          <a:noFill/>
          <a:ln/>
        </p:spPr>
        <p:txBody>
          <a:bodyPr wrap="square" lIns="0" tIns="0" rIns="0" bIns="0" rtlCol="0" anchor="ctr"/>
          <a:lstStyle/>
          <a:p>
            <a:pPr algn="ctr" indent="0" marL="0">
              <a:buNone/>
            </a:pPr>
            <a:r>
              <a:rPr lang="en-US" sz="1250" b="1" dirty="0">
                <a:solidFill>
                  <a:srgbClr val="0B1F3A"/>
                </a:solidFill>
                <a:latin typeface="Calibri" pitchFamily="34" charset="0"/>
                <a:ea typeface="Calibri" pitchFamily="34" charset="-122"/>
                <a:cs typeface="Calibri" pitchFamily="34" charset="-120"/>
              </a:rPr>
              <a:t>scikit-learn</a:t>
            </a:r>
            <a:endParaRPr lang="en-US" sz="1250" dirty="0"/>
          </a:p>
        </p:txBody>
      </p:sp>
      <p:sp>
        <p:nvSpPr>
          <p:cNvPr id="28" name="Text 21"/>
          <p:cNvSpPr/>
          <p:nvPr/>
        </p:nvSpPr>
        <p:spPr>
          <a:xfrm>
            <a:off x="640080" y="5312664"/>
            <a:ext cx="2212848" cy="502920"/>
          </a:xfrm>
          <a:prstGeom prst="rect">
            <a:avLst/>
          </a:prstGeom>
          <a:noFill/>
          <a:ln/>
        </p:spPr>
        <p:txBody>
          <a:bodyPr wrap="square" lIns="0" tIns="0" rIns="0" bIns="0" rtlCol="0" anchor="ctr"/>
          <a:lstStyle/>
          <a:p>
            <a:pPr algn="ctr" indent="0" marL="0">
              <a:lnSpc>
                <a:spcPct val="115000"/>
              </a:lnSpc>
              <a:buNone/>
            </a:pPr>
            <a:r>
              <a:rPr lang="en-US" sz="900" dirty="0">
                <a:solidFill>
                  <a:srgbClr val="64748B"/>
                </a:solidFill>
                <a:latin typeface="Calibri" pitchFamily="34" charset="0"/>
                <a:ea typeface="Calibri" pitchFamily="34" charset="-122"/>
                <a:cs typeface="Calibri" pitchFamily="34" charset="-120"/>
              </a:rPr>
              <a:t>SVM, GridSearchCV, StandardScaler</a:t>
            </a:r>
            <a:endParaRPr lang="en-US" sz="900" dirty="0"/>
          </a:p>
        </p:txBody>
      </p:sp>
      <p:sp>
        <p:nvSpPr>
          <p:cNvPr id="29" name="Shape 22"/>
          <p:cNvSpPr/>
          <p:nvPr/>
        </p:nvSpPr>
        <p:spPr>
          <a:xfrm>
            <a:off x="3209544" y="3977640"/>
            <a:ext cx="2487168" cy="1920240"/>
          </a:xfrm>
          <a:prstGeom prst="roundRect">
            <a:avLst>
              <a:gd name="adj" fmla="val 4286"/>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30" name="Shape 23"/>
          <p:cNvSpPr/>
          <p:nvPr/>
        </p:nvSpPr>
        <p:spPr>
          <a:xfrm>
            <a:off x="4142232" y="4233672"/>
            <a:ext cx="621792" cy="621792"/>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31" name="Image 5" descr="/sessions/blissful-zealous-babbage/mnt/outputs/ppt/icons/chartbar_00B4D8.png">    </p:cNvPr>
          <p:cNvPicPr>
            <a:picLocks noChangeAspect="1"/>
          </p:cNvPicPr>
          <p:nvPr/>
        </p:nvPicPr>
        <p:blipFill>
          <a:blip r:embed="rId6"/>
          <a:stretch>
            <a:fillRect/>
          </a:stretch>
        </p:blipFill>
        <p:spPr>
          <a:xfrm>
            <a:off x="4226174" y="4317614"/>
            <a:ext cx="453908" cy="453908"/>
          </a:xfrm>
          <a:prstGeom prst="rect">
            <a:avLst/>
          </a:prstGeom>
        </p:spPr>
      </p:pic>
      <p:sp>
        <p:nvSpPr>
          <p:cNvPr id="32" name="Text 24"/>
          <p:cNvSpPr/>
          <p:nvPr/>
        </p:nvSpPr>
        <p:spPr>
          <a:xfrm>
            <a:off x="3346704" y="4965192"/>
            <a:ext cx="2212848" cy="365760"/>
          </a:xfrm>
          <a:prstGeom prst="rect">
            <a:avLst/>
          </a:prstGeom>
          <a:noFill/>
          <a:ln/>
        </p:spPr>
        <p:txBody>
          <a:bodyPr wrap="square" lIns="0" tIns="0" rIns="0" bIns="0" rtlCol="0" anchor="ctr"/>
          <a:lstStyle/>
          <a:p>
            <a:pPr algn="ctr" indent="0" marL="0">
              <a:buNone/>
            </a:pPr>
            <a:r>
              <a:rPr lang="en-US" sz="1250" b="1" dirty="0">
                <a:solidFill>
                  <a:srgbClr val="0B1F3A"/>
                </a:solidFill>
                <a:latin typeface="Calibri" pitchFamily="34" charset="0"/>
                <a:ea typeface="Calibri" pitchFamily="34" charset="-122"/>
                <a:cs typeface="Calibri" pitchFamily="34" charset="-120"/>
              </a:rPr>
              <a:t>Matplotlib / Seaborn</a:t>
            </a:r>
            <a:endParaRPr lang="en-US" sz="1250" dirty="0"/>
          </a:p>
        </p:txBody>
      </p:sp>
      <p:sp>
        <p:nvSpPr>
          <p:cNvPr id="33" name="Text 25"/>
          <p:cNvSpPr/>
          <p:nvPr/>
        </p:nvSpPr>
        <p:spPr>
          <a:xfrm>
            <a:off x="3346704" y="5312664"/>
            <a:ext cx="2212848" cy="502920"/>
          </a:xfrm>
          <a:prstGeom prst="rect">
            <a:avLst/>
          </a:prstGeom>
          <a:noFill/>
          <a:ln/>
        </p:spPr>
        <p:txBody>
          <a:bodyPr wrap="square" lIns="0" tIns="0" rIns="0" bIns="0" rtlCol="0" anchor="ctr"/>
          <a:lstStyle/>
          <a:p>
            <a:pPr algn="ctr" indent="0" marL="0">
              <a:lnSpc>
                <a:spcPct val="115000"/>
              </a:lnSpc>
              <a:buNone/>
            </a:pPr>
            <a:r>
              <a:rPr lang="en-US" sz="900" dirty="0">
                <a:solidFill>
                  <a:srgbClr val="64748B"/>
                </a:solidFill>
                <a:latin typeface="Calibri" pitchFamily="34" charset="0"/>
                <a:ea typeface="Calibri" pitchFamily="34" charset="-122"/>
                <a:cs typeface="Calibri" pitchFamily="34" charset="-120"/>
              </a:rPr>
              <a:t>Results dashboard &amp; confusion matrix</a:t>
            </a:r>
            <a:endParaRPr lang="en-US" sz="900" dirty="0"/>
          </a:p>
        </p:txBody>
      </p:sp>
      <p:sp>
        <p:nvSpPr>
          <p:cNvPr id="34" name="Shape 26"/>
          <p:cNvSpPr/>
          <p:nvPr/>
        </p:nvSpPr>
        <p:spPr>
          <a:xfrm>
            <a:off x="5916168" y="3977640"/>
            <a:ext cx="2487168" cy="1920240"/>
          </a:xfrm>
          <a:prstGeom prst="roundRect">
            <a:avLst>
              <a:gd name="adj" fmla="val 4286"/>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35" name="Shape 27"/>
          <p:cNvSpPr/>
          <p:nvPr/>
        </p:nvSpPr>
        <p:spPr>
          <a:xfrm>
            <a:off x="6848856" y="4233672"/>
            <a:ext cx="621792" cy="621792"/>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36" name="Image 6" descr="/sessions/blissful-zealous-babbage/mnt/outputs/ppt/icons/laptop_00B4D8.png">    </p:cNvPr>
          <p:cNvPicPr>
            <a:picLocks noChangeAspect="1"/>
          </p:cNvPicPr>
          <p:nvPr/>
        </p:nvPicPr>
        <p:blipFill>
          <a:blip r:embed="rId7"/>
          <a:stretch>
            <a:fillRect/>
          </a:stretch>
        </p:blipFill>
        <p:spPr>
          <a:xfrm>
            <a:off x="6932798" y="4317614"/>
            <a:ext cx="453908" cy="453908"/>
          </a:xfrm>
          <a:prstGeom prst="rect">
            <a:avLst/>
          </a:prstGeom>
        </p:spPr>
      </p:pic>
      <p:sp>
        <p:nvSpPr>
          <p:cNvPr id="37" name="Text 28"/>
          <p:cNvSpPr/>
          <p:nvPr/>
        </p:nvSpPr>
        <p:spPr>
          <a:xfrm>
            <a:off x="6053328" y="4965192"/>
            <a:ext cx="2212848" cy="365760"/>
          </a:xfrm>
          <a:prstGeom prst="rect">
            <a:avLst/>
          </a:prstGeom>
          <a:noFill/>
          <a:ln/>
        </p:spPr>
        <p:txBody>
          <a:bodyPr wrap="square" lIns="0" tIns="0" rIns="0" bIns="0" rtlCol="0" anchor="ctr"/>
          <a:lstStyle/>
          <a:p>
            <a:pPr algn="ctr" indent="0" marL="0">
              <a:buNone/>
            </a:pPr>
            <a:r>
              <a:rPr lang="en-US" sz="1250" b="1" dirty="0">
                <a:solidFill>
                  <a:srgbClr val="0B1F3A"/>
                </a:solidFill>
                <a:latin typeface="Calibri" pitchFamily="34" charset="0"/>
                <a:ea typeface="Calibri" pitchFamily="34" charset="-122"/>
                <a:cs typeface="Calibri" pitchFamily="34" charset="-120"/>
              </a:rPr>
              <a:t>Streamlit</a:t>
            </a:r>
            <a:endParaRPr lang="en-US" sz="1250" dirty="0"/>
          </a:p>
        </p:txBody>
      </p:sp>
      <p:sp>
        <p:nvSpPr>
          <p:cNvPr id="38" name="Text 29"/>
          <p:cNvSpPr/>
          <p:nvPr/>
        </p:nvSpPr>
        <p:spPr>
          <a:xfrm>
            <a:off x="6053328" y="5312664"/>
            <a:ext cx="2212848" cy="502920"/>
          </a:xfrm>
          <a:prstGeom prst="rect">
            <a:avLst/>
          </a:prstGeom>
          <a:noFill/>
          <a:ln/>
        </p:spPr>
        <p:txBody>
          <a:bodyPr wrap="square" lIns="0" tIns="0" rIns="0" bIns="0" rtlCol="0" anchor="ctr"/>
          <a:lstStyle/>
          <a:p>
            <a:pPr algn="ctr" indent="0" marL="0">
              <a:lnSpc>
                <a:spcPct val="115000"/>
              </a:lnSpc>
              <a:buNone/>
            </a:pPr>
            <a:r>
              <a:rPr lang="en-US" sz="900" dirty="0">
                <a:solidFill>
                  <a:srgbClr val="64748B"/>
                </a:solidFill>
                <a:latin typeface="Calibri" pitchFamily="34" charset="0"/>
                <a:ea typeface="Calibri" pitchFamily="34" charset="-122"/>
                <a:cs typeface="Calibri" pitchFamily="34" charset="-120"/>
              </a:rPr>
              <a:t>The live interactive web app</a:t>
            </a:r>
            <a:endParaRPr lang="en-US" sz="900" dirty="0"/>
          </a:p>
        </p:txBody>
      </p:sp>
      <p:sp>
        <p:nvSpPr>
          <p:cNvPr id="39" name="Shape 30"/>
          <p:cNvSpPr/>
          <p:nvPr/>
        </p:nvSpPr>
        <p:spPr>
          <a:xfrm>
            <a:off x="8622792" y="3977640"/>
            <a:ext cx="2487168" cy="1920240"/>
          </a:xfrm>
          <a:prstGeom prst="roundRect">
            <a:avLst>
              <a:gd name="adj" fmla="val 4286"/>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40" name="Shape 31"/>
          <p:cNvSpPr/>
          <p:nvPr/>
        </p:nvSpPr>
        <p:spPr>
          <a:xfrm>
            <a:off x="9555480" y="4233672"/>
            <a:ext cx="621792" cy="621792"/>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41" name="Image 7" descr="/sessions/blissful-zealous-babbage/mnt/outputs/ppt/icons/github_00B4D8.png">    </p:cNvPr>
          <p:cNvPicPr>
            <a:picLocks noChangeAspect="1"/>
          </p:cNvPicPr>
          <p:nvPr/>
        </p:nvPicPr>
        <p:blipFill>
          <a:blip r:embed="rId8"/>
          <a:stretch>
            <a:fillRect/>
          </a:stretch>
        </p:blipFill>
        <p:spPr>
          <a:xfrm>
            <a:off x="9639422" y="4317614"/>
            <a:ext cx="453908" cy="453908"/>
          </a:xfrm>
          <a:prstGeom prst="rect">
            <a:avLst/>
          </a:prstGeom>
        </p:spPr>
      </p:pic>
      <p:sp>
        <p:nvSpPr>
          <p:cNvPr id="42" name="Text 32"/>
          <p:cNvSpPr/>
          <p:nvPr/>
        </p:nvSpPr>
        <p:spPr>
          <a:xfrm>
            <a:off x="8759952" y="4965192"/>
            <a:ext cx="2212848" cy="365760"/>
          </a:xfrm>
          <a:prstGeom prst="rect">
            <a:avLst/>
          </a:prstGeom>
          <a:noFill/>
          <a:ln/>
        </p:spPr>
        <p:txBody>
          <a:bodyPr wrap="square" lIns="0" tIns="0" rIns="0" bIns="0" rtlCol="0" anchor="ctr"/>
          <a:lstStyle/>
          <a:p>
            <a:pPr algn="ctr" indent="0" marL="0">
              <a:buNone/>
            </a:pPr>
            <a:r>
              <a:rPr lang="en-US" sz="1250" b="1" dirty="0">
                <a:solidFill>
                  <a:srgbClr val="0B1F3A"/>
                </a:solidFill>
                <a:latin typeface="Calibri" pitchFamily="34" charset="0"/>
                <a:ea typeface="Calibri" pitchFamily="34" charset="-122"/>
                <a:cs typeface="Calibri" pitchFamily="34" charset="-120"/>
              </a:rPr>
              <a:t>Git</a:t>
            </a:r>
            <a:endParaRPr lang="en-US" sz="1250" dirty="0"/>
          </a:p>
        </p:txBody>
      </p:sp>
      <p:sp>
        <p:nvSpPr>
          <p:cNvPr id="43" name="Text 33"/>
          <p:cNvSpPr/>
          <p:nvPr/>
        </p:nvSpPr>
        <p:spPr>
          <a:xfrm>
            <a:off x="8759952" y="5312664"/>
            <a:ext cx="2212848" cy="502920"/>
          </a:xfrm>
          <a:prstGeom prst="rect">
            <a:avLst/>
          </a:prstGeom>
          <a:noFill/>
          <a:ln/>
        </p:spPr>
        <p:txBody>
          <a:bodyPr wrap="square" lIns="0" tIns="0" rIns="0" bIns="0" rtlCol="0" anchor="ctr"/>
          <a:lstStyle/>
          <a:p>
            <a:pPr algn="ctr" indent="0" marL="0">
              <a:lnSpc>
                <a:spcPct val="115000"/>
              </a:lnSpc>
              <a:buNone/>
            </a:pPr>
            <a:r>
              <a:rPr lang="en-US" sz="900" dirty="0">
                <a:solidFill>
                  <a:srgbClr val="64748B"/>
                </a:solidFill>
                <a:latin typeface="Calibri" pitchFamily="34" charset="0"/>
                <a:ea typeface="Calibri" pitchFamily="34" charset="-122"/>
                <a:cs typeface="Calibri" pitchFamily="34" charset="-120"/>
              </a:rPr>
              <a:t>Version control across the project</a:t>
            </a:r>
            <a:endParaRPr lang="en-US" sz="900" dirty="0"/>
          </a:p>
        </p:txBody>
      </p:sp>
      <p:sp>
        <p:nvSpPr>
          <p:cNvPr id="44" name="Text 34"/>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45" name="Text 35"/>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59</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9. DEMO &amp; CONCLUSION</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3000" b="1" dirty="0">
                <a:solidFill>
                  <a:srgbClr val="0B1F3A"/>
                </a:solidFill>
                <a:latin typeface="Cambria" pitchFamily="34" charset="0"/>
                <a:ea typeface="Cambria" pitchFamily="34" charset="-122"/>
                <a:cs typeface="Cambria" pitchFamily="34" charset="-120"/>
              </a:rPr>
              <a:t>Conclusion &amp; What's Next</a:t>
            </a:r>
            <a:endParaRPr lang="en-US" sz="3000" dirty="0"/>
          </a:p>
        </p:txBody>
      </p:sp>
      <p:sp>
        <p:nvSpPr>
          <p:cNvPr id="4" name="Shape 2"/>
          <p:cNvSpPr/>
          <p:nvPr/>
        </p:nvSpPr>
        <p:spPr>
          <a:xfrm>
            <a:off x="502920" y="1828800"/>
            <a:ext cx="5166360" cy="4206240"/>
          </a:xfrm>
          <a:prstGeom prst="roundRect">
            <a:avLst>
              <a:gd name="adj" fmla="val 1957"/>
            </a:avLst>
          </a:prstGeom>
          <a:solidFill>
            <a:srgbClr val="0B1F3A"/>
          </a:solidFill>
          <a:ln/>
          <a:effectLst>
            <a:outerShdw sx="100000" sy="100000" kx="0" ky="0" algn="bl" rotWithShape="0" blurRad="114300" dist="38100" dir="2700000">
              <a:srgbClr val="0B1F3A">
                <a:alpha val="14000"/>
              </a:srgbClr>
            </a:outerShdw>
          </a:effectLst>
        </p:spPr>
      </p:sp>
      <p:sp>
        <p:nvSpPr>
          <p:cNvPr id="5" name="Shape 3"/>
          <p:cNvSpPr/>
          <p:nvPr/>
        </p:nvSpPr>
        <p:spPr>
          <a:xfrm>
            <a:off x="777240" y="2103120"/>
            <a:ext cx="594360" cy="594360"/>
          </a:xfrm>
          <a:prstGeom prst="ellipse">
            <a:avLst/>
          </a:prstGeom>
          <a:solidFill>
            <a:srgbClr val="00B4D8"/>
          </a:solidFill>
          <a:ln/>
          <a:effectLst>
            <a:outerShdw sx="100000" sy="100000" kx="0" ky="0" algn="bl" rotWithShape="0" blurRad="114300" dist="38100" dir="2700000">
              <a:srgbClr val="0B1F3A">
                <a:alpha val="14000"/>
              </a:srgbClr>
            </a:outerShdw>
          </a:effectLst>
        </p:spPr>
      </p:sp>
      <p:pic>
        <p:nvPicPr>
          <p:cNvPr id="6" name="Image 0" descr="/sessions/blissful-zealous-babbage/mnt/outputs/ppt/icons/flag_0B1F3A.png">    </p:cNvPr>
          <p:cNvPicPr>
            <a:picLocks noChangeAspect="1"/>
          </p:cNvPicPr>
          <p:nvPr/>
        </p:nvPicPr>
        <p:blipFill>
          <a:blip r:embed="rId1"/>
          <a:stretch>
            <a:fillRect/>
          </a:stretch>
        </p:blipFill>
        <p:spPr>
          <a:xfrm>
            <a:off x="857479" y="2183359"/>
            <a:ext cx="433883" cy="433883"/>
          </a:xfrm>
          <a:prstGeom prst="rect">
            <a:avLst/>
          </a:prstGeom>
        </p:spPr>
      </p:pic>
      <p:sp>
        <p:nvSpPr>
          <p:cNvPr id="7" name="Text 4"/>
          <p:cNvSpPr/>
          <p:nvPr/>
        </p:nvSpPr>
        <p:spPr>
          <a:xfrm>
            <a:off x="1508760" y="2176272"/>
            <a:ext cx="388620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What We Built</a:t>
            </a:r>
            <a:endParaRPr lang="en-US" sz="1500" dirty="0"/>
          </a:p>
        </p:txBody>
      </p:sp>
      <p:sp>
        <p:nvSpPr>
          <p:cNvPr id="8" name="Text 5"/>
          <p:cNvSpPr/>
          <p:nvPr/>
        </p:nvSpPr>
        <p:spPr>
          <a:xfrm>
            <a:off x="777240" y="2880360"/>
            <a:ext cx="4617720" cy="2926080"/>
          </a:xfrm>
          <a:prstGeom prst="rect">
            <a:avLst/>
          </a:prstGeom>
          <a:noFill/>
          <a:ln/>
        </p:spPr>
        <p:txBody>
          <a:bodyPr wrap="square" lIns="0" tIns="0" rIns="0" bIns="0" rtlCol="0" anchor="ctr"/>
          <a:lstStyle/>
          <a:p>
            <a:pPr marL="342900" indent="-342900">
              <a:lnSpc>
                <a:spcPct val="120000"/>
              </a:lnSpc>
              <a:spcAft>
                <a:spcPts val="1000"/>
              </a:spcAft>
              <a:buSzPct val="100000"/>
              <a:buChar char="•"/>
            </a:pPr>
            <a:r>
              <a:rPr lang="en-US" sz="1200" dirty="0">
                <a:solidFill>
                  <a:srgbClr val="E7ECF4"/>
                </a:solidFill>
                <a:latin typeface="Calibri" pitchFamily="34" charset="0"/>
                <a:ea typeface="Calibri" pitchFamily="34" charset="-122"/>
                <a:cs typeface="Calibri" pitchFamily="34" charset="-120"/>
              </a:rPr>
              <a:t>A physics-grounded ML pipeline: LTspice sweeps -&gt; 17 engineered features -&gt; tuned SVM.</a:t>
            </a:r>
            <a:endParaRPr lang="en-US" sz="1200" dirty="0"/>
          </a:p>
          <a:p>
            <a:pPr marL="342900" indent="-342900">
              <a:lnSpc>
                <a:spcPct val="120000"/>
              </a:lnSpc>
              <a:spcAft>
                <a:spcPts val="1000"/>
              </a:spcAft>
              <a:buSzPct val="100000"/>
              <a:buChar char="•"/>
            </a:pPr>
            <a:r>
              <a:rPr lang="en-US" sz="1200" dirty="0">
                <a:solidFill>
                  <a:srgbClr val="E7ECF4"/>
                </a:solidFill>
                <a:latin typeface="Calibri" pitchFamily="34" charset="0"/>
                <a:ea typeface="Calibri" pitchFamily="34" charset="-122"/>
                <a:cs typeface="Calibri" pitchFamily="34" charset="-120"/>
              </a:rPr>
              <a:t>78.43% accuracy on a genuinely hard 20-class fault problem.</a:t>
            </a:r>
            <a:endParaRPr lang="en-US" sz="1200" dirty="0"/>
          </a:p>
          <a:p>
            <a:pPr marL="342900" indent="-342900">
              <a:lnSpc>
                <a:spcPct val="120000"/>
              </a:lnSpc>
              <a:spcAft>
                <a:spcPts val="1000"/>
              </a:spcAft>
              <a:buSzPct val="100000"/>
              <a:buChar char="•"/>
            </a:pPr>
            <a:r>
              <a:rPr lang="en-US" sz="1200" dirty="0">
                <a:solidFill>
                  <a:srgbClr val="E7ECF4"/>
                </a:solidFill>
                <a:latin typeface="Calibri" pitchFamily="34" charset="0"/>
                <a:ea typeface="Calibri" pitchFamily="34" charset="-122"/>
                <a:cs typeface="Calibri" pitchFamily="34" charset="-120"/>
              </a:rPr>
              <a:t>A novel topology-aware correction rule that adds real accuracy for free.</a:t>
            </a:r>
            <a:endParaRPr lang="en-US" sz="1200" dirty="0"/>
          </a:p>
          <a:p>
            <a:pPr marL="342900" indent="-342900">
              <a:lnSpc>
                <a:spcPct val="120000"/>
              </a:lnSpc>
              <a:buSzPct val="100000"/>
              <a:buChar char="•"/>
            </a:pPr>
            <a:r>
              <a:rPr lang="en-US" sz="1200" dirty="0">
                <a:solidFill>
                  <a:srgbClr val="E7ECF4"/>
                </a:solidFill>
                <a:latin typeface="Calibri" pitchFamily="34" charset="0"/>
                <a:ea typeface="Calibri" pitchFamily="34" charset="-122"/>
                <a:cs typeface="Calibri" pitchFamily="34" charset="-120"/>
              </a:rPr>
              <a:t>A live, interactive Streamlit demo anyone can try.</a:t>
            </a:r>
            <a:endParaRPr lang="en-US" sz="1200" dirty="0"/>
          </a:p>
        </p:txBody>
      </p:sp>
      <p:sp>
        <p:nvSpPr>
          <p:cNvPr id="9" name="Shape 6"/>
          <p:cNvSpPr/>
          <p:nvPr/>
        </p:nvSpPr>
        <p:spPr>
          <a:xfrm>
            <a:off x="6126480" y="1828800"/>
            <a:ext cx="5166360" cy="4206240"/>
          </a:xfrm>
          <a:prstGeom prst="roundRect">
            <a:avLst>
              <a:gd name="adj" fmla="val 1957"/>
            </a:avLst>
          </a:prstGeom>
          <a:solidFill>
            <a:srgbClr val="FFFFFF"/>
          </a:solidFill>
          <a:ln w="12700">
            <a:solidFill>
              <a:srgbClr val="E4E9F1"/>
            </a:solidFill>
            <a:prstDash val="solid"/>
          </a:ln>
          <a:effectLst>
            <a:outerShdw sx="100000" sy="100000" kx="0" ky="0" algn="bl" rotWithShape="0" blurRad="88900" dist="38100" dir="2700000">
              <a:srgbClr val="0B1F3A">
                <a:alpha val="8000"/>
              </a:srgbClr>
            </a:outerShdw>
          </a:effectLst>
        </p:spPr>
      </p:sp>
      <p:sp>
        <p:nvSpPr>
          <p:cNvPr id="10" name="Shape 7"/>
          <p:cNvSpPr/>
          <p:nvPr/>
        </p:nvSpPr>
        <p:spPr>
          <a:xfrm>
            <a:off x="6400800" y="2103120"/>
            <a:ext cx="594360" cy="594360"/>
          </a:xfrm>
          <a:prstGeom prst="ellipse">
            <a:avLst/>
          </a:prstGeom>
          <a:solidFill>
            <a:srgbClr val="0B1F3A"/>
          </a:solidFill>
          <a:ln/>
          <a:effectLst>
            <a:outerShdw sx="100000" sy="100000" kx="0" ky="0" algn="bl" rotWithShape="0" blurRad="114300" dist="38100" dir="2700000">
              <a:srgbClr val="0B1F3A">
                <a:alpha val="14000"/>
              </a:srgbClr>
            </a:outerShdw>
          </a:effectLst>
        </p:spPr>
      </p:sp>
      <p:pic>
        <p:nvPicPr>
          <p:cNvPr id="11" name="Image 1" descr="/sessions/blissful-zealous-babbage/mnt/outputs/ppt/icons/rocket_00B4D8.png">    </p:cNvPr>
          <p:cNvPicPr>
            <a:picLocks noChangeAspect="1"/>
          </p:cNvPicPr>
          <p:nvPr/>
        </p:nvPicPr>
        <p:blipFill>
          <a:blip r:embed="rId2"/>
          <a:stretch>
            <a:fillRect/>
          </a:stretch>
        </p:blipFill>
        <p:spPr>
          <a:xfrm>
            <a:off x="6481039" y="2183359"/>
            <a:ext cx="433883" cy="433883"/>
          </a:xfrm>
          <a:prstGeom prst="rect">
            <a:avLst/>
          </a:prstGeom>
        </p:spPr>
      </p:pic>
      <p:sp>
        <p:nvSpPr>
          <p:cNvPr id="12" name="Text 8"/>
          <p:cNvSpPr/>
          <p:nvPr/>
        </p:nvSpPr>
        <p:spPr>
          <a:xfrm>
            <a:off x="7132320" y="2176272"/>
            <a:ext cx="3886200" cy="457200"/>
          </a:xfrm>
          <a:prstGeom prst="rect">
            <a:avLst/>
          </a:prstGeom>
          <a:noFill/>
          <a:ln/>
        </p:spPr>
        <p:txBody>
          <a:bodyPr wrap="square" lIns="0" tIns="0" rIns="0" bIns="0" rtlCol="0" anchor="ctr"/>
          <a:lstStyle/>
          <a:p>
            <a:pPr indent="0" marL="0">
              <a:buNone/>
            </a:pPr>
            <a:r>
              <a:rPr lang="en-US" sz="1500" b="1" dirty="0">
                <a:solidFill>
                  <a:srgbClr val="0B1F3A"/>
                </a:solidFill>
                <a:latin typeface="Calibri" pitchFamily="34" charset="0"/>
                <a:ea typeface="Calibri" pitchFamily="34" charset="-122"/>
                <a:cs typeface="Calibri" pitchFamily="34" charset="-120"/>
              </a:rPr>
              <a:t>Where It Goes Next</a:t>
            </a:r>
            <a:endParaRPr lang="en-US" sz="1500" dirty="0"/>
          </a:p>
        </p:txBody>
      </p:sp>
      <p:sp>
        <p:nvSpPr>
          <p:cNvPr id="13" name="Text 9"/>
          <p:cNvSpPr/>
          <p:nvPr/>
        </p:nvSpPr>
        <p:spPr>
          <a:xfrm>
            <a:off x="6400800" y="2880360"/>
            <a:ext cx="4617720" cy="2926080"/>
          </a:xfrm>
          <a:prstGeom prst="rect">
            <a:avLst/>
          </a:prstGeom>
          <a:noFill/>
          <a:ln/>
        </p:spPr>
        <p:txBody>
          <a:bodyPr wrap="square" lIns="0" tIns="0" rIns="0" bIns="0" rtlCol="0" anchor="ctr"/>
          <a:lstStyle/>
          <a:p>
            <a:pPr marL="342900" indent="-342900">
              <a:lnSpc>
                <a:spcPct val="120000"/>
              </a:lnSpc>
              <a:spcAft>
                <a:spcPts val="1000"/>
              </a:spcAft>
              <a:buSzPct val="100000"/>
              <a:buChar char="•"/>
            </a:pPr>
            <a:r>
              <a:rPr lang="en-US" sz="1200" dirty="0">
                <a:solidFill>
                  <a:srgbClr val="1E293B"/>
                </a:solidFill>
                <a:latin typeface="Calibri" pitchFamily="34" charset="0"/>
                <a:ea typeface="Calibri" pitchFamily="34" charset="-122"/>
                <a:cs typeface="Calibri" pitchFamily="34" charset="-120"/>
              </a:rPr>
              <a:t>Collect more sweep samples per class to stabilise the weaker F1 scores.</a:t>
            </a:r>
            <a:endParaRPr lang="en-US" sz="1200" dirty="0"/>
          </a:p>
          <a:p>
            <a:pPr marL="342900" indent="-342900">
              <a:lnSpc>
                <a:spcPct val="120000"/>
              </a:lnSpc>
              <a:spcAft>
                <a:spcPts val="1000"/>
              </a:spcAft>
              <a:buSzPct val="100000"/>
              <a:buChar char="•"/>
            </a:pPr>
            <a:r>
              <a:rPr lang="en-US" sz="1200" dirty="0">
                <a:solidFill>
                  <a:srgbClr val="1E293B"/>
                </a:solidFill>
                <a:latin typeface="Calibri" pitchFamily="34" charset="0"/>
                <a:ea typeface="Calibri" pitchFamily="34" charset="-122"/>
                <a:cs typeface="Calibri" pitchFamily="34" charset="-120"/>
              </a:rPr>
              <a:t>Compare against a 1D-CNN trained directly on raw waveforms.</a:t>
            </a:r>
            <a:endParaRPr lang="en-US" sz="1200" dirty="0"/>
          </a:p>
          <a:p>
            <a:pPr marL="342900" indent="-342900">
              <a:lnSpc>
                <a:spcPct val="120000"/>
              </a:lnSpc>
              <a:spcAft>
                <a:spcPts val="1000"/>
              </a:spcAft>
              <a:buSzPct val="100000"/>
              <a:buChar char="•"/>
            </a:pPr>
            <a:r>
              <a:rPr lang="en-US" sz="1200" dirty="0">
                <a:solidFill>
                  <a:srgbClr val="1E293B"/>
                </a:solidFill>
                <a:latin typeface="Calibri" pitchFamily="34" charset="0"/>
                <a:ea typeface="Calibri" pitchFamily="34" charset="-122"/>
                <a:cs typeface="Calibri" pitchFamily="34" charset="-120"/>
              </a:rPr>
              <a:t>Validate against real hardware fault injection, not just simulation.</a:t>
            </a:r>
            <a:endParaRPr lang="en-US" sz="1200" dirty="0"/>
          </a:p>
          <a:p>
            <a:pPr marL="342900" indent="-342900">
              <a:lnSpc>
                <a:spcPct val="120000"/>
              </a:lnSpc>
              <a:buSzPct val="100000"/>
              <a:buChar char="•"/>
            </a:pPr>
            <a:r>
              <a:rPr lang="en-US" sz="1200" dirty="0">
                <a:solidFill>
                  <a:srgbClr val="1E293B"/>
                </a:solidFill>
                <a:latin typeface="Calibri" pitchFamily="34" charset="0"/>
                <a:ea typeface="Calibri" pitchFamily="34" charset="-122"/>
                <a:cs typeface="Calibri" pitchFamily="34" charset="-120"/>
              </a:rPr>
              <a:t>Extend to more topologies — Wien bridge, active high-pass, and beyond.</a:t>
            </a:r>
            <a:endParaRPr lang="en-US" sz="1200" dirty="0"/>
          </a:p>
        </p:txBody>
      </p:sp>
      <p:sp>
        <p:nvSpPr>
          <p:cNvPr id="14" name="Text 10"/>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5" name="Text 11"/>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60</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914400" y="914400"/>
            <a:ext cx="905256" cy="-502920"/>
          </a:xfrm>
          <a:prstGeom prst="line">
            <a:avLst/>
          </a:prstGeom>
          <a:noFill/>
          <a:ln w="15875">
            <a:solidFill>
              <a:srgbClr val="00B4D8">
                <a:alpha val="70000"/>
              </a:srgbClr>
            </a:solidFill>
            <a:prstDash val="solid"/>
          </a:ln>
        </p:spPr>
      </p:sp>
      <p:sp>
        <p:nvSpPr>
          <p:cNvPr id="3" name="Shape 1"/>
          <p:cNvSpPr/>
          <p:nvPr/>
        </p:nvSpPr>
        <p:spPr>
          <a:xfrm>
            <a:off x="1819656" y="411480"/>
            <a:ext cx="0" cy="1106424"/>
          </a:xfrm>
          <a:prstGeom prst="line">
            <a:avLst/>
          </a:prstGeom>
          <a:noFill/>
          <a:ln w="15875">
            <a:solidFill>
              <a:srgbClr val="00B4D8">
                <a:alpha val="70000"/>
              </a:srgbClr>
            </a:solidFill>
            <a:prstDash val="solid"/>
          </a:ln>
        </p:spPr>
      </p:sp>
      <p:sp>
        <p:nvSpPr>
          <p:cNvPr id="4" name="Shape 2"/>
          <p:cNvSpPr/>
          <p:nvPr/>
        </p:nvSpPr>
        <p:spPr>
          <a:xfrm>
            <a:off x="1819656" y="1517904"/>
            <a:ext cx="804672" cy="-502920"/>
          </a:xfrm>
          <a:prstGeom prst="line">
            <a:avLst/>
          </a:prstGeom>
          <a:noFill/>
          <a:ln w="15875">
            <a:solidFill>
              <a:srgbClr val="00B4D8">
                <a:alpha val="70000"/>
              </a:srgbClr>
            </a:solidFill>
            <a:prstDash val="solid"/>
          </a:ln>
        </p:spPr>
      </p:sp>
      <p:sp>
        <p:nvSpPr>
          <p:cNvPr id="5" name="Shape 3"/>
          <p:cNvSpPr/>
          <p:nvPr/>
        </p:nvSpPr>
        <p:spPr>
          <a:xfrm>
            <a:off x="869137" y="869137"/>
            <a:ext cx="90526" cy="90526"/>
          </a:xfrm>
          <a:prstGeom prst="ellipse">
            <a:avLst/>
          </a:prstGeom>
          <a:solidFill>
            <a:srgbClr val="00B4D8"/>
          </a:solidFill>
          <a:ln w="12700">
            <a:solidFill>
              <a:srgbClr val="00B4D8"/>
            </a:solidFill>
            <a:prstDash val="solid"/>
          </a:ln>
        </p:spPr>
      </p:sp>
      <p:sp>
        <p:nvSpPr>
          <p:cNvPr id="6" name="Shape 4"/>
          <p:cNvSpPr/>
          <p:nvPr/>
        </p:nvSpPr>
        <p:spPr>
          <a:xfrm>
            <a:off x="1774393" y="366217"/>
            <a:ext cx="90526" cy="90526"/>
          </a:xfrm>
          <a:prstGeom prst="ellipse">
            <a:avLst/>
          </a:prstGeom>
          <a:solidFill>
            <a:srgbClr val="00B4D8"/>
          </a:solidFill>
          <a:ln w="12700">
            <a:solidFill>
              <a:srgbClr val="00B4D8"/>
            </a:solidFill>
            <a:prstDash val="solid"/>
          </a:ln>
        </p:spPr>
      </p:sp>
      <p:sp>
        <p:nvSpPr>
          <p:cNvPr id="7" name="Shape 5"/>
          <p:cNvSpPr/>
          <p:nvPr/>
        </p:nvSpPr>
        <p:spPr>
          <a:xfrm>
            <a:off x="1774393" y="1472641"/>
            <a:ext cx="90526" cy="90526"/>
          </a:xfrm>
          <a:prstGeom prst="ellipse">
            <a:avLst/>
          </a:prstGeom>
          <a:solidFill>
            <a:srgbClr val="00B4D8"/>
          </a:solidFill>
          <a:ln w="12700">
            <a:solidFill>
              <a:srgbClr val="00B4D8"/>
            </a:solidFill>
            <a:prstDash val="solid"/>
          </a:ln>
        </p:spPr>
      </p:sp>
      <p:sp>
        <p:nvSpPr>
          <p:cNvPr id="8" name="Shape 6"/>
          <p:cNvSpPr/>
          <p:nvPr/>
        </p:nvSpPr>
        <p:spPr>
          <a:xfrm>
            <a:off x="2579065" y="969721"/>
            <a:ext cx="90526" cy="90526"/>
          </a:xfrm>
          <a:prstGeom prst="ellipse">
            <a:avLst/>
          </a:prstGeom>
          <a:solidFill>
            <a:srgbClr val="00B4D8"/>
          </a:solidFill>
          <a:ln w="12700">
            <a:solidFill>
              <a:srgbClr val="00B4D8"/>
            </a:solidFill>
            <a:prstDash val="solid"/>
          </a:ln>
        </p:spPr>
      </p:sp>
      <p:sp>
        <p:nvSpPr>
          <p:cNvPr id="9" name="Shape 7"/>
          <p:cNvSpPr/>
          <p:nvPr/>
        </p:nvSpPr>
        <p:spPr>
          <a:xfrm>
            <a:off x="10058400" y="4937760"/>
            <a:ext cx="699516" cy="-388620"/>
          </a:xfrm>
          <a:prstGeom prst="line">
            <a:avLst/>
          </a:prstGeom>
          <a:noFill/>
          <a:ln w="15875">
            <a:solidFill>
              <a:srgbClr val="FFB703">
                <a:alpha val="70000"/>
              </a:srgbClr>
            </a:solidFill>
            <a:prstDash val="solid"/>
          </a:ln>
        </p:spPr>
      </p:sp>
      <p:sp>
        <p:nvSpPr>
          <p:cNvPr id="10" name="Shape 8"/>
          <p:cNvSpPr/>
          <p:nvPr/>
        </p:nvSpPr>
        <p:spPr>
          <a:xfrm>
            <a:off x="10757916" y="4549140"/>
            <a:ext cx="0" cy="854964"/>
          </a:xfrm>
          <a:prstGeom prst="line">
            <a:avLst/>
          </a:prstGeom>
          <a:noFill/>
          <a:ln w="15875">
            <a:solidFill>
              <a:srgbClr val="FFB703">
                <a:alpha val="70000"/>
              </a:srgbClr>
            </a:solidFill>
            <a:prstDash val="solid"/>
          </a:ln>
        </p:spPr>
      </p:sp>
      <p:sp>
        <p:nvSpPr>
          <p:cNvPr id="11" name="Shape 9"/>
          <p:cNvSpPr/>
          <p:nvPr/>
        </p:nvSpPr>
        <p:spPr>
          <a:xfrm>
            <a:off x="10757916" y="5404104"/>
            <a:ext cx="621792" cy="-388620"/>
          </a:xfrm>
          <a:prstGeom prst="line">
            <a:avLst/>
          </a:prstGeom>
          <a:noFill/>
          <a:ln w="15875">
            <a:solidFill>
              <a:srgbClr val="FFB703">
                <a:alpha val="70000"/>
              </a:srgbClr>
            </a:solidFill>
            <a:prstDash val="solid"/>
          </a:ln>
        </p:spPr>
      </p:sp>
      <p:sp>
        <p:nvSpPr>
          <p:cNvPr id="12" name="Shape 10"/>
          <p:cNvSpPr/>
          <p:nvPr/>
        </p:nvSpPr>
        <p:spPr>
          <a:xfrm>
            <a:off x="10023424" y="4902784"/>
            <a:ext cx="69952" cy="69952"/>
          </a:xfrm>
          <a:prstGeom prst="ellipse">
            <a:avLst/>
          </a:prstGeom>
          <a:solidFill>
            <a:srgbClr val="FFB703"/>
          </a:solidFill>
          <a:ln w="12700">
            <a:solidFill>
              <a:srgbClr val="FFB703"/>
            </a:solidFill>
            <a:prstDash val="solid"/>
          </a:ln>
        </p:spPr>
      </p:sp>
      <p:sp>
        <p:nvSpPr>
          <p:cNvPr id="13" name="Shape 11"/>
          <p:cNvSpPr/>
          <p:nvPr/>
        </p:nvSpPr>
        <p:spPr>
          <a:xfrm>
            <a:off x="10722940" y="4514164"/>
            <a:ext cx="69952" cy="69952"/>
          </a:xfrm>
          <a:prstGeom prst="ellipse">
            <a:avLst/>
          </a:prstGeom>
          <a:solidFill>
            <a:srgbClr val="FFB703"/>
          </a:solidFill>
          <a:ln w="12700">
            <a:solidFill>
              <a:srgbClr val="FFB703"/>
            </a:solidFill>
            <a:prstDash val="solid"/>
          </a:ln>
        </p:spPr>
      </p:sp>
      <p:sp>
        <p:nvSpPr>
          <p:cNvPr id="14" name="Shape 12"/>
          <p:cNvSpPr/>
          <p:nvPr/>
        </p:nvSpPr>
        <p:spPr>
          <a:xfrm>
            <a:off x="10722940" y="5369128"/>
            <a:ext cx="69952" cy="69952"/>
          </a:xfrm>
          <a:prstGeom prst="ellipse">
            <a:avLst/>
          </a:prstGeom>
          <a:solidFill>
            <a:srgbClr val="FFB703"/>
          </a:solidFill>
          <a:ln w="12700">
            <a:solidFill>
              <a:srgbClr val="FFB703"/>
            </a:solidFill>
            <a:prstDash val="solid"/>
          </a:ln>
        </p:spPr>
      </p:sp>
      <p:sp>
        <p:nvSpPr>
          <p:cNvPr id="15" name="Shape 13"/>
          <p:cNvSpPr/>
          <p:nvPr/>
        </p:nvSpPr>
        <p:spPr>
          <a:xfrm>
            <a:off x="11344732" y="4980508"/>
            <a:ext cx="69952" cy="69952"/>
          </a:xfrm>
          <a:prstGeom prst="ellipse">
            <a:avLst/>
          </a:prstGeom>
          <a:solidFill>
            <a:srgbClr val="FFB703"/>
          </a:solidFill>
          <a:ln w="12700">
            <a:solidFill>
              <a:srgbClr val="FFB703"/>
            </a:solidFill>
            <a:prstDash val="solid"/>
          </a:ln>
        </p:spPr>
      </p:sp>
      <p:sp>
        <p:nvSpPr>
          <p:cNvPr id="16" name="Text 14"/>
          <p:cNvSpPr/>
          <p:nvPr/>
        </p:nvSpPr>
        <p:spPr>
          <a:xfrm>
            <a:off x="502920" y="1874520"/>
            <a:ext cx="9144000" cy="1005840"/>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Thank You</a:t>
            </a:r>
            <a:endParaRPr lang="en-US" sz="5000" dirty="0"/>
          </a:p>
        </p:txBody>
      </p:sp>
      <p:sp>
        <p:nvSpPr>
          <p:cNvPr id="17" name="Text 15"/>
          <p:cNvSpPr/>
          <p:nvPr/>
        </p:nvSpPr>
        <p:spPr>
          <a:xfrm>
            <a:off x="502920" y="2788920"/>
            <a:ext cx="8229600" cy="457200"/>
          </a:xfrm>
          <a:prstGeom prst="rect">
            <a:avLst/>
          </a:prstGeom>
          <a:noFill/>
          <a:ln/>
        </p:spPr>
        <p:txBody>
          <a:bodyPr wrap="square" lIns="0" tIns="0" rIns="0" bIns="0" rtlCol="0" anchor="ctr"/>
          <a:lstStyle/>
          <a:p>
            <a:pPr indent="0" marL="0">
              <a:buNone/>
            </a:pPr>
            <a:r>
              <a:rPr lang="en-US" sz="1600" i="1" dirty="0">
                <a:solidFill>
                  <a:srgbClr val="C9D6E8"/>
                </a:solidFill>
                <a:latin typeface="Calibri" pitchFamily="34" charset="0"/>
                <a:ea typeface="Calibri" pitchFamily="34" charset="-122"/>
                <a:cs typeface="Calibri" pitchFamily="34" charset="-120"/>
              </a:rPr>
              <a:t>Questions &amp; discussion welcome.</a:t>
            </a:r>
            <a:endParaRPr lang="en-US" sz="1600" dirty="0"/>
          </a:p>
        </p:txBody>
      </p:sp>
      <p:sp>
        <p:nvSpPr>
          <p:cNvPr id="18" name="Shape 16"/>
          <p:cNvSpPr/>
          <p:nvPr/>
        </p:nvSpPr>
        <p:spPr>
          <a:xfrm>
            <a:off x="502920" y="3429000"/>
            <a:ext cx="2743200" cy="0"/>
          </a:xfrm>
          <a:prstGeom prst="line">
            <a:avLst/>
          </a:prstGeom>
          <a:noFill/>
          <a:ln w="25400">
            <a:solidFill>
              <a:srgbClr val="00B4D8"/>
            </a:solidFill>
            <a:prstDash val="solid"/>
          </a:ln>
        </p:spPr>
      </p:sp>
      <p:sp>
        <p:nvSpPr>
          <p:cNvPr id="19" name="Text 17"/>
          <p:cNvSpPr/>
          <p:nvPr/>
        </p:nvSpPr>
        <p:spPr>
          <a:xfrm>
            <a:off x="502920" y="3657600"/>
            <a:ext cx="8229600" cy="1188720"/>
          </a:xfrm>
          <a:prstGeom prst="rect">
            <a:avLst/>
          </a:prstGeom>
          <a:noFill/>
          <a:ln/>
        </p:spPr>
        <p:txBody>
          <a:bodyPr wrap="square" lIns="0" tIns="0" rIns="0" bIns="0" rtlCol="0" anchor="ctr"/>
          <a:lstStyle/>
          <a:p>
            <a:pPr indent="0" marL="0">
              <a:lnSpc>
                <a:spcPct val="140000"/>
              </a:lnSpc>
              <a:buNone/>
            </a:pPr>
            <a:r>
              <a:rPr lang="en-US" sz="1400" b="1" dirty="0">
                <a:solidFill>
                  <a:srgbClr val="FFFFFF"/>
                </a:solidFill>
                <a:latin typeface="Calibri" pitchFamily="34" charset="0"/>
                <a:ea typeface="Calibri" pitchFamily="34" charset="-122"/>
                <a:cs typeface="Calibri" pitchFamily="34" charset="-120"/>
              </a:rPr>
              <a:t>Karan Kaushik</a:t>
            </a:r>
            <a:pPr indent="0" marL="0">
              <a:lnSpc>
                <a:spcPct val="140000"/>
              </a:lnSpc>
              <a:buNone/>
            </a:pPr>
            <a:r>
              <a:rPr lang="en-US" sz="1400" dirty="0">
                <a:solidFill>
                  <a:srgbClr val="9FB1C8"/>
                </a:solidFill>
                <a:latin typeface="Calibri" pitchFamily="34" charset="0"/>
                <a:ea typeface="Calibri" pitchFamily="34" charset="-122"/>
                <a:cs typeface="Calibri" pitchFamily="34" charset="-120"/>
              </a:rPr>
              <a:t>   |   B.Tech ECE, NIT Silchar
</a:t>
            </a:r>
            <a:pPr indent="0" marL="0">
              <a:lnSpc>
                <a:spcPct val="140000"/>
              </a:lnSpc>
              <a:buNone/>
            </a:pPr>
            <a:r>
              <a:rPr lang="en-US" sz="1400" dirty="0">
                <a:solidFill>
                  <a:srgbClr val="9FB1C8"/>
                </a:solidFill>
                <a:latin typeface="Calibri" pitchFamily="34" charset="0"/>
                <a:ea typeface="Calibri" pitchFamily="34" charset="-122"/>
                <a:cs typeface="Calibri" pitchFamily="34" charset="-120"/>
              </a:rPr>
              <a:t>Guided by Dr. Anish Kumar Saha
</a:t>
            </a:r>
            <a:pPr indent="0" marL="0">
              <a:lnSpc>
                <a:spcPct val="140000"/>
              </a:lnSpc>
              <a:buNone/>
            </a:pPr>
            <a:r>
              <a:rPr lang="en-US" sz="1400" i="1" dirty="0">
                <a:solidFill>
                  <a:srgbClr val="6B7A94"/>
                </a:solidFill>
                <a:latin typeface="Calibri" pitchFamily="34" charset="0"/>
                <a:ea typeface="Calibri" pitchFamily="34" charset="-122"/>
                <a:cs typeface="Calibri" pitchFamily="34" charset="-120"/>
              </a:rPr>
              <a:t>SN Bose Summer Internship 2026, NIT Silchar</a:t>
            </a:r>
            <a:endParaRPr lang="en-US" sz="1400" dirty="0"/>
          </a:p>
        </p:txBody>
      </p:sp>
      <p:sp>
        <p:nvSpPr>
          <p:cNvPr id="20" name="Shape 18"/>
          <p:cNvSpPr/>
          <p:nvPr/>
        </p:nvSpPr>
        <p:spPr>
          <a:xfrm>
            <a:off x="502920" y="5120640"/>
            <a:ext cx="457200" cy="457200"/>
          </a:xfrm>
          <a:prstGeom prst="ellipse">
            <a:avLst/>
          </a:prstGeom>
          <a:solidFill>
            <a:srgbClr val="132A4C"/>
          </a:solidFill>
          <a:ln/>
          <a:effectLst>
            <a:outerShdw sx="100000" sy="100000" kx="0" ky="0" algn="bl" rotWithShape="0" blurRad="114300" dist="38100" dir="2700000">
              <a:srgbClr val="0B1F3A">
                <a:alpha val="14000"/>
              </a:srgbClr>
            </a:outerShdw>
          </a:effectLst>
        </p:spPr>
      </p:sp>
      <p:pic>
        <p:nvPicPr>
          <p:cNvPr id="21" name="Image 0" descr="/sessions/blissful-zealous-babbage/mnt/outputs/ppt/icons/envelope_00B4D8.png">    </p:cNvPr>
          <p:cNvPicPr>
            <a:picLocks noChangeAspect="1"/>
          </p:cNvPicPr>
          <p:nvPr/>
        </p:nvPicPr>
        <p:blipFill>
          <a:blip r:embed="rId1"/>
          <a:stretch>
            <a:fillRect/>
          </a:stretch>
        </p:blipFill>
        <p:spPr>
          <a:xfrm>
            <a:off x="564642" y="5182362"/>
            <a:ext cx="333756" cy="333756"/>
          </a:xfrm>
          <a:prstGeom prst="rect">
            <a:avLst/>
          </a:prstGeom>
        </p:spPr>
      </p:pic>
      <p:sp>
        <p:nvSpPr>
          <p:cNvPr id="22" name="Text 19"/>
          <p:cNvSpPr/>
          <p:nvPr/>
        </p:nvSpPr>
        <p:spPr>
          <a:xfrm>
            <a:off x="1097280" y="5120640"/>
            <a:ext cx="4114800" cy="45720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karankaushik01234@gmail.com</a:t>
            </a:r>
            <a:endParaRPr lang="en-US" sz="1250" dirty="0"/>
          </a:p>
        </p:txBody>
      </p:sp>
      <p:sp>
        <p:nvSpPr>
          <p:cNvPr id="23" name="Shape 20"/>
          <p:cNvSpPr/>
          <p:nvPr/>
        </p:nvSpPr>
        <p:spPr>
          <a:xfrm>
            <a:off x="502920" y="5715000"/>
            <a:ext cx="457200" cy="457200"/>
          </a:xfrm>
          <a:prstGeom prst="ellipse">
            <a:avLst/>
          </a:prstGeom>
          <a:solidFill>
            <a:srgbClr val="132A4C"/>
          </a:solidFill>
          <a:ln/>
          <a:effectLst>
            <a:outerShdw sx="100000" sy="100000" kx="0" ky="0" algn="bl" rotWithShape="0" blurRad="114300" dist="38100" dir="2700000">
              <a:srgbClr val="0B1F3A">
                <a:alpha val="14000"/>
              </a:srgbClr>
            </a:outerShdw>
          </a:effectLst>
        </p:spPr>
      </p:sp>
      <p:pic>
        <p:nvPicPr>
          <p:cNvPr id="24" name="Image 1" descr="/sessions/blissful-zealous-babbage/mnt/outputs/ppt/icons/laptop_00B4D8.png">    </p:cNvPr>
          <p:cNvPicPr>
            <a:picLocks noChangeAspect="1"/>
          </p:cNvPicPr>
          <p:nvPr/>
        </p:nvPicPr>
        <p:blipFill>
          <a:blip r:embed="rId2"/>
          <a:stretch>
            <a:fillRect/>
          </a:stretch>
        </p:blipFill>
        <p:spPr>
          <a:xfrm>
            <a:off x="564642" y="5776722"/>
            <a:ext cx="333756" cy="333756"/>
          </a:xfrm>
          <a:prstGeom prst="rect">
            <a:avLst/>
          </a:prstGeom>
        </p:spPr>
      </p:pic>
      <p:sp>
        <p:nvSpPr>
          <p:cNvPr id="25" name="Text 21">
            <a:hlinkClick r:id="rId3" tooltip=""/>
          </p:cNvPr>
          <p:cNvSpPr/>
          <p:nvPr/>
        </p:nvSpPr>
        <p:spPr>
          <a:xfrm>
            <a:off x="1097280" y="5715000"/>
            <a:ext cx="5486400" cy="457200"/>
          </a:xfrm>
          <a:prstGeom prst="rect">
            <a:avLst/>
          </a:prstGeom>
          <a:noFill/>
          <a:ln/>
        </p:spPr>
        <p:txBody>
          <a:bodyPr wrap="square" lIns="0" tIns="0" rIns="0" bIns="0" rtlCol="0" anchor="ctr"/>
          <a:lstStyle/>
          <a:p>
            <a:pPr indent="0" marL="0">
              <a:buNone/>
            </a:pPr>
            <a:r>
              <a:rPr lang="en-US" sz="1250" u="sng" dirty="0">
                <a:solidFill>
                  <a:srgbClr val="00B4D8"/>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analogcircuitsfaultclassification.streamlit.app</a:t>
            </a:r>
            <a:endParaRPr lang="en-US" sz="12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10332720" y="822960"/>
            <a:ext cx="822960" cy="-457200"/>
          </a:xfrm>
          <a:prstGeom prst="line">
            <a:avLst/>
          </a:prstGeom>
          <a:noFill/>
          <a:ln w="15875">
            <a:solidFill>
              <a:srgbClr val="00B4D8">
                <a:alpha val="70000"/>
              </a:srgbClr>
            </a:solidFill>
            <a:prstDash val="solid"/>
          </a:ln>
        </p:spPr>
      </p:sp>
      <p:sp>
        <p:nvSpPr>
          <p:cNvPr id="3" name="Shape 1"/>
          <p:cNvSpPr/>
          <p:nvPr/>
        </p:nvSpPr>
        <p:spPr>
          <a:xfrm>
            <a:off x="11155680" y="365760"/>
            <a:ext cx="0" cy="1005840"/>
          </a:xfrm>
          <a:prstGeom prst="line">
            <a:avLst/>
          </a:prstGeom>
          <a:noFill/>
          <a:ln w="15875">
            <a:solidFill>
              <a:srgbClr val="00B4D8">
                <a:alpha val="70000"/>
              </a:srgbClr>
            </a:solidFill>
            <a:prstDash val="solid"/>
          </a:ln>
        </p:spPr>
      </p:sp>
      <p:sp>
        <p:nvSpPr>
          <p:cNvPr id="4" name="Shape 2"/>
          <p:cNvSpPr/>
          <p:nvPr/>
        </p:nvSpPr>
        <p:spPr>
          <a:xfrm>
            <a:off x="11155680" y="1371600"/>
            <a:ext cx="731520" cy="-457200"/>
          </a:xfrm>
          <a:prstGeom prst="line">
            <a:avLst/>
          </a:prstGeom>
          <a:noFill/>
          <a:ln w="15875">
            <a:solidFill>
              <a:srgbClr val="00B4D8">
                <a:alpha val="70000"/>
              </a:srgbClr>
            </a:solidFill>
            <a:prstDash val="solid"/>
          </a:ln>
        </p:spPr>
      </p:sp>
      <p:sp>
        <p:nvSpPr>
          <p:cNvPr id="5" name="Shape 3"/>
          <p:cNvSpPr/>
          <p:nvPr/>
        </p:nvSpPr>
        <p:spPr>
          <a:xfrm>
            <a:off x="10291572" y="781812"/>
            <a:ext cx="82296" cy="82296"/>
          </a:xfrm>
          <a:prstGeom prst="ellipse">
            <a:avLst/>
          </a:prstGeom>
          <a:solidFill>
            <a:srgbClr val="00B4D8"/>
          </a:solidFill>
          <a:ln w="12700">
            <a:solidFill>
              <a:srgbClr val="00B4D8"/>
            </a:solidFill>
            <a:prstDash val="solid"/>
          </a:ln>
        </p:spPr>
      </p:sp>
      <p:sp>
        <p:nvSpPr>
          <p:cNvPr id="6" name="Shape 4"/>
          <p:cNvSpPr/>
          <p:nvPr/>
        </p:nvSpPr>
        <p:spPr>
          <a:xfrm>
            <a:off x="11114532" y="324612"/>
            <a:ext cx="82296" cy="82296"/>
          </a:xfrm>
          <a:prstGeom prst="ellipse">
            <a:avLst/>
          </a:prstGeom>
          <a:solidFill>
            <a:srgbClr val="00B4D8"/>
          </a:solidFill>
          <a:ln w="12700">
            <a:solidFill>
              <a:srgbClr val="00B4D8"/>
            </a:solidFill>
            <a:prstDash val="solid"/>
          </a:ln>
        </p:spPr>
      </p:sp>
      <p:sp>
        <p:nvSpPr>
          <p:cNvPr id="7" name="Shape 5"/>
          <p:cNvSpPr/>
          <p:nvPr/>
        </p:nvSpPr>
        <p:spPr>
          <a:xfrm>
            <a:off x="11114532" y="1330452"/>
            <a:ext cx="82296" cy="82296"/>
          </a:xfrm>
          <a:prstGeom prst="ellipse">
            <a:avLst/>
          </a:prstGeom>
          <a:solidFill>
            <a:srgbClr val="00B4D8"/>
          </a:solidFill>
          <a:ln w="12700">
            <a:solidFill>
              <a:srgbClr val="00B4D8"/>
            </a:solidFill>
            <a:prstDash val="solid"/>
          </a:ln>
        </p:spPr>
      </p:sp>
      <p:sp>
        <p:nvSpPr>
          <p:cNvPr id="8" name="Shape 6"/>
          <p:cNvSpPr/>
          <p:nvPr/>
        </p:nvSpPr>
        <p:spPr>
          <a:xfrm>
            <a:off x="11846052" y="873252"/>
            <a:ext cx="82296" cy="82296"/>
          </a:xfrm>
          <a:prstGeom prst="ellipse">
            <a:avLst/>
          </a:prstGeom>
          <a:solidFill>
            <a:srgbClr val="00B4D8"/>
          </a:solidFill>
          <a:ln w="12700">
            <a:solidFill>
              <a:srgbClr val="00B4D8"/>
            </a:solidFill>
            <a:prstDash val="solid"/>
          </a:ln>
        </p:spPr>
      </p:sp>
      <p:sp>
        <p:nvSpPr>
          <p:cNvPr id="9" name="Text 7"/>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FFB703"/>
                </a:solidFill>
                <a:latin typeface="Calibri" pitchFamily="34" charset="0"/>
                <a:ea typeface="Calibri" pitchFamily="34" charset="-122"/>
                <a:cs typeface="Calibri" pitchFamily="34" charset="-120"/>
              </a:rPr>
              <a:t>CODE APPENDIX</a:t>
            </a:r>
            <a:endParaRPr lang="en-US" sz="1300" dirty="0"/>
          </a:p>
        </p:txBody>
      </p:sp>
      <p:sp>
        <p:nvSpPr>
          <p:cNvPr id="10" name="Text 8"/>
          <p:cNvSpPr/>
          <p:nvPr/>
        </p:nvSpPr>
        <p:spPr>
          <a:xfrm>
            <a:off x="502920" y="777240"/>
            <a:ext cx="10424160" cy="7772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Reference: The Project's Source Code</a:t>
            </a:r>
            <a:endParaRPr lang="en-US" sz="3000" dirty="0"/>
          </a:p>
        </p:txBody>
      </p:sp>
      <p:sp>
        <p:nvSpPr>
          <p:cNvPr id="11" name="Text 9"/>
          <p:cNvSpPr/>
          <p:nvPr/>
        </p:nvSpPr>
        <p:spPr>
          <a:xfrm>
            <a:off x="502920" y="1828800"/>
            <a:ext cx="9509760" cy="2011680"/>
          </a:xfrm>
          <a:prstGeom prst="rect">
            <a:avLst/>
          </a:prstGeom>
          <a:noFill/>
          <a:ln/>
        </p:spPr>
        <p:txBody>
          <a:bodyPr wrap="square" lIns="0" tIns="0" rIns="0" bIns="0" rtlCol="0" anchor="ctr"/>
          <a:lstStyle/>
          <a:p>
            <a:pPr indent="0" marL="0">
              <a:lnSpc>
                <a:spcPct val="135000"/>
              </a:lnSpc>
              <a:buNone/>
            </a:pPr>
            <a:r>
              <a:rPr lang="en-US" sz="1400" dirty="0">
                <a:solidFill>
                  <a:srgbClr val="E7ECF4"/>
                </a:solidFill>
                <a:latin typeface="Calibri" pitchFamily="34" charset="0"/>
                <a:ea typeface="Calibri" pitchFamily="34" charset="-122"/>
                <a:cs typeface="Calibri" pitchFamily="34" charset="-120"/>
              </a:rPr>
              <a:t>The following slides show the actual Python source files behind every step of this pipeline, presented in the same order the project was built — from raw LTspice parsing through to the deployed web app.
</a:t>
            </a:r>
            <a:pPr indent="0" marL="0">
              <a:lnSpc>
                <a:spcPct val="135000"/>
              </a:lnSpc>
              <a:buNone/>
            </a:pPr>
            <a:r>
              <a:rPr lang="en-US" sz="1400" b="1" dirty="0">
                <a:solidFill>
                  <a:srgbClr val="FFB703"/>
                </a:solidFill>
                <a:latin typeface="Calibri" pitchFamily="34" charset="0"/>
                <a:ea typeface="Calibri" pitchFamily="34" charset="-122"/>
                <a:cs typeface="Calibri" pitchFamily="34" charset="-120"/>
              </a:rPr>
              <a:t>These are not meant to be walked through line by line during the talk. </a:t>
            </a:r>
            <a:pPr indent="0" marL="0">
              <a:lnSpc>
                <a:spcPct val="135000"/>
              </a:lnSpc>
              <a:buNone/>
            </a:pPr>
            <a:r>
              <a:rPr lang="en-US" sz="1400" dirty="0">
                <a:solidFill>
                  <a:srgbClr val="E7ECF4"/>
                </a:solidFill>
                <a:latin typeface="Calibri" pitchFamily="34" charset="0"/>
                <a:ea typeface="Calibri" pitchFamily="34" charset="-122"/>
                <a:cs typeface="Calibri" pitchFamily="34" charset="-120"/>
              </a:rPr>
              <a:t>They are here purely as backup reference material, in case a reviewer wants to see exactly how a particular step was implemented. Comments are preserved exactly as written in the code.</a:t>
            </a:r>
            <a:endParaRPr lang="en-US" sz="1400" dirty="0"/>
          </a:p>
        </p:txBody>
      </p:sp>
      <p:sp>
        <p:nvSpPr>
          <p:cNvPr id="12" name="Shape 10"/>
          <p:cNvSpPr/>
          <p:nvPr/>
        </p:nvSpPr>
        <p:spPr>
          <a:xfrm>
            <a:off x="9692640" y="4114800"/>
            <a:ext cx="1280160" cy="1280160"/>
          </a:xfrm>
          <a:prstGeom prst="ellipse">
            <a:avLst/>
          </a:prstGeom>
          <a:solidFill>
            <a:srgbClr val="132A4C"/>
          </a:solidFill>
          <a:ln/>
          <a:effectLst>
            <a:outerShdw sx="100000" sy="100000" kx="0" ky="0" algn="bl" rotWithShape="0" blurRad="114300" dist="38100" dir="2700000">
              <a:srgbClr val="0B1F3A">
                <a:alpha val="14000"/>
              </a:srgbClr>
            </a:outerShdw>
          </a:effectLst>
        </p:spPr>
      </p:sp>
      <p:pic>
        <p:nvPicPr>
          <p:cNvPr id="13" name="Image 0" descr="/sessions/blissful-zealous-babbage/mnt/outputs/ppt/icons/code_FFB703.png">    </p:cNvPr>
          <p:cNvPicPr>
            <a:picLocks noChangeAspect="1"/>
          </p:cNvPicPr>
          <p:nvPr/>
        </p:nvPicPr>
        <p:blipFill>
          <a:blip r:embed="rId1"/>
          <a:stretch>
            <a:fillRect/>
          </a:stretch>
        </p:blipFill>
        <p:spPr>
          <a:xfrm>
            <a:off x="9865462" y="4287622"/>
            <a:ext cx="934517" cy="934517"/>
          </a:xfrm>
          <a:prstGeom prst="rect">
            <a:avLst/>
          </a:prstGeom>
        </p:spPr>
      </p:pic>
      <p:sp>
        <p:nvSpPr>
          <p:cNvPr id="14" name="Text 11"/>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15" name="Text 12"/>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61</a:t>
            </a:r>
            <a:endParaRPr lang="en-US" sz="9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1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Parsing LTspice Sweeps into a Dataset  (1/4)</a:t>
            </a:r>
            <a:endParaRPr lang="en-US" sz="2400" dirty="0"/>
          </a:p>
        </p:txBody>
      </p:sp>
      <p:sp>
        <p:nvSpPr>
          <p:cNvPr id="4" name="Text 2"/>
          <p:cNvSpPr/>
          <p:nvPr/>
        </p:nvSpPr>
        <p:spPr>
          <a:xfrm>
            <a:off x="502920" y="1417320"/>
            <a:ext cx="11155680" cy="502920"/>
          </a:xfrm>
          <a:prstGeom prst="rect">
            <a:avLst/>
          </a:prstGeom>
          <a:noFill/>
          <a:ln/>
        </p:spPr>
        <p:txBody>
          <a:bodyPr wrap="square" lIns="0" tIns="0" rIns="0" bIns="0" rtlCol="0" anchor="ctr"/>
          <a:lstStyle/>
          <a:p>
            <a:pPr indent="0" marL="0">
              <a:lnSpc>
                <a:spcPct val="120000"/>
              </a:lnSpc>
              <a:buNone/>
            </a:pPr>
            <a:r>
              <a:rPr lang="en-US" sz="1100" b="1" dirty="0">
                <a:solidFill>
                  <a:srgbClr val="0B1F3A"/>
                </a:solidFill>
                <a:latin typeface="Consolas" pitchFamily="34" charset="0"/>
                <a:ea typeface="Consolas" pitchFamily="34" charset="-122"/>
                <a:cs typeface="Consolas" pitchFamily="34" charset="-120"/>
              </a:rPr>
              <a:t>day12_build_sweep_dataset.py  </a:t>
            </a:r>
            <a:pPr indent="0" marL="0">
              <a:lnSpc>
                <a:spcPct val="120000"/>
              </a:lnSpc>
              <a:buNone/>
            </a:pPr>
            <a:r>
              <a:rPr lang="en-US" sz="1100" dirty="0">
                <a:solidFill>
                  <a:srgbClr val="64748B"/>
                </a:solidFill>
                <a:latin typeface="Calibri" pitchFamily="34" charset="0"/>
                <a:ea typeface="Calibri" pitchFamily="34" charset="-122"/>
                <a:cs typeface="Calibri" pitchFamily="34" charset="-120"/>
              </a:rPr>
              <a:t>— Reads exported .step sweep files, splits them into individual runs, resamples each to 200 points -&gt; master_dataset_sweep.csv</a:t>
            </a:r>
            <a:endParaRPr lang="en-US" sz="110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day12_build_sweep_dataset.py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Rebuilds the master dataset from REAL LTspice parameter sweeps.</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os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numpy as np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pandas as pd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scipy.interpolate import interp1d</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Config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BASE   = r"C:\Users\karan\Desktop\May-June_july\Final Sn Bose\Sweeps"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T_END  = {"RC": 0.095, "RLC": 0.095, "RC_LADDER": 0.095, "SALLEN_KEY": 0.020}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N_PTS  = 200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CIRCS  = ["RC", "RLC", "SALLEN_KEY", "RC_LADDER"]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FAULTS = ["normal", "drift", "open", "short"]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File finder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find_sweep_file(folder, circuit, fault):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stems =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f"{circuit.lower()}_{fault}_sweep",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f"{circuit}_{fault}_sweep",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f"Sallen_key_{fault}_sweep",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f"sallen_key_{fault}_sweep",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exts = [".txt",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for s in stems: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for e in exts: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 = os.path.join(folder, s + 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os.path.isfile(p) and os.path.getsize(p) &gt; 10_000: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return 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return None</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62</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1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Parsing LTspice Sweeps into a Dataset  (2/4)</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day12_build_sweep_dataset.py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Parser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parse_step_file(fpath):</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runs, cur_t, cur_v, cur_p, prev_t = [], [], [], None, None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def flush():</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nonlocal cur_t, cur_v, cur_p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len(cur_t) &gt; 5:</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runs.append((cur_p, np.array(cur_t, dtype=float),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np.array(cur_v, dtype=float)))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cur_t, cur_v = [], []</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with open(fpath, "r", errors="ignore") as fh:</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for raw in fh:</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line = raw.strip()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not line: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continue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lo = line.lower()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lo.startswith("step information"):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flush()</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try: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cur_p = float(line.split("=")[1].split()[0].rstrip(",)"))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except Exception: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cur_p = np.nan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prev_t = None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continue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lo.startswith("time") or lo.startswith("step"):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continue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parts = line.replace("\t", " ").replace(",", " ").split()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len(parts) &lt; 2:</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63</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1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Parsing LTspice Sweeps into a Dataset  (3/4)</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day12_build_sweep_dataset.py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continue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try: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 v = float(parts[0]), float(parts[1])</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except ValueError: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continue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prev_t is not None and t &lt; prev_t - 1e-12: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flush()</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cur_p = None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cur_t.append(t); cur_v.append(v); prev_t = 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flush()</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return runs</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Resample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resample(t, v, t_end, n=N_PTS):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grid = np.linspace(0.0, t_end, 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grid = np.clip(grid, t.min(), t.max())</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return interp1d(t, v, kind="linear",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bounds_error=False,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fill_value=(v[0], v[-1]))(grid)</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Build dataset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rows, sid = [], 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for circ in CIRCS: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cdir = os.path.join(BASE, circ)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for fault in FAULTS: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fpath = find_sweep_file(cdir, circ, fault)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fpath is None: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print(f"[MISSING] {circ}/{fault} — no file found in {cdir}")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continue</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64</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1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Parsing LTspice Sweeps into a Dataset  (4/4)</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day12_build_sweep_dataset.py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print(f"[reading] {circ}/{fault}: {os.path.basename(fpath)}"</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  ({os.path.getsize(fpath)//1024} KB)")</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runs = parse_step_file(fpath)</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print(f"          -&gt; {len(runs)} runs parsed")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for pval, t, v in runs: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wave = resample(t, v, T_END[circ])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row = {"sample_id": sid, "circuit": circ,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"fault": fault, "param_value": pval}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row.update({f"v{i}": wave[i] for i in range(N_PTS)})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rows.append(row); sid += 1</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 = pd.DataFrame(rows)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out = os.path.join(os.path.dirname(BASE), "master_dataset_sweep.csv")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df.to_csv(out, index=False)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print(f"\n{'='*50}")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print(f"Saved {len(df)} samples  -&gt;  {out}")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print(f"Columns: {len(df.columns)}")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print(f"\nSamples per class:")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print(df.groupby(["circuit", "fault"]).size().to_string())</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65</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2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Generating Noise-Fault Samples  (1/2)</a:t>
            </a:r>
            <a:endParaRPr lang="en-US" sz="2400" dirty="0"/>
          </a:p>
        </p:txBody>
      </p:sp>
      <p:sp>
        <p:nvSpPr>
          <p:cNvPr id="4" name="Text 2"/>
          <p:cNvSpPr/>
          <p:nvPr/>
        </p:nvSpPr>
        <p:spPr>
          <a:xfrm>
            <a:off x="502920" y="1417320"/>
            <a:ext cx="11155680" cy="502920"/>
          </a:xfrm>
          <a:prstGeom prst="rect">
            <a:avLst/>
          </a:prstGeom>
          <a:noFill/>
          <a:ln/>
        </p:spPr>
        <p:txBody>
          <a:bodyPr wrap="square" lIns="0" tIns="0" rIns="0" bIns="0" rtlCol="0" anchor="ctr"/>
          <a:lstStyle/>
          <a:p>
            <a:pPr indent="0" marL="0">
              <a:lnSpc>
                <a:spcPct val="120000"/>
              </a:lnSpc>
              <a:buNone/>
            </a:pPr>
            <a:r>
              <a:rPr lang="en-US" sz="1100" b="1" dirty="0">
                <a:solidFill>
                  <a:srgbClr val="0B1F3A"/>
                </a:solidFill>
                <a:latin typeface="Consolas" pitchFamily="34" charset="0"/>
                <a:ea typeface="Consolas" pitchFamily="34" charset="-122"/>
                <a:cs typeface="Consolas" pitchFamily="34" charset="-120"/>
              </a:rPr>
              <a:t>day12b_generate_noise_samples.py  </a:t>
            </a:r>
            <a:pPr indent="0" marL="0">
              <a:lnSpc>
                <a:spcPct val="120000"/>
              </a:lnSpc>
              <a:buNone/>
            </a:pPr>
            <a:r>
              <a:rPr lang="en-US" sz="1100" dirty="0">
                <a:solidFill>
                  <a:srgbClr val="64748B"/>
                </a:solidFill>
                <a:latin typeface="Calibri" pitchFamily="34" charset="0"/>
                <a:ea typeface="Calibri" pitchFamily="34" charset="-122"/>
                <a:cs typeface="Calibri" pitchFamily="34" charset="-120"/>
              </a:rPr>
              <a:t>— Adds seeded Gaussian noise (SNR = 25 dB) onto NORMAL waveforms to create the fifth fault class</a:t>
            </a:r>
            <a:endParaRPr lang="en-US" sz="110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day12b_generate_noise_samples.py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Generates noise-fault samples per circuit by injecting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Gaussian noise onto the NORMAL sweep waveforms.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Noise is physically justified: real circuit noise is stochastic,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not a deterministic component shift.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os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numpy as np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pandas as pd</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Config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BASE     = r"C:\Users\karan\Desktop\May-June_july\Final Sn Bose"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CSV_IN   = os.path.join(BASE, "master_dataset_sweep.csv")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SNR_DB   = 25</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SEED     = 42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CIRCUITS = ["RC", "RLC", "SALLEN_KEY", "RC_LADDER"]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N_PTS    = 200</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rng = np.random.default_rng(SEED)</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Load existing dataset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        = pd.read_csv(CSV_IN)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wave_cols = [f"v{i}" for i in range(N_PTS)]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next_id   = df["sample_id"].max() + 1</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noise_rows = []</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for circ in CIRCUITS: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normals      = df[(df["circuit"] == circ) &amp; (df["fault"] == "normal")]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n_noise      = len(normals)          # match exactly — 51 per circuit</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66</a:t>
            </a:r>
            <a:endParaRPr lang="en-US" sz="9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2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Generating Noise-Fault Samples  (2/2)</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day12b_generate_noise_samples.py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normal_waves = normals[wave_cols].values</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for i in range(n_noise):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base        = normal_waves[i % len(normal_waves)]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sig_power   = np.mean(base ** 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noise_power = sig_power / (10 ** (SNR_DB / 10))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noise_std   = np.sqrt(noise_power)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noisy       = base + rng.normal(0, noise_std, size=N_PTS)</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row =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"sample_id":   next_id,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"circuit":     circ,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"fault":       "noise",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"param_value": SNR_DB</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row.update({f"v{i}": noisy[i] for i in range(N_PTS)})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noise_rows.append(row)</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next_id += 1</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print(f"{circ}/noise: {n_noise} samples generated at {SNR_DB} dB SNR")</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Append and save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df_noise  = pd.DataFrame(noise_rows)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df_final  = pd.concat([df, df_noise], ignore_index=True)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out = os.path.join(BASE, "master_dataset_sweep.csv")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df_final.to_csv(out, index=False)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print(f"\nFinal dataset: {len(df_final)} samples")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print(df_final.groupby(["circuit", "fault"]).size().to_string())</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67</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3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Extracting 17 Features per Waveform  (1/5)</a:t>
            </a:r>
            <a:endParaRPr lang="en-US" sz="2400" dirty="0"/>
          </a:p>
        </p:txBody>
      </p:sp>
      <p:sp>
        <p:nvSpPr>
          <p:cNvPr id="4" name="Text 2"/>
          <p:cNvSpPr/>
          <p:nvPr/>
        </p:nvSpPr>
        <p:spPr>
          <a:xfrm>
            <a:off x="502920" y="1417320"/>
            <a:ext cx="11155680" cy="502920"/>
          </a:xfrm>
          <a:prstGeom prst="rect">
            <a:avLst/>
          </a:prstGeom>
          <a:noFill/>
          <a:ln/>
        </p:spPr>
        <p:txBody>
          <a:bodyPr wrap="square" lIns="0" tIns="0" rIns="0" bIns="0" rtlCol="0" anchor="ctr"/>
          <a:lstStyle/>
          <a:p>
            <a:pPr indent="0" marL="0">
              <a:lnSpc>
                <a:spcPct val="120000"/>
              </a:lnSpc>
              <a:buNone/>
            </a:pPr>
            <a:r>
              <a:rPr lang="en-US" sz="1100" b="1" dirty="0">
                <a:solidFill>
                  <a:srgbClr val="0B1F3A"/>
                </a:solidFill>
                <a:latin typeface="Consolas" pitchFamily="34" charset="0"/>
                <a:ea typeface="Consolas" pitchFamily="34" charset="-122"/>
                <a:cs typeface="Consolas" pitchFamily="34" charset="-120"/>
              </a:rPr>
              <a:t>day13_v2.py  </a:t>
            </a:r>
            <a:pPr indent="0" marL="0">
              <a:lnSpc>
                <a:spcPct val="120000"/>
              </a:lnSpc>
              <a:buNone/>
            </a:pPr>
            <a:r>
              <a:rPr lang="en-US" sz="1100" dirty="0">
                <a:solidFill>
                  <a:srgbClr val="64748B"/>
                </a:solidFill>
                <a:latin typeface="Calibri" pitchFamily="34" charset="0"/>
                <a:ea typeface="Calibri" pitchFamily="34" charset="-122"/>
                <a:cs typeface="Calibri" pitchFamily="34" charset="-120"/>
              </a:rPr>
              <a:t>— Turns each 200-point waveform into the 17 time-, frequency-domain and structural features -&gt; features_v2.csv</a:t>
            </a:r>
            <a:endParaRPr lang="en-US" sz="110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day13_feature_extraction_v2.py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Extracts 17 features (16 original + f17_dc_level) from every waveform.</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f17_dc_level = mean of last 20 points — directly separates RC_open (near 0V)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from RC_short (near 5V), fixing the F1=0 failure identified in Day 16.</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os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numpy as np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pandas as pd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scipy.stats import skew, kurtosis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scipy.fft import rfft, rfftfreq</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BASE    = r"C:\Users\karan\Desktop\May-June_july\Final Sn Bose"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CSV_IN  = os.path.join(BASE, "master_dataset_sweep.csv")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CSV_OUT = os.path.join(BASE, "features_v2.csv")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N_PTS   = 200</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T_END =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"RC":         0.095,</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"RLC":        0.095,</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"RC_LADDER":  0.095,</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"SALLEN_KEY": 0.020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f1_peak_voltage(v):        return float(np.max(v))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f2_rms_value(v):           return float(np.sqrt(np.mean(v**2)))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f3_mean_voltage(v):        return float(np.mean(v))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f4_std_voltage(v):         return float(np.std(v))</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f5_rise_time(t, 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peak = np.max(v)</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68</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3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Extracting 17 Features per Waveform  (2/5)</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day13_v2.py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peak &lt; 1e-6: return float(t[-1])</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idx_lo = np.argmax(v &gt;= 0.1*peak)</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idx_hi = np.argmax(v &gt;= 0.9*peak)</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idx_hi &lt;= idx_lo: return float(t[-1]-t[0])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return float(t[idx_hi]-t[idx_lo])</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f6_settling_time(t, 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final = v[-1]</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abs(final) &lt; 1e-6: return float(t[-1])</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outside = np.where(np.abs(v-final) &gt; 0.02*abs(final))[0]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len(outside)==0: return float(t[0])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return float(t[outside[-1]])</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f7_skewness(v):            return float(skew(v))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f8_kurtosis(v):            return float(kurtosis(v))</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f9_dominant_freq(v, t_end, 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dt=t_end/(n-1); freq=rfftfreq(n,d=dt); mag=np.abs(rfft(v))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mask=(freq&gt;=50)&amp;(freq&lt;=2000)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not np.any(mask): return float(freq[np.argmax(mag)])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return float(freq[mask][np.argmax(mag[mask])])</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f10_spectral_energy(v, t_end, 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mag=np.abs(rfft(v)); return float(np.sum(mag**2))</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f11_spectral_centroid(v, t_end, 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dt=t_end/(n-1); freq=rfftfreq(n,d=dt); mag=np.abs(rfft(v))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denom=np.sum(mag)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denom&lt;1e-12: return 0.0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return float(np.sum(freq*mag)/denom)</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69</a:t>
            </a:r>
            <a:endParaRPr lang="en-US" sz="9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3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Extracting 17 Features per Waveform  (3/5)</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day13_v2.py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f12_bandwidth(v, t_end, 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dt=t_end/(n-1); freq=rfftfreq(n,d=dt); mag=np.abs(rfft(v))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denom=np.sum(mag)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denom&lt;1e-12: return 0.0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c=np.sum(freq*mag)/denom</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return float(np.sqrt(np.sum(((freq-c)**2)*mag)/denom))</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f13_spectral_entropy(v, t_end, 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mag=np.abs(rfft(v))**2; total=np.sum(mag)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total&lt;1e-12: return 0.0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p=mag/total; p=p[p&gt;0]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return float(-np.sum(p*np.log2(p)))</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f14_energy(v):             return float(np.sum(v**2))</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f15_zero_crossing_rate(v):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return float(np.sum(np.diff(np.sign(v-np.mean(v)))!=0)/len(v))</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f16_crest_factor(v):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rms=np.sqrt(np.mean(v**2))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rms&lt;1e-12: return 0.0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return float(np.max(np.abs(v))/rms)</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f17_dc_level(v):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Mean of last 20 points = steady-state DC level.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RC_open: near 0V (capacitor never charges in 95ms window)</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RC_short: near 5V (capacitor charges instantly)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This directly separates the two previously confused classes.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return float(np.mean(v[-20:]))</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70</a:t>
            </a:r>
            <a:endParaRPr lang="en-US" sz="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3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Extracting 17 Features per Waveform  (4/5)</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day13_v2.py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df_raw    = pd.read_csv(CSV_IN)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wave_cols = [f"v{i}" for i in range(N_PTS)]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records   = []</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for idx, row in df_raw.iterrows():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circ  = row["circuit"]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t_end = T_END[circ]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v     = row[wave_cols].values.astype(float)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     = np.linspace(0.0, t_end, N_PTS)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rec =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"sample_id": int(row["sample_id"]),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"circuit":   circ,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"fault":     row["fault"],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"f1":  f1_peak_voltage(v),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"f2":  f2_rms_value(v),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"f3":  f3_mean_voltage(v),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"f4":  f4_std_voltage(v),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"f5":  f5_rise_time(t,v),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"f6":  f6_settling_time(t,v),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"f7":  f7_skewness(v),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"f8":  f8_kurtosis(v),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"f9":  f9_dominant_freq(v,t_end,N_PTS),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"f10": f10_spectral_energy(v,t_end,N_PTS),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"f11": f11_spectral_centroid(v,t_end,N_PTS),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"f12": f12_bandwidth(v,t_end,N_PTS),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"f13": f13_spectral_entropy(v,t_end,N_PTS),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"f14": f14_energy(v),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"f15": f15_zero_crossing_rate(v),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"f16": f16_crest_factor(v),</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71</a:t>
            </a:r>
            <a:endParaRPr lang="en-US" sz="9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3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Extracting 17 Features per Waveform  (5/5)</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day13_v2.py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"f17": f17_dc_level(v),
    }
    records.append(rec)
    if (idx+1)%100==0: print(f"  processed {idx+1}/{len(df_raw)}...")
df_feat = pd.DataFrame(records)
df_feat.to_csv(CSV_OUT, index=False)
print(f"\nSaved {len(df_feat)} rows -&gt; {CSV_OUT}")
print(f"Columns: {len(df_feat.columns)} (sample_id + circuit + fault + f1-f17)")
# Quick diagnosis: RC_open vs RC_short on f17
rc_open  = df_feat[(df_feat["circuit"]=="RC")&amp;(df_feat["fault"]=="open")]["f17"].mean()
rc_short = df_feat[(df_feat["circuit"]=="RC")&amp;(df_feat["fault"]=="short")]["f17"].mean()
print(f"\nf17 diagnosis:")
print(f"  RC_open  mean dc_level = {rc_open:.4f} V")
print(f"  RC_short mean dc_level = {rc_short:.4f} V")
print(f"  Separation gap = {abs(rc_open-rc_short):.4f} V")
print(f"  Separable: {'YES' if abs(rc_open-rc_short) &gt; 1.0 else 'MARGINAL'}")
</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72</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4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Baseline SVM Training (Default Hyperparameters)  (1/4)</a:t>
            </a:r>
            <a:endParaRPr lang="en-US" sz="2400" dirty="0"/>
          </a:p>
        </p:txBody>
      </p:sp>
      <p:sp>
        <p:nvSpPr>
          <p:cNvPr id="4" name="Text 2"/>
          <p:cNvSpPr/>
          <p:nvPr/>
        </p:nvSpPr>
        <p:spPr>
          <a:xfrm>
            <a:off x="502920" y="1417320"/>
            <a:ext cx="11155680" cy="502920"/>
          </a:xfrm>
          <a:prstGeom prst="rect">
            <a:avLst/>
          </a:prstGeom>
          <a:noFill/>
          <a:ln/>
        </p:spPr>
        <p:txBody>
          <a:bodyPr wrap="square" lIns="0" tIns="0" rIns="0" bIns="0" rtlCol="0" anchor="ctr"/>
          <a:lstStyle/>
          <a:p>
            <a:pPr indent="0" marL="0">
              <a:lnSpc>
                <a:spcPct val="120000"/>
              </a:lnSpc>
              <a:buNone/>
            </a:pPr>
            <a:r>
              <a:rPr lang="en-US" sz="1100" b="1" dirty="0">
                <a:solidFill>
                  <a:srgbClr val="0B1F3A"/>
                </a:solidFill>
                <a:latin typeface="Consolas" pitchFamily="34" charset="0"/>
                <a:ea typeface="Consolas" pitchFamily="34" charset="-122"/>
                <a:cs typeface="Consolas" pitchFamily="34" charset="-120"/>
              </a:rPr>
              <a:t>day14_svm_baseline.py  </a:t>
            </a:r>
            <a:pPr indent="0" marL="0">
              <a:lnSpc>
                <a:spcPct val="120000"/>
              </a:lnSpc>
              <a:buNone/>
            </a:pPr>
            <a:r>
              <a:rPr lang="en-US" sz="1100" dirty="0">
                <a:solidFill>
                  <a:srgbClr val="64748B"/>
                </a:solidFill>
                <a:latin typeface="Calibri" pitchFamily="34" charset="0"/>
                <a:ea typeface="Calibri" pitchFamily="34" charset="-122"/>
                <a:cs typeface="Calibri" pitchFamily="34" charset="-120"/>
              </a:rPr>
              <a:t>— Trains Linear / RBF / Polynomial kernels with near-default settings — the Section 5 baseline numbers come from here</a:t>
            </a:r>
            <a:endParaRPr lang="en-US" sz="110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day14_svm_baseline.py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Honest SVM baseline on real LTspice sweep features.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Trains Linear, RBF, and Polynomial SVMs on features.csv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and reports per-class and overall performance.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os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numpy as np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pandas as pd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sklearn.svm import SVC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sklearn.preprocessing import StandardScaler, LabelEncoder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sklearn.model_selection import train_test_split, cross_val_score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sklearn.metrics import (accuracy_score, classification_report,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confusion_matrix)</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warnings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warnings.filterwarnings("ignore")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Config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BASE     = r"C:\Users\karan\Desktop\May-June_july\Final Sn Bose"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CSV_IN   = os.path.join(BASE, "features.csv")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OUT_FILE = os.path.join(BASE, "day14_results.txt")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FEATURE_COLS = [f"f{i}" for i in range(1, 17)]</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RANDOM_STATE = 42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TEST_SIZE    = 0.20</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Load data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 = pd.read_csv(CSV_IN)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print(f"Loaded {len(df)} samples, {len(FEATURE_COLS)} features")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print(f"Classes: {sorted(df['fault'].unique())}")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print(f"Circuits: {sorted(df['circuit'].unique())}\n")</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73</a:t>
            </a:r>
            <a:endParaRPr lang="en-US" sz="9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4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Baseline SVM Training (Default Hyperparameters)  (2/4)</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day14_svm_baseline.py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Create combined label: circuit_fault (20 classes)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df["label"] = df["circuit"] + "_" + df["fault"]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print(f"Total unique labels: {df['label'].nunique()}")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print(df.groupby("label").size().to_string())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Encode and split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le = LabelEncoder()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y  = le.fit_transform(df["label"])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  = df[FEATURE_COLS].values</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X_train, X_test, y_train, y_test = train_test_split(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X, y, test_size=TEST_SIZE, random_state=RANDOM_STATE, stratify=y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print(f"Train: {len(X_train)} samples | Test: {len(X_test)} samples\n")</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Scale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scaler  = StandardScaler()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X_train = scaler.fit_transform(X_train)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X_test  = scaler.transform(X_test)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Define three kernels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kernels =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"Linear":     SVC(kernel="linear",  C=1.0,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random_state=RANDOM_STATE, decision_function_shape="ovo"),</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"RBF":        SVC(kernel="rbf",     C=1.0,  gamma="scale",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random_state=RANDOM_STATE, decision_function_shape="ovo"),</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"Polynomial": SVC(kernel="poly",    C=1.0,  gamma="scale", degree=3, coef0=1,</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random_state=RANDOM_STATE, decision_function_shape="ovo"),</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74</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4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Baseline SVM Training (Default Hyperparameters)  (3/4)</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day14_svm_baseline.py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 Train, evaluate, report --------------------------------------
results = {}
output_lines = []
def log(line=""):
    print(line)
    output_lines.append(line)
log("=" * 60)
log("DAY 14 —  SVM BASELINE ON REAL SWEPT DATA")
log("=" * 60)
log(f"Dataset : {len(df)} samples | {len(FEATURE_COLS)} features | 20 classes")
log(f"Split   : {int((1-TEST_SIZE)*100)}% train / {int(TEST_SIZE*100)}% test | stratified")
log(f"Scaling : StandardScaler (zero mean, unit variance)")
log()
for name, clf in kernels.items():
    log(f"{'─'*60}")
    log(f"KERNEL: {name}")
    log(f"{'─'*60}")
    # Train
    clf.fit(X_train, y_train)
    # Test accuracy
    y_pred    = clf.predict(X_test)
    test_acc  = accuracy_score(y_test, y_pred)
</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75</a:t>
            </a:r>
            <a:endParaRPr lang="en-US"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4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Baseline SVM Training (Default Hyperparameters)  (4/4)</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day14_svm_baseline.py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5-fold cross-validation on full dataset
    cv_scores = cross_val_score(clf, X_train, y_train, cv=5, scoring="accuracy")
    log(f"Test  Accuracy : {test_acc*100:.2f}%")
    log(f"CV    Accuracy : {cv_scores.mean()*100:.2f}% ± {cv_scores.std()*100:.2f}%")
    log()
    # Per-class report
    report = classification_report(
        y_test, y_pred,
        target_names=le.classes_,
        digits=3
    )
    log("Classification Report:")
    log(report)
</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76</a:t>
            </a:r>
            <a:endParaRPr lang="en-US" sz="9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5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Hyperparameter Tuning with GridSearchCV  (1/8)</a:t>
            </a:r>
            <a:endParaRPr lang="en-US" sz="2400" dirty="0"/>
          </a:p>
        </p:txBody>
      </p:sp>
      <p:sp>
        <p:nvSpPr>
          <p:cNvPr id="4" name="Text 2"/>
          <p:cNvSpPr/>
          <p:nvPr/>
        </p:nvSpPr>
        <p:spPr>
          <a:xfrm>
            <a:off x="502920" y="1417320"/>
            <a:ext cx="11155680" cy="502920"/>
          </a:xfrm>
          <a:prstGeom prst="rect">
            <a:avLst/>
          </a:prstGeom>
          <a:noFill/>
          <a:ln/>
        </p:spPr>
        <p:txBody>
          <a:bodyPr wrap="square" lIns="0" tIns="0" rIns="0" bIns="0" rtlCol="0" anchor="ctr"/>
          <a:lstStyle/>
          <a:p>
            <a:pPr indent="0" marL="0">
              <a:lnSpc>
                <a:spcPct val="120000"/>
              </a:lnSpc>
              <a:buNone/>
            </a:pPr>
            <a:r>
              <a:rPr lang="en-US" sz="1100" b="1" dirty="0">
                <a:solidFill>
                  <a:srgbClr val="0B1F3A"/>
                </a:solidFill>
                <a:latin typeface="Consolas" pitchFamily="34" charset="0"/>
                <a:ea typeface="Consolas" pitchFamily="34" charset="-122"/>
                <a:cs typeface="Consolas" pitchFamily="34" charset="-120"/>
              </a:rPr>
              <a:t>day15_gridsearch.py  </a:t>
            </a:r>
            <a:pPr indent="0" marL="0">
              <a:lnSpc>
                <a:spcPct val="120000"/>
              </a:lnSpc>
              <a:buNone/>
            </a:pPr>
            <a:r>
              <a:rPr lang="en-US" sz="1100" dirty="0">
                <a:solidFill>
                  <a:srgbClr val="64748B"/>
                </a:solidFill>
                <a:latin typeface="Calibri" pitchFamily="34" charset="0"/>
                <a:ea typeface="Calibri" pitchFamily="34" charset="-122"/>
                <a:cs typeface="Calibri" pitchFamily="34" charset="-120"/>
              </a:rPr>
              <a:t>— Exhaustive grid search over C, gamma and degree for each kernel, scored with 5-fold cross-validation</a:t>
            </a:r>
            <a:endParaRPr lang="en-US" sz="110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day15_gridsearch.py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GridSearchCV hyperparameter tuning for Linear, RBF, and Polynomial SVMs.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Finds optimal C, gamma, degree for each kernel.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Test set never touched during search — only used for final evaluation.</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os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numpy as np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pandas as pd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sklearn.svm import SVC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sklearn.preprocessing import StandardScaler, LabelEncoder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sklearn.model_selection import train_test_split, GridSearchCV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sklearn.metrics import accuracy_score, classification_report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warnings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warnings.filterwarnings("ignore")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Config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BASE     = r"C:\Users\karan\Desktop\May-June_july\Final Sn Bose"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CSV_IN   = os.path.join(BASE, "features.csv")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OUT_FILE = os.path.join(BASE, "day15_results.txt")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FEATURE_COLS = [f"f{i}" for i in range(1, 17)]</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RANDOM_STATE = 42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TEST_SIZE    = 0.20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CV_FOLDS     = 5</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Day 14 baseline for comparison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DAY14 = {"Linear": 76.47, "RBF": 70.59, "Polynomial": 74.02}</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Search grids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Wide log-scale search for C and gamma</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77</a:t>
            </a:r>
            <a:endParaRPr lang="en-US" sz="9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5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Hyperparameter Tuning with GridSearchCV  (2/8)</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day15_gridsearch.py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PARAM_GRIDS =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"Linear":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 [0.001, 0.01, 0.1, 1, 10, 100, 1000]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"RBF":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     [0.1, 1, 10, 100, 1000],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"gamma": [0.0001, 0.001, 0.01, 0.1, 1, 10]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"Polynomial":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      [0.1, 1, 10, 100],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"gamma":  [0.001, 0.01, 0.1],</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"degree": [2, 3],</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"coef0":  [1]</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Load and prepare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 = pd.read_csv(CSV_IN)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df["label"] = df["circuit"] + "_" + df["fault"]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le = LabelEncoder()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y  = le.fit_transform(df["label"])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  = df[FEATURE_COLS].values</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X_train, X_test, y_train, y_test = train_test_split(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X, y, test_size=TEST_SIZE, random_state=RANDOM_STATE, stratify=y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scaler  = StandardScaler()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X_train = scaler.fit_transform(X_train)</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78</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5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Hyperparameter Tuning with GridSearchCV  (3/8)</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day15_gridsearch.py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X_test  = scaler.transform(X_test)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print(f"Train: {len(X_train)} | Test: {len(X_test)}")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print(f"Search grids:")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for k, g in PARAM_GRIDS.items():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n = 1</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for v in g.values(): n *= len(v)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print(f"  {k}: {n} combinations × {CV_FOLDS} folds = {n*CV_FOLDS} fits")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Run GridSearchCV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output_lines = []</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log(line=""):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print(line)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output_lines.append(line)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 * 60)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log("DAY 15 — GRIDSEARCHCV HYPERPARAMETER TUNING")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 * 60)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log(f"Dataset : 1019 samples | 16 features | 20 classes")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log(f"Split   : 80/20 stratified | CV folds: {CV_FOLDS}")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tuned_results = {}</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Linear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 * 60)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log("KERNEL: Linear")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 * 60)</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79</a:t>
            </a:r>
            <a:endParaRPr lang="en-US" sz="9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5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Hyperparameter Tuning with GridSearchCV  (4/8)</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day15_gridsearch.py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log(f"Search grid: C = {PARAM_GRIDS['Linear']['C']}")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gs_linear = GridSearchCV(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SVC(kernel="linear", decision_function_shape="ovo",</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random_state=RANDOM_STATE),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param_grid={"C": PARAM_GRIDS["Linear"]["C"]},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cv=CV_FOLDS, scoring="accuracy", n_jobs=-1, verbose=1</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gs_linear.fit(X_train, y_train)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best_linear = gs_linear.best_estimator_</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y_pred      = best_linear.predict(X_test)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test_acc    = accuracy_score(y_test, y_pred)</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log(f"Best params : C = {gs_linear.best_params_['C']}")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log(f"Best CV acc : {gs_linear.best_score_*100:.2f}%")</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log(f"Test acc    : {test_acc*100:.2f}%  (Day14 default: {DAY14['Linear']}%)")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log(f"Improvement : {(test_acc*100 - DAY14['Linear']):+.2f}%")</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log("Classification Report:")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log(classification_report(y_test, y_pred,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target_names=le.classes_, digits=3))</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tuned_results["Linear"] =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"best_params": gs_linear.best_params_,</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"best_cv":     gs_linear.best_score_,</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"test_acc":    test_acc,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"report":      classification_report(y_test, y_pred,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target_names=le.classes_, digits=3)</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RBF</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 * 60)</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80</a:t>
            </a:r>
            <a:endParaRPr lang="en-US" sz="9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5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Hyperparameter Tuning with GridSearchCV  (5/8)</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day15_gridsearch.py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log("KERNEL: RBF")</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 * 60)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log(f"Search grid: C = {PARAM_GRIDS['RBF']['C']},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f"gamma = {PARAM_GRIDS['RBF']['gamma']}")</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gs_rbf = GridSearchCV(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SVC(kernel="rbf", decision_function_shape="ovo",</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random_state=RANDOM_STATE),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param_grid={"C": PARAM_GRIDS["RBF"]["C"],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"gamma": PARAM_GRIDS["RBF"]["gamma"]},</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cv=CV_FOLDS, scoring="accuracy", n_jobs=-1, verbose=1</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gs_rbf.fit(X_train, y_train)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best_rbf = gs_rbf.best_estimator_</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y_pred   = best_rbf.predict(X_test)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test_acc = accuracy_score(y_test, y_pred)</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log(f"Best params : C = {gs_rbf.best_params_['C']},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f"gamma = {gs_rbf.best_params_['gamma']}")</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log(f"Best CV acc : {gs_rbf.best_score_*100:.2f}%")</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log(f"Test acc    : {test_acc*100:.2f}%  (Day14 default: {DAY14['RBF']}%)")</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log(f"Improvement : {(test_acc*100 - DAY14['RBF']):+.2f}%")</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log("Classification Report:")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log(classification_report(y_test, y_pred,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target_names=le.classes_, digits=3))</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tuned_results["RBF"] =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"best_params": gs_rbf.best_params_,</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"best_cv":     gs_rbf.best_score_,</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"test_acc":    test_acc,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"report":      classification_report(y_test, y_pred,</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81</a:t>
            </a:r>
            <a:endParaRPr lang="en-US" sz="9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5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Hyperparameter Tuning with GridSearchCV  (6/8)</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day15_gridsearch.py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target_names=le.classes_, digits=3)</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Polynomial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 * 60)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log("KERNEL: Polynomial")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 * 60)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log(f"Search grid: C={PARAM_GRIDS['Polynomial']['C']},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f"gamma={PARAM_GRIDS['Polynomial']['gamma']},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f"degree={PARAM_GRIDS['Polynomial']['degree']}")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gs_poly = GridSearchCV(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SVC(kernel="poly", decision_function_shape="ovo",</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random_state=RANDOM_STATE),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param_grid={"C":      PARAM_GRIDS["Polynomial"]["C"],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"gamma":  PARAM_GRIDS["Polynomial"]["gamma"],</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"degree": PARAM_GRIDS["Polynomial"]["degree"],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"coef0":  PARAM_GRIDS["Polynomial"]["coef0"]},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cv=CV_FOLDS, scoring="accuracy", n_jobs=-1, verbose=1</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gs_poly.fit(X_train, y_train)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best_poly = gs_poly.best_estimator_</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y_pred    = best_poly.predict(X_test)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test_acc  = accuracy_score(y_test, y_pred)</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log(f"Best params : C={gs_poly.best_params_['C']},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f"gamma={gs_poly.best_params_['gamma']},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f"degree={gs_poly.best_params_['degree']},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f"coef0={gs_poly.best_params_['coef0']}")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log(f"Best CV acc : {gs_poly.best_score_*100:.2f}%")</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log(f"Test acc    : {test_acc*100:.2f}%  (Day14 default: {DAY14['Polynomial']}%)")</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82</a:t>
            </a:r>
            <a:endParaRPr lang="en-US" sz="9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5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Hyperparameter Tuning with GridSearchCV  (7/8)</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day15_gridsearch.py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log(f"Improvement : {(test_acc*100 - DAY14['Polynomial']):+.2f}%")</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log("Classification Report:")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log(classification_report(y_test, y_pred,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target_names=le.classes_, digits=3))</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tuned_results["Polynomial"] =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"best_params": gs_poly.best_params_,</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"best_cv":     gs_poly.best_score_,</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"test_acc":    test_acc,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"report":      classification_report(y_test, y_pred,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target_names=le.classes_, digits=3)</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Final summary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 * 60)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log("FINAL SUMMARY — DEFAULT vs TUNED")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 * 60)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log(f"{'Kernel':&lt;14} {'Default':&gt;10} {'Tuned':&gt;10} {'Gain':&gt;10} {'Best Params'}")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log(f"{'─'*14} {'─'*10} {'─'*10} {'─'*10} {'─'*30}")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for name, r in tuned_results.items():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gain = r['test_acc']*100 - DAY14[name]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params_str = ", ".join(f"{k}={v}" for k,v in r['best_params'].items())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log(f"{name:&lt;14} {DAY14[name]:&gt;9.2f}%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f"{r['test_acc']*100:&gt;9.2f}%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f"{gain:&gt;+9.2f}%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f"{params_str}")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best_kernel = max(tuned_results, key=lambda k: tuned_results[k]['test_acc'])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log(f"Best overall kernel (tuned): {best_kernel} at "</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83</a:t>
            </a:r>
            <a:endParaRPr lang="en-US" sz="9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5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Hyperparameter Tuning with GridSearchCV  (8/8)</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day15_gridsearch.py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f"{tuned_results[best_kernel]['test_acc']*100:.2f}%")
# ---- Save ---------------------------------------------------------
with open(OUT_FILE, "w", encoding="utf-8") as f:
    f.write("\n".join(output_lines))
print(f"\nResults saved -&gt; {OUT_FILE}")
</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84</a:t>
            </a:r>
            <a:endParaRPr lang="en-US" sz="9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6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Confusion Matrix &amp; Diagnostic Analysis  (1/7)</a:t>
            </a:r>
            <a:endParaRPr lang="en-US" sz="2400" dirty="0"/>
          </a:p>
        </p:txBody>
      </p:sp>
      <p:sp>
        <p:nvSpPr>
          <p:cNvPr id="4" name="Text 2"/>
          <p:cNvSpPr/>
          <p:nvPr/>
        </p:nvSpPr>
        <p:spPr>
          <a:xfrm>
            <a:off x="502920" y="1417320"/>
            <a:ext cx="11155680" cy="502920"/>
          </a:xfrm>
          <a:prstGeom prst="rect">
            <a:avLst/>
          </a:prstGeom>
          <a:noFill/>
          <a:ln/>
        </p:spPr>
        <p:txBody>
          <a:bodyPr wrap="square" lIns="0" tIns="0" rIns="0" bIns="0" rtlCol="0" anchor="ctr"/>
          <a:lstStyle/>
          <a:p>
            <a:pPr indent="0" marL="0">
              <a:lnSpc>
                <a:spcPct val="120000"/>
              </a:lnSpc>
              <a:buNone/>
            </a:pPr>
            <a:r>
              <a:rPr lang="en-US" sz="1100" b="1" dirty="0">
                <a:solidFill>
                  <a:srgbClr val="0B1F3A"/>
                </a:solidFill>
                <a:latin typeface="Consolas" pitchFamily="34" charset="0"/>
                <a:ea typeface="Consolas" pitchFamily="34" charset="-122"/>
                <a:cs typeface="Consolas" pitchFamily="34" charset="-120"/>
              </a:rPr>
              <a:t>day16_confusion_analysis.py  </a:t>
            </a:r>
            <a:pPr indent="0" marL="0">
              <a:lnSpc>
                <a:spcPct val="120000"/>
              </a:lnSpc>
              <a:buNone/>
            </a:pPr>
            <a:r>
              <a:rPr lang="en-US" sz="1100" dirty="0">
                <a:solidFill>
                  <a:srgbClr val="64748B"/>
                </a:solidFill>
                <a:latin typeface="Calibri" pitchFamily="34" charset="0"/>
                <a:ea typeface="Calibri" pitchFamily="34" charset="-122"/>
                <a:cs typeface="Calibri" pitchFamily="34" charset="-120"/>
              </a:rPr>
              <a:t>— Generates the confusion matrix, per-class F1 chart, and the RC_open vs. RC_short / Normal vs. Drift feature diagnosis</a:t>
            </a:r>
            <a:endParaRPr lang="en-US" sz="110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day16_confusion_analysis.py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Full confusion matrix analysis and error diagnosis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using the best model from Day 15: RBF C=100, gamma=0.1</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os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numpy as np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pandas as pd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matplotlib</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matplotlib.use('Agg')                    # non-interactive backend for saving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matplotlib.pyplot as plt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seaborn as sns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sklearn.svm import SVC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sklearn.preprocessing import StandardScaler, LabelEncoder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sklearn.model_selection import train_test_split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sklearn.metrics import (accuracy_score, classification_report,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confusion_matrix, f1_score)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warnings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warnings.filterwarnings("ignore")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Config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BASE     = r"C:\Users\karan\Desktop\May-June_july\Final Sn Bose"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CSV_IN   = os.path.join(BASE, "features.csv")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OUT_DIR  = os.path.join(BASE, "Day16_Analysis")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os.makedirs(OUT_DIR, exist_ok=True)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FEATURE_COLS = [f"f{i}" for i in range(1, 17)]</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RANDOM_STATE = 42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TEST_SIZE    = 0.20</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Load and prepare ---------------------------------------------</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85</a:t>
            </a:r>
            <a:endParaRPr lang="en-US" sz="9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6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Confusion Matrix &amp; Diagnostic Analysis  (2/7)</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day16_confusion_analysis.py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 = pd.read_csv(CSV_IN)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df["label"] = df["circuit"] + "_" + df["fault"]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le = LabelEncoder()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y  = le.fit_transform(df["label"])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  = df[FEATURE_COLS].values</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X_train, X_test, y_train, y_test = train_test_split(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X, y, test_size=TEST_SIZE, random_state=RANDOM_STATE, stratify=y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scaler  = StandardScaler()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X_train = scaler.fit_transform(X_train)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X_test  = scaler.transform(X_test)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Train best model (RBF tuned)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print("Training best model: RBF C=100, gamma=0.1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clf = SVC(kernel="rbf", C=100, gamma=0.1,</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decision_function_shape="ovo", random_state=RANDOM_STATE)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clf.fit(X_train, y_train)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y_pred   = clf.predict(X_test)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test_acc = accuracy_score(y_test, y_pred)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print(f"Test accuracy: {test_acc*100:.2f}%\n")</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---- 1. Full 20x20 Confusion Matrix heatmap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print("Generating confusion matrix heatmap...")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cm     = confusion_matrix(y_test, y_pred)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labels = le.classes_</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fig, ax = plt.subplots(figsize=(18, 15))</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86</a:t>
            </a:r>
            <a:endParaRPr lang="en-US" sz="9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6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Confusion Matrix &amp; Diagnostic Analysis  (3/7)</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day16_confusion_analysis.py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sns.heatmap(cm, annot=True, fmt='d', cmap='Blues',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xticklabels=labels, yticklabels=labels,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linewidths=0.5, ax=ax)</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ax.set_xlabel("Predicted Label", fontsize=12)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ax.set_ylabel("True Label", fontsize=12)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ax.set_title(f"Confusion Matrix — RBF SVM (C=100, γ=0.1)\nTest Accuracy: {test_acc*100:.2f}%",</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fontsize=14)</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plt.xticks(rotation=45, ha='right', fontsize=8)</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plt.yticks(rotation=0, fontsize=8)</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plt.tight_layout()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path1 = os.path.join(OUT_DIR, "confusion_matrix.png")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plt.savefig(path1, dpi=150, bbox_inches='tight')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plt.close()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print(f"Saved: {path1}")</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---- 2. Per-class F1 bar chart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print("Generating per-class F1 chart...")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f1_scores = f1_score(y_test, y_pred, average=None)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f1_df     = pd.DataFrame({"class": labels, "f1": f1_scores})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f1_df     = f1_df.sort_values("f1", ascending=True)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colors = ["#d32f2f" if f &lt; 0.5 else "#f57c00" if f &lt; 0.8</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else "#388e3c" for f in f1_df["f1"]]</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fig, ax = plt.subplots(figsize=(12, 8))</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bars = ax.barh(f1_df["class"], f1_df["f1"], color=colors)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ax.axvline(x=0.5, color='red', linestyle='--', alpha=0.5, label='F1=0.5 threshold')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ax.axvline(x=0.8, color='orange', linestyle='--', alpha=0.5, label='F1=0.8 threshold')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for bar, val in zip(bars, f1_df["f1"]):</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ax.text(bar.get_width() + 0.01, bar.get_y() + bar.get_height()/2,</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87</a:t>
            </a:r>
            <a:endParaRPr lang="en-US" sz="9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6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Confusion Matrix &amp; Diagnostic Analysis  (4/7)</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day16_confusion_analysis.py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f'{val:.3f}', va='center', fontsize=9)</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ax.set_xlabel("F1 Score", fontsize=12)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ax.set_title("Per-Class F1 Score — RBF SVM (C=100, γ=0.1)", fontsize=14)</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ax.set_xlim(0, 1.15)</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ax.legend(fontsize=10)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plt.tight_layout()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path2 = os.path.join(OUT_DIR, "f1_per_class.png")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plt.savefig(path2, dpi=150, bbox_inches='tight')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plt.close()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print(f"Saved: {path2}")</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---- 3. Top confused pairs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print("\nTop 10 most confused class pairs:")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print(f"{'Actual':&lt;25} {'Predicted':&lt;25} {'Count':&gt;6}")</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 * 58)</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confused =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for i in range(len(labels)):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for j in range(len(labels)):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i != j and cm[i, j] &gt; 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confused.append((labels[i], labels[j], cm[i, j]))</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confused.sort(key=lambda x: -x[2])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for actual, predicted, count in confused[:10]: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print(f"{actual:&lt;25} {predicted:&lt;25} {count:&gt;6}")</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---- 4. Per-circuit accuracy breakdown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print("\nPer-circuit accuracy:")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print(f"{'Circuit':&lt;15} {'Accuracy':&gt;10} {'Correct':&gt;8} {'Total':&gt;8}")</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 * 45)</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Map test indices back to circuit labels</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88</a:t>
            </a:r>
            <a:endParaRPr lang="en-US" sz="9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6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Confusion Matrix &amp; Diagnostic Analysis  (5/7)</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day16_confusion_analysis.py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df_test = df.iloc[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pd.Series(range(len(df))).sample(frac=TEST_SIZE,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random_state=RANDOM_STATE).sort_values().index</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circuits = ["RC", "RLC", "SALLEN_KEY", "RC_LADDER"]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y_test_labels   = le.inverse_transform(y_test)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y_pred_labels   = le.inverse_transform(y_pred)</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for circ in circuits: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mask    = np.array([circ + "_" in l for l in y_test_labels])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mask.sum() == 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continue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correct = np.sum(y_test_labels[mask] == y_pred_labels[mask])</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total   = mask.sum()</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acc     = correct / total * 100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print(f"{circ:&lt;15} {acc:&gt;9.2f}% {correct:&gt;8} {total:&gt;8}")</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---- 5. RC_open diagnosis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print("\n--- RC_open vs RC_short Feature Diagnosis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rc_open  = df[(df["circuit"]=="RC") &amp; (df["fault"]=="open")]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rc_short = df[(df["circuit"]=="RC") &amp; (df["fault"]=="short")]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key_features = ["f1", "f2", "f3", "f4", "f5", "f14"]</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feat_names   =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"f1": "peak_voltage", "f2": "rms_value",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"f3": "mean_voltage", "f4": "std_voltage",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"f5": "rise_time",    "f14": "energy"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print(f"\n{'Feature':&lt;12} {'RC_open mean':&gt;14} {'RC_short mean':&gt;14} {'Separable?':&gt;12}")</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89</a:t>
            </a:r>
            <a:endParaRPr lang="en-US" sz="9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6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Confusion Matrix &amp; Diagnostic Analysis  (6/7)</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day16_confusion_analysis.py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 * 55)</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for f in key_features: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o_mean = rc_open[f].mean()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s_mean = rc_short[f].mean()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gap    = abs(o_mean - s_mean)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sep    = "YES" if gap &gt; 0.5 else "MARGINAL" if gap &gt; 0.1 else "NO"</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print(f"{feat_names[f]:&lt;12} {o_mean:&gt;14.4f} {s_mean:&gt;14.4f} {sep:&gt;12}")</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---- 6. Normal vs Drift diagnosis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print("\n--- Normal vs Drift Feature Diagnosis (all circuits)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normal = df[df["fault"]=="normal"]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drift  = df[df["fault"]=="drift"]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print(f"\n{'Feature':&lt;12} {'Normal mean':&gt;13} {'Drift mean':&gt;13} {'Separable?':&gt;12}")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 * 52)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for f in ["f1","f2","f3","f5","f6","f9","f13"]:</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n_mean = normal[f].mean()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d_mean = drift[f].mean()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gap    = abs(n_mean - d_mean)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sep    = "YES" if gap &gt; 0.5 else "MARGINAL" if gap &gt; 0.1 else "NO"</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print(f"{f:&lt;12} {n_mean:&gt;13.4f} {d_mean:&gt;13.4f} {sep:&gt;12}")</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---- 7. Summary report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report = classification_report(y_test, y_pred,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target_names=labels, digits=3)</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print(f"\nFull Classification Report:\n{report}")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summary = f"""</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DAY 16 ANALYSIS SUMMARY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Best Model    : RBF SVM, C=100, gamma=0.1</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90</a:t>
            </a:r>
            <a:endParaRPr lang="en-US" sz="9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6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Confusion Matrix &amp; Diagnostic Analysis  (7/7)</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day16_confusion_analysis.py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Test Accuracy : {test_acc*100:.2f}%</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Perfect classes (F1=1.0):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'.join([labels[i] for i,f in enumerate(f1_scores) if f==1.0])}</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Failed classes (F1=0):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'.join([labels[i] for i,f in enumerate(f1_scores) if f==0.0])}</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Weak classes (F1 &lt; 0.5):</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'.join([labels[i] for i,f in enumerate(f1_scores) if 0 &lt; f &lt; 0.5])}</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print(summary)</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out_txt = os.path.join(OUT_DIR, "day16_summary.txt")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with open(out_txt, "w", encoding="utf-8") as f:</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f.write(summary)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f.write("\nFull Classification Report:\n")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f.write(report)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f.write("\n\nTop Confused Pairs:\n")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for actual, predicted, count in confused[:10]: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f.write(f"{actual} -&gt; {predicted}: {count}\n")</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print(f"\nAll outputs saved to: {OUT_DIR}")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print("Files: confusion_matrix.png, f1_per_class.png, day16_summary.txt")</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91</a:t>
            </a:r>
            <a:endParaRPr lang="en-US" sz="9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7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Training &amp; Saving the Final Deployment Model  (1/2)</a:t>
            </a:r>
            <a:endParaRPr lang="en-US" sz="2400" dirty="0"/>
          </a:p>
        </p:txBody>
      </p:sp>
      <p:sp>
        <p:nvSpPr>
          <p:cNvPr id="4" name="Text 2"/>
          <p:cNvSpPr/>
          <p:nvPr/>
        </p:nvSpPr>
        <p:spPr>
          <a:xfrm>
            <a:off x="502920" y="1417320"/>
            <a:ext cx="11155680" cy="502920"/>
          </a:xfrm>
          <a:prstGeom prst="rect">
            <a:avLst/>
          </a:prstGeom>
          <a:noFill/>
          <a:ln/>
        </p:spPr>
        <p:txBody>
          <a:bodyPr wrap="square" lIns="0" tIns="0" rIns="0" bIns="0" rtlCol="0" anchor="ctr"/>
          <a:lstStyle/>
          <a:p>
            <a:pPr indent="0" marL="0">
              <a:lnSpc>
                <a:spcPct val="120000"/>
              </a:lnSpc>
              <a:buNone/>
            </a:pPr>
            <a:r>
              <a:rPr lang="en-US" sz="1100" b="1" dirty="0">
                <a:solidFill>
                  <a:srgbClr val="0B1F3A"/>
                </a:solidFill>
                <a:latin typeface="Consolas" pitchFamily="34" charset="0"/>
                <a:ea typeface="Consolas" pitchFamily="34" charset="-122"/>
                <a:cs typeface="Consolas" pitchFamily="34" charset="-120"/>
              </a:rPr>
              <a:t>save_model.py  </a:t>
            </a:r>
            <a:pPr indent="0" marL="0">
              <a:lnSpc>
                <a:spcPct val="120000"/>
              </a:lnSpc>
              <a:buNone/>
            </a:pPr>
            <a:r>
              <a:rPr lang="en-US" sz="1100" dirty="0">
                <a:solidFill>
                  <a:srgbClr val="64748B"/>
                </a:solidFill>
                <a:latin typeface="Calibri" pitchFamily="34" charset="0"/>
                <a:ea typeface="Calibri" pitchFamily="34" charset="-122"/>
                <a:cs typeface="Calibri" pitchFamily="34" charset="-120"/>
              </a:rPr>
              <a:t>— Fits the final tuned RBF model on features_v2.csv and serializes model.pkl / scaler.pkl / label_encoder.pkl</a:t>
            </a:r>
            <a:endParaRPr lang="en-US" sz="110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save_model.py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Trains the final RBF model with topology rule and saves it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as .pkl files for deployment in the Streamlit app.</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os, warnings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warnings.filterwarnings('ignore')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numpy as np, pandas as pd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joblib</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sklearn.svm import SVC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sklearn.preprocessing import StandardScaler, LabelEncoder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sklearn.model_selection import train_test_split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BASE = r"C:\Users\karan\Desktop\May-June_july\Final Sn Bose"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FEATURE_COLS = [f"f{i}" for i in range(1, 18)]</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Load data</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 = pd.read_csv(os.path.join(BASE, "features_v2.csv"))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df["label"] = df["circuit"] + "_" + df["fault"]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Encode labels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le = LabelEncoder()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y = le.fit_transform(df["label"])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 = df[FEATURE_COLS].values</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Split (same random_state as before for consistency)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X_train, X_test, y_train, y_test = train_test_split(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X, y, test_size=0.20, random_state=42, stratify=y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Scale</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92</a:t>
            </a:r>
            <a:endParaRPr lang="en-US" sz="9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7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Training &amp; Saving the Final Deployment Model  (2/2)</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save_model.py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scaler = StandardScaler()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X_train_scaled = scaler.fit_transform(X_train)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X_test_scaled  = scaler.transform(X_test)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Train final model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model = SVC(kernel="rbf", C=100, gamma=0.1,</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decision_function_shape="ovo", random_state=42, probability=True)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model.fit(X_train_scaled, y_train)</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Verify accuracy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sklearn.metrics import accuracy_score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acc = accuracy_score(y_test, model.predict(X_test_scaled)) * 100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print(f"Model accuracy on test set: {acc:.2f}%")</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Save everything needed for deployment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SAVE_DIR = os.path.join(BASE, "deployment")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os.makedirs(SAVE_DIR, exist_ok=True)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joblib.dump(model, os.path.join(SAVE_DIR, "model.pkl"))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joblib.dump(scaler, os.path.join(SAVE_DIR, "scaler.pkl"))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joblib.dump(le, os.path.join(SAVE_DIR, "label_encoder.pkl"))</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Also save a few sample test rows for the demo</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sample_df = df.iloc[X_test.shape[0]*0:5].copy()  # first 5 rows for demo</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sample_df.to_csv(os.path.join(SAVE_DIR, "sample_input.csv"), index=False)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print(f"\nSaved to: {SAVE_DIR}")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print("Files: model.pkl, scaler.pkl, label_encoder.pkl, sample_input.csv")</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93</a:t>
            </a:r>
            <a:endParaRPr lang="en-US" sz="9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8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Generating the Results Dashboard  (1/5)</a:t>
            </a:r>
            <a:endParaRPr lang="en-US" sz="2400" dirty="0"/>
          </a:p>
        </p:txBody>
      </p:sp>
      <p:sp>
        <p:nvSpPr>
          <p:cNvPr id="4" name="Text 2"/>
          <p:cNvSpPr/>
          <p:nvPr/>
        </p:nvSpPr>
        <p:spPr>
          <a:xfrm>
            <a:off x="502920" y="1417320"/>
            <a:ext cx="11155680" cy="502920"/>
          </a:xfrm>
          <a:prstGeom prst="rect">
            <a:avLst/>
          </a:prstGeom>
          <a:noFill/>
          <a:ln/>
        </p:spPr>
        <p:txBody>
          <a:bodyPr wrap="square" lIns="0" tIns="0" rIns="0" bIns="0" rtlCol="0" anchor="ctr"/>
          <a:lstStyle/>
          <a:p>
            <a:pPr indent="0" marL="0">
              <a:lnSpc>
                <a:spcPct val="120000"/>
              </a:lnSpc>
              <a:buNone/>
            </a:pPr>
            <a:r>
              <a:rPr lang="en-US" sz="1100" b="1" dirty="0">
                <a:solidFill>
                  <a:srgbClr val="0B1F3A"/>
                </a:solidFill>
                <a:latin typeface="Consolas" pitchFamily="34" charset="0"/>
                <a:ea typeface="Consolas" pitchFamily="34" charset="-122"/>
                <a:cs typeface="Consolas" pitchFamily="34" charset="-120"/>
              </a:rPr>
              <a:t>regenerate_dashboard.py  </a:t>
            </a:r>
            <a:pPr indent="0" marL="0">
              <a:lnSpc>
                <a:spcPct val="120000"/>
              </a:lnSpc>
              <a:buNone/>
            </a:pPr>
            <a:r>
              <a:rPr lang="en-US" sz="1100" dirty="0">
                <a:solidFill>
                  <a:srgbClr val="64748B"/>
                </a:solidFill>
                <a:latin typeface="Calibri" pitchFamily="34" charset="0"/>
                <a:ea typeface="Calibri" pitchFamily="34" charset="-122"/>
                <a:cs typeface="Calibri" pitchFamily="34" charset="-120"/>
              </a:rPr>
              <a:t>— Builds the 6-panel results_dashboard_FINAL.png used throughout the Results section of this deck</a:t>
            </a:r>
            <a:endParaRPr lang="en-US" sz="110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os, warnings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warnings.filterwarnings('ignore')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numpy as np, pandas as pd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matplotlib; matplotlib.use('Agg')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matplotlib.pyplot as plt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matplotlib.gridspec as gridspec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seaborn as sns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sklearn.svm import SVC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sklearn.preprocessing import StandardScaler, LabelEncoder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sklearn.model_selection import train_test_split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from sklearn.metrics import accuracy_score, f1_score, confusion_matrix, classification_report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REPO = r"C:\Users\karan\Desktop\fault-classification-project"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OUT_DIR = os.path.join(REPO, "results")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os.makedirs(OUT_DIR, exist_ok=True)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FEATURE_COLS = [f'f{i}' for i in range(1,18)]</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FEATURE_NAMES = ['peak_voltage','rms_value','mean_voltage','std_voltage',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'rise_time','settling_time','skewness','kurtosis','dominant_freq',</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'spectral_energy','spec_centroid','bandwidth','spec_entropy','energy',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'zero_crossing_rate','crest_factor','dc_level']</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 = pd.read_csv(os.path.join(REPO, "data", "features_v2.csv"))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df['label'] = df['circuit'] + '_' + df['fault']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le = LabelEncoder()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y = le.fit_transform(df['label'])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 = df[FEATURE_COLS].values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X_tr, X_te, y_tr, y_te = train_test_split(X, y, test_size=0.2, random_state=42, stratify=y)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sc = StandardScaler()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X_tr = sc.fit_transform(X_tr)</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94</a:t>
            </a:r>
            <a:endParaRPr lang="en-US" sz="9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8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Generating the Results Dashboard  (2/5)</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regenerate_dashboard.py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X_te = sc.transform(X_te)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labels = list(le.classes_)</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rc_open_idx  = labels.index('RC_open')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rlc_open_idx = labels.index('RLC_open')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test_indices = list(pd.Series(range(len(df))).sample(frac=0.2, random_state=42).sort_values().index)</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test_circuits = df.iloc[test_indices]['circuit'].values</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apply_topology_rule(pred_array):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pred = pred_array.tolist()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for i in range(len(pred)):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pred[i] == rlc_open_idx and test_circuits[i] == 'RC':</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pred[i] = rc_open_idx</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return np.array(pred)</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print('Training models...')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configs =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'Linear\n(default)':  SVC(kernel='linear', C=1.0, decision_function_shape='ovo', random_state=42),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'RBF\n(default)':     SVC(kernel='rbf',    C=1.0, gamma='scale', decision_function_shape='ovo', random_state=42),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'Poly\n(default)':    SVC(kernel='poly',   C=1.0, gamma='scale', degree=3, coef0=1, decision_function_shape='ovo', random_state=42),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'Linear\n(tuned)':    SVC(kernel='linear', C=100, decision_function_shape='ovo', random_state=42),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'RBF\n(tuned)':       SVC(kernel='rbf',    C=100, gamma=0.1, decision_function_shape='ovo', random_state=42),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'Poly\n(tuned)':      SVC(kernel='poly',   C=100, gamma=0.1, degree=3, coef0=1, decision_function_shape='ovo', random_state=42),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accs =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for name, clf in configs.items():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clf.fit(X_tr, y_tr)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pred = apply_topology_rule(clf.predict(X_te))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accs[name] = accuracy_score(y_te, pred)*100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print(f'  {name.replace(chr(10)," "):&lt;22}: {accs[name]:.2f}%')</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95</a:t>
            </a:r>
            <a:endParaRPr lang="en-US" sz="9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8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Generating the Results Dashboard  (3/5)</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regenerate_dashboard.py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best_clf  = configs['RBF\n(tuned)']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best_pred = apply_topology_rule(best_clf.predict(X_te))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best_acc  = accs['RBF\n(tuned)']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cm        = confusion_matrix(y_te, best_pred)</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lin_clf    = configs['Linear\n(tuned)']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importance = np.mean(np.abs(lin_clf.coef_), axis=0)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feat_imp_df = pd.DataFrame({'feature':FEATURE_NAMES,'importance':importance}).sort_values('importance',ascending=True)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y_test_labels = le.inverse_transform(y_te)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y_pred_labels = le.inverse_transform(best_pred)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circuit_accs  =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for circ in ['RC','RLC','SALLEN_KEY','RC_LADDER']: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mask = np.array([circ+'_' in l for l in y_test_labels])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mask.sum()&gt;0: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circuit_accs[circ] = np.sum(y_test_labels[mask]==y_pred_labels[mask])/mask.sum()*100</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print('\nBuilding final dashboard...')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fig = plt.figure(figsize=(24,20))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fig.patch.set_facecolor('#f8f9fa')</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gs  = gridspec.GridSpec(3,3,figure=fig,hspace=0.45,wspace=0.35)</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TK  = dict(fontsize=13,fontweight='bold',pad=10)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C6  = ['#90caf9','#90caf9','#90caf9','#1565c0','#1565c0','#1565c0']</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ax1 = fig.add_subplot(gs[0,0])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names=list(accs.keys()); vals=list(accs.values())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bars=ax1.bar(names,vals,color=C6,edgecolor='white',linewidth=0.8,width=0.6)</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ax1.axhline(y=best_acc,color='#d32f2f',linestyle='--',linewidth=1.5,label=f'Best {best_acc:.1f}%')</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ax1.set_ylim(60,95); ax1.set_ylabel('Test Accuracy (%)',fontsize=10)</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96</a:t>
            </a:r>
            <a:endParaRPr lang="en-US" sz="9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8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Generating the Results Dashboard  (4/5)</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regenerate_dashboard.py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ax1.set_title('Kernel Comparison\nDefault vs Tuned + Topology Rule',**TK)
ax1.legend(fontsize=8)
for bar,val in zip(bars,vals):
    ax1.text(bar.get_x()+bar.get_width()/2,bar.get_height()+0.3,f'{val:.1f}%',ha='center',va='bottom',fontsize=8,fontweight='bold')
ax1.tick_params(axis='x',labelsize=8); ax1.set_facecolor('#ffffff')
ax2 = fig.add_subplot(gs[0,1])
cn=list(circuit_accs.keys()); cv=list(circuit_accs.values())
cc=['#ef9a9a' if v&lt;70 else '#fff176' if v&lt;85 else '#a5d6a7' for v in cv]
bars2=ax2.bar(cn,cv,color=cc,edgecolor='grey',linewidth=0.8,width=0.5)
ax2.set_ylim(0,115); ax2.set_ylabel('Accuracy (%)',fontsize=10)
ax2.set_title('Per-Circuit Accuracy\n(RBF Tuned + Topology Rule)',**TK)
for bar,val in zip(bars2,cv):
    ax2.text(bar.get_x()+bar.get_width()/2,bar.get_height()+1,f'{val:.1f}%',ha='center',va='bottom',fontsize=9,fontweight='bold')
ax2.tick_params(axis='x',labelsize=9); ax2.set_facecolor('#ffffff')
ax3 = fig.add_subplot(gs[0,2])
fc=df.groupby('fault').size()
ax3.pie(fc.values,labels=fc.index,autopct='%1.1f%%',
        colors=['#ef5350','#42a5f5','#66bb6a','#ffa726','#ab47bc'],
        startangle=90,textprops={'fontsize':9})
ax3.set_title(f'Dataset Composition\n({len(df)} total samples)',**TK)
ax4 = fig.add_subplot(gs[1,0])
bc=['#1565c0' if v&gt;=feat_imp_df['importance'].quantile(0.75) else '#90caf9' for v in feat_imp_df['importance']]
ax4.barh(feat_imp_df['feature'],feat_imp_df['importance'],color=bc,edgecolor='white')
ax4.set_xlabel('Mean |Coefficient|',fontsize=10)
ax4.set_title('Feature Importance\n(Linear SVM Weights)',**TK)
ax4.tick_params(axis='y',labelsize=8); ax4.set_facecolor('#ffffff')
</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97</a:t>
            </a:r>
            <a:endParaRPr lang="en-US" sz="9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8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Generating the Results Dashboard  (5/5)</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regenerate_dashboard.py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ax5 = fig.add_subplot(gs[1,1:])
f1s=f1_score(y_te,best_pred,average=None)
f1_df=pd.DataFrame({'class':labels,'f1':f1s}).sort_values('f1',ascending=True)
f1c=['#d32f2f' if f==0 else '#ef9a9a' if f&lt;0.5 else '#fff176' if f&lt;0.8 else '#a5d6a7' for f in f1_df['f1']]
ax5.barh(f1_df['class'],f1_df['f1'],color=f1c,edgecolor='white',height=0.7)
ax5.axvline(x=0.5,color='orange',linestyle='--',alpha=0.7,linewidth=1.5)
ax5.axvline(x=0.8,color='green',linestyle='--',alpha=0.7,linewidth=1.5)
for i,(_,row) in enumerate(f1_df.iterrows()):
    ax5.text(row['f1']+0.01,i,str(round(row['f1'],2)),va='center',fontsize=8)
ax5.set_xlabel('F1 Score',fontsize=10); ax5.set_xlim(0,1.2)
ax5.set_title('Per-Class F1 — RBF + Topology Rule (Final)',**TK)
ax5.set_facecolor('#ffffff')
ax6 = fig.add_subplot(gs[2,:])
sns.heatmap(cm,annot=True,fmt='d',cmap='Blues',xticklabels=labels,yticklabels=labels,
            linewidths=0.3,ax=ax6,cbar_kws={'shrink':0.8},annot_kws={'size':7})
ax6.set_xlabel('Predicted',fontsize=11); ax6.set_ylabel('Actual',fontsize=11)
ax6.set_title('Confusion Matrix — RBF + Topology Rule | Accuracy: ' + str(round(best_acc,2)) + '%',**TK)
ax6.tick_params(axis='x',labelsize=7,rotation=45)
ax6.tick_params(axis='y',labelsize=7,rotation=0)
# CORRECTED TITLE - SN Bose Summer Internship, NIT Silchar (not Research Centre)
fig.suptitle('Kernel-Based Fault Classification in Analog Circuits\nSN Bose Summer Internship 2026, NIT Silchar — FINAL Results (78.43%, Topology-Aware)',
             fontsize=16,fontweight='bold',y=0.98)
out_path = os.path.join(OUT_DIR,'results_dashboard_FINAL.png')
plt.savefig(out_path,dpi=150,bbox_inches='tight',facecolor=fig.get_facecolor())
plt.close()
print('Dashboard saved -&gt; ' + out_path)
</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98</a:t>
            </a:r>
            <a:endParaRPr lang="en-US" sz="9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9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The Streamlit Web App  (1/6)</a:t>
            </a:r>
            <a:endParaRPr lang="en-US" sz="2400" dirty="0"/>
          </a:p>
        </p:txBody>
      </p:sp>
      <p:sp>
        <p:nvSpPr>
          <p:cNvPr id="4" name="Text 2"/>
          <p:cNvSpPr/>
          <p:nvPr/>
        </p:nvSpPr>
        <p:spPr>
          <a:xfrm>
            <a:off x="502920" y="1417320"/>
            <a:ext cx="11155680" cy="502920"/>
          </a:xfrm>
          <a:prstGeom prst="rect">
            <a:avLst/>
          </a:prstGeom>
          <a:noFill/>
          <a:ln/>
        </p:spPr>
        <p:txBody>
          <a:bodyPr wrap="square" lIns="0" tIns="0" rIns="0" bIns="0" rtlCol="0" anchor="ctr"/>
          <a:lstStyle/>
          <a:p>
            <a:pPr indent="0" marL="0">
              <a:lnSpc>
                <a:spcPct val="120000"/>
              </a:lnSpc>
              <a:buNone/>
            </a:pPr>
            <a:r>
              <a:rPr lang="en-US" sz="1100" b="1" dirty="0">
                <a:solidFill>
                  <a:srgbClr val="0B1F3A"/>
                </a:solidFill>
                <a:latin typeface="Consolas" pitchFamily="34" charset="0"/>
                <a:ea typeface="Consolas" pitchFamily="34" charset="-122"/>
                <a:cs typeface="Consolas" pitchFamily="34" charset="-120"/>
              </a:rPr>
              <a:t>app.py  </a:t>
            </a:r>
            <a:pPr indent="0" marL="0">
              <a:lnSpc>
                <a:spcPct val="120000"/>
              </a:lnSpc>
              <a:buNone/>
            </a:pPr>
            <a:r>
              <a:rPr lang="en-US" sz="1100" dirty="0">
                <a:solidFill>
                  <a:srgbClr val="64748B"/>
                </a:solidFill>
                <a:latin typeface="Calibri" pitchFamily="34" charset="0"/>
                <a:ea typeface="Calibri" pitchFamily="34" charset="-122"/>
                <a:cs typeface="Calibri" pitchFamily="34" charset="-120"/>
              </a:rPr>
              <a:t>— The live demo: loads the saved model, applies the topology-aware correction rule, and serves the interactive prediction UI</a:t>
            </a:r>
            <a:endParaRPr lang="en-US" sz="110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streamlit as st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joblib</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numpy as np</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pandas as pd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import os</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st.set_page_config(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page_title="Analog Circuit Fault Classifier",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layout="wide"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Header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st.title("Kernel-Based Fault Classification in Analog Circuits")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st.markdown("""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**SVM-based fault classifier** trained on real LTspice parameter sweep simulation data.</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Classifies faults across **4 circuit topologies** (RC, RLC, Sallen-Key, RC Ladder)</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and **5 fault types** (Normal, Drift, Open, Short, Noise).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**Final accuracy: 78.43%** on 20-class problem (RBF kernel + topology-aware correction)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Load model artifacts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@st.cache_resource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def load_artifacts():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model  = joblib.load("model/model.pkl")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scaler = joblib.load("model/scaler.pkl")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le     = joblib.load("model/label_encoder.pkl")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return model, scaler, le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model, scaler, le = load_artifacts()</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99</a:t>
            </a:r>
            <a:endParaRPr lang="en-US" sz="9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9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The Streamlit Web App  (2/6)</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app.py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Tabs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tab1, tab2, tab3 = st.tabs(["Dashboard", "Try Prediction", "Dataset"])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TAB 1: Dashboard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with tab1:</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st.header("Results Dashboard")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os.path.exists("results/results_dashboard_FINAL.png"):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st.image("results/results_dashboard_FINAL.png", use_column_width=True)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else: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st.warning("Dashboard image not found")</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st.header("Final Results Summary")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col1, col2, col3 = st.columns(3)</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col1.metric("Overall Accuracy", "78.43%")</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col2.metric("RLC Accuracy", "100%")</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col3.metric("RC_open F1 (recovered)", "0.462")</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st.markdown("""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Kernel | Default | Tuned + Topology Rule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Linear | 77.94% | 77.45%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RBF    | 71.08% | **78.43%**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Polynomial | 75.49% | 77.94%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TAB 2: Try Prediction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with tab2:</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st.header("Try a Prediction")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st.write("""</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100</a:t>
            </a:r>
            <a:endParaRPr lang="en-US" sz="9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9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The Streamlit Web App  (3/6)</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app.py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Select a sample from the dataset or enter feature values manually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to see the model's fault classification.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df = pd.read_csv("data/features_v2.csv")</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df["label"] = df["circuit"] + "_" + df["fault"]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feature_cols = [f"f{i}" for i in range(1, 18)]</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feature_names =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"peak_voltage","rms_value","mean_voltage","std_voltage",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"rise_time","settling_time","skewness","kurtosis",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"dominant_freq","spectral_energy","spec_centroid",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"bandwidth","spec_entropy","energy",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"zero_crossing_rate","crest_factor","dc_level"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mode = st.radio("Input method:", ["Pick a sample from dataset", "Enter values manually"])</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if mode == "Pick a sample from dataset":</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sample_idx = st.selectbox(</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"Choose a sample (shown as circuit_fault, true label):",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options=df.index,</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format_func=lambda i: f"#{i} — {df.loc[i,'label']}"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row = df.loc[sample_idx]</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true_label = row["label"]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X_input = row[feature_cols].values.reshape(1, -1)</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circuit_input = row["circuit"]</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st.write(f"**True label:** {true_label}")</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101</a:t>
            </a:r>
            <a:endParaRPr lang="en-US" sz="9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9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The Streamlit Web App  (4/6)</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app.py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else:
        st.write("Enter the 17 feature values:")
        cols = st.columns(3)
        values = []
        for i, fname in enumerate(feature_names):
            with cols[i % 3]:
                val = st.number_input(f"{fname} (f{i+1})", value=0.0, format="%.4f")
                values.append(val)
        X_input = np.array(values).reshape(1, -1)
        circuit_input = st.selectbox("Circuit type (for topology rule):",
                                     ["RC", "RLC", "SALLEN_KEY", "RC_LADDER"])
        true_label = None
    if st.button("Predict Fault Type", type="primary"):
        X_scaled = scaler.transform(X_input)
        pred = model.predict(X_scaled)[0]
        pred_label = le.inverse_transform([pred])[0]
        # Apply topology-aware rule
        labels_list = list(le.classes_)
        rlc_open_idx = labels_list.index("RLC_open")
        rc_open_idx  = labels_list.index("RC_open")
        if pred == rlc_open_idx and circuit_input == "RC":
            pred = rc_open_idx
            pred_label = "RC_open"
            st.info("Topology-aware correction applied: RLC_open → RC_open "
                   "(an RC circuit cannot have an RLC-type fault)")
</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102</a:t>
            </a:r>
            <a:endParaRPr lang="en-US" sz="9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9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The Streamlit Web App  (5/6)</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app.py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st.success(f"**Predicted:** {pred_label}")
        if true_label is not None:
            if pred_label == true_label:
                st.success("Correct prediction!")
            else:
                st.error(f"Incorrect — true label was {true_label}")
        # Show prediction probabilities
        probs = model.predict_proba(X_scaled)[0]
        prob_df = pd.DataFrame({
            "Class": le.classes_,
            "Probability": probs
        }).sort_values("Probability", ascending=False).head(5)
        st.write("**Top 5 class probabilities:**")
        st.dataframe(prob_df, hide_index=True)
# ===== TAB 3: Dataset =====
with tab3:
    st.header("Dataset Overview")
    df = pd.read_csv("data/features_v2.csv")
    df["label"] = df["circuit"] + "_" + df["fault"]
    st.write(f"**Total samples:** {len(df)}")
    st.write(f"**Classes:** {df['label'].nunique()} (4 circuits × 5 fault types)")
    st.subheader("Samples per class")
    counts = df.groupby(["circuit", "fault"]).size().reset_index(name="count")
    st.dataframe(counts, hide_index=True)
</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103</a:t>
            </a:r>
            <a:endParaRPr lang="en-US" sz="9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4F6FA"/>
        </a:solidFill>
      </p:bgPr>
    </p:bg>
    <p:spTree>
      <p:nvGrpSpPr>
        <p:cNvPr id="1" name=""/>
        <p:cNvGrpSpPr/>
        <p:nvPr/>
      </p:nvGrpSpPr>
      <p:grpSpPr>
        <a:xfrm>
          <a:off x="0" y="0"/>
          <a:ext cx="0" cy="0"/>
          <a:chOff x="0" y="0"/>
          <a:chExt cx="0" cy="0"/>
        </a:xfrm>
      </p:grpSpPr>
      <p:sp>
        <p:nvSpPr>
          <p:cNvPr id="2" name="Text 0"/>
          <p:cNvSpPr/>
          <p:nvPr/>
        </p:nvSpPr>
        <p:spPr>
          <a:xfrm>
            <a:off x="502920" y="411480"/>
            <a:ext cx="8229600" cy="292608"/>
          </a:xfrm>
          <a:prstGeom prst="rect">
            <a:avLst/>
          </a:prstGeom>
          <a:noFill/>
          <a:ln/>
        </p:spPr>
        <p:txBody>
          <a:bodyPr wrap="square" lIns="0" tIns="0" rIns="0" bIns="0" rtlCol="0" anchor="ctr"/>
          <a:lstStyle/>
          <a:p>
            <a:pPr indent="0" marL="0">
              <a:buNone/>
            </a:pPr>
            <a:r>
              <a:rPr lang="en-US" sz="1300" b="1" spc="200" kern="0" dirty="0">
                <a:solidFill>
                  <a:srgbClr val="00B4D8"/>
                </a:solidFill>
                <a:latin typeface="Calibri" pitchFamily="34" charset="0"/>
                <a:ea typeface="Calibri" pitchFamily="34" charset="-122"/>
                <a:cs typeface="Calibri" pitchFamily="34" charset="-120"/>
              </a:rPr>
              <a:t>CODE APPENDIX · STEP 9 OF 9</a:t>
            </a:r>
            <a:endParaRPr lang="en-US" sz="1300" dirty="0"/>
          </a:p>
        </p:txBody>
      </p:sp>
      <p:sp>
        <p:nvSpPr>
          <p:cNvPr id="3" name="Text 1"/>
          <p:cNvSpPr/>
          <p:nvPr/>
        </p:nvSpPr>
        <p:spPr>
          <a:xfrm>
            <a:off x="502920" y="694944"/>
            <a:ext cx="10607040" cy="777240"/>
          </a:xfrm>
          <a:prstGeom prst="rect">
            <a:avLst/>
          </a:prstGeom>
          <a:noFill/>
          <a:ln/>
        </p:spPr>
        <p:txBody>
          <a:bodyPr wrap="square" lIns="0" tIns="0" rIns="0" bIns="0" rtlCol="0" anchor="ctr"/>
          <a:lstStyle/>
          <a:p>
            <a:pPr indent="0" marL="0">
              <a:buNone/>
            </a:pPr>
            <a:r>
              <a:rPr lang="en-US" sz="2400" b="1" dirty="0">
                <a:solidFill>
                  <a:srgbClr val="0B1F3A"/>
                </a:solidFill>
                <a:latin typeface="Cambria" pitchFamily="34" charset="0"/>
                <a:ea typeface="Cambria" pitchFamily="34" charset="-122"/>
                <a:cs typeface="Cambria" pitchFamily="34" charset="-120"/>
              </a:rPr>
              <a:t>The Streamlit Web App  (6/6)</a:t>
            </a:r>
            <a:endParaRPr lang="en-US" sz="2400" dirty="0"/>
          </a:p>
        </p:txBody>
      </p:sp>
      <p:sp>
        <p:nvSpPr>
          <p:cNvPr id="4" name="Text 2"/>
          <p:cNvSpPr/>
          <p:nvPr/>
        </p:nvSpPr>
        <p:spPr>
          <a:xfrm>
            <a:off x="502920" y="1417320"/>
            <a:ext cx="11155680" cy="320040"/>
          </a:xfrm>
          <a:prstGeom prst="rect">
            <a:avLst/>
          </a:prstGeom>
          <a:noFill/>
          <a:ln/>
        </p:spPr>
        <p:txBody>
          <a:bodyPr wrap="square" lIns="0" tIns="0" rIns="0" bIns="0" rtlCol="0" anchor="ctr"/>
          <a:lstStyle/>
          <a:p>
            <a:pPr indent="0" marL="0">
              <a:buNone/>
            </a:pPr>
            <a:r>
              <a:rPr lang="en-US" sz="1050" dirty="0">
                <a:solidFill>
                  <a:srgbClr val="64748B"/>
                </a:solidFill>
                <a:latin typeface="Consolas" pitchFamily="34" charset="0"/>
                <a:ea typeface="Consolas" pitchFamily="34" charset="-122"/>
                <a:cs typeface="Consolas" pitchFamily="34" charset="-120"/>
              </a:rPr>
              <a:t>app.py (continued)</a:t>
            </a:r>
            <a:endParaRPr lang="en-US" sz="1050" dirty="0"/>
          </a:p>
        </p:txBody>
      </p:sp>
      <p:sp>
        <p:nvSpPr>
          <p:cNvPr id="5" name="Shape 3"/>
          <p:cNvSpPr/>
          <p:nvPr/>
        </p:nvSpPr>
        <p:spPr>
          <a:xfrm>
            <a:off x="502920" y="1828800"/>
            <a:ext cx="11183112" cy="4434840"/>
          </a:xfrm>
          <a:prstGeom prst="roundRect">
            <a:avLst>
              <a:gd name="adj" fmla="val 1237"/>
            </a:avLst>
          </a:prstGeom>
          <a:solidFill>
            <a:srgbClr val="0D1526"/>
          </a:solidFill>
          <a:ln w="12700">
            <a:solidFill>
              <a:srgbClr val="1C2B47"/>
            </a:solidFill>
            <a:prstDash val="solid"/>
          </a:ln>
        </p:spPr>
      </p:sp>
      <p:sp>
        <p:nvSpPr>
          <p:cNvPr id="6" name="Text 4"/>
          <p:cNvSpPr/>
          <p:nvPr/>
        </p:nvSpPr>
        <p:spPr>
          <a:xfrm>
            <a:off x="704088" y="1956816"/>
            <a:ext cx="10780776" cy="4178808"/>
          </a:xfrm>
          <a:prstGeom prst="rect">
            <a:avLst/>
          </a:prstGeom>
          <a:noFill/>
          <a:ln/>
        </p:spPr>
        <p:txBody>
          <a:bodyPr wrap="square" lIns="0" tIns="0" rIns="0" bIns="0" rtlCol="0" anchor="t"/>
          <a:lstStyle/>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st.subheader("Feature columns (f1-f17)")</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feat_table = pd.DataFrame({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"Feature": [f"f{i}" for i in range(1,18)],</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"Name":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"peak_voltage","rms_value","mean_voltage","std_voltage",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"rise_time","settling_time","skewness","kurtosis",</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"dominant_freq","spectral_energy","spec_centroid",</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"bandwidth","spec_entropy","energy",</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"zero_crossing_rate","crest_factor","dc_level"</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st.dataframe(feat_table, hide_index=True)</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st.subheader("Raw data sample")</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st.dataframe(df.head(10))</a:t>
            </a:r>
            <a:endParaRPr lang="en-US" sz="830" dirty="0"/>
          </a:p>
          <a:p>
            <a:pPr indent="0" marL="0">
              <a:lnSpc>
                <a:spcPct val="105000"/>
              </a:lnSpc>
              <a:buNone/>
            </a:pP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 ---- Footer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st.markdown("---")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st.markdown("""</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**Project:** SN Bose Summer Internship 2026, NIT Silchar | NIT Silchar  </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**Methodology:** LTspice parameter sweeps → 17-feature extraction → SVM kernel comparison → GridSearchCV tuning → topology-aware post-processing</a:t>
            </a:r>
            <a:endParaRPr lang="en-US" sz="830" dirty="0"/>
          </a:p>
          <a:p>
            <a:pPr indent="0" marL="0">
              <a:lnSpc>
                <a:spcPct val="105000"/>
              </a:lnSpc>
              <a:buNone/>
            </a:pPr>
            <a:r>
              <a:rPr lang="en-US" sz="830" dirty="0">
                <a:solidFill>
                  <a:srgbClr val="D7E3F4"/>
                </a:solidFill>
                <a:latin typeface="Consolas" pitchFamily="34" charset="0"/>
                <a:ea typeface="Consolas" pitchFamily="34" charset="-122"/>
                <a:cs typeface="Consolas" pitchFamily="34" charset="-120"/>
              </a:rPr>
              <a:t>""")</a:t>
            </a:r>
            <a:endParaRPr lang="en-US" sz="830" dirty="0"/>
          </a:p>
        </p:txBody>
      </p:sp>
      <p:sp>
        <p:nvSpPr>
          <p:cNvPr id="7" name="Text 5"/>
          <p:cNvSpPr/>
          <p:nvPr/>
        </p:nvSpPr>
        <p:spPr>
          <a:xfrm>
            <a:off x="502920" y="6473952"/>
            <a:ext cx="6400800" cy="274320"/>
          </a:xfrm>
          <a:prstGeom prst="rect">
            <a:avLst/>
          </a:prstGeom>
          <a:noFill/>
          <a:ln/>
        </p:spPr>
        <p:txBody>
          <a:bodyPr wrap="square" lIns="0" tIns="0" rIns="0" bIns="0" rtlCol="0" anchor="ctr"/>
          <a:lstStyle/>
          <a:p>
            <a:pPr algn="l" indent="0" marL="0">
              <a:buNone/>
            </a:pPr>
            <a:r>
              <a:rPr lang="en-US" sz="900" spc="100" kern="0" dirty="0">
                <a:solidFill>
                  <a:srgbClr val="64748B"/>
                </a:solidFill>
                <a:latin typeface="Calibri" pitchFamily="34" charset="0"/>
                <a:ea typeface="Calibri" pitchFamily="34" charset="-122"/>
                <a:cs typeface="Calibri" pitchFamily="34" charset="-120"/>
              </a:rPr>
              <a:t>KERNEL-BASED FAULT CLASSIFICATION IN ANALOG CIRCUITS</a:t>
            </a:r>
            <a:endParaRPr lang="en-US" sz="900" dirty="0"/>
          </a:p>
        </p:txBody>
      </p:sp>
      <p:sp>
        <p:nvSpPr>
          <p:cNvPr id="8" name="Text 6"/>
          <p:cNvSpPr/>
          <p:nvPr/>
        </p:nvSpPr>
        <p:spPr>
          <a:xfrm>
            <a:off x="10774375" y="6473952"/>
            <a:ext cx="914400" cy="274320"/>
          </a:xfrm>
          <a:prstGeom prst="rect">
            <a:avLst/>
          </a:prstGeom>
          <a:noFill/>
          <a:ln/>
        </p:spPr>
        <p:txBody>
          <a:bodyPr wrap="square" lIns="0" tIns="0" rIns="0" bIns="0" rtlCol="0" anchor="ctr"/>
          <a:lstStyle/>
          <a:p>
            <a:pPr algn="r" indent="0" marL="0">
              <a:buNone/>
            </a:pPr>
            <a:r>
              <a:rPr lang="en-US" sz="900" dirty="0">
                <a:solidFill>
                  <a:srgbClr val="64748B"/>
                </a:solidFill>
                <a:latin typeface="Calibri" pitchFamily="34" charset="0"/>
                <a:ea typeface="Calibri" pitchFamily="34" charset="-122"/>
                <a:cs typeface="Calibri" pitchFamily="34" charset="-120"/>
              </a:rPr>
              <a:t>104</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106</Slides>
  <Notes>106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106</vt:i4>
      </vt:variant>
    </vt:vector>
  </HeadingPairs>
  <TitlesOfParts>
    <vt:vector size="10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Kernel-Based Fault Classification in Analog Circuits</dc:title>
  <dc:subject>PptxGenJS Presentation</dc:subject>
  <dc:creator>Karan Kaushik</dc:creator>
  <cp:lastModifiedBy>Karan Kaushik</cp:lastModifiedBy>
  <cp:revision>1</cp:revision>
  <dcterms:created xsi:type="dcterms:W3CDTF">2026-07-05T20:25:31Z</dcterms:created>
  <dcterms:modified xsi:type="dcterms:W3CDTF">2026-07-05T20:25:31Z</dcterms:modified>
</cp:coreProperties>
</file>