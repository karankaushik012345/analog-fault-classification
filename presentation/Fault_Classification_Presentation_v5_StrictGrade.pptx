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charts/chart2.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charts/chart3.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Lst>
  <p:notesMasterIdLst>
    <p:notesMasterId r:id="rId1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notesMaster" Target="notesMasters/notesMaster1.xml"/><Relationship Id="rId113" Type="http://schemas.openxmlformats.org/officeDocument/2006/relationships/presProps" Target="presProps.xml"/><Relationship Id="rId114" Type="http://schemas.openxmlformats.org/officeDocument/2006/relationships/viewProps" Target="viewProps.xml"/><Relationship Id="rId115" Type="http://schemas.openxmlformats.org/officeDocument/2006/relationships/theme" Target="theme/theme1.xml"/><Relationship Id="rId1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Samples</c:v>
                </c:pt>
              </c:strCache>
            </c:strRef>
          </c:tx>
          <c:spPr>
            <a:solidFill>
              <a:schemeClr val="accent1"/>
            </a:solidFill>
            <a:ln w="9525" cap="flat">
              <a:solidFill>
                <a:srgbClr val="F9F9F9"/>
              </a:solidFill>
              <a:prstDash val="solid"/>
              <a:round/>
            </a:ln>
            <a:effectLst/>
          </c:spPr>
          <c:dPt>
            <c:idx val="0"/>
            <c:bubble3D val="0"/>
            <c:spPr>
              <a:solidFill>
                <a:srgbClr val="5EAE7A"/>
              </a:solidFill>
              <a:effectLst/>
            </c:spPr>
          </c:dPt>
          <c:dPt>
            <c:idx val="1"/>
            <c:bubble3D val="0"/>
            <c:spPr>
              <a:solidFill>
                <a:srgbClr val="00B4D8"/>
              </a:solidFill>
              <a:effectLst/>
            </c:spPr>
          </c:dPt>
          <c:dPt>
            <c:idx val="2"/>
            <c:bubble3D val="0"/>
            <c:spPr>
              <a:solidFill>
                <a:srgbClr val="0B1F3A"/>
              </a:solidFill>
              <a:effectLst/>
            </c:spPr>
          </c:dPt>
          <c:dPt>
            <c:idx val="3"/>
            <c:bubble3D val="0"/>
            <c:spPr>
              <a:solidFill>
                <a:srgbClr val="D9695F"/>
              </a:solidFill>
              <a:effectLst/>
            </c:spPr>
          </c:dPt>
          <c:dPt>
            <c:idx val="4"/>
            <c:bubble3D val="0"/>
            <c:spPr>
              <a:solidFill>
                <a:srgbClr val="8E5AA8"/>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Normal</c:v>
                </c:pt>
                <c:pt idx="1">
                  <c:v>Drift</c:v>
                </c:pt>
                <c:pt idx="2">
                  <c:v>Open</c:v>
                </c:pt>
                <c:pt idx="3">
                  <c:v>Short</c:v>
                </c:pt>
                <c:pt idx="4">
                  <c:v>Noise</c:v>
                </c:pt>
              </c:strCache>
            </c:strRef>
          </c:cat>
          <c:val>
            <c:numRef>
              <c:f>Sheet1!$B$2:$B$6</c:f>
              <c:numCache>
                <c:ptCount val="5"/>
                <c:pt idx="0">
                  <c:v>204</c:v>
                </c:pt>
                <c:pt idx="1">
                  <c:v>204</c:v>
                </c:pt>
                <c:pt idx="2">
                  <c:v>204</c:v>
                </c:pt>
                <c:pt idx="3">
                  <c:v>203</c:v>
                </c:pt>
                <c:pt idx="4">
                  <c:v>204</c:v>
                </c:pt>
              </c:numCache>
            </c:numRef>
          </c:val>
        </c:ser>
        <c:firstSliceAng val="0"/>
      </c:pieChart>
      <c:spPr>
        <a:noFill/>
        <a:ln>
          <a:noFill/>
        </a:ln>
        <a:effectLst/>
      </c:spPr>
    </c:plotArea>
    <c:legend>
      <c:legendPos val="b"/>
      <c:overlay val="0"/>
      <c:txPr>
        <a:bodyPr/>
        <a:lstStyle/>
        <a:p>
          <a:pPr>
            <a:defRPr sz="1100">
              <a:solidFill>
                <a:srgbClr val="1E293B"/>
              </a:solidFill>
            </a:defRPr>
          </a:pPr>
          <a:endParaRPr lang="en-US"/>
        </a:p>
      </c:txPr>
    </c:legend>
    <c:plotVisOnly val="1"/>
    <c:dispBlanksAs val="span"/>
  </c:chart>
  <c:spPr>
    <a:solidFill>
      <a:srgbClr val="F4F6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c:v>
                </c:pt>
              </c:strCache>
            </c:strRef>
          </c:tx>
          <c:spPr>
            <a:solidFill>
              <a:srgbClr val="A9C6E8"/>
            </a:solidFill>
            <a:effectLst/>
          </c:spPr>
          <c:invertIfNegative val="0"/>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Sheet1!$B$2:$B$4</c:f>
              <c:numCache>
                <c:formatCode>General</c:formatCode>
                <c:ptCount val="3"/>
                <c:pt idx="0">
                  <c:v>77.94</c:v>
                </c:pt>
                <c:pt idx="1">
                  <c:v>71.08</c:v>
                </c:pt>
                <c:pt idx="2">
                  <c:v>75.49</c:v>
                </c:pt>
              </c:numCache>
            </c:numRef>
          </c:val>
        </c:ser>
        <c:ser>
          <c:idx val="1"/>
          <c:order val="1"/>
          <c:tx>
            <c:strRef>
              <c:f>Sheet1!$C$1</c:f>
              <c:strCache>
                <c:ptCount val="1"/>
                <c:pt idx="0">
                  <c:v>Tuned + Topology Rule</c:v>
                </c:pt>
              </c:strCache>
            </c:strRef>
          </c:tx>
          <c:spPr>
            <a:solidFill>
              <a:srgbClr val="0B1F3A"/>
            </a:solidFill>
            <a:effectLst/>
          </c:spPr>
          <c:invertIfNegative val="0"/>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Sheet1!$C$2:$C$4</c:f>
              <c:numCache>
                <c:formatCode>General</c:formatCode>
                <c:ptCount val="3"/>
                <c:pt idx="0">
                  <c:v>77.45</c:v>
                </c:pt>
                <c:pt idx="1">
                  <c:v>78.43</c:v>
                </c:pt>
                <c:pt idx="2">
                  <c:v>77.94</c:v>
                </c:pt>
              </c:numCache>
            </c:numRef>
          </c:val>
        </c:ser>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9525" cap="flat">
              <a:solidFill>
                <a:srgbClr val="D7DEE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Test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1E293B"/>
              </a:solidFill>
            </a:defRPr>
          </a:pPr>
          <a:endParaRPr lang="en-US"/>
        </a:p>
      </c:txPr>
    </c:legend>
    <c:plotVisOnly val="1"/>
    <c:dispBlanksAs val="span"/>
  </c:chart>
  <c:spPr>
    <a:solidFill>
      <a:srgbClr val="F4F6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0B4D8"/>
            </a:solidFill>
            <a:effectLst/>
          </c:spPr>
          <c:invertIfNegative val="0"/>
          <c:dLbls>
            <c:numFmt formatCode="0.0" sourceLinked="0"/>
            <c:txPr>
              <a:bodyPr/>
              <a:lstStyle/>
              <a:p>
                <a:pPr>
                  <a:defRPr b="1" i="0" strike="noStrike" sz="1200" u="none">
                    <a:solidFill>
                      <a:srgbClr val="0B1F3A"/>
                    </a:solidFill>
                    <a:latin typeface="Arial"/>
                  </a:defRPr>
                </a:pPr>
              </a:p>
            </c:txPr>
            <c:showLegendKey val="0"/>
            <c:showVal val="1"/>
            <c:showCatName val="0"/>
            <c:showSerName val="0"/>
            <c:showPercent val="0"/>
            <c:showBubbleSize val="0"/>
            <c:showLeaderLines val="0"/>
          </c:dLbls>
          <c:cat>
            <c:multiLvlStrRef>
              <c:f>Sheet1!$A$2:$A$5</c:f>
              <c:multiLvlStrCache>
                <c:ptCount val="4"/>
                <c:lvl>
                  <c:pt idx="0">
                    <c:v>RC</c:v>
                  </c:pt>
                  <c:pt idx="1">
                    <c:v>RLC</c:v>
                  </c:pt>
                  <c:pt idx="2">
                    <c:v>Sallen-Key</c:v>
                  </c:pt>
                  <c:pt idx="3">
                    <c:v>RC Ladder</c:v>
                  </c:pt>
                </c:lvl>
              </c:multiLvlStrCache>
            </c:multiLvlStrRef>
          </c:cat>
          <c:val>
            <c:numRef>
              <c:f>Sheet1!$B$2:$B$5</c:f>
              <c:numCache>
                <c:formatCode>General</c:formatCode>
                <c:ptCount val="4"/>
                <c:pt idx="0">
                  <c:v>65.7</c:v>
                </c:pt>
                <c:pt idx="1">
                  <c:v>100</c:v>
                </c:pt>
                <c:pt idx="2">
                  <c:v>82.4</c:v>
                </c:pt>
                <c:pt idx="3">
                  <c:v>60</c:v>
                </c:pt>
              </c:numCache>
            </c:numRef>
          </c:val>
        </c:ser>
        <c:dLbls>
          <c:numFmt formatCode="0.0" sourceLinked="0"/>
          <c:txPr>
            <a:bodyPr/>
            <a:lstStyle/>
            <a:p>
              <a:pPr>
                <a:defRPr b="1" i="0" strike="noStrike" sz="1200" u="none">
                  <a:solidFill>
                    <a:srgbClr val="0B1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7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1.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4-1.png"/><Relationship Id="rId3" Type="http://schemas.openxmlformats.org/officeDocument/2006/relationships/image" Target="../media/image-24-2.png"/><Relationship Id="rId4" Type="http://schemas.openxmlformats.org/officeDocument/2006/relationships/image" Target="../media/image-24-3.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4-1.png"/><Relationship Id="rId3" Type="http://schemas.openxmlformats.org/officeDocument/2006/relationships/image" Target="../media/image-54-2.png"/><Relationship Id="rId4" Type="http://schemas.openxmlformats.org/officeDocument/2006/relationships/slideLayout" Target="../slideLayouts/slideLayout1.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1.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1.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5" Type="http://schemas.openxmlformats.org/officeDocument/2006/relationships/hyperlink" Target="https://analogcircuitsfaultclassification.streamlit.app/" TargetMode="External"/><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6" Type="http://schemas.openxmlformats.org/officeDocument/2006/relationships/slideLayout" Target="../slideLayouts/slideLayout1.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png"/><Relationship Id="rId9" Type="http://schemas.openxmlformats.org/officeDocument/2006/relationships/slideLayout" Target="../slideLayouts/slideLayout1.xml"/><Relationship Id="rId1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3" Type="http://schemas.openxmlformats.org/officeDocument/2006/relationships/hyperlink" Target="https://analogcircuitsfaultclassification.streamlit.app/" TargetMode="External"/><Relationship Id="rId1" Type="http://schemas.openxmlformats.org/officeDocument/2006/relationships/image" Target="../media/image-66-1.png"/><Relationship Id="rId2" Type="http://schemas.openxmlformats.org/officeDocument/2006/relationships/image" Target="../media/image-66-2.pn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241280" y="914400"/>
            <a:ext cx="946404" cy="-525780"/>
          </a:xfrm>
          <a:prstGeom prst="line">
            <a:avLst/>
          </a:prstGeom>
          <a:noFill/>
          <a:ln w="15875">
            <a:solidFill>
              <a:srgbClr val="00B4D8">
                <a:alpha val="70000"/>
              </a:srgbClr>
            </a:solidFill>
            <a:prstDash val="solid"/>
          </a:ln>
        </p:spPr>
      </p:sp>
      <p:sp>
        <p:nvSpPr>
          <p:cNvPr id="3" name="Shape 1"/>
          <p:cNvSpPr/>
          <p:nvPr/>
        </p:nvSpPr>
        <p:spPr>
          <a:xfrm>
            <a:off x="11187684" y="388620"/>
            <a:ext cx="0" cy="1156716"/>
          </a:xfrm>
          <a:prstGeom prst="line">
            <a:avLst/>
          </a:prstGeom>
          <a:noFill/>
          <a:ln w="15875">
            <a:solidFill>
              <a:srgbClr val="00B4D8">
                <a:alpha val="70000"/>
              </a:srgbClr>
            </a:solidFill>
            <a:prstDash val="solid"/>
          </a:ln>
        </p:spPr>
      </p:sp>
      <p:sp>
        <p:nvSpPr>
          <p:cNvPr id="4" name="Shape 2"/>
          <p:cNvSpPr/>
          <p:nvPr/>
        </p:nvSpPr>
        <p:spPr>
          <a:xfrm>
            <a:off x="11187684" y="1545336"/>
            <a:ext cx="841248" cy="-525780"/>
          </a:xfrm>
          <a:prstGeom prst="line">
            <a:avLst/>
          </a:prstGeom>
          <a:noFill/>
          <a:ln w="15875">
            <a:solidFill>
              <a:srgbClr val="00B4D8">
                <a:alpha val="70000"/>
              </a:srgbClr>
            </a:solidFill>
            <a:prstDash val="solid"/>
          </a:ln>
        </p:spPr>
      </p:sp>
      <p:sp>
        <p:nvSpPr>
          <p:cNvPr id="5" name="Shape 3"/>
          <p:cNvSpPr/>
          <p:nvPr/>
        </p:nvSpPr>
        <p:spPr>
          <a:xfrm>
            <a:off x="10193960" y="867080"/>
            <a:ext cx="94640" cy="94640"/>
          </a:xfrm>
          <a:prstGeom prst="ellipse">
            <a:avLst/>
          </a:prstGeom>
          <a:solidFill>
            <a:srgbClr val="00B4D8"/>
          </a:solidFill>
          <a:ln w="12700">
            <a:solidFill>
              <a:srgbClr val="00B4D8"/>
            </a:solidFill>
            <a:prstDash val="solid"/>
          </a:ln>
        </p:spPr>
      </p:sp>
      <p:sp>
        <p:nvSpPr>
          <p:cNvPr id="6" name="Shape 4"/>
          <p:cNvSpPr/>
          <p:nvPr/>
        </p:nvSpPr>
        <p:spPr>
          <a:xfrm>
            <a:off x="11140364" y="341300"/>
            <a:ext cx="94640" cy="94640"/>
          </a:xfrm>
          <a:prstGeom prst="ellipse">
            <a:avLst/>
          </a:prstGeom>
          <a:solidFill>
            <a:srgbClr val="00B4D8"/>
          </a:solidFill>
          <a:ln w="12700">
            <a:solidFill>
              <a:srgbClr val="00B4D8"/>
            </a:solidFill>
            <a:prstDash val="solid"/>
          </a:ln>
        </p:spPr>
      </p:sp>
      <p:sp>
        <p:nvSpPr>
          <p:cNvPr id="7" name="Shape 5"/>
          <p:cNvSpPr/>
          <p:nvPr/>
        </p:nvSpPr>
        <p:spPr>
          <a:xfrm>
            <a:off x="11140364" y="1498016"/>
            <a:ext cx="94640" cy="94640"/>
          </a:xfrm>
          <a:prstGeom prst="ellipse">
            <a:avLst/>
          </a:prstGeom>
          <a:solidFill>
            <a:srgbClr val="00B4D8"/>
          </a:solidFill>
          <a:ln w="12700">
            <a:solidFill>
              <a:srgbClr val="00B4D8"/>
            </a:solidFill>
            <a:prstDash val="solid"/>
          </a:ln>
        </p:spPr>
      </p:sp>
      <p:sp>
        <p:nvSpPr>
          <p:cNvPr id="8" name="Shape 6"/>
          <p:cNvSpPr/>
          <p:nvPr/>
        </p:nvSpPr>
        <p:spPr>
          <a:xfrm>
            <a:off x="11981612" y="972236"/>
            <a:ext cx="94640" cy="94640"/>
          </a:xfrm>
          <a:prstGeom prst="ellipse">
            <a:avLst/>
          </a:prstGeom>
          <a:solidFill>
            <a:srgbClr val="00B4D8"/>
          </a:solidFill>
          <a:ln w="12700">
            <a:solidFill>
              <a:srgbClr val="00B4D8"/>
            </a:solidFill>
            <a:prstDash val="solid"/>
          </a:ln>
        </p:spPr>
      </p:sp>
      <p:sp>
        <p:nvSpPr>
          <p:cNvPr id="9" name="Text 7"/>
          <p:cNvSpPr/>
          <p:nvPr/>
        </p:nvSpPr>
        <p:spPr>
          <a:xfrm>
            <a:off x="502920" y="1371600"/>
            <a:ext cx="9144000" cy="365760"/>
          </a:xfrm>
          <a:prstGeom prst="rect">
            <a:avLst/>
          </a:prstGeom>
          <a:noFill/>
          <a:ln/>
        </p:spPr>
        <p:txBody>
          <a:bodyPr wrap="square" lIns="0" tIns="0" rIns="0" bIns="0" rtlCol="0" anchor="ctr"/>
          <a:lstStyle/>
          <a:p>
            <a:pPr indent="0" marL="0">
              <a:buNone/>
            </a:pPr>
            <a:r>
              <a:rPr lang="en-US" sz="1350" b="1" spc="250" kern="0" dirty="0">
                <a:solidFill>
                  <a:srgbClr val="00B4D8"/>
                </a:solidFill>
                <a:latin typeface="Calibri" pitchFamily="34" charset="0"/>
                <a:ea typeface="Calibri" pitchFamily="34" charset="-122"/>
                <a:cs typeface="Calibri" pitchFamily="34" charset="-120"/>
              </a:rPr>
              <a:t>SN BOSE SUMMER INTERNSHIP 2026  ·  NIT SILCHAR</a:t>
            </a:r>
            <a:endParaRPr lang="en-US" sz="1350" dirty="0"/>
          </a:p>
        </p:txBody>
      </p:sp>
      <p:sp>
        <p:nvSpPr>
          <p:cNvPr id="10" name="Text 8"/>
          <p:cNvSpPr/>
          <p:nvPr/>
        </p:nvSpPr>
        <p:spPr>
          <a:xfrm>
            <a:off x="502920" y="1920240"/>
            <a:ext cx="969264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Kernel-Based Fault Classification</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in Analog Circuits</a:t>
            </a:r>
            <a:endParaRPr lang="en-US" sz="4200" dirty="0"/>
          </a:p>
        </p:txBody>
      </p:sp>
      <p:sp>
        <p:nvSpPr>
          <p:cNvPr id="11" name="Text 9"/>
          <p:cNvSpPr/>
          <p:nvPr/>
        </p:nvSpPr>
        <p:spPr>
          <a:xfrm>
            <a:off x="502920" y="3657600"/>
            <a:ext cx="9509760" cy="822960"/>
          </a:xfrm>
          <a:prstGeom prst="rect">
            <a:avLst/>
          </a:prstGeom>
          <a:noFill/>
          <a:ln/>
        </p:spPr>
        <p:txBody>
          <a:bodyPr wrap="square" lIns="0" tIns="0" rIns="0" bIns="0" rtlCol="0" anchor="ctr"/>
          <a:lstStyle/>
          <a:p>
            <a:pPr indent="0" marL="0">
              <a:lnSpc>
                <a:spcPct val="120000"/>
              </a:lnSpc>
              <a:buNone/>
            </a:pPr>
            <a:r>
              <a:rPr lang="en-US" sz="1450" i="1" dirty="0">
                <a:solidFill>
                  <a:srgbClr val="C9D6E8"/>
                </a:solidFill>
                <a:latin typeface="Calibri" pitchFamily="34" charset="0"/>
                <a:ea typeface="Calibri" pitchFamily="34" charset="-122"/>
                <a:cs typeface="Calibri" pitchFamily="34" charset="-120"/>
              </a:rPr>
              <a:t>A physics-grounded machine learning pipeline for diagnosing Normal, Drift, Open, Short and</a:t>
            </a:r>
            <a:endParaRPr lang="en-US" sz="1450" dirty="0"/>
          </a:p>
          <a:p>
            <a:pPr indent="0" marL="0">
              <a:lnSpc>
                <a:spcPct val="120000"/>
              </a:lnSpc>
              <a:buNone/>
            </a:pPr>
            <a:r>
              <a:rPr lang="en-US" sz="1450" i="1" dirty="0">
                <a:solidFill>
                  <a:srgbClr val="C9D6E8"/>
                </a:solidFill>
                <a:latin typeface="Calibri" pitchFamily="34" charset="0"/>
                <a:ea typeface="Calibri" pitchFamily="34" charset="-122"/>
                <a:cs typeface="Calibri" pitchFamily="34" charset="-120"/>
              </a:rPr>
              <a:t>Noise faults across four analog circuit topologies — from LTspice simulation to a live web app.</a:t>
            </a:r>
            <a:endParaRPr lang="en-US" sz="1450" dirty="0"/>
          </a:p>
        </p:txBody>
      </p:sp>
      <p:sp>
        <p:nvSpPr>
          <p:cNvPr id="12" name="Shape 10"/>
          <p:cNvSpPr/>
          <p:nvPr/>
        </p:nvSpPr>
        <p:spPr>
          <a:xfrm>
            <a:off x="502920" y="4846320"/>
            <a:ext cx="2743200" cy="0"/>
          </a:xfrm>
          <a:prstGeom prst="line">
            <a:avLst/>
          </a:prstGeom>
          <a:noFill/>
          <a:ln w="25400">
            <a:solidFill>
              <a:srgbClr val="00B4D8"/>
            </a:solidFill>
            <a:prstDash val="solid"/>
          </a:ln>
        </p:spPr>
      </p:sp>
      <p:sp>
        <p:nvSpPr>
          <p:cNvPr id="13" name="Text 11"/>
          <p:cNvSpPr/>
          <p:nvPr/>
        </p:nvSpPr>
        <p:spPr>
          <a:xfrm>
            <a:off x="502920" y="5120640"/>
            <a:ext cx="8229600" cy="365760"/>
          </a:xfrm>
          <a:prstGeom prst="rect">
            <a:avLst/>
          </a:prstGeom>
          <a:noFill/>
          <a:ln/>
        </p:spPr>
        <p:txBody>
          <a:bodyPr wrap="square" lIns="0" tIns="0" rIns="0" bIns="0" rtlCol="0" anchor="ctr"/>
          <a:lstStyle/>
          <a:p>
            <a:pPr indent="0" marL="0">
              <a:buNone/>
            </a:pPr>
            <a:r>
              <a:rPr lang="en-US" sz="1400" dirty="0">
                <a:solidFill>
                  <a:srgbClr val="9FB1C8"/>
                </a:solidFill>
                <a:latin typeface="Calibri" pitchFamily="34" charset="0"/>
                <a:ea typeface="Calibri" pitchFamily="34" charset="-122"/>
                <a:cs typeface="Calibri" pitchFamily="34" charset="-120"/>
              </a:rPr>
              <a:t>Presented by  </a:t>
            </a:r>
            <a:pPr indent="0" marL="0">
              <a:buNone/>
            </a:pPr>
            <a:r>
              <a:rPr lang="en-US" sz="1400" b="1" dirty="0">
                <a:solidFill>
                  <a:srgbClr val="FFFFFF"/>
                </a:solidFill>
                <a:latin typeface="Calibri" pitchFamily="34" charset="0"/>
                <a:ea typeface="Calibri" pitchFamily="34" charset="-122"/>
                <a:cs typeface="Calibri" pitchFamily="34" charset="-120"/>
              </a:rPr>
              <a:t>Karan Kaushik</a:t>
            </a:r>
            <a:pPr indent="0" marL="0">
              <a:buNone/>
            </a:pPr>
            <a:r>
              <a:rPr lang="en-US" sz="1400" dirty="0">
                <a:solidFill>
                  <a:srgbClr val="9FB1C8"/>
                </a:solidFill>
                <a:latin typeface="Calibri" pitchFamily="34" charset="0"/>
                <a:ea typeface="Calibri" pitchFamily="34" charset="-122"/>
                <a:cs typeface="Calibri" pitchFamily="34" charset="-120"/>
              </a:rPr>
              <a:t>   |   B.Tech ECE, NIT Silchar</a:t>
            </a:r>
            <a:endParaRPr lang="en-US" sz="1400" dirty="0"/>
          </a:p>
        </p:txBody>
      </p:sp>
      <p:sp>
        <p:nvSpPr>
          <p:cNvPr id="14" name="Text 12"/>
          <p:cNvSpPr/>
          <p:nvPr/>
        </p:nvSpPr>
        <p:spPr>
          <a:xfrm>
            <a:off x="502920" y="5504688"/>
            <a:ext cx="8229600" cy="365760"/>
          </a:xfrm>
          <a:prstGeom prst="rect">
            <a:avLst/>
          </a:prstGeom>
          <a:noFill/>
          <a:ln/>
        </p:spPr>
        <p:txBody>
          <a:bodyPr wrap="square" lIns="0" tIns="0" rIns="0" bIns="0" rtlCol="0" anchor="ctr"/>
          <a:lstStyle/>
          <a:p>
            <a:pPr indent="0" marL="0">
              <a:buNone/>
            </a:pPr>
            <a:r>
              <a:rPr lang="en-US" sz="1400" dirty="0">
                <a:solidFill>
                  <a:srgbClr val="9FB1C8"/>
                </a:solidFill>
                <a:latin typeface="Calibri" pitchFamily="34" charset="0"/>
                <a:ea typeface="Calibri" pitchFamily="34" charset="-122"/>
                <a:cs typeface="Calibri" pitchFamily="34" charset="-120"/>
              </a:rPr>
              <a:t>Guided by  </a:t>
            </a:r>
            <a:pPr indent="0" marL="0">
              <a:buNone/>
            </a:pPr>
            <a:r>
              <a:rPr lang="en-US" sz="1400" b="1" dirty="0">
                <a:solidFill>
                  <a:srgbClr val="FFFFFF"/>
                </a:solidFill>
                <a:latin typeface="Calibri" pitchFamily="34" charset="0"/>
                <a:ea typeface="Calibri" pitchFamily="34" charset="-122"/>
                <a:cs typeface="Calibri" pitchFamily="34" charset="-120"/>
              </a:rPr>
              <a:t>Dr. Anish Kumar Saha</a:t>
            </a:r>
            <a:endParaRPr lang="en-US" sz="1400" dirty="0"/>
          </a:p>
        </p:txBody>
      </p:sp>
      <p:sp>
        <p:nvSpPr>
          <p:cNvPr id="15" name="Text 13"/>
          <p:cNvSpPr/>
          <p:nvPr/>
        </p:nvSpPr>
        <p:spPr>
          <a:xfrm>
            <a:off x="502920" y="5989320"/>
            <a:ext cx="3657600" cy="320040"/>
          </a:xfrm>
          <a:prstGeom prst="rect">
            <a:avLst/>
          </a:prstGeom>
          <a:noFill/>
          <a:ln/>
        </p:spPr>
        <p:txBody>
          <a:bodyPr wrap="square" lIns="0" tIns="0" rIns="0" bIns="0" rtlCol="0" anchor="ctr"/>
          <a:lstStyle/>
          <a:p>
            <a:pPr indent="0" marL="0">
              <a:buNone/>
            </a:pPr>
            <a:r>
              <a:rPr lang="en-US" sz="1050" i="1" dirty="0">
                <a:solidFill>
                  <a:srgbClr val="6B7A94"/>
                </a:solidFill>
                <a:latin typeface="Calibri" pitchFamily="34" charset="0"/>
                <a:ea typeface="Calibri" pitchFamily="34" charset="-122"/>
                <a:cs typeface="Calibri" pitchFamily="34" charset="-120"/>
              </a:rPr>
              <a:t>~60 min presentation</a:t>
            </a:r>
            <a:endParaRPr lang="en-US" sz="1050" dirty="0"/>
          </a:p>
        </p:txBody>
      </p:sp>
      <p:sp>
        <p:nvSpPr>
          <p:cNvPr id="16" name="Shape 14"/>
          <p:cNvSpPr/>
          <p:nvPr/>
        </p:nvSpPr>
        <p:spPr>
          <a:xfrm>
            <a:off x="9966960" y="3657600"/>
            <a:ext cx="1554480" cy="155448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7" name="Image 0" descr="/sessions/blissful-zealous-babbage/mnt/outputs/ppt/icons/microchip_00B4D8.png">    </p:cNvPr>
          <p:cNvPicPr>
            <a:picLocks noChangeAspect="1"/>
          </p:cNvPicPr>
          <p:nvPr/>
        </p:nvPicPr>
        <p:blipFill>
          <a:blip r:embed="rId1"/>
          <a:stretch>
            <a:fillRect/>
          </a:stretch>
        </p:blipFill>
        <p:spPr>
          <a:xfrm>
            <a:off x="10176815" y="3867455"/>
            <a:ext cx="1134770" cy="11347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We'll Cover — In Nine Parts</a:t>
            </a:r>
            <a:endParaRPr lang="en-US" sz="3000" dirty="0"/>
          </a:p>
        </p:txBody>
      </p:sp>
      <p:sp>
        <p:nvSpPr>
          <p:cNvPr id="4" name="Shape 2"/>
          <p:cNvSpPr/>
          <p:nvPr/>
        </p:nvSpPr>
        <p:spPr>
          <a:xfrm>
            <a:off x="50292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0408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bulb_00B4D8.png">    </p:cNvPr>
          <p:cNvPicPr>
            <a:picLocks noChangeAspect="1"/>
          </p:cNvPicPr>
          <p:nvPr/>
        </p:nvPicPr>
        <p:blipFill>
          <a:blip r:embed="rId1"/>
          <a:stretch>
            <a:fillRect/>
          </a:stretch>
        </p:blipFill>
        <p:spPr>
          <a:xfrm>
            <a:off x="773217" y="2025945"/>
            <a:ext cx="373807" cy="373807"/>
          </a:xfrm>
          <a:prstGeom prst="rect">
            <a:avLst/>
          </a:prstGeom>
        </p:spPr>
      </p:pic>
      <p:sp>
        <p:nvSpPr>
          <p:cNvPr id="7" name="Text 4"/>
          <p:cNvSpPr/>
          <p:nvPr/>
        </p:nvSpPr>
        <p:spPr>
          <a:xfrm>
            <a:off x="68580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1. Motivation &amp; Problem</a:t>
            </a:r>
            <a:endParaRPr lang="en-US" sz="1200" dirty="0"/>
          </a:p>
        </p:txBody>
      </p:sp>
      <p:sp>
        <p:nvSpPr>
          <p:cNvPr id="8" name="Text 5"/>
          <p:cNvSpPr/>
          <p:nvPr/>
        </p:nvSpPr>
        <p:spPr>
          <a:xfrm>
            <a:off x="68580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Why analog fault diagnosis matters, and why it's hard</a:t>
            </a:r>
            <a:endParaRPr lang="en-US" sz="870" dirty="0"/>
          </a:p>
        </p:txBody>
      </p:sp>
      <p:sp>
        <p:nvSpPr>
          <p:cNvPr id="9" name="Shape 6"/>
          <p:cNvSpPr/>
          <p:nvPr/>
        </p:nvSpPr>
        <p:spPr>
          <a:xfrm>
            <a:off x="425196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445312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sitemap_00B4D8.png">    </p:cNvPr>
          <p:cNvPicPr>
            <a:picLocks noChangeAspect="1"/>
          </p:cNvPicPr>
          <p:nvPr/>
        </p:nvPicPr>
        <p:blipFill>
          <a:blip r:embed="rId2"/>
          <a:stretch>
            <a:fillRect/>
          </a:stretch>
        </p:blipFill>
        <p:spPr>
          <a:xfrm>
            <a:off x="4522257" y="2025945"/>
            <a:ext cx="373807" cy="373807"/>
          </a:xfrm>
          <a:prstGeom prst="rect">
            <a:avLst/>
          </a:prstGeom>
        </p:spPr>
      </p:pic>
      <p:sp>
        <p:nvSpPr>
          <p:cNvPr id="12" name="Text 8"/>
          <p:cNvSpPr/>
          <p:nvPr/>
        </p:nvSpPr>
        <p:spPr>
          <a:xfrm>
            <a:off x="443484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2. Circuits &amp; Fault Theory</a:t>
            </a:r>
            <a:endParaRPr lang="en-US" sz="1200" dirty="0"/>
          </a:p>
        </p:txBody>
      </p:sp>
      <p:sp>
        <p:nvSpPr>
          <p:cNvPr id="13" name="Text 9"/>
          <p:cNvSpPr/>
          <p:nvPr/>
        </p:nvSpPr>
        <p:spPr>
          <a:xfrm>
            <a:off x="443484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physics behind 4 topologies and 5 fault types</a:t>
            </a:r>
            <a:endParaRPr lang="en-US" sz="870" dirty="0"/>
          </a:p>
        </p:txBody>
      </p:sp>
      <p:sp>
        <p:nvSpPr>
          <p:cNvPr id="14" name="Shape 10"/>
          <p:cNvSpPr/>
          <p:nvPr/>
        </p:nvSpPr>
        <p:spPr>
          <a:xfrm>
            <a:off x="800100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820216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cogs_00B4D8.png">    </p:cNvPr>
          <p:cNvPicPr>
            <a:picLocks noChangeAspect="1"/>
          </p:cNvPicPr>
          <p:nvPr/>
        </p:nvPicPr>
        <p:blipFill>
          <a:blip r:embed="rId3"/>
          <a:stretch>
            <a:fillRect/>
          </a:stretch>
        </p:blipFill>
        <p:spPr>
          <a:xfrm>
            <a:off x="8271297" y="2025945"/>
            <a:ext cx="373807" cy="373807"/>
          </a:xfrm>
          <a:prstGeom prst="rect">
            <a:avLst/>
          </a:prstGeom>
        </p:spPr>
      </p:pic>
      <p:sp>
        <p:nvSpPr>
          <p:cNvPr id="17" name="Text 12"/>
          <p:cNvSpPr/>
          <p:nvPr/>
        </p:nvSpPr>
        <p:spPr>
          <a:xfrm>
            <a:off x="818388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3. Data Pipeline</a:t>
            </a:r>
            <a:endParaRPr lang="en-US" sz="1200" dirty="0"/>
          </a:p>
        </p:txBody>
      </p:sp>
      <p:sp>
        <p:nvSpPr>
          <p:cNvPr id="18" name="Text 13"/>
          <p:cNvSpPr/>
          <p:nvPr/>
        </p:nvSpPr>
        <p:spPr>
          <a:xfrm>
            <a:off x="818388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LTspice sweeps that generate real, physics-based training data</a:t>
            </a:r>
            <a:endParaRPr lang="en-US" sz="870" dirty="0"/>
          </a:p>
        </p:txBody>
      </p:sp>
      <p:sp>
        <p:nvSpPr>
          <p:cNvPr id="19" name="Shape 14"/>
          <p:cNvSpPr/>
          <p:nvPr/>
        </p:nvSpPr>
        <p:spPr>
          <a:xfrm>
            <a:off x="50292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70408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puzzle_00B4D8.png">    </p:cNvPr>
          <p:cNvPicPr>
            <a:picLocks noChangeAspect="1"/>
          </p:cNvPicPr>
          <p:nvPr/>
        </p:nvPicPr>
        <p:blipFill>
          <a:blip r:embed="rId4"/>
          <a:stretch>
            <a:fillRect/>
          </a:stretch>
        </p:blipFill>
        <p:spPr>
          <a:xfrm>
            <a:off x="773217" y="3470697"/>
            <a:ext cx="373807" cy="373807"/>
          </a:xfrm>
          <a:prstGeom prst="rect">
            <a:avLst/>
          </a:prstGeom>
        </p:spPr>
      </p:pic>
      <p:sp>
        <p:nvSpPr>
          <p:cNvPr id="22" name="Text 16"/>
          <p:cNvSpPr/>
          <p:nvPr/>
        </p:nvSpPr>
        <p:spPr>
          <a:xfrm>
            <a:off x="68580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4. Feature Engineering</a:t>
            </a:r>
            <a:endParaRPr lang="en-US" sz="1200" dirty="0"/>
          </a:p>
        </p:txBody>
      </p:sp>
      <p:sp>
        <p:nvSpPr>
          <p:cNvPr id="23" name="Text 17"/>
          <p:cNvSpPr/>
          <p:nvPr/>
        </p:nvSpPr>
        <p:spPr>
          <a:xfrm>
            <a:off x="68580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formulas turning waveforms into 17 numbers</a:t>
            </a:r>
            <a:endParaRPr lang="en-US" sz="870" dirty="0"/>
          </a:p>
        </p:txBody>
      </p:sp>
      <p:sp>
        <p:nvSpPr>
          <p:cNvPr id="24" name="Shape 18"/>
          <p:cNvSpPr/>
          <p:nvPr/>
        </p:nvSpPr>
        <p:spPr>
          <a:xfrm>
            <a:off x="425196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445312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brain_00B4D8.png">    </p:cNvPr>
          <p:cNvPicPr>
            <a:picLocks noChangeAspect="1"/>
          </p:cNvPicPr>
          <p:nvPr/>
        </p:nvPicPr>
        <p:blipFill>
          <a:blip r:embed="rId5"/>
          <a:stretch>
            <a:fillRect/>
          </a:stretch>
        </p:blipFill>
        <p:spPr>
          <a:xfrm>
            <a:off x="4522257" y="3470697"/>
            <a:ext cx="373807" cy="373807"/>
          </a:xfrm>
          <a:prstGeom prst="rect">
            <a:avLst/>
          </a:prstGeom>
        </p:spPr>
      </p:pic>
      <p:sp>
        <p:nvSpPr>
          <p:cNvPr id="27" name="Text 20"/>
          <p:cNvSpPr/>
          <p:nvPr/>
        </p:nvSpPr>
        <p:spPr>
          <a:xfrm>
            <a:off x="443484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5. Machine Learning</a:t>
            </a:r>
            <a:endParaRPr lang="en-US" sz="1200" dirty="0"/>
          </a:p>
        </p:txBody>
      </p:sp>
      <p:sp>
        <p:nvSpPr>
          <p:cNvPr id="28" name="Text 21"/>
          <p:cNvSpPr/>
          <p:nvPr/>
        </p:nvSpPr>
        <p:spPr>
          <a:xfrm>
            <a:off x="443484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SVM theory, kernels, GridSearchCV, cross-validation</a:t>
            </a:r>
            <a:endParaRPr lang="en-US" sz="870" dirty="0"/>
          </a:p>
        </p:txBody>
      </p:sp>
      <p:sp>
        <p:nvSpPr>
          <p:cNvPr id="29" name="Shape 22"/>
          <p:cNvSpPr/>
          <p:nvPr/>
        </p:nvSpPr>
        <p:spPr>
          <a:xfrm>
            <a:off x="800100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0" name="Shape 23"/>
          <p:cNvSpPr/>
          <p:nvPr/>
        </p:nvSpPr>
        <p:spPr>
          <a:xfrm>
            <a:off x="820216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1" name="Image 5" descr="/sessions/blissful-zealous-babbage/mnt/outputs/ppt/icons/tools_00B4D8.png">    </p:cNvPr>
          <p:cNvPicPr>
            <a:picLocks noChangeAspect="1"/>
          </p:cNvPicPr>
          <p:nvPr/>
        </p:nvPicPr>
        <p:blipFill>
          <a:blip r:embed="rId6"/>
          <a:stretch>
            <a:fillRect/>
          </a:stretch>
        </p:blipFill>
        <p:spPr>
          <a:xfrm>
            <a:off x="8271297" y="3470697"/>
            <a:ext cx="373807" cy="373807"/>
          </a:xfrm>
          <a:prstGeom prst="rect">
            <a:avLst/>
          </a:prstGeom>
        </p:spPr>
      </p:pic>
      <p:sp>
        <p:nvSpPr>
          <p:cNvPr id="32" name="Text 24"/>
          <p:cNvSpPr/>
          <p:nvPr/>
        </p:nvSpPr>
        <p:spPr>
          <a:xfrm>
            <a:off x="818388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6. The Smart Fixes</a:t>
            </a:r>
            <a:endParaRPr lang="en-US" sz="1200" dirty="0"/>
          </a:p>
        </p:txBody>
      </p:sp>
      <p:sp>
        <p:nvSpPr>
          <p:cNvPr id="33" name="Text 25"/>
          <p:cNvSpPr/>
          <p:nvPr/>
        </p:nvSpPr>
        <p:spPr>
          <a:xfrm>
            <a:off x="818388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Two engineering decisions that pushed accuracy higher</a:t>
            </a:r>
            <a:endParaRPr lang="en-US" sz="870" dirty="0"/>
          </a:p>
        </p:txBody>
      </p:sp>
      <p:sp>
        <p:nvSpPr>
          <p:cNvPr id="34" name="Shape 26"/>
          <p:cNvSpPr/>
          <p:nvPr/>
        </p:nvSpPr>
        <p:spPr>
          <a:xfrm>
            <a:off x="50292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5" name="Shape 27"/>
          <p:cNvSpPr/>
          <p:nvPr/>
        </p:nvSpPr>
        <p:spPr>
          <a:xfrm>
            <a:off x="70408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6" name="Image 6" descr="/sessions/blissful-zealous-babbage/mnt/outputs/ppt/icons/chartbar_00B4D8.png">    </p:cNvPr>
          <p:cNvPicPr>
            <a:picLocks noChangeAspect="1"/>
          </p:cNvPicPr>
          <p:nvPr/>
        </p:nvPicPr>
        <p:blipFill>
          <a:blip r:embed="rId7"/>
          <a:stretch>
            <a:fillRect/>
          </a:stretch>
        </p:blipFill>
        <p:spPr>
          <a:xfrm>
            <a:off x="773217" y="4915449"/>
            <a:ext cx="373807" cy="373807"/>
          </a:xfrm>
          <a:prstGeom prst="rect">
            <a:avLst/>
          </a:prstGeom>
        </p:spPr>
      </p:pic>
      <p:sp>
        <p:nvSpPr>
          <p:cNvPr id="37" name="Text 28"/>
          <p:cNvSpPr/>
          <p:nvPr/>
        </p:nvSpPr>
        <p:spPr>
          <a:xfrm>
            <a:off x="68580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7. Results &amp; Deep Analysis</a:t>
            </a:r>
            <a:endParaRPr lang="en-US" sz="1200" dirty="0"/>
          </a:p>
        </p:txBody>
      </p:sp>
      <p:sp>
        <p:nvSpPr>
          <p:cNvPr id="38" name="Text 29"/>
          <p:cNvSpPr/>
          <p:nvPr/>
        </p:nvSpPr>
        <p:spPr>
          <a:xfrm>
            <a:off x="68580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78.43% accuracy — and exactly where and why it fails</a:t>
            </a:r>
            <a:endParaRPr lang="en-US" sz="870" dirty="0"/>
          </a:p>
        </p:txBody>
      </p:sp>
      <p:sp>
        <p:nvSpPr>
          <p:cNvPr id="39" name="Shape 30"/>
          <p:cNvSpPr/>
          <p:nvPr/>
        </p:nvSpPr>
        <p:spPr>
          <a:xfrm>
            <a:off x="425196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0" name="Shape 31"/>
          <p:cNvSpPr/>
          <p:nvPr/>
        </p:nvSpPr>
        <p:spPr>
          <a:xfrm>
            <a:off x="445312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1" name="Image 7" descr="/sessions/blissful-zealous-babbage/mnt/outputs/ppt/icons/warn_00B4D8.png">    </p:cNvPr>
          <p:cNvPicPr>
            <a:picLocks noChangeAspect="1"/>
          </p:cNvPicPr>
          <p:nvPr/>
        </p:nvPicPr>
        <p:blipFill>
          <a:blip r:embed="rId8"/>
          <a:stretch>
            <a:fillRect/>
          </a:stretch>
        </p:blipFill>
        <p:spPr>
          <a:xfrm>
            <a:off x="4522257" y="4915449"/>
            <a:ext cx="373807" cy="373807"/>
          </a:xfrm>
          <a:prstGeom prst="rect">
            <a:avLst/>
          </a:prstGeom>
        </p:spPr>
      </p:pic>
      <p:sp>
        <p:nvSpPr>
          <p:cNvPr id="42" name="Text 32"/>
          <p:cNvSpPr/>
          <p:nvPr/>
        </p:nvSpPr>
        <p:spPr>
          <a:xfrm>
            <a:off x="443484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8. Key Finding &amp; Limits</a:t>
            </a:r>
            <a:endParaRPr lang="en-US" sz="1200" dirty="0"/>
          </a:p>
        </p:txBody>
      </p:sp>
      <p:sp>
        <p:nvSpPr>
          <p:cNvPr id="43" name="Text 33"/>
          <p:cNvSpPr/>
          <p:nvPr/>
        </p:nvSpPr>
        <p:spPr>
          <a:xfrm>
            <a:off x="443484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A hard lesson about trusting your own accuracy numbers</a:t>
            </a:r>
            <a:endParaRPr lang="en-US" sz="870" dirty="0"/>
          </a:p>
        </p:txBody>
      </p:sp>
      <p:sp>
        <p:nvSpPr>
          <p:cNvPr id="44" name="Shape 34"/>
          <p:cNvSpPr/>
          <p:nvPr/>
        </p:nvSpPr>
        <p:spPr>
          <a:xfrm>
            <a:off x="800100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5" name="Shape 35"/>
          <p:cNvSpPr/>
          <p:nvPr/>
        </p:nvSpPr>
        <p:spPr>
          <a:xfrm>
            <a:off x="820216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6" name="Image 8" descr="/sessions/blissful-zealous-babbage/mnt/outputs/ppt/icons/rocket_00B4D8.png">    </p:cNvPr>
          <p:cNvPicPr>
            <a:picLocks noChangeAspect="1"/>
          </p:cNvPicPr>
          <p:nvPr/>
        </p:nvPicPr>
        <p:blipFill>
          <a:blip r:embed="rId9"/>
          <a:stretch>
            <a:fillRect/>
          </a:stretch>
        </p:blipFill>
        <p:spPr>
          <a:xfrm>
            <a:off x="8271297" y="4915449"/>
            <a:ext cx="373807" cy="373807"/>
          </a:xfrm>
          <a:prstGeom prst="rect">
            <a:avLst/>
          </a:prstGeom>
        </p:spPr>
      </p:pic>
      <p:sp>
        <p:nvSpPr>
          <p:cNvPr id="47" name="Text 36"/>
          <p:cNvSpPr/>
          <p:nvPr/>
        </p:nvSpPr>
        <p:spPr>
          <a:xfrm>
            <a:off x="818388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9. Demo &amp; Conclusion</a:t>
            </a:r>
            <a:endParaRPr lang="en-US" sz="1200" dirty="0"/>
          </a:p>
        </p:txBody>
      </p:sp>
      <p:sp>
        <p:nvSpPr>
          <p:cNvPr id="48" name="Text 37"/>
          <p:cNvSpPr/>
          <p:nvPr/>
        </p:nvSpPr>
        <p:spPr>
          <a:xfrm>
            <a:off x="818388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live app, what's next, and a wrap-up</a:t>
            </a:r>
            <a:endParaRPr lang="en-US" sz="870" dirty="0"/>
          </a:p>
        </p:txBody>
      </p:sp>
      <p:sp>
        <p:nvSpPr>
          <p:cNvPr id="49" name="Text 3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0" name="Text 3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Fault Classification Matters</a:t>
            </a:r>
            <a:endParaRPr lang="en-US" sz="3000" dirty="0"/>
          </a:p>
        </p:txBody>
      </p:sp>
      <p:sp>
        <p:nvSpPr>
          <p:cNvPr id="4" name="Shape 2"/>
          <p:cNvSpPr/>
          <p:nvPr/>
        </p:nvSpPr>
        <p:spPr>
          <a:xfrm>
            <a:off x="502920" y="1783080"/>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signal_00B4D8.png">    </p:cNvPr>
          <p:cNvPicPr>
            <a:picLocks noChangeAspect="1"/>
          </p:cNvPicPr>
          <p:nvPr/>
        </p:nvPicPr>
        <p:blipFill>
          <a:blip r:embed="rId1"/>
          <a:stretch>
            <a:fillRect/>
          </a:stretch>
        </p:blipFill>
        <p:spPr>
          <a:xfrm>
            <a:off x="579455" y="1859615"/>
            <a:ext cx="413857" cy="413857"/>
          </a:xfrm>
          <a:prstGeom prst="rect">
            <a:avLst/>
          </a:prstGeom>
        </p:spPr>
      </p:pic>
      <p:sp>
        <p:nvSpPr>
          <p:cNvPr id="6" name="Text 3"/>
          <p:cNvSpPr/>
          <p:nvPr/>
        </p:nvSpPr>
        <p:spPr>
          <a:xfrm>
            <a:off x="1280160" y="1755648"/>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Analog circuits are everywhere</a:t>
            </a:r>
            <a:endParaRPr lang="en-US" sz="1450" dirty="0"/>
          </a:p>
        </p:txBody>
      </p:sp>
      <p:sp>
        <p:nvSpPr>
          <p:cNvPr id="7" name="Text 4"/>
          <p:cNvSpPr/>
          <p:nvPr/>
        </p:nvSpPr>
        <p:spPr>
          <a:xfrm>
            <a:off x="1280160" y="2075688"/>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Filters, power supplies, sensor front-ends and communication links all rely on analog stages that quietly degrade before they fail outright.</a:t>
            </a:r>
            <a:endParaRPr lang="en-US" sz="1100" dirty="0"/>
          </a:p>
        </p:txBody>
      </p:sp>
      <p:sp>
        <p:nvSpPr>
          <p:cNvPr id="8" name="Shape 5"/>
          <p:cNvSpPr/>
          <p:nvPr/>
        </p:nvSpPr>
        <p:spPr>
          <a:xfrm>
            <a:off x="502920" y="2807208"/>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search_00B4D8.png">    </p:cNvPr>
          <p:cNvPicPr>
            <a:picLocks noChangeAspect="1"/>
          </p:cNvPicPr>
          <p:nvPr/>
        </p:nvPicPr>
        <p:blipFill>
          <a:blip r:embed="rId2"/>
          <a:stretch>
            <a:fillRect/>
          </a:stretch>
        </p:blipFill>
        <p:spPr>
          <a:xfrm>
            <a:off x="579455" y="2883743"/>
            <a:ext cx="413857" cy="413857"/>
          </a:xfrm>
          <a:prstGeom prst="rect">
            <a:avLst/>
          </a:prstGeom>
        </p:spPr>
      </p:pic>
      <p:sp>
        <p:nvSpPr>
          <p:cNvPr id="10" name="Text 6"/>
          <p:cNvSpPr/>
          <p:nvPr/>
        </p:nvSpPr>
        <p:spPr>
          <a:xfrm>
            <a:off x="1280160" y="2779776"/>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Manual diagnosis doesn't scale</a:t>
            </a:r>
            <a:endParaRPr lang="en-US" sz="1450" dirty="0"/>
          </a:p>
        </p:txBody>
      </p:sp>
      <p:sp>
        <p:nvSpPr>
          <p:cNvPr id="11" name="Text 7"/>
          <p:cNvSpPr/>
          <p:nvPr/>
        </p:nvSpPr>
        <p:spPr>
          <a:xfrm>
            <a:off x="1280160" y="3099816"/>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Reading an oscilloscope trace to guess whether a fault is drift, noise, or a bad connection takes an expert and doesn't scale to thousands of boards.</a:t>
            </a:r>
            <a:endParaRPr lang="en-US" sz="1100" dirty="0"/>
          </a:p>
        </p:txBody>
      </p:sp>
      <p:sp>
        <p:nvSpPr>
          <p:cNvPr id="12" name="Shape 8"/>
          <p:cNvSpPr/>
          <p:nvPr/>
        </p:nvSpPr>
        <p:spPr>
          <a:xfrm>
            <a:off x="502920" y="3831336"/>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bolt_00B4D8.png">    </p:cNvPr>
          <p:cNvPicPr>
            <a:picLocks noChangeAspect="1"/>
          </p:cNvPicPr>
          <p:nvPr/>
        </p:nvPicPr>
        <p:blipFill>
          <a:blip r:embed="rId3"/>
          <a:stretch>
            <a:fillRect/>
          </a:stretch>
        </p:blipFill>
        <p:spPr>
          <a:xfrm>
            <a:off x="579455" y="3907871"/>
            <a:ext cx="413857" cy="413857"/>
          </a:xfrm>
          <a:prstGeom prst="rect">
            <a:avLst/>
          </a:prstGeom>
        </p:spPr>
      </p:pic>
      <p:sp>
        <p:nvSpPr>
          <p:cNvPr id="14" name="Text 9"/>
          <p:cNvSpPr/>
          <p:nvPr/>
        </p:nvSpPr>
        <p:spPr>
          <a:xfrm>
            <a:off x="1280160" y="3803904"/>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Faults are often silent</a:t>
            </a:r>
            <a:endParaRPr lang="en-US" sz="1450" dirty="0"/>
          </a:p>
        </p:txBody>
      </p:sp>
      <p:sp>
        <p:nvSpPr>
          <p:cNvPr id="15" name="Text 10"/>
          <p:cNvSpPr/>
          <p:nvPr/>
        </p:nvSpPr>
        <p:spPr>
          <a:xfrm>
            <a:off x="1280160" y="4123944"/>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A drifting resistor or a noisy stage can still “work” while quietly producing wrong answers downstream.</a:t>
            </a:r>
            <a:endParaRPr lang="en-US" sz="1100" dirty="0"/>
          </a:p>
        </p:txBody>
      </p:sp>
      <p:sp>
        <p:nvSpPr>
          <p:cNvPr id="16" name="Shape 11"/>
          <p:cNvSpPr/>
          <p:nvPr/>
        </p:nvSpPr>
        <p:spPr>
          <a:xfrm>
            <a:off x="502920" y="485546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chartline_00B4D8.png">    </p:cNvPr>
          <p:cNvPicPr>
            <a:picLocks noChangeAspect="1"/>
          </p:cNvPicPr>
          <p:nvPr/>
        </p:nvPicPr>
        <p:blipFill>
          <a:blip r:embed="rId4"/>
          <a:stretch>
            <a:fillRect/>
          </a:stretch>
        </p:blipFill>
        <p:spPr>
          <a:xfrm>
            <a:off x="579455" y="4931999"/>
            <a:ext cx="413857" cy="413857"/>
          </a:xfrm>
          <a:prstGeom prst="rect">
            <a:avLst/>
          </a:prstGeom>
        </p:spPr>
      </p:pic>
      <p:sp>
        <p:nvSpPr>
          <p:cNvPr id="18" name="Text 12"/>
          <p:cNvSpPr/>
          <p:nvPr/>
        </p:nvSpPr>
        <p:spPr>
          <a:xfrm>
            <a:off x="1280160" y="4828032"/>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The goal</a:t>
            </a:r>
            <a:endParaRPr lang="en-US" sz="1450" dirty="0"/>
          </a:p>
        </p:txBody>
      </p:sp>
      <p:sp>
        <p:nvSpPr>
          <p:cNvPr id="19" name="Text 13"/>
          <p:cNvSpPr/>
          <p:nvPr/>
        </p:nvSpPr>
        <p:spPr>
          <a:xfrm>
            <a:off x="1280160" y="5148072"/>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Give a machine the output waveform and let it instantly say what's wrong — and which component is likely responsible.</a:t>
            </a:r>
            <a:endParaRPr lang="en-US" sz="1100" dirty="0"/>
          </a:p>
        </p:txBody>
      </p:sp>
      <p:sp>
        <p:nvSpPr>
          <p:cNvPr id="20" name="Shape 14"/>
          <p:cNvSpPr/>
          <p:nvPr/>
        </p:nvSpPr>
        <p:spPr>
          <a:xfrm>
            <a:off x="7360920" y="1783080"/>
            <a:ext cx="4343400" cy="4160520"/>
          </a:xfrm>
          <a:prstGeom prst="roundRect">
            <a:avLst>
              <a:gd name="adj" fmla="val 1538"/>
            </a:avLst>
          </a:prstGeom>
          <a:solidFill>
            <a:srgbClr val="EAEEF4"/>
          </a:solidFill>
          <a:ln w="15875">
            <a:solidFill>
              <a:srgbClr val="9FB1C8"/>
            </a:solidFill>
            <a:prstDash val="dash"/>
          </a:ln>
        </p:spPr>
      </p:sp>
      <p:pic>
        <p:nvPicPr>
          <p:cNvPr id="21" name="Image 4" descr="/sessions/blissful-zealous-babbage/mnt/outputs/ppt/icons/database_64748B.png">    </p:cNvPr>
          <p:cNvPicPr>
            <a:picLocks noChangeAspect="1"/>
          </p:cNvPicPr>
          <p:nvPr/>
        </p:nvPicPr>
        <p:blipFill>
          <a:blip r:embed="rId5"/>
          <a:stretch>
            <a:fillRect/>
          </a:stretch>
        </p:blipFill>
        <p:spPr>
          <a:xfrm>
            <a:off x="9249156" y="2498141"/>
            <a:ext cx="566928" cy="566928"/>
          </a:xfrm>
          <a:prstGeom prst="rect">
            <a:avLst/>
          </a:prstGeom>
        </p:spPr>
      </p:pic>
      <p:sp>
        <p:nvSpPr>
          <p:cNvPr id="22" name="Text 15"/>
          <p:cNvSpPr/>
          <p:nvPr/>
        </p:nvSpPr>
        <p:spPr>
          <a:xfrm>
            <a:off x="7543800" y="2980030"/>
            <a:ext cx="397764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PHOTO / SCHEMATIC</a:t>
            </a:r>
            <a:endParaRPr lang="en-US" sz="1300" dirty="0"/>
          </a:p>
        </p:txBody>
      </p:sp>
      <p:sp>
        <p:nvSpPr>
          <p:cNvPr id="23" name="Text 16"/>
          <p:cNvSpPr/>
          <p:nvPr/>
        </p:nvSpPr>
        <p:spPr>
          <a:xfrm>
            <a:off x="7635240" y="3327502"/>
            <a:ext cx="379476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lab PCB, oscilloscope capture, or</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simulation workstation photo</a:t>
            </a:r>
            <a:endParaRPr lang="en-US" sz="1050" dirty="0"/>
          </a:p>
        </p:txBody>
      </p:sp>
      <p:sp>
        <p:nvSpPr>
          <p:cNvPr id="24"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Real-World Cost of an Undiagnosed Fault</a:t>
            </a:r>
            <a:endParaRPr lang="en-US" sz="3000" dirty="0"/>
          </a:p>
        </p:txBody>
      </p:sp>
      <p:sp>
        <p:nvSpPr>
          <p:cNvPr id="4" name="Text 2"/>
          <p:cNvSpPr/>
          <p:nvPr/>
        </p:nvSpPr>
        <p:spPr>
          <a:xfrm>
            <a:off x="502920" y="169164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Component drift and disconnects rarely announce themselves. A few examples of what's at stake:</a:t>
            </a:r>
            <a:endParaRPr lang="en-US" sz="1300" dirty="0"/>
          </a:p>
        </p:txBody>
      </p:sp>
      <p:sp>
        <p:nvSpPr>
          <p:cNvPr id="5" name="Shape 3"/>
          <p:cNvSpPr/>
          <p:nvPr/>
        </p:nvSpPr>
        <p:spPr>
          <a:xfrm>
            <a:off x="502920" y="2240280"/>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58952" y="249631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flask_00B4D8.png">    </p:cNvPr>
          <p:cNvPicPr>
            <a:picLocks noChangeAspect="1"/>
          </p:cNvPicPr>
          <p:nvPr/>
        </p:nvPicPr>
        <p:blipFill>
          <a:blip r:embed="rId1"/>
          <a:stretch>
            <a:fillRect/>
          </a:stretch>
        </p:blipFill>
        <p:spPr>
          <a:xfrm>
            <a:off x="835487" y="2572847"/>
            <a:ext cx="413857" cy="413857"/>
          </a:xfrm>
          <a:prstGeom prst="rect">
            <a:avLst/>
          </a:prstGeom>
        </p:spPr>
      </p:pic>
      <p:sp>
        <p:nvSpPr>
          <p:cNvPr id="8" name="Text 5"/>
          <p:cNvSpPr/>
          <p:nvPr/>
        </p:nvSpPr>
        <p:spPr>
          <a:xfrm>
            <a:off x="1508760" y="2514600"/>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Medical devices</a:t>
            </a:r>
            <a:endParaRPr lang="en-US" sz="1400" dirty="0"/>
          </a:p>
        </p:txBody>
      </p:sp>
      <p:sp>
        <p:nvSpPr>
          <p:cNvPr id="9" name="Text 6"/>
          <p:cNvSpPr/>
          <p:nvPr/>
        </p:nvSpPr>
        <p:spPr>
          <a:xfrm>
            <a:off x="77724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drifting filter stage in a patient monitor can quietly shift a threshold reading long before an alarm ever fires.</a:t>
            </a:r>
            <a:endParaRPr lang="en-US" sz="1050" dirty="0"/>
          </a:p>
        </p:txBody>
      </p:sp>
      <p:sp>
        <p:nvSpPr>
          <p:cNvPr id="10" name="Shape 7"/>
          <p:cNvSpPr/>
          <p:nvPr/>
        </p:nvSpPr>
        <p:spPr>
          <a:xfrm>
            <a:off x="6126480" y="2240280"/>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382512" y="249631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signal_00B4D8.png">    </p:cNvPr>
          <p:cNvPicPr>
            <a:picLocks noChangeAspect="1"/>
          </p:cNvPicPr>
          <p:nvPr/>
        </p:nvPicPr>
        <p:blipFill>
          <a:blip r:embed="rId2"/>
          <a:stretch>
            <a:fillRect/>
          </a:stretch>
        </p:blipFill>
        <p:spPr>
          <a:xfrm>
            <a:off x="6459047" y="2572847"/>
            <a:ext cx="413857" cy="413857"/>
          </a:xfrm>
          <a:prstGeom prst="rect">
            <a:avLst/>
          </a:prstGeom>
        </p:spPr>
      </p:pic>
      <p:sp>
        <p:nvSpPr>
          <p:cNvPr id="13" name="Text 9"/>
          <p:cNvSpPr/>
          <p:nvPr/>
        </p:nvSpPr>
        <p:spPr>
          <a:xfrm>
            <a:off x="7132320" y="2514600"/>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Communication links</a:t>
            </a:r>
            <a:endParaRPr lang="en-US" sz="1400" dirty="0"/>
          </a:p>
        </p:txBody>
      </p:sp>
      <p:sp>
        <p:nvSpPr>
          <p:cNvPr id="14" name="Text 10"/>
          <p:cNvSpPr/>
          <p:nvPr/>
        </p:nvSpPr>
        <p:spPr>
          <a:xfrm>
            <a:off x="640080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degraded low-pass filter changes a receiver's bandwidth, raising bit-error rates without any visible failure.</a:t>
            </a:r>
            <a:endParaRPr lang="en-US" sz="1050" dirty="0"/>
          </a:p>
        </p:txBody>
      </p:sp>
      <p:sp>
        <p:nvSpPr>
          <p:cNvPr id="15" name="Shape 11"/>
          <p:cNvSpPr/>
          <p:nvPr/>
        </p:nvSpPr>
        <p:spPr>
          <a:xfrm>
            <a:off x="502920" y="4279392"/>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6" name="Shape 12"/>
          <p:cNvSpPr/>
          <p:nvPr/>
        </p:nvSpPr>
        <p:spPr>
          <a:xfrm>
            <a:off x="758952" y="453542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2" descr="/sessions/blissful-zealous-babbage/mnt/outputs/ppt/icons/cogs_00B4D8.png">    </p:cNvPr>
          <p:cNvPicPr>
            <a:picLocks noChangeAspect="1"/>
          </p:cNvPicPr>
          <p:nvPr/>
        </p:nvPicPr>
        <p:blipFill>
          <a:blip r:embed="rId3"/>
          <a:stretch>
            <a:fillRect/>
          </a:stretch>
        </p:blipFill>
        <p:spPr>
          <a:xfrm>
            <a:off x="835487" y="4611959"/>
            <a:ext cx="413857" cy="413857"/>
          </a:xfrm>
          <a:prstGeom prst="rect">
            <a:avLst/>
          </a:prstGeom>
        </p:spPr>
      </p:pic>
      <p:sp>
        <p:nvSpPr>
          <p:cNvPr id="18" name="Text 13"/>
          <p:cNvSpPr/>
          <p:nvPr/>
        </p:nvSpPr>
        <p:spPr>
          <a:xfrm>
            <a:off x="1508760" y="4553712"/>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Power electronics</a:t>
            </a:r>
            <a:endParaRPr lang="en-US" sz="1400" dirty="0"/>
          </a:p>
        </p:txBody>
      </p:sp>
      <p:sp>
        <p:nvSpPr>
          <p:cNvPr id="19" name="Text 14"/>
          <p:cNvSpPr/>
          <p:nvPr/>
        </p:nvSpPr>
        <p:spPr>
          <a:xfrm>
            <a:off x="77724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drifting or shorted component in a regulator stage can shorten the life of every downstream part it feeds.</a:t>
            </a:r>
            <a:endParaRPr lang="en-US" sz="1050" dirty="0"/>
          </a:p>
        </p:txBody>
      </p:sp>
      <p:sp>
        <p:nvSpPr>
          <p:cNvPr id="20" name="Shape 15"/>
          <p:cNvSpPr/>
          <p:nvPr/>
        </p:nvSpPr>
        <p:spPr>
          <a:xfrm>
            <a:off x="6126480" y="4279392"/>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1" name="Shape 16"/>
          <p:cNvSpPr/>
          <p:nvPr/>
        </p:nvSpPr>
        <p:spPr>
          <a:xfrm>
            <a:off x="6382512" y="453542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2" name="Image 3" descr="/sessions/blissful-zealous-babbage/mnt/outputs/ppt/icons/laptop_00B4D8.png">    </p:cNvPr>
          <p:cNvPicPr>
            <a:picLocks noChangeAspect="1"/>
          </p:cNvPicPr>
          <p:nvPr/>
        </p:nvPicPr>
        <p:blipFill>
          <a:blip r:embed="rId4"/>
          <a:stretch>
            <a:fillRect/>
          </a:stretch>
        </p:blipFill>
        <p:spPr>
          <a:xfrm>
            <a:off x="6459047" y="4611959"/>
            <a:ext cx="413857" cy="413857"/>
          </a:xfrm>
          <a:prstGeom prst="rect">
            <a:avLst/>
          </a:prstGeom>
        </p:spPr>
      </p:pic>
      <p:sp>
        <p:nvSpPr>
          <p:cNvPr id="23" name="Text 17"/>
          <p:cNvSpPr/>
          <p:nvPr/>
        </p:nvSpPr>
        <p:spPr>
          <a:xfrm>
            <a:off x="7132320" y="4553712"/>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Automotive sensors</a:t>
            </a:r>
            <a:endParaRPr lang="en-US" sz="1400" dirty="0"/>
          </a:p>
        </p:txBody>
      </p:sp>
      <p:sp>
        <p:nvSpPr>
          <p:cNvPr id="24" name="Text 18"/>
          <p:cNvSpPr/>
          <p:nvPr/>
        </p:nvSpPr>
        <p:spPr>
          <a:xfrm>
            <a:off x="640080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Analog sensor front-ends drift with temperature and age; catching this early prevents cascading failures.</a:t>
            </a:r>
            <a:endParaRPr lang="en-US" sz="1050" dirty="0"/>
          </a:p>
        </p:txBody>
      </p:sp>
      <p:sp>
        <p:nvSpPr>
          <p:cNvPr id="25"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This Problem Is Genuinely Hard</a:t>
            </a:r>
            <a:endParaRPr lang="en-US" sz="3000" dirty="0"/>
          </a:p>
        </p:txBody>
      </p:sp>
      <p:sp>
        <p:nvSpPr>
          <p:cNvPr id="4" name="Shape 2"/>
          <p:cNvSpPr/>
          <p:nvPr/>
        </p:nvSpPr>
        <p:spPr>
          <a:xfrm>
            <a:off x="502920" y="178308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warn_FFFFFF.png">    </p:cNvPr>
          <p:cNvPicPr>
            <a:picLocks noChangeAspect="1"/>
          </p:cNvPicPr>
          <p:nvPr/>
        </p:nvPicPr>
        <p:blipFill>
          <a:blip r:embed="rId1"/>
          <a:stretch>
            <a:fillRect/>
          </a:stretch>
        </p:blipFill>
        <p:spPr>
          <a:xfrm>
            <a:off x="579455" y="1859615"/>
            <a:ext cx="413857" cy="413857"/>
          </a:xfrm>
          <a:prstGeom prst="rect">
            <a:avLst/>
          </a:prstGeom>
        </p:spPr>
      </p:pic>
      <p:sp>
        <p:nvSpPr>
          <p:cNvPr id="6" name="Text 3"/>
          <p:cNvSpPr/>
          <p:nvPr/>
        </p:nvSpPr>
        <p:spPr>
          <a:xfrm>
            <a:off x="1280160" y="175564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Faults are continuous, not binary</a:t>
            </a:r>
            <a:endParaRPr lang="en-US" sz="1450" dirty="0"/>
          </a:p>
        </p:txBody>
      </p:sp>
      <p:sp>
        <p:nvSpPr>
          <p:cNvPr id="7" name="Text 4"/>
          <p:cNvSpPr/>
          <p:nvPr/>
        </p:nvSpPr>
        <p:spPr>
          <a:xfrm>
            <a:off x="1280160" y="207568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Drift isn't a switch — a resistor slides gradually from healthy to faulty, so “normal” and “drift” can look nearly identical near the boundary.</a:t>
            </a:r>
            <a:endParaRPr lang="en-US" sz="1150" dirty="0"/>
          </a:p>
        </p:txBody>
      </p:sp>
      <p:sp>
        <p:nvSpPr>
          <p:cNvPr id="8" name="Shape 5"/>
          <p:cNvSpPr/>
          <p:nvPr/>
        </p:nvSpPr>
        <p:spPr>
          <a:xfrm>
            <a:off x="502920" y="283464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random_FFFFFF.png">    </p:cNvPr>
          <p:cNvPicPr>
            <a:picLocks noChangeAspect="1"/>
          </p:cNvPicPr>
          <p:nvPr/>
        </p:nvPicPr>
        <p:blipFill>
          <a:blip r:embed="rId2"/>
          <a:stretch>
            <a:fillRect/>
          </a:stretch>
        </p:blipFill>
        <p:spPr>
          <a:xfrm>
            <a:off x="579455" y="2911175"/>
            <a:ext cx="413857" cy="413857"/>
          </a:xfrm>
          <a:prstGeom prst="rect">
            <a:avLst/>
          </a:prstGeom>
        </p:spPr>
      </p:pic>
      <p:sp>
        <p:nvSpPr>
          <p:cNvPr id="10" name="Text 6"/>
          <p:cNvSpPr/>
          <p:nvPr/>
        </p:nvSpPr>
        <p:spPr>
          <a:xfrm>
            <a:off x="1280160" y="280720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Signatures overlap across circuits</a:t>
            </a:r>
            <a:endParaRPr lang="en-US" sz="1450" dirty="0"/>
          </a:p>
        </p:txBody>
      </p:sp>
      <p:sp>
        <p:nvSpPr>
          <p:cNvPr id="11" name="Text 7"/>
          <p:cNvSpPr/>
          <p:nvPr/>
        </p:nvSpPr>
        <p:spPr>
          <a:xfrm>
            <a:off x="1280160" y="312724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An “open” fault looks similar (flat, non-charging output) whether it happens in an RC filter or an RLC network — the model must tell topology and fault apart together.</a:t>
            </a:r>
            <a:endParaRPr lang="en-US" sz="1150" dirty="0"/>
          </a:p>
        </p:txBody>
      </p:sp>
      <p:sp>
        <p:nvSpPr>
          <p:cNvPr id="12" name="Shape 8"/>
          <p:cNvSpPr/>
          <p:nvPr/>
        </p:nvSpPr>
        <p:spPr>
          <a:xfrm>
            <a:off x="502920" y="388620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balance_FFFFFF.png">    </p:cNvPr>
          <p:cNvPicPr>
            <a:picLocks noChangeAspect="1"/>
          </p:cNvPicPr>
          <p:nvPr/>
        </p:nvPicPr>
        <p:blipFill>
          <a:blip r:embed="rId3"/>
          <a:stretch>
            <a:fillRect/>
          </a:stretch>
        </p:blipFill>
        <p:spPr>
          <a:xfrm>
            <a:off x="579455" y="3962735"/>
            <a:ext cx="413857" cy="413857"/>
          </a:xfrm>
          <a:prstGeom prst="rect">
            <a:avLst/>
          </a:prstGeom>
        </p:spPr>
      </p:pic>
      <p:sp>
        <p:nvSpPr>
          <p:cNvPr id="14" name="Text 9"/>
          <p:cNvSpPr/>
          <p:nvPr/>
        </p:nvSpPr>
        <p:spPr>
          <a:xfrm>
            <a:off x="1280160" y="385876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20 classes from limited data</a:t>
            </a:r>
            <a:endParaRPr lang="en-US" sz="1450" dirty="0"/>
          </a:p>
        </p:txBody>
      </p:sp>
      <p:sp>
        <p:nvSpPr>
          <p:cNvPr id="15" name="Text 10"/>
          <p:cNvSpPr/>
          <p:nvPr/>
        </p:nvSpPr>
        <p:spPr>
          <a:xfrm>
            <a:off x="1280160" y="417880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4 circuits × 5 faults = 20 classes to separate from just ~1,019 simulated samples — roughly 50 examples per class.</a:t>
            </a:r>
            <a:endParaRPr lang="en-US" sz="1150" dirty="0"/>
          </a:p>
        </p:txBody>
      </p:sp>
      <p:sp>
        <p:nvSpPr>
          <p:cNvPr id="16" name="Shape 11"/>
          <p:cNvSpPr/>
          <p:nvPr/>
        </p:nvSpPr>
        <p:spPr>
          <a:xfrm>
            <a:off x="502920" y="493776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search_FFFFFF.png">    </p:cNvPr>
          <p:cNvPicPr>
            <a:picLocks noChangeAspect="1"/>
          </p:cNvPicPr>
          <p:nvPr/>
        </p:nvPicPr>
        <p:blipFill>
          <a:blip r:embed="rId4"/>
          <a:stretch>
            <a:fillRect/>
          </a:stretch>
        </p:blipFill>
        <p:spPr>
          <a:xfrm>
            <a:off x="579455" y="5014295"/>
            <a:ext cx="413857" cy="413857"/>
          </a:xfrm>
          <a:prstGeom prst="rect">
            <a:avLst/>
          </a:prstGeom>
        </p:spPr>
      </p:pic>
      <p:sp>
        <p:nvSpPr>
          <p:cNvPr id="18" name="Text 12"/>
          <p:cNvSpPr/>
          <p:nvPr/>
        </p:nvSpPr>
        <p:spPr>
          <a:xfrm>
            <a:off x="1280160" y="491032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Simulation vs. reality gap</a:t>
            </a:r>
            <a:endParaRPr lang="en-US" sz="1450" dirty="0"/>
          </a:p>
        </p:txBody>
      </p:sp>
      <p:sp>
        <p:nvSpPr>
          <p:cNvPr id="19" name="Text 13"/>
          <p:cNvSpPr/>
          <p:nvPr/>
        </p:nvSpPr>
        <p:spPr>
          <a:xfrm>
            <a:off x="1280160" y="523036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LTspice gives clean, repeatable waveforms; real hardware adds temperature drift, tolerances and parasitic effects simulation can't fully capture.</a:t>
            </a:r>
            <a:endParaRPr lang="en-US" sz="1150" dirty="0"/>
          </a:p>
        </p:txBody>
      </p:sp>
      <p:sp>
        <p:nvSpPr>
          <p:cNvPr id="20"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1"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Where This Fits in the Literature</a:t>
            </a:r>
            <a:endParaRPr lang="en-US" sz="3000" dirty="0"/>
          </a:p>
        </p:txBody>
      </p:sp>
      <p:sp>
        <p:nvSpPr>
          <p:cNvPr id="4" name="Text 2"/>
          <p:cNvSpPr/>
          <p:nvPr/>
        </p:nvSpPr>
        <p:spPr>
          <a:xfrm>
            <a:off x="502920" y="1691640"/>
            <a:ext cx="10607040" cy="502920"/>
          </a:xfrm>
          <a:prstGeom prst="rect">
            <a:avLst/>
          </a:prstGeom>
          <a:noFill/>
          <a:ln/>
        </p:spPr>
        <p:txBody>
          <a:bodyPr wrap="square" lIns="0" tIns="0" rIns="0" bIns="0" rtlCol="0" anchor="ctr"/>
          <a:lstStyle/>
          <a:p>
            <a:pPr indent="0" marL="0">
              <a:lnSpc>
                <a:spcPct val="125000"/>
              </a:lnSpc>
              <a:buNone/>
            </a:pPr>
            <a:r>
              <a:rPr lang="en-US" sz="1250" i="1" dirty="0">
                <a:solidFill>
                  <a:srgbClr val="64748B"/>
                </a:solidFill>
                <a:latin typeface="Calibri" pitchFamily="34" charset="0"/>
                <a:ea typeface="Calibri" pitchFamily="34" charset="-122"/>
                <a:cs typeface="Calibri" pitchFamily="34" charset="-120"/>
              </a:rPr>
              <a:t>Analog fault diagnosis has a real research history — this project sits inside an established, active line of work rather than starting from a blank page.</a:t>
            </a:r>
            <a:endParaRPr lang="en-US" sz="1250" dirty="0"/>
          </a:p>
        </p:txBody>
      </p:sp>
      <p:sp>
        <p:nvSpPr>
          <p:cNvPr id="5" name="Shape 3"/>
          <p:cNvSpPr/>
          <p:nvPr/>
        </p:nvSpPr>
        <p:spPr>
          <a:xfrm>
            <a:off x="502920" y="233172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database_00B4D8.png">    </p:cNvPr>
          <p:cNvPicPr>
            <a:picLocks noChangeAspect="1"/>
          </p:cNvPicPr>
          <p:nvPr/>
        </p:nvPicPr>
        <p:blipFill>
          <a:blip r:embed="rId1"/>
          <a:stretch>
            <a:fillRect/>
          </a:stretch>
        </p:blipFill>
        <p:spPr>
          <a:xfrm>
            <a:off x="576986" y="2405786"/>
            <a:ext cx="400507" cy="400507"/>
          </a:xfrm>
          <a:prstGeom prst="rect">
            <a:avLst/>
          </a:prstGeom>
        </p:spPr>
      </p:pic>
      <p:sp>
        <p:nvSpPr>
          <p:cNvPr id="7" name="Text 4"/>
          <p:cNvSpPr/>
          <p:nvPr/>
        </p:nvSpPr>
        <p:spPr>
          <a:xfrm>
            <a:off x="1234440" y="2304288"/>
            <a:ext cx="978408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Classical: fault dictionaries &amp; sensitivity analysis</a:t>
            </a:r>
            <a:endParaRPr lang="en-US" sz="1300" dirty="0"/>
          </a:p>
        </p:txBody>
      </p:sp>
      <p:sp>
        <p:nvSpPr>
          <p:cNvPr id="8" name="Text 5"/>
          <p:cNvSpPr/>
          <p:nvPr/>
        </p:nvSpPr>
        <p:spPr>
          <a:xfrm>
            <a:off x="1234440" y="2651760"/>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4748B"/>
                </a:solidFill>
                <a:latin typeface="Calibri" pitchFamily="34" charset="0"/>
                <a:ea typeface="Calibri" pitchFamily="34" charset="-122"/>
                <a:cs typeface="Calibri" pitchFamily="34" charset="-120"/>
              </a:rPr>
              <a:t>Simulate the circuit under every hypothesized fault ahead of time, build a "dictionary" of expected responses, then match a real measurement against it. Accurate for the exact circuit modeled, but must be rebuilt from scratch for every new topology.</a:t>
            </a:r>
            <a:endParaRPr lang="en-US" sz="1080" dirty="0"/>
          </a:p>
        </p:txBody>
      </p:sp>
      <p:sp>
        <p:nvSpPr>
          <p:cNvPr id="9" name="Shape 6"/>
          <p:cNvSpPr/>
          <p:nvPr/>
        </p:nvSpPr>
        <p:spPr>
          <a:xfrm>
            <a:off x="502920" y="3502152"/>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balance_00B4D8.png">    </p:cNvPr>
          <p:cNvPicPr>
            <a:picLocks noChangeAspect="1"/>
          </p:cNvPicPr>
          <p:nvPr/>
        </p:nvPicPr>
        <p:blipFill>
          <a:blip r:embed="rId2"/>
          <a:stretch>
            <a:fillRect/>
          </a:stretch>
        </p:blipFill>
        <p:spPr>
          <a:xfrm>
            <a:off x="576986" y="3576218"/>
            <a:ext cx="400507" cy="400507"/>
          </a:xfrm>
          <a:prstGeom prst="rect">
            <a:avLst/>
          </a:prstGeom>
        </p:spPr>
      </p:pic>
      <p:sp>
        <p:nvSpPr>
          <p:cNvPr id="11" name="Text 7"/>
          <p:cNvSpPr/>
          <p:nvPr/>
        </p:nvSpPr>
        <p:spPr>
          <a:xfrm>
            <a:off x="1234440" y="3474720"/>
            <a:ext cx="978408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 standard split this project mirrors: soft vs. hard faults</a:t>
            </a:r>
            <a:endParaRPr lang="en-US" sz="1300" dirty="0"/>
          </a:p>
        </p:txBody>
      </p:sp>
      <p:sp>
        <p:nvSpPr>
          <p:cNvPr id="12" name="Text 8"/>
          <p:cNvSpPr/>
          <p:nvPr/>
        </p:nvSpPr>
        <p:spPr>
          <a:xfrm>
            <a:off x="1234440" y="3822192"/>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4748B"/>
                </a:solidFill>
                <a:latin typeface="Calibri" pitchFamily="34" charset="0"/>
                <a:ea typeface="Calibri" pitchFamily="34" charset="-122"/>
                <a:cs typeface="Calibri" pitchFamily="34" charset="-120"/>
              </a:rPr>
              <a:t>The literature separates gradual, within/beyond-tolerance parameter drift ("soft faults") from catastrophic opens and shorts ("hard faults"). This project's five categories — Normal, Drift, Open, Short, Noise — map directly onto that same split.</a:t>
            </a:r>
            <a:endParaRPr lang="en-US" sz="1080" dirty="0"/>
          </a:p>
        </p:txBody>
      </p:sp>
      <p:sp>
        <p:nvSpPr>
          <p:cNvPr id="13" name="Shape 9"/>
          <p:cNvSpPr/>
          <p:nvPr/>
        </p:nvSpPr>
        <p:spPr>
          <a:xfrm>
            <a:off x="502920" y="4672584"/>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2" descr="/sessions/blissful-zealous-babbage/mnt/outputs/ppt/icons/brain_00B4D8.png">    </p:cNvPr>
          <p:cNvPicPr>
            <a:picLocks noChangeAspect="1"/>
          </p:cNvPicPr>
          <p:nvPr/>
        </p:nvPicPr>
        <p:blipFill>
          <a:blip r:embed="rId3"/>
          <a:stretch>
            <a:fillRect/>
          </a:stretch>
        </p:blipFill>
        <p:spPr>
          <a:xfrm>
            <a:off x="576986" y="4746650"/>
            <a:ext cx="400507" cy="400507"/>
          </a:xfrm>
          <a:prstGeom prst="rect">
            <a:avLst/>
          </a:prstGeom>
        </p:spPr>
      </p:pic>
      <p:sp>
        <p:nvSpPr>
          <p:cNvPr id="15" name="Text 10"/>
          <p:cNvSpPr/>
          <p:nvPr/>
        </p:nvSpPr>
        <p:spPr>
          <a:xfrm>
            <a:off x="1234440" y="4645152"/>
            <a:ext cx="978408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Machine-learning classifiers are now the mainstream approach</a:t>
            </a:r>
            <a:endParaRPr lang="en-US" sz="1300" dirty="0"/>
          </a:p>
        </p:txBody>
      </p:sp>
      <p:sp>
        <p:nvSpPr>
          <p:cNvPr id="16" name="Text 11"/>
          <p:cNvSpPr/>
          <p:nvPr/>
        </p:nvSpPr>
        <p:spPr>
          <a:xfrm>
            <a:off x="1234440" y="4992624"/>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4748B"/>
                </a:solidFill>
                <a:latin typeface="Calibri" pitchFamily="34" charset="0"/>
                <a:ea typeface="Calibri" pitchFamily="34" charset="-122"/>
                <a:cs typeface="Calibri" pitchFamily="34" charset="-120"/>
              </a:rPr>
              <a:t>Recent published work applies SVMs, k-NN, ensemble methods and CNNs to extracted or raw-waveform features for analog soft-fault diagnosis, with SVM-based studies frequently reporting 95%+ accuracy — but almost always on a single circuit at a time.</a:t>
            </a:r>
            <a:endParaRPr lang="en-US" sz="1080" dirty="0"/>
          </a:p>
        </p:txBody>
      </p:sp>
      <p:sp>
        <p:nvSpPr>
          <p:cNvPr id="17" name="Shape 12"/>
          <p:cNvSpPr/>
          <p:nvPr/>
        </p:nvSpPr>
        <p:spPr>
          <a:xfrm>
            <a:off x="502920" y="5870448"/>
            <a:ext cx="10607040" cy="548640"/>
          </a:xfrm>
          <a:prstGeom prst="roundRect">
            <a:avLst>
              <a:gd name="adj" fmla="val 13333"/>
            </a:avLst>
          </a:prstGeom>
          <a:solidFill>
            <a:srgbClr val="0B1F3A"/>
          </a:solidFill>
          <a:ln/>
          <a:effectLst>
            <a:outerShdw sx="100000" sy="100000" kx="0" ky="0" algn="bl" rotWithShape="0" blurRad="114300" dist="38100" dir="2700000">
              <a:srgbClr val="0B1F3A">
                <a:alpha val="14000"/>
              </a:srgbClr>
            </a:outerShdw>
          </a:effectLst>
        </p:spPr>
      </p:sp>
      <p:sp>
        <p:nvSpPr>
          <p:cNvPr id="18" name="Text 13"/>
          <p:cNvSpPr/>
          <p:nvPr/>
        </p:nvSpPr>
        <p:spPr>
          <a:xfrm>
            <a:off x="758952" y="5870448"/>
            <a:ext cx="10104120" cy="548640"/>
          </a:xfrm>
          <a:prstGeom prst="rect">
            <a:avLst/>
          </a:prstGeom>
          <a:noFill/>
          <a:ln/>
        </p:spPr>
        <p:txBody>
          <a:bodyPr wrap="square" lIns="0" tIns="0" rIns="0" bIns="0" rtlCol="0" anchor="ctr"/>
          <a:lstStyle/>
          <a:p>
            <a:pPr indent="0" marL="0">
              <a:lnSpc>
                <a:spcPct val="112000"/>
              </a:lnSpc>
              <a:buNone/>
            </a:pPr>
            <a:r>
              <a:rPr lang="en-US" sz="930" b="1" dirty="0">
                <a:solidFill>
                  <a:srgbClr val="FFB703"/>
                </a:solidFill>
                <a:latin typeface="Calibri" pitchFamily="34" charset="0"/>
                <a:ea typeface="Calibri" pitchFamily="34" charset="-122"/>
                <a:cs typeface="Calibri" pitchFamily="34" charset="-120"/>
              </a:rPr>
              <a:t>What differs here: </a:t>
            </a:r>
            <a:pPr indent="0" marL="0">
              <a:lnSpc>
                <a:spcPct val="112000"/>
              </a:lnSpc>
              <a:buNone/>
            </a:pPr>
            <a:r>
              <a:rPr lang="en-US" sz="930" dirty="0">
                <a:solidFill>
                  <a:srgbClr val="E7ECF4"/>
                </a:solidFill>
                <a:latin typeface="Calibri" pitchFamily="34" charset="0"/>
                <a:ea typeface="Calibri" pitchFamily="34" charset="-122"/>
                <a:cs typeface="Calibri" pitchFamily="34" charset="-120"/>
              </a:rPr>
              <a:t>most studies tune a classifier for one circuit. This project trains one SVM across four topologies at once, uses only physics-based (non-augmented) data, and adds a topology-aware correction step — part of why 78.43% sits below single-circuit literature numbers, on a harder, multi-topology problem.</a:t>
            </a:r>
            <a:endParaRPr lang="en-US" sz="930" dirty="0"/>
          </a:p>
        </p:txBody>
      </p:sp>
      <p:sp>
        <p:nvSpPr>
          <p:cNvPr id="19"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0"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PROBLEM STATEMENT &amp; OBJECTIVE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One Waveform In. One Diagnosis Out.</a:t>
            </a:r>
            <a:endParaRPr lang="en-US" sz="3000" dirty="0"/>
          </a:p>
        </p:txBody>
      </p:sp>
      <p:sp>
        <p:nvSpPr>
          <p:cNvPr id="4" name="Text 2"/>
          <p:cNvSpPr/>
          <p:nvPr/>
        </p:nvSpPr>
        <p:spPr>
          <a:xfrm>
            <a:off x="502920" y="1691640"/>
            <a:ext cx="10607040" cy="822960"/>
          </a:xfrm>
          <a:prstGeom prst="rect">
            <a:avLst/>
          </a:prstGeom>
          <a:noFill/>
          <a:ln/>
        </p:spPr>
        <p:txBody>
          <a:bodyPr wrap="square" lIns="0" tIns="0" rIns="0" bIns="0" rtlCol="0" anchor="ctr"/>
          <a:lstStyle/>
          <a:p>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Given the transient output voltage of an unknown analog circuit, automatically identify </a:t>
            </a:r>
            <a:pPr indent="0" marL="0">
              <a:lnSpc>
                <a:spcPct val="125000"/>
              </a:lnSpc>
              <a:buNone/>
            </a:pPr>
            <a:r>
              <a:rPr lang="en-US" sz="1400" b="1" dirty="0">
                <a:solidFill>
                  <a:srgbClr val="0B1F3A"/>
                </a:solidFill>
                <a:latin typeface="Calibri" pitchFamily="34" charset="0"/>
                <a:ea typeface="Calibri" pitchFamily="34" charset="-122"/>
                <a:cs typeface="Calibri" pitchFamily="34" charset="-120"/>
              </a:rPr>
              <a:t>which circuit topology</a:t>
            </a:r>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 it is and </a:t>
            </a:r>
            <a:pPr indent="0" marL="0">
              <a:lnSpc>
                <a:spcPct val="125000"/>
              </a:lnSpc>
              <a:buNone/>
            </a:pPr>
            <a:r>
              <a:rPr lang="en-US" sz="1400" b="1" dirty="0">
                <a:solidFill>
                  <a:srgbClr val="0B1F3A"/>
                </a:solidFill>
                <a:latin typeface="Calibri" pitchFamily="34" charset="0"/>
                <a:ea typeface="Calibri" pitchFamily="34" charset="-122"/>
                <a:cs typeface="Calibri" pitchFamily="34" charset="-120"/>
              </a:rPr>
              <a:t>which of five fault conditions</a:t>
            </a:r>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 it is currently experiencing — a 20-class classification problem solved end-to-end with physics-based simulation and a tuned SVM.</a:t>
            </a:r>
            <a:endParaRPr lang="en-US" sz="1400" dirty="0"/>
          </a:p>
        </p:txBody>
      </p:sp>
      <p:sp>
        <p:nvSpPr>
          <p:cNvPr id="5" name="Shape 3"/>
          <p:cNvSpPr/>
          <p:nvPr/>
        </p:nvSpPr>
        <p:spPr>
          <a:xfrm>
            <a:off x="502920"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502920"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4</a:t>
            </a:r>
            <a:endParaRPr lang="en-US" sz="3600" dirty="0"/>
          </a:p>
        </p:txBody>
      </p:sp>
      <p:sp>
        <p:nvSpPr>
          <p:cNvPr id="7" name="Text 5"/>
          <p:cNvSpPr/>
          <p:nvPr/>
        </p:nvSpPr>
        <p:spPr>
          <a:xfrm>
            <a:off x="640080"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Circuit Topologies</a:t>
            </a:r>
            <a:endParaRPr lang="en-US" sz="1250" dirty="0"/>
          </a:p>
        </p:txBody>
      </p:sp>
      <p:sp>
        <p:nvSpPr>
          <p:cNvPr id="8" name="Text 6"/>
          <p:cNvSpPr/>
          <p:nvPr/>
        </p:nvSpPr>
        <p:spPr>
          <a:xfrm>
            <a:off x="640080"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RC · RLC · Sallen-Key · RC Ladder</a:t>
            </a:r>
            <a:endParaRPr lang="en-US" sz="900" dirty="0"/>
          </a:p>
        </p:txBody>
      </p:sp>
      <p:sp>
        <p:nvSpPr>
          <p:cNvPr id="9" name="Shape 7"/>
          <p:cNvSpPr/>
          <p:nvPr/>
        </p:nvSpPr>
        <p:spPr>
          <a:xfrm>
            <a:off x="3300984"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0" name="Text 8"/>
          <p:cNvSpPr/>
          <p:nvPr/>
        </p:nvSpPr>
        <p:spPr>
          <a:xfrm>
            <a:off x="3300984"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5</a:t>
            </a:r>
            <a:endParaRPr lang="en-US" sz="3600" dirty="0"/>
          </a:p>
        </p:txBody>
      </p:sp>
      <p:sp>
        <p:nvSpPr>
          <p:cNvPr id="11" name="Text 9"/>
          <p:cNvSpPr/>
          <p:nvPr/>
        </p:nvSpPr>
        <p:spPr>
          <a:xfrm>
            <a:off x="3438144"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Fault Types</a:t>
            </a:r>
            <a:endParaRPr lang="en-US" sz="1250" dirty="0"/>
          </a:p>
        </p:txBody>
      </p:sp>
      <p:sp>
        <p:nvSpPr>
          <p:cNvPr id="12" name="Text 10"/>
          <p:cNvSpPr/>
          <p:nvPr/>
        </p:nvSpPr>
        <p:spPr>
          <a:xfrm>
            <a:off x="3438144"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Normal, Drift, Open, Short, Noise</a:t>
            </a:r>
            <a:endParaRPr lang="en-US" sz="900" dirty="0"/>
          </a:p>
        </p:txBody>
      </p:sp>
      <p:sp>
        <p:nvSpPr>
          <p:cNvPr id="13" name="Shape 11"/>
          <p:cNvSpPr/>
          <p:nvPr/>
        </p:nvSpPr>
        <p:spPr>
          <a:xfrm>
            <a:off x="6099048"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4" name="Text 12"/>
          <p:cNvSpPr/>
          <p:nvPr/>
        </p:nvSpPr>
        <p:spPr>
          <a:xfrm>
            <a:off x="6099048"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20</a:t>
            </a:r>
            <a:endParaRPr lang="en-US" sz="3600" dirty="0"/>
          </a:p>
        </p:txBody>
      </p:sp>
      <p:sp>
        <p:nvSpPr>
          <p:cNvPr id="15" name="Text 13"/>
          <p:cNvSpPr/>
          <p:nvPr/>
        </p:nvSpPr>
        <p:spPr>
          <a:xfrm>
            <a:off x="6236208"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Total Classes</a:t>
            </a:r>
            <a:endParaRPr lang="en-US" sz="1250" dirty="0"/>
          </a:p>
        </p:txBody>
      </p:sp>
      <p:sp>
        <p:nvSpPr>
          <p:cNvPr id="16" name="Text 14"/>
          <p:cNvSpPr/>
          <p:nvPr/>
        </p:nvSpPr>
        <p:spPr>
          <a:xfrm>
            <a:off x="6236208"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4 circuits × 5 fault conditions</a:t>
            </a:r>
            <a:endParaRPr lang="en-US" sz="900" dirty="0"/>
          </a:p>
        </p:txBody>
      </p:sp>
      <p:sp>
        <p:nvSpPr>
          <p:cNvPr id="17" name="Shape 15"/>
          <p:cNvSpPr/>
          <p:nvPr/>
        </p:nvSpPr>
        <p:spPr>
          <a:xfrm>
            <a:off x="8897112"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8" name="Text 16"/>
          <p:cNvSpPr/>
          <p:nvPr/>
        </p:nvSpPr>
        <p:spPr>
          <a:xfrm>
            <a:off x="8897112"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1019</a:t>
            </a:r>
            <a:endParaRPr lang="en-US" sz="3600" dirty="0"/>
          </a:p>
        </p:txBody>
      </p:sp>
      <p:sp>
        <p:nvSpPr>
          <p:cNvPr id="19" name="Text 17"/>
          <p:cNvSpPr/>
          <p:nvPr/>
        </p:nvSpPr>
        <p:spPr>
          <a:xfrm>
            <a:off x="9034272"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Real Samples</a:t>
            </a:r>
            <a:endParaRPr lang="en-US" sz="1250" dirty="0"/>
          </a:p>
        </p:txBody>
      </p:sp>
      <p:sp>
        <p:nvSpPr>
          <p:cNvPr id="20" name="Text 18"/>
          <p:cNvSpPr/>
          <p:nvPr/>
        </p:nvSpPr>
        <p:spPr>
          <a:xfrm>
            <a:off x="9034272"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From physics-based LTspice sweeps</a:t>
            </a:r>
            <a:endParaRPr lang="en-US" sz="900" dirty="0"/>
          </a:p>
        </p:txBody>
      </p:sp>
      <p:sp>
        <p:nvSpPr>
          <p:cNvPr id="21" name="Shape 19"/>
          <p:cNvSpPr/>
          <p:nvPr/>
        </p:nvSpPr>
        <p:spPr>
          <a:xfrm>
            <a:off x="502920" y="4663440"/>
            <a:ext cx="10607040" cy="1325880"/>
          </a:xfrm>
          <a:prstGeom prst="roundRect">
            <a:avLst>
              <a:gd name="adj" fmla="val 620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2" name="Shape 20"/>
          <p:cNvSpPr/>
          <p:nvPr/>
        </p:nvSpPr>
        <p:spPr>
          <a:xfrm>
            <a:off x="777240" y="4956048"/>
            <a:ext cx="621792" cy="621792"/>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23" name="Image 0" descr="/sessions/blissful-zealous-babbage/mnt/outputs/ppt/icons/bulb_0B1F3A.png">    </p:cNvPr>
          <p:cNvPicPr>
            <a:picLocks noChangeAspect="1"/>
          </p:cNvPicPr>
          <p:nvPr/>
        </p:nvPicPr>
        <p:blipFill>
          <a:blip r:embed="rId1"/>
          <a:stretch>
            <a:fillRect/>
          </a:stretch>
        </p:blipFill>
        <p:spPr>
          <a:xfrm>
            <a:off x="861182" y="5039990"/>
            <a:ext cx="453908" cy="453908"/>
          </a:xfrm>
          <a:prstGeom prst="rect">
            <a:avLst/>
          </a:prstGeom>
        </p:spPr>
      </p:pic>
      <p:sp>
        <p:nvSpPr>
          <p:cNvPr id="24" name="Text 21"/>
          <p:cNvSpPr/>
          <p:nvPr/>
        </p:nvSpPr>
        <p:spPr>
          <a:xfrm>
            <a:off x="1600200" y="4800600"/>
            <a:ext cx="9235440" cy="1051560"/>
          </a:xfrm>
          <a:prstGeom prst="rect">
            <a:avLst/>
          </a:prstGeom>
          <a:noFill/>
          <a:ln/>
        </p:spPr>
        <p:txBody>
          <a:bodyPr wrap="square" lIns="0" tIns="0" rIns="0" bIns="0" rtlCol="0" anchor="ctr"/>
          <a:lstStyle/>
          <a:p>
            <a:pPr indent="0" marL="0">
              <a:lnSpc>
                <a:spcPct val="125000"/>
              </a:lnSpc>
              <a:buNone/>
            </a:pPr>
            <a:r>
              <a:rPr lang="en-US" sz="1200" b="1" dirty="0">
                <a:solidFill>
                  <a:srgbClr val="0B1F3A"/>
                </a:solidFill>
                <a:latin typeface="Calibri" pitchFamily="34" charset="0"/>
                <a:ea typeface="Calibri" pitchFamily="34" charset="-122"/>
                <a:cs typeface="Calibri" pitchFamily="34" charset="-120"/>
              </a:rPr>
              <a:t>What's novel here: </a:t>
            </a:r>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the training data comes entirely from real LTspice physics (no synthetic augmentation), and a topology-aware correction rule catches physically impossible predictions — two choices that trade a higher but hollow accuracy for a lower, trustworthy one.</a:t>
            </a:r>
            <a:endParaRPr lang="en-US" sz="1200" dirty="0"/>
          </a:p>
        </p:txBody>
      </p:sp>
      <p:sp>
        <p:nvSpPr>
          <p:cNvPr id="25"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Five Ways an Analog Circuit Can Misbehave</a:t>
            </a:r>
            <a:endParaRPr lang="en-US" sz="3000" dirty="0"/>
          </a:p>
        </p:txBody>
      </p:sp>
      <p:sp>
        <p:nvSpPr>
          <p:cNvPr id="4" name="Shape 2"/>
          <p:cNvSpPr/>
          <p:nvPr/>
        </p:nvSpPr>
        <p:spPr>
          <a:xfrm>
            <a:off x="502920"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170432" y="2121408"/>
            <a:ext cx="731520" cy="731520"/>
          </a:xfrm>
          <a:prstGeom prst="ellipse">
            <a:avLst/>
          </a:prstGeom>
          <a:solidFill>
            <a:srgbClr val="5EAE7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eck_FFFFFF.png">    </p:cNvPr>
          <p:cNvPicPr>
            <a:picLocks noChangeAspect="1"/>
          </p:cNvPicPr>
          <p:nvPr/>
        </p:nvPicPr>
        <p:blipFill>
          <a:blip r:embed="rId1"/>
          <a:stretch>
            <a:fillRect/>
          </a:stretch>
        </p:blipFill>
        <p:spPr>
          <a:xfrm>
            <a:off x="1269187" y="2220163"/>
            <a:ext cx="534010" cy="534010"/>
          </a:xfrm>
          <a:prstGeom prst="rect">
            <a:avLst/>
          </a:prstGeom>
        </p:spPr>
      </p:pic>
      <p:sp>
        <p:nvSpPr>
          <p:cNvPr id="7" name="Text 4"/>
          <p:cNvSpPr/>
          <p:nvPr/>
        </p:nvSpPr>
        <p:spPr>
          <a:xfrm>
            <a:off x="612648"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Normal</a:t>
            </a:r>
            <a:endParaRPr lang="en-US" sz="1700" dirty="0"/>
          </a:p>
        </p:txBody>
      </p:sp>
      <p:sp>
        <p:nvSpPr>
          <p:cNvPr id="8" name="Text 5"/>
          <p:cNvSpPr/>
          <p:nvPr/>
        </p:nvSpPr>
        <p:spPr>
          <a:xfrm>
            <a:off x="685800"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Component values sit at their nominal, healthy design point.</a:t>
            </a:r>
            <a:endParaRPr lang="en-US" sz="1050" dirty="0"/>
          </a:p>
        </p:txBody>
      </p:sp>
      <p:sp>
        <p:nvSpPr>
          <p:cNvPr id="9" name="Shape 6"/>
          <p:cNvSpPr/>
          <p:nvPr/>
        </p:nvSpPr>
        <p:spPr>
          <a:xfrm>
            <a:off x="2738628"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3406140" y="2121408"/>
            <a:ext cx="731520" cy="73152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chartline_FFFFFF.png">    </p:cNvPr>
          <p:cNvPicPr>
            <a:picLocks noChangeAspect="1"/>
          </p:cNvPicPr>
          <p:nvPr/>
        </p:nvPicPr>
        <p:blipFill>
          <a:blip r:embed="rId2"/>
          <a:stretch>
            <a:fillRect/>
          </a:stretch>
        </p:blipFill>
        <p:spPr>
          <a:xfrm>
            <a:off x="3504895" y="2220163"/>
            <a:ext cx="534010" cy="534010"/>
          </a:xfrm>
          <a:prstGeom prst="rect">
            <a:avLst/>
          </a:prstGeom>
        </p:spPr>
      </p:pic>
      <p:sp>
        <p:nvSpPr>
          <p:cNvPr id="12" name="Text 8"/>
          <p:cNvSpPr/>
          <p:nvPr/>
        </p:nvSpPr>
        <p:spPr>
          <a:xfrm>
            <a:off x="2848356"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Drift</a:t>
            </a:r>
            <a:endParaRPr lang="en-US" sz="1700" dirty="0"/>
          </a:p>
        </p:txBody>
      </p:sp>
      <p:sp>
        <p:nvSpPr>
          <p:cNvPr id="13" name="Text 9"/>
          <p:cNvSpPr/>
          <p:nvPr/>
        </p:nvSpPr>
        <p:spPr>
          <a:xfrm>
            <a:off x="2921508"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value slowly shifts from nominal — aging, temperature, wear.</a:t>
            </a:r>
            <a:endParaRPr lang="en-US" sz="1050" dirty="0"/>
          </a:p>
        </p:txBody>
      </p:sp>
      <p:sp>
        <p:nvSpPr>
          <p:cNvPr id="14" name="Shape 10"/>
          <p:cNvSpPr/>
          <p:nvPr/>
        </p:nvSpPr>
        <p:spPr>
          <a:xfrm>
            <a:off x="4974336"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5641848" y="2121408"/>
            <a:ext cx="731520" cy="7315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plug_FFFFFF.png">    </p:cNvPr>
          <p:cNvPicPr>
            <a:picLocks noChangeAspect="1"/>
          </p:cNvPicPr>
          <p:nvPr/>
        </p:nvPicPr>
        <p:blipFill>
          <a:blip r:embed="rId3"/>
          <a:stretch>
            <a:fillRect/>
          </a:stretch>
        </p:blipFill>
        <p:spPr>
          <a:xfrm>
            <a:off x="5740603" y="2220163"/>
            <a:ext cx="534010" cy="534010"/>
          </a:xfrm>
          <a:prstGeom prst="rect">
            <a:avLst/>
          </a:prstGeom>
        </p:spPr>
      </p:pic>
      <p:sp>
        <p:nvSpPr>
          <p:cNvPr id="17" name="Text 12"/>
          <p:cNvSpPr/>
          <p:nvPr/>
        </p:nvSpPr>
        <p:spPr>
          <a:xfrm>
            <a:off x="5084064"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Open</a:t>
            </a:r>
            <a:endParaRPr lang="en-US" sz="1700" dirty="0"/>
          </a:p>
        </p:txBody>
      </p:sp>
      <p:sp>
        <p:nvSpPr>
          <p:cNvPr id="18" name="Text 13"/>
          <p:cNvSpPr/>
          <p:nvPr/>
        </p:nvSpPr>
        <p:spPr>
          <a:xfrm>
            <a:off x="5157216"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disconnects entirely — an infinite-resistance break in the path.</a:t>
            </a:r>
            <a:endParaRPr lang="en-US" sz="1050" dirty="0"/>
          </a:p>
        </p:txBody>
      </p:sp>
      <p:sp>
        <p:nvSpPr>
          <p:cNvPr id="19" name="Shape 14"/>
          <p:cNvSpPr/>
          <p:nvPr/>
        </p:nvSpPr>
        <p:spPr>
          <a:xfrm>
            <a:off x="7210044"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7877556" y="2121408"/>
            <a:ext cx="731520" cy="73152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bolt_FFFFFF.png">    </p:cNvPr>
          <p:cNvPicPr>
            <a:picLocks noChangeAspect="1"/>
          </p:cNvPicPr>
          <p:nvPr/>
        </p:nvPicPr>
        <p:blipFill>
          <a:blip r:embed="rId4"/>
          <a:stretch>
            <a:fillRect/>
          </a:stretch>
        </p:blipFill>
        <p:spPr>
          <a:xfrm>
            <a:off x="7976311" y="2220163"/>
            <a:ext cx="534010" cy="534010"/>
          </a:xfrm>
          <a:prstGeom prst="rect">
            <a:avLst/>
          </a:prstGeom>
        </p:spPr>
      </p:pic>
      <p:sp>
        <p:nvSpPr>
          <p:cNvPr id="22" name="Text 16"/>
          <p:cNvSpPr/>
          <p:nvPr/>
        </p:nvSpPr>
        <p:spPr>
          <a:xfrm>
            <a:off x="7319772"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Short</a:t>
            </a:r>
            <a:endParaRPr lang="en-US" sz="1700" dirty="0"/>
          </a:p>
        </p:txBody>
      </p:sp>
      <p:sp>
        <p:nvSpPr>
          <p:cNvPr id="23" name="Text 17"/>
          <p:cNvSpPr/>
          <p:nvPr/>
        </p:nvSpPr>
        <p:spPr>
          <a:xfrm>
            <a:off x="7392924"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is bypassed — a near-zero-resistance path forms across it.</a:t>
            </a:r>
            <a:endParaRPr lang="en-US" sz="1050" dirty="0"/>
          </a:p>
        </p:txBody>
      </p:sp>
      <p:sp>
        <p:nvSpPr>
          <p:cNvPr id="24" name="Shape 18"/>
          <p:cNvSpPr/>
          <p:nvPr/>
        </p:nvSpPr>
        <p:spPr>
          <a:xfrm>
            <a:off x="9445752"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10113264" y="2121408"/>
            <a:ext cx="731520" cy="731520"/>
          </a:xfrm>
          <a:prstGeom prst="ellipse">
            <a:avLst/>
          </a:prstGeom>
          <a:solidFill>
            <a:srgbClr val="8E5AA8"/>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random_FFFFFF.png">    </p:cNvPr>
          <p:cNvPicPr>
            <a:picLocks noChangeAspect="1"/>
          </p:cNvPicPr>
          <p:nvPr/>
        </p:nvPicPr>
        <p:blipFill>
          <a:blip r:embed="rId5"/>
          <a:stretch>
            <a:fillRect/>
          </a:stretch>
        </p:blipFill>
        <p:spPr>
          <a:xfrm>
            <a:off x="10212019" y="2220163"/>
            <a:ext cx="534010" cy="534010"/>
          </a:xfrm>
          <a:prstGeom prst="rect">
            <a:avLst/>
          </a:prstGeom>
        </p:spPr>
      </p:pic>
      <p:sp>
        <p:nvSpPr>
          <p:cNvPr id="27" name="Text 20"/>
          <p:cNvSpPr/>
          <p:nvPr/>
        </p:nvSpPr>
        <p:spPr>
          <a:xfrm>
            <a:off x="9555480"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Noise</a:t>
            </a:r>
            <a:endParaRPr lang="en-US" sz="1700" dirty="0"/>
          </a:p>
        </p:txBody>
      </p:sp>
      <p:sp>
        <p:nvSpPr>
          <p:cNvPr id="28" name="Text 21"/>
          <p:cNvSpPr/>
          <p:nvPr/>
        </p:nvSpPr>
        <p:spPr>
          <a:xfrm>
            <a:off x="9628632"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Random disturbance is superimposed on an otherwise healthy signal.</a:t>
            </a:r>
            <a:endParaRPr lang="en-US" sz="1050" dirty="0"/>
          </a:p>
        </p:txBody>
      </p:sp>
      <p:sp>
        <p:nvSpPr>
          <p:cNvPr id="29"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0"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Drift</a:t>
            </a:r>
            <a:endParaRPr lang="en-US" sz="3000" dirty="0"/>
          </a:p>
        </p:txBody>
      </p:sp>
      <p:sp>
        <p:nvSpPr>
          <p:cNvPr id="4" name="Text 2"/>
          <p:cNvSpPr/>
          <p:nvPr/>
        </p:nvSpPr>
        <p:spPr>
          <a:xfrm>
            <a:off x="502920" y="1783080"/>
            <a:ext cx="5760720" cy="105156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Drift models a component value that has </a:t>
            </a:r>
            <a:pPr indent="0" marL="0">
              <a:lnSpc>
                <a:spcPct val="130000"/>
              </a:lnSpc>
              <a:buNone/>
            </a:pPr>
            <a:r>
              <a:rPr lang="en-US" sz="1350" b="1" i="1" dirty="0">
                <a:solidFill>
                  <a:srgbClr val="0B1F3A"/>
                </a:solidFill>
                <a:latin typeface="Calibri" pitchFamily="34" charset="0"/>
                <a:ea typeface="Calibri" pitchFamily="34" charset="-122"/>
                <a:cs typeface="Calibri" pitchFamily="34" charset="-120"/>
              </a:rPr>
              <a:t>gradually</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moved away from its design value — the most physically realistic and hardest-to-catch fault, since aging and temperature affect every real component.</a:t>
            </a:r>
            <a:endParaRPr lang="en-US" sz="1350" dirty="0"/>
          </a:p>
        </p:txBody>
      </p:sp>
      <p:sp>
        <p:nvSpPr>
          <p:cNvPr id="5" name="Shape 3"/>
          <p:cNvSpPr/>
          <p:nvPr/>
        </p:nvSpPr>
        <p:spPr>
          <a:xfrm>
            <a:off x="502920" y="2971800"/>
            <a:ext cx="5760720" cy="1234440"/>
          </a:xfrm>
          <a:prstGeom prst="roundRect">
            <a:avLst>
              <a:gd name="adj" fmla="val 592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108960"/>
            <a:ext cx="5212080" cy="960120"/>
          </a:xfrm>
          <a:prstGeom prst="rect">
            <a:avLst/>
          </a:prstGeom>
          <a:noFill/>
          <a:ln/>
        </p:spPr>
        <p:txBody>
          <a:bodyPr wrap="square" lIns="0" tIns="0" rIns="0" bIns="0" rtlCol="0" anchor="ctr"/>
          <a:lstStyle/>
          <a:p>
            <a:pPr algn="l" indent="0" marL="0">
              <a:lnSpc>
                <a:spcPct val="140000"/>
              </a:lnSpc>
              <a:buNone/>
            </a:pPr>
            <a:r>
              <a:rPr lang="en-US" sz="1600" dirty="0">
                <a:solidFill>
                  <a:srgbClr val="FFB703"/>
                </a:solidFill>
                <a:latin typeface="Courier New" pitchFamily="34" charset="0"/>
                <a:ea typeface="Courier New" pitchFamily="34" charset="-122"/>
                <a:cs typeface="Courier New" pitchFamily="34" charset="-120"/>
              </a:rPr>
              <a:t>R(t) = R0 · (1 + delta)</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delta = fractional deviation from nominal</a:t>
            </a:r>
            <a:endParaRPr lang="en-US" sz="1600" dirty="0"/>
          </a:p>
        </p:txBody>
      </p:sp>
      <p:sp>
        <p:nvSpPr>
          <p:cNvPr id="7" name="Text 5"/>
          <p:cNvSpPr/>
          <p:nvPr/>
        </p:nvSpPr>
        <p:spPr>
          <a:xfrm>
            <a:off x="502920" y="4434840"/>
            <a:ext cx="5760720" cy="109728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In this project, drift is generated by sweeping the same component (R or L) across a wide but realistic range with LTspice's .step param directive — not a single fixed shift, but a whole family of plausible drifted values.</a:t>
            </a:r>
            <a:endParaRPr lang="en-US" sz="1150" dirty="0"/>
          </a:p>
        </p:txBody>
      </p:sp>
      <p:sp>
        <p:nvSpPr>
          <p:cNvPr id="8" name="Shape 6"/>
          <p:cNvSpPr/>
          <p:nvPr/>
        </p:nvSpPr>
        <p:spPr>
          <a:xfrm>
            <a:off x="6675120" y="1783080"/>
            <a:ext cx="4434840" cy="3749040"/>
          </a:xfrm>
          <a:prstGeom prst="roundRect">
            <a:avLst>
              <a:gd name="adj" fmla="val 219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9" name="Shape 7"/>
          <p:cNvSpPr/>
          <p:nvPr/>
        </p:nvSpPr>
        <p:spPr>
          <a:xfrm>
            <a:off x="6949440" y="2057400"/>
            <a:ext cx="566928" cy="566928"/>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0" name="Image 0" descr="/sessions/blissful-zealous-babbage/mnt/outputs/ppt/icons/warn_0B1F3A.png">    </p:cNvPr>
          <p:cNvPicPr>
            <a:picLocks noChangeAspect="1"/>
          </p:cNvPicPr>
          <p:nvPr/>
        </p:nvPicPr>
        <p:blipFill>
          <a:blip r:embed="rId1"/>
          <a:stretch>
            <a:fillRect/>
          </a:stretch>
        </p:blipFill>
        <p:spPr>
          <a:xfrm>
            <a:off x="7025975" y="2133935"/>
            <a:ext cx="413857" cy="413857"/>
          </a:xfrm>
          <a:prstGeom prst="rect">
            <a:avLst/>
          </a:prstGeom>
        </p:spPr>
      </p:pic>
      <p:sp>
        <p:nvSpPr>
          <p:cNvPr id="11" name="Text 8"/>
          <p:cNvSpPr/>
          <p:nvPr/>
        </p:nvSpPr>
        <p:spPr>
          <a:xfrm>
            <a:off x="7680960" y="2103120"/>
            <a:ext cx="31089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Why it's the hardest fault</a:t>
            </a:r>
            <a:endParaRPr lang="en-US" sz="1350" dirty="0"/>
          </a:p>
        </p:txBody>
      </p:sp>
      <p:sp>
        <p:nvSpPr>
          <p:cNvPr id="12" name="Text 9"/>
          <p:cNvSpPr/>
          <p:nvPr/>
        </p:nvSpPr>
        <p:spPr>
          <a:xfrm>
            <a:off x="6949440" y="2697480"/>
            <a:ext cx="3886200" cy="2651760"/>
          </a:xfrm>
          <a:prstGeom prst="rect">
            <a:avLst/>
          </a:prstGeom>
          <a:noFill/>
          <a:ln/>
        </p:spPr>
        <p:txBody>
          <a:bodyPr wrap="square" lIns="0" tIns="0" rIns="0" bIns="0"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Unlike open/short (extreme, obvious limits), drift sits on a continuum right next to “normal.” Later in Results, drift turns out to be the single hardest fault type to classify across every circuit in this project.</a:t>
            </a:r>
            <a:endParaRPr lang="en-US" sz="1100" dirty="0"/>
          </a:p>
        </p:txBody>
      </p:sp>
      <p:sp>
        <p:nvSpPr>
          <p:cNvPr id="13"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Open &amp; Short</a:t>
            </a:r>
            <a:endParaRPr lang="en-US" sz="3000" dirty="0"/>
          </a:p>
        </p:txBody>
      </p:sp>
      <p:sp>
        <p:nvSpPr>
          <p:cNvPr id="4" name="Shape 2"/>
          <p:cNvSpPr/>
          <p:nvPr/>
        </p:nvSpPr>
        <p:spPr>
          <a:xfrm>
            <a:off x="502920" y="178308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77240" y="205740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plug_00B4D8.png">    </p:cNvPr>
          <p:cNvPicPr>
            <a:picLocks noChangeAspect="1"/>
          </p:cNvPicPr>
          <p:nvPr/>
        </p:nvPicPr>
        <p:blipFill>
          <a:blip r:embed="rId1"/>
          <a:stretch>
            <a:fillRect/>
          </a:stretch>
        </p:blipFill>
        <p:spPr>
          <a:xfrm>
            <a:off x="857479" y="2137639"/>
            <a:ext cx="433883" cy="433883"/>
          </a:xfrm>
          <a:prstGeom prst="rect">
            <a:avLst/>
          </a:prstGeom>
        </p:spPr>
      </p:pic>
      <p:sp>
        <p:nvSpPr>
          <p:cNvPr id="7" name="Text 4"/>
          <p:cNvSpPr/>
          <p:nvPr/>
        </p:nvSpPr>
        <p:spPr>
          <a:xfrm>
            <a:off x="1554480" y="2130552"/>
            <a:ext cx="38862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Open: resistance to infinity</a:t>
            </a:r>
            <a:endParaRPr lang="en-US" sz="1450" dirty="0"/>
          </a:p>
        </p:txBody>
      </p:sp>
      <p:sp>
        <p:nvSpPr>
          <p:cNvPr id="8" name="Shape 5"/>
          <p:cNvSpPr/>
          <p:nvPr/>
        </p:nvSpPr>
        <p:spPr>
          <a:xfrm>
            <a:off x="777240" y="2743200"/>
            <a:ext cx="461772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9" name="Text 6"/>
          <p:cNvSpPr/>
          <p:nvPr/>
        </p:nvSpPr>
        <p:spPr>
          <a:xfrm>
            <a:off x="105156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7ECF4"/>
                </a:solidFill>
                <a:latin typeface="Courier New" pitchFamily="34" charset="0"/>
                <a:ea typeface="Courier New" pitchFamily="34" charset="-122"/>
                <a:cs typeface="Courier New" pitchFamily="34" charset="-120"/>
              </a:rPr>
              <a:t>R_open -&gt; infinity  (no current path)</a:t>
            </a:r>
            <a:endParaRPr lang="en-US" sz="1350" dirty="0"/>
          </a:p>
        </p:txBody>
      </p:sp>
      <p:sp>
        <p:nvSpPr>
          <p:cNvPr id="10" name="Text 7"/>
          <p:cNvSpPr/>
          <p:nvPr/>
        </p:nvSpPr>
        <p:spPr>
          <a:xfrm>
            <a:off x="77724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This project's RC circuit models “open” by sweeping the resistor from 1 megaohm to 1 gigaohm with .step param — effectively blocking the charging path so Vout never rises.</a:t>
            </a:r>
            <a:endParaRPr lang="en-US" sz="1150" dirty="0"/>
          </a:p>
        </p:txBody>
      </p:sp>
      <p:sp>
        <p:nvSpPr>
          <p:cNvPr id="11" name="Shape 8"/>
          <p:cNvSpPr/>
          <p:nvPr/>
        </p:nvSpPr>
        <p:spPr>
          <a:xfrm>
            <a:off x="6126480" y="178308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2" name="Shape 9"/>
          <p:cNvSpPr/>
          <p:nvPr/>
        </p:nvSpPr>
        <p:spPr>
          <a:xfrm>
            <a:off x="6400800" y="2057400"/>
            <a:ext cx="594360" cy="59436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bolt_FFFFFF.png">    </p:cNvPr>
          <p:cNvPicPr>
            <a:picLocks noChangeAspect="1"/>
          </p:cNvPicPr>
          <p:nvPr/>
        </p:nvPicPr>
        <p:blipFill>
          <a:blip r:embed="rId2"/>
          <a:stretch>
            <a:fillRect/>
          </a:stretch>
        </p:blipFill>
        <p:spPr>
          <a:xfrm>
            <a:off x="6481039" y="2137639"/>
            <a:ext cx="433883" cy="433883"/>
          </a:xfrm>
          <a:prstGeom prst="rect">
            <a:avLst/>
          </a:prstGeom>
        </p:spPr>
      </p:pic>
      <p:sp>
        <p:nvSpPr>
          <p:cNvPr id="14" name="Text 10"/>
          <p:cNvSpPr/>
          <p:nvPr/>
        </p:nvSpPr>
        <p:spPr>
          <a:xfrm>
            <a:off x="7178040" y="2130552"/>
            <a:ext cx="38862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Short: impedance to zero</a:t>
            </a:r>
            <a:endParaRPr lang="en-US" sz="1450" dirty="0"/>
          </a:p>
        </p:txBody>
      </p:sp>
      <p:sp>
        <p:nvSpPr>
          <p:cNvPr id="15" name="Shape 11"/>
          <p:cNvSpPr/>
          <p:nvPr/>
        </p:nvSpPr>
        <p:spPr>
          <a:xfrm>
            <a:off x="6400800" y="2743200"/>
            <a:ext cx="461772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16" name="Text 12"/>
          <p:cNvSpPr/>
          <p:nvPr/>
        </p:nvSpPr>
        <p:spPr>
          <a:xfrm>
            <a:off x="667512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7ECF4"/>
                </a:solidFill>
                <a:latin typeface="Courier New" pitchFamily="34" charset="0"/>
                <a:ea typeface="Courier New" pitchFamily="34" charset="-122"/>
                <a:cs typeface="Courier New" pitchFamily="34" charset="-120"/>
              </a:rPr>
              <a:t>Z_short -&gt; 0  (component bypassed)</a:t>
            </a:r>
            <a:endParaRPr lang="en-US" sz="1350" dirty="0"/>
          </a:p>
        </p:txBody>
      </p:sp>
      <p:sp>
        <p:nvSpPr>
          <p:cNvPr id="17" name="Text 13"/>
          <p:cNvSpPr/>
          <p:nvPr/>
        </p:nvSpPr>
        <p:spPr>
          <a:xfrm>
            <a:off x="640080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The RC circuit's “short” is modeled by sweeping the capacitor down to 0.1-10 picofarads (R fixed at 1 kilohm) — the RC time constant collapses to picoseconds, so Vout jumps to 5V almost instantly, just as a true short would.</a:t>
            </a:r>
            <a:endParaRPr lang="en-US" sz="1150" dirty="0"/>
          </a:p>
        </p:txBody>
      </p:sp>
      <p:sp>
        <p:nvSpPr>
          <p:cNvPr id="18"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Noise</a:t>
            </a:r>
            <a:endParaRPr lang="en-US" sz="3000" dirty="0"/>
          </a:p>
        </p:txBody>
      </p:sp>
      <p:sp>
        <p:nvSpPr>
          <p:cNvPr id="4" name="Text 2"/>
          <p:cNvSpPr/>
          <p:nvPr/>
        </p:nvSpPr>
        <p:spPr>
          <a:xfrm>
            <a:off x="502920" y="1783080"/>
            <a:ext cx="10515600" cy="685800"/>
          </a:xfrm>
          <a:prstGeom prst="rect">
            <a:avLst/>
          </a:prstGeom>
          <a:noFill/>
          <a:ln/>
        </p:spPr>
        <p:txBody>
          <a:bodyPr wrap="square" lIns="0" tIns="0" rIns="0" bIns="0" rtlCol="0" anchor="ctr"/>
          <a:lstStyle/>
          <a:p>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Noise doesn't come from a component value changing at all — it's </a:t>
            </a:r>
            <a:pPr indent="0" marL="0">
              <a:lnSpc>
                <a:spcPct val="128000"/>
              </a:lnSpc>
              <a:buNone/>
            </a:pPr>
            <a:r>
              <a:rPr lang="en-US" sz="1350" b="1" dirty="0">
                <a:solidFill>
                  <a:srgbClr val="0B1F3A"/>
                </a:solidFill>
                <a:latin typeface="Calibri" pitchFamily="34" charset="0"/>
                <a:ea typeface="Calibri" pitchFamily="34" charset="-122"/>
                <a:cs typeface="Calibri" pitchFamily="34" charset="-120"/>
              </a:rPr>
              <a:t>additive random disturbance</a:t>
            </a:r>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 superimposed on an otherwise healthy waveform, modeled with a fixed signal-to-noise ratio.</a:t>
            </a:r>
            <a:endParaRPr lang="en-US" sz="1350" dirty="0"/>
          </a:p>
        </p:txBody>
      </p:sp>
      <p:sp>
        <p:nvSpPr>
          <p:cNvPr id="5" name="Shape 3"/>
          <p:cNvSpPr/>
          <p:nvPr/>
        </p:nvSpPr>
        <p:spPr>
          <a:xfrm>
            <a:off x="502920" y="2697480"/>
            <a:ext cx="10515600" cy="1554480"/>
          </a:xfrm>
          <a:prstGeom prst="roundRect">
            <a:avLst>
              <a:gd name="adj" fmla="val 470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834640"/>
            <a:ext cx="9966960" cy="128016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v_noisy(t) = v_normal(t) + N(0, sigma^2)</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sigma^2 = mean(v_normal^2) / 10^(SNR_dB / 10)</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SNR = 25 dB   |   seed = 42  (reproducible)</a:t>
            </a:r>
            <a:endParaRPr lang="en-US" sz="1500" dirty="0"/>
          </a:p>
        </p:txBody>
      </p:sp>
      <p:sp>
        <p:nvSpPr>
          <p:cNvPr id="7" name="Text 5"/>
          <p:cNvSpPr/>
          <p:nvPr/>
        </p:nvSpPr>
        <p:spPr>
          <a:xfrm>
            <a:off x="502920" y="4572000"/>
            <a:ext cx="10515600" cy="1097280"/>
          </a:xfrm>
          <a:prstGeom prst="rect">
            <a:avLst/>
          </a:prstGeom>
          <a:noFill/>
          <a:ln/>
        </p:spPr>
        <p:txBody>
          <a:bodyPr wrap="square" lIns="0" tIns="0" rIns="0" bIns="0" rtlCol="0" anchor="ctr"/>
          <a:lstStyle/>
          <a:p>
            <a:pPr indent="0" marL="0">
              <a:lnSpc>
                <a:spcPct val="130000"/>
              </a:lnSpc>
              <a:buNone/>
            </a:pPr>
            <a:r>
              <a:rPr lang="en-US" sz="1200" b="1" dirty="0">
                <a:solidFill>
                  <a:srgbClr val="0B1F3A"/>
                </a:solidFill>
                <a:latin typeface="Calibri" pitchFamily="34" charset="0"/>
                <a:ea typeface="Calibri" pitchFamily="34" charset="-122"/>
                <a:cs typeface="Calibri" pitchFamily="34" charset="-120"/>
              </a:rPr>
              <a:t>In code: </a:t>
            </a:r>
            <a:pPr indent="0" marL="0">
              <a:lnSpc>
                <a:spcPct val="130000"/>
              </a:lnSpc>
              <a:buNone/>
            </a:pPr>
            <a:r>
              <a:rPr lang="en-US" sz="1200" dirty="0">
                <a:solidFill>
                  <a:srgbClr val="64748B"/>
                </a:solidFill>
                <a:latin typeface="Calibri" pitchFamily="34" charset="0"/>
                <a:ea typeface="Calibri" pitchFamily="34" charset="-122"/>
                <a:cs typeface="Calibri" pitchFamily="34" charset="-120"/>
              </a:rPr>
              <a:t>each circuit's own NORMAL waveforms are reused as the clean base signal, then Gaussian noise scaled to a 25 dB SNR is added with NumPy's seeded random generator — one noisy sample generated per normal sample, so class counts stay balanced.</a:t>
            </a:r>
            <a:endParaRPr lang="en-US" sz="120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Four Circuit Topologies Under Test</a:t>
            </a:r>
            <a:endParaRPr lang="en-US" sz="3000" dirty="0"/>
          </a:p>
        </p:txBody>
      </p:sp>
      <p:sp>
        <p:nvSpPr>
          <p:cNvPr id="4" name="Shape 2"/>
          <p:cNvSpPr/>
          <p:nvPr/>
        </p:nvSpPr>
        <p:spPr>
          <a:xfrm>
            <a:off x="502920" y="1783080"/>
            <a:ext cx="1874520" cy="1965960"/>
          </a:xfrm>
          <a:prstGeom prst="roundRect">
            <a:avLst>
              <a:gd name="adj" fmla="val 3415"/>
            </a:avLst>
          </a:prstGeom>
          <a:solidFill>
            <a:srgbClr val="EAEEF4"/>
          </a:solidFill>
          <a:ln w="15875">
            <a:solidFill>
              <a:srgbClr val="9FB1C8"/>
            </a:solidFill>
            <a:prstDash val="dash"/>
          </a:ln>
        </p:spPr>
      </p:sp>
      <p:pic>
        <p:nvPicPr>
          <p:cNvPr id="5" name="Image 0" descr="/sessions/blissful-zealous-babbage/mnt/outputs/ppt/icons/microchip_64748B.png">    </p:cNvPr>
          <p:cNvPicPr>
            <a:picLocks noChangeAspect="1"/>
          </p:cNvPicPr>
          <p:nvPr/>
        </p:nvPicPr>
        <p:blipFill>
          <a:blip r:embed="rId1"/>
          <a:stretch>
            <a:fillRect/>
          </a:stretch>
        </p:blipFill>
        <p:spPr>
          <a:xfrm>
            <a:off x="1156716" y="1971446"/>
            <a:ext cx="566928" cy="566928"/>
          </a:xfrm>
          <a:prstGeom prst="rect">
            <a:avLst/>
          </a:prstGeom>
        </p:spPr>
      </p:pic>
      <p:sp>
        <p:nvSpPr>
          <p:cNvPr id="6" name="Text 3"/>
          <p:cNvSpPr/>
          <p:nvPr/>
        </p:nvSpPr>
        <p:spPr>
          <a:xfrm>
            <a:off x="685800" y="2453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7" name="Text 4"/>
          <p:cNvSpPr/>
          <p:nvPr/>
        </p:nvSpPr>
        <p:spPr>
          <a:xfrm>
            <a:off x="2560320" y="1892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RC Low-Pass Filter</a:t>
            </a:r>
            <a:endParaRPr lang="en-US" sz="1500" dirty="0"/>
          </a:p>
        </p:txBody>
      </p:sp>
      <p:sp>
        <p:nvSpPr>
          <p:cNvPr id="8" name="Text 5"/>
          <p:cNvSpPr/>
          <p:nvPr/>
        </p:nvSpPr>
        <p:spPr>
          <a:xfrm>
            <a:off x="256032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One resistor, one capacitor — the simplest baseline. A single-pole exponential charge/discharge response.</a:t>
            </a:r>
            <a:endParaRPr lang="en-US" sz="1080" dirty="0"/>
          </a:p>
        </p:txBody>
      </p:sp>
      <p:sp>
        <p:nvSpPr>
          <p:cNvPr id="9" name="Shape 6"/>
          <p:cNvSpPr/>
          <p:nvPr/>
        </p:nvSpPr>
        <p:spPr>
          <a:xfrm>
            <a:off x="6126480" y="1783080"/>
            <a:ext cx="1874520" cy="1965960"/>
          </a:xfrm>
          <a:prstGeom prst="roundRect">
            <a:avLst>
              <a:gd name="adj" fmla="val 3415"/>
            </a:avLst>
          </a:prstGeom>
          <a:solidFill>
            <a:srgbClr val="EAEEF4"/>
          </a:solidFill>
          <a:ln w="15875">
            <a:solidFill>
              <a:srgbClr val="9FB1C8"/>
            </a:solidFill>
            <a:prstDash val="dash"/>
          </a:ln>
        </p:spPr>
      </p:sp>
      <p:pic>
        <p:nvPicPr>
          <p:cNvPr id="10" name="Image 1" descr="/sessions/blissful-zealous-babbage/mnt/outputs/ppt/icons/microchip_64748B.png">    </p:cNvPr>
          <p:cNvPicPr>
            <a:picLocks noChangeAspect="1"/>
          </p:cNvPicPr>
          <p:nvPr/>
        </p:nvPicPr>
        <p:blipFill>
          <a:blip r:embed="rId2"/>
          <a:stretch>
            <a:fillRect/>
          </a:stretch>
        </p:blipFill>
        <p:spPr>
          <a:xfrm>
            <a:off x="6780276" y="1971446"/>
            <a:ext cx="566928" cy="566928"/>
          </a:xfrm>
          <a:prstGeom prst="rect">
            <a:avLst/>
          </a:prstGeom>
        </p:spPr>
      </p:pic>
      <p:sp>
        <p:nvSpPr>
          <p:cNvPr id="11" name="Text 7"/>
          <p:cNvSpPr/>
          <p:nvPr/>
        </p:nvSpPr>
        <p:spPr>
          <a:xfrm>
            <a:off x="6309360" y="2453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2" name="Text 8"/>
          <p:cNvSpPr/>
          <p:nvPr/>
        </p:nvSpPr>
        <p:spPr>
          <a:xfrm>
            <a:off x="8183880" y="1892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RLC Series Circuit</a:t>
            </a:r>
            <a:endParaRPr lang="en-US" sz="1500" dirty="0"/>
          </a:p>
        </p:txBody>
      </p:sp>
      <p:sp>
        <p:nvSpPr>
          <p:cNvPr id="13" name="Text 9"/>
          <p:cNvSpPr/>
          <p:nvPr/>
        </p:nvSpPr>
        <p:spPr>
          <a:xfrm>
            <a:off x="818388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Adds an inductor for an underdamped, oscillatory step response — richer dynamics than RC alone.</a:t>
            </a:r>
            <a:endParaRPr lang="en-US" sz="1080" dirty="0"/>
          </a:p>
        </p:txBody>
      </p:sp>
      <p:sp>
        <p:nvSpPr>
          <p:cNvPr id="14" name="Shape 10"/>
          <p:cNvSpPr/>
          <p:nvPr/>
        </p:nvSpPr>
        <p:spPr>
          <a:xfrm>
            <a:off x="502920" y="4069080"/>
            <a:ext cx="1874520" cy="1965960"/>
          </a:xfrm>
          <a:prstGeom prst="roundRect">
            <a:avLst>
              <a:gd name="adj" fmla="val 3415"/>
            </a:avLst>
          </a:prstGeom>
          <a:solidFill>
            <a:srgbClr val="EAEEF4"/>
          </a:solidFill>
          <a:ln w="15875">
            <a:solidFill>
              <a:srgbClr val="9FB1C8"/>
            </a:solidFill>
            <a:prstDash val="dash"/>
          </a:ln>
        </p:spPr>
      </p:sp>
      <p:pic>
        <p:nvPicPr>
          <p:cNvPr id="15" name="Image 2" descr="/sessions/blissful-zealous-babbage/mnt/outputs/ppt/icons/microchip_64748B.png">    </p:cNvPr>
          <p:cNvPicPr>
            <a:picLocks noChangeAspect="1"/>
          </p:cNvPicPr>
          <p:nvPr/>
        </p:nvPicPr>
        <p:blipFill>
          <a:blip r:embed="rId3"/>
          <a:stretch>
            <a:fillRect/>
          </a:stretch>
        </p:blipFill>
        <p:spPr>
          <a:xfrm>
            <a:off x="1156716" y="4257446"/>
            <a:ext cx="566928" cy="566928"/>
          </a:xfrm>
          <a:prstGeom prst="rect">
            <a:avLst/>
          </a:prstGeom>
        </p:spPr>
      </p:pic>
      <p:sp>
        <p:nvSpPr>
          <p:cNvPr id="16" name="Text 11"/>
          <p:cNvSpPr/>
          <p:nvPr/>
        </p:nvSpPr>
        <p:spPr>
          <a:xfrm>
            <a:off x="685800" y="4739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7" name="Text 12"/>
          <p:cNvSpPr/>
          <p:nvPr/>
        </p:nvSpPr>
        <p:spPr>
          <a:xfrm>
            <a:off x="2560320" y="4178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Sallen-Key Active Filter</a:t>
            </a:r>
            <a:endParaRPr lang="en-US" sz="1500" dirty="0"/>
          </a:p>
        </p:txBody>
      </p:sp>
      <p:sp>
        <p:nvSpPr>
          <p:cNvPr id="18" name="Text 13"/>
          <p:cNvSpPr/>
          <p:nvPr/>
        </p:nvSpPr>
        <p:spPr>
          <a:xfrm>
            <a:off x="256032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An op-amp based 2nd-order filter — the kind actually used in real analog signal-conditioning design.</a:t>
            </a:r>
            <a:endParaRPr lang="en-US" sz="1080" dirty="0"/>
          </a:p>
        </p:txBody>
      </p:sp>
      <p:sp>
        <p:nvSpPr>
          <p:cNvPr id="19" name="Shape 14"/>
          <p:cNvSpPr/>
          <p:nvPr/>
        </p:nvSpPr>
        <p:spPr>
          <a:xfrm>
            <a:off x="6126480" y="4069080"/>
            <a:ext cx="1874520" cy="1965960"/>
          </a:xfrm>
          <a:prstGeom prst="roundRect">
            <a:avLst>
              <a:gd name="adj" fmla="val 3415"/>
            </a:avLst>
          </a:prstGeom>
          <a:solidFill>
            <a:srgbClr val="EAEEF4"/>
          </a:solidFill>
          <a:ln w="15875">
            <a:solidFill>
              <a:srgbClr val="9FB1C8"/>
            </a:solidFill>
            <a:prstDash val="dash"/>
          </a:ln>
        </p:spPr>
      </p:sp>
      <p:pic>
        <p:nvPicPr>
          <p:cNvPr id="20" name="Image 3" descr="/sessions/blissful-zealous-babbage/mnt/outputs/ppt/icons/microchip_64748B.png">    </p:cNvPr>
          <p:cNvPicPr>
            <a:picLocks noChangeAspect="1"/>
          </p:cNvPicPr>
          <p:nvPr/>
        </p:nvPicPr>
        <p:blipFill>
          <a:blip r:embed="rId4"/>
          <a:stretch>
            <a:fillRect/>
          </a:stretch>
        </p:blipFill>
        <p:spPr>
          <a:xfrm>
            <a:off x="6780276" y="4257446"/>
            <a:ext cx="566928" cy="566928"/>
          </a:xfrm>
          <a:prstGeom prst="rect">
            <a:avLst/>
          </a:prstGeom>
        </p:spPr>
      </p:pic>
      <p:sp>
        <p:nvSpPr>
          <p:cNvPr id="21" name="Text 15"/>
          <p:cNvSpPr/>
          <p:nvPr/>
        </p:nvSpPr>
        <p:spPr>
          <a:xfrm>
            <a:off x="6309360" y="4739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22" name="Text 16"/>
          <p:cNvSpPr/>
          <p:nvPr/>
        </p:nvSpPr>
        <p:spPr>
          <a:xfrm>
            <a:off x="8183880" y="4178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RC Ladder Network</a:t>
            </a:r>
            <a:endParaRPr lang="en-US" sz="1500" dirty="0"/>
          </a:p>
        </p:txBody>
      </p:sp>
      <p:sp>
        <p:nvSpPr>
          <p:cNvPr id="23" name="Text 17"/>
          <p:cNvSpPr/>
          <p:nvPr/>
        </p:nvSpPr>
        <p:spPr>
          <a:xfrm>
            <a:off x="818388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Multiple RC stages cascaded together, producing a more complex multi-pole response.</a:t>
            </a:r>
            <a:endParaRPr lang="en-US" sz="108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RC Low-Pass Filter — The Baseline</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600" dirty="0">
                <a:solidFill>
                  <a:srgbClr val="FFB703"/>
                </a:solidFill>
                <a:latin typeface="Courier New" pitchFamily="34" charset="0"/>
                <a:ea typeface="Courier New" pitchFamily="34" charset="-122"/>
                <a:cs typeface="Courier New" pitchFamily="34" charset="-120"/>
              </a:rPr>
              <a:t>H(s) = 1 / (1 + sRC)</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v(t) = V * (1 - e^(-t / RC))</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tau = R * C   (time constant)</a:t>
            </a:r>
            <a:endParaRPr lang="en-US" sz="16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R swept 100 ohm to 10 kilohm (normal/drift) with C fixed at 10 microfarad — tau ranges from about 1 ms to 100 ms.</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 the charging path is effectively blocked, so Vout never rises.</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Short: C swept down to 0.1-10 picofarad — tau collapses to picoseconds, so Vout jumps to 5V almost instantly.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Just a resistor and capacitor charging up, like a bucket filling with water — tau is simply how long that fill takes.</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RLC Series Circuit — Adding Oscillation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500" dirty="0">
                <a:solidFill>
                  <a:srgbClr val="FFB703"/>
                </a:solidFill>
                <a:latin typeface="Courier New" pitchFamily="34" charset="0"/>
                <a:ea typeface="Courier New" pitchFamily="34" charset="-122"/>
                <a:cs typeface="Courier New" pitchFamily="34" charset="-120"/>
              </a:rPr>
              <a:t>H(s) = 1 / (LCs^2 + RCs + 1)</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omega_0 = 1 / sqrt(LC)     zeta = (R/2) * sqrt(C/L)</a:t>
            </a:r>
            <a:endParaRPr lang="en-US" sz="15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L swept 1 mH to 100 mH (normal/drift), with R = 10 ohm and C = 100 microfarad fixed — a genuinely underdamped, oscillatory step response.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Because zeta is small, the output rings before settling — a signature no RC-only circuit can produce.</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in series, blocking the current path entirely.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The inductor makes this circuit "overshoot and wobble" before settling, like a swing that bounces past its resting point a few times — that wobble is the key signal the model learns to spot.</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Sallen-Key Active Filter — A Real Design Pattern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FFB703"/>
                </a:solidFill>
                <a:latin typeface="Courier New" pitchFamily="34" charset="0"/>
                <a:ea typeface="Courier New" pitchFamily="34" charset="-122"/>
                <a:cs typeface="Courier New" pitchFamily="34" charset="-120"/>
              </a:rPr>
              <a:t>f_c = 1 / (2*pi*sqrt(R1*R2*C1*C2))</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Unity-gain, 2nd-order low-pass (op-amp based)</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R1 = R2 swept 1 kilohm to 100 kilohm together; C1 = C2 = 10 nanofarad fixed; dual +-15V supply, LT1001 op-amp model.</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This is the one topology here that's actually used in production analog signal-conditioning circuits — not just a textbook passive network.</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Its op-amp feedback path gives it a distinct response shape from the three purely passive circuits.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An op-amp is just a powered amplifier chip with feedback wired around it — think of it as an "active" filter that can shape a signal more precisely than a passive RC network alone.</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RC Ladder Network — Cascaded Stages</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FFB703"/>
                </a:solidFill>
                <a:latin typeface="Courier New" pitchFamily="34" charset="0"/>
                <a:ea typeface="Courier New" pitchFamily="34" charset="-122"/>
                <a:cs typeface="Courier New" pitchFamily="34" charset="-120"/>
              </a:rPr>
              <a:t>Stage 1: 1/(1+sR1C1)   -&gt;   Stage 2: 1/(1+sR2C2)</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H(s) = Stage1(s) * Stage2(s)   (multi-pole)</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Two RC stages in series, R1 = R2 swept together 100 ohm to 10 kilohm, C1 = C2 = 10 microfarad — each stage contributes its own pole.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A fault in an earlier stage propagates and interacts with the second stage, producing subtler waveform changes than a single RC stage would.</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This structural similarity to the plain RC circuit is exactly what makes the two easy to confuse later, in Results.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Two RC "buckets" chained together, one feeding into the next — more stages give a smoother, more gradual response than a single RC stage.</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Same Circuit, Five Different Personalities</a:t>
            </a:r>
            <a:endParaRPr lang="en-US" sz="3000" dirty="0"/>
          </a:p>
        </p:txBody>
      </p:sp>
      <p:sp>
        <p:nvSpPr>
          <p:cNvPr id="4" name="Text 2"/>
          <p:cNvSpPr/>
          <p:nvPr/>
        </p:nvSpPr>
        <p:spPr>
          <a:xfrm>
            <a:off x="502920" y="1417320"/>
            <a:ext cx="1051560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Example: an RC low-pass filter's step response under each of the five fault conditions.</a:t>
            </a:r>
            <a:endParaRPr lang="en-US" sz="1250" dirty="0"/>
          </a:p>
        </p:txBody>
      </p:sp>
      <p:sp>
        <p:nvSpPr>
          <p:cNvPr id="5" name="Shape 3"/>
          <p:cNvSpPr/>
          <p:nvPr/>
        </p:nvSpPr>
        <p:spPr>
          <a:xfrm>
            <a:off x="502920" y="1965960"/>
            <a:ext cx="2066544" cy="3794760"/>
          </a:xfrm>
          <a:prstGeom prst="roundRect">
            <a:avLst>
              <a:gd name="adj" fmla="val 3097"/>
            </a:avLst>
          </a:prstGeom>
          <a:solidFill>
            <a:srgbClr val="EAEEF4"/>
          </a:solidFill>
          <a:ln w="15875">
            <a:solidFill>
              <a:srgbClr val="9FB1C8"/>
            </a:solidFill>
            <a:prstDash val="dash"/>
          </a:ln>
        </p:spPr>
      </p:sp>
      <p:pic>
        <p:nvPicPr>
          <p:cNvPr id="6" name="Image 0" descr="/sessions/blissful-zealous-babbage/mnt/outputs/ppt/icons/wave_64748B.png">    </p:cNvPr>
          <p:cNvPicPr>
            <a:picLocks noChangeAspect="1"/>
          </p:cNvPicPr>
          <p:nvPr/>
        </p:nvPicPr>
        <p:blipFill>
          <a:blip r:embed="rId1"/>
          <a:stretch>
            <a:fillRect/>
          </a:stretch>
        </p:blipFill>
        <p:spPr>
          <a:xfrm>
            <a:off x="1252728" y="2593238"/>
            <a:ext cx="566928" cy="566928"/>
          </a:xfrm>
          <a:prstGeom prst="rect">
            <a:avLst/>
          </a:prstGeom>
        </p:spPr>
      </p:pic>
      <p:sp>
        <p:nvSpPr>
          <p:cNvPr id="7" name="Text 4"/>
          <p:cNvSpPr/>
          <p:nvPr/>
        </p:nvSpPr>
        <p:spPr>
          <a:xfrm>
            <a:off x="685800"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8" name="Text 5"/>
          <p:cNvSpPr/>
          <p:nvPr/>
        </p:nvSpPr>
        <p:spPr>
          <a:xfrm>
            <a:off x="777240"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Normal response</a:t>
            </a:r>
            <a:endParaRPr lang="en-US" sz="1050" dirty="0"/>
          </a:p>
        </p:txBody>
      </p:sp>
      <p:sp>
        <p:nvSpPr>
          <p:cNvPr id="9" name="Shape 6"/>
          <p:cNvSpPr/>
          <p:nvPr/>
        </p:nvSpPr>
        <p:spPr>
          <a:xfrm>
            <a:off x="502920" y="5888736"/>
            <a:ext cx="2066544" cy="365760"/>
          </a:xfrm>
          <a:prstGeom prst="roundRect">
            <a:avLst>
              <a:gd name="adj" fmla="val 15000"/>
            </a:avLst>
          </a:prstGeom>
          <a:solidFill>
            <a:srgbClr val="0B1F3A"/>
          </a:solidFill>
          <a:ln/>
        </p:spPr>
      </p:sp>
      <p:sp>
        <p:nvSpPr>
          <p:cNvPr id="10" name="Text 7"/>
          <p:cNvSpPr/>
          <p:nvPr/>
        </p:nvSpPr>
        <p:spPr>
          <a:xfrm>
            <a:off x="502920"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Normal</a:t>
            </a:r>
            <a:endParaRPr lang="en-US" sz="1250" dirty="0"/>
          </a:p>
        </p:txBody>
      </p:sp>
      <p:sp>
        <p:nvSpPr>
          <p:cNvPr id="11" name="Shape 8"/>
          <p:cNvSpPr/>
          <p:nvPr/>
        </p:nvSpPr>
        <p:spPr>
          <a:xfrm>
            <a:off x="2738628" y="1965960"/>
            <a:ext cx="2066544" cy="3794760"/>
          </a:xfrm>
          <a:prstGeom prst="roundRect">
            <a:avLst>
              <a:gd name="adj" fmla="val 3097"/>
            </a:avLst>
          </a:prstGeom>
          <a:solidFill>
            <a:srgbClr val="EAEEF4"/>
          </a:solidFill>
          <a:ln w="15875">
            <a:solidFill>
              <a:srgbClr val="9FB1C8"/>
            </a:solidFill>
            <a:prstDash val="dash"/>
          </a:ln>
        </p:spPr>
      </p:sp>
      <p:pic>
        <p:nvPicPr>
          <p:cNvPr id="12" name="Image 1" descr="/sessions/blissful-zealous-babbage/mnt/outputs/ppt/icons/wave_64748B.png">    </p:cNvPr>
          <p:cNvPicPr>
            <a:picLocks noChangeAspect="1"/>
          </p:cNvPicPr>
          <p:nvPr/>
        </p:nvPicPr>
        <p:blipFill>
          <a:blip r:embed="rId2"/>
          <a:stretch>
            <a:fillRect/>
          </a:stretch>
        </p:blipFill>
        <p:spPr>
          <a:xfrm>
            <a:off x="3488436" y="2593238"/>
            <a:ext cx="566928" cy="566928"/>
          </a:xfrm>
          <a:prstGeom prst="rect">
            <a:avLst/>
          </a:prstGeom>
        </p:spPr>
      </p:pic>
      <p:sp>
        <p:nvSpPr>
          <p:cNvPr id="13" name="Text 9"/>
          <p:cNvSpPr/>
          <p:nvPr/>
        </p:nvSpPr>
        <p:spPr>
          <a:xfrm>
            <a:off x="2921508"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14" name="Text 10"/>
          <p:cNvSpPr/>
          <p:nvPr/>
        </p:nvSpPr>
        <p:spPr>
          <a:xfrm>
            <a:off x="3012948"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Drift response</a:t>
            </a:r>
            <a:endParaRPr lang="en-US" sz="1050" dirty="0"/>
          </a:p>
        </p:txBody>
      </p:sp>
      <p:sp>
        <p:nvSpPr>
          <p:cNvPr id="15" name="Shape 11"/>
          <p:cNvSpPr/>
          <p:nvPr/>
        </p:nvSpPr>
        <p:spPr>
          <a:xfrm>
            <a:off x="2738628" y="5888736"/>
            <a:ext cx="2066544" cy="365760"/>
          </a:xfrm>
          <a:prstGeom prst="roundRect">
            <a:avLst>
              <a:gd name="adj" fmla="val 15000"/>
            </a:avLst>
          </a:prstGeom>
          <a:solidFill>
            <a:srgbClr val="0B1F3A"/>
          </a:solidFill>
          <a:ln/>
        </p:spPr>
      </p:sp>
      <p:sp>
        <p:nvSpPr>
          <p:cNvPr id="16" name="Text 12"/>
          <p:cNvSpPr/>
          <p:nvPr/>
        </p:nvSpPr>
        <p:spPr>
          <a:xfrm>
            <a:off x="2738628"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Drift</a:t>
            </a:r>
            <a:endParaRPr lang="en-US" sz="1250" dirty="0"/>
          </a:p>
        </p:txBody>
      </p:sp>
      <p:sp>
        <p:nvSpPr>
          <p:cNvPr id="17" name="Shape 13"/>
          <p:cNvSpPr/>
          <p:nvPr/>
        </p:nvSpPr>
        <p:spPr>
          <a:xfrm>
            <a:off x="4974336" y="1965960"/>
            <a:ext cx="2066544" cy="3794760"/>
          </a:xfrm>
          <a:prstGeom prst="roundRect">
            <a:avLst>
              <a:gd name="adj" fmla="val 3097"/>
            </a:avLst>
          </a:prstGeom>
          <a:solidFill>
            <a:srgbClr val="EAEEF4"/>
          </a:solidFill>
          <a:ln w="15875">
            <a:solidFill>
              <a:srgbClr val="9FB1C8"/>
            </a:solidFill>
            <a:prstDash val="dash"/>
          </a:ln>
        </p:spPr>
      </p:sp>
      <p:pic>
        <p:nvPicPr>
          <p:cNvPr id="18" name="Image 2" descr="/sessions/blissful-zealous-babbage/mnt/outputs/ppt/icons/wave_64748B.png">    </p:cNvPr>
          <p:cNvPicPr>
            <a:picLocks noChangeAspect="1"/>
          </p:cNvPicPr>
          <p:nvPr/>
        </p:nvPicPr>
        <p:blipFill>
          <a:blip r:embed="rId3"/>
          <a:stretch>
            <a:fillRect/>
          </a:stretch>
        </p:blipFill>
        <p:spPr>
          <a:xfrm>
            <a:off x="5724144" y="2593238"/>
            <a:ext cx="566928" cy="566928"/>
          </a:xfrm>
          <a:prstGeom prst="rect">
            <a:avLst/>
          </a:prstGeom>
        </p:spPr>
      </p:pic>
      <p:sp>
        <p:nvSpPr>
          <p:cNvPr id="19" name="Text 14"/>
          <p:cNvSpPr/>
          <p:nvPr/>
        </p:nvSpPr>
        <p:spPr>
          <a:xfrm>
            <a:off x="5157216"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0" name="Text 15"/>
          <p:cNvSpPr/>
          <p:nvPr/>
        </p:nvSpPr>
        <p:spPr>
          <a:xfrm>
            <a:off x="5248656"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Open response</a:t>
            </a:r>
            <a:endParaRPr lang="en-US" sz="1050" dirty="0"/>
          </a:p>
        </p:txBody>
      </p:sp>
      <p:sp>
        <p:nvSpPr>
          <p:cNvPr id="21" name="Shape 16"/>
          <p:cNvSpPr/>
          <p:nvPr/>
        </p:nvSpPr>
        <p:spPr>
          <a:xfrm>
            <a:off x="4974336" y="5888736"/>
            <a:ext cx="2066544" cy="365760"/>
          </a:xfrm>
          <a:prstGeom prst="roundRect">
            <a:avLst>
              <a:gd name="adj" fmla="val 15000"/>
            </a:avLst>
          </a:prstGeom>
          <a:solidFill>
            <a:srgbClr val="0B1F3A"/>
          </a:solidFill>
          <a:ln/>
        </p:spPr>
      </p:sp>
      <p:sp>
        <p:nvSpPr>
          <p:cNvPr id="22" name="Text 17"/>
          <p:cNvSpPr/>
          <p:nvPr/>
        </p:nvSpPr>
        <p:spPr>
          <a:xfrm>
            <a:off x="4974336"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Open</a:t>
            </a:r>
            <a:endParaRPr lang="en-US" sz="1250" dirty="0"/>
          </a:p>
        </p:txBody>
      </p:sp>
      <p:sp>
        <p:nvSpPr>
          <p:cNvPr id="23" name="Shape 18"/>
          <p:cNvSpPr/>
          <p:nvPr/>
        </p:nvSpPr>
        <p:spPr>
          <a:xfrm>
            <a:off x="7210044" y="1965960"/>
            <a:ext cx="2066544" cy="3794760"/>
          </a:xfrm>
          <a:prstGeom prst="roundRect">
            <a:avLst>
              <a:gd name="adj" fmla="val 3097"/>
            </a:avLst>
          </a:prstGeom>
          <a:solidFill>
            <a:srgbClr val="EAEEF4"/>
          </a:solidFill>
          <a:ln w="15875">
            <a:solidFill>
              <a:srgbClr val="9FB1C8"/>
            </a:solidFill>
            <a:prstDash val="dash"/>
          </a:ln>
        </p:spPr>
      </p:sp>
      <p:pic>
        <p:nvPicPr>
          <p:cNvPr id="24" name="Image 3" descr="/sessions/blissful-zealous-babbage/mnt/outputs/ppt/icons/wave_64748B.png">    </p:cNvPr>
          <p:cNvPicPr>
            <a:picLocks noChangeAspect="1"/>
          </p:cNvPicPr>
          <p:nvPr/>
        </p:nvPicPr>
        <p:blipFill>
          <a:blip r:embed="rId4"/>
          <a:stretch>
            <a:fillRect/>
          </a:stretch>
        </p:blipFill>
        <p:spPr>
          <a:xfrm>
            <a:off x="7959852" y="2593238"/>
            <a:ext cx="566928" cy="566928"/>
          </a:xfrm>
          <a:prstGeom prst="rect">
            <a:avLst/>
          </a:prstGeom>
        </p:spPr>
      </p:pic>
      <p:sp>
        <p:nvSpPr>
          <p:cNvPr id="25" name="Text 19"/>
          <p:cNvSpPr/>
          <p:nvPr/>
        </p:nvSpPr>
        <p:spPr>
          <a:xfrm>
            <a:off x="7392924"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6" name="Text 20"/>
          <p:cNvSpPr/>
          <p:nvPr/>
        </p:nvSpPr>
        <p:spPr>
          <a:xfrm>
            <a:off x="7484364"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Short response</a:t>
            </a:r>
            <a:endParaRPr lang="en-US" sz="1050" dirty="0"/>
          </a:p>
        </p:txBody>
      </p:sp>
      <p:sp>
        <p:nvSpPr>
          <p:cNvPr id="27" name="Shape 21"/>
          <p:cNvSpPr/>
          <p:nvPr/>
        </p:nvSpPr>
        <p:spPr>
          <a:xfrm>
            <a:off x="7210044" y="5888736"/>
            <a:ext cx="2066544" cy="365760"/>
          </a:xfrm>
          <a:prstGeom prst="roundRect">
            <a:avLst>
              <a:gd name="adj" fmla="val 15000"/>
            </a:avLst>
          </a:prstGeom>
          <a:solidFill>
            <a:srgbClr val="0B1F3A"/>
          </a:solidFill>
          <a:ln/>
        </p:spPr>
      </p:sp>
      <p:sp>
        <p:nvSpPr>
          <p:cNvPr id="28" name="Text 22"/>
          <p:cNvSpPr/>
          <p:nvPr/>
        </p:nvSpPr>
        <p:spPr>
          <a:xfrm>
            <a:off x="7210044"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Short</a:t>
            </a:r>
            <a:endParaRPr lang="en-US" sz="1250" dirty="0"/>
          </a:p>
        </p:txBody>
      </p:sp>
      <p:sp>
        <p:nvSpPr>
          <p:cNvPr id="29" name="Shape 23"/>
          <p:cNvSpPr/>
          <p:nvPr/>
        </p:nvSpPr>
        <p:spPr>
          <a:xfrm>
            <a:off x="9445752" y="1965960"/>
            <a:ext cx="2066544" cy="3794760"/>
          </a:xfrm>
          <a:prstGeom prst="roundRect">
            <a:avLst>
              <a:gd name="adj" fmla="val 3097"/>
            </a:avLst>
          </a:prstGeom>
          <a:solidFill>
            <a:srgbClr val="EAEEF4"/>
          </a:solidFill>
          <a:ln w="15875">
            <a:solidFill>
              <a:srgbClr val="9FB1C8"/>
            </a:solidFill>
            <a:prstDash val="dash"/>
          </a:ln>
        </p:spPr>
      </p:sp>
      <p:pic>
        <p:nvPicPr>
          <p:cNvPr id="30" name="Image 4" descr="/sessions/blissful-zealous-babbage/mnt/outputs/ppt/icons/wave_64748B.png">    </p:cNvPr>
          <p:cNvPicPr>
            <a:picLocks noChangeAspect="1"/>
          </p:cNvPicPr>
          <p:nvPr/>
        </p:nvPicPr>
        <p:blipFill>
          <a:blip r:embed="rId5"/>
          <a:stretch>
            <a:fillRect/>
          </a:stretch>
        </p:blipFill>
        <p:spPr>
          <a:xfrm>
            <a:off x="10195560" y="2593238"/>
            <a:ext cx="566928" cy="566928"/>
          </a:xfrm>
          <a:prstGeom prst="rect">
            <a:avLst/>
          </a:prstGeom>
        </p:spPr>
      </p:pic>
      <p:sp>
        <p:nvSpPr>
          <p:cNvPr id="31" name="Text 24"/>
          <p:cNvSpPr/>
          <p:nvPr/>
        </p:nvSpPr>
        <p:spPr>
          <a:xfrm>
            <a:off x="9628632"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32" name="Text 25"/>
          <p:cNvSpPr/>
          <p:nvPr/>
        </p:nvSpPr>
        <p:spPr>
          <a:xfrm>
            <a:off x="9720072"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Noise response</a:t>
            </a:r>
            <a:endParaRPr lang="en-US" sz="1050" dirty="0"/>
          </a:p>
        </p:txBody>
      </p:sp>
      <p:sp>
        <p:nvSpPr>
          <p:cNvPr id="33" name="Shape 26"/>
          <p:cNvSpPr/>
          <p:nvPr/>
        </p:nvSpPr>
        <p:spPr>
          <a:xfrm>
            <a:off x="9445752" y="5888736"/>
            <a:ext cx="2066544" cy="365760"/>
          </a:xfrm>
          <a:prstGeom prst="roundRect">
            <a:avLst>
              <a:gd name="adj" fmla="val 15000"/>
            </a:avLst>
          </a:prstGeom>
          <a:solidFill>
            <a:srgbClr val="0B1F3A"/>
          </a:solidFill>
          <a:ln/>
        </p:spPr>
      </p:sp>
      <p:sp>
        <p:nvSpPr>
          <p:cNvPr id="34" name="Text 27"/>
          <p:cNvSpPr/>
          <p:nvPr/>
        </p:nvSpPr>
        <p:spPr>
          <a:xfrm>
            <a:off x="9445752"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Noise</a:t>
            </a:r>
            <a:endParaRPr lang="en-US" sz="1250" dirty="0"/>
          </a:p>
        </p:txBody>
      </p:sp>
      <p:sp>
        <p:nvSpPr>
          <p:cNvPr id="35" name="Text 2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6" name="Text 2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End-to-End Pipeline</a:t>
            </a:r>
            <a:endParaRPr lang="en-US" sz="3000" dirty="0"/>
          </a:p>
        </p:txBody>
      </p:sp>
      <p:sp>
        <p:nvSpPr>
          <p:cNvPr id="4" name="Shape 2"/>
          <p:cNvSpPr/>
          <p:nvPr/>
        </p:nvSpPr>
        <p:spPr>
          <a:xfrm>
            <a:off x="1844040" y="3063240"/>
            <a:ext cx="853440" cy="0"/>
          </a:xfrm>
          <a:prstGeom prst="line">
            <a:avLst/>
          </a:prstGeom>
          <a:noFill/>
          <a:ln w="22225">
            <a:solidFill>
              <a:srgbClr val="AEBED4"/>
            </a:solidFill>
            <a:prstDash val="solid"/>
            <a:tailEnd type="triangle"/>
          </a:ln>
        </p:spPr>
      </p:sp>
      <p:sp>
        <p:nvSpPr>
          <p:cNvPr id="5" name="Shape 3"/>
          <p:cNvSpPr/>
          <p:nvPr/>
        </p:nvSpPr>
        <p:spPr>
          <a:xfrm>
            <a:off x="92964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sk_00B4D8.png">    </p:cNvPr>
          <p:cNvPicPr>
            <a:picLocks noChangeAspect="1"/>
          </p:cNvPicPr>
          <p:nvPr/>
        </p:nvPicPr>
        <p:blipFill>
          <a:blip r:embed="rId1"/>
          <a:stretch>
            <a:fillRect/>
          </a:stretch>
        </p:blipFill>
        <p:spPr>
          <a:xfrm>
            <a:off x="1053084" y="2729484"/>
            <a:ext cx="667512" cy="667512"/>
          </a:xfrm>
          <a:prstGeom prst="rect">
            <a:avLst/>
          </a:prstGeom>
        </p:spPr>
      </p:pic>
      <p:sp>
        <p:nvSpPr>
          <p:cNvPr id="7" name="Shape 4"/>
          <p:cNvSpPr/>
          <p:nvPr/>
        </p:nvSpPr>
        <p:spPr>
          <a:xfrm>
            <a:off x="829056" y="2505456"/>
            <a:ext cx="292608" cy="292608"/>
          </a:xfrm>
          <a:prstGeom prst="ellipse">
            <a:avLst/>
          </a:prstGeom>
          <a:solidFill>
            <a:srgbClr val="FFB703"/>
          </a:solidFill>
          <a:ln/>
        </p:spPr>
      </p:sp>
      <p:sp>
        <p:nvSpPr>
          <p:cNvPr id="8" name="Text 5"/>
          <p:cNvSpPr/>
          <p:nvPr/>
        </p:nvSpPr>
        <p:spPr>
          <a:xfrm>
            <a:off x="82905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1</a:t>
            </a:r>
            <a:endParaRPr lang="en-US" sz="1100" dirty="0"/>
          </a:p>
        </p:txBody>
      </p:sp>
      <p:sp>
        <p:nvSpPr>
          <p:cNvPr id="9" name="Text 6"/>
          <p:cNvSpPr/>
          <p:nvPr/>
        </p:nvSpPr>
        <p:spPr>
          <a:xfrm>
            <a:off x="54864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Simulate</a:t>
            </a:r>
            <a:endParaRPr lang="en-US" sz="1300" dirty="0"/>
          </a:p>
        </p:txBody>
      </p:sp>
      <p:sp>
        <p:nvSpPr>
          <p:cNvPr id="10" name="Text 7"/>
          <p:cNvSpPr/>
          <p:nvPr/>
        </p:nvSpPr>
        <p:spPr>
          <a:xfrm>
            <a:off x="5486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Model 4 circuits in</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LTspice XVII</a:t>
            </a:r>
            <a:endParaRPr lang="en-US" sz="950" dirty="0"/>
          </a:p>
        </p:txBody>
      </p:sp>
      <p:sp>
        <p:nvSpPr>
          <p:cNvPr id="11" name="Shape 8"/>
          <p:cNvSpPr/>
          <p:nvPr/>
        </p:nvSpPr>
        <p:spPr>
          <a:xfrm>
            <a:off x="3611880" y="3063240"/>
            <a:ext cx="853440" cy="0"/>
          </a:xfrm>
          <a:prstGeom prst="line">
            <a:avLst/>
          </a:prstGeom>
          <a:noFill/>
          <a:ln w="22225">
            <a:solidFill>
              <a:srgbClr val="AEBED4"/>
            </a:solidFill>
            <a:prstDash val="solid"/>
            <a:tailEnd type="triangle"/>
          </a:ln>
        </p:spPr>
      </p:sp>
      <p:sp>
        <p:nvSpPr>
          <p:cNvPr id="12" name="Shape 9"/>
          <p:cNvSpPr/>
          <p:nvPr/>
        </p:nvSpPr>
        <p:spPr>
          <a:xfrm>
            <a:off x="269748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sliders_00B4D8.png">    </p:cNvPr>
          <p:cNvPicPr>
            <a:picLocks noChangeAspect="1"/>
          </p:cNvPicPr>
          <p:nvPr/>
        </p:nvPicPr>
        <p:blipFill>
          <a:blip r:embed="rId2"/>
          <a:stretch>
            <a:fillRect/>
          </a:stretch>
        </p:blipFill>
        <p:spPr>
          <a:xfrm>
            <a:off x="2820924" y="2729484"/>
            <a:ext cx="667512" cy="667512"/>
          </a:xfrm>
          <a:prstGeom prst="rect">
            <a:avLst/>
          </a:prstGeom>
        </p:spPr>
      </p:pic>
      <p:sp>
        <p:nvSpPr>
          <p:cNvPr id="14" name="Shape 10"/>
          <p:cNvSpPr/>
          <p:nvPr/>
        </p:nvSpPr>
        <p:spPr>
          <a:xfrm>
            <a:off x="2596896" y="2505456"/>
            <a:ext cx="292608" cy="292608"/>
          </a:xfrm>
          <a:prstGeom prst="ellipse">
            <a:avLst/>
          </a:prstGeom>
          <a:solidFill>
            <a:srgbClr val="FFB703"/>
          </a:solidFill>
          <a:ln/>
        </p:spPr>
      </p:sp>
      <p:sp>
        <p:nvSpPr>
          <p:cNvPr id="15" name="Text 11"/>
          <p:cNvSpPr/>
          <p:nvPr/>
        </p:nvSpPr>
        <p:spPr>
          <a:xfrm>
            <a:off x="259689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2</a:t>
            </a:r>
            <a:endParaRPr lang="en-US" sz="1100" dirty="0"/>
          </a:p>
        </p:txBody>
      </p:sp>
      <p:sp>
        <p:nvSpPr>
          <p:cNvPr id="16" name="Text 12"/>
          <p:cNvSpPr/>
          <p:nvPr/>
        </p:nvSpPr>
        <p:spPr>
          <a:xfrm>
            <a:off x="231648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Sweep</a:t>
            </a:r>
            <a:endParaRPr lang="en-US" sz="1300" dirty="0"/>
          </a:p>
        </p:txBody>
      </p:sp>
      <p:sp>
        <p:nvSpPr>
          <p:cNvPr id="17" name="Text 13"/>
          <p:cNvSpPr/>
          <p:nvPr/>
        </p:nvSpPr>
        <p:spPr>
          <a:xfrm>
            <a:off x="231648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Vary R/L/C values</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across realistic ranges</a:t>
            </a:r>
            <a:endParaRPr lang="en-US" sz="950" dirty="0"/>
          </a:p>
        </p:txBody>
      </p:sp>
      <p:sp>
        <p:nvSpPr>
          <p:cNvPr id="18" name="Shape 14"/>
          <p:cNvSpPr/>
          <p:nvPr/>
        </p:nvSpPr>
        <p:spPr>
          <a:xfrm>
            <a:off x="5379720" y="3063240"/>
            <a:ext cx="853440" cy="0"/>
          </a:xfrm>
          <a:prstGeom prst="line">
            <a:avLst/>
          </a:prstGeom>
          <a:noFill/>
          <a:ln w="22225">
            <a:solidFill>
              <a:srgbClr val="AEBED4"/>
            </a:solidFill>
            <a:prstDash val="solid"/>
            <a:tailEnd type="triangle"/>
          </a:ln>
        </p:spPr>
      </p:sp>
      <p:sp>
        <p:nvSpPr>
          <p:cNvPr id="19" name="Shape 15"/>
          <p:cNvSpPr/>
          <p:nvPr/>
        </p:nvSpPr>
        <p:spPr>
          <a:xfrm>
            <a:off x="446532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0" name="Image 2" descr="/sessions/blissful-zealous-babbage/mnt/outputs/ppt/icons/filter_00B4D8.png">    </p:cNvPr>
          <p:cNvPicPr>
            <a:picLocks noChangeAspect="1"/>
          </p:cNvPicPr>
          <p:nvPr/>
        </p:nvPicPr>
        <p:blipFill>
          <a:blip r:embed="rId3"/>
          <a:stretch>
            <a:fillRect/>
          </a:stretch>
        </p:blipFill>
        <p:spPr>
          <a:xfrm>
            <a:off x="4588764" y="2729484"/>
            <a:ext cx="667512" cy="667512"/>
          </a:xfrm>
          <a:prstGeom prst="rect">
            <a:avLst/>
          </a:prstGeom>
        </p:spPr>
      </p:pic>
      <p:sp>
        <p:nvSpPr>
          <p:cNvPr id="21" name="Shape 16"/>
          <p:cNvSpPr/>
          <p:nvPr/>
        </p:nvSpPr>
        <p:spPr>
          <a:xfrm>
            <a:off x="4364736" y="2505456"/>
            <a:ext cx="292608" cy="292608"/>
          </a:xfrm>
          <a:prstGeom prst="ellipse">
            <a:avLst/>
          </a:prstGeom>
          <a:solidFill>
            <a:srgbClr val="FFB703"/>
          </a:solidFill>
          <a:ln/>
        </p:spPr>
      </p:sp>
      <p:sp>
        <p:nvSpPr>
          <p:cNvPr id="22" name="Text 17"/>
          <p:cNvSpPr/>
          <p:nvPr/>
        </p:nvSpPr>
        <p:spPr>
          <a:xfrm>
            <a:off x="436473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3</a:t>
            </a:r>
            <a:endParaRPr lang="en-US" sz="1100" dirty="0"/>
          </a:p>
        </p:txBody>
      </p:sp>
      <p:sp>
        <p:nvSpPr>
          <p:cNvPr id="23" name="Text 18"/>
          <p:cNvSpPr/>
          <p:nvPr/>
        </p:nvSpPr>
        <p:spPr>
          <a:xfrm>
            <a:off x="408432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Extract</a:t>
            </a:r>
            <a:endParaRPr lang="en-US" sz="1300" dirty="0"/>
          </a:p>
        </p:txBody>
      </p:sp>
      <p:sp>
        <p:nvSpPr>
          <p:cNvPr id="24" name="Text 19"/>
          <p:cNvSpPr/>
          <p:nvPr/>
        </p:nvSpPr>
        <p:spPr>
          <a:xfrm>
            <a:off x="408432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17 features per</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waveform</a:t>
            </a:r>
            <a:endParaRPr lang="en-US" sz="950" dirty="0"/>
          </a:p>
        </p:txBody>
      </p:sp>
      <p:sp>
        <p:nvSpPr>
          <p:cNvPr id="25" name="Shape 20"/>
          <p:cNvSpPr/>
          <p:nvPr/>
        </p:nvSpPr>
        <p:spPr>
          <a:xfrm>
            <a:off x="7147560" y="3063240"/>
            <a:ext cx="853440" cy="0"/>
          </a:xfrm>
          <a:prstGeom prst="line">
            <a:avLst/>
          </a:prstGeom>
          <a:noFill/>
          <a:ln w="22225">
            <a:solidFill>
              <a:srgbClr val="AEBED4"/>
            </a:solidFill>
            <a:prstDash val="solid"/>
            <a:tailEnd type="triangle"/>
          </a:ln>
        </p:spPr>
      </p:sp>
      <p:sp>
        <p:nvSpPr>
          <p:cNvPr id="26" name="Shape 21"/>
          <p:cNvSpPr/>
          <p:nvPr/>
        </p:nvSpPr>
        <p:spPr>
          <a:xfrm>
            <a:off x="623316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7" name="Image 3" descr="/sessions/blissful-zealous-babbage/mnt/outputs/ppt/icons/brain_00B4D8.png">    </p:cNvPr>
          <p:cNvPicPr>
            <a:picLocks noChangeAspect="1"/>
          </p:cNvPicPr>
          <p:nvPr/>
        </p:nvPicPr>
        <p:blipFill>
          <a:blip r:embed="rId4"/>
          <a:stretch>
            <a:fillRect/>
          </a:stretch>
        </p:blipFill>
        <p:spPr>
          <a:xfrm>
            <a:off x="6356604" y="2729484"/>
            <a:ext cx="667512" cy="667512"/>
          </a:xfrm>
          <a:prstGeom prst="rect">
            <a:avLst/>
          </a:prstGeom>
        </p:spPr>
      </p:pic>
      <p:sp>
        <p:nvSpPr>
          <p:cNvPr id="28" name="Shape 22"/>
          <p:cNvSpPr/>
          <p:nvPr/>
        </p:nvSpPr>
        <p:spPr>
          <a:xfrm>
            <a:off x="6132576" y="2505456"/>
            <a:ext cx="292608" cy="292608"/>
          </a:xfrm>
          <a:prstGeom prst="ellipse">
            <a:avLst/>
          </a:prstGeom>
          <a:solidFill>
            <a:srgbClr val="FFB703"/>
          </a:solidFill>
          <a:ln/>
        </p:spPr>
      </p:sp>
      <p:sp>
        <p:nvSpPr>
          <p:cNvPr id="29" name="Text 23"/>
          <p:cNvSpPr/>
          <p:nvPr/>
        </p:nvSpPr>
        <p:spPr>
          <a:xfrm>
            <a:off x="613257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4</a:t>
            </a:r>
            <a:endParaRPr lang="en-US" sz="1100" dirty="0"/>
          </a:p>
        </p:txBody>
      </p:sp>
      <p:sp>
        <p:nvSpPr>
          <p:cNvPr id="30" name="Text 24"/>
          <p:cNvSpPr/>
          <p:nvPr/>
        </p:nvSpPr>
        <p:spPr>
          <a:xfrm>
            <a:off x="585216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Train &amp; Tune</a:t>
            </a:r>
            <a:endParaRPr lang="en-US" sz="1300" dirty="0"/>
          </a:p>
        </p:txBody>
      </p:sp>
      <p:sp>
        <p:nvSpPr>
          <p:cNvPr id="31" name="Text 25"/>
          <p:cNvSpPr/>
          <p:nvPr/>
        </p:nvSpPr>
        <p:spPr>
          <a:xfrm>
            <a:off x="585216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SVM kernels +</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GridSearchCV</a:t>
            </a:r>
            <a:endParaRPr lang="en-US" sz="950" dirty="0"/>
          </a:p>
        </p:txBody>
      </p:sp>
      <p:sp>
        <p:nvSpPr>
          <p:cNvPr id="32" name="Shape 26"/>
          <p:cNvSpPr/>
          <p:nvPr/>
        </p:nvSpPr>
        <p:spPr>
          <a:xfrm>
            <a:off x="8915400" y="3063240"/>
            <a:ext cx="853440" cy="0"/>
          </a:xfrm>
          <a:prstGeom prst="line">
            <a:avLst/>
          </a:prstGeom>
          <a:noFill/>
          <a:ln w="22225">
            <a:solidFill>
              <a:srgbClr val="AEBED4"/>
            </a:solidFill>
            <a:prstDash val="solid"/>
            <a:tailEnd type="triangle"/>
          </a:ln>
        </p:spPr>
      </p:sp>
      <p:sp>
        <p:nvSpPr>
          <p:cNvPr id="33" name="Shape 27"/>
          <p:cNvSpPr/>
          <p:nvPr/>
        </p:nvSpPr>
        <p:spPr>
          <a:xfrm>
            <a:off x="800100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4" name="Image 4" descr="/sessions/blissful-zealous-babbage/mnt/outputs/ppt/icons/tools_00B4D8.png">    </p:cNvPr>
          <p:cNvPicPr>
            <a:picLocks noChangeAspect="1"/>
          </p:cNvPicPr>
          <p:nvPr/>
        </p:nvPicPr>
        <p:blipFill>
          <a:blip r:embed="rId5"/>
          <a:stretch>
            <a:fillRect/>
          </a:stretch>
        </p:blipFill>
        <p:spPr>
          <a:xfrm>
            <a:off x="8124444" y="2729484"/>
            <a:ext cx="667512" cy="667512"/>
          </a:xfrm>
          <a:prstGeom prst="rect">
            <a:avLst/>
          </a:prstGeom>
        </p:spPr>
      </p:pic>
      <p:sp>
        <p:nvSpPr>
          <p:cNvPr id="35" name="Shape 28"/>
          <p:cNvSpPr/>
          <p:nvPr/>
        </p:nvSpPr>
        <p:spPr>
          <a:xfrm>
            <a:off x="7900416" y="2505456"/>
            <a:ext cx="292608" cy="292608"/>
          </a:xfrm>
          <a:prstGeom prst="ellipse">
            <a:avLst/>
          </a:prstGeom>
          <a:solidFill>
            <a:srgbClr val="FFB703"/>
          </a:solidFill>
          <a:ln/>
        </p:spPr>
      </p:sp>
      <p:sp>
        <p:nvSpPr>
          <p:cNvPr id="36" name="Text 29"/>
          <p:cNvSpPr/>
          <p:nvPr/>
        </p:nvSpPr>
        <p:spPr>
          <a:xfrm>
            <a:off x="790041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5</a:t>
            </a:r>
            <a:endParaRPr lang="en-US" sz="1100" dirty="0"/>
          </a:p>
        </p:txBody>
      </p:sp>
      <p:sp>
        <p:nvSpPr>
          <p:cNvPr id="37" name="Text 30"/>
          <p:cNvSpPr/>
          <p:nvPr/>
        </p:nvSpPr>
        <p:spPr>
          <a:xfrm>
            <a:off x="762000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Correct</a:t>
            </a:r>
            <a:endParaRPr lang="en-US" sz="1300" dirty="0"/>
          </a:p>
        </p:txBody>
      </p:sp>
      <p:sp>
        <p:nvSpPr>
          <p:cNvPr id="38" name="Text 31"/>
          <p:cNvSpPr/>
          <p:nvPr/>
        </p:nvSpPr>
        <p:spPr>
          <a:xfrm>
            <a:off x="762000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Topology-aware</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post-processing</a:t>
            </a:r>
            <a:endParaRPr lang="en-US" sz="950" dirty="0"/>
          </a:p>
        </p:txBody>
      </p:sp>
      <p:sp>
        <p:nvSpPr>
          <p:cNvPr id="39" name="Shape 32"/>
          <p:cNvSpPr/>
          <p:nvPr/>
        </p:nvSpPr>
        <p:spPr>
          <a:xfrm>
            <a:off x="976884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0" name="Image 5" descr="/sessions/blissful-zealous-babbage/mnt/outputs/ppt/icons/rocket_00B4D8.png">    </p:cNvPr>
          <p:cNvPicPr>
            <a:picLocks noChangeAspect="1"/>
          </p:cNvPicPr>
          <p:nvPr/>
        </p:nvPicPr>
        <p:blipFill>
          <a:blip r:embed="rId6"/>
          <a:stretch>
            <a:fillRect/>
          </a:stretch>
        </p:blipFill>
        <p:spPr>
          <a:xfrm>
            <a:off x="9892284" y="2729484"/>
            <a:ext cx="667512" cy="667512"/>
          </a:xfrm>
          <a:prstGeom prst="rect">
            <a:avLst/>
          </a:prstGeom>
        </p:spPr>
      </p:pic>
      <p:sp>
        <p:nvSpPr>
          <p:cNvPr id="41" name="Shape 33"/>
          <p:cNvSpPr/>
          <p:nvPr/>
        </p:nvSpPr>
        <p:spPr>
          <a:xfrm>
            <a:off x="9668256" y="2505456"/>
            <a:ext cx="292608" cy="292608"/>
          </a:xfrm>
          <a:prstGeom prst="ellipse">
            <a:avLst/>
          </a:prstGeom>
          <a:solidFill>
            <a:srgbClr val="FFB703"/>
          </a:solidFill>
          <a:ln/>
        </p:spPr>
      </p:sp>
      <p:sp>
        <p:nvSpPr>
          <p:cNvPr id="42" name="Text 34"/>
          <p:cNvSpPr/>
          <p:nvPr/>
        </p:nvSpPr>
        <p:spPr>
          <a:xfrm>
            <a:off x="966825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6</a:t>
            </a:r>
            <a:endParaRPr lang="en-US" sz="1100" dirty="0"/>
          </a:p>
        </p:txBody>
      </p:sp>
      <p:sp>
        <p:nvSpPr>
          <p:cNvPr id="43" name="Text 35"/>
          <p:cNvSpPr/>
          <p:nvPr/>
        </p:nvSpPr>
        <p:spPr>
          <a:xfrm>
            <a:off x="938784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Deploy</a:t>
            </a:r>
            <a:endParaRPr lang="en-US" sz="1300" dirty="0"/>
          </a:p>
        </p:txBody>
      </p:sp>
      <p:sp>
        <p:nvSpPr>
          <p:cNvPr id="44" name="Text 36"/>
          <p:cNvSpPr/>
          <p:nvPr/>
        </p:nvSpPr>
        <p:spPr>
          <a:xfrm>
            <a:off x="93878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Live Streamlit</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web app</a:t>
            </a:r>
            <a:endParaRPr lang="en-US" sz="950" dirty="0"/>
          </a:p>
        </p:txBody>
      </p:sp>
      <p:sp>
        <p:nvSpPr>
          <p:cNvPr id="45" name="Shape 37"/>
          <p:cNvSpPr/>
          <p:nvPr/>
        </p:nvSpPr>
        <p:spPr>
          <a:xfrm>
            <a:off x="502920" y="4983480"/>
            <a:ext cx="10607040" cy="914400"/>
          </a:xfrm>
          <a:prstGeom prst="roundRect">
            <a:avLst>
              <a:gd name="adj" fmla="val 8000"/>
            </a:avLst>
          </a:prstGeom>
          <a:solidFill>
            <a:srgbClr val="0B1F3A"/>
          </a:solidFill>
          <a:ln/>
          <a:effectLst>
            <a:outerShdw sx="100000" sy="100000" kx="0" ky="0" algn="bl" rotWithShape="0" blurRad="114300" dist="38100" dir="2700000">
              <a:srgbClr val="0B1F3A">
                <a:alpha val="14000"/>
              </a:srgbClr>
            </a:outerShdw>
          </a:effectLst>
        </p:spPr>
      </p:sp>
      <p:sp>
        <p:nvSpPr>
          <p:cNvPr id="46" name="Text 38"/>
          <p:cNvSpPr/>
          <p:nvPr/>
        </p:nvSpPr>
        <p:spPr>
          <a:xfrm>
            <a:off x="822960" y="4983480"/>
            <a:ext cx="9966960" cy="914400"/>
          </a:xfrm>
          <a:prstGeom prst="rect">
            <a:avLst/>
          </a:prstGeom>
          <a:noFill/>
          <a:ln/>
        </p:spPr>
        <p:txBody>
          <a:bodyPr wrap="square" lIns="0" tIns="0" rIns="0" bIns="0" rtlCol="0" anchor="ctr"/>
          <a:lstStyle/>
          <a:p>
            <a:pPr algn="l" indent="0" marL="0">
              <a:lnSpc>
                <a:spcPct val="120000"/>
              </a:lnSpc>
              <a:buNone/>
            </a:pPr>
            <a:r>
              <a:rPr lang="en-US" sz="1300" b="1" dirty="0">
                <a:solidFill>
                  <a:srgbClr val="FFB703"/>
                </a:solidFill>
                <a:latin typeface="Calibri" pitchFamily="34" charset="0"/>
                <a:ea typeface="Calibri" pitchFamily="34" charset="-122"/>
                <a:cs typeface="Calibri" pitchFamily="34" charset="-120"/>
              </a:rPr>
              <a:t>Every stage is grounded in real simulation physics</a:t>
            </a:r>
            <a:pPr algn="l" indent="0" marL="0">
              <a:lnSpc>
                <a:spcPct val="120000"/>
              </a:lnSpc>
              <a:buNone/>
            </a:pPr>
            <a:r>
              <a:rPr lang="en-US" sz="1300" dirty="0">
                <a:solidFill>
                  <a:srgbClr val="E7ECF4"/>
                </a:solidFill>
                <a:latin typeface="Calibri" pitchFamily="34" charset="0"/>
                <a:ea typeface="Calibri" pitchFamily="34" charset="-122"/>
                <a:cs typeface="Calibri" pitchFamily="34" charset="-120"/>
              </a:rPr>
              <a:t> — no synthetic data augmentation was used in the final pipeline, only genuine LTspice parameter sweeps.</a:t>
            </a:r>
            <a:endParaRPr lang="en-US" sz="1300" dirty="0"/>
          </a:p>
        </p:txBody>
      </p:sp>
      <p:sp>
        <p:nvSpPr>
          <p:cNvPr id="47" name="Text 3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8" name="Text 4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Simulating Real Circuit Behavior in LTspice</a:t>
            </a:r>
            <a:endParaRPr lang="en-US" sz="3000" dirty="0"/>
          </a:p>
        </p:txBody>
      </p:sp>
      <p:sp>
        <p:nvSpPr>
          <p:cNvPr id="4" name="Shape 2"/>
          <p:cNvSpPr/>
          <p:nvPr/>
        </p:nvSpPr>
        <p:spPr>
          <a:xfrm>
            <a:off x="502920" y="1828800"/>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flask_00B4D8.png">    </p:cNvPr>
          <p:cNvPicPr>
            <a:picLocks noChangeAspect="1"/>
          </p:cNvPicPr>
          <p:nvPr/>
        </p:nvPicPr>
        <p:blipFill>
          <a:blip r:embed="rId1"/>
          <a:stretch>
            <a:fillRect/>
          </a:stretch>
        </p:blipFill>
        <p:spPr>
          <a:xfrm>
            <a:off x="579455" y="1905335"/>
            <a:ext cx="413857" cy="413857"/>
          </a:xfrm>
          <a:prstGeom prst="rect">
            <a:avLst/>
          </a:prstGeom>
        </p:spPr>
      </p:pic>
      <p:sp>
        <p:nvSpPr>
          <p:cNvPr id="6" name="Text 3"/>
          <p:cNvSpPr/>
          <p:nvPr/>
        </p:nvSpPr>
        <p:spPr>
          <a:xfrm>
            <a:off x="1280160" y="1801368"/>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Why SPICE instead of pure math?</a:t>
            </a:r>
            <a:endParaRPr lang="en-US" sz="1300" dirty="0"/>
          </a:p>
        </p:txBody>
      </p:sp>
      <p:sp>
        <p:nvSpPr>
          <p:cNvPr id="7" name="Text 4"/>
          <p:cNvSpPr/>
          <p:nvPr/>
        </p:nvSpPr>
        <p:spPr>
          <a:xfrm>
            <a:off x="1280160" y="2121408"/>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LTspice's transient solver captures op-amp behavior, component tolerances and transient effects that a hand-derived transfer function alone would miss.</a:t>
            </a:r>
            <a:endParaRPr lang="en-US" sz="1030" dirty="0"/>
          </a:p>
        </p:txBody>
      </p:sp>
      <p:sp>
        <p:nvSpPr>
          <p:cNvPr id="8" name="Shape 5"/>
          <p:cNvSpPr/>
          <p:nvPr/>
        </p:nvSpPr>
        <p:spPr>
          <a:xfrm>
            <a:off x="502920" y="281635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chartline_00B4D8.png">    </p:cNvPr>
          <p:cNvPicPr>
            <a:picLocks noChangeAspect="1"/>
          </p:cNvPicPr>
          <p:nvPr/>
        </p:nvPicPr>
        <p:blipFill>
          <a:blip r:embed="rId2"/>
          <a:stretch>
            <a:fillRect/>
          </a:stretch>
        </p:blipFill>
        <p:spPr>
          <a:xfrm>
            <a:off x="579455" y="2892887"/>
            <a:ext cx="413857" cy="413857"/>
          </a:xfrm>
          <a:prstGeom prst="rect">
            <a:avLst/>
          </a:prstGeom>
        </p:spPr>
      </p:pic>
      <p:sp>
        <p:nvSpPr>
          <p:cNvPr id="10" name="Text 6"/>
          <p:cNvSpPr/>
          <p:nvPr/>
        </p:nvSpPr>
        <p:spPr>
          <a:xfrm>
            <a:off x="1280160" y="2788920"/>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 step input drives every circuit</a:t>
            </a:r>
            <a:endParaRPr lang="en-US" sz="1300" dirty="0"/>
          </a:p>
        </p:txBody>
      </p:sp>
      <p:sp>
        <p:nvSpPr>
          <p:cNvPr id="11" name="Text 7"/>
          <p:cNvSpPr/>
          <p:nvPr/>
        </p:nvSpPr>
        <p:spPr>
          <a:xfrm>
            <a:off x="1280160" y="3108960"/>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A PULSE voltage source jumps 0V to 5V (1ns rise time), mimicking a sudden real-world input change.</a:t>
            </a:r>
            <a:endParaRPr lang="en-US" sz="1030" dirty="0"/>
          </a:p>
        </p:txBody>
      </p:sp>
      <p:sp>
        <p:nvSpPr>
          <p:cNvPr id="12" name="Shape 8"/>
          <p:cNvSpPr/>
          <p:nvPr/>
        </p:nvSpPr>
        <p:spPr>
          <a:xfrm>
            <a:off x="502920" y="380390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sliders_00B4D8.png">    </p:cNvPr>
          <p:cNvPicPr>
            <a:picLocks noChangeAspect="1"/>
          </p:cNvPicPr>
          <p:nvPr/>
        </p:nvPicPr>
        <p:blipFill>
          <a:blip r:embed="rId3"/>
          <a:stretch>
            <a:fillRect/>
          </a:stretch>
        </p:blipFill>
        <p:spPr>
          <a:xfrm>
            <a:off x="579455" y="3880439"/>
            <a:ext cx="413857" cy="413857"/>
          </a:xfrm>
          <a:prstGeom prst="rect">
            <a:avLst/>
          </a:prstGeom>
        </p:spPr>
      </p:pic>
      <p:sp>
        <p:nvSpPr>
          <p:cNvPr id="14" name="Text 9"/>
          <p:cNvSpPr/>
          <p:nvPr/>
        </p:nvSpPr>
        <p:spPr>
          <a:xfrm>
            <a:off x="1280160" y="3776472"/>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.tran captures the transient response</a:t>
            </a:r>
            <a:endParaRPr lang="en-US" sz="1300" dirty="0"/>
          </a:p>
        </p:txBody>
      </p:sp>
      <p:sp>
        <p:nvSpPr>
          <p:cNvPr id="15" name="Text 10"/>
          <p:cNvSpPr/>
          <p:nvPr/>
        </p:nvSpPr>
        <p:spPr>
          <a:xfrm>
            <a:off x="1280160" y="4096512"/>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The .tran directive runs the simulation and records Vout at 200 time points as the circuit reacts to the step.</a:t>
            </a:r>
            <a:endParaRPr lang="en-US" sz="1030" dirty="0"/>
          </a:p>
        </p:txBody>
      </p:sp>
      <p:sp>
        <p:nvSpPr>
          <p:cNvPr id="16" name="Shape 11"/>
          <p:cNvSpPr/>
          <p:nvPr/>
        </p:nvSpPr>
        <p:spPr>
          <a:xfrm>
            <a:off x="6583680" y="1828800"/>
            <a:ext cx="5120640" cy="2514600"/>
          </a:xfrm>
          <a:prstGeom prst="roundRect">
            <a:avLst>
              <a:gd name="adj" fmla="val 2545"/>
            </a:avLst>
          </a:prstGeom>
          <a:solidFill>
            <a:srgbClr val="EAEEF4"/>
          </a:solidFill>
          <a:ln w="15875">
            <a:solidFill>
              <a:srgbClr val="9FB1C8"/>
            </a:solidFill>
            <a:prstDash val="dash"/>
          </a:ln>
        </p:spPr>
      </p:sp>
      <p:pic>
        <p:nvPicPr>
          <p:cNvPr id="17" name="Image 3" descr="/sessions/blissful-zealous-babbage/mnt/outputs/ppt/icons/microchip_64748B.png">    </p:cNvPr>
          <p:cNvPicPr>
            <a:picLocks noChangeAspect="1"/>
          </p:cNvPicPr>
          <p:nvPr/>
        </p:nvPicPr>
        <p:blipFill>
          <a:blip r:embed="rId4"/>
          <a:stretch>
            <a:fillRect/>
          </a:stretch>
        </p:blipFill>
        <p:spPr>
          <a:xfrm>
            <a:off x="8860536" y="2148840"/>
            <a:ext cx="566928" cy="566928"/>
          </a:xfrm>
          <a:prstGeom prst="rect">
            <a:avLst/>
          </a:prstGeom>
        </p:spPr>
      </p:pic>
      <p:sp>
        <p:nvSpPr>
          <p:cNvPr id="18" name="Text 12"/>
          <p:cNvSpPr/>
          <p:nvPr/>
        </p:nvSpPr>
        <p:spPr>
          <a:xfrm>
            <a:off x="6766560" y="2630729"/>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LTSPICE SCHEMATIC</a:t>
            </a:r>
            <a:endParaRPr lang="en-US" sz="1300" dirty="0"/>
          </a:p>
        </p:txBody>
      </p:sp>
      <p:sp>
        <p:nvSpPr>
          <p:cNvPr id="19" name="Text 13"/>
          <p:cNvSpPr/>
          <p:nvPr/>
        </p:nvSpPr>
        <p:spPr>
          <a:xfrm>
            <a:off x="6858000" y="2978201"/>
            <a:ext cx="4572000" cy="804672"/>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screenshot of the .asc</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circuit diagram in LTspice XVII</a:t>
            </a:r>
            <a:endParaRPr lang="en-US" sz="1050" dirty="0"/>
          </a:p>
        </p:txBody>
      </p:sp>
      <p:sp>
        <p:nvSpPr>
          <p:cNvPr id="20" name="Shape 14"/>
          <p:cNvSpPr/>
          <p:nvPr/>
        </p:nvSpPr>
        <p:spPr>
          <a:xfrm>
            <a:off x="6583680" y="4526280"/>
            <a:ext cx="5120640" cy="1463040"/>
          </a:xfrm>
          <a:prstGeom prst="roundRect">
            <a:avLst>
              <a:gd name="adj" fmla="val 5000"/>
            </a:avLst>
          </a:prstGeom>
          <a:solidFill>
            <a:srgbClr val="0B1F3A"/>
          </a:solidFill>
          <a:ln/>
          <a:effectLst>
            <a:outerShdw sx="100000" sy="100000" kx="0" ky="0" algn="bl" rotWithShape="0" blurRad="114300" dist="38100" dir="2700000">
              <a:srgbClr val="0B1F3A">
                <a:alpha val="14000"/>
              </a:srgbClr>
            </a:outerShdw>
          </a:effectLst>
        </p:spPr>
      </p:sp>
      <p:sp>
        <p:nvSpPr>
          <p:cNvPr id="21" name="Text 15"/>
          <p:cNvSpPr/>
          <p:nvPr/>
        </p:nvSpPr>
        <p:spPr>
          <a:xfrm>
            <a:off x="6858000" y="4663440"/>
            <a:ext cx="4572000" cy="1188720"/>
          </a:xfrm>
          <a:prstGeom prst="rect">
            <a:avLst/>
          </a:prstGeom>
          <a:noFill/>
          <a:ln/>
        </p:spPr>
        <p:txBody>
          <a:bodyPr wrap="square" lIns="0" tIns="0" rIns="0" bIns="0" rtlCol="0" anchor="ctr"/>
          <a:lstStyle/>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V1  PULSE(0 5 0 1n 1n 95m 200m)</a:t>
            </a:r>
            <a:endParaRPr lang="en-US" sz="1250" dirty="0"/>
          </a:p>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.tran 95m</a:t>
            </a:r>
            <a:endParaRPr lang="en-US" sz="1250" dirty="0"/>
          </a:p>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.step param Rval 100 10000 200</a:t>
            </a:r>
            <a:endParaRPr lang="en-US" sz="1250" dirty="0"/>
          </a:p>
        </p:txBody>
      </p:sp>
      <p:sp>
        <p:nvSpPr>
          <p:cNvPr id="22" name="Shape 16"/>
          <p:cNvSpPr/>
          <p:nvPr/>
        </p:nvSpPr>
        <p:spPr>
          <a:xfrm>
            <a:off x="502920" y="6263640"/>
            <a:ext cx="11185855" cy="457200"/>
          </a:xfrm>
          <a:prstGeom prst="roundRect">
            <a:avLst>
              <a:gd name="adj" fmla="val 12000"/>
            </a:avLst>
          </a:prstGeom>
          <a:solidFill>
            <a:srgbClr val="FFF8E8"/>
          </a:solidFill>
          <a:ln w="12700">
            <a:solidFill>
              <a:srgbClr val="F0C24B"/>
            </a:solidFill>
            <a:prstDash val="solid"/>
          </a:ln>
        </p:spPr>
      </p:sp>
      <p:sp>
        <p:nvSpPr>
          <p:cNvPr id="23" name="Text 17"/>
          <p:cNvSpPr/>
          <p:nvPr/>
        </p:nvSpPr>
        <p:spPr>
          <a:xfrm>
            <a:off x="667512" y="6263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Think of this like a unit test: give the circuit a sudden voltage change and record how it reacts over time — that recorded reaction is the raw data.</a:t>
            </a:r>
            <a:endParaRPr lang="en-US" sz="95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Parameter Sweeps: Simulating Real-World Variation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A single fixed waveform per fault would teach the model almost nothing. The </a:t>
            </a:r>
            <a:pPr indent="0" marL="0">
              <a:lnSpc>
                <a:spcPct val="128000"/>
              </a:lnSpc>
              <a:buNone/>
            </a:pPr>
            <a:r>
              <a:rPr lang="en-US" sz="1300" b="1" dirty="0">
                <a:solidFill>
                  <a:srgbClr val="0B1F3A"/>
                </a:solidFill>
                <a:latin typeface="Courier New" pitchFamily="34" charset="0"/>
                <a:ea typeface="Courier New" pitchFamily="34" charset="-122"/>
                <a:cs typeface="Courier New" pitchFamily="34" charset="-120"/>
              </a:rPr>
              <a:t>.step param</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directive instead sweeps a component value across a realistic range, generating roughly 51 independent transient runs per fault class, per circuit.</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23774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Circuit</a:t>
            </a:r>
            <a:endParaRPr lang="en-US" sz="1200" dirty="0"/>
          </a:p>
        </p:txBody>
      </p:sp>
      <p:sp>
        <p:nvSpPr>
          <p:cNvPr id="7" name="Text 5"/>
          <p:cNvSpPr/>
          <p:nvPr/>
        </p:nvSpPr>
        <p:spPr>
          <a:xfrm>
            <a:off x="2880360" y="2606040"/>
            <a:ext cx="50292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Normal / Drift sweep</a:t>
            </a:r>
            <a:endParaRPr lang="en-US" sz="1200" dirty="0"/>
          </a:p>
        </p:txBody>
      </p:sp>
      <p:sp>
        <p:nvSpPr>
          <p:cNvPr id="8" name="Text 6"/>
          <p:cNvSpPr/>
          <p:nvPr/>
        </p:nvSpPr>
        <p:spPr>
          <a:xfrm>
            <a:off x="7909560" y="2606040"/>
            <a:ext cx="32004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Fixed components</a:t>
            </a:r>
            <a:endParaRPr lang="en-US" sz="1200" dirty="0"/>
          </a:p>
        </p:txBody>
      </p:sp>
      <p:sp>
        <p:nvSpPr>
          <p:cNvPr id="9" name="Shape 7"/>
          <p:cNvSpPr/>
          <p:nvPr/>
        </p:nvSpPr>
        <p:spPr>
          <a:xfrm>
            <a:off x="502920" y="3136392"/>
            <a:ext cx="10607040" cy="530352"/>
          </a:xfrm>
          <a:prstGeom prst="rect">
            <a:avLst/>
          </a:prstGeom>
          <a:solidFill>
            <a:srgbClr val="FFFFFF"/>
          </a:solidFill>
          <a:ln w="9525">
            <a:solidFill>
              <a:srgbClr val="E4E9F1"/>
            </a:solidFill>
            <a:prstDash val="solid"/>
          </a:ln>
        </p:spPr>
      </p:sp>
      <p:sp>
        <p:nvSpPr>
          <p:cNvPr id="10" name="Text 8"/>
          <p:cNvSpPr/>
          <p:nvPr/>
        </p:nvSpPr>
        <p:spPr>
          <a:xfrm>
            <a:off x="502920" y="3136392"/>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RC</a:t>
            </a:r>
            <a:endParaRPr lang="en-US" sz="1200" dirty="0"/>
          </a:p>
        </p:txBody>
      </p:sp>
      <p:sp>
        <p:nvSpPr>
          <p:cNvPr id="11" name="Text 9"/>
          <p:cNvSpPr/>
          <p:nvPr/>
        </p:nvSpPr>
        <p:spPr>
          <a:xfrm>
            <a:off x="2880360" y="3136392"/>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Text 10"/>
          <p:cNvSpPr/>
          <p:nvPr/>
        </p:nvSpPr>
        <p:spPr>
          <a:xfrm>
            <a:off x="7909560" y="3136392"/>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 10 uF</a:t>
            </a:r>
            <a:endParaRPr lang="en-US" sz="1200" dirty="0"/>
          </a:p>
        </p:txBody>
      </p:sp>
      <p:sp>
        <p:nvSpPr>
          <p:cNvPr id="13" name="Shape 11"/>
          <p:cNvSpPr/>
          <p:nvPr/>
        </p:nvSpPr>
        <p:spPr>
          <a:xfrm>
            <a:off x="502920" y="3666744"/>
            <a:ext cx="10607040" cy="530352"/>
          </a:xfrm>
          <a:prstGeom prst="rect">
            <a:avLst/>
          </a:prstGeom>
          <a:solidFill>
            <a:srgbClr val="EEF2F7"/>
          </a:solidFill>
          <a:ln w="9525">
            <a:solidFill>
              <a:srgbClr val="E4E9F1"/>
            </a:solidFill>
            <a:prstDash val="solid"/>
          </a:ln>
        </p:spPr>
      </p:sp>
      <p:sp>
        <p:nvSpPr>
          <p:cNvPr id="14" name="Text 12"/>
          <p:cNvSpPr/>
          <p:nvPr/>
        </p:nvSpPr>
        <p:spPr>
          <a:xfrm>
            <a:off x="502920" y="3666744"/>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RLC</a:t>
            </a:r>
            <a:endParaRPr lang="en-US" sz="1200" dirty="0"/>
          </a:p>
        </p:txBody>
      </p:sp>
      <p:sp>
        <p:nvSpPr>
          <p:cNvPr id="15" name="Text 13"/>
          <p:cNvSpPr/>
          <p:nvPr/>
        </p:nvSpPr>
        <p:spPr>
          <a:xfrm>
            <a:off x="2880360" y="3666744"/>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L: 1 mH -&gt; 100 mH</a:t>
            </a:r>
            <a:endParaRPr lang="en-US" sz="1200" dirty="0"/>
          </a:p>
        </p:txBody>
      </p:sp>
      <p:sp>
        <p:nvSpPr>
          <p:cNvPr id="16" name="Text 14"/>
          <p:cNvSpPr/>
          <p:nvPr/>
        </p:nvSpPr>
        <p:spPr>
          <a:xfrm>
            <a:off x="7909560" y="3666744"/>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 10 ohm, C = 100 uF</a:t>
            </a:r>
            <a:endParaRPr lang="en-US" sz="1200" dirty="0"/>
          </a:p>
        </p:txBody>
      </p:sp>
      <p:sp>
        <p:nvSpPr>
          <p:cNvPr id="17" name="Shape 15"/>
          <p:cNvSpPr/>
          <p:nvPr/>
        </p:nvSpPr>
        <p:spPr>
          <a:xfrm>
            <a:off x="502920" y="4197096"/>
            <a:ext cx="10607040" cy="530352"/>
          </a:xfrm>
          <a:prstGeom prst="rect">
            <a:avLst/>
          </a:prstGeom>
          <a:solidFill>
            <a:srgbClr val="FFFFFF"/>
          </a:solidFill>
          <a:ln w="9525">
            <a:solidFill>
              <a:srgbClr val="E4E9F1"/>
            </a:solidFill>
            <a:prstDash val="solid"/>
          </a:ln>
        </p:spPr>
      </p:sp>
      <p:sp>
        <p:nvSpPr>
          <p:cNvPr id="18" name="Text 16"/>
          <p:cNvSpPr/>
          <p:nvPr/>
        </p:nvSpPr>
        <p:spPr>
          <a:xfrm>
            <a:off x="502920" y="4197096"/>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Sallen-Key</a:t>
            </a:r>
            <a:endParaRPr lang="en-US" sz="1200" dirty="0"/>
          </a:p>
        </p:txBody>
      </p:sp>
      <p:sp>
        <p:nvSpPr>
          <p:cNvPr id="19" name="Text 17"/>
          <p:cNvSpPr/>
          <p:nvPr/>
        </p:nvSpPr>
        <p:spPr>
          <a:xfrm>
            <a:off x="2880360" y="4197096"/>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R1=R2: 1 kilohm -&gt; 100 kilohm</a:t>
            </a:r>
            <a:endParaRPr lang="en-US" sz="1200" dirty="0"/>
          </a:p>
        </p:txBody>
      </p:sp>
      <p:sp>
        <p:nvSpPr>
          <p:cNvPr id="20" name="Text 18"/>
          <p:cNvSpPr/>
          <p:nvPr/>
        </p:nvSpPr>
        <p:spPr>
          <a:xfrm>
            <a:off x="7909560" y="4197096"/>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C1=C2 = 10 nF, +-15V supply</a:t>
            </a:r>
            <a:endParaRPr lang="en-US" sz="1200" dirty="0"/>
          </a:p>
        </p:txBody>
      </p:sp>
      <p:sp>
        <p:nvSpPr>
          <p:cNvPr id="21" name="Shape 19"/>
          <p:cNvSpPr/>
          <p:nvPr/>
        </p:nvSpPr>
        <p:spPr>
          <a:xfrm>
            <a:off x="502920" y="4727448"/>
            <a:ext cx="10607040" cy="530352"/>
          </a:xfrm>
          <a:prstGeom prst="rect">
            <a:avLst/>
          </a:prstGeom>
          <a:solidFill>
            <a:srgbClr val="EEF2F7"/>
          </a:solidFill>
          <a:ln w="9525">
            <a:solidFill>
              <a:srgbClr val="E4E9F1"/>
            </a:solidFill>
            <a:prstDash val="solid"/>
          </a:ln>
        </p:spPr>
      </p:sp>
      <p:sp>
        <p:nvSpPr>
          <p:cNvPr id="22" name="Text 20"/>
          <p:cNvSpPr/>
          <p:nvPr/>
        </p:nvSpPr>
        <p:spPr>
          <a:xfrm>
            <a:off x="502920" y="4727448"/>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RC Ladder</a:t>
            </a:r>
            <a:endParaRPr lang="en-US" sz="1200" dirty="0"/>
          </a:p>
        </p:txBody>
      </p:sp>
      <p:sp>
        <p:nvSpPr>
          <p:cNvPr id="23" name="Text 21"/>
          <p:cNvSpPr/>
          <p:nvPr/>
        </p:nvSpPr>
        <p:spPr>
          <a:xfrm>
            <a:off x="2880360" y="4727448"/>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R1=R2: 100 ohm -&gt; 10 kilohm</a:t>
            </a:r>
            <a:endParaRPr lang="en-US" sz="1200" dirty="0"/>
          </a:p>
        </p:txBody>
      </p:sp>
      <p:sp>
        <p:nvSpPr>
          <p:cNvPr id="24" name="Text 22"/>
          <p:cNvSpPr/>
          <p:nvPr/>
        </p:nvSpPr>
        <p:spPr>
          <a:xfrm>
            <a:off x="7909560" y="4727448"/>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C1=C2 = 10 uF</a:t>
            </a:r>
            <a:endParaRPr lang="en-US" sz="1200" dirty="0"/>
          </a:p>
        </p:txBody>
      </p:sp>
      <p:sp>
        <p:nvSpPr>
          <p:cNvPr id="25" name="Shape 23"/>
          <p:cNvSpPr/>
          <p:nvPr/>
        </p:nvSpPr>
        <p:spPr>
          <a:xfrm>
            <a:off x="502920" y="5257800"/>
            <a:ext cx="10607040" cy="640080"/>
          </a:xfrm>
          <a:prstGeom prst="roundRect">
            <a:avLst>
              <a:gd name="adj" fmla="val 11429"/>
            </a:avLst>
          </a:prstGeom>
          <a:solidFill>
            <a:srgbClr val="0B1F3A"/>
          </a:solidFill>
          <a:ln/>
          <a:effectLst>
            <a:outerShdw sx="100000" sy="100000" kx="0" ky="0" algn="bl" rotWithShape="0" blurRad="114300" dist="38100" dir="2700000">
              <a:srgbClr val="0B1F3A">
                <a:alpha val="14000"/>
              </a:srgbClr>
            </a:outerShdw>
          </a:effectLst>
        </p:spPr>
      </p:sp>
      <p:sp>
        <p:nvSpPr>
          <p:cNvPr id="26" name="Text 24"/>
          <p:cNvSpPr/>
          <p:nvPr/>
        </p:nvSpPr>
        <p:spPr>
          <a:xfrm>
            <a:off x="502920" y="5257800"/>
            <a:ext cx="10607040" cy="640080"/>
          </a:xfrm>
          <a:prstGeom prst="rect">
            <a:avLst/>
          </a:prstGeom>
          <a:noFill/>
          <a:ln/>
        </p:spPr>
        <p:txBody>
          <a:bodyPr wrap="square" lIns="0" tIns="0" rIns="0" bIns="0"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~51 sweep steps x 4 circuits x 5 faults =~ 1,019 total samples</a:t>
            </a:r>
            <a:endParaRPr lang="en-US" sz="130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How Each Fault Is Modeled in LTspice</a:t>
            </a:r>
            <a:endParaRPr lang="en-US" sz="3000" dirty="0"/>
          </a:p>
        </p:txBody>
      </p:sp>
      <p:sp>
        <p:nvSpPr>
          <p:cNvPr id="4" name="Shape 2"/>
          <p:cNvSpPr/>
          <p:nvPr/>
        </p:nvSpPr>
        <p:spPr>
          <a:xfrm>
            <a:off x="502920" y="1828800"/>
            <a:ext cx="10607040" cy="530352"/>
          </a:xfrm>
          <a:prstGeom prst="roundRect">
            <a:avLst>
              <a:gd name="adj" fmla="val 10345"/>
            </a:avLst>
          </a:prstGeom>
          <a:solidFill>
            <a:srgbClr val="0B1F3A"/>
          </a:solidFill>
          <a:ln/>
        </p:spPr>
      </p:sp>
      <p:sp>
        <p:nvSpPr>
          <p:cNvPr id="5" name="Text 3"/>
          <p:cNvSpPr/>
          <p:nvPr/>
        </p:nvSpPr>
        <p:spPr>
          <a:xfrm>
            <a:off x="502920" y="1828800"/>
            <a:ext cx="155448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Fault</a:t>
            </a:r>
            <a:endParaRPr lang="en-US" sz="1200" dirty="0"/>
          </a:p>
        </p:txBody>
      </p:sp>
      <p:sp>
        <p:nvSpPr>
          <p:cNvPr id="6" name="Text 4"/>
          <p:cNvSpPr/>
          <p:nvPr/>
        </p:nvSpPr>
        <p:spPr>
          <a:xfrm>
            <a:off x="2057400" y="1828800"/>
            <a:ext cx="576072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Modeling mechanism</a:t>
            </a:r>
            <a:endParaRPr lang="en-US" sz="1200" dirty="0"/>
          </a:p>
        </p:txBody>
      </p:sp>
      <p:sp>
        <p:nvSpPr>
          <p:cNvPr id="7" name="Text 5"/>
          <p:cNvSpPr/>
          <p:nvPr/>
        </p:nvSpPr>
        <p:spPr>
          <a:xfrm>
            <a:off x="7818120" y="1828800"/>
            <a:ext cx="32918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Concretely (RC example)</a:t>
            </a:r>
            <a:endParaRPr lang="en-US" sz="1200" dirty="0"/>
          </a:p>
        </p:txBody>
      </p:sp>
      <p:sp>
        <p:nvSpPr>
          <p:cNvPr id="8" name="Shape 6"/>
          <p:cNvSpPr/>
          <p:nvPr/>
        </p:nvSpPr>
        <p:spPr>
          <a:xfrm>
            <a:off x="502920" y="2359152"/>
            <a:ext cx="10607040" cy="530352"/>
          </a:xfrm>
          <a:prstGeom prst="rect">
            <a:avLst/>
          </a:prstGeom>
          <a:solidFill>
            <a:srgbClr val="FFFFFF"/>
          </a:solidFill>
          <a:ln w="9525">
            <a:solidFill>
              <a:srgbClr val="E4E9F1"/>
            </a:solidFill>
            <a:prstDash val="solid"/>
          </a:ln>
        </p:spPr>
      </p:sp>
      <p:sp>
        <p:nvSpPr>
          <p:cNvPr id="9" name="Text 7"/>
          <p:cNvSpPr/>
          <p:nvPr/>
        </p:nvSpPr>
        <p:spPr>
          <a:xfrm>
            <a:off x="502920" y="2359152"/>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Normal</a:t>
            </a:r>
            <a:endParaRPr lang="en-US" sz="1200" dirty="0"/>
          </a:p>
        </p:txBody>
      </p:sp>
      <p:sp>
        <p:nvSpPr>
          <p:cNvPr id="10" name="Text 8"/>
          <p:cNvSpPr/>
          <p:nvPr/>
        </p:nvSpPr>
        <p:spPr>
          <a:xfrm>
            <a:off x="2057400" y="2359152"/>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Component at nominal design value, swept across a healthy range</a:t>
            </a:r>
            <a:endParaRPr lang="en-US" sz="1200" dirty="0"/>
          </a:p>
        </p:txBody>
      </p:sp>
      <p:sp>
        <p:nvSpPr>
          <p:cNvPr id="11" name="Text 9"/>
          <p:cNvSpPr/>
          <p:nvPr/>
        </p:nvSpPr>
        <p:spPr>
          <a:xfrm>
            <a:off x="7818120" y="2359152"/>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Shape 10"/>
          <p:cNvSpPr/>
          <p:nvPr/>
        </p:nvSpPr>
        <p:spPr>
          <a:xfrm>
            <a:off x="502920" y="2889504"/>
            <a:ext cx="10607040" cy="530352"/>
          </a:xfrm>
          <a:prstGeom prst="rect">
            <a:avLst/>
          </a:prstGeom>
          <a:solidFill>
            <a:srgbClr val="EEF2F7"/>
          </a:solidFill>
          <a:ln w="9525">
            <a:solidFill>
              <a:srgbClr val="E4E9F1"/>
            </a:solidFill>
            <a:prstDash val="solid"/>
          </a:ln>
        </p:spPr>
      </p:sp>
      <p:sp>
        <p:nvSpPr>
          <p:cNvPr id="13" name="Text 11"/>
          <p:cNvSpPr/>
          <p:nvPr/>
        </p:nvSpPr>
        <p:spPr>
          <a:xfrm>
            <a:off x="502920" y="2889504"/>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Drift</a:t>
            </a:r>
            <a:endParaRPr lang="en-US" sz="1200" dirty="0"/>
          </a:p>
        </p:txBody>
      </p:sp>
      <p:sp>
        <p:nvSpPr>
          <p:cNvPr id="14" name="Text 12"/>
          <p:cNvSpPr/>
          <p:nvPr/>
        </p:nvSpPr>
        <p:spPr>
          <a:xfrm>
            <a:off x="2057400" y="2889504"/>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Same component, same wide sweep — treated as the healthy range itself</a:t>
            </a:r>
            <a:endParaRPr lang="en-US" sz="1200" dirty="0"/>
          </a:p>
        </p:txBody>
      </p:sp>
      <p:sp>
        <p:nvSpPr>
          <p:cNvPr id="15" name="Text 13"/>
          <p:cNvSpPr/>
          <p:nvPr/>
        </p:nvSpPr>
        <p:spPr>
          <a:xfrm>
            <a:off x="7818120" y="2889504"/>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6" name="Shape 14"/>
          <p:cNvSpPr/>
          <p:nvPr/>
        </p:nvSpPr>
        <p:spPr>
          <a:xfrm>
            <a:off x="502920" y="3419856"/>
            <a:ext cx="10607040" cy="530352"/>
          </a:xfrm>
          <a:prstGeom prst="rect">
            <a:avLst/>
          </a:prstGeom>
          <a:solidFill>
            <a:srgbClr val="FFFFFF"/>
          </a:solidFill>
          <a:ln w="9525">
            <a:solidFill>
              <a:srgbClr val="E4E9F1"/>
            </a:solidFill>
            <a:prstDash val="solid"/>
          </a:ln>
        </p:spPr>
      </p:sp>
      <p:sp>
        <p:nvSpPr>
          <p:cNvPr id="17" name="Text 15"/>
          <p:cNvSpPr/>
          <p:nvPr/>
        </p:nvSpPr>
        <p:spPr>
          <a:xfrm>
            <a:off x="502920" y="3419856"/>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Open</a:t>
            </a:r>
            <a:endParaRPr lang="en-US" sz="1200" dirty="0"/>
          </a:p>
        </p:txBody>
      </p:sp>
      <p:sp>
        <p:nvSpPr>
          <p:cNvPr id="18" name="Text 16"/>
          <p:cNvSpPr/>
          <p:nvPr/>
        </p:nvSpPr>
        <p:spPr>
          <a:xfrm>
            <a:off x="2057400" y="3419856"/>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Affected resistor swept toward near-infinite resistance</a:t>
            </a:r>
            <a:endParaRPr lang="en-US" sz="1200" dirty="0"/>
          </a:p>
        </p:txBody>
      </p:sp>
      <p:sp>
        <p:nvSpPr>
          <p:cNvPr id="19" name="Text 17"/>
          <p:cNvSpPr/>
          <p:nvPr/>
        </p:nvSpPr>
        <p:spPr>
          <a:xfrm>
            <a:off x="7818120" y="3419856"/>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 megaohm -&gt; 1 gigaohm</a:t>
            </a:r>
            <a:endParaRPr lang="en-US" sz="1200" dirty="0"/>
          </a:p>
        </p:txBody>
      </p:sp>
      <p:sp>
        <p:nvSpPr>
          <p:cNvPr id="20" name="Shape 18"/>
          <p:cNvSpPr/>
          <p:nvPr/>
        </p:nvSpPr>
        <p:spPr>
          <a:xfrm>
            <a:off x="502920" y="3950208"/>
            <a:ext cx="10607040" cy="530352"/>
          </a:xfrm>
          <a:prstGeom prst="rect">
            <a:avLst/>
          </a:prstGeom>
          <a:solidFill>
            <a:srgbClr val="EEF2F7"/>
          </a:solidFill>
          <a:ln w="9525">
            <a:solidFill>
              <a:srgbClr val="E4E9F1"/>
            </a:solidFill>
            <a:prstDash val="solid"/>
          </a:ln>
        </p:spPr>
      </p:sp>
      <p:sp>
        <p:nvSpPr>
          <p:cNvPr id="21" name="Text 19"/>
          <p:cNvSpPr/>
          <p:nvPr/>
        </p:nvSpPr>
        <p:spPr>
          <a:xfrm>
            <a:off x="502920" y="3950208"/>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Short</a:t>
            </a:r>
            <a:endParaRPr lang="en-US" sz="1200" dirty="0"/>
          </a:p>
        </p:txBody>
      </p:sp>
      <p:sp>
        <p:nvSpPr>
          <p:cNvPr id="22" name="Text 20"/>
          <p:cNvSpPr/>
          <p:nvPr/>
        </p:nvSpPr>
        <p:spPr>
          <a:xfrm>
            <a:off x="2057400" y="3950208"/>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Affected reactive component swept toward its opposite extreme</a:t>
            </a:r>
            <a:endParaRPr lang="en-US" sz="1200" dirty="0"/>
          </a:p>
        </p:txBody>
      </p:sp>
      <p:sp>
        <p:nvSpPr>
          <p:cNvPr id="23" name="Text 21"/>
          <p:cNvSpPr/>
          <p:nvPr/>
        </p:nvSpPr>
        <p:spPr>
          <a:xfrm>
            <a:off x="7818120" y="3950208"/>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0.1 pF -&gt; 10 pF</a:t>
            </a:r>
            <a:endParaRPr lang="en-US" sz="1200" dirty="0"/>
          </a:p>
        </p:txBody>
      </p:sp>
      <p:sp>
        <p:nvSpPr>
          <p:cNvPr id="24" name="Shape 22"/>
          <p:cNvSpPr/>
          <p:nvPr/>
        </p:nvSpPr>
        <p:spPr>
          <a:xfrm>
            <a:off x="502920" y="4480560"/>
            <a:ext cx="10607040" cy="530352"/>
          </a:xfrm>
          <a:prstGeom prst="rect">
            <a:avLst/>
          </a:prstGeom>
          <a:solidFill>
            <a:srgbClr val="FFFFFF"/>
          </a:solidFill>
          <a:ln w="9525">
            <a:solidFill>
              <a:srgbClr val="E4E9F1"/>
            </a:solidFill>
            <a:prstDash val="solid"/>
          </a:ln>
        </p:spPr>
      </p:sp>
      <p:sp>
        <p:nvSpPr>
          <p:cNvPr id="25" name="Text 23"/>
          <p:cNvSpPr/>
          <p:nvPr/>
        </p:nvSpPr>
        <p:spPr>
          <a:xfrm>
            <a:off x="502920" y="4480560"/>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Noise</a:t>
            </a:r>
            <a:endParaRPr lang="en-US" sz="1200" dirty="0"/>
          </a:p>
        </p:txBody>
      </p:sp>
      <p:sp>
        <p:nvSpPr>
          <p:cNvPr id="26" name="Text 24"/>
          <p:cNvSpPr/>
          <p:nvPr/>
        </p:nvSpPr>
        <p:spPr>
          <a:xfrm>
            <a:off x="2057400" y="4480560"/>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Gaussian noise added post-hoc to normal waveforms, not simulated in LTspice</a:t>
            </a:r>
            <a:endParaRPr lang="en-US" sz="1200" dirty="0"/>
          </a:p>
        </p:txBody>
      </p:sp>
      <p:sp>
        <p:nvSpPr>
          <p:cNvPr id="27" name="Text 25"/>
          <p:cNvSpPr/>
          <p:nvPr/>
        </p:nvSpPr>
        <p:spPr>
          <a:xfrm>
            <a:off x="7818120" y="4480560"/>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SNR = 25 dB, seed = 42</a:t>
            </a:r>
            <a:endParaRPr lang="en-US" sz="120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From LTspice Output to a Clean Dataset</a:t>
            </a:r>
            <a:endParaRPr lang="en-US" sz="3000" dirty="0"/>
          </a:p>
        </p:txBody>
      </p:sp>
      <p:sp>
        <p:nvSpPr>
          <p:cNvPr id="4" name="Text 2"/>
          <p:cNvSpPr/>
          <p:nvPr/>
        </p:nvSpPr>
        <p:spPr>
          <a:xfrm>
            <a:off x="502920" y="1737360"/>
            <a:ext cx="10607040" cy="68580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Each .step sweep produces one exported text file containing dozens of stacked runs. A parser walks the file, splits it back into individual runs, and resamples every run onto a common 200-point time grid:</a:t>
            </a:r>
            <a:endParaRPr lang="en-US" sz="1250" dirty="0"/>
          </a:p>
        </p:txBody>
      </p:sp>
      <p:sp>
        <p:nvSpPr>
          <p:cNvPr id="5" name="Shape 3"/>
          <p:cNvSpPr/>
          <p:nvPr/>
        </p:nvSpPr>
        <p:spPr>
          <a:xfrm>
            <a:off x="502920" y="2514600"/>
            <a:ext cx="10607040" cy="2331720"/>
          </a:xfrm>
          <a:prstGeom prst="roundRect">
            <a:avLst>
              <a:gd name="adj" fmla="val 313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651760"/>
            <a:ext cx="10058400" cy="2057400"/>
          </a:xfrm>
          <a:prstGeom prst="rect">
            <a:avLst/>
          </a:prstGeom>
          <a:noFill/>
          <a:ln/>
        </p:spPr>
        <p:txBody>
          <a:bodyPr wrap="square" lIns="0" tIns="0" rIns="0" bIns="0" rtlCol="0" anchor="ctr"/>
          <a:lstStyle/>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for line in file:</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if line starts with "Step Information": start new run</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else: accumulate (time, voltage) pairs</a:t>
            </a:r>
            <a:endParaRPr lang="en-US" sz="1300" dirty="0"/>
          </a:p>
          <a:p>
            <a:pPr algn="l" indent="0" marL="0">
              <a:lnSpc>
                <a:spcPct val="140000"/>
              </a:lnSpc>
              <a:buNone/>
            </a:pP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resample(t, v, t_end, n=200):</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grid = linspace(0, t_end, 200)</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return interp1d(t, v)(grid)   # uniform length for every sample</a:t>
            </a:r>
            <a:endParaRPr lang="en-US" sz="1300" dirty="0"/>
          </a:p>
        </p:txBody>
      </p:sp>
      <p:sp>
        <p:nvSpPr>
          <p:cNvPr id="7" name="Text 5"/>
          <p:cNvSpPr/>
          <p:nvPr/>
        </p:nvSpPr>
        <p:spPr>
          <a:xfrm>
            <a:off x="502920" y="5029200"/>
            <a:ext cx="10607040" cy="457200"/>
          </a:xfrm>
          <a:prstGeom prst="rect">
            <a:avLst/>
          </a:prstGeom>
          <a:noFill/>
          <a:ln/>
        </p:spPr>
        <p:txBody>
          <a:bodyPr wrap="square" lIns="0" tIns="0" rIns="0" bIns="0" rtlCol="0" anchor="ctr"/>
          <a:lstStyle/>
          <a:p>
            <a:pPr indent="0" marL="0">
              <a:lnSpc>
                <a:spcPct val="120000"/>
              </a:lnSpc>
              <a:buNone/>
            </a:pPr>
            <a:r>
              <a:rPr lang="en-US" sz="1150" i="1" dirty="0">
                <a:solidFill>
                  <a:srgbClr val="64748B"/>
                </a:solidFill>
                <a:latin typeface="Calibri" pitchFamily="34" charset="0"/>
                <a:ea typeface="Calibri" pitchFamily="34" charset="-122"/>
                <a:cs typeface="Calibri" pitchFamily="34" charset="-120"/>
              </a:rPr>
              <a:t>This turns dozens of variable-length LTspice runs into one uniform, ML-ready table of 200 voltage points per sample.</a:t>
            </a:r>
            <a:endParaRPr lang="en-US" sz="11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3</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 Look at the Raw Dataset: master_dataset_sweep.csv</a:t>
            </a:r>
            <a:endParaRPr lang="en-US" sz="3000" dirty="0"/>
          </a:p>
        </p:txBody>
      </p:sp>
      <p:sp>
        <p:nvSpPr>
          <p:cNvPr id="4" name="Text 2"/>
          <p:cNvSpPr/>
          <p:nvPr/>
        </p:nvSpPr>
        <p:spPr>
          <a:xfrm>
            <a:off x="502920" y="1691640"/>
            <a:ext cx="10607040" cy="777240"/>
          </a:xfrm>
          <a:prstGeom prst="rect">
            <a:avLst/>
          </a:prstGeom>
          <a:noFill/>
          <a:ln/>
        </p:spPr>
        <p:txBody>
          <a:bodyPr wrap="square" lIns="0" tIns="0" rIns="0" bIns="0" rtlCol="0" anchor="ctr"/>
          <a:lstStyle/>
          <a:p>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Every LTspice sweep run becomes one row: a circuit label, a fault label, the swept parameter value, and </a:t>
            </a:r>
            <a:pPr indent="0" marL="0">
              <a:lnSpc>
                <a:spcPct val="128000"/>
              </a:lnSpc>
              <a:buNone/>
            </a:pPr>
            <a:r>
              <a:rPr lang="en-US" sz="1250" b="1" dirty="0">
                <a:solidFill>
                  <a:srgbClr val="0B1F3A"/>
                </a:solidFill>
                <a:latin typeface="Calibri" pitchFamily="34" charset="0"/>
                <a:ea typeface="Calibri" pitchFamily="34" charset="-122"/>
                <a:cs typeface="Calibri" pitchFamily="34" charset="-120"/>
              </a:rPr>
              <a:t>200 raw voltage samples</a:t>
            </a:r>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 (v0 ... v199) tracing the full transient response. This is the direct, unprocessed output of Step 2 — nothing has been engineered yet.</a:t>
            </a:r>
            <a:endParaRPr lang="en-US" sz="1250" dirty="0"/>
          </a:p>
        </p:txBody>
      </p:sp>
      <p:sp>
        <p:nvSpPr>
          <p:cNvPr id="5" name="Shape 3"/>
          <p:cNvSpPr/>
          <p:nvPr/>
        </p:nvSpPr>
        <p:spPr>
          <a:xfrm>
            <a:off x="502920" y="2606040"/>
            <a:ext cx="10607040" cy="512064"/>
          </a:xfrm>
          <a:prstGeom prst="roundRect">
            <a:avLst>
              <a:gd name="adj" fmla="val 10714"/>
            </a:avLst>
          </a:prstGeom>
          <a:solidFill>
            <a:srgbClr val="0B1F3A"/>
          </a:solidFill>
          <a:ln/>
        </p:spPr>
      </p:sp>
      <p:sp>
        <p:nvSpPr>
          <p:cNvPr id="6" name="Text 4"/>
          <p:cNvSpPr/>
          <p:nvPr/>
        </p:nvSpPr>
        <p:spPr>
          <a:xfrm>
            <a:off x="502920" y="2606040"/>
            <a:ext cx="731520" cy="512064"/>
          </a:xfrm>
          <a:prstGeom prst="rect">
            <a:avLst/>
          </a:prstGeom>
          <a:noFill/>
          <a:ln/>
        </p:spPr>
        <p:txBody>
          <a:bodyPr wrap="square" lIns="0" tIns="1778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p>
        </p:txBody>
      </p:sp>
      <p:sp>
        <p:nvSpPr>
          <p:cNvPr id="7" name="Text 5"/>
          <p:cNvSpPr/>
          <p:nvPr/>
        </p:nvSpPr>
        <p:spPr>
          <a:xfrm>
            <a:off x="1234440" y="2606040"/>
            <a:ext cx="12801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circuit</a:t>
            </a:r>
            <a:endParaRPr lang="en-US" sz="1050" dirty="0"/>
          </a:p>
        </p:txBody>
      </p:sp>
      <p:sp>
        <p:nvSpPr>
          <p:cNvPr id="8" name="Text 6"/>
          <p:cNvSpPr/>
          <p:nvPr/>
        </p:nvSpPr>
        <p:spPr>
          <a:xfrm>
            <a:off x="251460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fault</a:t>
            </a:r>
            <a:endParaRPr lang="en-US" sz="1050" dirty="0"/>
          </a:p>
        </p:txBody>
      </p:sp>
      <p:sp>
        <p:nvSpPr>
          <p:cNvPr id="9" name="Text 7"/>
          <p:cNvSpPr/>
          <p:nvPr/>
        </p:nvSpPr>
        <p:spPr>
          <a:xfrm>
            <a:off x="3703320" y="2606040"/>
            <a:ext cx="17373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param_value</a:t>
            </a:r>
            <a:endParaRPr lang="en-US" sz="1050" dirty="0"/>
          </a:p>
        </p:txBody>
      </p:sp>
      <p:sp>
        <p:nvSpPr>
          <p:cNvPr id="10" name="Text 8"/>
          <p:cNvSpPr/>
          <p:nvPr/>
        </p:nvSpPr>
        <p:spPr>
          <a:xfrm>
            <a:off x="544068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v0</a:t>
            </a:r>
            <a:endParaRPr lang="en-US" sz="1050" dirty="0"/>
          </a:p>
        </p:txBody>
      </p:sp>
      <p:sp>
        <p:nvSpPr>
          <p:cNvPr id="11" name="Text 9"/>
          <p:cNvSpPr/>
          <p:nvPr/>
        </p:nvSpPr>
        <p:spPr>
          <a:xfrm>
            <a:off x="667512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v1</a:t>
            </a:r>
            <a:endParaRPr lang="en-US" sz="1050" dirty="0"/>
          </a:p>
        </p:txBody>
      </p:sp>
      <p:sp>
        <p:nvSpPr>
          <p:cNvPr id="12" name="Text 10"/>
          <p:cNvSpPr/>
          <p:nvPr/>
        </p:nvSpPr>
        <p:spPr>
          <a:xfrm>
            <a:off x="790956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v2</a:t>
            </a:r>
            <a:endParaRPr lang="en-US" sz="1050" dirty="0"/>
          </a:p>
        </p:txBody>
      </p:sp>
      <p:sp>
        <p:nvSpPr>
          <p:cNvPr id="13" name="Text 11"/>
          <p:cNvSpPr/>
          <p:nvPr/>
        </p:nvSpPr>
        <p:spPr>
          <a:xfrm>
            <a:off x="9144000" y="2606040"/>
            <a:ext cx="7772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4" name="Text 12"/>
          <p:cNvSpPr/>
          <p:nvPr/>
        </p:nvSpPr>
        <p:spPr>
          <a:xfrm>
            <a:off x="992124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v199</a:t>
            </a:r>
            <a:endParaRPr lang="en-US" sz="1050" dirty="0"/>
          </a:p>
        </p:txBody>
      </p:sp>
      <p:sp>
        <p:nvSpPr>
          <p:cNvPr id="15" name="Shape 13"/>
          <p:cNvSpPr/>
          <p:nvPr/>
        </p:nvSpPr>
        <p:spPr>
          <a:xfrm>
            <a:off x="502920" y="3118104"/>
            <a:ext cx="10607040" cy="512064"/>
          </a:xfrm>
          <a:prstGeom prst="rect">
            <a:avLst/>
          </a:prstGeom>
          <a:solidFill>
            <a:srgbClr val="FFFFFF"/>
          </a:solidFill>
          <a:ln w="9525">
            <a:solidFill>
              <a:srgbClr val="E4E9F1"/>
            </a:solidFill>
            <a:prstDash val="solid"/>
          </a:ln>
        </p:spPr>
      </p:sp>
      <p:sp>
        <p:nvSpPr>
          <p:cNvPr id="16" name="Text 14"/>
          <p:cNvSpPr/>
          <p:nvPr/>
        </p:nvSpPr>
        <p:spPr>
          <a:xfrm>
            <a:off x="502920" y="3118104"/>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0</a:t>
            </a:r>
            <a:endParaRPr lang="en-US" sz="1050" dirty="0"/>
          </a:p>
        </p:txBody>
      </p:sp>
      <p:sp>
        <p:nvSpPr>
          <p:cNvPr id="17" name="Text 15"/>
          <p:cNvSpPr/>
          <p:nvPr/>
        </p:nvSpPr>
        <p:spPr>
          <a:xfrm>
            <a:off x="1234440" y="3118104"/>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18" name="Text 16"/>
          <p:cNvSpPr/>
          <p:nvPr/>
        </p:nvSpPr>
        <p:spPr>
          <a:xfrm>
            <a:off x="2514600" y="3118104"/>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normal</a:t>
            </a:r>
            <a:endParaRPr lang="en-US" sz="1050" dirty="0"/>
          </a:p>
        </p:txBody>
      </p:sp>
      <p:sp>
        <p:nvSpPr>
          <p:cNvPr id="19" name="Text 17"/>
          <p:cNvSpPr/>
          <p:nvPr/>
        </p:nvSpPr>
        <p:spPr>
          <a:xfrm>
            <a:off x="3703320" y="3118104"/>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100 ohm</a:t>
            </a:r>
            <a:endParaRPr lang="en-US" sz="1050" dirty="0"/>
          </a:p>
        </p:txBody>
      </p:sp>
      <p:sp>
        <p:nvSpPr>
          <p:cNvPr id="20" name="Text 18"/>
          <p:cNvSpPr/>
          <p:nvPr/>
        </p:nvSpPr>
        <p:spPr>
          <a:xfrm>
            <a:off x="544068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21" name="Text 19"/>
          <p:cNvSpPr/>
          <p:nvPr/>
        </p:nvSpPr>
        <p:spPr>
          <a:xfrm>
            <a:off x="667512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1.962</a:t>
            </a:r>
            <a:endParaRPr lang="en-US" sz="1050" dirty="0"/>
          </a:p>
        </p:txBody>
      </p:sp>
      <p:sp>
        <p:nvSpPr>
          <p:cNvPr id="22" name="Text 20"/>
          <p:cNvSpPr/>
          <p:nvPr/>
        </p:nvSpPr>
        <p:spPr>
          <a:xfrm>
            <a:off x="790956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3.080</a:t>
            </a:r>
            <a:endParaRPr lang="en-US" sz="1050" dirty="0"/>
          </a:p>
        </p:txBody>
      </p:sp>
      <p:sp>
        <p:nvSpPr>
          <p:cNvPr id="23" name="Text 21"/>
          <p:cNvSpPr/>
          <p:nvPr/>
        </p:nvSpPr>
        <p:spPr>
          <a:xfrm>
            <a:off x="9144000" y="3118104"/>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24" name="Text 22"/>
          <p:cNvSpPr/>
          <p:nvPr/>
        </p:nvSpPr>
        <p:spPr>
          <a:xfrm>
            <a:off x="9921240" y="3118104"/>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25" name="Shape 23"/>
          <p:cNvSpPr/>
          <p:nvPr/>
        </p:nvSpPr>
        <p:spPr>
          <a:xfrm>
            <a:off x="502920" y="3630168"/>
            <a:ext cx="10607040" cy="512064"/>
          </a:xfrm>
          <a:prstGeom prst="rect">
            <a:avLst/>
          </a:prstGeom>
          <a:solidFill>
            <a:srgbClr val="EEF2F7"/>
          </a:solidFill>
          <a:ln w="9525">
            <a:solidFill>
              <a:srgbClr val="E4E9F1"/>
            </a:solidFill>
            <a:prstDash val="solid"/>
          </a:ln>
        </p:spPr>
      </p:sp>
      <p:sp>
        <p:nvSpPr>
          <p:cNvPr id="26" name="Text 24"/>
          <p:cNvSpPr/>
          <p:nvPr/>
        </p:nvSpPr>
        <p:spPr>
          <a:xfrm>
            <a:off x="502920" y="3630168"/>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102</a:t>
            </a:r>
            <a:endParaRPr lang="en-US" sz="1050" dirty="0"/>
          </a:p>
        </p:txBody>
      </p:sp>
      <p:sp>
        <p:nvSpPr>
          <p:cNvPr id="27" name="Text 25"/>
          <p:cNvSpPr/>
          <p:nvPr/>
        </p:nvSpPr>
        <p:spPr>
          <a:xfrm>
            <a:off x="1234440" y="3630168"/>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28" name="Text 26"/>
          <p:cNvSpPr/>
          <p:nvPr/>
        </p:nvSpPr>
        <p:spPr>
          <a:xfrm>
            <a:off x="2514600" y="3630168"/>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open</a:t>
            </a:r>
            <a:endParaRPr lang="en-US" sz="1050" dirty="0"/>
          </a:p>
        </p:txBody>
      </p:sp>
      <p:sp>
        <p:nvSpPr>
          <p:cNvPr id="29" name="Text 27"/>
          <p:cNvSpPr/>
          <p:nvPr/>
        </p:nvSpPr>
        <p:spPr>
          <a:xfrm>
            <a:off x="3703320" y="3630168"/>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30" name="Text 28"/>
          <p:cNvSpPr/>
          <p:nvPr/>
        </p:nvSpPr>
        <p:spPr>
          <a:xfrm>
            <a:off x="544068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1" name="Text 29"/>
          <p:cNvSpPr/>
          <p:nvPr/>
        </p:nvSpPr>
        <p:spPr>
          <a:xfrm>
            <a:off x="667512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2" name="Text 30"/>
          <p:cNvSpPr/>
          <p:nvPr/>
        </p:nvSpPr>
        <p:spPr>
          <a:xfrm>
            <a:off x="790956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3" name="Text 31"/>
          <p:cNvSpPr/>
          <p:nvPr/>
        </p:nvSpPr>
        <p:spPr>
          <a:xfrm>
            <a:off x="9144000" y="3630168"/>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34" name="Text 32"/>
          <p:cNvSpPr/>
          <p:nvPr/>
        </p:nvSpPr>
        <p:spPr>
          <a:xfrm>
            <a:off x="9921240" y="3630168"/>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0.047</a:t>
            </a:r>
            <a:endParaRPr lang="en-US" sz="1050" dirty="0"/>
          </a:p>
        </p:txBody>
      </p:sp>
      <p:sp>
        <p:nvSpPr>
          <p:cNvPr id="35" name="Shape 33"/>
          <p:cNvSpPr/>
          <p:nvPr/>
        </p:nvSpPr>
        <p:spPr>
          <a:xfrm>
            <a:off x="502920" y="4142232"/>
            <a:ext cx="10607040" cy="512064"/>
          </a:xfrm>
          <a:prstGeom prst="rect">
            <a:avLst/>
          </a:prstGeom>
          <a:solidFill>
            <a:srgbClr val="FFFFFF"/>
          </a:solidFill>
          <a:ln w="9525">
            <a:solidFill>
              <a:srgbClr val="E4E9F1"/>
            </a:solidFill>
            <a:prstDash val="solid"/>
          </a:ln>
        </p:spPr>
      </p:sp>
      <p:sp>
        <p:nvSpPr>
          <p:cNvPr id="36" name="Text 34"/>
          <p:cNvSpPr/>
          <p:nvPr/>
        </p:nvSpPr>
        <p:spPr>
          <a:xfrm>
            <a:off x="502920" y="4142232"/>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153</a:t>
            </a:r>
            <a:endParaRPr lang="en-US" sz="1050" dirty="0"/>
          </a:p>
        </p:txBody>
      </p:sp>
      <p:sp>
        <p:nvSpPr>
          <p:cNvPr id="37" name="Text 35"/>
          <p:cNvSpPr/>
          <p:nvPr/>
        </p:nvSpPr>
        <p:spPr>
          <a:xfrm>
            <a:off x="1234440" y="4142232"/>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38" name="Text 36"/>
          <p:cNvSpPr/>
          <p:nvPr/>
        </p:nvSpPr>
        <p:spPr>
          <a:xfrm>
            <a:off x="2514600" y="4142232"/>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short</a:t>
            </a:r>
            <a:endParaRPr lang="en-US" sz="1050" dirty="0"/>
          </a:p>
        </p:txBody>
      </p:sp>
      <p:sp>
        <p:nvSpPr>
          <p:cNvPr id="39" name="Text 37"/>
          <p:cNvSpPr/>
          <p:nvPr/>
        </p:nvSpPr>
        <p:spPr>
          <a:xfrm>
            <a:off x="3703320" y="4142232"/>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40" name="Text 38"/>
          <p:cNvSpPr/>
          <p:nvPr/>
        </p:nvSpPr>
        <p:spPr>
          <a:xfrm>
            <a:off x="544068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41" name="Text 39"/>
          <p:cNvSpPr/>
          <p:nvPr/>
        </p:nvSpPr>
        <p:spPr>
          <a:xfrm>
            <a:off x="667512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2" name="Text 40"/>
          <p:cNvSpPr/>
          <p:nvPr/>
        </p:nvSpPr>
        <p:spPr>
          <a:xfrm>
            <a:off x="790956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3" name="Text 41"/>
          <p:cNvSpPr/>
          <p:nvPr/>
        </p:nvSpPr>
        <p:spPr>
          <a:xfrm>
            <a:off x="9144000" y="4142232"/>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44" name="Text 42"/>
          <p:cNvSpPr/>
          <p:nvPr/>
        </p:nvSpPr>
        <p:spPr>
          <a:xfrm>
            <a:off x="9921240" y="4142232"/>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5" name="Shape 43"/>
          <p:cNvSpPr/>
          <p:nvPr/>
        </p:nvSpPr>
        <p:spPr>
          <a:xfrm>
            <a:off x="502920" y="4654296"/>
            <a:ext cx="10607040" cy="512064"/>
          </a:xfrm>
          <a:prstGeom prst="rect">
            <a:avLst/>
          </a:prstGeom>
          <a:solidFill>
            <a:srgbClr val="EEF2F7"/>
          </a:solidFill>
          <a:ln w="9525">
            <a:solidFill>
              <a:srgbClr val="E4E9F1"/>
            </a:solidFill>
            <a:prstDash val="solid"/>
          </a:ln>
        </p:spPr>
      </p:sp>
      <p:sp>
        <p:nvSpPr>
          <p:cNvPr id="46" name="Text 44"/>
          <p:cNvSpPr/>
          <p:nvPr/>
        </p:nvSpPr>
        <p:spPr>
          <a:xfrm>
            <a:off x="502920" y="4654296"/>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255</a:t>
            </a:r>
            <a:endParaRPr lang="en-US" sz="1050" dirty="0"/>
          </a:p>
        </p:txBody>
      </p:sp>
      <p:sp>
        <p:nvSpPr>
          <p:cNvPr id="47" name="Text 45"/>
          <p:cNvSpPr/>
          <p:nvPr/>
        </p:nvSpPr>
        <p:spPr>
          <a:xfrm>
            <a:off x="1234440" y="4654296"/>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RLC</a:t>
            </a:r>
            <a:endParaRPr lang="en-US" sz="1050" dirty="0"/>
          </a:p>
        </p:txBody>
      </p:sp>
      <p:sp>
        <p:nvSpPr>
          <p:cNvPr id="48" name="Text 46"/>
          <p:cNvSpPr/>
          <p:nvPr/>
        </p:nvSpPr>
        <p:spPr>
          <a:xfrm>
            <a:off x="2514600" y="4654296"/>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drift</a:t>
            </a:r>
            <a:endParaRPr lang="en-US" sz="1050" dirty="0"/>
          </a:p>
        </p:txBody>
      </p:sp>
      <p:sp>
        <p:nvSpPr>
          <p:cNvPr id="49" name="Text 47"/>
          <p:cNvSpPr/>
          <p:nvPr/>
        </p:nvSpPr>
        <p:spPr>
          <a:xfrm>
            <a:off x="3703320" y="4654296"/>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12.0 mH</a:t>
            </a:r>
            <a:endParaRPr lang="en-US" sz="1050" dirty="0"/>
          </a:p>
        </p:txBody>
      </p:sp>
      <p:sp>
        <p:nvSpPr>
          <p:cNvPr id="50" name="Text 48"/>
          <p:cNvSpPr/>
          <p:nvPr/>
        </p:nvSpPr>
        <p:spPr>
          <a:xfrm>
            <a:off x="544068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1" name="Text 49"/>
          <p:cNvSpPr/>
          <p:nvPr/>
        </p:nvSpPr>
        <p:spPr>
          <a:xfrm>
            <a:off x="667512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2" name="Text 50"/>
          <p:cNvSpPr/>
          <p:nvPr/>
        </p:nvSpPr>
        <p:spPr>
          <a:xfrm>
            <a:off x="790956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0.002</a:t>
            </a:r>
            <a:endParaRPr lang="en-US" sz="1050" dirty="0"/>
          </a:p>
        </p:txBody>
      </p:sp>
      <p:sp>
        <p:nvSpPr>
          <p:cNvPr id="53" name="Text 51"/>
          <p:cNvSpPr/>
          <p:nvPr/>
        </p:nvSpPr>
        <p:spPr>
          <a:xfrm>
            <a:off x="9144000" y="4654296"/>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54" name="Text 52"/>
          <p:cNvSpPr/>
          <p:nvPr/>
        </p:nvSpPr>
        <p:spPr>
          <a:xfrm>
            <a:off x="9921240" y="4654296"/>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8.668</a:t>
            </a:r>
            <a:endParaRPr lang="en-US" sz="1050" dirty="0"/>
          </a:p>
        </p:txBody>
      </p:sp>
      <p:sp>
        <p:nvSpPr>
          <p:cNvPr id="55" name="Text 53"/>
          <p:cNvSpPr/>
          <p:nvPr/>
        </p:nvSpPr>
        <p:spPr>
          <a:xfrm>
            <a:off x="502920" y="5166360"/>
            <a:ext cx="10607040" cy="1005840"/>
          </a:xfrm>
          <a:prstGeom prst="rect">
            <a:avLst/>
          </a:prstGeom>
          <a:noFill/>
          <a:ln/>
        </p:spPr>
        <p:txBody>
          <a:bodyPr wrap="square" lIns="0" tIns="0" rIns="0" bIns="0" rtlCol="0" anchor="ctr"/>
          <a:lstStyle/>
          <a:p>
            <a:pPr indent="0" marL="0">
              <a:lnSpc>
                <a:spcPct val="125000"/>
              </a:lnSpc>
              <a:buNone/>
            </a:pPr>
            <a:r>
              <a:rPr lang="en-US" sz="1100" b="1" dirty="0">
                <a:solidFill>
                  <a:srgbClr val="0B1F3A"/>
                </a:solidFill>
                <a:latin typeface="Calibri" pitchFamily="34" charset="0"/>
                <a:ea typeface="Calibri" pitchFamily="34" charset="-122"/>
                <a:cs typeface="Calibri" pitchFamily="34" charset="-120"/>
              </a:rPr>
              <a:t>1,019 rows x 204 columns total.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Notice how the shape alone tells a story: RC_open barely rises off 0V, RC_short jumps straight to 5V, and RLC_drift overshoots past 5V before settling — that oscillation ("ringing") is only possible because the RLC circuit has an inductor. A few param_value entries show as n/a because of a parsing quirk in the original sweep export — a real, minor rough edge left visible here rather than smoothed over.</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1,019 Samples, Evenly Balanced Across Fault Types</a:t>
            </a:r>
            <a:endParaRPr lang="en-US" sz="3000" dirty="0"/>
          </a:p>
        </p:txBody>
      </p:sp>
      <p:graphicFrame>
        <p:nvGraphicFramePr>
          <p:cNvPr id="4" name="Chart 0" descr=""/>
          <p:cNvGraphicFramePr/>
          <p:nvPr/>
        </p:nvGraphicFramePr>
        <p:xfrm>
          <a:off x="502920" y="169164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03720" y="187452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balance_00B4D8.png">    </p:cNvPr>
          <p:cNvPicPr>
            <a:picLocks noChangeAspect="1"/>
          </p:cNvPicPr>
          <p:nvPr/>
        </p:nvPicPr>
        <p:blipFill>
          <a:blip r:embed="rId2"/>
          <a:stretch>
            <a:fillRect/>
          </a:stretch>
        </p:blipFill>
        <p:spPr>
          <a:xfrm>
            <a:off x="6977786" y="1948586"/>
            <a:ext cx="400507" cy="400507"/>
          </a:xfrm>
          <a:prstGeom prst="rect">
            <a:avLst/>
          </a:prstGeom>
        </p:spPr>
      </p:pic>
      <p:sp>
        <p:nvSpPr>
          <p:cNvPr id="7" name="Text 3"/>
          <p:cNvSpPr/>
          <p:nvPr/>
        </p:nvSpPr>
        <p:spPr>
          <a:xfrm>
            <a:off x="7635240" y="1856232"/>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Perfectly balanced classes</a:t>
            </a:r>
            <a:endParaRPr lang="en-US" sz="1350" dirty="0"/>
          </a:p>
        </p:txBody>
      </p:sp>
      <p:sp>
        <p:nvSpPr>
          <p:cNvPr id="8" name="Text 4"/>
          <p:cNvSpPr/>
          <p:nvPr/>
        </p:nvSpPr>
        <p:spPr>
          <a:xfrm>
            <a:off x="7635240" y="2203704"/>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Each fault type accounts for about 20% of samples, so the model can't win by just guessing the majority label.</a:t>
            </a:r>
            <a:endParaRPr lang="en-US" sz="1050" dirty="0"/>
          </a:p>
        </p:txBody>
      </p:sp>
      <p:sp>
        <p:nvSpPr>
          <p:cNvPr id="9" name="Shape 5"/>
          <p:cNvSpPr/>
          <p:nvPr/>
        </p:nvSpPr>
        <p:spPr>
          <a:xfrm>
            <a:off x="6903720" y="3172968"/>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sitemap_00B4D8.png">    </p:cNvPr>
          <p:cNvPicPr>
            <a:picLocks noChangeAspect="1"/>
          </p:cNvPicPr>
          <p:nvPr/>
        </p:nvPicPr>
        <p:blipFill>
          <a:blip r:embed="rId3"/>
          <a:stretch>
            <a:fillRect/>
          </a:stretch>
        </p:blipFill>
        <p:spPr>
          <a:xfrm>
            <a:off x="6977786" y="3247034"/>
            <a:ext cx="400507" cy="400507"/>
          </a:xfrm>
          <a:prstGeom prst="rect">
            <a:avLst/>
          </a:prstGeom>
        </p:spPr>
      </p:pic>
      <p:sp>
        <p:nvSpPr>
          <p:cNvPr id="11" name="Text 6"/>
          <p:cNvSpPr/>
          <p:nvPr/>
        </p:nvSpPr>
        <p:spPr>
          <a:xfrm>
            <a:off x="7635240" y="3154680"/>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20 total labels</a:t>
            </a:r>
            <a:endParaRPr lang="en-US" sz="1350" dirty="0"/>
          </a:p>
        </p:txBody>
      </p:sp>
      <p:sp>
        <p:nvSpPr>
          <p:cNvPr id="12" name="Text 7"/>
          <p:cNvSpPr/>
          <p:nvPr/>
        </p:nvSpPr>
        <p:spPr>
          <a:xfrm>
            <a:off x="7635240" y="3502152"/>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Each sample is tagged circuit_fault, e.g. RC_open or SALLEN_KEY_drift — 4 circuits times 5 faults.</a:t>
            </a:r>
            <a:endParaRPr lang="en-US" sz="1050" dirty="0"/>
          </a:p>
        </p:txBody>
      </p:sp>
      <p:sp>
        <p:nvSpPr>
          <p:cNvPr id="13" name="Shape 8"/>
          <p:cNvSpPr/>
          <p:nvPr/>
        </p:nvSpPr>
        <p:spPr>
          <a:xfrm>
            <a:off x="6903720" y="4471416"/>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2" descr="/sessions/blissful-zealous-babbage/mnt/outputs/ppt/icons/database_00B4D8.png">    </p:cNvPr>
          <p:cNvPicPr>
            <a:picLocks noChangeAspect="1"/>
          </p:cNvPicPr>
          <p:nvPr/>
        </p:nvPicPr>
        <p:blipFill>
          <a:blip r:embed="rId4"/>
          <a:stretch>
            <a:fillRect/>
          </a:stretch>
        </p:blipFill>
        <p:spPr>
          <a:xfrm>
            <a:off x="6977786" y="4545482"/>
            <a:ext cx="400507" cy="400507"/>
          </a:xfrm>
          <a:prstGeom prst="rect">
            <a:avLst/>
          </a:prstGeom>
        </p:spPr>
      </p:pic>
      <p:sp>
        <p:nvSpPr>
          <p:cNvPr id="15" name="Text 9"/>
          <p:cNvSpPr/>
          <p:nvPr/>
        </p:nvSpPr>
        <p:spPr>
          <a:xfrm>
            <a:off x="7635240" y="4453128"/>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About 51 samples per class</a:t>
            </a:r>
            <a:endParaRPr lang="en-US" sz="1350" dirty="0"/>
          </a:p>
        </p:txBody>
      </p:sp>
      <p:sp>
        <p:nvSpPr>
          <p:cNvPr id="16" name="Text 10"/>
          <p:cNvSpPr/>
          <p:nvPr/>
        </p:nvSpPr>
        <p:spPr>
          <a:xfrm>
            <a:off x="7635240" y="4800600"/>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1,019 divided across 20 classes averages to roughly 51 samples each — a genuinely small-data problem.</a:t>
            </a:r>
            <a:endParaRPr lang="en-US" sz="1050" dirty="0"/>
          </a:p>
        </p:txBody>
      </p:sp>
      <p:sp>
        <p:nvSpPr>
          <p:cNvPr id="17"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Train/Test Split: Keeping Evaluation Honest</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train_test_split(X, y, test_size=0.20, random_state=42, stratify=y)</a:t>
            </a:r>
            <a:endParaRPr lang="en-US" sz="1450" dirty="0"/>
          </a:p>
        </p:txBody>
      </p:sp>
      <p:sp>
        <p:nvSpPr>
          <p:cNvPr id="6" name="Shape 4"/>
          <p:cNvSpPr/>
          <p:nvPr/>
        </p:nvSpPr>
        <p:spPr>
          <a:xfrm>
            <a:off x="502920" y="320040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layer_00B4D8.png">    </p:cNvPr>
          <p:cNvPicPr>
            <a:picLocks noChangeAspect="1"/>
          </p:cNvPicPr>
          <p:nvPr/>
        </p:nvPicPr>
        <p:blipFill>
          <a:blip r:embed="rId1"/>
          <a:stretch>
            <a:fillRect/>
          </a:stretch>
        </p:blipFill>
        <p:spPr>
          <a:xfrm>
            <a:off x="570814" y="3268294"/>
            <a:ext cx="367132" cy="367132"/>
          </a:xfrm>
          <a:prstGeom prst="rect">
            <a:avLst/>
          </a:prstGeom>
        </p:spPr>
      </p:pic>
      <p:sp>
        <p:nvSpPr>
          <p:cNvPr id="8" name="Text 5"/>
          <p:cNvSpPr/>
          <p:nvPr/>
        </p:nvSpPr>
        <p:spPr>
          <a:xfrm>
            <a:off x="1188720" y="321868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80/20 split: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About 815 samples train the model; the remaining ~204 are held out purely for evaluation.</a:t>
            </a:r>
            <a:endParaRPr lang="en-US" sz="1180" dirty="0"/>
          </a:p>
        </p:txBody>
      </p:sp>
      <p:sp>
        <p:nvSpPr>
          <p:cNvPr id="9" name="Shape 6"/>
          <p:cNvSpPr/>
          <p:nvPr/>
        </p:nvSpPr>
        <p:spPr>
          <a:xfrm>
            <a:off x="502920" y="397764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balance_00B4D8.png">    </p:cNvPr>
          <p:cNvPicPr>
            <a:picLocks noChangeAspect="1"/>
          </p:cNvPicPr>
          <p:nvPr/>
        </p:nvPicPr>
        <p:blipFill>
          <a:blip r:embed="rId2"/>
          <a:stretch>
            <a:fillRect/>
          </a:stretch>
        </p:blipFill>
        <p:spPr>
          <a:xfrm>
            <a:off x="570814" y="4045534"/>
            <a:ext cx="367132" cy="367132"/>
          </a:xfrm>
          <a:prstGeom prst="rect">
            <a:avLst/>
          </a:prstGeom>
        </p:spPr>
      </p:pic>
      <p:sp>
        <p:nvSpPr>
          <p:cNvPr id="11" name="Text 7"/>
          <p:cNvSpPr/>
          <p:nvPr/>
        </p:nvSpPr>
        <p:spPr>
          <a:xfrm>
            <a:off x="1188720" y="399592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Stratified by class: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Every one of the 20 classes keeps its ~80/20 proportion in both sets — no class is accidentally left thin in testing.</a:t>
            </a:r>
            <a:endParaRPr lang="en-US" sz="1180" dirty="0"/>
          </a:p>
        </p:txBody>
      </p:sp>
      <p:sp>
        <p:nvSpPr>
          <p:cNvPr id="12" name="Shape 8"/>
          <p:cNvSpPr/>
          <p:nvPr/>
        </p:nvSpPr>
        <p:spPr>
          <a:xfrm>
            <a:off x="502920" y="475488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tools_00B4D8.png">    </p:cNvPr>
          <p:cNvPicPr>
            <a:picLocks noChangeAspect="1"/>
          </p:cNvPicPr>
          <p:nvPr/>
        </p:nvPicPr>
        <p:blipFill>
          <a:blip r:embed="rId3"/>
          <a:stretch>
            <a:fillRect/>
          </a:stretch>
        </p:blipFill>
        <p:spPr>
          <a:xfrm>
            <a:off x="570814" y="4822774"/>
            <a:ext cx="367132" cy="367132"/>
          </a:xfrm>
          <a:prstGeom prst="rect">
            <a:avLst/>
          </a:prstGeom>
        </p:spPr>
      </p:pic>
      <p:sp>
        <p:nvSpPr>
          <p:cNvPr id="14" name="Text 9"/>
          <p:cNvSpPr/>
          <p:nvPr/>
        </p:nvSpPr>
        <p:spPr>
          <a:xfrm>
            <a:off x="1188720" y="477316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Fixed random seed: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random_state=42 makes the split reproducible — the same test samples every time the pipeline reruns.</a:t>
            </a:r>
            <a:endParaRPr lang="en-US" sz="1180" dirty="0"/>
          </a:p>
        </p:txBody>
      </p:sp>
      <p:sp>
        <p:nvSpPr>
          <p:cNvPr id="15" name="Shape 10"/>
          <p:cNvSpPr/>
          <p:nvPr/>
        </p:nvSpPr>
        <p:spPr>
          <a:xfrm>
            <a:off x="502920" y="553212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3" descr="/sessions/blissful-zealous-babbage/mnt/outputs/ppt/icons/search_00B4D8.png">    </p:cNvPr>
          <p:cNvPicPr>
            <a:picLocks noChangeAspect="1"/>
          </p:cNvPicPr>
          <p:nvPr/>
        </p:nvPicPr>
        <p:blipFill>
          <a:blip r:embed="rId4"/>
          <a:stretch>
            <a:fillRect/>
          </a:stretch>
        </p:blipFill>
        <p:spPr>
          <a:xfrm>
            <a:off x="570814" y="5600014"/>
            <a:ext cx="367132" cy="367132"/>
          </a:xfrm>
          <a:prstGeom prst="rect">
            <a:avLst/>
          </a:prstGeom>
        </p:spPr>
      </p:pic>
      <p:sp>
        <p:nvSpPr>
          <p:cNvPr id="17" name="Text 11"/>
          <p:cNvSpPr/>
          <p:nvPr/>
        </p:nvSpPr>
        <p:spPr>
          <a:xfrm>
            <a:off x="1188720" y="555040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Test set never touched during tuning: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GridSearchCV only ever sees the training set; the test set is reserved for the one final, honest accuracy number.</a:t>
            </a:r>
            <a:endParaRPr lang="en-US" sz="1180" dirty="0"/>
          </a:p>
        </p:txBody>
      </p:sp>
      <p:sp>
        <p:nvSpPr>
          <p:cNvPr id="18"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From Waveform to Numbers</a:t>
            </a:r>
            <a:endParaRPr lang="en-US" sz="3000" dirty="0"/>
          </a:p>
        </p:txBody>
      </p:sp>
      <p:sp>
        <p:nvSpPr>
          <p:cNvPr id="4" name="Text 2"/>
          <p:cNvSpPr/>
          <p:nvPr/>
        </p:nvSpPr>
        <p:spPr>
          <a:xfrm>
            <a:off x="502920" y="1783080"/>
            <a:ext cx="10515600" cy="777240"/>
          </a:xfrm>
          <a:prstGeom prst="rect">
            <a:avLst/>
          </a:prstGeom>
          <a:noFill/>
          <a:ln/>
        </p:spPr>
        <p:txBody>
          <a:bodyPr wrap="square" lIns="0" tIns="0" rIns="0" bIns="0" rtlCol="0" anchor="ctr"/>
          <a:lstStyle/>
          <a:p>
            <a:pPr indent="0" marL="0">
              <a:lnSpc>
                <a:spcPct val="128000"/>
              </a:lnSpc>
              <a:buNone/>
            </a:pPr>
            <a:r>
              <a:rPr lang="en-US" sz="1400" dirty="0">
                <a:solidFill>
                  <a:srgbClr val="1E293B"/>
                </a:solidFill>
                <a:latin typeface="Calibri" pitchFamily="34" charset="0"/>
                <a:ea typeface="Calibri" pitchFamily="34" charset="-122"/>
                <a:cs typeface="Calibri" pitchFamily="34" charset="-120"/>
              </a:rPr>
              <a:t>Each raw sample is 200 individual voltage readings — too high-dimensional and noisy for a classic SVM to learn from efficiently. Instead, every waveform is compressed into </a:t>
            </a:r>
            <a:pPr indent="0" marL="0">
              <a:lnSpc>
                <a:spcPct val="128000"/>
              </a:lnSpc>
              <a:buNone/>
            </a:pPr>
            <a:r>
              <a:rPr lang="en-US" sz="1400" b="1" dirty="0">
                <a:solidFill>
                  <a:srgbClr val="0B1F3A"/>
                </a:solidFill>
                <a:latin typeface="Calibri" pitchFamily="34" charset="0"/>
                <a:ea typeface="Calibri" pitchFamily="34" charset="-122"/>
                <a:cs typeface="Calibri" pitchFamily="34" charset="-120"/>
              </a:rPr>
              <a:t>17 compact, physically meaningful numbers</a:t>
            </a:r>
            <a:pPr indent="0" marL="0">
              <a:lnSpc>
                <a:spcPct val="128000"/>
              </a:lnSpc>
              <a:buNone/>
            </a:pPr>
            <a:r>
              <a:rPr lang="en-US" sz="1400" dirty="0">
                <a:solidFill>
                  <a:srgbClr val="1E293B"/>
                </a:solidFill>
                <a:latin typeface="Calibri" pitchFamily="34" charset="0"/>
                <a:ea typeface="Calibri" pitchFamily="34" charset="-122"/>
                <a:cs typeface="Calibri" pitchFamily="34" charset="-120"/>
              </a:rPr>
              <a:t> that fall into two families:</a:t>
            </a:r>
            <a:endParaRPr lang="en-US" sz="1400" dirty="0"/>
          </a:p>
        </p:txBody>
      </p:sp>
      <p:sp>
        <p:nvSpPr>
          <p:cNvPr id="5" name="Shape 3"/>
          <p:cNvSpPr/>
          <p:nvPr/>
        </p:nvSpPr>
        <p:spPr>
          <a:xfrm>
            <a:off x="502920" y="2743200"/>
            <a:ext cx="5166360" cy="1417320"/>
          </a:xfrm>
          <a:prstGeom prst="roundRect">
            <a:avLst>
              <a:gd name="adj" fmla="val 580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58952" y="3108960"/>
            <a:ext cx="685800" cy="6858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chartline_00B4D8.png">    </p:cNvPr>
          <p:cNvPicPr>
            <a:picLocks noChangeAspect="1"/>
          </p:cNvPicPr>
          <p:nvPr/>
        </p:nvPicPr>
        <p:blipFill>
          <a:blip r:embed="rId1"/>
          <a:stretch>
            <a:fillRect/>
          </a:stretch>
        </p:blipFill>
        <p:spPr>
          <a:xfrm>
            <a:off x="851535" y="3201543"/>
            <a:ext cx="500634" cy="500634"/>
          </a:xfrm>
          <a:prstGeom prst="rect">
            <a:avLst/>
          </a:prstGeom>
        </p:spPr>
      </p:pic>
      <p:sp>
        <p:nvSpPr>
          <p:cNvPr id="8" name="Text 5"/>
          <p:cNvSpPr/>
          <p:nvPr/>
        </p:nvSpPr>
        <p:spPr>
          <a:xfrm>
            <a:off x="1600200" y="2926080"/>
            <a:ext cx="3886200" cy="36576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Time-domain shape</a:t>
            </a:r>
            <a:endParaRPr lang="en-US" sz="1450" dirty="0"/>
          </a:p>
        </p:txBody>
      </p:sp>
      <p:sp>
        <p:nvSpPr>
          <p:cNvPr id="9" name="Text 6"/>
          <p:cNvSpPr/>
          <p:nvPr/>
        </p:nvSpPr>
        <p:spPr>
          <a:xfrm>
            <a:off x="160020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How the signal looks over time — peak voltage, RMS, rise time, settling time, skewness, kurtosis, DC level.</a:t>
            </a:r>
            <a:endParaRPr lang="en-US" sz="1050" dirty="0"/>
          </a:p>
        </p:txBody>
      </p:sp>
      <p:sp>
        <p:nvSpPr>
          <p:cNvPr id="10" name="Shape 7"/>
          <p:cNvSpPr/>
          <p:nvPr/>
        </p:nvSpPr>
        <p:spPr>
          <a:xfrm>
            <a:off x="6126480" y="2743200"/>
            <a:ext cx="5166360" cy="1417320"/>
          </a:xfrm>
          <a:prstGeom prst="roundRect">
            <a:avLst>
              <a:gd name="adj" fmla="val 580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382512" y="3108960"/>
            <a:ext cx="685800" cy="6858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wave_00B4D8.png">    </p:cNvPr>
          <p:cNvPicPr>
            <a:picLocks noChangeAspect="1"/>
          </p:cNvPicPr>
          <p:nvPr/>
        </p:nvPicPr>
        <p:blipFill>
          <a:blip r:embed="rId2"/>
          <a:stretch>
            <a:fillRect/>
          </a:stretch>
        </p:blipFill>
        <p:spPr>
          <a:xfrm>
            <a:off x="6475095" y="3201543"/>
            <a:ext cx="500634" cy="500634"/>
          </a:xfrm>
          <a:prstGeom prst="rect">
            <a:avLst/>
          </a:prstGeom>
        </p:spPr>
      </p:pic>
      <p:sp>
        <p:nvSpPr>
          <p:cNvPr id="13" name="Text 9"/>
          <p:cNvSpPr/>
          <p:nvPr/>
        </p:nvSpPr>
        <p:spPr>
          <a:xfrm>
            <a:off x="7223760" y="2926080"/>
            <a:ext cx="3886200" cy="36576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Frequency-domain content</a:t>
            </a:r>
            <a:endParaRPr lang="en-US" sz="1450" dirty="0"/>
          </a:p>
        </p:txBody>
      </p:sp>
      <p:sp>
        <p:nvSpPr>
          <p:cNvPr id="14" name="Text 10"/>
          <p:cNvSpPr/>
          <p:nvPr/>
        </p:nvSpPr>
        <p:spPr>
          <a:xfrm>
            <a:off x="722376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How much energy sits at which frequency — dominant frequency, spectral energy, centroid, bandwidth, entropy.</a:t>
            </a:r>
            <a:endParaRPr lang="en-US" sz="1050" dirty="0"/>
          </a:p>
        </p:txBody>
      </p:sp>
      <p:sp>
        <p:nvSpPr>
          <p:cNvPr id="15" name="Shape 11"/>
          <p:cNvSpPr/>
          <p:nvPr/>
        </p:nvSpPr>
        <p:spPr>
          <a:xfrm>
            <a:off x="502920" y="4480560"/>
            <a:ext cx="10607040" cy="1600200"/>
          </a:xfrm>
          <a:prstGeom prst="roundRect">
            <a:avLst>
              <a:gd name="adj" fmla="val 4000"/>
            </a:avLst>
          </a:prstGeom>
          <a:solidFill>
            <a:srgbClr val="EAEEF4"/>
          </a:solidFill>
          <a:ln w="15875">
            <a:solidFill>
              <a:srgbClr val="9FB1C8"/>
            </a:solidFill>
            <a:prstDash val="dash"/>
          </a:ln>
        </p:spPr>
      </p:sp>
      <p:pic>
        <p:nvPicPr>
          <p:cNvPr id="16" name="Image 2" descr="/sessions/blissful-zealous-babbage/mnt/outputs/ppt/icons/wave_64748B.png">    </p:cNvPr>
          <p:cNvPicPr>
            <a:picLocks noChangeAspect="1"/>
          </p:cNvPicPr>
          <p:nvPr/>
        </p:nvPicPr>
        <p:blipFill>
          <a:blip r:embed="rId3"/>
          <a:stretch>
            <a:fillRect/>
          </a:stretch>
        </p:blipFill>
        <p:spPr>
          <a:xfrm>
            <a:off x="5534406" y="4592574"/>
            <a:ext cx="544068" cy="544068"/>
          </a:xfrm>
          <a:prstGeom prst="rect">
            <a:avLst/>
          </a:prstGeom>
        </p:spPr>
      </p:pic>
      <p:sp>
        <p:nvSpPr>
          <p:cNvPr id="17" name="Text 12"/>
          <p:cNvSpPr/>
          <p:nvPr/>
        </p:nvSpPr>
        <p:spPr>
          <a:xfrm>
            <a:off x="685800" y="5055032"/>
            <a:ext cx="102412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ANNOTATED WAVEFORM</a:t>
            </a:r>
            <a:endParaRPr lang="en-US" sz="1300" dirty="0"/>
          </a:p>
        </p:txBody>
      </p:sp>
      <p:sp>
        <p:nvSpPr>
          <p:cNvPr id="18" name="Text 13"/>
          <p:cNvSpPr/>
          <p:nvPr/>
        </p:nvSpPr>
        <p:spPr>
          <a:xfrm>
            <a:off x="777240" y="5402504"/>
            <a:ext cx="10058400" cy="512064"/>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a single trace with peak voltage, rise time and settling time marked</a:t>
            </a:r>
            <a:endParaRPr lang="en-US" sz="1050" dirty="0"/>
          </a:p>
        </p:txBody>
      </p:sp>
      <p:sp>
        <p:nvSpPr>
          <p:cNvPr id="19"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0"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Amplitude &amp;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f1  peak_voltage  = max(v)</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f2  rms_value     = sqrt( mean(v^2) )</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f3  mean_voltage  = mean(v)</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f4  std_voltage   = std(v)</a:t>
            </a:r>
            <a:endParaRPr lang="en-US" sz="145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These four numbers describe the basic size and spread of a waveform.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A shorted capacitor pushes peak_voltage toward the full 5V almost immediately; an open circuit keeps it near 0V. std_voltage in particular turns out to be one of the two most important features in the trained model (see Results).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Timing</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f5  rise_time      = t(at 90% peak) - t(at 10% peak)</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f6  settling_time  = last t where |v(t) - v_final| &gt; 2% * |v_final|</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rise_time is the single most important feature in the trained model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it directly captures how fast a circuit charges, which is exactly what open (never charges) and short (charges instantly) faults change most. settling_time captures how long oscillation or transients persist before the signal stabilizes.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Statistical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f7  skewness  = E[ (v - mean)^3 ] / std^3    (asymmetry)</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f8  kurtosis  = E[ (v - mean)^4 ] / std^4     (peakedness)</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dirty="0">
                <a:solidFill>
                  <a:srgbClr val="1E293B"/>
                </a:solidFill>
                <a:latin typeface="Calibri" pitchFamily="34" charset="0"/>
                <a:ea typeface="Calibri" pitchFamily="34" charset="-122"/>
                <a:cs typeface="Calibri" pitchFamily="34" charset="-120"/>
              </a:rPr>
              <a:t>Borrowed from statistics, these describe the </a:t>
            </a:r>
            <a:pPr indent="0" marL="0">
              <a:lnSpc>
                <a:spcPct val="132000"/>
              </a:lnSpc>
              <a:buNone/>
            </a:pPr>
            <a:r>
              <a:rPr lang="en-US" sz="1250" b="1" i="1" dirty="0">
                <a:solidFill>
                  <a:srgbClr val="0B1F3A"/>
                </a:solidFill>
                <a:latin typeface="Calibri" pitchFamily="34" charset="0"/>
                <a:ea typeface="Calibri" pitchFamily="34" charset="-122"/>
                <a:cs typeface="Calibri" pitchFamily="34" charset="-120"/>
              </a:rPr>
              <a:t>shape</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 of the voltage distribution across the whole waveform, not just its size. A lopsided charge/discharge curve skews one way; a noisy signal has different kurtosis than a smooth one — useful signal the size-based features alone miss.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Frequency-Domain Features: The FFT</a:t>
            </a:r>
            <a:endParaRPr lang="en-US" sz="3000" dirty="0"/>
          </a:p>
        </p:txBody>
      </p:sp>
      <p:sp>
        <p:nvSpPr>
          <p:cNvPr id="4" name="Text 2"/>
          <p:cNvSpPr/>
          <p:nvPr/>
        </p:nvSpPr>
        <p:spPr>
          <a:xfrm>
            <a:off x="502920" y="1828800"/>
            <a:ext cx="10607040" cy="100584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The Fast Fourier Transform rewrites a signal from “voltage over time” into “energy at each frequency.” </a:t>
            </a:r>
            <a:pPr indent="0" marL="0">
              <a:lnSpc>
                <a:spcPct val="130000"/>
              </a:lnSpc>
              <a:buNone/>
            </a:pPr>
            <a:r>
              <a:rPr lang="en-US" sz="1350" dirty="0">
                <a:solidFill>
                  <a:srgbClr val="64748B"/>
                </a:solidFill>
                <a:latin typeface="Calibri" pitchFamily="34" charset="0"/>
                <a:ea typeface="Calibri" pitchFamily="34" charset="-122"/>
                <a:cs typeface="Calibri" pitchFamily="34" charset="-120"/>
              </a:rPr>
              <a:t>A smooth RC charging curve is dominated by low frequencies; noise spreads energy across many frequencies; an RLC's ringing shows a clear peak at its oscillation frequency.</a:t>
            </a:r>
            <a:endParaRPr lang="en-US" sz="1350" dirty="0"/>
          </a:p>
        </p:txBody>
      </p:sp>
      <p:sp>
        <p:nvSpPr>
          <p:cNvPr id="5" name="Shape 3"/>
          <p:cNvSpPr/>
          <p:nvPr/>
        </p:nvSpPr>
        <p:spPr>
          <a:xfrm>
            <a:off x="502920" y="301752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15468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V(f) = FFT( v(t) )    |    magnitude spectrum |V(f)|</a:t>
            </a:r>
            <a:endParaRPr lang="en-US" sz="1500" dirty="0"/>
          </a:p>
        </p:txBody>
      </p:sp>
      <p:sp>
        <p:nvSpPr>
          <p:cNvPr id="7" name="Text 5"/>
          <p:cNvSpPr/>
          <p:nvPr/>
        </p:nvSpPr>
        <p:spPr>
          <a:xfrm>
            <a:off x="502920" y="4251960"/>
            <a:ext cx="106070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Five features (next slide) are computed from this magnitude spectrum rather than from the raw time signal.</a:t>
            </a:r>
            <a:endParaRPr lang="en-US" sz="1150" dirty="0"/>
          </a:p>
        </p:txBody>
      </p:sp>
      <p:sp>
        <p:nvSpPr>
          <p:cNvPr id="8" name="Shape 6"/>
          <p:cNvSpPr/>
          <p:nvPr/>
        </p:nvSpPr>
        <p:spPr>
          <a:xfrm>
            <a:off x="502920" y="5029200"/>
            <a:ext cx="11185855" cy="457200"/>
          </a:xfrm>
          <a:prstGeom prst="roundRect">
            <a:avLst>
              <a:gd name="adj" fmla="val 12000"/>
            </a:avLst>
          </a:prstGeom>
          <a:solidFill>
            <a:srgbClr val="FFF8E8"/>
          </a:solidFill>
          <a:ln w="12700">
            <a:solidFill>
              <a:srgbClr val="F0C24B"/>
            </a:solidFill>
            <a:prstDash val="solid"/>
          </a:ln>
        </p:spPr>
      </p:sp>
      <p:sp>
        <p:nvSpPr>
          <p:cNvPr id="9" name="Text 7"/>
          <p:cNvSpPr/>
          <p:nvPr/>
        </p:nvSpPr>
        <p:spPr>
          <a:xfrm>
            <a:off x="667512" y="502920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FFT is standard signal-processing math you already know from courses — this step is no different than reading a spectrum analyzer, just done in code instead of on a bench instrument.</a:t>
            </a:r>
            <a:endParaRPr lang="en-US" sz="9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Frequency-Domain Features: Spectral Descriptors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f9   dominant_freq       = f at max |V(f)|,  50-2000 Hz band</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f10  spectral_energy     = sum( |V(f)|^2 )</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f11  spectral_centroid   = sum(f*|V(f)|) / sum(|V(f)|)   ("center of mass")</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f12  bandwidth           = sqrt( sum((f-centroid)^2 * |V(f)|) / sum(|V(f)|) )</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f13  spectral_entropy    = -sum( p(f) * log2 p(f) ),  p(f)=|V(f)|^2/total</a:t>
            </a:r>
            <a:endParaRPr lang="en-US" sz="12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spectral_entropy is the third most important feature overall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a clean charging curve has low entropy (energy concentrated at low frequency); noise has high entropy (energy spread everywhere). This single number does a lot of work separating noise faults from everything else.</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Structural Features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f15  zero_crossing_rate  = crossings of (v - mean(v)) per sample</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f16  crest_factor        = max(|v|) / rms_value</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f14  energy              = sum(v^2)</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crest_factor is the fourth most important feature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it compares a signal's peak to its average power, which distinguishes a sharp, spiky waveform from a smooth one. zero_crossing_rate and energy add further structural context that complements the pure amplitude features.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17 Features, Three Families</a:t>
            </a:r>
            <a:endParaRPr lang="en-US" sz="3000" dirty="0"/>
          </a:p>
        </p:txBody>
      </p:sp>
      <p:sp>
        <p:nvSpPr>
          <p:cNvPr id="4" name="Shape 2"/>
          <p:cNvSpPr/>
          <p:nvPr/>
        </p:nvSpPr>
        <p:spPr>
          <a:xfrm>
            <a:off x="50292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502920" y="1783080"/>
            <a:ext cx="3429000" cy="594360"/>
          </a:xfrm>
          <a:prstGeom prst="roundRect">
            <a:avLst>
              <a:gd name="adj" fmla="val 13846"/>
            </a:avLst>
          </a:prstGeom>
          <a:solidFill>
            <a:srgbClr val="0B1F3A"/>
          </a:solidFill>
          <a:ln/>
        </p:spPr>
      </p:sp>
      <p:sp>
        <p:nvSpPr>
          <p:cNvPr id="6" name="Shape 4"/>
          <p:cNvSpPr/>
          <p:nvPr/>
        </p:nvSpPr>
        <p:spPr>
          <a:xfrm>
            <a:off x="502920" y="2075688"/>
            <a:ext cx="3429000" cy="301752"/>
          </a:xfrm>
          <a:prstGeom prst="rect">
            <a:avLst/>
          </a:prstGeom>
          <a:solidFill>
            <a:srgbClr val="0B1F3A"/>
          </a:solidFill>
          <a:ln w="12700">
            <a:solidFill>
              <a:srgbClr val="0B1F3A"/>
            </a:solidFill>
            <a:prstDash val="solid"/>
          </a:ln>
        </p:spPr>
      </p:sp>
      <p:sp>
        <p:nvSpPr>
          <p:cNvPr id="7" name="Text 5"/>
          <p:cNvSpPr/>
          <p:nvPr/>
        </p:nvSpPr>
        <p:spPr>
          <a:xfrm>
            <a:off x="50292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Time-Domain (9)</a:t>
            </a:r>
            <a:endParaRPr lang="en-US" sz="1400" dirty="0"/>
          </a:p>
        </p:txBody>
      </p:sp>
      <p:sp>
        <p:nvSpPr>
          <p:cNvPr id="8" name="Shape 6"/>
          <p:cNvSpPr/>
          <p:nvPr/>
        </p:nvSpPr>
        <p:spPr>
          <a:xfrm>
            <a:off x="777240" y="2642616"/>
            <a:ext cx="82296" cy="82296"/>
          </a:xfrm>
          <a:prstGeom prst="ellipse">
            <a:avLst/>
          </a:prstGeom>
          <a:solidFill>
            <a:srgbClr val="00B4D8"/>
          </a:solidFill>
          <a:ln/>
        </p:spPr>
      </p:sp>
      <p:sp>
        <p:nvSpPr>
          <p:cNvPr id="9" name="Text 7"/>
          <p:cNvSpPr/>
          <p:nvPr/>
        </p:nvSpPr>
        <p:spPr>
          <a:xfrm>
            <a:off x="100584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Peak voltage</a:t>
            </a:r>
            <a:endParaRPr lang="en-US" sz="1200" dirty="0"/>
          </a:p>
        </p:txBody>
      </p:sp>
      <p:sp>
        <p:nvSpPr>
          <p:cNvPr id="10" name="Shape 8"/>
          <p:cNvSpPr/>
          <p:nvPr/>
        </p:nvSpPr>
        <p:spPr>
          <a:xfrm>
            <a:off x="777240" y="3081528"/>
            <a:ext cx="82296" cy="82296"/>
          </a:xfrm>
          <a:prstGeom prst="ellipse">
            <a:avLst/>
          </a:prstGeom>
          <a:solidFill>
            <a:srgbClr val="00B4D8"/>
          </a:solidFill>
          <a:ln/>
        </p:spPr>
      </p:sp>
      <p:sp>
        <p:nvSpPr>
          <p:cNvPr id="11" name="Text 9"/>
          <p:cNvSpPr/>
          <p:nvPr/>
        </p:nvSpPr>
        <p:spPr>
          <a:xfrm>
            <a:off x="100584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RMS value</a:t>
            </a:r>
            <a:endParaRPr lang="en-US" sz="1200" dirty="0"/>
          </a:p>
        </p:txBody>
      </p:sp>
      <p:sp>
        <p:nvSpPr>
          <p:cNvPr id="12" name="Shape 10"/>
          <p:cNvSpPr/>
          <p:nvPr/>
        </p:nvSpPr>
        <p:spPr>
          <a:xfrm>
            <a:off x="777240" y="3520440"/>
            <a:ext cx="82296" cy="82296"/>
          </a:xfrm>
          <a:prstGeom prst="ellipse">
            <a:avLst/>
          </a:prstGeom>
          <a:solidFill>
            <a:srgbClr val="00B4D8"/>
          </a:solidFill>
          <a:ln/>
        </p:spPr>
      </p:sp>
      <p:sp>
        <p:nvSpPr>
          <p:cNvPr id="13" name="Text 11"/>
          <p:cNvSpPr/>
          <p:nvPr/>
        </p:nvSpPr>
        <p:spPr>
          <a:xfrm>
            <a:off x="100584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Mean voltage</a:t>
            </a:r>
            <a:endParaRPr lang="en-US" sz="1200" dirty="0"/>
          </a:p>
        </p:txBody>
      </p:sp>
      <p:sp>
        <p:nvSpPr>
          <p:cNvPr id="14" name="Shape 12"/>
          <p:cNvSpPr/>
          <p:nvPr/>
        </p:nvSpPr>
        <p:spPr>
          <a:xfrm>
            <a:off x="777240" y="3959352"/>
            <a:ext cx="82296" cy="82296"/>
          </a:xfrm>
          <a:prstGeom prst="ellipse">
            <a:avLst/>
          </a:prstGeom>
          <a:solidFill>
            <a:srgbClr val="00B4D8"/>
          </a:solidFill>
          <a:ln/>
        </p:spPr>
      </p:sp>
      <p:sp>
        <p:nvSpPr>
          <p:cNvPr id="15" name="Text 13"/>
          <p:cNvSpPr/>
          <p:nvPr/>
        </p:nvSpPr>
        <p:spPr>
          <a:xfrm>
            <a:off x="1005840" y="383133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Std. deviation</a:t>
            </a:r>
            <a:endParaRPr lang="en-US" sz="1200" dirty="0"/>
          </a:p>
        </p:txBody>
      </p:sp>
      <p:sp>
        <p:nvSpPr>
          <p:cNvPr id="16" name="Shape 14"/>
          <p:cNvSpPr/>
          <p:nvPr/>
        </p:nvSpPr>
        <p:spPr>
          <a:xfrm>
            <a:off x="777240" y="4398264"/>
            <a:ext cx="82296" cy="82296"/>
          </a:xfrm>
          <a:prstGeom prst="ellipse">
            <a:avLst/>
          </a:prstGeom>
          <a:solidFill>
            <a:srgbClr val="00B4D8"/>
          </a:solidFill>
          <a:ln/>
        </p:spPr>
      </p:sp>
      <p:sp>
        <p:nvSpPr>
          <p:cNvPr id="17" name="Text 15"/>
          <p:cNvSpPr/>
          <p:nvPr/>
        </p:nvSpPr>
        <p:spPr>
          <a:xfrm>
            <a:off x="1005840" y="4270248"/>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Rise time</a:t>
            </a:r>
            <a:endParaRPr lang="en-US" sz="1200" dirty="0"/>
          </a:p>
        </p:txBody>
      </p:sp>
      <p:sp>
        <p:nvSpPr>
          <p:cNvPr id="18" name="Shape 16"/>
          <p:cNvSpPr/>
          <p:nvPr/>
        </p:nvSpPr>
        <p:spPr>
          <a:xfrm>
            <a:off x="777240" y="4837176"/>
            <a:ext cx="82296" cy="82296"/>
          </a:xfrm>
          <a:prstGeom prst="ellipse">
            <a:avLst/>
          </a:prstGeom>
          <a:solidFill>
            <a:srgbClr val="00B4D8"/>
          </a:solidFill>
          <a:ln/>
        </p:spPr>
      </p:sp>
      <p:sp>
        <p:nvSpPr>
          <p:cNvPr id="19" name="Text 17"/>
          <p:cNvSpPr/>
          <p:nvPr/>
        </p:nvSpPr>
        <p:spPr>
          <a:xfrm>
            <a:off x="1005840" y="470916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Settling time</a:t>
            </a:r>
            <a:endParaRPr lang="en-US" sz="1200" dirty="0"/>
          </a:p>
        </p:txBody>
      </p:sp>
      <p:sp>
        <p:nvSpPr>
          <p:cNvPr id="20" name="Shape 18"/>
          <p:cNvSpPr/>
          <p:nvPr/>
        </p:nvSpPr>
        <p:spPr>
          <a:xfrm>
            <a:off x="777240" y="5276088"/>
            <a:ext cx="82296" cy="82296"/>
          </a:xfrm>
          <a:prstGeom prst="ellipse">
            <a:avLst/>
          </a:prstGeom>
          <a:solidFill>
            <a:srgbClr val="00B4D8"/>
          </a:solidFill>
          <a:ln/>
        </p:spPr>
      </p:sp>
      <p:sp>
        <p:nvSpPr>
          <p:cNvPr id="21" name="Text 19"/>
          <p:cNvSpPr/>
          <p:nvPr/>
        </p:nvSpPr>
        <p:spPr>
          <a:xfrm>
            <a:off x="1005840" y="514807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Skewness</a:t>
            </a:r>
            <a:endParaRPr lang="en-US" sz="1200" dirty="0"/>
          </a:p>
        </p:txBody>
      </p:sp>
      <p:sp>
        <p:nvSpPr>
          <p:cNvPr id="22" name="Shape 20"/>
          <p:cNvSpPr/>
          <p:nvPr/>
        </p:nvSpPr>
        <p:spPr>
          <a:xfrm>
            <a:off x="777240" y="5715000"/>
            <a:ext cx="82296" cy="82296"/>
          </a:xfrm>
          <a:prstGeom prst="ellipse">
            <a:avLst/>
          </a:prstGeom>
          <a:solidFill>
            <a:srgbClr val="00B4D8"/>
          </a:solidFill>
          <a:ln/>
        </p:spPr>
      </p:sp>
      <p:sp>
        <p:nvSpPr>
          <p:cNvPr id="23" name="Text 21"/>
          <p:cNvSpPr/>
          <p:nvPr/>
        </p:nvSpPr>
        <p:spPr>
          <a:xfrm>
            <a:off x="1005840" y="558698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Kurtosis</a:t>
            </a:r>
            <a:endParaRPr lang="en-US" sz="1200" dirty="0"/>
          </a:p>
        </p:txBody>
      </p:sp>
      <p:sp>
        <p:nvSpPr>
          <p:cNvPr id="24" name="Shape 22"/>
          <p:cNvSpPr/>
          <p:nvPr/>
        </p:nvSpPr>
        <p:spPr>
          <a:xfrm>
            <a:off x="777240" y="6153912"/>
            <a:ext cx="82296" cy="82296"/>
          </a:xfrm>
          <a:prstGeom prst="ellipse">
            <a:avLst/>
          </a:prstGeom>
          <a:solidFill>
            <a:srgbClr val="00B4D8"/>
          </a:solidFill>
          <a:ln/>
        </p:spPr>
      </p:sp>
      <p:sp>
        <p:nvSpPr>
          <p:cNvPr id="25" name="Text 23"/>
          <p:cNvSpPr/>
          <p:nvPr/>
        </p:nvSpPr>
        <p:spPr>
          <a:xfrm>
            <a:off x="1005840" y="602589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DC level</a:t>
            </a:r>
            <a:endParaRPr lang="en-US" sz="1200" dirty="0"/>
          </a:p>
        </p:txBody>
      </p:sp>
      <p:sp>
        <p:nvSpPr>
          <p:cNvPr id="26" name="Shape 24"/>
          <p:cNvSpPr/>
          <p:nvPr/>
        </p:nvSpPr>
        <p:spPr>
          <a:xfrm>
            <a:off x="425196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7" name="Shape 25"/>
          <p:cNvSpPr/>
          <p:nvPr/>
        </p:nvSpPr>
        <p:spPr>
          <a:xfrm>
            <a:off x="4251960" y="1783080"/>
            <a:ext cx="3429000" cy="594360"/>
          </a:xfrm>
          <a:prstGeom prst="roundRect">
            <a:avLst>
              <a:gd name="adj" fmla="val 13846"/>
            </a:avLst>
          </a:prstGeom>
          <a:solidFill>
            <a:srgbClr val="0B1F3A"/>
          </a:solidFill>
          <a:ln/>
        </p:spPr>
      </p:sp>
      <p:sp>
        <p:nvSpPr>
          <p:cNvPr id="28" name="Shape 26"/>
          <p:cNvSpPr/>
          <p:nvPr/>
        </p:nvSpPr>
        <p:spPr>
          <a:xfrm>
            <a:off x="4251960" y="2075688"/>
            <a:ext cx="3429000" cy="301752"/>
          </a:xfrm>
          <a:prstGeom prst="rect">
            <a:avLst/>
          </a:prstGeom>
          <a:solidFill>
            <a:srgbClr val="0B1F3A"/>
          </a:solidFill>
          <a:ln w="12700">
            <a:solidFill>
              <a:srgbClr val="0B1F3A"/>
            </a:solidFill>
            <a:prstDash val="solid"/>
          </a:ln>
        </p:spPr>
      </p:sp>
      <p:sp>
        <p:nvSpPr>
          <p:cNvPr id="29" name="Text 27"/>
          <p:cNvSpPr/>
          <p:nvPr/>
        </p:nvSpPr>
        <p:spPr>
          <a:xfrm>
            <a:off x="425196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Frequency-Domain (5)</a:t>
            </a:r>
            <a:endParaRPr lang="en-US" sz="1400" dirty="0"/>
          </a:p>
        </p:txBody>
      </p:sp>
      <p:sp>
        <p:nvSpPr>
          <p:cNvPr id="30" name="Shape 28"/>
          <p:cNvSpPr/>
          <p:nvPr/>
        </p:nvSpPr>
        <p:spPr>
          <a:xfrm>
            <a:off x="4526280" y="2642616"/>
            <a:ext cx="82296" cy="82296"/>
          </a:xfrm>
          <a:prstGeom prst="ellipse">
            <a:avLst/>
          </a:prstGeom>
          <a:solidFill>
            <a:srgbClr val="FFB703"/>
          </a:solidFill>
          <a:ln/>
        </p:spPr>
      </p:sp>
      <p:sp>
        <p:nvSpPr>
          <p:cNvPr id="31" name="Text 29"/>
          <p:cNvSpPr/>
          <p:nvPr/>
        </p:nvSpPr>
        <p:spPr>
          <a:xfrm>
            <a:off x="475488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Dominant frequency</a:t>
            </a:r>
            <a:endParaRPr lang="en-US" sz="1200" dirty="0"/>
          </a:p>
        </p:txBody>
      </p:sp>
      <p:sp>
        <p:nvSpPr>
          <p:cNvPr id="32" name="Shape 30"/>
          <p:cNvSpPr/>
          <p:nvPr/>
        </p:nvSpPr>
        <p:spPr>
          <a:xfrm>
            <a:off x="4526280" y="3081528"/>
            <a:ext cx="82296" cy="82296"/>
          </a:xfrm>
          <a:prstGeom prst="ellipse">
            <a:avLst/>
          </a:prstGeom>
          <a:solidFill>
            <a:srgbClr val="FFB703"/>
          </a:solidFill>
          <a:ln/>
        </p:spPr>
      </p:sp>
      <p:sp>
        <p:nvSpPr>
          <p:cNvPr id="33" name="Text 31"/>
          <p:cNvSpPr/>
          <p:nvPr/>
        </p:nvSpPr>
        <p:spPr>
          <a:xfrm>
            <a:off x="475488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energy</a:t>
            </a:r>
            <a:endParaRPr lang="en-US" sz="1200" dirty="0"/>
          </a:p>
        </p:txBody>
      </p:sp>
      <p:sp>
        <p:nvSpPr>
          <p:cNvPr id="34" name="Shape 32"/>
          <p:cNvSpPr/>
          <p:nvPr/>
        </p:nvSpPr>
        <p:spPr>
          <a:xfrm>
            <a:off x="4526280" y="3520440"/>
            <a:ext cx="82296" cy="82296"/>
          </a:xfrm>
          <a:prstGeom prst="ellipse">
            <a:avLst/>
          </a:prstGeom>
          <a:solidFill>
            <a:srgbClr val="FFB703"/>
          </a:solidFill>
          <a:ln/>
        </p:spPr>
      </p:sp>
      <p:sp>
        <p:nvSpPr>
          <p:cNvPr id="35" name="Text 33"/>
          <p:cNvSpPr/>
          <p:nvPr/>
        </p:nvSpPr>
        <p:spPr>
          <a:xfrm>
            <a:off x="475488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centroid</a:t>
            </a:r>
            <a:endParaRPr lang="en-US" sz="1200" dirty="0"/>
          </a:p>
        </p:txBody>
      </p:sp>
      <p:sp>
        <p:nvSpPr>
          <p:cNvPr id="36" name="Shape 34"/>
          <p:cNvSpPr/>
          <p:nvPr/>
        </p:nvSpPr>
        <p:spPr>
          <a:xfrm>
            <a:off x="4526280" y="3959352"/>
            <a:ext cx="82296" cy="82296"/>
          </a:xfrm>
          <a:prstGeom prst="ellipse">
            <a:avLst/>
          </a:prstGeom>
          <a:solidFill>
            <a:srgbClr val="FFB703"/>
          </a:solidFill>
          <a:ln/>
        </p:spPr>
      </p:sp>
      <p:sp>
        <p:nvSpPr>
          <p:cNvPr id="37" name="Text 35"/>
          <p:cNvSpPr/>
          <p:nvPr/>
        </p:nvSpPr>
        <p:spPr>
          <a:xfrm>
            <a:off x="4754880" y="383133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Bandwidth</a:t>
            </a:r>
            <a:endParaRPr lang="en-US" sz="1200" dirty="0"/>
          </a:p>
        </p:txBody>
      </p:sp>
      <p:sp>
        <p:nvSpPr>
          <p:cNvPr id="38" name="Shape 36"/>
          <p:cNvSpPr/>
          <p:nvPr/>
        </p:nvSpPr>
        <p:spPr>
          <a:xfrm>
            <a:off x="4526280" y="4398264"/>
            <a:ext cx="82296" cy="82296"/>
          </a:xfrm>
          <a:prstGeom prst="ellipse">
            <a:avLst/>
          </a:prstGeom>
          <a:solidFill>
            <a:srgbClr val="FFB703"/>
          </a:solidFill>
          <a:ln/>
        </p:spPr>
      </p:sp>
      <p:sp>
        <p:nvSpPr>
          <p:cNvPr id="39" name="Text 37"/>
          <p:cNvSpPr/>
          <p:nvPr/>
        </p:nvSpPr>
        <p:spPr>
          <a:xfrm>
            <a:off x="4754880" y="4270248"/>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entropy</a:t>
            </a:r>
            <a:endParaRPr lang="en-US" sz="1200" dirty="0"/>
          </a:p>
        </p:txBody>
      </p:sp>
      <p:sp>
        <p:nvSpPr>
          <p:cNvPr id="40" name="Shape 38"/>
          <p:cNvSpPr/>
          <p:nvPr/>
        </p:nvSpPr>
        <p:spPr>
          <a:xfrm>
            <a:off x="800100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1" name="Shape 39"/>
          <p:cNvSpPr/>
          <p:nvPr/>
        </p:nvSpPr>
        <p:spPr>
          <a:xfrm>
            <a:off x="8001000" y="1783080"/>
            <a:ext cx="3429000" cy="594360"/>
          </a:xfrm>
          <a:prstGeom prst="roundRect">
            <a:avLst>
              <a:gd name="adj" fmla="val 13846"/>
            </a:avLst>
          </a:prstGeom>
          <a:solidFill>
            <a:srgbClr val="0B1F3A"/>
          </a:solidFill>
          <a:ln/>
        </p:spPr>
      </p:sp>
      <p:sp>
        <p:nvSpPr>
          <p:cNvPr id="42" name="Shape 40"/>
          <p:cNvSpPr/>
          <p:nvPr/>
        </p:nvSpPr>
        <p:spPr>
          <a:xfrm>
            <a:off x="8001000" y="2075688"/>
            <a:ext cx="3429000" cy="301752"/>
          </a:xfrm>
          <a:prstGeom prst="rect">
            <a:avLst/>
          </a:prstGeom>
          <a:solidFill>
            <a:srgbClr val="0B1F3A"/>
          </a:solidFill>
          <a:ln w="12700">
            <a:solidFill>
              <a:srgbClr val="0B1F3A"/>
            </a:solidFill>
            <a:prstDash val="solid"/>
          </a:ln>
        </p:spPr>
      </p:sp>
      <p:sp>
        <p:nvSpPr>
          <p:cNvPr id="43" name="Text 41"/>
          <p:cNvSpPr/>
          <p:nvPr/>
        </p:nvSpPr>
        <p:spPr>
          <a:xfrm>
            <a:off x="800100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Structural (3)</a:t>
            </a:r>
            <a:endParaRPr lang="en-US" sz="1400" dirty="0"/>
          </a:p>
        </p:txBody>
      </p:sp>
      <p:sp>
        <p:nvSpPr>
          <p:cNvPr id="44" name="Shape 42"/>
          <p:cNvSpPr/>
          <p:nvPr/>
        </p:nvSpPr>
        <p:spPr>
          <a:xfrm>
            <a:off x="8275320" y="2642616"/>
            <a:ext cx="82296" cy="82296"/>
          </a:xfrm>
          <a:prstGeom prst="ellipse">
            <a:avLst/>
          </a:prstGeom>
          <a:solidFill>
            <a:srgbClr val="5EAE7A"/>
          </a:solidFill>
          <a:ln/>
        </p:spPr>
      </p:sp>
      <p:sp>
        <p:nvSpPr>
          <p:cNvPr id="45" name="Text 43"/>
          <p:cNvSpPr/>
          <p:nvPr/>
        </p:nvSpPr>
        <p:spPr>
          <a:xfrm>
            <a:off x="850392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Zero-crossing rate</a:t>
            </a:r>
            <a:endParaRPr lang="en-US" sz="1200" dirty="0"/>
          </a:p>
        </p:txBody>
      </p:sp>
      <p:sp>
        <p:nvSpPr>
          <p:cNvPr id="46" name="Shape 44"/>
          <p:cNvSpPr/>
          <p:nvPr/>
        </p:nvSpPr>
        <p:spPr>
          <a:xfrm>
            <a:off x="8275320" y="3081528"/>
            <a:ext cx="82296" cy="82296"/>
          </a:xfrm>
          <a:prstGeom prst="ellipse">
            <a:avLst/>
          </a:prstGeom>
          <a:solidFill>
            <a:srgbClr val="5EAE7A"/>
          </a:solidFill>
          <a:ln/>
        </p:spPr>
      </p:sp>
      <p:sp>
        <p:nvSpPr>
          <p:cNvPr id="47" name="Text 45"/>
          <p:cNvSpPr/>
          <p:nvPr/>
        </p:nvSpPr>
        <p:spPr>
          <a:xfrm>
            <a:off x="850392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Crest factor</a:t>
            </a:r>
            <a:endParaRPr lang="en-US" sz="1200" dirty="0"/>
          </a:p>
        </p:txBody>
      </p:sp>
      <p:sp>
        <p:nvSpPr>
          <p:cNvPr id="48" name="Shape 46"/>
          <p:cNvSpPr/>
          <p:nvPr/>
        </p:nvSpPr>
        <p:spPr>
          <a:xfrm>
            <a:off x="8275320" y="3520440"/>
            <a:ext cx="82296" cy="82296"/>
          </a:xfrm>
          <a:prstGeom prst="ellipse">
            <a:avLst/>
          </a:prstGeom>
          <a:solidFill>
            <a:srgbClr val="5EAE7A"/>
          </a:solidFill>
          <a:ln/>
        </p:spPr>
      </p:sp>
      <p:sp>
        <p:nvSpPr>
          <p:cNvPr id="49" name="Text 47"/>
          <p:cNvSpPr/>
          <p:nvPr/>
        </p:nvSpPr>
        <p:spPr>
          <a:xfrm>
            <a:off x="850392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Signal energy</a:t>
            </a:r>
            <a:endParaRPr lang="en-US" sz="1200" dirty="0"/>
          </a:p>
        </p:txBody>
      </p:sp>
      <p:sp>
        <p:nvSpPr>
          <p:cNvPr id="50" name="Text 4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1" name="Text 4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Feature Redundancy: An Honest Look</a:t>
            </a:r>
            <a:endParaRPr lang="en-US" sz="3000" dirty="0"/>
          </a:p>
        </p:txBody>
      </p:sp>
      <p:sp>
        <p:nvSpPr>
          <p:cNvPr id="4" name="Text 2"/>
          <p:cNvSpPr/>
          <p:nvPr/>
        </p:nvSpPr>
        <p:spPr>
          <a:xfrm>
            <a:off x="502920" y="1691640"/>
            <a:ext cx="10607040" cy="45720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With 17 features, some inevitably capture overlapping information. A correlation check across all 1,019 samples (|r| &gt; 0.9) surfaces this directly:</a:t>
            </a:r>
            <a:endParaRPr lang="en-US" sz="1250" dirty="0"/>
          </a:p>
        </p:txBody>
      </p:sp>
      <p:sp>
        <p:nvSpPr>
          <p:cNvPr id="5" name="Shape 3"/>
          <p:cNvSpPr/>
          <p:nvPr/>
        </p:nvSpPr>
        <p:spPr>
          <a:xfrm>
            <a:off x="502920" y="2286000"/>
            <a:ext cx="10607040" cy="566928"/>
          </a:xfrm>
          <a:prstGeom prst="roundRect">
            <a:avLst>
              <a:gd name="adj" fmla="val 9677"/>
            </a:avLst>
          </a:prstGeom>
          <a:solidFill>
            <a:srgbClr val="0B1F3A"/>
          </a:solidFill>
          <a:ln/>
        </p:spPr>
      </p:sp>
      <p:sp>
        <p:nvSpPr>
          <p:cNvPr id="6" name="Text 4"/>
          <p:cNvSpPr/>
          <p:nvPr/>
        </p:nvSpPr>
        <p:spPr>
          <a:xfrm>
            <a:off x="502920" y="2286000"/>
            <a:ext cx="3931920" cy="566928"/>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 pair</a:t>
            </a:r>
            <a:endParaRPr lang="en-US" sz="1200" dirty="0"/>
          </a:p>
        </p:txBody>
      </p:sp>
      <p:sp>
        <p:nvSpPr>
          <p:cNvPr id="7" name="Text 5"/>
          <p:cNvSpPr/>
          <p:nvPr/>
        </p:nvSpPr>
        <p:spPr>
          <a:xfrm>
            <a:off x="4434840" y="2286000"/>
            <a:ext cx="91440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8" name="Text 6"/>
          <p:cNvSpPr/>
          <p:nvPr/>
        </p:nvSpPr>
        <p:spPr>
          <a:xfrm>
            <a:off x="5349240" y="2286000"/>
            <a:ext cx="57607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Why they overlap</a:t>
            </a:r>
            <a:endParaRPr lang="en-US" sz="1200" dirty="0"/>
          </a:p>
        </p:txBody>
      </p:sp>
      <p:sp>
        <p:nvSpPr>
          <p:cNvPr id="9" name="Shape 7"/>
          <p:cNvSpPr/>
          <p:nvPr/>
        </p:nvSpPr>
        <p:spPr>
          <a:xfrm>
            <a:off x="502920" y="2852928"/>
            <a:ext cx="10607040" cy="566928"/>
          </a:xfrm>
          <a:prstGeom prst="rect">
            <a:avLst/>
          </a:prstGeom>
          <a:solidFill>
            <a:srgbClr val="FFFFFF"/>
          </a:solidFill>
          <a:ln w="9525">
            <a:solidFill>
              <a:srgbClr val="E4E9F1"/>
            </a:solidFill>
            <a:prstDash val="solid"/>
          </a:ln>
        </p:spPr>
      </p:sp>
      <p:sp>
        <p:nvSpPr>
          <p:cNvPr id="10" name="Text 8"/>
          <p:cNvSpPr/>
          <p:nvPr/>
        </p:nvSpPr>
        <p:spPr>
          <a:xfrm>
            <a:off x="502920" y="2852928"/>
            <a:ext cx="3931920" cy="566928"/>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spectral_energy &lt;-&gt; energy</a:t>
            </a:r>
            <a:endParaRPr lang="en-US" sz="1050" dirty="0"/>
          </a:p>
        </p:txBody>
      </p:sp>
      <p:sp>
        <p:nvSpPr>
          <p:cNvPr id="11" name="Text 9"/>
          <p:cNvSpPr/>
          <p:nvPr/>
        </p:nvSpPr>
        <p:spPr>
          <a:xfrm>
            <a:off x="4434840" y="2852928"/>
            <a:ext cx="914400" cy="566928"/>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0.997</a:t>
            </a:r>
            <a:endParaRPr lang="en-US" sz="1050" dirty="0"/>
          </a:p>
        </p:txBody>
      </p:sp>
      <p:sp>
        <p:nvSpPr>
          <p:cNvPr id="12" name="Text 10"/>
          <p:cNvSpPr/>
          <p:nvPr/>
        </p:nvSpPr>
        <p:spPr>
          <a:xfrm>
            <a:off x="5349240" y="2852928"/>
            <a:ext cx="5760720" cy="566928"/>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Parseval's theorem: energy computed from the FFT and from raw samples is almost the same quantity, two ways</a:t>
            </a:r>
            <a:endParaRPr lang="en-US" sz="1050" dirty="0"/>
          </a:p>
        </p:txBody>
      </p:sp>
      <p:sp>
        <p:nvSpPr>
          <p:cNvPr id="13" name="Shape 11"/>
          <p:cNvSpPr/>
          <p:nvPr/>
        </p:nvSpPr>
        <p:spPr>
          <a:xfrm>
            <a:off x="502920" y="3419856"/>
            <a:ext cx="10607040" cy="566928"/>
          </a:xfrm>
          <a:prstGeom prst="rect">
            <a:avLst/>
          </a:prstGeom>
          <a:solidFill>
            <a:srgbClr val="EEF2F7"/>
          </a:solidFill>
          <a:ln w="9525">
            <a:solidFill>
              <a:srgbClr val="E4E9F1"/>
            </a:solidFill>
            <a:prstDash val="solid"/>
          </a:ln>
        </p:spPr>
      </p:sp>
      <p:sp>
        <p:nvSpPr>
          <p:cNvPr id="14" name="Text 12"/>
          <p:cNvSpPr/>
          <p:nvPr/>
        </p:nvSpPr>
        <p:spPr>
          <a:xfrm>
            <a:off x="502920" y="3419856"/>
            <a:ext cx="3931920" cy="566928"/>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rms_value &lt;-&gt; mean_voltage</a:t>
            </a:r>
            <a:endParaRPr lang="en-US" sz="1050" dirty="0"/>
          </a:p>
        </p:txBody>
      </p:sp>
      <p:sp>
        <p:nvSpPr>
          <p:cNvPr id="15" name="Text 13"/>
          <p:cNvSpPr/>
          <p:nvPr/>
        </p:nvSpPr>
        <p:spPr>
          <a:xfrm>
            <a:off x="4434840" y="3419856"/>
            <a:ext cx="914400" cy="566928"/>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0.995</a:t>
            </a:r>
            <a:endParaRPr lang="en-US" sz="1050" dirty="0"/>
          </a:p>
        </p:txBody>
      </p:sp>
      <p:sp>
        <p:nvSpPr>
          <p:cNvPr id="16" name="Text 14"/>
          <p:cNvSpPr/>
          <p:nvPr/>
        </p:nvSpPr>
        <p:spPr>
          <a:xfrm>
            <a:off x="5349240" y="3419856"/>
            <a:ext cx="5760720" cy="566928"/>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 step response stays mostly positive, so RMS and mean track almost identically</a:t>
            </a:r>
            <a:endParaRPr lang="en-US" sz="1050" dirty="0"/>
          </a:p>
        </p:txBody>
      </p:sp>
      <p:sp>
        <p:nvSpPr>
          <p:cNvPr id="17" name="Shape 15"/>
          <p:cNvSpPr/>
          <p:nvPr/>
        </p:nvSpPr>
        <p:spPr>
          <a:xfrm>
            <a:off x="502920" y="3986784"/>
            <a:ext cx="10607040" cy="566928"/>
          </a:xfrm>
          <a:prstGeom prst="rect">
            <a:avLst/>
          </a:prstGeom>
          <a:solidFill>
            <a:srgbClr val="FFFFFF"/>
          </a:solidFill>
          <a:ln w="9525">
            <a:solidFill>
              <a:srgbClr val="E4E9F1"/>
            </a:solidFill>
            <a:prstDash val="solid"/>
          </a:ln>
        </p:spPr>
      </p:sp>
      <p:sp>
        <p:nvSpPr>
          <p:cNvPr id="18" name="Text 16"/>
          <p:cNvSpPr/>
          <p:nvPr/>
        </p:nvSpPr>
        <p:spPr>
          <a:xfrm>
            <a:off x="502920" y="3986784"/>
            <a:ext cx="3931920" cy="566928"/>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spectral_centroid &lt;-&gt; bandwidth</a:t>
            </a:r>
            <a:endParaRPr lang="en-US" sz="1050" dirty="0"/>
          </a:p>
        </p:txBody>
      </p:sp>
      <p:sp>
        <p:nvSpPr>
          <p:cNvPr id="19" name="Text 17"/>
          <p:cNvSpPr/>
          <p:nvPr/>
        </p:nvSpPr>
        <p:spPr>
          <a:xfrm>
            <a:off x="4434840" y="3986784"/>
            <a:ext cx="914400" cy="566928"/>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0.994</a:t>
            </a:r>
            <a:endParaRPr lang="en-US" sz="1050" dirty="0"/>
          </a:p>
        </p:txBody>
      </p:sp>
      <p:sp>
        <p:nvSpPr>
          <p:cNvPr id="20" name="Text 18"/>
          <p:cNvSpPr/>
          <p:nvPr/>
        </p:nvSpPr>
        <p:spPr>
          <a:xfrm>
            <a:off x="5349240" y="3986784"/>
            <a:ext cx="5760720" cy="566928"/>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Both are derived from the same magnitude-spectrum weighting</a:t>
            </a:r>
            <a:endParaRPr lang="en-US" sz="1050" dirty="0"/>
          </a:p>
        </p:txBody>
      </p:sp>
      <p:sp>
        <p:nvSpPr>
          <p:cNvPr id="21" name="Shape 19"/>
          <p:cNvSpPr/>
          <p:nvPr/>
        </p:nvSpPr>
        <p:spPr>
          <a:xfrm>
            <a:off x="502920" y="4553712"/>
            <a:ext cx="10607040" cy="566928"/>
          </a:xfrm>
          <a:prstGeom prst="rect">
            <a:avLst/>
          </a:prstGeom>
          <a:solidFill>
            <a:srgbClr val="EEF2F7"/>
          </a:solidFill>
          <a:ln w="9525">
            <a:solidFill>
              <a:srgbClr val="E4E9F1"/>
            </a:solidFill>
            <a:prstDash val="solid"/>
          </a:ln>
        </p:spPr>
      </p:sp>
      <p:sp>
        <p:nvSpPr>
          <p:cNvPr id="22" name="Text 20"/>
          <p:cNvSpPr/>
          <p:nvPr/>
        </p:nvSpPr>
        <p:spPr>
          <a:xfrm>
            <a:off x="502920" y="4553712"/>
            <a:ext cx="3931920" cy="566928"/>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peak_voltage &lt;-&gt; dc_level</a:t>
            </a:r>
            <a:endParaRPr lang="en-US" sz="1050" dirty="0"/>
          </a:p>
        </p:txBody>
      </p:sp>
      <p:sp>
        <p:nvSpPr>
          <p:cNvPr id="23" name="Text 21"/>
          <p:cNvSpPr/>
          <p:nvPr/>
        </p:nvSpPr>
        <p:spPr>
          <a:xfrm>
            <a:off x="4434840" y="4553712"/>
            <a:ext cx="914400" cy="566928"/>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0.965</a:t>
            </a:r>
            <a:endParaRPr lang="en-US" sz="1050" dirty="0"/>
          </a:p>
        </p:txBody>
      </p:sp>
      <p:sp>
        <p:nvSpPr>
          <p:cNvPr id="24" name="Text 22"/>
          <p:cNvSpPr/>
          <p:nvPr/>
        </p:nvSpPr>
        <p:spPr>
          <a:xfrm>
            <a:off x="5349240" y="4553712"/>
            <a:ext cx="5760720" cy="566928"/>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For a settled step response, the final steady value sits close to the peak</a:t>
            </a:r>
            <a:endParaRPr lang="en-US" sz="1050" dirty="0"/>
          </a:p>
        </p:txBody>
      </p:sp>
      <p:sp>
        <p:nvSpPr>
          <p:cNvPr id="25" name="Shape 23"/>
          <p:cNvSpPr/>
          <p:nvPr/>
        </p:nvSpPr>
        <p:spPr>
          <a:xfrm>
            <a:off x="502920" y="5074920"/>
            <a:ext cx="10607040" cy="1143000"/>
          </a:xfrm>
          <a:prstGeom prst="roundRect">
            <a:avLst>
              <a:gd name="adj" fmla="val 7200"/>
            </a:avLst>
          </a:prstGeom>
          <a:solidFill>
            <a:srgbClr val="EEF2F7"/>
          </a:solidFill>
          <a:ln w="12700">
            <a:solidFill>
              <a:srgbClr val="E4E9F1"/>
            </a:solidFill>
            <a:prstDash val="solid"/>
          </a:ln>
        </p:spPr>
      </p:sp>
      <p:sp>
        <p:nvSpPr>
          <p:cNvPr id="26" name="Text 24"/>
          <p:cNvSpPr/>
          <p:nvPr/>
        </p:nvSpPr>
        <p:spPr>
          <a:xfrm>
            <a:off x="777240" y="5166360"/>
            <a:ext cx="10058400" cy="960120"/>
          </a:xfrm>
          <a:prstGeom prst="rect">
            <a:avLst/>
          </a:prstGeom>
          <a:noFill/>
          <a:ln/>
        </p:spPr>
        <p:txBody>
          <a:bodyPr wrap="square" lIns="0" tIns="0" rIns="0" bIns="0" rtlCol="0" anchor="ctr"/>
          <a:lstStyle/>
          <a:p>
            <a:pPr indent="0" marL="0">
              <a:lnSpc>
                <a:spcPct val="122000"/>
              </a:lnSpc>
              <a:buNone/>
            </a:pPr>
            <a:r>
              <a:rPr lang="en-US" sz="1060" b="1" dirty="0">
                <a:solidFill>
                  <a:srgbClr val="0B1F3A"/>
                </a:solidFill>
                <a:latin typeface="Calibri" pitchFamily="34" charset="0"/>
                <a:ea typeface="Calibri" pitchFamily="34" charset="-122"/>
                <a:cs typeface="Calibri" pitchFamily="34" charset="-120"/>
              </a:rPr>
              <a:t>Why not just remove them? </a:t>
            </a:r>
            <a:pPr indent="0" marL="0">
              <a:lnSpc>
                <a:spcPct val="122000"/>
              </a:lnSpc>
              <a:buNone/>
            </a:pPr>
            <a:r>
              <a:rPr lang="en-US" sz="1060" dirty="0">
                <a:solidFill>
                  <a:srgbClr val="64748B"/>
                </a:solidFill>
                <a:latin typeface="Calibri" pitchFamily="34" charset="0"/>
                <a:ea typeface="Calibri" pitchFamily="34" charset="-122"/>
                <a:cs typeface="Calibri" pitchFamily="34" charset="-120"/>
              </a:rPr>
              <a:t>11 pairs exceed |r| &gt; 0.9 in total. An RBF-kernel SVM tolerates correlated inputs far better than linear regression would — redundant features don't break the model, they just add limited extra information rather than causing instability. A cleaner future version would prune to roughly 10-12 less redundant features via correlation filtering or PCA; this project keeps all 17 for interpretability, at a small, acknowledged efficiency cost.</a:t>
            </a:r>
            <a:endParaRPr lang="en-US" sz="106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Feature Scaling Matters</a:t>
            </a:r>
            <a:endParaRPr lang="en-US" sz="3000" dirty="0"/>
          </a:p>
        </p:txBody>
      </p:sp>
      <p:sp>
        <p:nvSpPr>
          <p:cNvPr id="4" name="Text 2"/>
          <p:cNvSpPr/>
          <p:nvPr/>
        </p:nvSpPr>
        <p:spPr>
          <a:xfrm>
            <a:off x="502920" y="1783080"/>
            <a:ext cx="10607040" cy="96012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The 17 features live on wildly different scales — </a:t>
            </a:r>
            <a:pPr indent="0" marL="0">
              <a:lnSpc>
                <a:spcPct val="130000"/>
              </a:lnSpc>
              <a:buNone/>
            </a:pPr>
            <a:r>
              <a:rPr lang="en-US" sz="1350" i="1" dirty="0">
                <a:solidFill>
                  <a:srgbClr val="1E293B"/>
                </a:solidFill>
                <a:latin typeface="Calibri" pitchFamily="34" charset="0"/>
                <a:ea typeface="Calibri" pitchFamily="34" charset="-122"/>
                <a:cs typeface="Calibri" pitchFamily="34" charset="-120"/>
              </a:rPr>
              <a:t>spectral_energy can be in the thousands while crest_factor is close to 1.</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An SVM's distance-based math would let large-scale features silently dominate, so every feature is standardized before training:</a:t>
            </a:r>
            <a:endParaRPr lang="en-US" sz="1350" dirty="0"/>
          </a:p>
        </p:txBody>
      </p:sp>
      <p:sp>
        <p:nvSpPr>
          <p:cNvPr id="5" name="Shape 3"/>
          <p:cNvSpPr/>
          <p:nvPr/>
        </p:nvSpPr>
        <p:spPr>
          <a:xfrm>
            <a:off x="502920" y="288036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01752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z = (x - mean) / std     &lt;-      sklearn StandardScaler</a:t>
            </a:r>
            <a:endParaRPr lang="en-US" sz="1500" dirty="0"/>
          </a:p>
        </p:txBody>
      </p:sp>
      <p:sp>
        <p:nvSpPr>
          <p:cNvPr id="7" name="Text 5"/>
          <p:cNvSpPr/>
          <p:nvPr/>
        </p:nvSpPr>
        <p:spPr>
          <a:xfrm>
            <a:off x="502920" y="4114800"/>
            <a:ext cx="10607040" cy="822960"/>
          </a:xfrm>
          <a:prstGeom prst="rect">
            <a:avLst/>
          </a:prstGeom>
          <a:noFill/>
          <a:ln/>
        </p:spPr>
        <p:txBody>
          <a:bodyPr wrap="square" lIns="0" tIns="0" rIns="0" bIns="0" rtlCol="0" anchor="ctr"/>
          <a:lstStyle/>
          <a:p>
            <a:pPr indent="0" marL="0">
              <a:lnSpc>
                <a:spcPct val="130000"/>
              </a:lnSpc>
              <a:buNone/>
            </a:pPr>
            <a:r>
              <a:rPr lang="en-US" sz="1250" b="1" dirty="0">
                <a:solidFill>
                  <a:srgbClr val="0B1F3A"/>
                </a:solidFill>
                <a:latin typeface="Calibri" pitchFamily="34" charset="0"/>
                <a:ea typeface="Calibri" pitchFamily="34" charset="-122"/>
                <a:cs typeface="Calibri" pitchFamily="34" charset="-120"/>
              </a:rPr>
              <a:t>Critically: </a:t>
            </a:r>
            <a:pPr indent="0" marL="0">
              <a:lnSpc>
                <a:spcPct val="130000"/>
              </a:lnSpc>
              <a:buNone/>
            </a:pPr>
            <a:r>
              <a:rPr lang="en-US" sz="1250" dirty="0">
                <a:solidFill>
                  <a:srgbClr val="64748B"/>
                </a:solidFill>
                <a:latin typeface="Calibri" pitchFamily="34" charset="0"/>
                <a:ea typeface="Calibri" pitchFamily="34" charset="-122"/>
                <a:cs typeface="Calibri" pitchFamily="34" charset="-120"/>
              </a:rPr>
              <a:t>the scaler is fit only on the training set, then applied to the test set — fitting on all the data first would leak test-set statistics into training and quietly inflate the reported accuracy.</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Transformed Dataset: features_v2.csv</a:t>
            </a:r>
            <a:endParaRPr lang="en-US" sz="3000" dirty="0"/>
          </a:p>
        </p:txBody>
      </p:sp>
      <p:sp>
        <p:nvSpPr>
          <p:cNvPr id="4" name="Text 2"/>
          <p:cNvSpPr/>
          <p:nvPr/>
        </p:nvSpPr>
        <p:spPr>
          <a:xfrm>
            <a:off x="502920" y="1691640"/>
            <a:ext cx="10607040" cy="685800"/>
          </a:xfrm>
          <a:prstGeom prst="rect">
            <a:avLst/>
          </a:prstGeom>
          <a:noFill/>
          <a:ln/>
        </p:spPr>
        <p:txBody>
          <a:bodyPr wrap="square" lIns="0" tIns="0" rIns="0" bIns="0" rtlCol="0" anchor="ctr"/>
          <a:lstStyle/>
          <a:p>
            <a:pPr indent="0" marL="0">
              <a:lnSpc>
                <a:spcPct val="128000"/>
              </a:lnSpc>
              <a:buNone/>
            </a:pPr>
            <a:r>
              <a:rPr lang="en-US" sz="1250" b="1" dirty="0">
                <a:solidFill>
                  <a:srgbClr val="0B1F3A"/>
                </a:solidFill>
                <a:latin typeface="Calibri" pitchFamily="34" charset="0"/>
                <a:ea typeface="Calibri" pitchFamily="34" charset="-122"/>
                <a:cs typeface="Calibri" pitchFamily="34" charset="-120"/>
              </a:rPr>
              <a:t>This is the file the SVM actually trains on. </a:t>
            </a:r>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Each row still has one sample_id, circuit and fault label — but the 200 raw voltage points are now gone, replaced by the 17 engineered numbers (f1...f17) from the previous slides.</a:t>
            </a:r>
            <a:endParaRPr lang="en-US" sz="1250" dirty="0"/>
          </a:p>
        </p:txBody>
      </p:sp>
      <p:sp>
        <p:nvSpPr>
          <p:cNvPr id="5" name="Shape 3"/>
          <p:cNvSpPr/>
          <p:nvPr/>
        </p:nvSpPr>
        <p:spPr>
          <a:xfrm>
            <a:off x="502920" y="2423160"/>
            <a:ext cx="10607040" cy="512064"/>
          </a:xfrm>
          <a:prstGeom prst="roundRect">
            <a:avLst>
              <a:gd name="adj" fmla="val 10714"/>
            </a:avLst>
          </a:prstGeom>
          <a:solidFill>
            <a:srgbClr val="0B1F3A"/>
          </a:solidFill>
          <a:ln/>
        </p:spPr>
      </p:sp>
      <p:sp>
        <p:nvSpPr>
          <p:cNvPr id="6" name="Text 4"/>
          <p:cNvSpPr/>
          <p:nvPr/>
        </p:nvSpPr>
        <p:spPr>
          <a:xfrm>
            <a:off x="502920" y="2423160"/>
            <a:ext cx="1508760" cy="512064"/>
          </a:xfrm>
          <a:prstGeom prst="rect">
            <a:avLst/>
          </a:prstGeom>
          <a:noFill/>
          <a:ln/>
        </p:spPr>
        <p:txBody>
          <a:bodyPr wrap="square" lIns="0" tIns="177800" rIns="0" bIns="0" rtlCol="0" anchor="ctr"/>
          <a:lstStyle/>
          <a:p>
            <a:pPr algn="l" indent="0" marL="0">
              <a:buNone/>
            </a:pPr>
            <a:r>
              <a:rPr lang="en-US" sz="1020" b="1" dirty="0">
                <a:solidFill>
                  <a:srgbClr val="FFFFFF"/>
                </a:solidFill>
                <a:latin typeface="Calibri" pitchFamily="34" charset="0"/>
                <a:ea typeface="Calibri" pitchFamily="34" charset="-122"/>
                <a:cs typeface="Calibri" pitchFamily="34" charset="-120"/>
              </a:rPr>
              <a:t>circuit</a:t>
            </a:r>
            <a:endParaRPr lang="en-US" sz="1020" dirty="0"/>
          </a:p>
        </p:txBody>
      </p:sp>
      <p:sp>
        <p:nvSpPr>
          <p:cNvPr id="7" name="Text 5"/>
          <p:cNvSpPr/>
          <p:nvPr/>
        </p:nvSpPr>
        <p:spPr>
          <a:xfrm>
            <a:off x="201168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fault</a:t>
            </a:r>
            <a:endParaRPr lang="en-US" sz="1020" dirty="0"/>
          </a:p>
        </p:txBody>
      </p:sp>
      <p:sp>
        <p:nvSpPr>
          <p:cNvPr id="8" name="Text 6"/>
          <p:cNvSpPr/>
          <p:nvPr/>
        </p:nvSpPr>
        <p:spPr>
          <a:xfrm>
            <a:off x="3154680" y="2423160"/>
            <a:ext cx="109728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 peak</a:t>
            </a:r>
            <a:endParaRPr lang="en-US" sz="1020" dirty="0"/>
          </a:p>
        </p:txBody>
      </p:sp>
      <p:sp>
        <p:nvSpPr>
          <p:cNvPr id="9" name="Text 7"/>
          <p:cNvSpPr/>
          <p:nvPr/>
        </p:nvSpPr>
        <p:spPr>
          <a:xfrm>
            <a:off x="4251960" y="2423160"/>
            <a:ext cx="10515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f4 std</a:t>
            </a:r>
            <a:endParaRPr lang="en-US" sz="1020" dirty="0"/>
          </a:p>
        </p:txBody>
      </p:sp>
      <p:sp>
        <p:nvSpPr>
          <p:cNvPr id="10" name="Text 8"/>
          <p:cNvSpPr/>
          <p:nvPr/>
        </p:nvSpPr>
        <p:spPr>
          <a:xfrm>
            <a:off x="530352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f5 rise_t</a:t>
            </a:r>
            <a:endParaRPr lang="en-US" sz="1020" dirty="0"/>
          </a:p>
        </p:txBody>
      </p:sp>
      <p:sp>
        <p:nvSpPr>
          <p:cNvPr id="11" name="Text 9"/>
          <p:cNvSpPr/>
          <p:nvPr/>
        </p:nvSpPr>
        <p:spPr>
          <a:xfrm>
            <a:off x="6446520" y="2423160"/>
            <a:ext cx="15087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f9 dom.freq</a:t>
            </a:r>
            <a:endParaRPr lang="en-US" sz="1020" dirty="0"/>
          </a:p>
        </p:txBody>
      </p:sp>
      <p:sp>
        <p:nvSpPr>
          <p:cNvPr id="12" name="Text 10"/>
          <p:cNvSpPr/>
          <p:nvPr/>
        </p:nvSpPr>
        <p:spPr>
          <a:xfrm>
            <a:off x="7955280" y="2423160"/>
            <a:ext cx="14630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f13 entropy</a:t>
            </a:r>
            <a:endParaRPr lang="en-US" sz="1020" dirty="0"/>
          </a:p>
        </p:txBody>
      </p:sp>
      <p:sp>
        <p:nvSpPr>
          <p:cNvPr id="13" name="Text 11"/>
          <p:cNvSpPr/>
          <p:nvPr/>
        </p:nvSpPr>
        <p:spPr>
          <a:xfrm>
            <a:off x="9418320" y="2423160"/>
            <a:ext cx="16916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f17 dc_lvl</a:t>
            </a:r>
            <a:endParaRPr lang="en-US" sz="1020" dirty="0"/>
          </a:p>
        </p:txBody>
      </p:sp>
      <p:sp>
        <p:nvSpPr>
          <p:cNvPr id="14" name="Shape 12"/>
          <p:cNvSpPr/>
          <p:nvPr/>
        </p:nvSpPr>
        <p:spPr>
          <a:xfrm>
            <a:off x="502920" y="2935224"/>
            <a:ext cx="10607040" cy="512064"/>
          </a:xfrm>
          <a:prstGeom prst="rect">
            <a:avLst/>
          </a:prstGeom>
          <a:solidFill>
            <a:srgbClr val="FFFFFF"/>
          </a:solidFill>
          <a:ln w="9525">
            <a:solidFill>
              <a:srgbClr val="E4E9F1"/>
            </a:solidFill>
            <a:prstDash val="solid"/>
          </a:ln>
        </p:spPr>
      </p:sp>
      <p:sp>
        <p:nvSpPr>
          <p:cNvPr id="15" name="Text 13"/>
          <p:cNvSpPr/>
          <p:nvPr/>
        </p:nvSpPr>
        <p:spPr>
          <a:xfrm>
            <a:off x="502920" y="2935224"/>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16" name="Text 14"/>
          <p:cNvSpPr/>
          <p:nvPr/>
        </p:nvSpPr>
        <p:spPr>
          <a:xfrm>
            <a:off x="2011680" y="2935224"/>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open</a:t>
            </a:r>
            <a:endParaRPr lang="en-US" sz="1020" dirty="0"/>
          </a:p>
        </p:txBody>
      </p:sp>
      <p:sp>
        <p:nvSpPr>
          <p:cNvPr id="17" name="Text 15"/>
          <p:cNvSpPr/>
          <p:nvPr/>
        </p:nvSpPr>
        <p:spPr>
          <a:xfrm>
            <a:off x="3154680" y="2935224"/>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0.047</a:t>
            </a:r>
            <a:endParaRPr lang="en-US" sz="1020" dirty="0"/>
          </a:p>
        </p:txBody>
      </p:sp>
      <p:sp>
        <p:nvSpPr>
          <p:cNvPr id="18" name="Text 16"/>
          <p:cNvSpPr/>
          <p:nvPr/>
        </p:nvSpPr>
        <p:spPr>
          <a:xfrm>
            <a:off x="4251960" y="2935224"/>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0.014</a:t>
            </a:r>
            <a:endParaRPr lang="en-US" sz="1020" dirty="0"/>
          </a:p>
        </p:txBody>
      </p:sp>
      <p:sp>
        <p:nvSpPr>
          <p:cNvPr id="19" name="Text 17"/>
          <p:cNvSpPr/>
          <p:nvPr/>
        </p:nvSpPr>
        <p:spPr>
          <a:xfrm>
            <a:off x="5303520" y="2935224"/>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0.076 s</a:t>
            </a:r>
            <a:endParaRPr lang="en-US" sz="1020" dirty="0"/>
          </a:p>
        </p:txBody>
      </p:sp>
      <p:sp>
        <p:nvSpPr>
          <p:cNvPr id="20" name="Text 18"/>
          <p:cNvSpPr/>
          <p:nvPr/>
        </p:nvSpPr>
        <p:spPr>
          <a:xfrm>
            <a:off x="6446520" y="2935224"/>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21" name="Text 19"/>
          <p:cNvSpPr/>
          <p:nvPr/>
        </p:nvSpPr>
        <p:spPr>
          <a:xfrm>
            <a:off x="7955280" y="2935224"/>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0.926</a:t>
            </a:r>
            <a:endParaRPr lang="en-US" sz="1020" dirty="0"/>
          </a:p>
        </p:txBody>
      </p:sp>
      <p:sp>
        <p:nvSpPr>
          <p:cNvPr id="22" name="Text 20"/>
          <p:cNvSpPr/>
          <p:nvPr/>
        </p:nvSpPr>
        <p:spPr>
          <a:xfrm>
            <a:off x="9418320" y="2935224"/>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0.045</a:t>
            </a:r>
            <a:endParaRPr lang="en-US" sz="1020" dirty="0"/>
          </a:p>
        </p:txBody>
      </p:sp>
      <p:sp>
        <p:nvSpPr>
          <p:cNvPr id="23" name="Shape 21"/>
          <p:cNvSpPr/>
          <p:nvPr/>
        </p:nvSpPr>
        <p:spPr>
          <a:xfrm>
            <a:off x="502920" y="3447288"/>
            <a:ext cx="10607040" cy="512064"/>
          </a:xfrm>
          <a:prstGeom prst="rect">
            <a:avLst/>
          </a:prstGeom>
          <a:solidFill>
            <a:srgbClr val="EEF2F7"/>
          </a:solidFill>
          <a:ln w="9525">
            <a:solidFill>
              <a:srgbClr val="E4E9F1"/>
            </a:solidFill>
            <a:prstDash val="solid"/>
          </a:ln>
        </p:spPr>
      </p:sp>
      <p:sp>
        <p:nvSpPr>
          <p:cNvPr id="24" name="Text 22"/>
          <p:cNvSpPr/>
          <p:nvPr/>
        </p:nvSpPr>
        <p:spPr>
          <a:xfrm>
            <a:off x="502920" y="3447288"/>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25" name="Text 23"/>
          <p:cNvSpPr/>
          <p:nvPr/>
        </p:nvSpPr>
        <p:spPr>
          <a:xfrm>
            <a:off x="2011680" y="3447288"/>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short</a:t>
            </a:r>
            <a:endParaRPr lang="en-US" sz="1020" dirty="0"/>
          </a:p>
        </p:txBody>
      </p:sp>
      <p:sp>
        <p:nvSpPr>
          <p:cNvPr id="26" name="Text 24"/>
          <p:cNvSpPr/>
          <p:nvPr/>
        </p:nvSpPr>
        <p:spPr>
          <a:xfrm>
            <a:off x="3154680" y="3447288"/>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27" name="Text 25"/>
          <p:cNvSpPr/>
          <p:nvPr/>
        </p:nvSpPr>
        <p:spPr>
          <a:xfrm>
            <a:off x="4251960" y="3447288"/>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0.353</a:t>
            </a:r>
            <a:endParaRPr lang="en-US" sz="1020" dirty="0"/>
          </a:p>
        </p:txBody>
      </p:sp>
      <p:sp>
        <p:nvSpPr>
          <p:cNvPr id="28" name="Text 26"/>
          <p:cNvSpPr/>
          <p:nvPr/>
        </p:nvSpPr>
        <p:spPr>
          <a:xfrm>
            <a:off x="5303520" y="3447288"/>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0.000 s</a:t>
            </a:r>
            <a:endParaRPr lang="en-US" sz="1020" dirty="0"/>
          </a:p>
        </p:txBody>
      </p:sp>
      <p:sp>
        <p:nvSpPr>
          <p:cNvPr id="29" name="Text 27"/>
          <p:cNvSpPr/>
          <p:nvPr/>
        </p:nvSpPr>
        <p:spPr>
          <a:xfrm>
            <a:off x="6446520" y="3447288"/>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900.7 Hz</a:t>
            </a:r>
            <a:endParaRPr lang="en-US" sz="1020" dirty="0"/>
          </a:p>
        </p:txBody>
      </p:sp>
      <p:sp>
        <p:nvSpPr>
          <p:cNvPr id="30" name="Text 28"/>
          <p:cNvSpPr/>
          <p:nvPr/>
        </p:nvSpPr>
        <p:spPr>
          <a:xfrm>
            <a:off x="7955280" y="3447288"/>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0.042</a:t>
            </a:r>
            <a:endParaRPr lang="en-US" sz="1020" dirty="0"/>
          </a:p>
        </p:txBody>
      </p:sp>
      <p:sp>
        <p:nvSpPr>
          <p:cNvPr id="31" name="Text 29"/>
          <p:cNvSpPr/>
          <p:nvPr/>
        </p:nvSpPr>
        <p:spPr>
          <a:xfrm>
            <a:off x="9418320" y="3447288"/>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32" name="Shape 30"/>
          <p:cNvSpPr/>
          <p:nvPr/>
        </p:nvSpPr>
        <p:spPr>
          <a:xfrm>
            <a:off x="502920" y="3959352"/>
            <a:ext cx="10607040" cy="512064"/>
          </a:xfrm>
          <a:prstGeom prst="rect">
            <a:avLst/>
          </a:prstGeom>
          <a:solidFill>
            <a:srgbClr val="FFFFFF"/>
          </a:solidFill>
          <a:ln w="9525">
            <a:solidFill>
              <a:srgbClr val="E4E9F1"/>
            </a:solidFill>
            <a:prstDash val="solid"/>
          </a:ln>
        </p:spPr>
      </p:sp>
      <p:sp>
        <p:nvSpPr>
          <p:cNvPr id="33" name="Text 31"/>
          <p:cNvSpPr/>
          <p:nvPr/>
        </p:nvSpPr>
        <p:spPr>
          <a:xfrm>
            <a:off x="502920" y="3959352"/>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RLC</a:t>
            </a:r>
            <a:endParaRPr lang="en-US" sz="1020" dirty="0"/>
          </a:p>
        </p:txBody>
      </p:sp>
      <p:sp>
        <p:nvSpPr>
          <p:cNvPr id="34" name="Text 32"/>
          <p:cNvSpPr/>
          <p:nvPr/>
        </p:nvSpPr>
        <p:spPr>
          <a:xfrm>
            <a:off x="2011680" y="3959352"/>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drift</a:t>
            </a:r>
            <a:endParaRPr lang="en-US" sz="1020" dirty="0"/>
          </a:p>
        </p:txBody>
      </p:sp>
      <p:sp>
        <p:nvSpPr>
          <p:cNvPr id="35" name="Text 33"/>
          <p:cNvSpPr/>
          <p:nvPr/>
        </p:nvSpPr>
        <p:spPr>
          <a:xfrm>
            <a:off x="3154680" y="3959352"/>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8.668</a:t>
            </a:r>
            <a:endParaRPr lang="en-US" sz="1020" dirty="0"/>
          </a:p>
        </p:txBody>
      </p:sp>
      <p:sp>
        <p:nvSpPr>
          <p:cNvPr id="36" name="Text 34"/>
          <p:cNvSpPr/>
          <p:nvPr/>
        </p:nvSpPr>
        <p:spPr>
          <a:xfrm>
            <a:off x="4251960" y="3959352"/>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2.835</a:t>
            </a:r>
            <a:endParaRPr lang="en-US" sz="1020" dirty="0"/>
          </a:p>
        </p:txBody>
      </p:sp>
      <p:sp>
        <p:nvSpPr>
          <p:cNvPr id="37" name="Text 35"/>
          <p:cNvSpPr/>
          <p:nvPr/>
        </p:nvSpPr>
        <p:spPr>
          <a:xfrm>
            <a:off x="5303520" y="3959352"/>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0.062 s</a:t>
            </a:r>
            <a:endParaRPr lang="en-US" sz="1020" dirty="0"/>
          </a:p>
        </p:txBody>
      </p:sp>
      <p:sp>
        <p:nvSpPr>
          <p:cNvPr id="38" name="Text 36"/>
          <p:cNvSpPr/>
          <p:nvPr/>
        </p:nvSpPr>
        <p:spPr>
          <a:xfrm>
            <a:off x="6446520" y="3959352"/>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39" name="Text 37"/>
          <p:cNvSpPr/>
          <p:nvPr/>
        </p:nvSpPr>
        <p:spPr>
          <a:xfrm>
            <a:off x="7955280" y="3959352"/>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1.243</a:t>
            </a:r>
            <a:endParaRPr lang="en-US" sz="1020" dirty="0"/>
          </a:p>
        </p:txBody>
      </p:sp>
      <p:sp>
        <p:nvSpPr>
          <p:cNvPr id="40" name="Text 38"/>
          <p:cNvSpPr/>
          <p:nvPr/>
        </p:nvSpPr>
        <p:spPr>
          <a:xfrm>
            <a:off x="9418320" y="3959352"/>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8.276</a:t>
            </a:r>
            <a:endParaRPr lang="en-US" sz="1020" dirty="0"/>
          </a:p>
        </p:txBody>
      </p:sp>
      <p:sp>
        <p:nvSpPr>
          <p:cNvPr id="41" name="Shape 39"/>
          <p:cNvSpPr/>
          <p:nvPr/>
        </p:nvSpPr>
        <p:spPr>
          <a:xfrm>
            <a:off x="502920" y="4471416"/>
            <a:ext cx="10607040" cy="512064"/>
          </a:xfrm>
          <a:prstGeom prst="rect">
            <a:avLst/>
          </a:prstGeom>
          <a:solidFill>
            <a:srgbClr val="EEF2F7"/>
          </a:solidFill>
          <a:ln w="9525">
            <a:solidFill>
              <a:srgbClr val="E4E9F1"/>
            </a:solidFill>
            <a:prstDash val="solid"/>
          </a:ln>
        </p:spPr>
      </p:sp>
      <p:sp>
        <p:nvSpPr>
          <p:cNvPr id="42" name="Text 40"/>
          <p:cNvSpPr/>
          <p:nvPr/>
        </p:nvSpPr>
        <p:spPr>
          <a:xfrm>
            <a:off x="502920" y="4471416"/>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SALLEN_KEY</a:t>
            </a:r>
            <a:endParaRPr lang="en-US" sz="1020" dirty="0"/>
          </a:p>
        </p:txBody>
      </p:sp>
      <p:sp>
        <p:nvSpPr>
          <p:cNvPr id="43" name="Text 41"/>
          <p:cNvSpPr/>
          <p:nvPr/>
        </p:nvSpPr>
        <p:spPr>
          <a:xfrm>
            <a:off x="2011680" y="4471416"/>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noise</a:t>
            </a:r>
            <a:endParaRPr lang="en-US" sz="1020" dirty="0"/>
          </a:p>
        </p:txBody>
      </p:sp>
      <p:sp>
        <p:nvSpPr>
          <p:cNvPr id="44" name="Text 42"/>
          <p:cNvSpPr/>
          <p:nvPr/>
        </p:nvSpPr>
        <p:spPr>
          <a:xfrm>
            <a:off x="3154680" y="4471416"/>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5.704</a:t>
            </a:r>
            <a:endParaRPr lang="en-US" sz="1020" dirty="0"/>
          </a:p>
        </p:txBody>
      </p:sp>
      <p:sp>
        <p:nvSpPr>
          <p:cNvPr id="45" name="Text 43"/>
          <p:cNvSpPr/>
          <p:nvPr/>
        </p:nvSpPr>
        <p:spPr>
          <a:xfrm>
            <a:off x="4251960" y="4471416"/>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0.446</a:t>
            </a:r>
            <a:endParaRPr lang="en-US" sz="1020" dirty="0"/>
          </a:p>
        </p:txBody>
      </p:sp>
      <p:sp>
        <p:nvSpPr>
          <p:cNvPr id="46" name="Text 44"/>
          <p:cNvSpPr/>
          <p:nvPr/>
        </p:nvSpPr>
        <p:spPr>
          <a:xfrm>
            <a:off x="5303520" y="4471416"/>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0.020 s</a:t>
            </a:r>
            <a:endParaRPr lang="en-US" sz="1020" dirty="0"/>
          </a:p>
        </p:txBody>
      </p:sp>
      <p:sp>
        <p:nvSpPr>
          <p:cNvPr id="47" name="Text 45"/>
          <p:cNvSpPr/>
          <p:nvPr/>
        </p:nvSpPr>
        <p:spPr>
          <a:xfrm>
            <a:off x="6446520" y="4471416"/>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1194.0 Hz</a:t>
            </a:r>
            <a:endParaRPr lang="en-US" sz="1020" dirty="0"/>
          </a:p>
        </p:txBody>
      </p:sp>
      <p:sp>
        <p:nvSpPr>
          <p:cNvPr id="48" name="Text 46"/>
          <p:cNvSpPr/>
          <p:nvPr/>
        </p:nvSpPr>
        <p:spPr>
          <a:xfrm>
            <a:off x="7955280" y="4471416"/>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0.063</a:t>
            </a:r>
            <a:endParaRPr lang="en-US" sz="1020" dirty="0"/>
          </a:p>
        </p:txBody>
      </p:sp>
      <p:sp>
        <p:nvSpPr>
          <p:cNvPr id="49" name="Text 47"/>
          <p:cNvSpPr/>
          <p:nvPr/>
        </p:nvSpPr>
        <p:spPr>
          <a:xfrm>
            <a:off x="9418320" y="4471416"/>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5.064</a:t>
            </a:r>
            <a:endParaRPr lang="en-US" sz="1020" dirty="0"/>
          </a:p>
        </p:txBody>
      </p:sp>
      <p:sp>
        <p:nvSpPr>
          <p:cNvPr id="50" name="Text 48"/>
          <p:cNvSpPr/>
          <p:nvPr/>
        </p:nvSpPr>
        <p:spPr>
          <a:xfrm>
            <a:off x="502920" y="5074920"/>
            <a:ext cx="10607040" cy="109728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1,019 rows x 20 columns (sample_id + circuit + fault + 17 features) — a 10x reduction from 204 columns, with each number chosen to carry physical meaning rather than just compressing data blindly.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Notice RC_short and RLC_drift both have dominant_freq near 52 Hz while SALLEN_KEY_noise sits at 1194 Hz, and RC_short's spectral entropy (0.042) is far lower than RLC_drift's (1.243) — exactly the kind of separation the SVM will learn to exploit next.</a:t>
            </a:r>
            <a:endParaRPr lang="en-US" sz="1100" dirty="0"/>
          </a:p>
        </p:txBody>
      </p:sp>
      <p:sp>
        <p:nvSpPr>
          <p:cNvPr id="51" name="Text 4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2" name="Text 5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SVM? An Empirical Comparison First</a:t>
            </a:r>
            <a:endParaRPr lang="en-US" sz="3000" dirty="0"/>
          </a:p>
        </p:txBody>
      </p:sp>
      <p:sp>
        <p:nvSpPr>
          <p:cNvPr id="4" name="Text 2"/>
          <p:cNvSpPr/>
          <p:nvPr/>
        </p:nvSpPr>
        <p:spPr>
          <a:xfrm>
            <a:off x="502920" y="1691640"/>
            <a:ext cx="10607040" cy="822960"/>
          </a:xfrm>
          <a:prstGeom prst="rect">
            <a:avLst/>
          </a:prstGeom>
          <a:noFill/>
          <a:ln/>
        </p:spPr>
        <p:txBody>
          <a:bodyPr wrap="square" lIns="0" tIns="0" rIns="0" bIns="0" rtlCol="0" anchor="ctr"/>
          <a:lstStyle/>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Before going into SVM theory, a fair question: why this algorithm and not something simpler? Four alternative classifiers were trained on the exact same 17 features, averaged over 15 random 80/20 splits (no topology correction applied to any model, for a like-for-like comparison):</a:t>
            </a:r>
            <a:endParaRPr lang="en-US" sz="12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365760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7" name="Text 5"/>
          <p:cNvSpPr/>
          <p:nvPr/>
        </p:nvSpPr>
        <p:spPr>
          <a:xfrm>
            <a:off x="4160520" y="2606040"/>
            <a:ext cx="19202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Mean accuracy</a:t>
            </a:r>
            <a:endParaRPr lang="en-US" sz="1200" dirty="0"/>
          </a:p>
        </p:txBody>
      </p:sp>
      <p:sp>
        <p:nvSpPr>
          <p:cNvPr id="8" name="Text 6"/>
          <p:cNvSpPr/>
          <p:nvPr/>
        </p:nvSpPr>
        <p:spPr>
          <a:xfrm>
            <a:off x="6080760" y="2606040"/>
            <a:ext cx="15544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Std dev</a:t>
            </a:r>
            <a:endParaRPr lang="en-US" sz="1200" dirty="0"/>
          </a:p>
        </p:txBody>
      </p:sp>
      <p:sp>
        <p:nvSpPr>
          <p:cNvPr id="9" name="Text 7"/>
          <p:cNvSpPr/>
          <p:nvPr/>
        </p:nvSpPr>
        <p:spPr>
          <a:xfrm>
            <a:off x="7635240" y="2606040"/>
            <a:ext cx="347472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0" name="Shape 8"/>
          <p:cNvSpPr/>
          <p:nvPr/>
        </p:nvSpPr>
        <p:spPr>
          <a:xfrm>
            <a:off x="502920" y="3136392"/>
            <a:ext cx="10607040" cy="530352"/>
          </a:xfrm>
          <a:prstGeom prst="rect">
            <a:avLst/>
          </a:prstGeom>
          <a:solidFill>
            <a:srgbClr val="FFFFFF"/>
          </a:solidFill>
          <a:ln w="9525">
            <a:solidFill>
              <a:srgbClr val="E4E9F1"/>
            </a:solidFill>
            <a:prstDash val="solid"/>
          </a:ln>
        </p:spPr>
      </p:sp>
      <p:sp>
        <p:nvSpPr>
          <p:cNvPr id="11" name="Text 9"/>
          <p:cNvSpPr/>
          <p:nvPr/>
        </p:nvSpPr>
        <p:spPr>
          <a:xfrm>
            <a:off x="502920" y="3136392"/>
            <a:ext cx="3657600" cy="530352"/>
          </a:xfrm>
          <a:prstGeom prst="rect">
            <a:avLst/>
          </a:prstGeom>
          <a:noFill/>
          <a:ln/>
        </p:spPr>
        <p:txBody>
          <a:bodyPr wrap="square" lIns="0" tIns="177800" rIns="0" bIns="0" rtlCol="0" anchor="ctr"/>
          <a:lstStyle/>
          <a:p>
            <a:pPr algn="l" indent="0" marL="0">
              <a:buNone/>
            </a:pPr>
            <a:r>
              <a:rPr lang="en-US" sz="1080" b="1" dirty="0">
                <a:solidFill>
                  <a:srgbClr val="1E293B"/>
                </a:solidFill>
                <a:latin typeface="Calibri" pitchFamily="34" charset="0"/>
                <a:ea typeface="Calibri" pitchFamily="34" charset="-122"/>
                <a:cs typeface="Calibri" pitchFamily="34" charset="-120"/>
              </a:rPr>
              <a:t>Random Forest (200 trees)</a:t>
            </a:r>
            <a:endParaRPr lang="en-US" sz="1080" dirty="0"/>
          </a:p>
        </p:txBody>
      </p:sp>
      <p:sp>
        <p:nvSpPr>
          <p:cNvPr id="12" name="Text 10"/>
          <p:cNvSpPr/>
          <p:nvPr/>
        </p:nvSpPr>
        <p:spPr>
          <a:xfrm>
            <a:off x="4160520" y="3136392"/>
            <a:ext cx="192024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67.88%</a:t>
            </a:r>
            <a:endParaRPr lang="en-US" sz="1080" dirty="0"/>
          </a:p>
        </p:txBody>
      </p:sp>
      <p:sp>
        <p:nvSpPr>
          <p:cNvPr id="13" name="Text 11"/>
          <p:cNvSpPr/>
          <p:nvPr/>
        </p:nvSpPr>
        <p:spPr>
          <a:xfrm>
            <a:off x="6080760" y="3136392"/>
            <a:ext cx="155448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2.18</a:t>
            </a:r>
            <a:endParaRPr lang="en-US" sz="1080" dirty="0"/>
          </a:p>
        </p:txBody>
      </p:sp>
      <p:sp>
        <p:nvSpPr>
          <p:cNvPr id="14" name="Text 12"/>
          <p:cNvSpPr/>
          <p:nvPr/>
        </p:nvSpPr>
        <p:spPr>
          <a:xfrm>
            <a:off x="7635240" y="3136392"/>
            <a:ext cx="347472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Underfits with default depth on ~40 train samples/class</a:t>
            </a:r>
            <a:endParaRPr lang="en-US" sz="1080" dirty="0"/>
          </a:p>
        </p:txBody>
      </p:sp>
      <p:sp>
        <p:nvSpPr>
          <p:cNvPr id="15" name="Shape 13"/>
          <p:cNvSpPr/>
          <p:nvPr/>
        </p:nvSpPr>
        <p:spPr>
          <a:xfrm>
            <a:off x="502920" y="3666744"/>
            <a:ext cx="10607040" cy="530352"/>
          </a:xfrm>
          <a:prstGeom prst="rect">
            <a:avLst/>
          </a:prstGeom>
          <a:solidFill>
            <a:srgbClr val="EEF2F7"/>
          </a:solidFill>
          <a:ln w="9525">
            <a:solidFill>
              <a:srgbClr val="E4E9F1"/>
            </a:solidFill>
            <a:prstDash val="solid"/>
          </a:ln>
        </p:spPr>
      </p:sp>
      <p:sp>
        <p:nvSpPr>
          <p:cNvPr id="16" name="Text 14"/>
          <p:cNvSpPr/>
          <p:nvPr/>
        </p:nvSpPr>
        <p:spPr>
          <a:xfrm>
            <a:off x="502920" y="3666744"/>
            <a:ext cx="3657600" cy="530352"/>
          </a:xfrm>
          <a:prstGeom prst="rect">
            <a:avLst/>
          </a:prstGeom>
          <a:noFill/>
          <a:ln/>
        </p:spPr>
        <p:txBody>
          <a:bodyPr wrap="square" lIns="0" tIns="177800" rIns="0" bIns="0" rtlCol="0" anchor="ctr"/>
          <a:lstStyle/>
          <a:p>
            <a:pPr algn="l" indent="0" marL="0">
              <a:buNone/>
            </a:pPr>
            <a:r>
              <a:rPr lang="en-US" sz="1080" b="1" dirty="0">
                <a:solidFill>
                  <a:srgbClr val="1E293B"/>
                </a:solidFill>
                <a:latin typeface="Calibri" pitchFamily="34" charset="0"/>
                <a:ea typeface="Calibri" pitchFamily="34" charset="-122"/>
                <a:cs typeface="Calibri" pitchFamily="34" charset="-120"/>
              </a:rPr>
              <a:t>Decision Tree</a:t>
            </a:r>
            <a:endParaRPr lang="en-US" sz="1080" dirty="0"/>
          </a:p>
        </p:txBody>
      </p:sp>
      <p:sp>
        <p:nvSpPr>
          <p:cNvPr id="17" name="Text 15"/>
          <p:cNvSpPr/>
          <p:nvPr/>
        </p:nvSpPr>
        <p:spPr>
          <a:xfrm>
            <a:off x="4160520" y="3666744"/>
            <a:ext cx="192024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69.93%</a:t>
            </a:r>
            <a:endParaRPr lang="en-US" sz="1080" dirty="0"/>
          </a:p>
        </p:txBody>
      </p:sp>
      <p:sp>
        <p:nvSpPr>
          <p:cNvPr id="18" name="Text 16"/>
          <p:cNvSpPr/>
          <p:nvPr/>
        </p:nvSpPr>
        <p:spPr>
          <a:xfrm>
            <a:off x="6080760" y="3666744"/>
            <a:ext cx="155448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2.51</a:t>
            </a:r>
            <a:endParaRPr lang="en-US" sz="1080" dirty="0"/>
          </a:p>
        </p:txBody>
      </p:sp>
      <p:sp>
        <p:nvSpPr>
          <p:cNvPr id="19" name="Text 17"/>
          <p:cNvSpPr/>
          <p:nvPr/>
        </p:nvSpPr>
        <p:spPr>
          <a:xfrm>
            <a:off x="7635240" y="3666744"/>
            <a:ext cx="347472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A single tree overfits noisy per-sample splits</a:t>
            </a:r>
            <a:endParaRPr lang="en-US" sz="1080" dirty="0"/>
          </a:p>
        </p:txBody>
      </p:sp>
      <p:sp>
        <p:nvSpPr>
          <p:cNvPr id="20" name="Shape 18"/>
          <p:cNvSpPr/>
          <p:nvPr/>
        </p:nvSpPr>
        <p:spPr>
          <a:xfrm>
            <a:off x="502920" y="4197096"/>
            <a:ext cx="10607040" cy="530352"/>
          </a:xfrm>
          <a:prstGeom prst="rect">
            <a:avLst/>
          </a:prstGeom>
          <a:solidFill>
            <a:srgbClr val="FFFFFF"/>
          </a:solidFill>
          <a:ln w="9525">
            <a:solidFill>
              <a:srgbClr val="E4E9F1"/>
            </a:solidFill>
            <a:prstDash val="solid"/>
          </a:ln>
        </p:spPr>
      </p:sp>
      <p:sp>
        <p:nvSpPr>
          <p:cNvPr id="21" name="Text 19"/>
          <p:cNvSpPr/>
          <p:nvPr/>
        </p:nvSpPr>
        <p:spPr>
          <a:xfrm>
            <a:off x="502920" y="4197096"/>
            <a:ext cx="3657600" cy="530352"/>
          </a:xfrm>
          <a:prstGeom prst="rect">
            <a:avLst/>
          </a:prstGeom>
          <a:noFill/>
          <a:ln/>
        </p:spPr>
        <p:txBody>
          <a:bodyPr wrap="square" lIns="0" tIns="177800" rIns="0" bIns="0" rtlCol="0" anchor="ctr"/>
          <a:lstStyle/>
          <a:p>
            <a:pPr algn="l" indent="0" marL="0">
              <a:buNone/>
            </a:pPr>
            <a:r>
              <a:rPr lang="en-US" sz="1080" b="1" dirty="0">
                <a:solidFill>
                  <a:srgbClr val="1E293B"/>
                </a:solidFill>
                <a:latin typeface="Calibri" pitchFamily="34" charset="0"/>
                <a:ea typeface="Calibri" pitchFamily="34" charset="-122"/>
                <a:cs typeface="Calibri" pitchFamily="34" charset="-120"/>
              </a:rPr>
              <a:t>k-NN (k=5)</a:t>
            </a:r>
            <a:endParaRPr lang="en-US" sz="1080" dirty="0"/>
          </a:p>
        </p:txBody>
      </p:sp>
      <p:sp>
        <p:nvSpPr>
          <p:cNvPr id="22" name="Text 20"/>
          <p:cNvSpPr/>
          <p:nvPr/>
        </p:nvSpPr>
        <p:spPr>
          <a:xfrm>
            <a:off x="4160520" y="4197096"/>
            <a:ext cx="192024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71.50%</a:t>
            </a:r>
            <a:endParaRPr lang="en-US" sz="1080" dirty="0"/>
          </a:p>
        </p:txBody>
      </p:sp>
      <p:sp>
        <p:nvSpPr>
          <p:cNvPr id="23" name="Text 21"/>
          <p:cNvSpPr/>
          <p:nvPr/>
        </p:nvSpPr>
        <p:spPr>
          <a:xfrm>
            <a:off x="6080760" y="4197096"/>
            <a:ext cx="155448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2.02</a:t>
            </a:r>
            <a:endParaRPr lang="en-US" sz="1080" dirty="0"/>
          </a:p>
        </p:txBody>
      </p:sp>
      <p:sp>
        <p:nvSpPr>
          <p:cNvPr id="24" name="Text 22"/>
          <p:cNvSpPr/>
          <p:nvPr/>
        </p:nvSpPr>
        <p:spPr>
          <a:xfrm>
            <a:off x="7635240" y="4197096"/>
            <a:ext cx="347472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Struggles once 17 dimensions dilute distance</a:t>
            </a:r>
            <a:endParaRPr lang="en-US" sz="1080" dirty="0"/>
          </a:p>
        </p:txBody>
      </p:sp>
      <p:sp>
        <p:nvSpPr>
          <p:cNvPr id="25" name="Shape 23"/>
          <p:cNvSpPr/>
          <p:nvPr/>
        </p:nvSpPr>
        <p:spPr>
          <a:xfrm>
            <a:off x="502920" y="4727448"/>
            <a:ext cx="10607040" cy="530352"/>
          </a:xfrm>
          <a:prstGeom prst="rect">
            <a:avLst/>
          </a:prstGeom>
          <a:solidFill>
            <a:srgbClr val="EEF2F7"/>
          </a:solidFill>
          <a:ln w="9525">
            <a:solidFill>
              <a:srgbClr val="E4E9F1"/>
            </a:solidFill>
            <a:prstDash val="solid"/>
          </a:ln>
        </p:spPr>
      </p:sp>
      <p:sp>
        <p:nvSpPr>
          <p:cNvPr id="26" name="Text 24"/>
          <p:cNvSpPr/>
          <p:nvPr/>
        </p:nvSpPr>
        <p:spPr>
          <a:xfrm>
            <a:off x="502920" y="4727448"/>
            <a:ext cx="3657600" cy="530352"/>
          </a:xfrm>
          <a:prstGeom prst="rect">
            <a:avLst/>
          </a:prstGeom>
          <a:noFill/>
          <a:ln/>
        </p:spPr>
        <p:txBody>
          <a:bodyPr wrap="square" lIns="0" tIns="177800" rIns="0" bIns="0" rtlCol="0" anchor="ctr"/>
          <a:lstStyle/>
          <a:p>
            <a:pPr algn="l" indent="0" marL="0">
              <a:buNone/>
            </a:pPr>
            <a:r>
              <a:rPr lang="en-US" sz="1080" b="1" dirty="0">
                <a:solidFill>
                  <a:srgbClr val="1E293B"/>
                </a:solidFill>
                <a:latin typeface="Calibri" pitchFamily="34" charset="0"/>
                <a:ea typeface="Calibri" pitchFamily="34" charset="-122"/>
                <a:cs typeface="Calibri" pitchFamily="34" charset="-120"/>
              </a:rPr>
              <a:t>Logistic Regression</a:t>
            </a:r>
            <a:endParaRPr lang="en-US" sz="1080" dirty="0"/>
          </a:p>
        </p:txBody>
      </p:sp>
      <p:sp>
        <p:nvSpPr>
          <p:cNvPr id="27" name="Text 25"/>
          <p:cNvSpPr/>
          <p:nvPr/>
        </p:nvSpPr>
        <p:spPr>
          <a:xfrm>
            <a:off x="4160520" y="4727448"/>
            <a:ext cx="192024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74.74%</a:t>
            </a:r>
            <a:endParaRPr lang="en-US" sz="1080" dirty="0"/>
          </a:p>
        </p:txBody>
      </p:sp>
      <p:sp>
        <p:nvSpPr>
          <p:cNvPr id="28" name="Text 26"/>
          <p:cNvSpPr/>
          <p:nvPr/>
        </p:nvSpPr>
        <p:spPr>
          <a:xfrm>
            <a:off x="6080760" y="4727448"/>
            <a:ext cx="155448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1.91</a:t>
            </a:r>
            <a:endParaRPr lang="en-US" sz="1080" dirty="0"/>
          </a:p>
        </p:txBody>
      </p:sp>
      <p:sp>
        <p:nvSpPr>
          <p:cNvPr id="29" name="Text 27"/>
          <p:cNvSpPr/>
          <p:nvPr/>
        </p:nvSpPr>
        <p:spPr>
          <a:xfrm>
            <a:off x="7635240" y="4727448"/>
            <a:ext cx="347472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Strong linear baseline, close to SVM-Linear</a:t>
            </a:r>
            <a:endParaRPr lang="en-US" sz="1080" dirty="0"/>
          </a:p>
        </p:txBody>
      </p:sp>
      <p:sp>
        <p:nvSpPr>
          <p:cNvPr id="30" name="Shape 28"/>
          <p:cNvSpPr/>
          <p:nvPr/>
        </p:nvSpPr>
        <p:spPr>
          <a:xfrm>
            <a:off x="502920" y="5257800"/>
            <a:ext cx="10607040" cy="530352"/>
          </a:xfrm>
          <a:prstGeom prst="rect">
            <a:avLst/>
          </a:prstGeom>
          <a:solidFill>
            <a:srgbClr val="FFFFFF"/>
          </a:solidFill>
          <a:ln w="9525">
            <a:solidFill>
              <a:srgbClr val="E4E9F1"/>
            </a:solidFill>
            <a:prstDash val="solid"/>
          </a:ln>
        </p:spPr>
      </p:sp>
      <p:sp>
        <p:nvSpPr>
          <p:cNvPr id="31" name="Text 29"/>
          <p:cNvSpPr/>
          <p:nvPr/>
        </p:nvSpPr>
        <p:spPr>
          <a:xfrm>
            <a:off x="502920" y="5257800"/>
            <a:ext cx="3657600" cy="530352"/>
          </a:xfrm>
          <a:prstGeom prst="rect">
            <a:avLst/>
          </a:prstGeom>
          <a:noFill/>
          <a:ln/>
        </p:spPr>
        <p:txBody>
          <a:bodyPr wrap="square" lIns="0" tIns="177800" rIns="0" bIns="0" rtlCol="0" anchor="ctr"/>
          <a:lstStyle/>
          <a:p>
            <a:pPr algn="l" indent="0" marL="0">
              <a:buNone/>
            </a:pPr>
            <a:r>
              <a:rPr lang="en-US" sz="1080" b="1" dirty="0">
                <a:solidFill>
                  <a:srgbClr val="1E293B"/>
                </a:solidFill>
                <a:latin typeface="Calibri" pitchFamily="34" charset="0"/>
                <a:ea typeface="Calibri" pitchFamily="34" charset="-122"/>
                <a:cs typeface="Calibri" pitchFamily="34" charset="-120"/>
              </a:rPr>
              <a:t>SVM RBF (tuned, this project)</a:t>
            </a:r>
            <a:endParaRPr lang="en-US" sz="1080" dirty="0"/>
          </a:p>
        </p:txBody>
      </p:sp>
      <p:sp>
        <p:nvSpPr>
          <p:cNvPr id="32" name="Text 30"/>
          <p:cNvSpPr/>
          <p:nvPr/>
        </p:nvSpPr>
        <p:spPr>
          <a:xfrm>
            <a:off x="4160520" y="5257800"/>
            <a:ext cx="192024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77.48%</a:t>
            </a:r>
            <a:endParaRPr lang="en-US" sz="1080" dirty="0"/>
          </a:p>
        </p:txBody>
      </p:sp>
      <p:sp>
        <p:nvSpPr>
          <p:cNvPr id="33" name="Text 31"/>
          <p:cNvSpPr/>
          <p:nvPr/>
        </p:nvSpPr>
        <p:spPr>
          <a:xfrm>
            <a:off x="6080760" y="5257800"/>
            <a:ext cx="155448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1.87</a:t>
            </a:r>
            <a:endParaRPr lang="en-US" sz="1080" dirty="0"/>
          </a:p>
        </p:txBody>
      </p:sp>
      <p:sp>
        <p:nvSpPr>
          <p:cNvPr id="34" name="Text 32"/>
          <p:cNvSpPr/>
          <p:nvPr/>
        </p:nvSpPr>
        <p:spPr>
          <a:xfrm>
            <a:off x="7635240" y="5257800"/>
            <a:ext cx="3474720" cy="530352"/>
          </a:xfrm>
          <a:prstGeom prst="rect">
            <a:avLst/>
          </a:prstGeom>
          <a:noFill/>
          <a:ln/>
        </p:spPr>
        <p:txBody>
          <a:bodyPr wrap="square" lIns="0" tIns="0" rIns="0" bIns="0" rtlCol="0" anchor="ctr"/>
          <a:lstStyle/>
          <a:p>
            <a:pPr algn="ctr" indent="0" marL="0">
              <a:buNone/>
            </a:pPr>
            <a:r>
              <a:rPr lang="en-US" sz="1080" dirty="0">
                <a:solidFill>
                  <a:srgbClr val="1E293B"/>
                </a:solidFill>
                <a:latin typeface="Calibri" pitchFamily="34" charset="0"/>
                <a:ea typeface="Calibri" pitchFamily="34" charset="-122"/>
                <a:cs typeface="Calibri" pitchFamily="34" charset="-120"/>
              </a:rPr>
              <a:t>Best mean, competitive variance</a:t>
            </a:r>
            <a:endParaRPr lang="en-US" sz="1080" dirty="0"/>
          </a:p>
        </p:txBody>
      </p:sp>
      <p:sp>
        <p:nvSpPr>
          <p:cNvPr id="35" name="Shape 33"/>
          <p:cNvSpPr/>
          <p:nvPr/>
        </p:nvSpPr>
        <p:spPr>
          <a:xfrm>
            <a:off x="502920" y="5806440"/>
            <a:ext cx="10607040" cy="566928"/>
          </a:xfrm>
          <a:prstGeom prst="roundRect">
            <a:avLst>
              <a:gd name="adj" fmla="val 12903"/>
            </a:avLst>
          </a:prstGeom>
          <a:solidFill>
            <a:srgbClr val="0B1F3A"/>
          </a:solidFill>
          <a:ln/>
          <a:effectLst>
            <a:outerShdw sx="100000" sy="100000" kx="0" ky="0" algn="bl" rotWithShape="0" blurRad="114300" dist="38100" dir="2700000">
              <a:srgbClr val="0B1F3A">
                <a:alpha val="14000"/>
              </a:srgbClr>
            </a:outerShdw>
          </a:effectLst>
        </p:spPr>
      </p:sp>
      <p:sp>
        <p:nvSpPr>
          <p:cNvPr id="36" name="Text 34"/>
          <p:cNvSpPr/>
          <p:nvPr/>
        </p:nvSpPr>
        <p:spPr>
          <a:xfrm>
            <a:off x="758952" y="5806440"/>
            <a:ext cx="10104120" cy="566928"/>
          </a:xfrm>
          <a:prstGeom prst="rect">
            <a:avLst/>
          </a:prstGeom>
          <a:noFill/>
          <a:ln/>
        </p:spPr>
        <p:txBody>
          <a:bodyPr wrap="square" lIns="0" tIns="0" rIns="0" bIns="0" rtlCol="0" anchor="ctr"/>
          <a:lstStyle/>
          <a:p>
            <a:pPr indent="0" marL="0">
              <a:lnSpc>
                <a:spcPct val="115000"/>
              </a:lnSpc>
              <a:buNone/>
            </a:pPr>
            <a:r>
              <a:rPr lang="en-US" sz="960" b="1" dirty="0">
                <a:solidFill>
                  <a:srgbClr val="FFB703"/>
                </a:solidFill>
                <a:latin typeface="Calibri" pitchFamily="34" charset="0"/>
                <a:ea typeface="Calibri" pitchFamily="34" charset="-122"/>
                <a:cs typeface="Calibri" pitchFamily="34" charset="-120"/>
              </a:rPr>
              <a:t>Honest caveat: </a:t>
            </a:r>
            <a:pPr indent="0" marL="0">
              <a:lnSpc>
                <a:spcPct val="115000"/>
              </a:lnSpc>
              <a:buNone/>
            </a:pPr>
            <a:r>
              <a:rPr lang="en-US" sz="960" dirty="0">
                <a:solidFill>
                  <a:srgbClr val="E7ECF4"/>
                </a:solidFill>
                <a:latin typeface="Calibri" pitchFamily="34" charset="0"/>
                <a:ea typeface="Calibri" pitchFamily="34" charset="-122"/>
                <a:cs typeface="Calibri" pitchFamily="34" charset="-120"/>
              </a:rPr>
              <a:t>only the SVM was hyperparameter-tuned via GridSearchCV here; Random Forest and the others use library defaults, so this is a first-pass comparison, not a fully tuned bake-off. It's still enough to justify SVM as the right starting point.</a:t>
            </a:r>
            <a:endParaRPr lang="en-US" sz="960" dirty="0"/>
          </a:p>
        </p:txBody>
      </p:sp>
      <p:sp>
        <p:nvSpPr>
          <p:cNvPr id="37" name="Text 3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8" name="Text 3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Support Vector Machines: The Big Idea</a:t>
            </a:r>
            <a:endParaRPr lang="en-US" sz="3000" dirty="0"/>
          </a:p>
        </p:txBody>
      </p:sp>
      <p:sp>
        <p:nvSpPr>
          <p:cNvPr id="4" name="Text 2"/>
          <p:cNvSpPr/>
          <p:nvPr/>
        </p:nvSpPr>
        <p:spPr>
          <a:xfrm>
            <a:off x="502920" y="1828800"/>
            <a:ext cx="10607040" cy="914400"/>
          </a:xfrm>
          <a:prstGeom prst="rect">
            <a:avLst/>
          </a:prstGeom>
          <a:noFill/>
          <a:ln/>
        </p:spPr>
        <p:txBody>
          <a:bodyPr wrap="square" lIns="0" tIns="0" rIns="0" bIns="0" rtlCol="0" anchor="ctr"/>
          <a:lstStyle/>
          <a:p>
            <a:pPr indent="0" marL="0">
              <a:lnSpc>
                <a:spcPct val="130000"/>
              </a:lnSpc>
              <a:buNone/>
            </a:pPr>
            <a:r>
              <a:rPr lang="en-US" sz="1400" dirty="0">
                <a:solidFill>
                  <a:srgbClr val="1E293B"/>
                </a:solidFill>
                <a:latin typeface="Calibri" pitchFamily="34" charset="0"/>
                <a:ea typeface="Calibri" pitchFamily="34" charset="-122"/>
                <a:cs typeface="Calibri" pitchFamily="34" charset="-120"/>
              </a:rPr>
              <a:t>An SVM looks at labeled examples in feature space and draws the boundary that separates classes with the </a:t>
            </a:r>
            <a:pPr indent="0" marL="0">
              <a:lnSpc>
                <a:spcPct val="130000"/>
              </a:lnSpc>
              <a:buNone/>
            </a:pPr>
            <a:r>
              <a:rPr lang="en-US" sz="1400" b="1" dirty="0">
                <a:solidFill>
                  <a:srgbClr val="0B1F3A"/>
                </a:solidFill>
                <a:latin typeface="Calibri" pitchFamily="34" charset="0"/>
                <a:ea typeface="Calibri" pitchFamily="34" charset="-122"/>
                <a:cs typeface="Calibri" pitchFamily="34" charset="-120"/>
              </a:rPr>
              <a:t>widest possible margin</a:t>
            </a:r>
            <a:pPr indent="0" marL="0">
              <a:lnSpc>
                <a:spcPct val="130000"/>
              </a:lnSpc>
              <a:buNone/>
            </a:pPr>
            <a:r>
              <a:rPr lang="en-US" sz="1400" dirty="0">
                <a:solidFill>
                  <a:srgbClr val="1E293B"/>
                </a:solidFill>
                <a:latin typeface="Calibri" pitchFamily="34" charset="0"/>
                <a:ea typeface="Calibri" pitchFamily="34" charset="-122"/>
                <a:cs typeface="Calibri" pitchFamily="34" charset="-120"/>
              </a:rPr>
              <a:t> — not just any line that works, but the one furthest from the nearest points of each class.</a:t>
            </a:r>
            <a:endParaRPr lang="en-US" sz="1400" dirty="0"/>
          </a:p>
        </p:txBody>
      </p:sp>
      <p:sp>
        <p:nvSpPr>
          <p:cNvPr id="5" name="Shape 3"/>
          <p:cNvSpPr/>
          <p:nvPr/>
        </p:nvSpPr>
        <p:spPr>
          <a:xfrm>
            <a:off x="502920" y="292608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handright_00B4D8.png">    </p:cNvPr>
          <p:cNvPicPr>
            <a:picLocks noChangeAspect="1"/>
          </p:cNvPicPr>
          <p:nvPr/>
        </p:nvPicPr>
        <p:blipFill>
          <a:blip r:embed="rId1"/>
          <a:stretch>
            <a:fillRect/>
          </a:stretch>
        </p:blipFill>
        <p:spPr>
          <a:xfrm>
            <a:off x="574518" y="2997678"/>
            <a:ext cx="387157" cy="387157"/>
          </a:xfrm>
          <a:prstGeom prst="rect">
            <a:avLst/>
          </a:prstGeom>
        </p:spPr>
      </p:pic>
      <p:sp>
        <p:nvSpPr>
          <p:cNvPr id="7" name="Text 4"/>
          <p:cNvSpPr/>
          <p:nvPr/>
        </p:nvSpPr>
        <p:spPr>
          <a:xfrm>
            <a:off x="1234440" y="290779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Support vectors: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Only the closest points to the boundary matter for defining it — these are the “support vectors” that give the algorithm its name.</a:t>
            </a:r>
            <a:endParaRPr lang="en-US" sz="1200" dirty="0"/>
          </a:p>
        </p:txBody>
      </p:sp>
      <p:sp>
        <p:nvSpPr>
          <p:cNvPr id="8" name="Shape 5"/>
          <p:cNvSpPr/>
          <p:nvPr/>
        </p:nvSpPr>
        <p:spPr>
          <a:xfrm>
            <a:off x="502920" y="388620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balance_00B4D8.png">    </p:cNvPr>
          <p:cNvPicPr>
            <a:picLocks noChangeAspect="1"/>
          </p:cNvPicPr>
          <p:nvPr/>
        </p:nvPicPr>
        <p:blipFill>
          <a:blip r:embed="rId2"/>
          <a:stretch>
            <a:fillRect/>
          </a:stretch>
        </p:blipFill>
        <p:spPr>
          <a:xfrm>
            <a:off x="574518" y="3957798"/>
            <a:ext cx="387157" cy="387157"/>
          </a:xfrm>
          <a:prstGeom prst="rect">
            <a:avLst/>
          </a:prstGeom>
        </p:spPr>
      </p:pic>
      <p:sp>
        <p:nvSpPr>
          <p:cNvPr id="10" name="Text 6"/>
          <p:cNvSpPr/>
          <p:nvPr/>
        </p:nvSpPr>
        <p:spPr>
          <a:xfrm>
            <a:off x="1234440" y="386791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Margin maximization: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A wider margin between classes tends to generalize better to new, unseen data than a boundary that barely squeezes between them.</a:t>
            </a:r>
            <a:endParaRPr lang="en-US" sz="1200" dirty="0"/>
          </a:p>
        </p:txBody>
      </p:sp>
      <p:sp>
        <p:nvSpPr>
          <p:cNvPr id="11" name="Shape 7"/>
          <p:cNvSpPr/>
          <p:nvPr/>
        </p:nvSpPr>
        <p:spPr>
          <a:xfrm>
            <a:off x="502920" y="484632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2" descr="/sessions/blissful-zealous-babbage/mnt/outputs/ppt/icons/puzzle_00B4D8.png">    </p:cNvPr>
          <p:cNvPicPr>
            <a:picLocks noChangeAspect="1"/>
          </p:cNvPicPr>
          <p:nvPr/>
        </p:nvPicPr>
        <p:blipFill>
          <a:blip r:embed="rId3"/>
          <a:stretch>
            <a:fillRect/>
          </a:stretch>
        </p:blipFill>
        <p:spPr>
          <a:xfrm>
            <a:off x="574518" y="4917918"/>
            <a:ext cx="387157" cy="387157"/>
          </a:xfrm>
          <a:prstGeom prst="rect">
            <a:avLst/>
          </a:prstGeom>
        </p:spPr>
      </p:pic>
      <p:sp>
        <p:nvSpPr>
          <p:cNvPr id="13" name="Text 8"/>
          <p:cNvSpPr/>
          <p:nvPr/>
        </p:nvSpPr>
        <p:spPr>
          <a:xfrm>
            <a:off x="1234440" y="482803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The kernel question: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Real data is rarely separable with a straight line — the next slide covers how SVMs handle that.</a:t>
            </a:r>
            <a:endParaRPr lang="en-US" sz="1200" dirty="0"/>
          </a:p>
        </p:txBody>
      </p:sp>
      <p:sp>
        <p:nvSpPr>
          <p:cNvPr id="14"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SVM Math: Hyperplanes &amp; Margins</a:t>
            </a:r>
            <a:endParaRPr lang="en-US" sz="3000" dirty="0"/>
          </a:p>
        </p:txBody>
      </p:sp>
      <p:sp>
        <p:nvSpPr>
          <p:cNvPr id="4" name="Shape 2"/>
          <p:cNvSpPr/>
          <p:nvPr/>
        </p:nvSpPr>
        <p:spPr>
          <a:xfrm>
            <a:off x="502920" y="1828800"/>
            <a:ext cx="10607040" cy="1874520"/>
          </a:xfrm>
          <a:prstGeom prst="roundRect">
            <a:avLst>
              <a:gd name="adj" fmla="val 3902"/>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60020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Decision boundary:   w . x + b = 0</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Classify:            sign(w . x + b)</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Margin width:        2 / ||w||          (maximize this)</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Training objective:  minimize ||w||^2 / 2, subject to correct classification</a:t>
            </a:r>
            <a:endParaRPr lang="en-US" sz="1400" dirty="0"/>
          </a:p>
        </p:txBody>
      </p:sp>
      <p:sp>
        <p:nvSpPr>
          <p:cNvPr id="6" name="Text 4"/>
          <p:cNvSpPr/>
          <p:nvPr/>
        </p:nvSpPr>
        <p:spPr>
          <a:xfrm>
            <a:off x="502920" y="3977640"/>
            <a:ext cx="10607040" cy="1005840"/>
          </a:xfrm>
          <a:prstGeom prst="rect">
            <a:avLst/>
          </a:prstGeom>
          <a:noFill/>
          <a:ln/>
        </p:spPr>
        <p:txBody>
          <a:bodyPr wrap="square" lIns="0" tIns="0" rIns="0" bIns="0" rtlCol="0" anchor="ctr"/>
          <a:lstStyle/>
          <a:p>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a weight vector (one number per feature) and </a:t>
            </a:r>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b</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a bias term. In the linear-kernel model, the size of each weight in </a:t>
            </a:r>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literally what the Feature Importance chart (in Results) is built from — larger |weight| means that feature moves the boundary more.</a:t>
            </a:r>
            <a:endParaRPr lang="en-US" sz="1250" dirty="0"/>
          </a:p>
        </p:txBody>
      </p:sp>
      <p:sp>
        <p:nvSpPr>
          <p:cNvPr id="7" name="Shape 5"/>
          <p:cNvSpPr/>
          <p:nvPr/>
        </p:nvSpPr>
        <p:spPr>
          <a:xfrm>
            <a:off x="502920" y="5257800"/>
            <a:ext cx="11185855" cy="502920"/>
          </a:xfrm>
          <a:prstGeom prst="roundRect">
            <a:avLst>
              <a:gd name="adj" fmla="val 10909"/>
            </a:avLst>
          </a:prstGeom>
          <a:solidFill>
            <a:srgbClr val="FFF8E8"/>
          </a:solidFill>
          <a:ln w="12700">
            <a:solidFill>
              <a:srgbClr val="F0C24B"/>
            </a:solidFill>
            <a:prstDash val="solid"/>
          </a:ln>
        </p:spPr>
      </p:sp>
      <p:sp>
        <p:nvSpPr>
          <p:cNvPr id="8" name="Text 6"/>
          <p:cNvSpPr/>
          <p:nvPr/>
        </p:nvSpPr>
        <p:spPr>
          <a:xfrm>
            <a:off x="667512" y="5257800"/>
            <a:ext cx="10856671" cy="50292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This is the same optimization idea as finding the best-fit line in a graph, just with a margin-width twist. You don't need to solve this by hand — scikit-learn's SVC does it in one line of code.</a:t>
            </a:r>
            <a:endParaRPr lang="en-US" sz="9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Kernel Trick</a:t>
            </a:r>
            <a:endParaRPr lang="en-US" sz="3000" dirty="0"/>
          </a:p>
        </p:txBody>
      </p:sp>
      <p:sp>
        <p:nvSpPr>
          <p:cNvPr id="4" name="Text 2"/>
          <p:cNvSpPr/>
          <p:nvPr/>
        </p:nvSpPr>
        <p:spPr>
          <a:xfrm>
            <a:off x="502920" y="1783080"/>
            <a:ext cx="10607040" cy="86868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A straight-line boundary can't separate classes that curl around each other in feature space. Kernels let the SVM measure similarity as if the data had been projected into a higher-dimensional space — without ever computing that projection directly.</a:t>
            </a:r>
            <a:endParaRPr lang="en-US" sz="1300" dirty="0"/>
          </a:p>
        </p:txBody>
      </p:sp>
      <p:sp>
        <p:nvSpPr>
          <p:cNvPr id="5" name="Shape 3"/>
          <p:cNvSpPr/>
          <p:nvPr/>
        </p:nvSpPr>
        <p:spPr>
          <a:xfrm>
            <a:off x="502920" y="2743200"/>
            <a:ext cx="10607040" cy="566928"/>
          </a:xfrm>
          <a:prstGeom prst="roundRect">
            <a:avLst>
              <a:gd name="adj" fmla="val 9677"/>
            </a:avLst>
          </a:prstGeom>
          <a:solidFill>
            <a:srgbClr val="0B1F3A"/>
          </a:solidFill>
          <a:ln/>
        </p:spPr>
      </p:sp>
      <p:sp>
        <p:nvSpPr>
          <p:cNvPr id="6" name="Text 4"/>
          <p:cNvSpPr/>
          <p:nvPr/>
        </p:nvSpPr>
        <p:spPr>
          <a:xfrm>
            <a:off x="502920" y="2743200"/>
            <a:ext cx="2194560" cy="566928"/>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7" name="Text 5"/>
          <p:cNvSpPr/>
          <p:nvPr/>
        </p:nvSpPr>
        <p:spPr>
          <a:xfrm>
            <a:off x="2697480" y="2743200"/>
            <a:ext cx="5120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Similarity function K(x, x')</a:t>
            </a:r>
            <a:endParaRPr lang="en-US" sz="1200" dirty="0"/>
          </a:p>
        </p:txBody>
      </p:sp>
      <p:sp>
        <p:nvSpPr>
          <p:cNvPr id="8" name="Text 6"/>
          <p:cNvSpPr/>
          <p:nvPr/>
        </p:nvSpPr>
        <p:spPr>
          <a:xfrm>
            <a:off x="7818120" y="2743200"/>
            <a:ext cx="3291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Shape of boundary</a:t>
            </a:r>
            <a:endParaRPr lang="en-US" sz="1200" dirty="0"/>
          </a:p>
        </p:txBody>
      </p:sp>
      <p:sp>
        <p:nvSpPr>
          <p:cNvPr id="9" name="Shape 7"/>
          <p:cNvSpPr/>
          <p:nvPr/>
        </p:nvSpPr>
        <p:spPr>
          <a:xfrm>
            <a:off x="502920" y="3310128"/>
            <a:ext cx="10607040" cy="566928"/>
          </a:xfrm>
          <a:prstGeom prst="rect">
            <a:avLst/>
          </a:prstGeom>
          <a:solidFill>
            <a:srgbClr val="FFFFFF"/>
          </a:solidFill>
          <a:ln w="9525">
            <a:solidFill>
              <a:srgbClr val="E4E9F1"/>
            </a:solidFill>
            <a:prstDash val="solid"/>
          </a:ln>
        </p:spPr>
      </p:sp>
      <p:sp>
        <p:nvSpPr>
          <p:cNvPr id="10" name="Text 8"/>
          <p:cNvSpPr/>
          <p:nvPr/>
        </p:nvSpPr>
        <p:spPr>
          <a:xfrm>
            <a:off x="502920" y="3310128"/>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Linear</a:t>
            </a:r>
            <a:endParaRPr lang="en-US" sz="1200" dirty="0"/>
          </a:p>
        </p:txBody>
      </p:sp>
      <p:sp>
        <p:nvSpPr>
          <p:cNvPr id="11" name="Text 9"/>
          <p:cNvSpPr/>
          <p:nvPr/>
        </p:nvSpPr>
        <p:spPr>
          <a:xfrm>
            <a:off x="2697480" y="3310128"/>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x . x'</a:t>
            </a:r>
            <a:endParaRPr lang="en-US" sz="1200" dirty="0"/>
          </a:p>
        </p:txBody>
      </p:sp>
      <p:sp>
        <p:nvSpPr>
          <p:cNvPr id="12" name="Text 10"/>
          <p:cNvSpPr/>
          <p:nvPr/>
        </p:nvSpPr>
        <p:spPr>
          <a:xfrm>
            <a:off x="7818120" y="3310128"/>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Straight line / flat plane</a:t>
            </a:r>
            <a:endParaRPr lang="en-US" sz="1200" dirty="0"/>
          </a:p>
        </p:txBody>
      </p:sp>
      <p:sp>
        <p:nvSpPr>
          <p:cNvPr id="13" name="Shape 11"/>
          <p:cNvSpPr/>
          <p:nvPr/>
        </p:nvSpPr>
        <p:spPr>
          <a:xfrm>
            <a:off x="502920" y="3877056"/>
            <a:ext cx="10607040" cy="566928"/>
          </a:xfrm>
          <a:prstGeom prst="rect">
            <a:avLst/>
          </a:prstGeom>
          <a:solidFill>
            <a:srgbClr val="EEF2F7"/>
          </a:solidFill>
          <a:ln w="9525">
            <a:solidFill>
              <a:srgbClr val="E4E9F1"/>
            </a:solidFill>
            <a:prstDash val="solid"/>
          </a:ln>
        </p:spPr>
      </p:sp>
      <p:sp>
        <p:nvSpPr>
          <p:cNvPr id="14" name="Text 12"/>
          <p:cNvSpPr/>
          <p:nvPr/>
        </p:nvSpPr>
        <p:spPr>
          <a:xfrm>
            <a:off x="502920" y="3877056"/>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RBF</a:t>
            </a:r>
            <a:endParaRPr lang="en-US" sz="1200" dirty="0"/>
          </a:p>
        </p:txBody>
      </p:sp>
      <p:sp>
        <p:nvSpPr>
          <p:cNvPr id="15" name="Text 13"/>
          <p:cNvSpPr/>
          <p:nvPr/>
        </p:nvSpPr>
        <p:spPr>
          <a:xfrm>
            <a:off x="2697480" y="3877056"/>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exp( -gamma * ||x - x'||^2 )</a:t>
            </a:r>
            <a:endParaRPr lang="en-US" sz="1200" dirty="0"/>
          </a:p>
        </p:txBody>
      </p:sp>
      <p:sp>
        <p:nvSpPr>
          <p:cNvPr id="16" name="Text 14"/>
          <p:cNvSpPr/>
          <p:nvPr/>
        </p:nvSpPr>
        <p:spPr>
          <a:xfrm>
            <a:off x="7818120" y="3877056"/>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Smooth, flexible curve</a:t>
            </a:r>
            <a:endParaRPr lang="en-US" sz="1200" dirty="0"/>
          </a:p>
        </p:txBody>
      </p:sp>
      <p:sp>
        <p:nvSpPr>
          <p:cNvPr id="17" name="Shape 15"/>
          <p:cNvSpPr/>
          <p:nvPr/>
        </p:nvSpPr>
        <p:spPr>
          <a:xfrm>
            <a:off x="502920" y="4443984"/>
            <a:ext cx="10607040" cy="566928"/>
          </a:xfrm>
          <a:prstGeom prst="rect">
            <a:avLst/>
          </a:prstGeom>
          <a:solidFill>
            <a:srgbClr val="FFFFFF"/>
          </a:solidFill>
          <a:ln w="9525">
            <a:solidFill>
              <a:srgbClr val="E4E9F1"/>
            </a:solidFill>
            <a:prstDash val="solid"/>
          </a:ln>
        </p:spPr>
      </p:sp>
      <p:sp>
        <p:nvSpPr>
          <p:cNvPr id="18" name="Text 16"/>
          <p:cNvSpPr/>
          <p:nvPr/>
        </p:nvSpPr>
        <p:spPr>
          <a:xfrm>
            <a:off x="502920" y="4443984"/>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Polynomial</a:t>
            </a:r>
            <a:endParaRPr lang="en-US" sz="1200" dirty="0"/>
          </a:p>
        </p:txBody>
      </p:sp>
      <p:sp>
        <p:nvSpPr>
          <p:cNvPr id="19" name="Text 17"/>
          <p:cNvSpPr/>
          <p:nvPr/>
        </p:nvSpPr>
        <p:spPr>
          <a:xfrm>
            <a:off x="2697480" y="4443984"/>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(gamma * x . x' + r)^d</a:t>
            </a:r>
            <a:endParaRPr lang="en-US" sz="1200" dirty="0"/>
          </a:p>
        </p:txBody>
      </p:sp>
      <p:sp>
        <p:nvSpPr>
          <p:cNvPr id="20" name="Text 18"/>
          <p:cNvSpPr/>
          <p:nvPr/>
        </p:nvSpPr>
        <p:spPr>
          <a:xfrm>
            <a:off x="7818120" y="4443984"/>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Curved, degree-d surface</a:t>
            </a:r>
            <a:endParaRPr lang="en-US" sz="1200" dirty="0"/>
          </a:p>
        </p:txBody>
      </p:sp>
      <p:sp>
        <p:nvSpPr>
          <p:cNvPr id="21" name="Text 19"/>
          <p:cNvSpPr/>
          <p:nvPr/>
        </p:nvSpPr>
        <p:spPr>
          <a:xfrm>
            <a:off x="502920" y="4572000"/>
            <a:ext cx="106070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gamma controls how far a single training example's influence reaches — this project's tuned RBF model uses gamma = 0.1.</a:t>
            </a:r>
            <a:endParaRPr lang="en-US" sz="1150" dirty="0"/>
          </a:p>
        </p:txBody>
      </p:sp>
      <p:sp>
        <p:nvSpPr>
          <p:cNvPr id="22" name="Shape 20"/>
          <p:cNvSpPr/>
          <p:nvPr/>
        </p:nvSpPr>
        <p:spPr>
          <a:xfrm>
            <a:off x="502920" y="5120640"/>
            <a:ext cx="11185855" cy="457200"/>
          </a:xfrm>
          <a:prstGeom prst="roundRect">
            <a:avLst>
              <a:gd name="adj" fmla="val 12000"/>
            </a:avLst>
          </a:prstGeom>
          <a:solidFill>
            <a:srgbClr val="FFF8E8"/>
          </a:solidFill>
          <a:ln w="12700">
            <a:solidFill>
              <a:srgbClr val="F0C24B"/>
            </a:solidFill>
            <a:prstDash val="solid"/>
          </a:ln>
        </p:spPr>
      </p:sp>
      <p:sp>
        <p:nvSpPr>
          <p:cNvPr id="23" name="Text 21"/>
          <p:cNvSpPr/>
          <p:nvPr/>
        </p:nvSpPr>
        <p:spPr>
          <a:xfrm>
            <a:off x="667512" y="5120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A "kernel" is just the shape of boundary the model is allowed to draw between classes — Linear is a straight cut, RBF and Polynomial can bend to fit curvier data.</a:t>
            </a:r>
            <a:endParaRPr lang="en-US" sz="950" dirty="0"/>
          </a:p>
        </p:txBody>
      </p:sp>
      <p:sp>
        <p:nvSpPr>
          <p:cNvPr id="24"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Multi-Class Strategy: One-vs-One</a:t>
            </a:r>
            <a:endParaRPr lang="en-US" sz="3000" dirty="0"/>
          </a:p>
        </p:txBody>
      </p:sp>
      <p:sp>
        <p:nvSpPr>
          <p:cNvPr id="4" name="Text 2"/>
          <p:cNvSpPr/>
          <p:nvPr/>
        </p:nvSpPr>
        <p:spPr>
          <a:xfrm>
            <a:off x="502920" y="1828800"/>
            <a:ext cx="10607040" cy="777240"/>
          </a:xfrm>
          <a:prstGeom prst="rect">
            <a:avLst/>
          </a:prstGeom>
          <a:noFill/>
          <a:ln/>
        </p:spPr>
        <p:txBody>
          <a:bodyPr wrap="square" lIns="0" tIns="0" rIns="0" bIns="0" rtlCol="0" anchor="ctr"/>
          <a:lstStyle/>
          <a:p>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An SVM is naturally a binary (two-class) classifier. scikit-learn's SVC handles 20 classes by training one small binary classifier for every possible pair of classes, then combining their votes:</a:t>
            </a:r>
            <a:endParaRPr lang="en-US" sz="1350" dirty="0"/>
          </a:p>
        </p:txBody>
      </p:sp>
      <p:sp>
        <p:nvSpPr>
          <p:cNvPr id="5" name="Shape 3"/>
          <p:cNvSpPr/>
          <p:nvPr/>
        </p:nvSpPr>
        <p:spPr>
          <a:xfrm>
            <a:off x="502920" y="2743200"/>
            <a:ext cx="10607040" cy="1234440"/>
          </a:xfrm>
          <a:prstGeom prst="roundRect">
            <a:avLst>
              <a:gd name="adj" fmla="val 592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880360"/>
            <a:ext cx="10058400" cy="96012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Number of binary classifiers = C(20, 2) = 20*19 / 2 = 190</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decision_function_shape="ovo"   (scikit-learn SVC default)</a:t>
            </a:r>
            <a:endParaRPr lang="en-US" sz="1500" dirty="0"/>
          </a:p>
        </p:txBody>
      </p:sp>
      <p:sp>
        <p:nvSpPr>
          <p:cNvPr id="7" name="Text 5"/>
          <p:cNvSpPr/>
          <p:nvPr/>
        </p:nvSpPr>
        <p:spPr>
          <a:xfrm>
            <a:off x="502920" y="4251960"/>
            <a:ext cx="10607040" cy="822960"/>
          </a:xfrm>
          <a:prstGeom prst="rect">
            <a:avLst/>
          </a:prstGeom>
          <a:noFill/>
          <a:ln/>
        </p:spPr>
        <p:txBody>
          <a:bodyPr wrap="square" lIns="0" tIns="0" rIns="0" bIns="0" rtlCol="0" anchor="ctr"/>
          <a:lstStyle/>
          <a:p>
            <a:pPr indent="0" marL="0">
              <a:lnSpc>
                <a:spcPct val="130000"/>
              </a:lnSpc>
              <a:buNone/>
            </a:pPr>
            <a:r>
              <a:rPr lang="en-US" sz="1250" dirty="0">
                <a:solidFill>
                  <a:srgbClr val="000000"/>
                </a:solidFill>
                <a:latin typeface="Calibri" pitchFamily="34" charset="0"/>
                <a:ea typeface="Calibri" pitchFamily="34" charset="-122"/>
                <a:cs typeface="Calibri" pitchFamily="34" charset="-120"/>
              </a:rPr>
              <a:t>Each of the 190 mini-classifiers votes on which of its two classes a sample looks more like; the class with the most votes wins. </a:t>
            </a:r>
            <a:pPr indent="0" marL="0">
              <a:lnSpc>
                <a:spcPct val="130000"/>
              </a:lnSpc>
              <a:buNone/>
            </a:pPr>
            <a:r>
              <a:rPr lang="en-US" sz="1250" dirty="0">
                <a:solidFill>
                  <a:srgbClr val="64748B"/>
                </a:solidFill>
                <a:latin typeface="Calibri" pitchFamily="34" charset="0"/>
                <a:ea typeface="Calibri" pitchFamily="34" charset="-122"/>
                <a:cs typeface="Calibri" pitchFamily="34" charset="-120"/>
              </a:rPr>
              <a:t>This is what lets a single SVC model handle a 20-way problem without any special multi-class math of its own.</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1: BASELINE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Baseline Results — Before Any Tuning</a:t>
            </a:r>
            <a:endParaRPr lang="en-US" sz="3000" dirty="0"/>
          </a:p>
        </p:txBody>
      </p:sp>
      <p:sp>
        <p:nvSpPr>
          <p:cNvPr id="4" name="Text 2"/>
          <p:cNvSpPr/>
          <p:nvPr/>
        </p:nvSpPr>
        <p:spPr>
          <a:xfrm>
            <a:off x="502920" y="178308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Before touching a single hyperparameter, all three kernels are trained with scikit-learn's near-default settings </a:t>
            </a:r>
            <a:pPr indent="0" marL="0">
              <a:lnSpc>
                <a:spcPct val="128000"/>
              </a:lnSpc>
              <a:buNone/>
            </a:pPr>
            <a:r>
              <a:rPr lang="en-US" sz="1300" b="1" dirty="0">
                <a:solidFill>
                  <a:srgbClr val="0B1F3A"/>
                </a:solidFill>
                <a:latin typeface="Courier New" pitchFamily="34" charset="0"/>
                <a:ea typeface="Courier New" pitchFamily="34" charset="-122"/>
                <a:cs typeface="Courier New" pitchFamily="34" charset="-120"/>
              </a:rPr>
              <a:t>(C=1.0, gamma="scale")</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on the same 80/20 split. This is the honest starting point every improvement from here on is measured against.</a:t>
            </a:r>
            <a:endParaRPr lang="en-US" sz="1300" dirty="0"/>
          </a:p>
        </p:txBody>
      </p:sp>
      <p:sp>
        <p:nvSpPr>
          <p:cNvPr id="5" name="Shape 3"/>
          <p:cNvSpPr/>
          <p:nvPr/>
        </p:nvSpPr>
        <p:spPr>
          <a:xfrm>
            <a:off x="50292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190652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chartline_00B4D8.png">    </p:cNvPr>
          <p:cNvPicPr>
            <a:picLocks noChangeAspect="1"/>
          </p:cNvPicPr>
          <p:nvPr/>
        </p:nvPicPr>
        <p:blipFill>
          <a:blip r:embed="rId1"/>
          <a:stretch>
            <a:fillRect/>
          </a:stretch>
        </p:blipFill>
        <p:spPr>
          <a:xfrm>
            <a:off x="1990466" y="3037454"/>
            <a:ext cx="453908" cy="453908"/>
          </a:xfrm>
          <a:prstGeom prst="rect">
            <a:avLst/>
          </a:prstGeom>
        </p:spPr>
      </p:pic>
      <p:sp>
        <p:nvSpPr>
          <p:cNvPr id="8" name="Text 5"/>
          <p:cNvSpPr/>
          <p:nvPr/>
        </p:nvSpPr>
        <p:spPr>
          <a:xfrm>
            <a:off x="50292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9" name="Text 6"/>
          <p:cNvSpPr/>
          <p:nvPr/>
        </p:nvSpPr>
        <p:spPr>
          <a:xfrm>
            <a:off x="64008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SVC(kernel="linear", C=1.0)</a:t>
            </a:r>
            <a:endParaRPr lang="en-US" sz="870" dirty="0"/>
          </a:p>
        </p:txBody>
      </p:sp>
      <p:sp>
        <p:nvSpPr>
          <p:cNvPr id="10" name="Text 7"/>
          <p:cNvSpPr/>
          <p:nvPr/>
        </p:nvSpPr>
        <p:spPr>
          <a:xfrm>
            <a:off x="50292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77.94%</a:t>
            </a:r>
            <a:endParaRPr lang="en-US" sz="2600" dirty="0"/>
          </a:p>
        </p:txBody>
      </p:sp>
      <p:sp>
        <p:nvSpPr>
          <p:cNvPr id="11" name="Text 8"/>
          <p:cNvSpPr/>
          <p:nvPr/>
        </p:nvSpPr>
        <p:spPr>
          <a:xfrm>
            <a:off x="50292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2" name="Shape 9"/>
          <p:cNvSpPr/>
          <p:nvPr/>
        </p:nvSpPr>
        <p:spPr>
          <a:xfrm>
            <a:off x="425196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3" name="Shape 10"/>
          <p:cNvSpPr/>
          <p:nvPr/>
        </p:nvSpPr>
        <p:spPr>
          <a:xfrm>
            <a:off x="565556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1" descr="/sessions/blissful-zealous-babbage/mnt/outputs/ppt/icons/wave_00B4D8.png">    </p:cNvPr>
          <p:cNvPicPr>
            <a:picLocks noChangeAspect="1"/>
          </p:cNvPicPr>
          <p:nvPr/>
        </p:nvPicPr>
        <p:blipFill>
          <a:blip r:embed="rId2"/>
          <a:stretch>
            <a:fillRect/>
          </a:stretch>
        </p:blipFill>
        <p:spPr>
          <a:xfrm>
            <a:off x="5739506" y="3037454"/>
            <a:ext cx="453908" cy="453908"/>
          </a:xfrm>
          <a:prstGeom prst="rect">
            <a:avLst/>
          </a:prstGeom>
        </p:spPr>
      </p:pic>
      <p:sp>
        <p:nvSpPr>
          <p:cNvPr id="15" name="Text 11"/>
          <p:cNvSpPr/>
          <p:nvPr/>
        </p:nvSpPr>
        <p:spPr>
          <a:xfrm>
            <a:off x="425196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RBF</a:t>
            </a:r>
            <a:endParaRPr lang="en-US" sz="1700" dirty="0"/>
          </a:p>
        </p:txBody>
      </p:sp>
      <p:sp>
        <p:nvSpPr>
          <p:cNvPr id="16" name="Text 12"/>
          <p:cNvSpPr/>
          <p:nvPr/>
        </p:nvSpPr>
        <p:spPr>
          <a:xfrm>
            <a:off x="438912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SVC(kernel="rbf", C=1.0, gamma="scale")</a:t>
            </a:r>
            <a:endParaRPr lang="en-US" sz="870" dirty="0"/>
          </a:p>
        </p:txBody>
      </p:sp>
      <p:sp>
        <p:nvSpPr>
          <p:cNvPr id="17" name="Text 13"/>
          <p:cNvSpPr/>
          <p:nvPr/>
        </p:nvSpPr>
        <p:spPr>
          <a:xfrm>
            <a:off x="425196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71.08%</a:t>
            </a:r>
            <a:endParaRPr lang="en-US" sz="2600" dirty="0"/>
          </a:p>
        </p:txBody>
      </p:sp>
      <p:sp>
        <p:nvSpPr>
          <p:cNvPr id="18" name="Text 14"/>
          <p:cNvSpPr/>
          <p:nvPr/>
        </p:nvSpPr>
        <p:spPr>
          <a:xfrm>
            <a:off x="425196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9" name="Shape 15"/>
          <p:cNvSpPr/>
          <p:nvPr/>
        </p:nvSpPr>
        <p:spPr>
          <a:xfrm>
            <a:off x="800100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6"/>
          <p:cNvSpPr/>
          <p:nvPr/>
        </p:nvSpPr>
        <p:spPr>
          <a:xfrm>
            <a:off x="940460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2" descr="/sessions/blissful-zealous-babbage/mnt/outputs/ppt/icons/chartbar_00B4D8.png">    </p:cNvPr>
          <p:cNvPicPr>
            <a:picLocks noChangeAspect="1"/>
          </p:cNvPicPr>
          <p:nvPr/>
        </p:nvPicPr>
        <p:blipFill>
          <a:blip r:embed="rId3"/>
          <a:stretch>
            <a:fillRect/>
          </a:stretch>
        </p:blipFill>
        <p:spPr>
          <a:xfrm>
            <a:off x="9488546" y="3037454"/>
            <a:ext cx="453908" cy="453908"/>
          </a:xfrm>
          <a:prstGeom prst="rect">
            <a:avLst/>
          </a:prstGeom>
        </p:spPr>
      </p:pic>
      <p:sp>
        <p:nvSpPr>
          <p:cNvPr id="22" name="Text 17"/>
          <p:cNvSpPr/>
          <p:nvPr/>
        </p:nvSpPr>
        <p:spPr>
          <a:xfrm>
            <a:off x="800100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3" name="Text 18"/>
          <p:cNvSpPr/>
          <p:nvPr/>
        </p:nvSpPr>
        <p:spPr>
          <a:xfrm>
            <a:off x="813816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SVC(kernel="poly", C=1.0, gamma="scale", degree=3)</a:t>
            </a:r>
            <a:endParaRPr lang="en-US" sz="870" dirty="0"/>
          </a:p>
        </p:txBody>
      </p:sp>
      <p:sp>
        <p:nvSpPr>
          <p:cNvPr id="24" name="Text 19"/>
          <p:cNvSpPr/>
          <p:nvPr/>
        </p:nvSpPr>
        <p:spPr>
          <a:xfrm>
            <a:off x="800100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75.49%</a:t>
            </a:r>
            <a:endParaRPr lang="en-US" sz="2600" dirty="0"/>
          </a:p>
        </p:txBody>
      </p:sp>
      <p:sp>
        <p:nvSpPr>
          <p:cNvPr id="25" name="Text 20"/>
          <p:cNvSpPr/>
          <p:nvPr/>
        </p:nvSpPr>
        <p:spPr>
          <a:xfrm>
            <a:off x="800100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26" name="Shape 21"/>
          <p:cNvSpPr/>
          <p:nvPr/>
        </p:nvSpPr>
        <p:spPr>
          <a:xfrm>
            <a:off x="502920" y="5760720"/>
            <a:ext cx="10607040" cy="594360"/>
          </a:xfrm>
          <a:prstGeom prst="roundRect">
            <a:avLst>
              <a:gd name="adj" fmla="val 10769"/>
            </a:avLst>
          </a:prstGeom>
          <a:solidFill>
            <a:srgbClr val="EEF2F7"/>
          </a:solidFill>
          <a:ln w="12700">
            <a:solidFill>
              <a:srgbClr val="E4E9F1"/>
            </a:solidFill>
            <a:prstDash val="solid"/>
          </a:ln>
        </p:spPr>
      </p:sp>
      <p:sp>
        <p:nvSpPr>
          <p:cNvPr id="27" name="Text 22"/>
          <p:cNvSpPr/>
          <p:nvPr/>
        </p:nvSpPr>
        <p:spPr>
          <a:xfrm>
            <a:off x="502920" y="5760720"/>
            <a:ext cx="10607040" cy="594360"/>
          </a:xfrm>
          <a:prstGeom prst="rect">
            <a:avLst/>
          </a:prstGeom>
          <a:noFill/>
          <a:ln/>
        </p:spPr>
        <p:txBody>
          <a:bodyPr wrap="square" lIns="0" tIns="0" rIns="0" bIns="0" rtlCol="0" anchor="ctr"/>
          <a:lstStyle/>
          <a:p>
            <a:pPr algn="ctr" indent="0" marL="0">
              <a:buNone/>
            </a:pPr>
            <a:r>
              <a:rPr lang="en-US" sz="1100" i="1" dirty="0">
                <a:solidFill>
                  <a:srgbClr val="0B1F3A"/>
                </a:solidFill>
                <a:latin typeface="Calibri" pitchFamily="34" charset="0"/>
                <a:ea typeface="Calibri" pitchFamily="34" charset="-122"/>
                <a:cs typeface="Calibri" pitchFamily="34" charset="-120"/>
              </a:rPr>
              <a:t>Even untuned, Linear already beats RBF — a sign the 17 hand-engineered features do real work before the classifier even sees them.</a:t>
            </a:r>
            <a:endParaRPr lang="en-US" sz="1100" dirty="0"/>
          </a:p>
        </p:txBody>
      </p:sp>
      <p:sp>
        <p:nvSpPr>
          <p:cNvPr id="28" name="Text 2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Tuning with GridSearchCV</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The baseline numbers leave room on the table — untuned RBF scores only </a:t>
            </a:r>
            <a:pPr indent="0" marL="0">
              <a:lnSpc>
                <a:spcPct val="128000"/>
              </a:lnSpc>
              <a:buNone/>
            </a:pPr>
            <a:r>
              <a:rPr lang="en-US" sz="1300" b="1" dirty="0">
                <a:solidFill>
                  <a:srgbClr val="D9695F"/>
                </a:solidFill>
                <a:latin typeface="Calibri" pitchFamily="34" charset="0"/>
                <a:ea typeface="Calibri" pitchFamily="34" charset="-122"/>
                <a:cs typeface="Calibri" pitchFamily="34" charset="-120"/>
              </a:rPr>
              <a:t>71.1%</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GridSearchCV exhaustively tries every combination in a grid of hyperparameters, scoring each with 5-fold cross-validation on the training set only.</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19202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7" name="Text 5"/>
          <p:cNvSpPr/>
          <p:nvPr/>
        </p:nvSpPr>
        <p:spPr>
          <a:xfrm>
            <a:off x="2423160" y="2606040"/>
            <a:ext cx="46634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Grid searched</a:t>
            </a:r>
            <a:endParaRPr lang="en-US" sz="1200" dirty="0"/>
          </a:p>
        </p:txBody>
      </p:sp>
      <p:sp>
        <p:nvSpPr>
          <p:cNvPr id="8" name="Text 6"/>
          <p:cNvSpPr/>
          <p:nvPr/>
        </p:nvSpPr>
        <p:spPr>
          <a:xfrm>
            <a:off x="708660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Combinations</a:t>
            </a:r>
            <a:endParaRPr lang="en-US" sz="1200" dirty="0"/>
          </a:p>
        </p:txBody>
      </p:sp>
      <p:sp>
        <p:nvSpPr>
          <p:cNvPr id="9" name="Text 7"/>
          <p:cNvSpPr/>
          <p:nvPr/>
        </p:nvSpPr>
        <p:spPr>
          <a:xfrm>
            <a:off x="909828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fits (x5 folds)</a:t>
            </a:r>
            <a:endParaRPr lang="en-US" sz="1200" dirty="0"/>
          </a:p>
        </p:txBody>
      </p:sp>
      <p:sp>
        <p:nvSpPr>
          <p:cNvPr id="10" name="Shape 8"/>
          <p:cNvSpPr/>
          <p:nvPr/>
        </p:nvSpPr>
        <p:spPr>
          <a:xfrm>
            <a:off x="502920" y="3136392"/>
            <a:ext cx="10607040" cy="530352"/>
          </a:xfrm>
          <a:prstGeom prst="rect">
            <a:avLst/>
          </a:prstGeom>
          <a:solidFill>
            <a:srgbClr val="FFFFFF"/>
          </a:solidFill>
          <a:ln w="9525">
            <a:solidFill>
              <a:srgbClr val="E4E9F1"/>
            </a:solidFill>
            <a:prstDash val="solid"/>
          </a:ln>
        </p:spPr>
      </p:sp>
      <p:sp>
        <p:nvSpPr>
          <p:cNvPr id="11" name="Text 9"/>
          <p:cNvSpPr/>
          <p:nvPr/>
        </p:nvSpPr>
        <p:spPr>
          <a:xfrm>
            <a:off x="502920" y="3136392"/>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Linear</a:t>
            </a:r>
            <a:endParaRPr lang="en-US" sz="1200" dirty="0"/>
          </a:p>
        </p:txBody>
      </p:sp>
      <p:sp>
        <p:nvSpPr>
          <p:cNvPr id="12" name="Text 10"/>
          <p:cNvSpPr/>
          <p:nvPr/>
        </p:nvSpPr>
        <p:spPr>
          <a:xfrm>
            <a:off x="2423160" y="3136392"/>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in {0.001 ... 1000} (7 values)</a:t>
            </a:r>
            <a:endParaRPr lang="en-US" sz="1200" dirty="0"/>
          </a:p>
        </p:txBody>
      </p:sp>
      <p:sp>
        <p:nvSpPr>
          <p:cNvPr id="13" name="Text 11"/>
          <p:cNvSpPr/>
          <p:nvPr/>
        </p:nvSpPr>
        <p:spPr>
          <a:xfrm>
            <a:off x="7086600" y="3136392"/>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7</a:t>
            </a:r>
            <a:endParaRPr lang="en-US" sz="1200" dirty="0"/>
          </a:p>
        </p:txBody>
      </p:sp>
      <p:sp>
        <p:nvSpPr>
          <p:cNvPr id="14" name="Text 12"/>
          <p:cNvSpPr/>
          <p:nvPr/>
        </p:nvSpPr>
        <p:spPr>
          <a:xfrm>
            <a:off x="9098280" y="3136392"/>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35</a:t>
            </a:r>
            <a:endParaRPr lang="en-US" sz="1200" dirty="0"/>
          </a:p>
        </p:txBody>
      </p:sp>
      <p:sp>
        <p:nvSpPr>
          <p:cNvPr id="15" name="Shape 13"/>
          <p:cNvSpPr/>
          <p:nvPr/>
        </p:nvSpPr>
        <p:spPr>
          <a:xfrm>
            <a:off x="502920" y="3666744"/>
            <a:ext cx="10607040" cy="530352"/>
          </a:xfrm>
          <a:prstGeom prst="rect">
            <a:avLst/>
          </a:prstGeom>
          <a:solidFill>
            <a:srgbClr val="EEF2F7"/>
          </a:solidFill>
          <a:ln w="9525">
            <a:solidFill>
              <a:srgbClr val="E4E9F1"/>
            </a:solidFill>
            <a:prstDash val="solid"/>
          </a:ln>
        </p:spPr>
      </p:sp>
      <p:sp>
        <p:nvSpPr>
          <p:cNvPr id="16" name="Text 14"/>
          <p:cNvSpPr/>
          <p:nvPr/>
        </p:nvSpPr>
        <p:spPr>
          <a:xfrm>
            <a:off x="502920" y="3666744"/>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RBF</a:t>
            </a:r>
            <a:endParaRPr lang="en-US" sz="1200" dirty="0"/>
          </a:p>
        </p:txBody>
      </p:sp>
      <p:sp>
        <p:nvSpPr>
          <p:cNvPr id="17" name="Text 15"/>
          <p:cNvSpPr/>
          <p:nvPr/>
        </p:nvSpPr>
        <p:spPr>
          <a:xfrm>
            <a:off x="2423160" y="3666744"/>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(5) x gamma (6)</a:t>
            </a:r>
            <a:endParaRPr lang="en-US" sz="1200" dirty="0"/>
          </a:p>
        </p:txBody>
      </p:sp>
      <p:sp>
        <p:nvSpPr>
          <p:cNvPr id="18" name="Text 16"/>
          <p:cNvSpPr/>
          <p:nvPr/>
        </p:nvSpPr>
        <p:spPr>
          <a:xfrm>
            <a:off x="7086600" y="3666744"/>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30</a:t>
            </a:r>
            <a:endParaRPr lang="en-US" sz="1200" dirty="0"/>
          </a:p>
        </p:txBody>
      </p:sp>
      <p:sp>
        <p:nvSpPr>
          <p:cNvPr id="19" name="Text 17"/>
          <p:cNvSpPr/>
          <p:nvPr/>
        </p:nvSpPr>
        <p:spPr>
          <a:xfrm>
            <a:off x="9098280" y="3666744"/>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150</a:t>
            </a:r>
            <a:endParaRPr lang="en-US" sz="1200" dirty="0"/>
          </a:p>
        </p:txBody>
      </p:sp>
      <p:sp>
        <p:nvSpPr>
          <p:cNvPr id="20" name="Shape 18"/>
          <p:cNvSpPr/>
          <p:nvPr/>
        </p:nvSpPr>
        <p:spPr>
          <a:xfrm>
            <a:off x="502920" y="4197096"/>
            <a:ext cx="10607040" cy="530352"/>
          </a:xfrm>
          <a:prstGeom prst="rect">
            <a:avLst/>
          </a:prstGeom>
          <a:solidFill>
            <a:srgbClr val="FFFFFF"/>
          </a:solidFill>
          <a:ln w="9525">
            <a:solidFill>
              <a:srgbClr val="E4E9F1"/>
            </a:solidFill>
            <a:prstDash val="solid"/>
          </a:ln>
        </p:spPr>
      </p:sp>
      <p:sp>
        <p:nvSpPr>
          <p:cNvPr id="21" name="Text 19"/>
          <p:cNvSpPr/>
          <p:nvPr/>
        </p:nvSpPr>
        <p:spPr>
          <a:xfrm>
            <a:off x="502920" y="4197096"/>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Polynomial</a:t>
            </a:r>
            <a:endParaRPr lang="en-US" sz="1200" dirty="0"/>
          </a:p>
        </p:txBody>
      </p:sp>
      <p:sp>
        <p:nvSpPr>
          <p:cNvPr id="22" name="Text 20"/>
          <p:cNvSpPr/>
          <p:nvPr/>
        </p:nvSpPr>
        <p:spPr>
          <a:xfrm>
            <a:off x="2423160" y="4197096"/>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(4) x gamma (3) x degree (2)</a:t>
            </a:r>
            <a:endParaRPr lang="en-US" sz="1200" dirty="0"/>
          </a:p>
        </p:txBody>
      </p:sp>
      <p:sp>
        <p:nvSpPr>
          <p:cNvPr id="23" name="Text 21"/>
          <p:cNvSpPr/>
          <p:nvPr/>
        </p:nvSpPr>
        <p:spPr>
          <a:xfrm>
            <a:off x="7086600" y="4197096"/>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24</a:t>
            </a:r>
            <a:endParaRPr lang="en-US" sz="1200" dirty="0"/>
          </a:p>
        </p:txBody>
      </p:sp>
      <p:sp>
        <p:nvSpPr>
          <p:cNvPr id="24" name="Text 22"/>
          <p:cNvSpPr/>
          <p:nvPr/>
        </p:nvSpPr>
        <p:spPr>
          <a:xfrm>
            <a:off x="9098280" y="4197096"/>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120</a:t>
            </a:r>
            <a:endParaRPr lang="en-US" sz="1200" dirty="0"/>
          </a:p>
        </p:txBody>
      </p:sp>
      <p:sp>
        <p:nvSpPr>
          <p:cNvPr id="25" name="Shape 23"/>
          <p:cNvSpPr/>
          <p:nvPr/>
        </p:nvSpPr>
        <p:spPr>
          <a:xfrm>
            <a:off x="502920" y="4892040"/>
            <a:ext cx="1060704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26" name="Text 24"/>
          <p:cNvSpPr/>
          <p:nvPr/>
        </p:nvSpPr>
        <p:spPr>
          <a:xfrm>
            <a:off x="822960" y="4892040"/>
            <a:ext cx="9966960" cy="777240"/>
          </a:xfrm>
          <a:prstGeom prst="rect">
            <a:avLst/>
          </a:prstGeom>
          <a:noFill/>
          <a:ln/>
        </p:spPr>
        <p:txBody>
          <a:bodyPr wrap="square" lIns="0" tIns="0" rIns="0" bIns="0" rtlCol="0" anchor="ctr"/>
          <a:lstStyle/>
          <a:p>
            <a:pPr indent="0" marL="0">
              <a:lnSpc>
                <a:spcPct val="120000"/>
              </a:lnSpc>
              <a:buNone/>
            </a:pPr>
            <a:r>
              <a:rPr lang="en-US" sz="1250" b="1" dirty="0">
                <a:solidFill>
                  <a:srgbClr val="FFB703"/>
                </a:solidFill>
                <a:latin typeface="Calibri" pitchFamily="34" charset="0"/>
                <a:ea typeface="Calibri" pitchFamily="34" charset="-122"/>
                <a:cs typeface="Calibri" pitchFamily="34" charset="-120"/>
              </a:rPr>
              <a:t>305 total model fits searched</a:t>
            </a:r>
            <a:pPr indent="0" marL="0">
              <a:lnSpc>
                <a:spcPct val="120000"/>
              </a:lnSpc>
              <a:buNone/>
            </a:pPr>
            <a:r>
              <a:rPr lang="en-US" sz="1250" dirty="0">
                <a:solidFill>
                  <a:srgbClr val="E7ECF4"/>
                </a:solidFill>
                <a:latin typeface="Calibri" pitchFamily="34" charset="0"/>
                <a:ea typeface="Calibri" pitchFamily="34" charset="-122"/>
                <a:cs typeface="Calibri" pitchFamily="34" charset="-120"/>
              </a:rPr>
              <a:t>  — best RBF found: C=100, gamma=0.1, lifting it from 71.1% to 76.96% before the topology rule.</a:t>
            </a:r>
            <a:endParaRPr lang="en-US" sz="125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5-Fold Cross-Validation?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Testing one hyperparameter setting on a single train/validation split can just get lucky. 5-fold CV instead splits the training data into 5 equal chunks and rotates which chunk is held out:</a:t>
            </a:r>
            <a:endParaRPr lang="en-US" sz="1300" dirty="0"/>
          </a:p>
        </p:txBody>
      </p:sp>
      <p:sp>
        <p:nvSpPr>
          <p:cNvPr id="5" name="Shape 3"/>
          <p:cNvSpPr/>
          <p:nvPr/>
        </p:nvSpPr>
        <p:spPr>
          <a:xfrm>
            <a:off x="502920" y="2697480"/>
            <a:ext cx="1920240" cy="475488"/>
          </a:xfrm>
          <a:prstGeom prst="roundRect">
            <a:avLst>
              <a:gd name="adj" fmla="val 9615"/>
            </a:avLst>
          </a:prstGeom>
          <a:solidFill>
            <a:srgbClr val="FFB703"/>
          </a:solidFill>
          <a:ln w="12700">
            <a:solidFill>
              <a:srgbClr val="FFB703"/>
            </a:solidFill>
            <a:prstDash val="solid"/>
          </a:ln>
        </p:spPr>
      </p:sp>
      <p:sp>
        <p:nvSpPr>
          <p:cNvPr id="6" name="Text 4"/>
          <p:cNvSpPr/>
          <p:nvPr/>
        </p:nvSpPr>
        <p:spPr>
          <a:xfrm>
            <a:off x="502920" y="2697480"/>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7" name="Shape 5"/>
          <p:cNvSpPr/>
          <p:nvPr/>
        </p:nvSpPr>
        <p:spPr>
          <a:xfrm>
            <a:off x="2560320" y="2697480"/>
            <a:ext cx="1920240" cy="475488"/>
          </a:xfrm>
          <a:prstGeom prst="roundRect">
            <a:avLst>
              <a:gd name="adj" fmla="val 9615"/>
            </a:avLst>
          </a:prstGeom>
          <a:solidFill>
            <a:srgbClr val="DCE6F5"/>
          </a:solidFill>
          <a:ln w="12700">
            <a:solidFill>
              <a:srgbClr val="C3D2E8"/>
            </a:solidFill>
            <a:prstDash val="solid"/>
          </a:ln>
        </p:spPr>
      </p:sp>
      <p:sp>
        <p:nvSpPr>
          <p:cNvPr id="8" name="Text 6"/>
          <p:cNvSpPr/>
          <p:nvPr/>
        </p:nvSpPr>
        <p:spPr>
          <a:xfrm>
            <a:off x="25603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9" name="Shape 7"/>
          <p:cNvSpPr/>
          <p:nvPr/>
        </p:nvSpPr>
        <p:spPr>
          <a:xfrm>
            <a:off x="4617720" y="2697480"/>
            <a:ext cx="1920240" cy="475488"/>
          </a:xfrm>
          <a:prstGeom prst="roundRect">
            <a:avLst>
              <a:gd name="adj" fmla="val 9615"/>
            </a:avLst>
          </a:prstGeom>
          <a:solidFill>
            <a:srgbClr val="DCE6F5"/>
          </a:solidFill>
          <a:ln w="12700">
            <a:solidFill>
              <a:srgbClr val="C3D2E8"/>
            </a:solidFill>
            <a:prstDash val="solid"/>
          </a:ln>
        </p:spPr>
      </p:sp>
      <p:sp>
        <p:nvSpPr>
          <p:cNvPr id="10" name="Text 8"/>
          <p:cNvSpPr/>
          <p:nvPr/>
        </p:nvSpPr>
        <p:spPr>
          <a:xfrm>
            <a:off x="46177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1" name="Shape 9"/>
          <p:cNvSpPr/>
          <p:nvPr/>
        </p:nvSpPr>
        <p:spPr>
          <a:xfrm>
            <a:off x="6675120" y="2697480"/>
            <a:ext cx="1920240" cy="475488"/>
          </a:xfrm>
          <a:prstGeom prst="roundRect">
            <a:avLst>
              <a:gd name="adj" fmla="val 9615"/>
            </a:avLst>
          </a:prstGeom>
          <a:solidFill>
            <a:srgbClr val="DCE6F5"/>
          </a:solidFill>
          <a:ln w="12700">
            <a:solidFill>
              <a:srgbClr val="C3D2E8"/>
            </a:solidFill>
            <a:prstDash val="solid"/>
          </a:ln>
        </p:spPr>
      </p:sp>
      <p:sp>
        <p:nvSpPr>
          <p:cNvPr id="12" name="Text 10"/>
          <p:cNvSpPr/>
          <p:nvPr/>
        </p:nvSpPr>
        <p:spPr>
          <a:xfrm>
            <a:off x="66751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3" name="Shape 11"/>
          <p:cNvSpPr/>
          <p:nvPr/>
        </p:nvSpPr>
        <p:spPr>
          <a:xfrm>
            <a:off x="8732520" y="2697480"/>
            <a:ext cx="1920240" cy="475488"/>
          </a:xfrm>
          <a:prstGeom prst="roundRect">
            <a:avLst>
              <a:gd name="adj" fmla="val 9615"/>
            </a:avLst>
          </a:prstGeom>
          <a:solidFill>
            <a:srgbClr val="DCE6F5"/>
          </a:solidFill>
          <a:ln w="12700">
            <a:solidFill>
              <a:srgbClr val="C3D2E8"/>
            </a:solidFill>
            <a:prstDash val="solid"/>
          </a:ln>
        </p:spPr>
      </p:sp>
      <p:sp>
        <p:nvSpPr>
          <p:cNvPr id="14" name="Text 12"/>
          <p:cNvSpPr/>
          <p:nvPr/>
        </p:nvSpPr>
        <p:spPr>
          <a:xfrm>
            <a:off x="87325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5" name="Shape 13"/>
          <p:cNvSpPr/>
          <p:nvPr/>
        </p:nvSpPr>
        <p:spPr>
          <a:xfrm>
            <a:off x="502920" y="3264408"/>
            <a:ext cx="1920240" cy="475488"/>
          </a:xfrm>
          <a:prstGeom prst="roundRect">
            <a:avLst>
              <a:gd name="adj" fmla="val 9615"/>
            </a:avLst>
          </a:prstGeom>
          <a:solidFill>
            <a:srgbClr val="DCE6F5"/>
          </a:solidFill>
          <a:ln w="12700">
            <a:solidFill>
              <a:srgbClr val="C3D2E8"/>
            </a:solidFill>
            <a:prstDash val="solid"/>
          </a:ln>
        </p:spPr>
      </p:sp>
      <p:sp>
        <p:nvSpPr>
          <p:cNvPr id="16" name="Text 14"/>
          <p:cNvSpPr/>
          <p:nvPr/>
        </p:nvSpPr>
        <p:spPr>
          <a:xfrm>
            <a:off x="5029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7" name="Shape 15"/>
          <p:cNvSpPr/>
          <p:nvPr/>
        </p:nvSpPr>
        <p:spPr>
          <a:xfrm>
            <a:off x="2560320" y="3264408"/>
            <a:ext cx="1920240" cy="475488"/>
          </a:xfrm>
          <a:prstGeom prst="roundRect">
            <a:avLst>
              <a:gd name="adj" fmla="val 9615"/>
            </a:avLst>
          </a:prstGeom>
          <a:solidFill>
            <a:srgbClr val="FFB703"/>
          </a:solidFill>
          <a:ln w="12700">
            <a:solidFill>
              <a:srgbClr val="FFB703"/>
            </a:solidFill>
            <a:prstDash val="solid"/>
          </a:ln>
        </p:spPr>
      </p:sp>
      <p:sp>
        <p:nvSpPr>
          <p:cNvPr id="18" name="Text 16"/>
          <p:cNvSpPr/>
          <p:nvPr/>
        </p:nvSpPr>
        <p:spPr>
          <a:xfrm>
            <a:off x="2560320" y="3264408"/>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19" name="Shape 17"/>
          <p:cNvSpPr/>
          <p:nvPr/>
        </p:nvSpPr>
        <p:spPr>
          <a:xfrm>
            <a:off x="4617720" y="3264408"/>
            <a:ext cx="1920240" cy="475488"/>
          </a:xfrm>
          <a:prstGeom prst="roundRect">
            <a:avLst>
              <a:gd name="adj" fmla="val 9615"/>
            </a:avLst>
          </a:prstGeom>
          <a:solidFill>
            <a:srgbClr val="DCE6F5"/>
          </a:solidFill>
          <a:ln w="12700">
            <a:solidFill>
              <a:srgbClr val="C3D2E8"/>
            </a:solidFill>
            <a:prstDash val="solid"/>
          </a:ln>
        </p:spPr>
      </p:sp>
      <p:sp>
        <p:nvSpPr>
          <p:cNvPr id="20" name="Text 18"/>
          <p:cNvSpPr/>
          <p:nvPr/>
        </p:nvSpPr>
        <p:spPr>
          <a:xfrm>
            <a:off x="46177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1" name="Shape 19"/>
          <p:cNvSpPr/>
          <p:nvPr/>
        </p:nvSpPr>
        <p:spPr>
          <a:xfrm>
            <a:off x="6675120" y="3264408"/>
            <a:ext cx="1920240" cy="475488"/>
          </a:xfrm>
          <a:prstGeom prst="roundRect">
            <a:avLst>
              <a:gd name="adj" fmla="val 9615"/>
            </a:avLst>
          </a:prstGeom>
          <a:solidFill>
            <a:srgbClr val="DCE6F5"/>
          </a:solidFill>
          <a:ln w="12700">
            <a:solidFill>
              <a:srgbClr val="C3D2E8"/>
            </a:solidFill>
            <a:prstDash val="solid"/>
          </a:ln>
        </p:spPr>
      </p:sp>
      <p:sp>
        <p:nvSpPr>
          <p:cNvPr id="22" name="Text 20"/>
          <p:cNvSpPr/>
          <p:nvPr/>
        </p:nvSpPr>
        <p:spPr>
          <a:xfrm>
            <a:off x="66751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3" name="Shape 21"/>
          <p:cNvSpPr/>
          <p:nvPr/>
        </p:nvSpPr>
        <p:spPr>
          <a:xfrm>
            <a:off x="8732520" y="3264408"/>
            <a:ext cx="1920240" cy="475488"/>
          </a:xfrm>
          <a:prstGeom prst="roundRect">
            <a:avLst>
              <a:gd name="adj" fmla="val 9615"/>
            </a:avLst>
          </a:prstGeom>
          <a:solidFill>
            <a:srgbClr val="DCE6F5"/>
          </a:solidFill>
          <a:ln w="12700">
            <a:solidFill>
              <a:srgbClr val="C3D2E8"/>
            </a:solidFill>
            <a:prstDash val="solid"/>
          </a:ln>
        </p:spPr>
      </p:sp>
      <p:sp>
        <p:nvSpPr>
          <p:cNvPr id="24" name="Text 22"/>
          <p:cNvSpPr/>
          <p:nvPr/>
        </p:nvSpPr>
        <p:spPr>
          <a:xfrm>
            <a:off x="87325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5" name="Shape 23"/>
          <p:cNvSpPr/>
          <p:nvPr/>
        </p:nvSpPr>
        <p:spPr>
          <a:xfrm>
            <a:off x="502920" y="3831336"/>
            <a:ext cx="1920240" cy="475488"/>
          </a:xfrm>
          <a:prstGeom prst="roundRect">
            <a:avLst>
              <a:gd name="adj" fmla="val 9615"/>
            </a:avLst>
          </a:prstGeom>
          <a:solidFill>
            <a:srgbClr val="DCE6F5"/>
          </a:solidFill>
          <a:ln w="12700">
            <a:solidFill>
              <a:srgbClr val="C3D2E8"/>
            </a:solidFill>
            <a:prstDash val="solid"/>
          </a:ln>
        </p:spPr>
      </p:sp>
      <p:sp>
        <p:nvSpPr>
          <p:cNvPr id="26" name="Text 24"/>
          <p:cNvSpPr/>
          <p:nvPr/>
        </p:nvSpPr>
        <p:spPr>
          <a:xfrm>
            <a:off x="5029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7" name="Shape 25"/>
          <p:cNvSpPr/>
          <p:nvPr/>
        </p:nvSpPr>
        <p:spPr>
          <a:xfrm>
            <a:off x="2560320" y="3831336"/>
            <a:ext cx="1920240" cy="475488"/>
          </a:xfrm>
          <a:prstGeom prst="roundRect">
            <a:avLst>
              <a:gd name="adj" fmla="val 9615"/>
            </a:avLst>
          </a:prstGeom>
          <a:solidFill>
            <a:srgbClr val="DCE6F5"/>
          </a:solidFill>
          <a:ln w="12700">
            <a:solidFill>
              <a:srgbClr val="C3D2E8"/>
            </a:solidFill>
            <a:prstDash val="solid"/>
          </a:ln>
        </p:spPr>
      </p:sp>
      <p:sp>
        <p:nvSpPr>
          <p:cNvPr id="28" name="Text 26"/>
          <p:cNvSpPr/>
          <p:nvPr/>
        </p:nvSpPr>
        <p:spPr>
          <a:xfrm>
            <a:off x="25603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9" name="Shape 27"/>
          <p:cNvSpPr/>
          <p:nvPr/>
        </p:nvSpPr>
        <p:spPr>
          <a:xfrm>
            <a:off x="4617720" y="3831336"/>
            <a:ext cx="1920240" cy="475488"/>
          </a:xfrm>
          <a:prstGeom prst="roundRect">
            <a:avLst>
              <a:gd name="adj" fmla="val 9615"/>
            </a:avLst>
          </a:prstGeom>
          <a:solidFill>
            <a:srgbClr val="FFB703"/>
          </a:solidFill>
          <a:ln w="12700">
            <a:solidFill>
              <a:srgbClr val="FFB703"/>
            </a:solidFill>
            <a:prstDash val="solid"/>
          </a:ln>
        </p:spPr>
      </p:sp>
      <p:sp>
        <p:nvSpPr>
          <p:cNvPr id="30" name="Text 28"/>
          <p:cNvSpPr/>
          <p:nvPr/>
        </p:nvSpPr>
        <p:spPr>
          <a:xfrm>
            <a:off x="4617720" y="3831336"/>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31" name="Shape 29"/>
          <p:cNvSpPr/>
          <p:nvPr/>
        </p:nvSpPr>
        <p:spPr>
          <a:xfrm>
            <a:off x="6675120" y="3831336"/>
            <a:ext cx="1920240" cy="475488"/>
          </a:xfrm>
          <a:prstGeom prst="roundRect">
            <a:avLst>
              <a:gd name="adj" fmla="val 9615"/>
            </a:avLst>
          </a:prstGeom>
          <a:solidFill>
            <a:srgbClr val="DCE6F5"/>
          </a:solidFill>
          <a:ln w="12700">
            <a:solidFill>
              <a:srgbClr val="C3D2E8"/>
            </a:solidFill>
            <a:prstDash val="solid"/>
          </a:ln>
        </p:spPr>
      </p:sp>
      <p:sp>
        <p:nvSpPr>
          <p:cNvPr id="32" name="Text 30"/>
          <p:cNvSpPr/>
          <p:nvPr/>
        </p:nvSpPr>
        <p:spPr>
          <a:xfrm>
            <a:off x="66751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3" name="Shape 31"/>
          <p:cNvSpPr/>
          <p:nvPr/>
        </p:nvSpPr>
        <p:spPr>
          <a:xfrm>
            <a:off x="8732520" y="3831336"/>
            <a:ext cx="1920240" cy="475488"/>
          </a:xfrm>
          <a:prstGeom prst="roundRect">
            <a:avLst>
              <a:gd name="adj" fmla="val 9615"/>
            </a:avLst>
          </a:prstGeom>
          <a:solidFill>
            <a:srgbClr val="DCE6F5"/>
          </a:solidFill>
          <a:ln w="12700">
            <a:solidFill>
              <a:srgbClr val="C3D2E8"/>
            </a:solidFill>
            <a:prstDash val="solid"/>
          </a:ln>
        </p:spPr>
      </p:sp>
      <p:sp>
        <p:nvSpPr>
          <p:cNvPr id="34" name="Text 32"/>
          <p:cNvSpPr/>
          <p:nvPr/>
        </p:nvSpPr>
        <p:spPr>
          <a:xfrm>
            <a:off x="87325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5" name="Shape 33"/>
          <p:cNvSpPr/>
          <p:nvPr/>
        </p:nvSpPr>
        <p:spPr>
          <a:xfrm>
            <a:off x="502920" y="4398264"/>
            <a:ext cx="1920240" cy="475488"/>
          </a:xfrm>
          <a:prstGeom prst="roundRect">
            <a:avLst>
              <a:gd name="adj" fmla="val 9615"/>
            </a:avLst>
          </a:prstGeom>
          <a:solidFill>
            <a:srgbClr val="DCE6F5"/>
          </a:solidFill>
          <a:ln w="12700">
            <a:solidFill>
              <a:srgbClr val="C3D2E8"/>
            </a:solidFill>
            <a:prstDash val="solid"/>
          </a:ln>
        </p:spPr>
      </p:sp>
      <p:sp>
        <p:nvSpPr>
          <p:cNvPr id="36" name="Text 34"/>
          <p:cNvSpPr/>
          <p:nvPr/>
        </p:nvSpPr>
        <p:spPr>
          <a:xfrm>
            <a:off x="5029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7" name="Shape 35"/>
          <p:cNvSpPr/>
          <p:nvPr/>
        </p:nvSpPr>
        <p:spPr>
          <a:xfrm>
            <a:off x="2560320" y="4398264"/>
            <a:ext cx="1920240" cy="475488"/>
          </a:xfrm>
          <a:prstGeom prst="roundRect">
            <a:avLst>
              <a:gd name="adj" fmla="val 9615"/>
            </a:avLst>
          </a:prstGeom>
          <a:solidFill>
            <a:srgbClr val="DCE6F5"/>
          </a:solidFill>
          <a:ln w="12700">
            <a:solidFill>
              <a:srgbClr val="C3D2E8"/>
            </a:solidFill>
            <a:prstDash val="solid"/>
          </a:ln>
        </p:spPr>
      </p:sp>
      <p:sp>
        <p:nvSpPr>
          <p:cNvPr id="38" name="Text 36"/>
          <p:cNvSpPr/>
          <p:nvPr/>
        </p:nvSpPr>
        <p:spPr>
          <a:xfrm>
            <a:off x="25603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9" name="Shape 37"/>
          <p:cNvSpPr/>
          <p:nvPr/>
        </p:nvSpPr>
        <p:spPr>
          <a:xfrm>
            <a:off x="4617720" y="4398264"/>
            <a:ext cx="1920240" cy="475488"/>
          </a:xfrm>
          <a:prstGeom prst="roundRect">
            <a:avLst>
              <a:gd name="adj" fmla="val 9615"/>
            </a:avLst>
          </a:prstGeom>
          <a:solidFill>
            <a:srgbClr val="DCE6F5"/>
          </a:solidFill>
          <a:ln w="12700">
            <a:solidFill>
              <a:srgbClr val="C3D2E8"/>
            </a:solidFill>
            <a:prstDash val="solid"/>
          </a:ln>
        </p:spPr>
      </p:sp>
      <p:sp>
        <p:nvSpPr>
          <p:cNvPr id="40" name="Text 38"/>
          <p:cNvSpPr/>
          <p:nvPr/>
        </p:nvSpPr>
        <p:spPr>
          <a:xfrm>
            <a:off x="46177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1" name="Shape 39"/>
          <p:cNvSpPr/>
          <p:nvPr/>
        </p:nvSpPr>
        <p:spPr>
          <a:xfrm>
            <a:off x="6675120" y="4398264"/>
            <a:ext cx="1920240" cy="475488"/>
          </a:xfrm>
          <a:prstGeom prst="roundRect">
            <a:avLst>
              <a:gd name="adj" fmla="val 9615"/>
            </a:avLst>
          </a:prstGeom>
          <a:solidFill>
            <a:srgbClr val="FFB703"/>
          </a:solidFill>
          <a:ln w="12700">
            <a:solidFill>
              <a:srgbClr val="FFB703"/>
            </a:solidFill>
            <a:prstDash val="solid"/>
          </a:ln>
        </p:spPr>
      </p:sp>
      <p:sp>
        <p:nvSpPr>
          <p:cNvPr id="42" name="Text 40"/>
          <p:cNvSpPr/>
          <p:nvPr/>
        </p:nvSpPr>
        <p:spPr>
          <a:xfrm>
            <a:off x="6675120" y="4398264"/>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43" name="Shape 41"/>
          <p:cNvSpPr/>
          <p:nvPr/>
        </p:nvSpPr>
        <p:spPr>
          <a:xfrm>
            <a:off x="8732520" y="4398264"/>
            <a:ext cx="1920240" cy="475488"/>
          </a:xfrm>
          <a:prstGeom prst="roundRect">
            <a:avLst>
              <a:gd name="adj" fmla="val 9615"/>
            </a:avLst>
          </a:prstGeom>
          <a:solidFill>
            <a:srgbClr val="DCE6F5"/>
          </a:solidFill>
          <a:ln w="12700">
            <a:solidFill>
              <a:srgbClr val="C3D2E8"/>
            </a:solidFill>
            <a:prstDash val="solid"/>
          </a:ln>
        </p:spPr>
      </p:sp>
      <p:sp>
        <p:nvSpPr>
          <p:cNvPr id="44" name="Text 42"/>
          <p:cNvSpPr/>
          <p:nvPr/>
        </p:nvSpPr>
        <p:spPr>
          <a:xfrm>
            <a:off x="87325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5" name="Shape 43"/>
          <p:cNvSpPr/>
          <p:nvPr/>
        </p:nvSpPr>
        <p:spPr>
          <a:xfrm>
            <a:off x="502920" y="4965192"/>
            <a:ext cx="1920240" cy="475488"/>
          </a:xfrm>
          <a:prstGeom prst="roundRect">
            <a:avLst>
              <a:gd name="adj" fmla="val 9615"/>
            </a:avLst>
          </a:prstGeom>
          <a:solidFill>
            <a:srgbClr val="DCE6F5"/>
          </a:solidFill>
          <a:ln w="12700">
            <a:solidFill>
              <a:srgbClr val="C3D2E8"/>
            </a:solidFill>
            <a:prstDash val="solid"/>
          </a:ln>
        </p:spPr>
      </p:sp>
      <p:sp>
        <p:nvSpPr>
          <p:cNvPr id="46" name="Text 44"/>
          <p:cNvSpPr/>
          <p:nvPr/>
        </p:nvSpPr>
        <p:spPr>
          <a:xfrm>
            <a:off x="5029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7" name="Shape 45"/>
          <p:cNvSpPr/>
          <p:nvPr/>
        </p:nvSpPr>
        <p:spPr>
          <a:xfrm>
            <a:off x="2560320" y="4965192"/>
            <a:ext cx="1920240" cy="475488"/>
          </a:xfrm>
          <a:prstGeom prst="roundRect">
            <a:avLst>
              <a:gd name="adj" fmla="val 9615"/>
            </a:avLst>
          </a:prstGeom>
          <a:solidFill>
            <a:srgbClr val="DCE6F5"/>
          </a:solidFill>
          <a:ln w="12700">
            <a:solidFill>
              <a:srgbClr val="C3D2E8"/>
            </a:solidFill>
            <a:prstDash val="solid"/>
          </a:ln>
        </p:spPr>
      </p:sp>
      <p:sp>
        <p:nvSpPr>
          <p:cNvPr id="48" name="Text 46"/>
          <p:cNvSpPr/>
          <p:nvPr/>
        </p:nvSpPr>
        <p:spPr>
          <a:xfrm>
            <a:off x="25603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9" name="Shape 47"/>
          <p:cNvSpPr/>
          <p:nvPr/>
        </p:nvSpPr>
        <p:spPr>
          <a:xfrm>
            <a:off x="4617720" y="4965192"/>
            <a:ext cx="1920240" cy="475488"/>
          </a:xfrm>
          <a:prstGeom prst="roundRect">
            <a:avLst>
              <a:gd name="adj" fmla="val 9615"/>
            </a:avLst>
          </a:prstGeom>
          <a:solidFill>
            <a:srgbClr val="DCE6F5"/>
          </a:solidFill>
          <a:ln w="12700">
            <a:solidFill>
              <a:srgbClr val="C3D2E8"/>
            </a:solidFill>
            <a:prstDash val="solid"/>
          </a:ln>
        </p:spPr>
      </p:sp>
      <p:sp>
        <p:nvSpPr>
          <p:cNvPr id="50" name="Text 48"/>
          <p:cNvSpPr/>
          <p:nvPr/>
        </p:nvSpPr>
        <p:spPr>
          <a:xfrm>
            <a:off x="46177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1" name="Shape 49"/>
          <p:cNvSpPr/>
          <p:nvPr/>
        </p:nvSpPr>
        <p:spPr>
          <a:xfrm>
            <a:off x="6675120" y="4965192"/>
            <a:ext cx="1920240" cy="475488"/>
          </a:xfrm>
          <a:prstGeom prst="roundRect">
            <a:avLst>
              <a:gd name="adj" fmla="val 9615"/>
            </a:avLst>
          </a:prstGeom>
          <a:solidFill>
            <a:srgbClr val="DCE6F5"/>
          </a:solidFill>
          <a:ln w="12700">
            <a:solidFill>
              <a:srgbClr val="C3D2E8"/>
            </a:solidFill>
            <a:prstDash val="solid"/>
          </a:ln>
        </p:spPr>
      </p:sp>
      <p:sp>
        <p:nvSpPr>
          <p:cNvPr id="52" name="Text 50"/>
          <p:cNvSpPr/>
          <p:nvPr/>
        </p:nvSpPr>
        <p:spPr>
          <a:xfrm>
            <a:off x="66751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3" name="Shape 51"/>
          <p:cNvSpPr/>
          <p:nvPr/>
        </p:nvSpPr>
        <p:spPr>
          <a:xfrm>
            <a:off x="8732520" y="4965192"/>
            <a:ext cx="1920240" cy="475488"/>
          </a:xfrm>
          <a:prstGeom prst="roundRect">
            <a:avLst>
              <a:gd name="adj" fmla="val 9615"/>
            </a:avLst>
          </a:prstGeom>
          <a:solidFill>
            <a:srgbClr val="FFB703"/>
          </a:solidFill>
          <a:ln w="12700">
            <a:solidFill>
              <a:srgbClr val="FFB703"/>
            </a:solidFill>
            <a:prstDash val="solid"/>
          </a:ln>
        </p:spPr>
      </p:sp>
      <p:sp>
        <p:nvSpPr>
          <p:cNvPr id="54" name="Text 52"/>
          <p:cNvSpPr/>
          <p:nvPr/>
        </p:nvSpPr>
        <p:spPr>
          <a:xfrm>
            <a:off x="8732520" y="4965192"/>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55" name="Text 53"/>
          <p:cNvSpPr/>
          <p:nvPr/>
        </p:nvSpPr>
        <p:spPr>
          <a:xfrm>
            <a:off x="502920" y="5623560"/>
            <a:ext cx="10607040" cy="73152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Each of the 5 rows is one “fold”: 4/5 of the training data trains the model, 1/5 validates it — and the role rotates so every sample is validated on exactly once. The average across all 5 folds gives a far more reliable accuracy estimate than any single split.</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Tuned Results — What GridSearchCV Bought Us</a:t>
            </a:r>
            <a:endParaRPr lang="en-US" sz="3000" dirty="0"/>
          </a:p>
        </p:txBody>
      </p:sp>
      <p:sp>
        <p:nvSpPr>
          <p:cNvPr id="4" name="Shape 2"/>
          <p:cNvSpPr/>
          <p:nvPr/>
        </p:nvSpPr>
        <p:spPr>
          <a:xfrm>
            <a:off x="502920" y="1828800"/>
            <a:ext cx="3429000" cy="37033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888236" y="2103120"/>
            <a:ext cx="658368" cy="65836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1"/>
          <a:stretch>
            <a:fillRect/>
          </a:stretch>
        </p:blipFill>
        <p:spPr>
          <a:xfrm>
            <a:off x="1977116" y="2192000"/>
            <a:ext cx="480609" cy="480609"/>
          </a:xfrm>
          <a:prstGeom prst="rect">
            <a:avLst/>
          </a:prstGeom>
        </p:spPr>
      </p:pic>
      <p:sp>
        <p:nvSpPr>
          <p:cNvPr id="7" name="Text 4"/>
          <p:cNvSpPr/>
          <p:nvPr/>
        </p:nvSpPr>
        <p:spPr>
          <a:xfrm>
            <a:off x="502920" y="288036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8" name="Text 5"/>
          <p:cNvSpPr/>
          <p:nvPr/>
        </p:nvSpPr>
        <p:spPr>
          <a:xfrm>
            <a:off x="502920" y="3337560"/>
            <a:ext cx="3429000" cy="365760"/>
          </a:xfrm>
          <a:prstGeom prst="rect">
            <a:avLst/>
          </a:prstGeom>
          <a:noFill/>
          <a:ln/>
        </p:spPr>
        <p:txBody>
          <a:bodyPr wrap="square" lIns="0" tIns="0" rIns="0" bIns="0" rtlCol="0" anchor="ctr"/>
          <a:lstStyle/>
          <a:p>
            <a:pPr algn="ctr" indent="0" marL="0">
              <a:buNone/>
            </a:pPr>
            <a:r>
              <a:rPr lang="en-US" sz="1300" dirty="0">
                <a:solidFill>
                  <a:srgbClr val="9FB1C8"/>
                </a:solidFill>
                <a:latin typeface="Calibri" pitchFamily="34" charset="0"/>
                <a:ea typeface="Calibri" pitchFamily="34" charset="-122"/>
                <a:cs typeface="Calibri" pitchFamily="34" charset="-120"/>
              </a:rPr>
              <a:t>77.94%</a:t>
            </a:r>
            <a:pPr algn="ctr" indent="0" marL="0">
              <a:buNone/>
            </a:pPr>
            <a:r>
              <a:rPr lang="en-US" sz="1300" dirty="0">
                <a:solidFill>
                  <a:srgbClr val="9FB1C8"/>
                </a:solidFill>
                <a:latin typeface="Calibri" pitchFamily="34" charset="0"/>
                <a:ea typeface="Calibri" pitchFamily="34" charset="-122"/>
                <a:cs typeface="Calibri" pitchFamily="34" charset="-120"/>
              </a:rPr>
              <a:t>  -&gt;  </a:t>
            </a:r>
            <a:pPr algn="ctr" indent="0" marL="0">
              <a:buNone/>
            </a:pPr>
            <a:r>
              <a:rPr lang="en-US" sz="1300" b="1" dirty="0">
                <a:solidFill>
                  <a:srgbClr val="0B1F3A"/>
                </a:solidFill>
                <a:latin typeface="Calibri" pitchFamily="34" charset="0"/>
                <a:ea typeface="Calibri" pitchFamily="34" charset="-122"/>
                <a:cs typeface="Calibri" pitchFamily="34" charset="-120"/>
              </a:rPr>
              <a:t>77.45%</a:t>
            </a:r>
            <a:endParaRPr lang="en-US" sz="1300" dirty="0"/>
          </a:p>
        </p:txBody>
      </p:sp>
      <p:sp>
        <p:nvSpPr>
          <p:cNvPr id="9" name="Text 6"/>
          <p:cNvSpPr/>
          <p:nvPr/>
        </p:nvSpPr>
        <p:spPr>
          <a:xfrm>
            <a:off x="502920" y="3794760"/>
            <a:ext cx="3429000" cy="320040"/>
          </a:xfrm>
          <a:prstGeom prst="rect">
            <a:avLst/>
          </a:prstGeom>
          <a:noFill/>
          <a:ln/>
        </p:spPr>
        <p:txBody>
          <a:bodyPr wrap="square" lIns="0" tIns="0" rIns="0" bIns="0" rtlCol="0" anchor="ctr"/>
          <a:lstStyle/>
          <a:p>
            <a:pPr algn="ctr" indent="0" marL="0">
              <a:buNone/>
            </a:pPr>
            <a:r>
              <a:rPr lang="en-US" sz="1000" dirty="0">
                <a:solidFill>
                  <a:srgbClr val="D9695F"/>
                </a:solidFill>
                <a:latin typeface="Calibri" pitchFamily="34" charset="0"/>
                <a:ea typeface="Calibri" pitchFamily="34" charset="-122"/>
                <a:cs typeface="Calibri" pitchFamily="34" charset="-120"/>
              </a:rPr>
              <a:t>-0.49 pts vs. baseline</a:t>
            </a:r>
            <a:endParaRPr lang="en-US" sz="1000" dirty="0"/>
          </a:p>
        </p:txBody>
      </p:sp>
      <p:sp>
        <p:nvSpPr>
          <p:cNvPr id="10" name="Shape 7"/>
          <p:cNvSpPr/>
          <p:nvPr/>
        </p:nvSpPr>
        <p:spPr>
          <a:xfrm>
            <a:off x="4251960" y="1828800"/>
            <a:ext cx="3429000" cy="3703320"/>
          </a:xfrm>
          <a:prstGeom prst="roundRect">
            <a:avLst>
              <a:gd name="adj" fmla="val 2400"/>
            </a:avLst>
          </a:prstGeom>
          <a:solidFill>
            <a:srgbClr val="0B1F3A"/>
          </a:solidFill>
          <a:ln w="12700">
            <a:solidFill>
              <a:srgbClr val="0B1F3A"/>
            </a:solidFill>
            <a:prstDash val="solid"/>
          </a:ln>
          <a:effectLst>
            <a:outerShdw sx="100000" sy="100000" kx="0" ky="0" algn="bl" rotWithShape="0" blurRad="177800" dist="38100" dir="2700000">
              <a:srgbClr val="0B1F3A">
                <a:alpha val="22000"/>
              </a:srgbClr>
            </a:outerShdw>
          </a:effectLst>
        </p:spPr>
      </p:sp>
      <p:sp>
        <p:nvSpPr>
          <p:cNvPr id="11" name="Text 8"/>
          <p:cNvSpPr/>
          <p:nvPr/>
        </p:nvSpPr>
        <p:spPr>
          <a:xfrm>
            <a:off x="4251960" y="2011680"/>
            <a:ext cx="3429000" cy="274320"/>
          </a:xfrm>
          <a:prstGeom prst="rect">
            <a:avLst/>
          </a:prstGeom>
          <a:noFill/>
          <a:ln/>
        </p:spPr>
        <p:txBody>
          <a:bodyPr wrap="square" lIns="0" tIns="0" rIns="0" bIns="0" rtlCol="0" anchor="ctr"/>
          <a:lstStyle/>
          <a:p>
            <a:pPr algn="ctr" indent="0" marL="0">
              <a:buNone/>
            </a:pPr>
            <a:r>
              <a:rPr lang="en-US" sz="1050" b="1" spc="150" kern="0" dirty="0">
                <a:solidFill>
                  <a:srgbClr val="FFB703"/>
                </a:solidFill>
                <a:latin typeface="Calibri" pitchFamily="34" charset="0"/>
                <a:ea typeface="Calibri" pitchFamily="34" charset="-122"/>
                <a:cs typeface="Calibri" pitchFamily="34" charset="-120"/>
              </a:rPr>
              <a:t>BEST MODEL</a:t>
            </a:r>
            <a:endParaRPr lang="en-US" sz="1050" dirty="0"/>
          </a:p>
        </p:txBody>
      </p:sp>
      <p:sp>
        <p:nvSpPr>
          <p:cNvPr id="12" name="Shape 9"/>
          <p:cNvSpPr/>
          <p:nvPr/>
        </p:nvSpPr>
        <p:spPr>
          <a:xfrm>
            <a:off x="5637276" y="2331720"/>
            <a:ext cx="658368" cy="658368"/>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wave_0B1F3A.png">    </p:cNvPr>
          <p:cNvPicPr>
            <a:picLocks noChangeAspect="1"/>
          </p:cNvPicPr>
          <p:nvPr/>
        </p:nvPicPr>
        <p:blipFill>
          <a:blip r:embed="rId2"/>
          <a:stretch>
            <a:fillRect/>
          </a:stretch>
        </p:blipFill>
        <p:spPr>
          <a:xfrm>
            <a:off x="5726156" y="2420600"/>
            <a:ext cx="480609" cy="480609"/>
          </a:xfrm>
          <a:prstGeom prst="rect">
            <a:avLst/>
          </a:prstGeom>
        </p:spPr>
      </p:pic>
      <p:sp>
        <p:nvSpPr>
          <p:cNvPr id="14" name="Text 10"/>
          <p:cNvSpPr/>
          <p:nvPr/>
        </p:nvSpPr>
        <p:spPr>
          <a:xfrm>
            <a:off x="4251960" y="3108960"/>
            <a:ext cx="34290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RBF</a:t>
            </a:r>
            <a:endParaRPr lang="en-US" sz="1700" dirty="0"/>
          </a:p>
        </p:txBody>
      </p:sp>
      <p:sp>
        <p:nvSpPr>
          <p:cNvPr id="15" name="Text 11"/>
          <p:cNvSpPr/>
          <p:nvPr/>
        </p:nvSpPr>
        <p:spPr>
          <a:xfrm>
            <a:off x="4251960" y="3566160"/>
            <a:ext cx="3429000" cy="365760"/>
          </a:xfrm>
          <a:prstGeom prst="rect">
            <a:avLst/>
          </a:prstGeom>
          <a:noFill/>
          <a:ln/>
        </p:spPr>
        <p:txBody>
          <a:bodyPr wrap="square" lIns="0" tIns="0" rIns="0" bIns="0" rtlCol="0" anchor="ctr"/>
          <a:lstStyle/>
          <a:p>
            <a:pPr algn="ctr" indent="0" marL="0">
              <a:buNone/>
            </a:pPr>
            <a:r>
              <a:rPr lang="en-US" sz="1300" dirty="0">
                <a:solidFill>
                  <a:srgbClr val="8899B5"/>
                </a:solidFill>
                <a:latin typeface="Calibri" pitchFamily="34" charset="0"/>
                <a:ea typeface="Calibri" pitchFamily="34" charset="-122"/>
                <a:cs typeface="Calibri" pitchFamily="34" charset="-120"/>
              </a:rPr>
              <a:t>71.08%</a:t>
            </a:r>
            <a:pPr algn="ctr" indent="0" marL="0">
              <a:buNone/>
            </a:pPr>
            <a:r>
              <a:rPr lang="en-US" sz="1300" dirty="0">
                <a:solidFill>
                  <a:srgbClr val="8899B5"/>
                </a:solidFill>
                <a:latin typeface="Calibri" pitchFamily="34" charset="0"/>
                <a:ea typeface="Calibri" pitchFamily="34" charset="-122"/>
                <a:cs typeface="Calibri" pitchFamily="34" charset="-120"/>
              </a:rPr>
              <a:t>  -&gt;  </a:t>
            </a:r>
            <a:pPr algn="ctr" indent="0" marL="0">
              <a:buNone/>
            </a:pPr>
            <a:r>
              <a:rPr lang="en-US" sz="1300" b="1" dirty="0">
                <a:solidFill>
                  <a:srgbClr val="FFB703"/>
                </a:solidFill>
                <a:latin typeface="Calibri" pitchFamily="34" charset="0"/>
                <a:ea typeface="Calibri" pitchFamily="34" charset="-122"/>
                <a:cs typeface="Calibri" pitchFamily="34" charset="-120"/>
              </a:rPr>
              <a:t>78.43%</a:t>
            </a:r>
            <a:endParaRPr lang="en-US" sz="1300" dirty="0"/>
          </a:p>
        </p:txBody>
      </p:sp>
      <p:sp>
        <p:nvSpPr>
          <p:cNvPr id="16" name="Text 12"/>
          <p:cNvSpPr/>
          <p:nvPr/>
        </p:nvSpPr>
        <p:spPr>
          <a:xfrm>
            <a:off x="4251960" y="4023360"/>
            <a:ext cx="3429000" cy="320040"/>
          </a:xfrm>
          <a:prstGeom prst="rect">
            <a:avLst/>
          </a:prstGeom>
          <a:noFill/>
          <a:ln/>
        </p:spPr>
        <p:txBody>
          <a:bodyPr wrap="square" lIns="0" tIns="0" rIns="0" bIns="0" rtlCol="0" anchor="ctr"/>
          <a:lstStyle/>
          <a:p>
            <a:pPr algn="ctr" indent="0" marL="0">
              <a:buNone/>
            </a:pPr>
            <a:r>
              <a:rPr lang="en-US" sz="1000" dirty="0">
                <a:solidFill>
                  <a:srgbClr val="C9D6E8"/>
                </a:solidFill>
                <a:latin typeface="Calibri" pitchFamily="34" charset="0"/>
                <a:ea typeface="Calibri" pitchFamily="34" charset="-122"/>
                <a:cs typeface="Calibri" pitchFamily="34" charset="-120"/>
              </a:rPr>
              <a:t>+7.35 pts vs. baseline</a:t>
            </a:r>
            <a:endParaRPr lang="en-US" sz="1000" dirty="0"/>
          </a:p>
        </p:txBody>
      </p:sp>
      <p:sp>
        <p:nvSpPr>
          <p:cNvPr id="17" name="Shape 13"/>
          <p:cNvSpPr/>
          <p:nvPr/>
        </p:nvSpPr>
        <p:spPr>
          <a:xfrm>
            <a:off x="8001000" y="1828800"/>
            <a:ext cx="3429000" cy="37033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8" name="Shape 14"/>
          <p:cNvSpPr/>
          <p:nvPr/>
        </p:nvSpPr>
        <p:spPr>
          <a:xfrm>
            <a:off x="9386316" y="2103120"/>
            <a:ext cx="658368" cy="65836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9" name="Image 2" descr="/sessions/blissful-zealous-babbage/mnt/outputs/ppt/icons/chartbar_00B4D8.png">    </p:cNvPr>
          <p:cNvPicPr>
            <a:picLocks noChangeAspect="1"/>
          </p:cNvPicPr>
          <p:nvPr/>
        </p:nvPicPr>
        <p:blipFill>
          <a:blip r:embed="rId3"/>
          <a:stretch>
            <a:fillRect/>
          </a:stretch>
        </p:blipFill>
        <p:spPr>
          <a:xfrm>
            <a:off x="9475196" y="2192000"/>
            <a:ext cx="480609" cy="480609"/>
          </a:xfrm>
          <a:prstGeom prst="rect">
            <a:avLst/>
          </a:prstGeom>
        </p:spPr>
      </p:pic>
      <p:sp>
        <p:nvSpPr>
          <p:cNvPr id="20" name="Text 15"/>
          <p:cNvSpPr/>
          <p:nvPr/>
        </p:nvSpPr>
        <p:spPr>
          <a:xfrm>
            <a:off x="8001000" y="288036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1" name="Text 16"/>
          <p:cNvSpPr/>
          <p:nvPr/>
        </p:nvSpPr>
        <p:spPr>
          <a:xfrm>
            <a:off x="8001000" y="3337560"/>
            <a:ext cx="3429000" cy="365760"/>
          </a:xfrm>
          <a:prstGeom prst="rect">
            <a:avLst/>
          </a:prstGeom>
          <a:noFill/>
          <a:ln/>
        </p:spPr>
        <p:txBody>
          <a:bodyPr wrap="square" lIns="0" tIns="0" rIns="0" bIns="0" rtlCol="0" anchor="ctr"/>
          <a:lstStyle/>
          <a:p>
            <a:pPr algn="ctr" indent="0" marL="0">
              <a:buNone/>
            </a:pPr>
            <a:r>
              <a:rPr lang="en-US" sz="1300" dirty="0">
                <a:solidFill>
                  <a:srgbClr val="9FB1C8"/>
                </a:solidFill>
                <a:latin typeface="Calibri" pitchFamily="34" charset="0"/>
                <a:ea typeface="Calibri" pitchFamily="34" charset="-122"/>
                <a:cs typeface="Calibri" pitchFamily="34" charset="-120"/>
              </a:rPr>
              <a:t>75.49%</a:t>
            </a:r>
            <a:pPr algn="ctr" indent="0" marL="0">
              <a:buNone/>
            </a:pPr>
            <a:r>
              <a:rPr lang="en-US" sz="1300" dirty="0">
                <a:solidFill>
                  <a:srgbClr val="9FB1C8"/>
                </a:solidFill>
                <a:latin typeface="Calibri" pitchFamily="34" charset="0"/>
                <a:ea typeface="Calibri" pitchFamily="34" charset="-122"/>
                <a:cs typeface="Calibri" pitchFamily="34" charset="-120"/>
              </a:rPr>
              <a:t>  -&gt;  </a:t>
            </a:r>
            <a:pPr algn="ctr" indent="0" marL="0">
              <a:buNone/>
            </a:pPr>
            <a:r>
              <a:rPr lang="en-US" sz="1300" b="1" dirty="0">
                <a:solidFill>
                  <a:srgbClr val="0B1F3A"/>
                </a:solidFill>
                <a:latin typeface="Calibri" pitchFamily="34" charset="0"/>
                <a:ea typeface="Calibri" pitchFamily="34" charset="-122"/>
                <a:cs typeface="Calibri" pitchFamily="34" charset="-120"/>
              </a:rPr>
              <a:t>77.94%</a:t>
            </a:r>
            <a:endParaRPr lang="en-US" sz="1300" dirty="0"/>
          </a:p>
        </p:txBody>
      </p:sp>
      <p:sp>
        <p:nvSpPr>
          <p:cNvPr id="22" name="Text 17"/>
          <p:cNvSpPr/>
          <p:nvPr/>
        </p:nvSpPr>
        <p:spPr>
          <a:xfrm>
            <a:off x="8001000" y="3794760"/>
            <a:ext cx="3429000" cy="320040"/>
          </a:xfrm>
          <a:prstGeom prst="rect">
            <a:avLst/>
          </a:prstGeom>
          <a:noFill/>
          <a:ln/>
        </p:spPr>
        <p:txBody>
          <a:bodyPr wrap="square" lIns="0" tIns="0" rIns="0" bIns="0" rtlCol="0" anchor="ctr"/>
          <a:lstStyle/>
          <a:p>
            <a:pPr algn="ctr" indent="0" marL="0">
              <a:buNone/>
            </a:pPr>
            <a:r>
              <a:rPr lang="en-US" sz="1000" dirty="0">
                <a:solidFill>
                  <a:srgbClr val="5EAE7A"/>
                </a:solidFill>
                <a:latin typeface="Calibri" pitchFamily="34" charset="0"/>
                <a:ea typeface="Calibri" pitchFamily="34" charset="-122"/>
                <a:cs typeface="Calibri" pitchFamily="34" charset="-120"/>
              </a:rPr>
              <a:t>+2.45 pts vs. baseline</a:t>
            </a:r>
            <a:endParaRPr lang="en-US" sz="1000" dirty="0"/>
          </a:p>
        </p:txBody>
      </p:sp>
      <p:sp>
        <p:nvSpPr>
          <p:cNvPr id="23" name="Text 18"/>
          <p:cNvSpPr/>
          <p:nvPr/>
        </p:nvSpPr>
        <p:spPr>
          <a:xfrm>
            <a:off x="502920" y="5669280"/>
            <a:ext cx="10607040" cy="640080"/>
          </a:xfrm>
          <a:prstGeom prst="rect">
            <a:avLst/>
          </a:prstGeom>
          <a:noFill/>
          <a:ln/>
        </p:spPr>
        <p:txBody>
          <a:bodyPr wrap="square" lIns="0" tIns="0" rIns="0" bIns="0" rtlCol="0" anchor="ctr"/>
          <a:lstStyle/>
          <a:p>
            <a:pPr indent="0" marL="0">
              <a:lnSpc>
                <a:spcPct val="122000"/>
              </a:lnSpc>
              <a:buNone/>
            </a:pPr>
            <a:r>
              <a:rPr lang="en-US" sz="1030" b="1" dirty="0">
                <a:solidFill>
                  <a:srgbClr val="0B1F3A"/>
                </a:solidFill>
                <a:latin typeface="Calibri" pitchFamily="34" charset="0"/>
                <a:ea typeface="Calibri" pitchFamily="34" charset="-122"/>
                <a:cs typeface="Calibri" pitchFamily="34" charset="-120"/>
              </a:rPr>
              <a:t>Note: </a:t>
            </a:r>
            <a:pPr indent="0" marL="0">
              <a:lnSpc>
                <a:spcPct val="122000"/>
              </a:lnSpc>
              <a:buNone/>
            </a:pPr>
            <a:r>
              <a:rPr lang="en-US" sz="1030" dirty="0">
                <a:solidFill>
                  <a:srgbClr val="64748B"/>
                </a:solidFill>
                <a:latin typeface="Calibri" pitchFamily="34" charset="0"/>
                <a:ea typeface="Calibri" pitchFamily="34" charset="-122"/>
                <a:cs typeface="Calibri" pitchFamily="34" charset="-120"/>
              </a:rPr>
              <a:t>the topology-aware correction rule (Section 6) is applied uniformly to all six numbers above, so these deltas isolate the effect of GridSearchCV tuning alone. Linear barely moves (and even dips slightly) because it was already close to its ceiling; RBF gains the most because its default gamma was poorly matched to the data.</a:t>
            </a:r>
            <a:endParaRPr lang="en-US" sz="1030" dirty="0"/>
          </a:p>
        </p:txBody>
      </p:sp>
      <p:sp>
        <p:nvSpPr>
          <p:cNvPr id="24"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Diagnosing a Blind Spot: RC_open vs. RC_short</a:t>
            </a:r>
            <a:endParaRPr lang="en-US" sz="3000" dirty="0"/>
          </a:p>
        </p:txBody>
      </p:sp>
      <p:sp>
        <p:nvSpPr>
          <p:cNvPr id="4" name="Text 2"/>
          <p:cNvSpPr/>
          <p:nvPr/>
        </p:nvSpPr>
        <p:spPr>
          <a:xfrm>
            <a:off x="502920" y="1783080"/>
            <a:ext cx="10607040" cy="91440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With the original 16 features, RC_open and RC_short were completely confused — </a:t>
            </a:r>
            <a:pPr indent="0" marL="0">
              <a:lnSpc>
                <a:spcPct val="130000"/>
              </a:lnSpc>
              <a:buNone/>
            </a:pPr>
            <a:r>
              <a:rPr lang="en-US" sz="1350" b="1" dirty="0">
                <a:solidFill>
                  <a:srgbClr val="D9695F"/>
                </a:solidFill>
                <a:latin typeface="Calibri" pitchFamily="34" charset="0"/>
                <a:ea typeface="Calibri" pitchFamily="34" charset="-122"/>
                <a:cs typeface="Calibri" pitchFamily="34" charset="-120"/>
              </a:rPr>
              <a:t>F1 = 0.000</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The fix came from a very direct diagnostic: compare the mean of each feature between the two classes and look for the biggest gap.</a:t>
            </a:r>
            <a:endParaRPr lang="en-US" sz="1350" dirty="0"/>
          </a:p>
        </p:txBody>
      </p:sp>
      <p:sp>
        <p:nvSpPr>
          <p:cNvPr id="5" name="Shape 3"/>
          <p:cNvSpPr/>
          <p:nvPr/>
        </p:nvSpPr>
        <p:spPr>
          <a:xfrm>
            <a:off x="502920" y="2880360"/>
            <a:ext cx="10607040" cy="548640"/>
          </a:xfrm>
          <a:prstGeom prst="roundRect">
            <a:avLst>
              <a:gd name="adj" fmla="val 10000"/>
            </a:avLst>
          </a:prstGeom>
          <a:solidFill>
            <a:srgbClr val="0B1F3A"/>
          </a:solidFill>
          <a:ln/>
        </p:spPr>
      </p:sp>
      <p:sp>
        <p:nvSpPr>
          <p:cNvPr id="6" name="Text 4"/>
          <p:cNvSpPr/>
          <p:nvPr/>
        </p:nvSpPr>
        <p:spPr>
          <a:xfrm>
            <a:off x="502920" y="2880360"/>
            <a:ext cx="2743200" cy="548640"/>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p:txBody>
      </p:sp>
      <p:sp>
        <p:nvSpPr>
          <p:cNvPr id="7" name="Text 5"/>
          <p:cNvSpPr/>
          <p:nvPr/>
        </p:nvSpPr>
        <p:spPr>
          <a:xfrm>
            <a:off x="32461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RC_open mean</a:t>
            </a:r>
            <a:endParaRPr lang="en-US" sz="1200" dirty="0"/>
          </a:p>
        </p:txBody>
      </p:sp>
      <p:sp>
        <p:nvSpPr>
          <p:cNvPr id="8" name="Text 6"/>
          <p:cNvSpPr/>
          <p:nvPr/>
        </p:nvSpPr>
        <p:spPr>
          <a:xfrm>
            <a:off x="59893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RC_short mean</a:t>
            </a:r>
            <a:endParaRPr lang="en-US" sz="1200" dirty="0"/>
          </a:p>
        </p:txBody>
      </p:sp>
      <p:sp>
        <p:nvSpPr>
          <p:cNvPr id="9" name="Text 7"/>
          <p:cNvSpPr/>
          <p:nvPr/>
        </p:nvSpPr>
        <p:spPr>
          <a:xfrm>
            <a:off x="8732520" y="2880360"/>
            <a:ext cx="23774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Separable?</a:t>
            </a:r>
            <a:endParaRPr lang="en-US" sz="1200" dirty="0"/>
          </a:p>
        </p:txBody>
      </p:sp>
      <p:sp>
        <p:nvSpPr>
          <p:cNvPr id="10" name="Shape 8"/>
          <p:cNvSpPr/>
          <p:nvPr/>
        </p:nvSpPr>
        <p:spPr>
          <a:xfrm>
            <a:off x="502920" y="3429000"/>
            <a:ext cx="10607040" cy="548640"/>
          </a:xfrm>
          <a:prstGeom prst="rect">
            <a:avLst/>
          </a:prstGeom>
          <a:solidFill>
            <a:srgbClr val="FFFFFF"/>
          </a:solidFill>
          <a:ln w="9525">
            <a:solidFill>
              <a:srgbClr val="E4E9F1"/>
            </a:solidFill>
            <a:prstDash val="solid"/>
          </a:ln>
        </p:spPr>
      </p:sp>
      <p:sp>
        <p:nvSpPr>
          <p:cNvPr id="11" name="Text 9"/>
          <p:cNvSpPr/>
          <p:nvPr/>
        </p:nvSpPr>
        <p:spPr>
          <a:xfrm>
            <a:off x="502920" y="342900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peak_voltage</a:t>
            </a:r>
            <a:endParaRPr lang="en-US" sz="1200" dirty="0"/>
          </a:p>
        </p:txBody>
      </p:sp>
      <p:sp>
        <p:nvSpPr>
          <p:cNvPr id="12" name="Text 10"/>
          <p:cNvSpPr/>
          <p:nvPr/>
        </p:nvSpPr>
        <p:spPr>
          <a:xfrm>
            <a:off x="3246120" y="342900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13" name="Text 11"/>
          <p:cNvSpPr/>
          <p:nvPr/>
        </p:nvSpPr>
        <p:spPr>
          <a:xfrm>
            <a:off x="5989320" y="342900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14" name="Text 12"/>
          <p:cNvSpPr/>
          <p:nvPr/>
        </p:nvSpPr>
        <p:spPr>
          <a:xfrm>
            <a:off x="8732520" y="342900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Yes — but noisy</a:t>
            </a:r>
            <a:endParaRPr lang="en-US" sz="1200" dirty="0"/>
          </a:p>
        </p:txBody>
      </p:sp>
      <p:sp>
        <p:nvSpPr>
          <p:cNvPr id="15" name="Shape 13"/>
          <p:cNvSpPr/>
          <p:nvPr/>
        </p:nvSpPr>
        <p:spPr>
          <a:xfrm>
            <a:off x="502920" y="3977640"/>
            <a:ext cx="10607040" cy="548640"/>
          </a:xfrm>
          <a:prstGeom prst="rect">
            <a:avLst/>
          </a:prstGeom>
          <a:solidFill>
            <a:srgbClr val="EEF2F7"/>
          </a:solidFill>
          <a:ln w="9525">
            <a:solidFill>
              <a:srgbClr val="E4E9F1"/>
            </a:solidFill>
            <a:prstDash val="solid"/>
          </a:ln>
        </p:spPr>
      </p:sp>
      <p:sp>
        <p:nvSpPr>
          <p:cNvPr id="16" name="Text 14"/>
          <p:cNvSpPr/>
          <p:nvPr/>
        </p:nvSpPr>
        <p:spPr>
          <a:xfrm>
            <a:off x="502920" y="397764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rise_time</a:t>
            </a:r>
            <a:endParaRPr lang="en-US" sz="1200" dirty="0"/>
          </a:p>
        </p:txBody>
      </p:sp>
      <p:sp>
        <p:nvSpPr>
          <p:cNvPr id="17" name="Text 15"/>
          <p:cNvSpPr/>
          <p:nvPr/>
        </p:nvSpPr>
        <p:spPr>
          <a:xfrm>
            <a:off x="3246120" y="397764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~0.095 s (never rises)</a:t>
            </a:r>
            <a:endParaRPr lang="en-US" sz="1200" dirty="0"/>
          </a:p>
        </p:txBody>
      </p:sp>
      <p:sp>
        <p:nvSpPr>
          <p:cNvPr id="18" name="Text 16"/>
          <p:cNvSpPr/>
          <p:nvPr/>
        </p:nvSpPr>
        <p:spPr>
          <a:xfrm>
            <a:off x="5989320" y="397764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~0.000002 s (instant)</a:t>
            </a:r>
            <a:endParaRPr lang="en-US" sz="1200" dirty="0"/>
          </a:p>
        </p:txBody>
      </p:sp>
      <p:sp>
        <p:nvSpPr>
          <p:cNvPr id="19" name="Text 17"/>
          <p:cNvSpPr/>
          <p:nvPr/>
        </p:nvSpPr>
        <p:spPr>
          <a:xfrm>
            <a:off x="8732520" y="397764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Marginal</a:t>
            </a:r>
            <a:endParaRPr lang="en-US" sz="1200" dirty="0"/>
          </a:p>
        </p:txBody>
      </p:sp>
      <p:sp>
        <p:nvSpPr>
          <p:cNvPr id="20" name="Shape 18"/>
          <p:cNvSpPr/>
          <p:nvPr/>
        </p:nvSpPr>
        <p:spPr>
          <a:xfrm>
            <a:off x="502920" y="4526280"/>
            <a:ext cx="10607040" cy="548640"/>
          </a:xfrm>
          <a:prstGeom prst="rect">
            <a:avLst/>
          </a:prstGeom>
          <a:solidFill>
            <a:srgbClr val="FFFFFF"/>
          </a:solidFill>
          <a:ln w="9525">
            <a:solidFill>
              <a:srgbClr val="E4E9F1"/>
            </a:solidFill>
            <a:prstDash val="solid"/>
          </a:ln>
        </p:spPr>
      </p:sp>
      <p:sp>
        <p:nvSpPr>
          <p:cNvPr id="21" name="Text 19"/>
          <p:cNvSpPr/>
          <p:nvPr/>
        </p:nvSpPr>
        <p:spPr>
          <a:xfrm>
            <a:off x="502920" y="452628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dc_level (new)</a:t>
            </a:r>
            <a:endParaRPr lang="en-US" sz="1200" dirty="0"/>
          </a:p>
        </p:txBody>
      </p:sp>
      <p:sp>
        <p:nvSpPr>
          <p:cNvPr id="22" name="Text 20"/>
          <p:cNvSpPr/>
          <p:nvPr/>
        </p:nvSpPr>
        <p:spPr>
          <a:xfrm>
            <a:off x="3246120" y="452628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23" name="Text 21"/>
          <p:cNvSpPr/>
          <p:nvPr/>
        </p:nvSpPr>
        <p:spPr>
          <a:xfrm>
            <a:off x="5989320" y="452628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24" name="Text 22"/>
          <p:cNvSpPr/>
          <p:nvPr/>
        </p:nvSpPr>
        <p:spPr>
          <a:xfrm>
            <a:off x="8732520" y="452628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Yes — cleanly</a:t>
            </a:r>
            <a:endParaRPr lang="en-US" sz="1200" dirty="0"/>
          </a:p>
        </p:txBody>
      </p:sp>
      <p:sp>
        <p:nvSpPr>
          <p:cNvPr id="25" name="Text 23"/>
          <p:cNvSpPr/>
          <p:nvPr/>
        </p:nvSpPr>
        <p:spPr>
          <a:xfrm>
            <a:off x="502920" y="4892040"/>
            <a:ext cx="10607040" cy="548640"/>
          </a:xfrm>
          <a:prstGeom prst="rect">
            <a:avLst/>
          </a:prstGeom>
          <a:noFill/>
          <a:ln/>
        </p:spPr>
        <p:txBody>
          <a:bodyPr wrap="square" lIns="0" tIns="0" rIns="0" bIns="0" rtlCol="0" anchor="ctr"/>
          <a:lstStyle/>
          <a:p>
            <a:pPr indent="0" marL="0">
              <a:lnSpc>
                <a:spcPct val="120000"/>
              </a:lnSpc>
              <a:buNone/>
            </a:pPr>
            <a:r>
              <a:rPr lang="en-US" sz="1150" i="1" dirty="0">
                <a:solidFill>
                  <a:srgbClr val="64748B"/>
                </a:solidFill>
                <a:latin typeface="Calibri" pitchFamily="34" charset="0"/>
                <a:ea typeface="Calibri" pitchFamily="34" charset="-122"/>
                <a:cs typeface="Calibri" pitchFamily="34" charset="-120"/>
              </a:rPr>
              <a:t>Both circuits settle to a flat line by the end of the observation window — the existing features just weren't capturing where that flat line actually sat.</a:t>
            </a:r>
            <a:endParaRPr lang="en-US" sz="1150" dirty="0"/>
          </a:p>
        </p:txBody>
      </p:sp>
      <p:sp>
        <p:nvSpPr>
          <p:cNvPr id="26" name="Text 2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7" name="Text 2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Fix: A 17th Feature, dc_level</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f17_dc_level = mean( v[-20:] )     # last 20 samples of the waveform</a:t>
            </a:r>
            <a:endParaRPr lang="en-US" sz="1500" dirty="0"/>
          </a:p>
        </p:txBody>
      </p:sp>
      <p:sp>
        <p:nvSpPr>
          <p:cNvPr id="6" name="Shape 4"/>
          <p:cNvSpPr/>
          <p:nvPr/>
        </p:nvSpPr>
        <p:spPr>
          <a:xfrm>
            <a:off x="502920" y="3063240"/>
            <a:ext cx="5166360" cy="2880360"/>
          </a:xfrm>
          <a:prstGeom prst="roundRect">
            <a:avLst>
              <a:gd name="adj" fmla="val 28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7" name="Shape 5"/>
          <p:cNvSpPr/>
          <p:nvPr/>
        </p:nvSpPr>
        <p:spPr>
          <a:xfrm>
            <a:off x="777240" y="333756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8" name="Image 0" descr="/sessions/blissful-zealous-babbage/mnt/outputs/ppt/icons/plug_00B4D8.png">    </p:cNvPr>
          <p:cNvPicPr>
            <a:picLocks noChangeAspect="1"/>
          </p:cNvPicPr>
          <p:nvPr/>
        </p:nvPicPr>
        <p:blipFill>
          <a:blip r:embed="rId1"/>
          <a:stretch>
            <a:fillRect/>
          </a:stretch>
        </p:blipFill>
        <p:spPr>
          <a:xfrm>
            <a:off x="851306" y="3411626"/>
            <a:ext cx="400507" cy="400507"/>
          </a:xfrm>
          <a:prstGeom prst="rect">
            <a:avLst/>
          </a:prstGeom>
        </p:spPr>
      </p:pic>
      <p:sp>
        <p:nvSpPr>
          <p:cNvPr id="9" name="Text 6"/>
          <p:cNvSpPr/>
          <p:nvPr/>
        </p:nvSpPr>
        <p:spPr>
          <a:xfrm>
            <a:off x="1463040" y="3383280"/>
            <a:ext cx="397764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RC_open</a:t>
            </a:r>
            <a:endParaRPr lang="en-US" sz="1600" dirty="0"/>
          </a:p>
        </p:txBody>
      </p:sp>
      <p:sp>
        <p:nvSpPr>
          <p:cNvPr id="10" name="Text 7"/>
          <p:cNvSpPr/>
          <p:nvPr/>
        </p:nvSpPr>
        <p:spPr>
          <a:xfrm>
            <a:off x="77724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Never charges within the 95ms window, so its steady-state DC level sits near 0V.</a:t>
            </a:r>
            <a:endParaRPr lang="en-US" sz="1150" dirty="0"/>
          </a:p>
        </p:txBody>
      </p:sp>
      <p:sp>
        <p:nvSpPr>
          <p:cNvPr id="11" name="Shape 8"/>
          <p:cNvSpPr/>
          <p:nvPr/>
        </p:nvSpPr>
        <p:spPr>
          <a:xfrm>
            <a:off x="6126480" y="3063240"/>
            <a:ext cx="5166360" cy="2880360"/>
          </a:xfrm>
          <a:prstGeom prst="roundRect">
            <a:avLst>
              <a:gd name="adj" fmla="val 28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2" name="Shape 9"/>
          <p:cNvSpPr/>
          <p:nvPr/>
        </p:nvSpPr>
        <p:spPr>
          <a:xfrm>
            <a:off x="6400800" y="3337560"/>
            <a:ext cx="548640" cy="54864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bolt_FFFFFF.png">    </p:cNvPr>
          <p:cNvPicPr>
            <a:picLocks noChangeAspect="1"/>
          </p:cNvPicPr>
          <p:nvPr/>
        </p:nvPicPr>
        <p:blipFill>
          <a:blip r:embed="rId2"/>
          <a:stretch>
            <a:fillRect/>
          </a:stretch>
        </p:blipFill>
        <p:spPr>
          <a:xfrm>
            <a:off x="6474866" y="3411626"/>
            <a:ext cx="400507" cy="400507"/>
          </a:xfrm>
          <a:prstGeom prst="rect">
            <a:avLst/>
          </a:prstGeom>
        </p:spPr>
      </p:pic>
      <p:sp>
        <p:nvSpPr>
          <p:cNvPr id="14" name="Text 10"/>
          <p:cNvSpPr/>
          <p:nvPr/>
        </p:nvSpPr>
        <p:spPr>
          <a:xfrm>
            <a:off x="7086600" y="3383280"/>
            <a:ext cx="397764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RC_short</a:t>
            </a:r>
            <a:endParaRPr lang="en-US" sz="1600" dirty="0"/>
          </a:p>
        </p:txBody>
      </p:sp>
      <p:sp>
        <p:nvSpPr>
          <p:cNvPr id="15" name="Text 11"/>
          <p:cNvSpPr/>
          <p:nvPr/>
        </p:nvSpPr>
        <p:spPr>
          <a:xfrm>
            <a:off x="640080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Charges almost instantly with a collapsed time constant, so its steady-state DC level sits near 5V.</a:t>
            </a:r>
            <a:endParaRPr lang="en-US" sz="1150" dirty="0"/>
          </a:p>
        </p:txBody>
      </p:sp>
      <p:sp>
        <p:nvSpPr>
          <p:cNvPr id="16" name="Text 12"/>
          <p:cNvSpPr/>
          <p:nvPr/>
        </p:nvSpPr>
        <p:spPr>
          <a:xfrm>
            <a:off x="502920" y="6035040"/>
            <a:ext cx="10607040" cy="457200"/>
          </a:xfrm>
          <a:prstGeom prst="rect">
            <a:avLst/>
          </a:prstGeom>
          <a:noFill/>
          <a:ln/>
        </p:spPr>
        <p:txBody>
          <a:bodyPr wrap="square" lIns="0" tIns="0" rIns="0" bIns="0" rtlCol="0" anchor="ctr"/>
          <a:lstStyle/>
          <a:p>
            <a:pPr indent="0" marL="0">
              <a:buNone/>
            </a:pPr>
            <a:r>
              <a:rPr lang="en-US" sz="1150" b="1" i="1" dirty="0">
                <a:solidFill>
                  <a:srgbClr val="0B1F3A"/>
                </a:solidFill>
                <a:latin typeface="Calibri" pitchFamily="34" charset="0"/>
                <a:ea typeface="Calibri" pitchFamily="34" charset="-122"/>
                <a:cs typeface="Calibri" pitchFamily="34" charset="-120"/>
              </a:rPr>
              <a:t>One new feature, directly targeting a diagnosed failure mode, fixed a class pair the other 16 features couldn't separate.</a:t>
            </a:r>
            <a:endParaRPr lang="en-US" sz="115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Topology-Aware Post-Processing</a:t>
            </a:r>
            <a:endParaRPr lang="en-US" sz="3000" dirty="0"/>
          </a:p>
        </p:txBody>
      </p:sp>
      <p:sp>
        <p:nvSpPr>
          <p:cNvPr id="4" name="Shape 2"/>
          <p:cNvSpPr/>
          <p:nvPr/>
        </p:nvSpPr>
        <p:spPr>
          <a:xfrm>
            <a:off x="502920" y="1783080"/>
            <a:ext cx="10607040" cy="1600200"/>
          </a:xfrm>
          <a:prstGeom prst="roundRect">
            <a:avLst>
              <a:gd name="adj" fmla="val 5143"/>
            </a:avLst>
          </a:prstGeom>
          <a:solidFill>
            <a:srgbClr val="0B1F3A"/>
          </a:solidFill>
          <a:ln/>
          <a:effectLst>
            <a:outerShdw sx="100000" sy="100000" kx="0" ky="0" algn="bl" rotWithShape="0" blurRad="114300" dist="38100" dir="2700000">
              <a:srgbClr val="0B1F3A">
                <a:alpha val="14000"/>
              </a:srgbClr>
            </a:outerShdw>
          </a:effectLst>
        </p:spPr>
      </p:sp>
      <p:sp>
        <p:nvSpPr>
          <p:cNvPr id="5" name="Shape 3"/>
          <p:cNvSpPr/>
          <p:nvPr/>
        </p:nvSpPr>
        <p:spPr>
          <a:xfrm>
            <a:off x="777240" y="2048256"/>
            <a:ext cx="621792" cy="621792"/>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tools_0B1F3A.png">    </p:cNvPr>
          <p:cNvPicPr>
            <a:picLocks noChangeAspect="1"/>
          </p:cNvPicPr>
          <p:nvPr/>
        </p:nvPicPr>
        <p:blipFill>
          <a:blip r:embed="rId1"/>
          <a:stretch>
            <a:fillRect/>
          </a:stretch>
        </p:blipFill>
        <p:spPr>
          <a:xfrm>
            <a:off x="861182" y="2132198"/>
            <a:ext cx="453908" cy="453908"/>
          </a:xfrm>
          <a:prstGeom prst="rect">
            <a:avLst/>
          </a:prstGeom>
        </p:spPr>
      </p:pic>
      <p:sp>
        <p:nvSpPr>
          <p:cNvPr id="7" name="Text 4"/>
          <p:cNvSpPr/>
          <p:nvPr/>
        </p:nvSpPr>
        <p:spPr>
          <a:xfrm>
            <a:off x="1554480" y="1920240"/>
            <a:ext cx="9235440" cy="1371600"/>
          </a:xfrm>
          <a:prstGeom prst="rect">
            <a:avLst/>
          </a:prstGeom>
          <a:noFill/>
          <a:ln/>
        </p:spPr>
        <p:txBody>
          <a:bodyPr wrap="square" lIns="0" tIns="0" rIns="0" bIns="0" rtlCol="0" anchor="ctr"/>
          <a:lstStyle/>
          <a:p>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A plain SVM can output a physically impossible label — e.g. </a:t>
            </a:r>
            <a:pPr indent="0" marL="0">
              <a:lnSpc>
                <a:spcPct val="128000"/>
              </a:lnSpc>
              <a:buNone/>
            </a:pPr>
            <a:r>
              <a:rPr lang="en-US" sz="1200" dirty="0">
                <a:solidFill>
                  <a:srgbClr val="FFB703"/>
                </a:solidFill>
                <a:latin typeface="Courier New" pitchFamily="34" charset="0"/>
                <a:ea typeface="Courier New" pitchFamily="34" charset="-122"/>
                <a:cs typeface="Courier New" pitchFamily="34" charset="-120"/>
              </a:rPr>
              <a:t>"RLC_open"</a:t>
            </a:r>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 for a sample known to come from the RC circuit, which has no inductor to open at all.
</a:t>
            </a:r>
            <a:pPr indent="0" marL="0">
              <a:lnSpc>
                <a:spcPct val="128000"/>
              </a:lnSpc>
              <a:buNone/>
            </a:pPr>
            <a:r>
              <a:rPr lang="en-US" sz="1200" b="1" dirty="0">
                <a:solidFill>
                  <a:srgbClr val="FFB703"/>
                </a:solidFill>
                <a:latin typeface="Calibri" pitchFamily="34" charset="0"/>
                <a:ea typeface="Calibri" pitchFamily="34" charset="-122"/>
                <a:cs typeface="Calibri" pitchFamily="34" charset="-120"/>
              </a:rPr>
              <a:t>Rule: </a:t>
            </a:r>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when the predicted class's circuit prefix doesn't match the sample's known true circuit, remap the fault type onto that circuit instead — e.g. RLC_open -&gt; RC_open.</a:t>
            </a:r>
            <a:endParaRPr lang="en-US" sz="1200" dirty="0"/>
          </a:p>
        </p:txBody>
      </p:sp>
      <p:sp>
        <p:nvSpPr>
          <p:cNvPr id="8" name="Shape 5"/>
          <p:cNvSpPr/>
          <p:nvPr/>
        </p:nvSpPr>
        <p:spPr>
          <a:xfrm>
            <a:off x="502920" y="3657600"/>
            <a:ext cx="10607040" cy="685800"/>
          </a:xfrm>
          <a:prstGeom prst="roundRect">
            <a:avLst>
              <a:gd name="adj" fmla="val 10667"/>
            </a:avLst>
          </a:prstGeom>
          <a:solidFill>
            <a:srgbClr val="EEF2F7"/>
          </a:solidFill>
          <a:ln w="12700">
            <a:solidFill>
              <a:srgbClr val="E4E9F1"/>
            </a:solidFill>
            <a:prstDash val="solid"/>
          </a:ln>
        </p:spPr>
      </p:sp>
      <p:sp>
        <p:nvSpPr>
          <p:cNvPr id="9" name="Text 6"/>
          <p:cNvSpPr/>
          <p:nvPr/>
        </p:nvSpPr>
        <p:spPr>
          <a:xfrm>
            <a:off x="502920" y="3657600"/>
            <a:ext cx="10607040" cy="6858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+1.47 points from this rule alone:  76.96%  -&gt;  78.43%</a:t>
            </a:r>
            <a:endParaRPr lang="en-US" sz="1400" dirty="0"/>
          </a:p>
        </p:txBody>
      </p:sp>
      <p:sp>
        <p:nvSpPr>
          <p:cNvPr id="10" name="Shape 7"/>
          <p:cNvSpPr/>
          <p:nvPr/>
        </p:nvSpPr>
        <p:spPr>
          <a:xfrm>
            <a:off x="502920" y="4572000"/>
            <a:ext cx="10607040" cy="1463040"/>
          </a:xfrm>
          <a:prstGeom prst="roundRect">
            <a:avLst>
              <a:gd name="adj" fmla="val 562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777240" y="4828032"/>
            <a:ext cx="548640" cy="54864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warn_FFFFFF.png">    </p:cNvPr>
          <p:cNvPicPr>
            <a:picLocks noChangeAspect="1"/>
          </p:cNvPicPr>
          <p:nvPr/>
        </p:nvPicPr>
        <p:blipFill>
          <a:blip r:embed="rId2"/>
          <a:stretch>
            <a:fillRect/>
          </a:stretch>
        </p:blipFill>
        <p:spPr>
          <a:xfrm>
            <a:off x="851306" y="4902098"/>
            <a:ext cx="400507" cy="400507"/>
          </a:xfrm>
          <a:prstGeom prst="rect">
            <a:avLst/>
          </a:prstGeom>
        </p:spPr>
      </p:pic>
      <p:sp>
        <p:nvSpPr>
          <p:cNvPr id="13" name="Text 9"/>
          <p:cNvSpPr/>
          <p:nvPr/>
        </p:nvSpPr>
        <p:spPr>
          <a:xfrm>
            <a:off x="1463040" y="4709160"/>
            <a:ext cx="9509760" cy="1234440"/>
          </a:xfrm>
          <a:prstGeom prst="rect">
            <a:avLst/>
          </a:prstGeom>
          <a:noFill/>
          <a:ln/>
        </p:spPr>
        <p:txBody>
          <a:bodyPr wrap="square" lIns="0" tIns="0" rIns="0" bIns="0" rtlCol="0" anchor="ctr"/>
          <a:lstStyle/>
          <a:p>
            <a:pPr indent="0" marL="0">
              <a:lnSpc>
                <a:spcPct val="125000"/>
              </a:lnSpc>
              <a:buNone/>
            </a:pPr>
            <a:r>
              <a:rPr lang="en-US" sz="1100" b="1" dirty="0">
                <a:solidFill>
                  <a:srgbClr val="0B1F3A"/>
                </a:solidFill>
                <a:latin typeface="Calibri" pitchFamily="34" charset="0"/>
                <a:ea typeface="Calibri" pitchFamily="34" charset="-122"/>
                <a:cs typeface="Calibri" pitchFamily="34" charset="-120"/>
              </a:rPr>
              <a:t>An honest limit: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this rule only catches predictions that land on the wrong topology entirely. It can't fix a model that confidently predicts the wrong fault within the correct circuit — e.g. calling an RC_LADDER_short sample "RC_short" instead, since RC_short is a perfectly valid label, just for the wrong circuit's short fault. See the Confusion Matrix Deep Dive for exactly this case.</a:t>
            </a:r>
            <a:endParaRPr lang="en-US" sz="11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An Honest Clarification: Is This Circular?</a:t>
            </a:r>
            <a:endParaRPr lang="en-US" sz="3000" dirty="0"/>
          </a:p>
        </p:txBody>
      </p:sp>
      <p:sp>
        <p:nvSpPr>
          <p:cNvPr id="4" name="Text 2"/>
          <p:cNvSpPr/>
          <p:nvPr/>
        </p:nvSpPr>
        <p:spPr>
          <a:xfrm>
            <a:off x="502920" y="1691640"/>
            <a:ext cx="10607040" cy="548640"/>
          </a:xfrm>
          <a:prstGeom prst="rect">
            <a:avLst/>
          </a:prstGeom>
          <a:noFill/>
          <a:ln/>
        </p:spPr>
        <p:txBody>
          <a:bodyPr wrap="square" lIns="0" tIns="0" rIns="0" bIns="0" rtlCol="0" anchor="ctr"/>
          <a:lstStyle/>
          <a:p>
            <a:pPr indent="0" marL="0">
              <a:lnSpc>
                <a:spcPct val="128000"/>
              </a:lnSpc>
              <a:buNone/>
            </a:pPr>
            <a:r>
              <a:rPr lang="en-US" sz="1350" b="1" dirty="0">
                <a:solidFill>
                  <a:srgbClr val="0B1F3A"/>
                </a:solidFill>
                <a:latin typeface="Calibri" pitchFamily="34" charset="0"/>
                <a:ea typeface="Calibri" pitchFamily="34" charset="-122"/>
                <a:cs typeface="Calibri" pitchFamily="34" charset="-120"/>
              </a:rPr>
              <a:t>Fair question: </a:t>
            </a:r>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if the correction rule already needs the true circuit, why train a 20-way classifier that predicts circuit and fault together at all?</a:t>
            </a:r>
            <a:endParaRPr lang="en-US" sz="1350" dirty="0"/>
          </a:p>
        </p:txBody>
      </p:sp>
      <p:sp>
        <p:nvSpPr>
          <p:cNvPr id="5" name="Shape 3"/>
          <p:cNvSpPr/>
          <p:nvPr/>
        </p:nvSpPr>
        <p:spPr>
          <a:xfrm>
            <a:off x="502920" y="2423160"/>
            <a:ext cx="5166360" cy="2148840"/>
          </a:xfrm>
          <a:prstGeom prst="roundRect">
            <a:avLst>
              <a:gd name="adj" fmla="val 383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77240" y="267919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search_00B4D8.png">    </p:cNvPr>
          <p:cNvPicPr>
            <a:picLocks noChangeAspect="1"/>
          </p:cNvPicPr>
          <p:nvPr/>
        </p:nvPicPr>
        <p:blipFill>
          <a:blip r:embed="rId1"/>
          <a:stretch>
            <a:fillRect/>
          </a:stretch>
        </p:blipFill>
        <p:spPr>
          <a:xfrm>
            <a:off x="853775" y="2755727"/>
            <a:ext cx="413857" cy="413857"/>
          </a:xfrm>
          <a:prstGeom prst="rect">
            <a:avLst/>
          </a:prstGeom>
        </p:spPr>
      </p:pic>
      <p:sp>
        <p:nvSpPr>
          <p:cNvPr id="8" name="Text 5"/>
          <p:cNvSpPr/>
          <p:nvPr/>
        </p:nvSpPr>
        <p:spPr>
          <a:xfrm>
            <a:off x="1508760" y="2715768"/>
            <a:ext cx="388620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The real deployment task</a:t>
            </a:r>
            <a:endParaRPr lang="en-US" sz="1350" dirty="0"/>
          </a:p>
        </p:txBody>
      </p:sp>
      <p:sp>
        <p:nvSpPr>
          <p:cNvPr id="9" name="Text 6"/>
          <p:cNvSpPr/>
          <p:nvPr/>
        </p:nvSpPr>
        <p:spPr>
          <a:xfrm>
            <a:off x="777240" y="3291840"/>
            <a:ext cx="4617720" cy="118872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 technician testing a board already knows it's "the RC filter" — what they don't know is whether it's healthy, drifting, open, shorted or noisy. The circuit identity is a given; the fault is the unknown. The live app reflects exactly this: the user picks the circuit from a dropdown.</a:t>
            </a:r>
            <a:endParaRPr lang="en-US" sz="1080" dirty="0"/>
          </a:p>
        </p:txBody>
      </p:sp>
      <p:sp>
        <p:nvSpPr>
          <p:cNvPr id="10" name="Shape 7"/>
          <p:cNvSpPr/>
          <p:nvPr/>
        </p:nvSpPr>
        <p:spPr>
          <a:xfrm>
            <a:off x="6126480" y="2423160"/>
            <a:ext cx="5166360" cy="2148840"/>
          </a:xfrm>
          <a:prstGeom prst="roundRect">
            <a:avLst>
              <a:gd name="adj" fmla="val 383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400800" y="267919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balance_00B4D8.png">    </p:cNvPr>
          <p:cNvPicPr>
            <a:picLocks noChangeAspect="1"/>
          </p:cNvPicPr>
          <p:nvPr/>
        </p:nvPicPr>
        <p:blipFill>
          <a:blip r:embed="rId2"/>
          <a:stretch>
            <a:fillRect/>
          </a:stretch>
        </p:blipFill>
        <p:spPr>
          <a:xfrm>
            <a:off x="6477335" y="2755727"/>
            <a:ext cx="413857" cy="413857"/>
          </a:xfrm>
          <a:prstGeom prst="rect">
            <a:avLst/>
          </a:prstGeom>
        </p:spPr>
      </p:pic>
      <p:sp>
        <p:nvSpPr>
          <p:cNvPr id="13" name="Text 9"/>
          <p:cNvSpPr/>
          <p:nvPr/>
        </p:nvSpPr>
        <p:spPr>
          <a:xfrm>
            <a:off x="7132320" y="2715768"/>
            <a:ext cx="388620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Why train the harder, blind version anyway</a:t>
            </a:r>
            <a:endParaRPr lang="en-US" sz="1350" dirty="0"/>
          </a:p>
        </p:txBody>
      </p:sp>
      <p:sp>
        <p:nvSpPr>
          <p:cNvPr id="14" name="Text 10"/>
          <p:cNvSpPr/>
          <p:nvPr/>
        </p:nvSpPr>
        <p:spPr>
          <a:xfrm>
            <a:off x="6400800" y="3291840"/>
            <a:ext cx="4617720" cy="118872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The 20-way SVM is trained and scored on the full blind problem — circuit and fault together — as the rigorous headline result. That number, 76.96% before correction, is what the model can do with zero outside help.</a:t>
            </a:r>
            <a:endParaRPr lang="en-US" sz="1080" dirty="0"/>
          </a:p>
        </p:txBody>
      </p:sp>
      <p:sp>
        <p:nvSpPr>
          <p:cNvPr id="15" name="Shape 11"/>
          <p:cNvSpPr/>
          <p:nvPr/>
        </p:nvSpPr>
        <p:spPr>
          <a:xfrm>
            <a:off x="502920" y="4892040"/>
            <a:ext cx="10607040" cy="1234440"/>
          </a:xfrm>
          <a:prstGeom prst="roundRect">
            <a:avLst>
              <a:gd name="adj" fmla="val 6667"/>
            </a:avLst>
          </a:prstGeom>
          <a:solidFill>
            <a:srgbClr val="0B1F3A"/>
          </a:solidFill>
          <a:ln/>
          <a:effectLst>
            <a:outerShdw sx="100000" sy="100000" kx="0" ky="0" algn="bl" rotWithShape="0" blurRad="114300" dist="38100" dir="2700000">
              <a:srgbClr val="0B1F3A">
                <a:alpha val="14000"/>
              </a:srgbClr>
            </a:outerShdw>
          </a:effectLst>
        </p:spPr>
      </p:sp>
      <p:sp>
        <p:nvSpPr>
          <p:cNvPr id="16" name="Text 12"/>
          <p:cNvSpPr/>
          <p:nvPr/>
        </p:nvSpPr>
        <p:spPr>
          <a:xfrm>
            <a:off x="777240" y="5029200"/>
            <a:ext cx="10058400" cy="1005840"/>
          </a:xfrm>
          <a:prstGeom prst="rect">
            <a:avLst/>
          </a:prstGeom>
          <a:noFill/>
          <a:ln/>
        </p:spPr>
        <p:txBody>
          <a:bodyPr wrap="square" lIns="0" tIns="0" rIns="0" bIns="0" rtlCol="0" anchor="ctr"/>
          <a:lstStyle/>
          <a:p>
            <a:pPr indent="0" marL="0">
              <a:lnSpc>
                <a:spcPct val="122000"/>
              </a:lnSpc>
              <a:buNone/>
            </a:pPr>
            <a:r>
              <a:rPr lang="en-US" sz="1100" b="1" dirty="0">
                <a:solidFill>
                  <a:srgbClr val="FFB703"/>
                </a:solidFill>
                <a:latin typeface="Calibri" pitchFamily="34" charset="0"/>
                <a:ea typeface="Calibri" pitchFamily="34" charset="-122"/>
                <a:cs typeface="Calibri" pitchFamily="34" charset="-120"/>
              </a:rPr>
              <a:t>Why this isn't leakage: </a:t>
            </a:r>
            <a:pPr indent="0" marL="0">
              <a:lnSpc>
                <a:spcPct val="122000"/>
              </a:lnSpc>
              <a:buNone/>
            </a:pPr>
            <a:r>
              <a:rPr lang="en-US" sz="1100" dirty="0">
                <a:solidFill>
                  <a:srgbClr val="E7ECF4"/>
                </a:solidFill>
                <a:latin typeface="Calibri" pitchFamily="34" charset="0"/>
                <a:ea typeface="Calibri" pitchFamily="34" charset="-122"/>
                <a:cs typeface="Calibri" pitchFamily="34" charset="-120"/>
              </a:rPr>
              <a:t>the correction never looks at the predicted fault type — only the independently-known circuit identity — to rule out physically impossible combinations. It's equivalent to a technician saying "I know this is the RC board, so it can't be an RLC fault," not information leaking from the label being predicted. Two honest numbers are reported side by side: </a:t>
            </a:r>
            <a:pPr indent="0" marL="0">
              <a:lnSpc>
                <a:spcPct val="122000"/>
              </a:lnSpc>
              <a:buNone/>
            </a:pPr>
            <a:r>
              <a:rPr lang="en-US" sz="1100" b="1" dirty="0">
                <a:solidFill>
                  <a:srgbClr val="FFFFFF"/>
                </a:solidFill>
                <a:latin typeface="Calibri" pitchFamily="34" charset="0"/>
                <a:ea typeface="Calibri" pitchFamily="34" charset="-122"/>
                <a:cs typeface="Calibri" pitchFamily="34" charset="-120"/>
              </a:rPr>
              <a:t>76.96% blind, 78.43% with the known-topology assumption applied.</a:t>
            </a:r>
            <a:endParaRPr lang="en-US" sz="110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7. RESULTS &amp; DEEP ANALYSIS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Headline Number</a:t>
            </a:r>
            <a:endParaRPr lang="en-US" sz="3000" dirty="0"/>
          </a:p>
        </p:txBody>
      </p:sp>
      <p:sp>
        <p:nvSpPr>
          <p:cNvPr id="11" name="Text 9"/>
          <p:cNvSpPr/>
          <p:nvPr/>
        </p:nvSpPr>
        <p:spPr>
          <a:xfrm>
            <a:off x="502920" y="1920240"/>
            <a:ext cx="8229600" cy="1463040"/>
          </a:xfrm>
          <a:prstGeom prst="rect">
            <a:avLst/>
          </a:prstGeom>
          <a:noFill/>
          <a:ln/>
        </p:spPr>
        <p:txBody>
          <a:bodyPr wrap="square" lIns="0" tIns="0" rIns="0" bIns="0" rtlCol="0" anchor="ctr"/>
          <a:lstStyle/>
          <a:p>
            <a:pPr indent="0" marL="0">
              <a:buNone/>
            </a:pPr>
            <a:r>
              <a:rPr lang="en-US" sz="8800" b="1" dirty="0">
                <a:solidFill>
                  <a:srgbClr val="FFB703"/>
                </a:solidFill>
                <a:latin typeface="Cambria" pitchFamily="34" charset="0"/>
                <a:ea typeface="Cambria" pitchFamily="34" charset="-122"/>
                <a:cs typeface="Cambria" pitchFamily="34" charset="-120"/>
              </a:rPr>
              <a:t>78.43%</a:t>
            </a:r>
            <a:endParaRPr lang="en-US" sz="8800" dirty="0"/>
          </a:p>
        </p:txBody>
      </p:sp>
      <p:sp>
        <p:nvSpPr>
          <p:cNvPr id="12" name="Text 10"/>
          <p:cNvSpPr/>
          <p:nvPr/>
        </p:nvSpPr>
        <p:spPr>
          <a:xfrm>
            <a:off x="502920" y="3429000"/>
            <a:ext cx="8229600" cy="457200"/>
          </a:xfrm>
          <a:prstGeom prst="rect">
            <a:avLst/>
          </a:prstGeom>
          <a:noFill/>
          <a:ln/>
        </p:spPr>
        <p:txBody>
          <a:bodyPr wrap="square" lIns="0" tIns="0" rIns="0" bIns="0" rtlCol="0" anchor="ctr"/>
          <a:lstStyle/>
          <a:p>
            <a:pPr indent="0" marL="0">
              <a:buNone/>
            </a:pPr>
            <a:r>
              <a:rPr lang="en-US" sz="1500" i="1" dirty="0">
                <a:solidFill>
                  <a:srgbClr val="C9D6E8"/>
                </a:solidFill>
                <a:latin typeface="Calibri" pitchFamily="34" charset="0"/>
                <a:ea typeface="Calibri" pitchFamily="34" charset="-122"/>
                <a:cs typeface="Calibri" pitchFamily="34" charset="-120"/>
              </a:rPr>
              <a:t>test accuracy on a 20-class problem, from real physics-based data alone</a:t>
            </a:r>
            <a:endParaRPr lang="en-US" sz="1500" dirty="0"/>
          </a:p>
        </p:txBody>
      </p:sp>
      <p:sp>
        <p:nvSpPr>
          <p:cNvPr id="13" name="Text 11"/>
          <p:cNvSpPr/>
          <p:nvPr/>
        </p:nvSpPr>
        <p:spPr>
          <a:xfrm>
            <a:off x="502920" y="4114800"/>
            <a:ext cx="8412480" cy="1280160"/>
          </a:xfrm>
          <a:prstGeom prst="rect">
            <a:avLst/>
          </a:prstGeom>
          <a:noFill/>
          <a:ln/>
        </p:spPr>
        <p:txBody>
          <a:bodyPr wrap="square" lIns="0" tIns="0" rIns="0" bIns="0" rtlCol="0" anchor="ctr"/>
          <a:lstStyle/>
          <a:p>
            <a:pPr indent="0" marL="0">
              <a:lnSpc>
                <a:spcPct val="132000"/>
              </a:lnSpc>
              <a:buNone/>
            </a:pPr>
            <a:r>
              <a:rPr lang="en-US" sz="1350" dirty="0">
                <a:solidFill>
                  <a:srgbClr val="9FB1C8"/>
                </a:solidFill>
                <a:latin typeface="Calibri" pitchFamily="34" charset="0"/>
                <a:ea typeface="Calibri" pitchFamily="34" charset="-122"/>
                <a:cs typeface="Calibri" pitchFamily="34" charset="-120"/>
              </a:rPr>
              <a:t>A random guess would score 5%. </a:t>
            </a:r>
            <a:pPr indent="0" marL="0">
              <a:lnSpc>
                <a:spcPct val="132000"/>
              </a:lnSpc>
              <a:buNone/>
            </a:pPr>
            <a:r>
              <a:rPr lang="en-US" sz="1350" dirty="0">
                <a:solidFill>
                  <a:srgbClr val="E7ECF4"/>
                </a:solidFill>
                <a:latin typeface="Calibri" pitchFamily="34" charset="0"/>
                <a:ea typeface="Calibri" pitchFamily="34" charset="-122"/>
                <a:cs typeface="Calibri" pitchFamily="34" charset="-120"/>
              </a:rPr>
              <a:t>The next several slides break this single number apart: which kernel got us here, which circuits and faults it handles well, where it still struggles, and why the number itself is trustworthy.</a:t>
            </a:r>
            <a:endParaRPr lang="en-US" sz="1350" dirty="0"/>
          </a:p>
        </p:txBody>
      </p:sp>
      <p:sp>
        <p:nvSpPr>
          <p:cNvPr id="14" name="Shape 12"/>
          <p:cNvSpPr/>
          <p:nvPr/>
        </p:nvSpPr>
        <p:spPr>
          <a:xfrm>
            <a:off x="9692640" y="3931920"/>
            <a:ext cx="1371600" cy="13716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5" name="Image 0" descr="/sessions/blissful-zealous-babbage/mnt/outputs/ppt/icons/chartbar_FFB703.png">    </p:cNvPr>
          <p:cNvPicPr>
            <a:picLocks noChangeAspect="1"/>
          </p:cNvPicPr>
          <p:nvPr/>
        </p:nvPicPr>
        <p:blipFill>
          <a:blip r:embed="rId1"/>
          <a:stretch>
            <a:fillRect/>
          </a:stretch>
        </p:blipFill>
        <p:spPr>
          <a:xfrm>
            <a:off x="987780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RBF + Topology Rule Wins: 78.43%</a:t>
            </a:r>
            <a:endParaRPr lang="en-US" sz="3000" dirty="0"/>
          </a:p>
        </p:txBody>
      </p:sp>
      <p:graphicFrame>
        <p:nvGraphicFramePr>
          <p:cNvPr id="4" name="Chart 0" descr=""/>
          <p:cNvGraphicFramePr/>
          <p:nvPr/>
        </p:nvGraphicFramePr>
        <p:xfrm>
          <a:off x="502920" y="1691640"/>
          <a:ext cx="1060704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6" name="Text 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How Robust Is 78.43%? A 30-Run Replication</a:t>
            </a:r>
            <a:endParaRPr lang="en-US" sz="3000" dirty="0"/>
          </a:p>
        </p:txBody>
      </p:sp>
      <p:sp>
        <p:nvSpPr>
          <p:cNvPr id="4" name="Text 2"/>
          <p:cNvSpPr/>
          <p:nvPr/>
        </p:nvSpPr>
        <p:spPr>
          <a:xfrm>
            <a:off x="502920" y="1691640"/>
            <a:ext cx="10607040" cy="59436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The headline number comes from one fixed 80/20 split (random_state=42). To check how much that could vary by chance, the same train-tune-evaluate pipeline was independently re-run across </a:t>
            </a:r>
            <a:pPr indent="0" marL="0">
              <a:lnSpc>
                <a:spcPct val="125000"/>
              </a:lnSpc>
              <a:buNone/>
            </a:pPr>
            <a:r>
              <a:rPr lang="en-US" sz="1250" b="1" dirty="0">
                <a:solidFill>
                  <a:srgbClr val="0B1F3A"/>
                </a:solidFill>
                <a:latin typeface="Calibri" pitchFamily="34" charset="0"/>
                <a:ea typeface="Calibri" pitchFamily="34" charset="-122"/>
                <a:cs typeface="Calibri" pitchFamily="34" charset="-120"/>
              </a:rPr>
              <a:t>30 different random splits</a:t>
            </a:r>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a:t>
            </a:r>
            <a:endParaRPr lang="en-US" sz="1250" dirty="0"/>
          </a:p>
        </p:txBody>
      </p:sp>
      <p:sp>
        <p:nvSpPr>
          <p:cNvPr id="5" name="Shape 3"/>
          <p:cNvSpPr/>
          <p:nvPr/>
        </p:nvSpPr>
        <p:spPr>
          <a:xfrm>
            <a:off x="502920" y="2423160"/>
            <a:ext cx="5166360" cy="1965960"/>
          </a:xfrm>
          <a:prstGeom prst="roundRect">
            <a:avLst>
              <a:gd name="adj" fmla="val 418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624328"/>
            <a:ext cx="4617720" cy="320040"/>
          </a:xfrm>
          <a:prstGeom prst="rect">
            <a:avLst/>
          </a:prstGeom>
          <a:noFill/>
          <a:ln/>
        </p:spPr>
        <p:txBody>
          <a:bodyPr wrap="square" lIns="0" tIns="0" rIns="0" bIns="0" rtlCol="0" anchor="ctr"/>
          <a:lstStyle/>
          <a:p>
            <a:pPr indent="0" marL="0">
              <a:buNone/>
            </a:pPr>
            <a:r>
              <a:rPr lang="en-US" sz="1250" b="1" dirty="0">
                <a:solidFill>
                  <a:srgbClr val="FFB703"/>
                </a:solidFill>
                <a:latin typeface="Calibri" pitchFamily="34" charset="0"/>
                <a:ea typeface="Calibri" pitchFamily="34" charset="-122"/>
                <a:cs typeface="Calibri" pitchFamily="34" charset="-120"/>
              </a:rPr>
              <a:t>With topology correction</a:t>
            </a:r>
            <a:endParaRPr lang="en-US" sz="1250" dirty="0"/>
          </a:p>
        </p:txBody>
      </p:sp>
      <p:sp>
        <p:nvSpPr>
          <p:cNvPr id="7" name="Text 5"/>
          <p:cNvSpPr/>
          <p:nvPr/>
        </p:nvSpPr>
        <p:spPr>
          <a:xfrm>
            <a:off x="777240" y="2971800"/>
            <a:ext cx="46177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80.54%  ± 3.08</a:t>
            </a:r>
            <a:endParaRPr lang="en-US" sz="3000" dirty="0"/>
          </a:p>
        </p:txBody>
      </p:sp>
      <p:sp>
        <p:nvSpPr>
          <p:cNvPr id="8" name="Text 6"/>
          <p:cNvSpPr/>
          <p:nvPr/>
        </p:nvSpPr>
        <p:spPr>
          <a:xfrm>
            <a:off x="777240" y="3657600"/>
            <a:ext cx="4617720" cy="32004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mean ± std across 30 seeds  ·  range 72.55% - 84.80%</a:t>
            </a:r>
            <a:endParaRPr lang="en-US" sz="1000" dirty="0"/>
          </a:p>
        </p:txBody>
      </p:sp>
      <p:sp>
        <p:nvSpPr>
          <p:cNvPr id="9" name="Text 7"/>
          <p:cNvSpPr/>
          <p:nvPr/>
        </p:nvSpPr>
        <p:spPr>
          <a:xfrm>
            <a:off x="777240" y="3995928"/>
            <a:ext cx="4617720" cy="320040"/>
          </a:xfrm>
          <a:prstGeom prst="rect">
            <a:avLst/>
          </a:prstGeom>
          <a:noFill/>
          <a:ln/>
        </p:spPr>
        <p:txBody>
          <a:bodyPr wrap="square" lIns="0" tIns="0" rIns="0" bIns="0" rtlCol="0" anchor="ctr"/>
          <a:lstStyle/>
          <a:p>
            <a:pPr indent="0" marL="0">
              <a:buNone/>
            </a:pPr>
            <a:r>
              <a:rPr lang="en-US" sz="950" i="1" dirty="0">
                <a:solidFill>
                  <a:srgbClr val="C9D6E8"/>
                </a:solidFill>
                <a:latin typeface="Calibri" pitchFamily="34" charset="0"/>
                <a:ea typeface="Calibri" pitchFamily="34" charset="-122"/>
                <a:cs typeface="Calibri" pitchFamily="34" charset="-120"/>
              </a:rPr>
              <a:t>Original reported run: 78.43% — squarely inside this range.</a:t>
            </a:r>
            <a:endParaRPr lang="en-US" sz="950" dirty="0"/>
          </a:p>
        </p:txBody>
      </p:sp>
      <p:sp>
        <p:nvSpPr>
          <p:cNvPr id="10" name="Shape 8"/>
          <p:cNvSpPr/>
          <p:nvPr/>
        </p:nvSpPr>
        <p:spPr>
          <a:xfrm>
            <a:off x="6126480" y="2423160"/>
            <a:ext cx="5166360" cy="1965960"/>
          </a:xfrm>
          <a:prstGeom prst="roundRect">
            <a:avLst>
              <a:gd name="adj" fmla="val 41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Text 9"/>
          <p:cNvSpPr/>
          <p:nvPr/>
        </p:nvSpPr>
        <p:spPr>
          <a:xfrm>
            <a:off x="6400800" y="2624328"/>
            <a:ext cx="4617720" cy="320040"/>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Without topology correction</a:t>
            </a:r>
            <a:endParaRPr lang="en-US" sz="1250" dirty="0"/>
          </a:p>
        </p:txBody>
      </p:sp>
      <p:sp>
        <p:nvSpPr>
          <p:cNvPr id="12" name="Text 10"/>
          <p:cNvSpPr/>
          <p:nvPr/>
        </p:nvSpPr>
        <p:spPr>
          <a:xfrm>
            <a:off x="6400800" y="2971800"/>
            <a:ext cx="461772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77.52%  ± 1.66</a:t>
            </a:r>
            <a:endParaRPr lang="en-US" sz="3000" dirty="0"/>
          </a:p>
        </p:txBody>
      </p:sp>
      <p:sp>
        <p:nvSpPr>
          <p:cNvPr id="13" name="Text 11"/>
          <p:cNvSpPr/>
          <p:nvPr/>
        </p:nvSpPr>
        <p:spPr>
          <a:xfrm>
            <a:off x="6400800" y="3657600"/>
            <a:ext cx="461772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mean ± std across 30 seeds  ·  range 72.55% - 79.90%</a:t>
            </a:r>
            <a:endParaRPr lang="en-US" sz="1000" dirty="0"/>
          </a:p>
        </p:txBody>
      </p:sp>
      <p:sp>
        <p:nvSpPr>
          <p:cNvPr id="14" name="Text 12"/>
          <p:cNvSpPr/>
          <p:nvPr/>
        </p:nvSpPr>
        <p:spPr>
          <a:xfrm>
            <a:off x="6400800" y="3995928"/>
            <a:ext cx="4617720"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Lower spread — the raw SVM alone is more consistent.</a:t>
            </a:r>
            <a:endParaRPr lang="en-US" sz="950" dirty="0"/>
          </a:p>
        </p:txBody>
      </p:sp>
      <p:sp>
        <p:nvSpPr>
          <p:cNvPr id="15" name="Shape 13"/>
          <p:cNvSpPr/>
          <p:nvPr/>
        </p:nvSpPr>
        <p:spPr>
          <a:xfrm>
            <a:off x="502920" y="4617720"/>
            <a:ext cx="10607040" cy="960120"/>
          </a:xfrm>
          <a:prstGeom prst="roundRect">
            <a:avLst>
              <a:gd name="adj" fmla="val 8571"/>
            </a:avLst>
          </a:prstGeom>
          <a:solidFill>
            <a:srgbClr val="EEF2F7"/>
          </a:solidFill>
          <a:ln w="12700">
            <a:solidFill>
              <a:srgbClr val="E4E9F1"/>
            </a:solidFill>
            <a:prstDash val="solid"/>
          </a:ln>
        </p:spPr>
      </p:sp>
      <p:sp>
        <p:nvSpPr>
          <p:cNvPr id="16" name="Text 14"/>
          <p:cNvSpPr/>
          <p:nvPr/>
        </p:nvSpPr>
        <p:spPr>
          <a:xfrm>
            <a:off x="777240" y="4709160"/>
            <a:ext cx="10058400" cy="822960"/>
          </a:xfrm>
          <a:prstGeom prst="rect">
            <a:avLst/>
          </a:prstGeom>
          <a:noFill/>
          <a:ln/>
        </p:spPr>
        <p:txBody>
          <a:bodyPr wrap="square" lIns="0" tIns="0" rIns="0" bIns="0" rtlCol="0" anchor="ctr"/>
          <a:lstStyle/>
          <a:p>
            <a:pPr indent="0" marL="0">
              <a:lnSpc>
                <a:spcPct val="122000"/>
              </a:lnSpc>
              <a:buNone/>
            </a:pPr>
            <a:r>
              <a:rPr lang="en-US" sz="1100" b="1" dirty="0">
                <a:solidFill>
                  <a:srgbClr val="0B1F3A"/>
                </a:solidFill>
                <a:latin typeface="Calibri" pitchFamily="34" charset="0"/>
                <a:ea typeface="Calibri" pitchFamily="34" charset="-122"/>
                <a:cs typeface="Calibri" pitchFamily="34" charset="-120"/>
              </a:rPr>
              <a:t>An honest nuance: </a:t>
            </a:r>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the topology-aware rule raises average accuracy by about 3 points but also widens the spread (std 3.08 vs. 1.66) — its effect depends on exactly which cross-topology errors each specific split happens to contain. It helps on average, but it isn't a free, uniform boost.</a:t>
            </a:r>
            <a:endParaRPr lang="en-US" sz="1100" dirty="0"/>
          </a:p>
        </p:txBody>
      </p:sp>
      <p:sp>
        <p:nvSpPr>
          <p:cNvPr id="17" name="Text 15"/>
          <p:cNvSpPr/>
          <p:nvPr/>
        </p:nvSpPr>
        <p:spPr>
          <a:xfrm>
            <a:off x="502920" y="5669280"/>
            <a:ext cx="10607040" cy="777240"/>
          </a:xfrm>
          <a:prstGeom prst="rect">
            <a:avLst/>
          </a:prstGeom>
          <a:noFill/>
          <a:ln/>
        </p:spPr>
        <p:txBody>
          <a:bodyPr wrap="square" lIns="0" tIns="0" rIns="0" bIns="0" rtlCol="0" anchor="ctr"/>
          <a:lstStyle/>
          <a:p>
            <a:pPr indent="0" marL="0">
              <a:lnSpc>
                <a:spcPct val="120000"/>
              </a:lnSpc>
              <a:buNone/>
            </a:pPr>
            <a:r>
              <a:rPr lang="en-US" sz="960" b="1" dirty="0">
                <a:solidFill>
                  <a:srgbClr val="0B1F3A"/>
                </a:solidFill>
                <a:latin typeface="Calibri" pitchFamily="34" charset="0"/>
                <a:ea typeface="Calibri" pitchFamily="34" charset="-122"/>
                <a:cs typeface="Calibri" pitchFamily="34" charset="-120"/>
              </a:rPr>
              <a:t>Also verified: </a:t>
            </a:r>
            <a:pPr indent="0" marL="0">
              <a:lnSpc>
                <a:spcPct val="120000"/>
              </a:lnSpc>
              <a:buNone/>
            </a:pPr>
            <a:r>
              <a:rPr lang="en-US" sz="960" dirty="0">
                <a:solidFill>
                  <a:srgbClr val="64748B"/>
                </a:solidFill>
                <a:latin typeface="Calibri" pitchFamily="34" charset="0"/>
                <a:ea typeface="Calibri" pitchFamily="34" charset="-122"/>
                <a:cs typeface="Calibri" pitchFamily="34" charset="-120"/>
              </a:rPr>
              <a:t>an always-predict-the-majority-class baseline scores 4.90% ± 0.00% across the same 30 splits — confirming the "random guess ~5%" comparison used earlier with a directly computed number, not an assumption. (Note: this replication uses the same methodology on features_v2.csv but a fresh randomization call, so exact figures differ slightly from the original day-by-day scripts — the conclusion, that 78.43% is a realistic, non-cherry-picked result, holds either way.)</a:t>
            </a:r>
            <a:endParaRPr lang="en-US" sz="960" dirty="0"/>
          </a:p>
        </p:txBody>
      </p:sp>
      <p:sp>
        <p:nvSpPr>
          <p:cNvPr id="18"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These Kernel Results Make Sense</a:t>
            </a:r>
            <a:endParaRPr lang="en-US" sz="3000" dirty="0"/>
          </a:p>
        </p:txBody>
      </p:sp>
      <p:sp>
        <p:nvSpPr>
          <p:cNvPr id="4" name="Shape 2"/>
          <p:cNvSpPr/>
          <p:nvPr/>
        </p:nvSpPr>
        <p:spPr>
          <a:xfrm>
            <a:off x="502920" y="182880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7724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1"/>
          <a:stretch>
            <a:fillRect/>
          </a:stretch>
        </p:blipFill>
        <p:spPr>
          <a:xfrm>
            <a:off x="857479" y="2183359"/>
            <a:ext cx="433883" cy="433883"/>
          </a:xfrm>
          <a:prstGeom prst="rect">
            <a:avLst/>
          </a:prstGeom>
        </p:spPr>
      </p:pic>
      <p:sp>
        <p:nvSpPr>
          <p:cNvPr id="7" name="Text 4"/>
          <p:cNvSpPr/>
          <p:nvPr/>
        </p:nvSpPr>
        <p:spPr>
          <a:xfrm>
            <a:off x="155448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0B1F3A"/>
                </a:solidFill>
                <a:latin typeface="Calibri" pitchFamily="34" charset="0"/>
                <a:ea typeface="Calibri" pitchFamily="34" charset="-122"/>
                <a:cs typeface="Calibri" pitchFamily="34" charset="-120"/>
              </a:rPr>
              <a:t>Why Linear already scores 77.9%</a:t>
            </a:r>
            <a:endParaRPr lang="en-US" sz="1350" dirty="0"/>
          </a:p>
        </p:txBody>
      </p:sp>
      <p:sp>
        <p:nvSpPr>
          <p:cNvPr id="8" name="Text 5"/>
          <p:cNvSpPr/>
          <p:nvPr/>
        </p:nvSpPr>
        <p:spPr>
          <a:xfrm>
            <a:off x="77724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The 17 features are hand-engineered to be physically meaningful — rise_time, dc_level and peak_voltage already separate most classes in a roughly straight-line way. Good features do a lot of the work before the classifier even sees them.</a:t>
            </a:r>
            <a:endParaRPr lang="en-US" sz="1150" dirty="0"/>
          </a:p>
        </p:txBody>
      </p:sp>
      <p:sp>
        <p:nvSpPr>
          <p:cNvPr id="9" name="Shape 6"/>
          <p:cNvSpPr/>
          <p:nvPr/>
        </p:nvSpPr>
        <p:spPr>
          <a:xfrm>
            <a:off x="6126480" y="182880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wave_00B4D8.png">    </p:cNvPr>
          <p:cNvPicPr>
            <a:picLocks noChangeAspect="1"/>
          </p:cNvPicPr>
          <p:nvPr/>
        </p:nvPicPr>
        <p:blipFill>
          <a:blip r:embed="rId2"/>
          <a:stretch>
            <a:fillRect/>
          </a:stretch>
        </p:blipFill>
        <p:spPr>
          <a:xfrm>
            <a:off x="6481039" y="2183359"/>
            <a:ext cx="433883" cy="433883"/>
          </a:xfrm>
          <a:prstGeom prst="rect">
            <a:avLst/>
          </a:prstGeom>
        </p:spPr>
      </p:pic>
      <p:sp>
        <p:nvSpPr>
          <p:cNvPr id="12" name="Text 8"/>
          <p:cNvSpPr/>
          <p:nvPr/>
        </p:nvSpPr>
        <p:spPr>
          <a:xfrm>
            <a:off x="717804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0B1F3A"/>
                </a:solidFill>
                <a:latin typeface="Calibri" pitchFamily="34" charset="0"/>
                <a:ea typeface="Calibri" pitchFamily="34" charset="-122"/>
                <a:cs typeface="Calibri" pitchFamily="34" charset="-120"/>
              </a:rPr>
              <a:t>Why RBF needed tuning to win</a:t>
            </a:r>
            <a:endParaRPr lang="en-US" sz="1350" dirty="0"/>
          </a:p>
        </p:txBody>
      </p:sp>
      <p:sp>
        <p:nvSpPr>
          <p:cNvPr id="13" name="Text 9"/>
          <p:cNvSpPr/>
          <p:nvPr/>
        </p:nvSpPr>
        <p:spPr>
          <a:xfrm>
            <a:off x="640080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RBF's default gamma didn't match the scale of the standardized features, so its flexible boundary either overfit small pockets of training data or underfit real class structure. Once gamma=0.1 was found by search, that same flexibility became an advantage — enough to edge past Linear.</a:t>
            </a:r>
            <a:endParaRPr lang="en-US" sz="115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Not All Circuits Are Equally Easy to Diagnose</a:t>
            </a:r>
            <a:endParaRPr lang="en-US" sz="3000" dirty="0"/>
          </a:p>
        </p:txBody>
      </p:sp>
      <p:graphicFrame>
        <p:nvGraphicFramePr>
          <p:cNvPr id="4" name="Chart 0" descr=""/>
          <p:cNvGraphicFramePr/>
          <p:nvPr/>
        </p:nvGraphicFramePr>
        <p:xfrm>
          <a:off x="502920" y="169164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60920" y="201168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2"/>
          <a:stretch>
            <a:fillRect/>
          </a:stretch>
        </p:blipFill>
        <p:spPr>
          <a:xfrm>
            <a:off x="7434986" y="2085746"/>
            <a:ext cx="400507" cy="400507"/>
          </a:xfrm>
          <a:prstGeom prst="rect">
            <a:avLst/>
          </a:prstGeom>
        </p:spPr>
      </p:pic>
      <p:sp>
        <p:nvSpPr>
          <p:cNvPr id="7" name="Text 3"/>
          <p:cNvSpPr/>
          <p:nvPr/>
        </p:nvSpPr>
        <p:spPr>
          <a:xfrm>
            <a:off x="8092440" y="1993392"/>
            <a:ext cx="35661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RLC — 100%</a:t>
            </a:r>
            <a:endParaRPr lang="en-US" sz="1350" dirty="0"/>
          </a:p>
        </p:txBody>
      </p:sp>
      <p:sp>
        <p:nvSpPr>
          <p:cNvPr id="8" name="Text 4"/>
          <p:cNvSpPr/>
          <p:nvPr/>
        </p:nvSpPr>
        <p:spPr>
          <a:xfrm>
            <a:off x="8092440" y="235915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Its oscillatory, underdamped response makes each fault look distinctly different from the others.</a:t>
            </a:r>
            <a:endParaRPr lang="en-US" sz="1050" dirty="0"/>
          </a:p>
        </p:txBody>
      </p:sp>
      <p:sp>
        <p:nvSpPr>
          <p:cNvPr id="9" name="Shape 5"/>
          <p:cNvSpPr/>
          <p:nvPr/>
        </p:nvSpPr>
        <p:spPr>
          <a:xfrm>
            <a:off x="7360920" y="374904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warn_00B4D8.png">    </p:cNvPr>
          <p:cNvPicPr>
            <a:picLocks noChangeAspect="1"/>
          </p:cNvPicPr>
          <p:nvPr/>
        </p:nvPicPr>
        <p:blipFill>
          <a:blip r:embed="rId3"/>
          <a:stretch>
            <a:fillRect/>
          </a:stretch>
        </p:blipFill>
        <p:spPr>
          <a:xfrm>
            <a:off x="7434986" y="3823106"/>
            <a:ext cx="400507" cy="400507"/>
          </a:xfrm>
          <a:prstGeom prst="rect">
            <a:avLst/>
          </a:prstGeom>
        </p:spPr>
      </p:pic>
      <p:sp>
        <p:nvSpPr>
          <p:cNvPr id="11" name="Text 6"/>
          <p:cNvSpPr/>
          <p:nvPr/>
        </p:nvSpPr>
        <p:spPr>
          <a:xfrm>
            <a:off x="8092440" y="3730752"/>
            <a:ext cx="35661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RC &amp; RC Ladder — harder</a:t>
            </a:r>
            <a:endParaRPr lang="en-US" sz="1350" dirty="0"/>
          </a:p>
        </p:txBody>
      </p:sp>
      <p:sp>
        <p:nvSpPr>
          <p:cNvPr id="12" name="Text 7"/>
          <p:cNvSpPr/>
          <p:nvPr/>
        </p:nvSpPr>
        <p:spPr>
          <a:xfrm>
            <a:off x="8092440" y="409651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Smoother, more similar-looking passive responses make drift/normal/short faults subtler to tell apart.</a:t>
            </a:r>
            <a:endParaRPr lang="en-US" sz="1050" dirty="0"/>
          </a:p>
        </p:txBody>
      </p:sp>
      <p:sp>
        <p:nvSpPr>
          <p:cNvPr id="13"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Deep Dive: RLC's Perfect Score</a:t>
            </a:r>
            <a:endParaRPr lang="en-US" sz="3000" dirty="0"/>
          </a:p>
        </p:txBody>
      </p:sp>
      <p:sp>
        <p:nvSpPr>
          <p:cNvPr id="4" name="Text 2"/>
          <p:cNvSpPr/>
          <p:nvPr/>
        </p:nvSpPr>
        <p:spPr>
          <a:xfrm>
            <a:off x="502920" y="1737360"/>
            <a:ext cx="1060704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Every one of the 5 fault types on the RLC circuit was classified perfectly in the test set:</a:t>
            </a:r>
            <a:endParaRPr lang="en-US" sz="1300" dirty="0"/>
          </a:p>
        </p:txBody>
      </p:sp>
      <p:sp>
        <p:nvSpPr>
          <p:cNvPr id="5" name="Shape 3"/>
          <p:cNvSpPr/>
          <p:nvPr/>
        </p:nvSpPr>
        <p:spPr>
          <a:xfrm>
            <a:off x="50292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50292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7" name="Text 5"/>
          <p:cNvSpPr/>
          <p:nvPr/>
        </p:nvSpPr>
        <p:spPr>
          <a:xfrm>
            <a:off x="50292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Normal</a:t>
            </a:r>
            <a:endParaRPr lang="en-US" sz="1150" dirty="0"/>
          </a:p>
        </p:txBody>
      </p:sp>
      <p:sp>
        <p:nvSpPr>
          <p:cNvPr id="8" name="Shape 6"/>
          <p:cNvSpPr/>
          <p:nvPr/>
        </p:nvSpPr>
        <p:spPr>
          <a:xfrm>
            <a:off x="265176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9" name="Text 7"/>
          <p:cNvSpPr/>
          <p:nvPr/>
        </p:nvSpPr>
        <p:spPr>
          <a:xfrm>
            <a:off x="265176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0" name="Text 8"/>
          <p:cNvSpPr/>
          <p:nvPr/>
        </p:nvSpPr>
        <p:spPr>
          <a:xfrm>
            <a:off x="265176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Drift</a:t>
            </a:r>
            <a:endParaRPr lang="en-US" sz="1150" dirty="0"/>
          </a:p>
        </p:txBody>
      </p:sp>
      <p:sp>
        <p:nvSpPr>
          <p:cNvPr id="11" name="Shape 9"/>
          <p:cNvSpPr/>
          <p:nvPr/>
        </p:nvSpPr>
        <p:spPr>
          <a:xfrm>
            <a:off x="480060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2" name="Text 10"/>
          <p:cNvSpPr/>
          <p:nvPr/>
        </p:nvSpPr>
        <p:spPr>
          <a:xfrm>
            <a:off x="480060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3" name="Text 11"/>
          <p:cNvSpPr/>
          <p:nvPr/>
        </p:nvSpPr>
        <p:spPr>
          <a:xfrm>
            <a:off x="480060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Open</a:t>
            </a:r>
            <a:endParaRPr lang="en-US" sz="1150" dirty="0"/>
          </a:p>
        </p:txBody>
      </p:sp>
      <p:sp>
        <p:nvSpPr>
          <p:cNvPr id="14" name="Shape 12"/>
          <p:cNvSpPr/>
          <p:nvPr/>
        </p:nvSpPr>
        <p:spPr>
          <a:xfrm>
            <a:off x="694944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5" name="Text 13"/>
          <p:cNvSpPr/>
          <p:nvPr/>
        </p:nvSpPr>
        <p:spPr>
          <a:xfrm>
            <a:off x="694944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6" name="Text 14"/>
          <p:cNvSpPr/>
          <p:nvPr/>
        </p:nvSpPr>
        <p:spPr>
          <a:xfrm>
            <a:off x="694944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Short</a:t>
            </a:r>
            <a:endParaRPr lang="en-US" sz="1150" dirty="0"/>
          </a:p>
        </p:txBody>
      </p:sp>
      <p:sp>
        <p:nvSpPr>
          <p:cNvPr id="17" name="Shape 15"/>
          <p:cNvSpPr/>
          <p:nvPr/>
        </p:nvSpPr>
        <p:spPr>
          <a:xfrm>
            <a:off x="909828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8" name="Text 16"/>
          <p:cNvSpPr/>
          <p:nvPr/>
        </p:nvSpPr>
        <p:spPr>
          <a:xfrm>
            <a:off x="909828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9" name="Text 17"/>
          <p:cNvSpPr/>
          <p:nvPr/>
        </p:nvSpPr>
        <p:spPr>
          <a:xfrm>
            <a:off x="909828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Noise</a:t>
            </a:r>
            <a:endParaRPr lang="en-US" sz="1150" dirty="0"/>
          </a:p>
        </p:txBody>
      </p:sp>
      <p:sp>
        <p:nvSpPr>
          <p:cNvPr id="20" name="Text 18"/>
          <p:cNvSpPr/>
          <p:nvPr/>
        </p:nvSpPr>
        <p:spPr>
          <a:xfrm>
            <a:off x="502920" y="3840480"/>
            <a:ext cx="10607040" cy="155448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Why: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the RLC circuit's underdamped, oscillatory response is far more distinctive than a passive RC network's smooth curve. An inductance drift shifts the ringing frequency; an open blocks current entirely; a short changes the damping — each fault leaves a very different fingerprint in both the time and frequency domain, which rise_time, dominant_freq and spectral_entropy pick up cleanly.</a:t>
            </a:r>
            <a:endParaRPr lang="en-US" sz="125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Deep Dive: Why RC &amp; RC Ladder Are Harder</a:t>
            </a:r>
            <a:endParaRPr lang="en-US" sz="3000" dirty="0"/>
          </a:p>
        </p:txBody>
      </p:sp>
      <p:sp>
        <p:nvSpPr>
          <p:cNvPr id="4" name="Shape 2"/>
          <p:cNvSpPr/>
          <p:nvPr/>
        </p:nvSpPr>
        <p:spPr>
          <a:xfrm>
            <a:off x="502920" y="1828800"/>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5" name="Text 3"/>
          <p:cNvSpPr/>
          <p:nvPr/>
        </p:nvSpPr>
        <p:spPr>
          <a:xfrm>
            <a:off x="731520" y="1828800"/>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RC_drift</a:t>
            </a:r>
            <a:endParaRPr lang="en-US" sz="1300" dirty="0"/>
          </a:p>
        </p:txBody>
      </p:sp>
      <p:sp>
        <p:nvSpPr>
          <p:cNvPr id="6" name="Text 4"/>
          <p:cNvSpPr/>
          <p:nvPr/>
        </p:nvSpPr>
        <p:spPr>
          <a:xfrm>
            <a:off x="3246120" y="1828800"/>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7" name="Text 5"/>
          <p:cNvSpPr/>
          <p:nvPr/>
        </p:nvSpPr>
        <p:spPr>
          <a:xfrm>
            <a:off x="4526280" y="1828800"/>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60% misread as RC_normal</a:t>
            </a:r>
            <a:endParaRPr lang="en-US" sz="1130" dirty="0"/>
          </a:p>
        </p:txBody>
      </p:sp>
      <p:sp>
        <p:nvSpPr>
          <p:cNvPr id="8" name="Shape 6"/>
          <p:cNvSpPr/>
          <p:nvPr/>
        </p:nvSpPr>
        <p:spPr>
          <a:xfrm>
            <a:off x="502920" y="2670048"/>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9" name="Text 7"/>
          <p:cNvSpPr/>
          <p:nvPr/>
        </p:nvSpPr>
        <p:spPr>
          <a:xfrm>
            <a:off x="731520" y="2670048"/>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RC_open</a:t>
            </a:r>
            <a:endParaRPr lang="en-US" sz="1300" dirty="0"/>
          </a:p>
        </p:txBody>
      </p:sp>
      <p:sp>
        <p:nvSpPr>
          <p:cNvPr id="10" name="Text 8"/>
          <p:cNvSpPr/>
          <p:nvPr/>
        </p:nvSpPr>
        <p:spPr>
          <a:xfrm>
            <a:off x="3246120" y="2670048"/>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1" name="Text 9"/>
          <p:cNvSpPr/>
          <p:nvPr/>
        </p:nvSpPr>
        <p:spPr>
          <a:xfrm>
            <a:off x="4526280" y="2670048"/>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70% misread as RLC_open (cross-topology)</a:t>
            </a:r>
            <a:endParaRPr lang="en-US" sz="1130" dirty="0"/>
          </a:p>
        </p:txBody>
      </p:sp>
      <p:sp>
        <p:nvSpPr>
          <p:cNvPr id="12" name="Shape 10"/>
          <p:cNvSpPr/>
          <p:nvPr/>
        </p:nvSpPr>
        <p:spPr>
          <a:xfrm>
            <a:off x="502920" y="3511296"/>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13" name="Text 11"/>
          <p:cNvSpPr/>
          <p:nvPr/>
        </p:nvSpPr>
        <p:spPr>
          <a:xfrm>
            <a:off x="731520" y="3511296"/>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RC_LADDER_drift</a:t>
            </a:r>
            <a:endParaRPr lang="en-US" sz="1300" dirty="0"/>
          </a:p>
        </p:txBody>
      </p:sp>
      <p:sp>
        <p:nvSpPr>
          <p:cNvPr id="14" name="Text 12"/>
          <p:cNvSpPr/>
          <p:nvPr/>
        </p:nvSpPr>
        <p:spPr>
          <a:xfrm>
            <a:off x="3246120" y="3511296"/>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5" name="Text 13"/>
          <p:cNvSpPr/>
          <p:nvPr/>
        </p:nvSpPr>
        <p:spPr>
          <a:xfrm>
            <a:off x="4526280" y="3511296"/>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70% misread as RC_LADDER_normal</a:t>
            </a:r>
            <a:endParaRPr lang="en-US" sz="1130" dirty="0"/>
          </a:p>
        </p:txBody>
      </p:sp>
      <p:sp>
        <p:nvSpPr>
          <p:cNvPr id="16" name="Shape 14"/>
          <p:cNvSpPr/>
          <p:nvPr/>
        </p:nvSpPr>
        <p:spPr>
          <a:xfrm>
            <a:off x="502920" y="4352544"/>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17" name="Text 15"/>
          <p:cNvSpPr/>
          <p:nvPr/>
        </p:nvSpPr>
        <p:spPr>
          <a:xfrm>
            <a:off x="731520" y="4352544"/>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RC_LADDER_short</a:t>
            </a:r>
            <a:endParaRPr lang="en-US" sz="1300" dirty="0"/>
          </a:p>
        </p:txBody>
      </p:sp>
      <p:sp>
        <p:nvSpPr>
          <p:cNvPr id="18" name="Text 16"/>
          <p:cNvSpPr/>
          <p:nvPr/>
        </p:nvSpPr>
        <p:spPr>
          <a:xfrm>
            <a:off x="3246120" y="4352544"/>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10%</a:t>
            </a:r>
            <a:endParaRPr lang="en-US" sz="1700" dirty="0"/>
          </a:p>
        </p:txBody>
      </p:sp>
      <p:sp>
        <p:nvSpPr>
          <p:cNvPr id="19" name="Text 17"/>
          <p:cNvSpPr/>
          <p:nvPr/>
        </p:nvSpPr>
        <p:spPr>
          <a:xfrm>
            <a:off x="4526280" y="4352544"/>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90% misread as RC_short (cross-topology)</a:t>
            </a:r>
            <a:endParaRPr lang="en-US" sz="1130" dirty="0"/>
          </a:p>
        </p:txBody>
      </p:sp>
      <p:sp>
        <p:nvSpPr>
          <p:cNvPr id="20" name="Text 18"/>
          <p:cNvSpPr/>
          <p:nvPr/>
        </p:nvSpPr>
        <p:spPr>
          <a:xfrm>
            <a:off x="502920" y="5330952"/>
            <a:ext cx="10607040" cy="731520"/>
          </a:xfrm>
          <a:prstGeom prst="rect">
            <a:avLst/>
          </a:prstGeom>
          <a:noFill/>
          <a:ln/>
        </p:spPr>
        <p:txBody>
          <a:bodyPr wrap="square" lIns="0" tIns="0" rIns="0" bIns="0" rtlCol="0" anchor="ctr"/>
          <a:lstStyle/>
          <a:p>
            <a:pPr indent="0" marL="0">
              <a:lnSpc>
                <a:spcPct val="125000"/>
              </a:lnSpc>
              <a:buNone/>
            </a:pPr>
            <a:r>
              <a:rPr lang="en-US" sz="1180" b="1" dirty="0">
                <a:solidFill>
                  <a:srgbClr val="0B1F3A"/>
                </a:solidFill>
                <a:latin typeface="Calibri" pitchFamily="34" charset="0"/>
                <a:ea typeface="Calibri" pitchFamily="34" charset="-122"/>
                <a:cs typeface="Calibri" pitchFamily="34" charset="-120"/>
              </a:rPr>
              <a:t>The pattern: </a:t>
            </a:r>
            <a:pPr indent="0" marL="0">
              <a:lnSpc>
                <a:spcPct val="125000"/>
              </a:lnSpc>
              <a:buNone/>
            </a:pPr>
            <a:r>
              <a:rPr lang="en-US" sz="1180" dirty="0">
                <a:solidFill>
                  <a:srgbClr val="64748B"/>
                </a:solidFill>
                <a:latin typeface="Calibri" pitchFamily="34" charset="0"/>
                <a:ea typeface="Calibri" pitchFamily="34" charset="-122"/>
                <a:cs typeface="Calibri" pitchFamily="34" charset="-120"/>
              </a:rPr>
              <a:t>passive RC-family circuits produce smoother, less distinctive waveforms than RLC, so drift blends into normal, and a short in one RC-type circuit looks nearly identical to a short in another. This is explored fully in the Confusion Matrix Deep Dive.</a:t>
            </a:r>
            <a:endParaRPr lang="en-US" sz="118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the Model Weighs — and Where It Excels</a:t>
            </a:r>
            <a:endParaRPr lang="en-US" sz="3000" dirty="0"/>
          </a:p>
        </p:txBody>
      </p:sp>
      <p:sp>
        <p:nvSpPr>
          <p:cNvPr id="4" name="Shape 2"/>
          <p:cNvSpPr/>
          <p:nvPr/>
        </p:nvSpPr>
        <p:spPr>
          <a:xfrm>
            <a:off x="502920" y="1783080"/>
            <a:ext cx="5166360" cy="4251960"/>
          </a:xfrm>
          <a:prstGeom prst="roundRect">
            <a:avLst>
              <a:gd name="adj" fmla="val 150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5" name="Image 0" descr="panel_featimp.png">    </p:cNvPr>
          <p:cNvPicPr>
            <a:picLocks noChangeAspect="1"/>
          </p:cNvPicPr>
          <p:nvPr/>
        </p:nvPicPr>
        <p:blipFill>
          <a:blip r:embed="rId1"/>
          <a:srcRect l="0" r="0" t="0" b="0"/>
          <a:stretch/>
        </p:blipFill>
        <p:spPr>
          <a:xfrm>
            <a:off x="640080" y="1920240"/>
            <a:ext cx="4892040" cy="3346704"/>
          </a:xfrm>
          <a:prstGeom prst="rect">
            <a:avLst/>
          </a:prstGeom>
        </p:spPr>
      </p:pic>
      <p:sp>
        <p:nvSpPr>
          <p:cNvPr id="6" name="Text 3"/>
          <p:cNvSpPr/>
          <p:nvPr/>
        </p:nvSpPr>
        <p:spPr>
          <a:xfrm>
            <a:off x="685800" y="5623560"/>
            <a:ext cx="489204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rise_time and std_voltage carry the most weight in the linear model's decisions.</a:t>
            </a:r>
            <a:endParaRPr lang="en-US" sz="1000" dirty="0"/>
          </a:p>
        </p:txBody>
      </p:sp>
      <p:sp>
        <p:nvSpPr>
          <p:cNvPr id="7" name="Shape 4"/>
          <p:cNvSpPr/>
          <p:nvPr/>
        </p:nvSpPr>
        <p:spPr>
          <a:xfrm>
            <a:off x="5943600" y="1783080"/>
            <a:ext cx="5166360" cy="4251960"/>
          </a:xfrm>
          <a:prstGeom prst="roundRect">
            <a:avLst>
              <a:gd name="adj" fmla="val 150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8" name="Image 1" descr="panel_f1.png">    </p:cNvPr>
          <p:cNvPicPr>
            <a:picLocks noChangeAspect="1"/>
          </p:cNvPicPr>
          <p:nvPr/>
        </p:nvPicPr>
        <p:blipFill>
          <a:blip r:embed="rId2"/>
          <a:srcRect l="0" r="0" t="0" b="0"/>
          <a:stretch/>
        </p:blipFill>
        <p:spPr>
          <a:xfrm>
            <a:off x="6080760" y="1920240"/>
            <a:ext cx="4892040" cy="3346704"/>
          </a:xfrm>
          <a:prstGeom prst="rect">
            <a:avLst/>
          </a:prstGeom>
        </p:spPr>
      </p:pic>
      <p:sp>
        <p:nvSpPr>
          <p:cNvPr id="9" name="Text 5"/>
          <p:cNvSpPr/>
          <p:nvPr/>
        </p:nvSpPr>
        <p:spPr>
          <a:xfrm>
            <a:off x="6126480" y="5623560"/>
            <a:ext cx="489204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10 of 20 classes hit a perfect or near-perfect F1 score; RC/RC-Ladder faults trail behind.</a:t>
            </a:r>
            <a:endParaRPr lang="en-US" sz="1000" dirty="0"/>
          </a:p>
        </p:txBody>
      </p:sp>
      <p:sp>
        <p:nvSpPr>
          <p:cNvPr id="10"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Every Prediction, At a Glance</a:t>
            </a:r>
            <a:endParaRPr lang="en-US" sz="3000" dirty="0"/>
          </a:p>
        </p:txBody>
      </p:sp>
      <p:sp>
        <p:nvSpPr>
          <p:cNvPr id="4" name="Shape 2"/>
          <p:cNvSpPr/>
          <p:nvPr/>
        </p:nvSpPr>
        <p:spPr>
          <a:xfrm>
            <a:off x="502920" y="1691640"/>
            <a:ext cx="10607040" cy="4480560"/>
          </a:xfrm>
          <a:prstGeom prst="roundRect">
            <a:avLst>
              <a:gd name="adj" fmla="val 1429"/>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5" name="Image 0" descr="panel_confmat.png">    </p:cNvPr>
          <p:cNvPicPr>
            <a:picLocks noChangeAspect="1"/>
          </p:cNvPicPr>
          <p:nvPr/>
        </p:nvPicPr>
        <p:blipFill>
          <a:blip r:embed="rId1"/>
          <a:srcRect l="0" r="0" t="0" b="0"/>
          <a:stretch/>
        </p:blipFill>
        <p:spPr>
          <a:xfrm>
            <a:off x="685800" y="1828800"/>
            <a:ext cx="10241280" cy="4160520"/>
          </a:xfrm>
          <a:prstGeom prst="rect">
            <a:avLst/>
          </a:prstGeom>
        </p:spPr>
      </p:pic>
      <p:sp>
        <p:nvSpPr>
          <p:cNvPr id="6" name="Text 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7"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Confusion Matrix Deep Dive: Three Error Patterns</a:t>
            </a:r>
            <a:endParaRPr lang="en-US" sz="3000" dirty="0"/>
          </a:p>
        </p:txBody>
      </p:sp>
      <p:sp>
        <p:nvSpPr>
          <p:cNvPr id="4" name="Shape 2"/>
          <p:cNvSpPr/>
          <p:nvPr/>
        </p:nvSpPr>
        <p:spPr>
          <a:xfrm>
            <a:off x="502920" y="18288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chartline_00B4D8.png">    </p:cNvPr>
          <p:cNvPicPr>
            <a:picLocks noChangeAspect="1"/>
          </p:cNvPicPr>
          <p:nvPr/>
        </p:nvPicPr>
        <p:blipFill>
          <a:blip r:embed="rId1"/>
          <a:stretch>
            <a:fillRect/>
          </a:stretch>
        </p:blipFill>
        <p:spPr>
          <a:xfrm>
            <a:off x="576986" y="1902866"/>
            <a:ext cx="400507" cy="400507"/>
          </a:xfrm>
          <a:prstGeom prst="rect">
            <a:avLst/>
          </a:prstGeom>
        </p:spPr>
      </p:pic>
      <p:sp>
        <p:nvSpPr>
          <p:cNvPr id="6" name="Text 3"/>
          <p:cNvSpPr/>
          <p:nvPr/>
        </p:nvSpPr>
        <p:spPr>
          <a:xfrm>
            <a:off x="1234440" y="18013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1. Drift blends into Normal</a:t>
            </a:r>
            <a:endParaRPr lang="en-US" sz="1350" dirty="0"/>
          </a:p>
        </p:txBody>
      </p:sp>
      <p:sp>
        <p:nvSpPr>
          <p:cNvPr id="7" name="Text 4"/>
          <p:cNvSpPr/>
          <p:nvPr/>
        </p:nvSpPr>
        <p:spPr>
          <a:xfrm>
            <a:off x="1234440" y="21579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RC_drift -&gt; RC_normal (6/10), RC_LADDER_drift -&gt; RC_LADDER_normal (7/10), SALLEN_KEY_drift -&gt; SALLEN_KEY_normal (7/11). Expected: drift is defined as a point on the same continuum as normal.</a:t>
            </a:r>
            <a:endParaRPr lang="en-US" sz="1100" dirty="0"/>
          </a:p>
        </p:txBody>
      </p:sp>
      <p:sp>
        <p:nvSpPr>
          <p:cNvPr id="8" name="Shape 5"/>
          <p:cNvSpPr/>
          <p:nvPr/>
        </p:nvSpPr>
        <p:spPr>
          <a:xfrm>
            <a:off x="502920" y="32004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random_00B4D8.png">    </p:cNvPr>
          <p:cNvPicPr>
            <a:picLocks noChangeAspect="1"/>
          </p:cNvPicPr>
          <p:nvPr/>
        </p:nvPicPr>
        <p:blipFill>
          <a:blip r:embed="rId2"/>
          <a:stretch>
            <a:fillRect/>
          </a:stretch>
        </p:blipFill>
        <p:spPr>
          <a:xfrm>
            <a:off x="576986" y="3274466"/>
            <a:ext cx="400507" cy="400507"/>
          </a:xfrm>
          <a:prstGeom prst="rect">
            <a:avLst/>
          </a:prstGeom>
        </p:spPr>
      </p:pic>
      <p:sp>
        <p:nvSpPr>
          <p:cNvPr id="10" name="Text 6"/>
          <p:cNvSpPr/>
          <p:nvPr/>
        </p:nvSpPr>
        <p:spPr>
          <a:xfrm>
            <a:off x="1234440" y="31729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2. Same fault, wrong circuit (same family)</a:t>
            </a:r>
            <a:endParaRPr lang="en-US" sz="1350" dirty="0"/>
          </a:p>
        </p:txBody>
      </p:sp>
      <p:sp>
        <p:nvSpPr>
          <p:cNvPr id="11" name="Text 7"/>
          <p:cNvSpPr/>
          <p:nvPr/>
        </p:nvSpPr>
        <p:spPr>
          <a:xfrm>
            <a:off x="1234440" y="35295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RC_LADDER_short -&gt; RC_short (9/10). Two different passive RC-family circuits produce a nearly identical "instant charge to 5V" waveform when shorted — the model can tell the fault type but not reliably which circuit it's in.</a:t>
            </a:r>
            <a:endParaRPr lang="en-US" sz="1100" dirty="0"/>
          </a:p>
        </p:txBody>
      </p:sp>
      <p:sp>
        <p:nvSpPr>
          <p:cNvPr id="12" name="Shape 8"/>
          <p:cNvSpPr/>
          <p:nvPr/>
        </p:nvSpPr>
        <p:spPr>
          <a:xfrm>
            <a:off x="502920" y="45720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warn_00B4D8.png">    </p:cNvPr>
          <p:cNvPicPr>
            <a:picLocks noChangeAspect="1"/>
          </p:cNvPicPr>
          <p:nvPr/>
        </p:nvPicPr>
        <p:blipFill>
          <a:blip r:embed="rId3"/>
          <a:stretch>
            <a:fillRect/>
          </a:stretch>
        </p:blipFill>
        <p:spPr>
          <a:xfrm>
            <a:off x="576986" y="4646066"/>
            <a:ext cx="400507" cy="400507"/>
          </a:xfrm>
          <a:prstGeom prst="rect">
            <a:avLst/>
          </a:prstGeom>
        </p:spPr>
      </p:pic>
      <p:sp>
        <p:nvSpPr>
          <p:cNvPr id="14" name="Text 9"/>
          <p:cNvSpPr/>
          <p:nvPr/>
        </p:nvSpPr>
        <p:spPr>
          <a:xfrm>
            <a:off x="1234440" y="45445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3. A limit the topology rule can't reach</a:t>
            </a:r>
            <a:endParaRPr lang="en-US" sz="1350" dirty="0"/>
          </a:p>
        </p:txBody>
      </p:sp>
      <p:sp>
        <p:nvSpPr>
          <p:cNvPr id="15" name="Text 10"/>
          <p:cNvSpPr/>
          <p:nvPr/>
        </p:nvSpPr>
        <p:spPr>
          <a:xfrm>
            <a:off x="1234440" y="49011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RC_open -&gt; RLC_open (7/10) survives even after correction, because RLC_open is a valid label for an RLC sample — the rule can't know the true circuit is RC without being told, and both faults produce a similarly flat, non-charging output.</a:t>
            </a:r>
            <a:endParaRPr lang="en-US" sz="1100" dirty="0"/>
          </a:p>
        </p:txBody>
      </p:sp>
      <p:sp>
        <p:nvSpPr>
          <p:cNvPr id="16"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Precision vs. Recall: What the Numbers Really Mean</a:t>
            </a:r>
            <a:endParaRPr lang="en-US" sz="3000" dirty="0"/>
          </a:p>
        </p:txBody>
      </p:sp>
      <p:sp>
        <p:nvSpPr>
          <p:cNvPr id="4" name="Shape 2"/>
          <p:cNvSpPr/>
          <p:nvPr/>
        </p:nvSpPr>
        <p:spPr>
          <a:xfrm>
            <a:off x="502920" y="1828800"/>
            <a:ext cx="5166360" cy="4023360"/>
          </a:xfrm>
          <a:prstGeom prst="roundRect">
            <a:avLst>
              <a:gd name="adj" fmla="val 204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Text 3"/>
          <p:cNvSpPr/>
          <p:nvPr/>
        </p:nvSpPr>
        <p:spPr>
          <a:xfrm>
            <a:off x="777240" y="2057400"/>
            <a:ext cx="461772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RC_LADDER_short</a:t>
            </a:r>
            <a:endParaRPr lang="en-US" sz="1600" dirty="0"/>
          </a:p>
        </p:txBody>
      </p:sp>
      <p:sp>
        <p:nvSpPr>
          <p:cNvPr id="6" name="Text 4"/>
          <p:cNvSpPr/>
          <p:nvPr/>
        </p:nvSpPr>
        <p:spPr>
          <a:xfrm>
            <a:off x="777240" y="2514600"/>
            <a:ext cx="4617720" cy="365760"/>
          </a:xfrm>
          <a:prstGeom prst="rect">
            <a:avLst/>
          </a:prstGeom>
          <a:noFill/>
          <a:ln/>
        </p:spPr>
        <p:txBody>
          <a:bodyPr wrap="square" lIns="0" tIns="0" rIns="0" bIns="0" rtlCol="0" anchor="ctr"/>
          <a:lstStyle/>
          <a:p>
            <a:pPr indent="0" marL="0">
              <a:buNone/>
            </a:pPr>
            <a:r>
              <a:rPr lang="en-US" sz="1300" b="1" dirty="0">
                <a:solidFill>
                  <a:srgbClr val="5EAE7A"/>
                </a:solidFill>
                <a:latin typeface="Calibri" pitchFamily="34" charset="0"/>
                <a:ea typeface="Calibri" pitchFamily="34" charset="-122"/>
                <a:cs typeface="Calibri" pitchFamily="34" charset="-120"/>
              </a:rPr>
              <a:t>Precision = 1.000</a:t>
            </a:r>
            <a:pPr indent="0" marL="0">
              <a:buNone/>
            </a:pPr>
            <a:r>
              <a:rPr lang="en-US" sz="1300" b="1" dirty="0">
                <a:solidFill>
                  <a:srgbClr val="D9695F"/>
                </a:solidFill>
                <a:latin typeface="Calibri" pitchFamily="34" charset="0"/>
                <a:ea typeface="Calibri" pitchFamily="34" charset="-122"/>
                <a:cs typeface="Calibri" pitchFamily="34" charset="-120"/>
              </a:rPr>
              <a:t>   Recall = 0.100</a:t>
            </a:r>
            <a:endParaRPr lang="en-US" sz="1300" dirty="0"/>
          </a:p>
        </p:txBody>
      </p:sp>
      <p:sp>
        <p:nvSpPr>
          <p:cNvPr id="7" name="Text 5"/>
          <p:cNvSpPr/>
          <p:nvPr/>
        </p:nvSpPr>
        <p:spPr>
          <a:xfrm>
            <a:off x="777240" y="3017520"/>
            <a:ext cx="4617720" cy="26517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Every time the model predicts RC_LADDER_short, it's right (precision = 1.0) — but it only catches 1 of every 10 true instances (recall = 0.1), missing the rest by calling them RC_short instead. The model isn't wrong so much as overly cautious about this specific label.</a:t>
            </a:r>
            <a:endParaRPr lang="en-US" sz="1150" dirty="0"/>
          </a:p>
        </p:txBody>
      </p:sp>
      <p:sp>
        <p:nvSpPr>
          <p:cNvPr id="8" name="Shape 6"/>
          <p:cNvSpPr/>
          <p:nvPr/>
        </p:nvSpPr>
        <p:spPr>
          <a:xfrm>
            <a:off x="6126480" y="1828800"/>
            <a:ext cx="5166360" cy="4023360"/>
          </a:xfrm>
          <a:prstGeom prst="roundRect">
            <a:avLst>
              <a:gd name="adj" fmla="val 2045"/>
            </a:avLst>
          </a:prstGeom>
          <a:solidFill>
            <a:srgbClr val="0B1F3A"/>
          </a:solidFill>
          <a:ln/>
          <a:effectLst>
            <a:outerShdw sx="100000" sy="100000" kx="0" ky="0" algn="bl" rotWithShape="0" blurRad="114300" dist="38100" dir="2700000">
              <a:srgbClr val="0B1F3A">
                <a:alpha val="14000"/>
              </a:srgbClr>
            </a:outerShdw>
          </a:effectLst>
        </p:spPr>
      </p:sp>
      <p:sp>
        <p:nvSpPr>
          <p:cNvPr id="9" name="Text 7"/>
          <p:cNvSpPr/>
          <p:nvPr/>
        </p:nvSpPr>
        <p:spPr>
          <a:xfrm>
            <a:off x="6400800" y="2057400"/>
            <a:ext cx="461772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Why this distinction matters</a:t>
            </a:r>
            <a:endParaRPr lang="en-US" sz="1600" dirty="0"/>
          </a:p>
        </p:txBody>
      </p:sp>
      <p:sp>
        <p:nvSpPr>
          <p:cNvPr id="10" name="Text 8"/>
          <p:cNvSpPr/>
          <p:nvPr/>
        </p:nvSpPr>
        <p:spPr>
          <a:xfrm>
            <a:off x="6400800" y="2514600"/>
            <a:ext cx="4617720" cy="3108960"/>
          </a:xfrm>
          <a:prstGeom prst="rect">
            <a:avLst/>
          </a:prstGeom>
          <a:noFill/>
          <a:ln/>
        </p:spPr>
        <p:txBody>
          <a:bodyPr wrap="square" lIns="0" tIns="0" rIns="0" bIns="0" rtlCol="0" anchor="ctr"/>
          <a:lstStyle/>
          <a:p>
            <a:pPr indent="0" marL="0">
              <a:lnSpc>
                <a:spcPct val="130000"/>
              </a:lnSpc>
              <a:buNone/>
            </a:pPr>
            <a:r>
              <a:rPr lang="en-US" sz="1150" dirty="0">
                <a:solidFill>
                  <a:srgbClr val="E7ECF4"/>
                </a:solidFill>
                <a:latin typeface="Calibri" pitchFamily="34" charset="0"/>
                <a:ea typeface="Calibri" pitchFamily="34" charset="-122"/>
                <a:cs typeface="Calibri" pitchFamily="34" charset="-120"/>
              </a:rPr>
              <a:t>A single accuracy number (78.43%) hides this. </a:t>
            </a:r>
            <a:pPr indent="0" marL="0">
              <a:lnSpc>
                <a:spcPct val="130000"/>
              </a:lnSpc>
              <a:buNone/>
            </a:pPr>
            <a:r>
              <a:rPr lang="en-US" sz="1150" dirty="0">
                <a:solidFill>
                  <a:srgbClr val="E7ECF4"/>
                </a:solidFill>
                <a:latin typeface="Calibri" pitchFamily="34" charset="0"/>
                <a:ea typeface="Calibri" pitchFamily="34" charset="-122"/>
                <a:cs typeface="Calibri" pitchFamily="34" charset="-120"/>
              </a:rPr>
              <a:t>F1 combines precision and recall into one score exactly so that a class like this — perfectly precise but rarely triggered — doesn't get miscounted as “working fine.” </a:t>
            </a:r>
            <a:pPr indent="0" marL="0">
              <a:lnSpc>
                <a:spcPct val="130000"/>
              </a:lnSpc>
              <a:buNone/>
            </a:pPr>
            <a:r>
              <a:rPr lang="en-US" sz="1150" b="1" dirty="0">
                <a:solidFill>
                  <a:srgbClr val="FFB703"/>
                </a:solidFill>
                <a:latin typeface="Calibri" pitchFamily="34" charset="0"/>
                <a:ea typeface="Calibri" pitchFamily="34" charset="-122"/>
                <a:cs typeface="Calibri" pitchFamily="34" charset="-120"/>
              </a:rPr>
              <a:t>This is why the Results section leans on F1 and the confusion matrix, not accuracy alone.</a:t>
            </a:r>
            <a:endParaRPr lang="en-US" sz="1150" dirty="0"/>
          </a:p>
        </p:txBody>
      </p:sp>
      <p:sp>
        <p:nvSpPr>
          <p:cNvPr id="11"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2"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8. KEY FINDING &amp; LIMITS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When Higher Accuracy Is the Wrong Answer</a:t>
            </a:r>
            <a:endParaRPr lang="en-US" sz="3000" dirty="0"/>
          </a:p>
        </p:txBody>
      </p:sp>
      <p:sp>
        <p:nvSpPr>
          <p:cNvPr id="11" name="Text 9"/>
          <p:cNvSpPr/>
          <p:nvPr/>
        </p:nvSpPr>
        <p:spPr>
          <a:xfrm>
            <a:off x="502920" y="1874520"/>
            <a:ext cx="8229600" cy="1280160"/>
          </a:xfrm>
          <a:prstGeom prst="rect">
            <a:avLst/>
          </a:prstGeom>
          <a:noFill/>
          <a:ln/>
        </p:spPr>
        <p:txBody>
          <a:bodyPr wrap="square" lIns="0" tIns="0" rIns="0" bIns="0" rtlCol="0" anchor="ctr"/>
          <a:lstStyle/>
          <a:p>
            <a:pPr indent="0" marL="0">
              <a:buNone/>
            </a:pPr>
            <a:r>
              <a:rPr lang="en-US" sz="6800" b="1" dirty="0">
                <a:solidFill>
                  <a:srgbClr val="8B99AF"/>
                </a:solidFill>
                <a:latin typeface="Cambria" pitchFamily="34" charset="0"/>
                <a:ea typeface="Cambria" pitchFamily="34" charset="-122"/>
                <a:cs typeface="Cambria" pitchFamily="34" charset="-120"/>
              </a:rPr>
              <a:t>91%</a:t>
            </a:r>
            <a:pPr indent="0" marL="0">
              <a:buNone/>
            </a:pPr>
            <a:r>
              <a:rPr lang="en-US" sz="4400" b="1" dirty="0">
                <a:solidFill>
                  <a:srgbClr val="5A6B87"/>
                </a:solidFill>
                <a:latin typeface="Cambria" pitchFamily="34" charset="0"/>
                <a:ea typeface="Cambria" pitchFamily="34" charset="-122"/>
                <a:cs typeface="Cambria" pitchFamily="34" charset="-120"/>
              </a:rPr>
              <a:t>  -&gt;  </a:t>
            </a:r>
            <a:pPr indent="0" marL="0">
              <a:buNone/>
            </a:pPr>
            <a:r>
              <a:rPr lang="en-US" sz="6800" b="1" dirty="0">
                <a:solidFill>
                  <a:srgbClr val="FFB703"/>
                </a:solidFill>
                <a:latin typeface="Cambria" pitchFamily="34" charset="0"/>
                <a:ea typeface="Cambria" pitchFamily="34" charset="-122"/>
                <a:cs typeface="Cambria" pitchFamily="34" charset="-120"/>
              </a:rPr>
              <a:t>76%</a:t>
            </a:r>
            <a:endParaRPr lang="en-US" sz="6800" dirty="0"/>
          </a:p>
        </p:txBody>
      </p:sp>
      <p:sp>
        <p:nvSpPr>
          <p:cNvPr id="12" name="Text 10"/>
          <p:cNvSpPr/>
          <p:nvPr/>
        </p:nvSpPr>
        <p:spPr>
          <a:xfrm>
            <a:off x="502920" y="3017520"/>
            <a:ext cx="8229600" cy="365760"/>
          </a:xfrm>
          <a:prstGeom prst="rect">
            <a:avLst/>
          </a:prstGeom>
          <a:noFill/>
          <a:ln/>
        </p:spPr>
        <p:txBody>
          <a:bodyPr wrap="square" lIns="0" tIns="0" rIns="0" bIns="0" rtlCol="0" anchor="ctr"/>
          <a:lstStyle/>
          <a:p>
            <a:pPr indent="0" marL="0">
              <a:buNone/>
            </a:pPr>
            <a:r>
              <a:rPr lang="en-US" sz="1300" i="1" dirty="0">
                <a:solidFill>
                  <a:srgbClr val="9FB1C8"/>
                </a:solidFill>
                <a:latin typeface="Calibri" pitchFamily="34" charset="0"/>
                <a:ea typeface="Calibri" pitchFamily="34" charset="-122"/>
                <a:cs typeface="Calibri" pitchFamily="34" charset="-120"/>
              </a:rPr>
              <a:t>reported accuracy, before vs. after removing synthetic data augmentation</a:t>
            </a:r>
            <a:endParaRPr lang="en-US" sz="1300" dirty="0"/>
          </a:p>
        </p:txBody>
      </p:sp>
      <p:sp>
        <p:nvSpPr>
          <p:cNvPr id="13" name="Text 11"/>
          <p:cNvSpPr/>
          <p:nvPr/>
        </p:nvSpPr>
        <p:spPr>
          <a:xfrm>
            <a:off x="502920" y="3611880"/>
            <a:ext cx="7863840" cy="2468880"/>
          </a:xfrm>
          <a:prstGeom prst="rect">
            <a:avLst/>
          </a:prstGeom>
          <a:noFill/>
          <a:ln/>
        </p:spPr>
        <p:txBody>
          <a:bodyPr wrap="square" lIns="0" tIns="0" rIns="0" bIns="0" rtlCol="0" anchor="ctr"/>
          <a:lstStyle/>
          <a:p>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An earlier version of this pipeline trained on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Python-augmented synthetic data</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 and reported 91% accuracy. Replacing it with pure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physics-based LTspice sweep data</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 — real simulation variation, no synthetic shortcuts — dropped accuracy to ~76%.
</a:t>
            </a:r>
            <a:pPr indent="0" marL="0">
              <a:lnSpc>
                <a:spcPct val="135000"/>
              </a:lnSpc>
              <a:buNone/>
            </a:pPr>
            <a:r>
              <a:rPr lang="en-US" sz="1400" i="1" dirty="0">
                <a:solidFill>
                  <a:srgbClr val="FFB703"/>
                </a:solidFill>
                <a:latin typeface="Calibri" pitchFamily="34" charset="0"/>
                <a:ea typeface="Calibri" pitchFamily="34" charset="-122"/>
                <a:cs typeface="Calibri" pitchFamily="34" charset="-120"/>
              </a:rPr>
              <a:t>The model hadn't learned circuit fault physics — it had learned to recognise the augmentation transform itself. The lower, honest number is the more trustworthy result.</a:t>
            </a:r>
            <a:endParaRPr lang="en-US" sz="1400" dirty="0"/>
          </a:p>
        </p:txBody>
      </p:sp>
      <p:sp>
        <p:nvSpPr>
          <p:cNvPr id="14" name="Shape 12"/>
          <p:cNvSpPr/>
          <p:nvPr/>
        </p:nvSpPr>
        <p:spPr>
          <a:xfrm>
            <a:off x="9509760" y="3931920"/>
            <a:ext cx="1371600" cy="13716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5" name="Image 0" descr="/sessions/blissful-zealous-babbage/mnt/outputs/ppt/icons/bulb_FFB703.png">    </p:cNvPr>
          <p:cNvPicPr>
            <a:picLocks noChangeAspect="1"/>
          </p:cNvPicPr>
          <p:nvPr/>
        </p:nvPicPr>
        <p:blipFill>
          <a:blip r:embed="rId1"/>
          <a:stretch>
            <a:fillRect/>
          </a:stretch>
        </p:blipFill>
        <p:spPr>
          <a:xfrm>
            <a:off x="969492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8. KEY FINDING &amp; LIMITS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Where the Model Still Struggles</a:t>
            </a:r>
            <a:endParaRPr lang="en-US" sz="3000" dirty="0"/>
          </a:p>
        </p:txBody>
      </p:sp>
      <p:sp>
        <p:nvSpPr>
          <p:cNvPr id="4" name="Shape 2"/>
          <p:cNvSpPr/>
          <p:nvPr/>
        </p:nvSpPr>
        <p:spPr>
          <a:xfrm>
            <a:off x="502920" y="1783080"/>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58952" y="2039112"/>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warn_FFFFFF.png">    </p:cNvPr>
          <p:cNvPicPr>
            <a:picLocks noChangeAspect="1"/>
          </p:cNvPicPr>
          <p:nvPr/>
        </p:nvPicPr>
        <p:blipFill>
          <a:blip r:embed="rId1"/>
          <a:stretch>
            <a:fillRect/>
          </a:stretch>
        </p:blipFill>
        <p:spPr>
          <a:xfrm>
            <a:off x="842894" y="2123054"/>
            <a:ext cx="453908" cy="453908"/>
          </a:xfrm>
          <a:prstGeom prst="rect">
            <a:avLst/>
          </a:prstGeom>
        </p:spPr>
      </p:pic>
      <p:sp>
        <p:nvSpPr>
          <p:cNvPr id="7" name="Text 4"/>
          <p:cNvSpPr/>
          <p:nvPr/>
        </p:nvSpPr>
        <p:spPr>
          <a:xfrm>
            <a:off x="1536192" y="2039112"/>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Small per-class test sets</a:t>
            </a:r>
            <a:endParaRPr lang="en-US" sz="1350" dirty="0"/>
          </a:p>
        </p:txBody>
      </p:sp>
      <p:sp>
        <p:nvSpPr>
          <p:cNvPr id="8" name="Text 5"/>
          <p:cNvSpPr/>
          <p:nvPr/>
        </p:nvSpPr>
        <p:spPr>
          <a:xfrm>
            <a:off x="77724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Only ~10 test samples per class — a couple of misses can swing an F1 score sharply (e.g. RC_LADDER_short F1 = 0.18).</a:t>
            </a:r>
            <a:endParaRPr lang="en-US" sz="1050" dirty="0"/>
          </a:p>
        </p:txBody>
      </p:sp>
      <p:sp>
        <p:nvSpPr>
          <p:cNvPr id="9" name="Shape 6"/>
          <p:cNvSpPr/>
          <p:nvPr/>
        </p:nvSpPr>
        <p:spPr>
          <a:xfrm>
            <a:off x="6126480" y="1783080"/>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382512" y="2039112"/>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random_FFFFFF.png">    </p:cNvPr>
          <p:cNvPicPr>
            <a:picLocks noChangeAspect="1"/>
          </p:cNvPicPr>
          <p:nvPr/>
        </p:nvPicPr>
        <p:blipFill>
          <a:blip r:embed="rId2"/>
          <a:stretch>
            <a:fillRect/>
          </a:stretch>
        </p:blipFill>
        <p:spPr>
          <a:xfrm>
            <a:off x="6466454" y="2123054"/>
            <a:ext cx="453908" cy="453908"/>
          </a:xfrm>
          <a:prstGeom prst="rect">
            <a:avLst/>
          </a:prstGeom>
        </p:spPr>
      </p:pic>
      <p:sp>
        <p:nvSpPr>
          <p:cNvPr id="12" name="Text 8"/>
          <p:cNvSpPr/>
          <p:nvPr/>
        </p:nvSpPr>
        <p:spPr>
          <a:xfrm>
            <a:off x="7159752" y="2039112"/>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Drift is the hardest fault everywhere</a:t>
            </a:r>
            <a:endParaRPr lang="en-US" sz="1350" dirty="0"/>
          </a:p>
        </p:txBody>
      </p:sp>
      <p:sp>
        <p:nvSpPr>
          <p:cNvPr id="13" name="Text 9"/>
          <p:cNvSpPr/>
          <p:nvPr/>
        </p:nvSpPr>
        <p:spPr>
          <a:xfrm>
            <a:off x="640080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Across every circuit, drift is the fault type most often confused with normal — it's inherently a point on a continuum, not a discrete change.</a:t>
            </a:r>
            <a:endParaRPr lang="en-US" sz="1050" dirty="0"/>
          </a:p>
        </p:txBody>
      </p:sp>
      <p:sp>
        <p:nvSpPr>
          <p:cNvPr id="14" name="Shape 10"/>
          <p:cNvSpPr/>
          <p:nvPr/>
        </p:nvSpPr>
        <p:spPr>
          <a:xfrm>
            <a:off x="502920" y="3675888"/>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758952" y="3931920"/>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sitemap_FFFFFF.png">    </p:cNvPr>
          <p:cNvPicPr>
            <a:picLocks noChangeAspect="1"/>
          </p:cNvPicPr>
          <p:nvPr/>
        </p:nvPicPr>
        <p:blipFill>
          <a:blip r:embed="rId3"/>
          <a:stretch>
            <a:fillRect/>
          </a:stretch>
        </p:blipFill>
        <p:spPr>
          <a:xfrm>
            <a:off x="842894" y="4015862"/>
            <a:ext cx="453908" cy="453908"/>
          </a:xfrm>
          <a:prstGeom prst="rect">
            <a:avLst/>
          </a:prstGeom>
        </p:spPr>
      </p:pic>
      <p:sp>
        <p:nvSpPr>
          <p:cNvPr id="17" name="Text 12"/>
          <p:cNvSpPr/>
          <p:nvPr/>
        </p:nvSpPr>
        <p:spPr>
          <a:xfrm>
            <a:off x="1536192" y="3931920"/>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Limited topology scope</a:t>
            </a:r>
            <a:endParaRPr lang="en-US" sz="1350" dirty="0"/>
          </a:p>
        </p:txBody>
      </p:sp>
      <p:sp>
        <p:nvSpPr>
          <p:cNvPr id="18" name="Text 13"/>
          <p:cNvSpPr/>
          <p:nvPr/>
        </p:nvSpPr>
        <p:spPr>
          <a:xfrm>
            <a:off x="77724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Only 4 topologies and 5 fault types studied so far — real analog designs are far more diverse.</a:t>
            </a:r>
            <a:endParaRPr lang="en-US" sz="1050" dirty="0"/>
          </a:p>
        </p:txBody>
      </p:sp>
      <p:sp>
        <p:nvSpPr>
          <p:cNvPr id="19" name="Shape 14"/>
          <p:cNvSpPr/>
          <p:nvPr/>
        </p:nvSpPr>
        <p:spPr>
          <a:xfrm>
            <a:off x="6126480" y="3675888"/>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6382512" y="3931920"/>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flask_FFFFFF.png">    </p:cNvPr>
          <p:cNvPicPr>
            <a:picLocks noChangeAspect="1"/>
          </p:cNvPicPr>
          <p:nvPr/>
        </p:nvPicPr>
        <p:blipFill>
          <a:blip r:embed="rId4"/>
          <a:stretch>
            <a:fillRect/>
          </a:stretch>
        </p:blipFill>
        <p:spPr>
          <a:xfrm>
            <a:off x="6466454" y="4015862"/>
            <a:ext cx="453908" cy="453908"/>
          </a:xfrm>
          <a:prstGeom prst="rect">
            <a:avLst/>
          </a:prstGeom>
        </p:spPr>
      </p:pic>
      <p:sp>
        <p:nvSpPr>
          <p:cNvPr id="22" name="Text 16"/>
          <p:cNvSpPr/>
          <p:nvPr/>
        </p:nvSpPr>
        <p:spPr>
          <a:xfrm>
            <a:off x="7159752" y="3931920"/>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Simulation-only validation</a:t>
            </a:r>
            <a:endParaRPr lang="en-US" sz="1350" dirty="0"/>
          </a:p>
        </p:txBody>
      </p:sp>
      <p:sp>
        <p:nvSpPr>
          <p:cNvPr id="23" name="Text 17"/>
          <p:cNvSpPr/>
          <p:nvPr/>
        </p:nvSpPr>
        <p:spPr>
          <a:xfrm>
            <a:off x="640080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Entirely LTspice-based — no real hardware fault injection has been performed yet, so the simulation-to-reality gap is untested.</a:t>
            </a:r>
            <a:endParaRPr lang="en-US" sz="1050" dirty="0"/>
          </a:p>
        </p:txBody>
      </p:sp>
      <p:sp>
        <p:nvSpPr>
          <p:cNvPr id="24" name="Shape 18"/>
          <p:cNvSpPr/>
          <p:nvPr/>
        </p:nvSpPr>
        <p:spPr>
          <a:xfrm>
            <a:off x="502920" y="5779008"/>
            <a:ext cx="10607040" cy="621792"/>
          </a:xfrm>
          <a:prstGeom prst="roundRect">
            <a:avLst>
              <a:gd name="adj" fmla="val 11765"/>
            </a:avLst>
          </a:prstGeom>
          <a:solidFill>
            <a:srgbClr val="0B1F3A"/>
          </a:solidFill>
          <a:ln/>
          <a:effectLst>
            <a:outerShdw sx="100000" sy="100000" kx="0" ky="0" algn="bl" rotWithShape="0" blurRad="114300" dist="38100" dir="2700000">
              <a:srgbClr val="0B1F3A">
                <a:alpha val="14000"/>
              </a:srgbClr>
            </a:outerShdw>
          </a:effectLst>
        </p:spPr>
      </p:sp>
      <p:sp>
        <p:nvSpPr>
          <p:cNvPr id="25" name="Text 19"/>
          <p:cNvSpPr/>
          <p:nvPr/>
        </p:nvSpPr>
        <p:spPr>
          <a:xfrm>
            <a:off x="777240" y="5779008"/>
            <a:ext cx="10058400" cy="621792"/>
          </a:xfrm>
          <a:prstGeom prst="rect">
            <a:avLst/>
          </a:prstGeom>
          <a:noFill/>
          <a:ln/>
        </p:spPr>
        <p:txBody>
          <a:bodyPr wrap="square" lIns="0" tIns="0" rIns="0" bIns="0" rtlCol="0" anchor="ctr"/>
          <a:lstStyle/>
          <a:p>
            <a:pPr indent="0" marL="0">
              <a:lnSpc>
                <a:spcPct val="115000"/>
              </a:lnSpc>
              <a:buNone/>
            </a:pPr>
            <a:r>
              <a:rPr lang="en-US" sz="1000" b="1" dirty="0">
                <a:solidFill>
                  <a:srgbClr val="FFB703"/>
                </a:solidFill>
                <a:latin typeface="Calibri" pitchFamily="34" charset="0"/>
                <a:ea typeface="Calibri" pitchFamily="34" charset="-122"/>
                <a:cs typeface="Calibri" pitchFamily="34" charset="-120"/>
              </a:rPr>
              <a:t>How uncertain is 78.43%, really?  </a:t>
            </a:r>
            <a:pPr indent="0" marL="0">
              <a:lnSpc>
                <a:spcPct val="115000"/>
              </a:lnSpc>
              <a:buNone/>
            </a:pPr>
            <a:r>
              <a:rPr lang="en-US" sz="1000" dirty="0">
                <a:solidFill>
                  <a:srgbClr val="E7ECF4"/>
                </a:solidFill>
                <a:latin typeface="Calibri" pitchFamily="34" charset="0"/>
                <a:ea typeface="Calibri" pitchFamily="34" charset="-122"/>
                <a:cs typeface="Calibri" pitchFamily="34" charset="-120"/>
              </a:rPr>
              <a:t>A 30-run replication (Results, Section 7) measured </a:t>
            </a:r>
            <a:pPr indent="0" marL="0">
              <a:lnSpc>
                <a:spcPct val="115000"/>
              </a:lnSpc>
              <a:buNone/>
            </a:pPr>
            <a:r>
              <a:rPr lang="en-US" sz="1000" b="1" dirty="0">
                <a:solidFill>
                  <a:srgbClr val="FFFFFF"/>
                </a:solidFill>
                <a:latin typeface="Calibri" pitchFamily="34" charset="0"/>
                <a:ea typeface="Calibri" pitchFamily="34" charset="-122"/>
                <a:cs typeface="Calibri" pitchFamily="34" charset="-120"/>
              </a:rPr>
              <a:t>80.5% ± 3.1 points</a:t>
            </a:r>
            <a:pPr indent="0" marL="0">
              <a:lnSpc>
                <a:spcPct val="115000"/>
              </a:lnSpc>
              <a:buNone/>
            </a:pPr>
            <a:r>
              <a:rPr lang="en-US" sz="1000" dirty="0">
                <a:solidFill>
                  <a:srgbClr val="E7ECF4"/>
                </a:solidFill>
                <a:latin typeface="Calibri" pitchFamily="34" charset="0"/>
                <a:ea typeface="Calibri" pitchFamily="34" charset="-122"/>
                <a:cs typeface="Calibri" pitchFamily="34" charset="-120"/>
              </a:rPr>
              <a:t> across random splits, range 72.6%-84.8% — the reported 78.43% sits comfortably inside that spread, not cherry-picked.</a:t>
            </a:r>
            <a:endParaRPr lang="en-US" sz="1000" dirty="0"/>
          </a:p>
        </p:txBody>
      </p:sp>
      <p:sp>
        <p:nvSpPr>
          <p:cNvPr id="26"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7"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Try It Yourself: Live Web App</a:t>
            </a:r>
            <a:endParaRPr lang="en-US" sz="3000" dirty="0"/>
          </a:p>
        </p:txBody>
      </p:sp>
      <p:sp>
        <p:nvSpPr>
          <p:cNvPr id="4" name="Shape 2"/>
          <p:cNvSpPr/>
          <p:nvPr/>
        </p:nvSpPr>
        <p:spPr>
          <a:xfrm>
            <a:off x="502920" y="1783080"/>
            <a:ext cx="6035040" cy="4251960"/>
          </a:xfrm>
          <a:prstGeom prst="roundRect">
            <a:avLst>
              <a:gd name="adj" fmla="val 1505"/>
            </a:avLst>
          </a:prstGeom>
          <a:solidFill>
            <a:srgbClr val="EAEEF4"/>
          </a:solidFill>
          <a:ln w="15875">
            <a:solidFill>
              <a:srgbClr val="9FB1C8"/>
            </a:solidFill>
            <a:prstDash val="dash"/>
          </a:ln>
        </p:spPr>
      </p:sp>
      <p:pic>
        <p:nvPicPr>
          <p:cNvPr id="5" name="Image 0" descr="/sessions/blissful-zealous-babbage/mnt/outputs/ppt/icons/laptop_64748B.png">    </p:cNvPr>
          <p:cNvPicPr>
            <a:picLocks noChangeAspect="1"/>
          </p:cNvPicPr>
          <p:nvPr/>
        </p:nvPicPr>
        <p:blipFill>
          <a:blip r:embed="rId1"/>
          <a:stretch>
            <a:fillRect/>
          </a:stretch>
        </p:blipFill>
        <p:spPr>
          <a:xfrm>
            <a:off x="3236976" y="2520086"/>
            <a:ext cx="566928" cy="566928"/>
          </a:xfrm>
          <a:prstGeom prst="rect">
            <a:avLst/>
          </a:prstGeom>
        </p:spPr>
      </p:pic>
      <p:sp>
        <p:nvSpPr>
          <p:cNvPr id="6" name="Text 3"/>
          <p:cNvSpPr/>
          <p:nvPr/>
        </p:nvSpPr>
        <p:spPr>
          <a:xfrm>
            <a:off x="685800" y="3001975"/>
            <a:ext cx="56692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APP SCREENSHOT</a:t>
            </a:r>
            <a:endParaRPr lang="en-US" sz="1300" dirty="0"/>
          </a:p>
        </p:txBody>
      </p:sp>
      <p:sp>
        <p:nvSpPr>
          <p:cNvPr id="7" name="Text 4"/>
          <p:cNvSpPr/>
          <p:nvPr/>
        </p:nvSpPr>
        <p:spPr>
          <a:xfrm>
            <a:off x="777240" y="3349447"/>
            <a:ext cx="5486400" cy="1360627"/>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screenshot of the Streamlit</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dashboard / prediction tab</a:t>
            </a:r>
            <a:endParaRPr lang="en-US" sz="1050" dirty="0"/>
          </a:p>
        </p:txBody>
      </p:sp>
      <p:sp>
        <p:nvSpPr>
          <p:cNvPr id="8" name="Shape 5"/>
          <p:cNvSpPr/>
          <p:nvPr/>
        </p:nvSpPr>
        <p:spPr>
          <a:xfrm>
            <a:off x="6903720" y="18288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chartbar_00B4D8.png">    </p:cNvPr>
          <p:cNvPicPr>
            <a:picLocks noChangeAspect="1"/>
          </p:cNvPicPr>
          <p:nvPr/>
        </p:nvPicPr>
        <p:blipFill>
          <a:blip r:embed="rId2"/>
          <a:stretch>
            <a:fillRect/>
          </a:stretch>
        </p:blipFill>
        <p:spPr>
          <a:xfrm>
            <a:off x="6977786" y="1902866"/>
            <a:ext cx="400507" cy="400507"/>
          </a:xfrm>
          <a:prstGeom prst="rect">
            <a:avLst/>
          </a:prstGeom>
        </p:spPr>
      </p:pic>
      <p:sp>
        <p:nvSpPr>
          <p:cNvPr id="10" name="Text 6"/>
          <p:cNvSpPr/>
          <p:nvPr/>
        </p:nvSpPr>
        <p:spPr>
          <a:xfrm>
            <a:off x="7635240" y="1810512"/>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Dashboard</a:t>
            </a:r>
            <a:endParaRPr lang="en-US" sz="1400" dirty="0"/>
          </a:p>
        </p:txBody>
      </p:sp>
      <p:sp>
        <p:nvSpPr>
          <p:cNvPr id="11" name="Text 7"/>
          <p:cNvSpPr/>
          <p:nvPr/>
        </p:nvSpPr>
        <p:spPr>
          <a:xfrm>
            <a:off x="7635240" y="2176272"/>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All results — kernel comparison, per-circuit accuracy, confusion matrix — in one view.</a:t>
            </a:r>
            <a:endParaRPr lang="en-US" sz="1050" dirty="0"/>
          </a:p>
        </p:txBody>
      </p:sp>
      <p:sp>
        <p:nvSpPr>
          <p:cNvPr id="12" name="Shape 8"/>
          <p:cNvSpPr/>
          <p:nvPr/>
        </p:nvSpPr>
        <p:spPr>
          <a:xfrm>
            <a:off x="6903720" y="3127248"/>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search_00B4D8.png">    </p:cNvPr>
          <p:cNvPicPr>
            <a:picLocks noChangeAspect="1"/>
          </p:cNvPicPr>
          <p:nvPr/>
        </p:nvPicPr>
        <p:blipFill>
          <a:blip r:embed="rId3"/>
          <a:stretch>
            <a:fillRect/>
          </a:stretch>
        </p:blipFill>
        <p:spPr>
          <a:xfrm>
            <a:off x="6977786" y="3201314"/>
            <a:ext cx="400507" cy="400507"/>
          </a:xfrm>
          <a:prstGeom prst="rect">
            <a:avLst/>
          </a:prstGeom>
        </p:spPr>
      </p:pic>
      <p:sp>
        <p:nvSpPr>
          <p:cNvPr id="14" name="Text 9"/>
          <p:cNvSpPr/>
          <p:nvPr/>
        </p:nvSpPr>
        <p:spPr>
          <a:xfrm>
            <a:off x="7635240" y="3108960"/>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Try Prediction</a:t>
            </a:r>
            <a:endParaRPr lang="en-US" sz="1400" dirty="0"/>
          </a:p>
        </p:txBody>
      </p:sp>
      <p:sp>
        <p:nvSpPr>
          <p:cNvPr id="15" name="Text 10"/>
          <p:cNvSpPr/>
          <p:nvPr/>
        </p:nvSpPr>
        <p:spPr>
          <a:xfrm>
            <a:off x="7635240" y="3474720"/>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Pick a sample or enter feature values manually and get an instant fault classification with confidence scores.</a:t>
            </a:r>
            <a:endParaRPr lang="en-US" sz="1050" dirty="0"/>
          </a:p>
        </p:txBody>
      </p:sp>
      <p:sp>
        <p:nvSpPr>
          <p:cNvPr id="16" name="Shape 11"/>
          <p:cNvSpPr/>
          <p:nvPr/>
        </p:nvSpPr>
        <p:spPr>
          <a:xfrm>
            <a:off x="6903720" y="4425696"/>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database_00B4D8.png">    </p:cNvPr>
          <p:cNvPicPr>
            <a:picLocks noChangeAspect="1"/>
          </p:cNvPicPr>
          <p:nvPr/>
        </p:nvPicPr>
        <p:blipFill>
          <a:blip r:embed="rId4"/>
          <a:stretch>
            <a:fillRect/>
          </a:stretch>
        </p:blipFill>
        <p:spPr>
          <a:xfrm>
            <a:off x="6977786" y="4499762"/>
            <a:ext cx="400507" cy="400507"/>
          </a:xfrm>
          <a:prstGeom prst="rect">
            <a:avLst/>
          </a:prstGeom>
        </p:spPr>
      </p:pic>
      <p:sp>
        <p:nvSpPr>
          <p:cNvPr id="18" name="Text 12"/>
          <p:cNvSpPr/>
          <p:nvPr/>
        </p:nvSpPr>
        <p:spPr>
          <a:xfrm>
            <a:off x="7635240" y="4407408"/>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Dataset</a:t>
            </a:r>
            <a:endParaRPr lang="en-US" sz="1400" dirty="0"/>
          </a:p>
        </p:txBody>
      </p:sp>
      <p:sp>
        <p:nvSpPr>
          <p:cNvPr id="19" name="Text 13"/>
          <p:cNvSpPr/>
          <p:nvPr/>
        </p:nvSpPr>
        <p:spPr>
          <a:xfrm>
            <a:off x="7635240" y="4773168"/>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Browse all 1,019 samples and their 17 extracted features directly in the browser.</a:t>
            </a:r>
            <a:endParaRPr lang="en-US" sz="1050" dirty="0"/>
          </a:p>
        </p:txBody>
      </p:sp>
      <p:sp>
        <p:nvSpPr>
          <p:cNvPr id="20" name="Shape 14"/>
          <p:cNvSpPr/>
          <p:nvPr/>
        </p:nvSpPr>
        <p:spPr>
          <a:xfrm>
            <a:off x="6903720" y="5815584"/>
            <a:ext cx="3931920" cy="566928"/>
          </a:xfrm>
          <a:prstGeom prst="roundRect">
            <a:avLst>
              <a:gd name="adj" fmla="val 50000"/>
            </a:avLst>
          </a:prstGeom>
          <a:solidFill>
            <a:srgbClr val="0B1F3A"/>
          </a:solidFill>
          <a:ln/>
          <a:effectLst>
            <a:outerShdw sx="100000" sy="100000" kx="0" ky="0" algn="bl" rotWithShape="0" blurRad="114300" dist="38100" dir="2700000">
              <a:srgbClr val="0B1F3A">
                <a:alpha val="14000"/>
              </a:srgbClr>
            </a:outerShdw>
          </a:effectLst>
        </p:spPr>
      </p:sp>
      <p:sp>
        <p:nvSpPr>
          <p:cNvPr id="21" name="Text 15">
            <a:hlinkClick r:id="rId5" tooltip=""/>
          </p:cNvPr>
          <p:cNvSpPr/>
          <p:nvPr/>
        </p:nvSpPr>
        <p:spPr>
          <a:xfrm>
            <a:off x="6903720" y="5815584"/>
            <a:ext cx="3931920" cy="566928"/>
          </a:xfrm>
          <a:prstGeom prst="rect">
            <a:avLst/>
          </a:prstGeom>
          <a:noFill/>
          <a:ln/>
        </p:spPr>
        <p:txBody>
          <a:bodyPr wrap="square" lIns="0" tIns="0" rIns="0" bIns="0" rtlCol="0" anchor="ctr"/>
          <a:lstStyle/>
          <a:p>
            <a:pPr algn="ctr" indent="0" marL="0">
              <a:buNone/>
            </a:pPr>
            <a:r>
              <a:rPr lang="en-US" sz="1150" b="1" u="sng" dirty="0">
                <a:solidFill>
                  <a:srgbClr val="00B4D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150" dirty="0"/>
          </a:p>
        </p:txBody>
      </p:sp>
      <p:sp>
        <p:nvSpPr>
          <p:cNvPr id="22"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3"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Tech Stack &amp; Tools</a:t>
            </a:r>
            <a:endParaRPr lang="en-US" sz="3000" dirty="0"/>
          </a:p>
        </p:txBody>
      </p:sp>
      <p:sp>
        <p:nvSpPr>
          <p:cNvPr id="4" name="Shape 2"/>
          <p:cNvSpPr/>
          <p:nvPr/>
        </p:nvSpPr>
        <p:spPr>
          <a:xfrm>
            <a:off x="502920"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435608"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sk_00B4D8.png">    </p:cNvPr>
          <p:cNvPicPr>
            <a:picLocks noChangeAspect="1"/>
          </p:cNvPicPr>
          <p:nvPr/>
        </p:nvPicPr>
        <p:blipFill>
          <a:blip r:embed="rId1"/>
          <a:stretch>
            <a:fillRect/>
          </a:stretch>
        </p:blipFill>
        <p:spPr>
          <a:xfrm>
            <a:off x="1519550" y="2168774"/>
            <a:ext cx="453908" cy="453908"/>
          </a:xfrm>
          <a:prstGeom prst="rect">
            <a:avLst/>
          </a:prstGeom>
        </p:spPr>
      </p:pic>
      <p:sp>
        <p:nvSpPr>
          <p:cNvPr id="7" name="Text 4"/>
          <p:cNvSpPr/>
          <p:nvPr/>
        </p:nvSpPr>
        <p:spPr>
          <a:xfrm>
            <a:off x="640080"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LTspice XVII</a:t>
            </a:r>
            <a:endParaRPr lang="en-US" sz="1250" dirty="0"/>
          </a:p>
        </p:txBody>
      </p:sp>
      <p:sp>
        <p:nvSpPr>
          <p:cNvPr id="8" name="Text 5"/>
          <p:cNvSpPr/>
          <p:nvPr/>
        </p:nvSpPr>
        <p:spPr>
          <a:xfrm>
            <a:off x="640080"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Circuit simulation &amp; parameter sweeps</a:t>
            </a:r>
            <a:endParaRPr lang="en-US" sz="900" dirty="0"/>
          </a:p>
        </p:txBody>
      </p:sp>
      <p:sp>
        <p:nvSpPr>
          <p:cNvPr id="9" name="Shape 6"/>
          <p:cNvSpPr/>
          <p:nvPr/>
        </p:nvSpPr>
        <p:spPr>
          <a:xfrm>
            <a:off x="3209544"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4142232"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code_00B4D8.png">    </p:cNvPr>
          <p:cNvPicPr>
            <a:picLocks noChangeAspect="1"/>
          </p:cNvPicPr>
          <p:nvPr/>
        </p:nvPicPr>
        <p:blipFill>
          <a:blip r:embed="rId2"/>
          <a:stretch>
            <a:fillRect/>
          </a:stretch>
        </p:blipFill>
        <p:spPr>
          <a:xfrm>
            <a:off x="4226174" y="2168774"/>
            <a:ext cx="453908" cy="453908"/>
          </a:xfrm>
          <a:prstGeom prst="rect">
            <a:avLst/>
          </a:prstGeom>
        </p:spPr>
      </p:pic>
      <p:sp>
        <p:nvSpPr>
          <p:cNvPr id="12" name="Text 8"/>
          <p:cNvSpPr/>
          <p:nvPr/>
        </p:nvSpPr>
        <p:spPr>
          <a:xfrm>
            <a:off x="3346704"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Python</a:t>
            </a:r>
            <a:endParaRPr lang="en-US" sz="1250" dirty="0"/>
          </a:p>
        </p:txBody>
      </p:sp>
      <p:sp>
        <p:nvSpPr>
          <p:cNvPr id="13" name="Text 9"/>
          <p:cNvSpPr/>
          <p:nvPr/>
        </p:nvSpPr>
        <p:spPr>
          <a:xfrm>
            <a:off x="3346704"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The glue for the entire pipeline</a:t>
            </a:r>
            <a:endParaRPr lang="en-US" sz="900" dirty="0"/>
          </a:p>
        </p:txBody>
      </p:sp>
      <p:sp>
        <p:nvSpPr>
          <p:cNvPr id="14" name="Shape 10"/>
          <p:cNvSpPr/>
          <p:nvPr/>
        </p:nvSpPr>
        <p:spPr>
          <a:xfrm>
            <a:off x="5916168"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6848856"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database_00B4D8.png">    </p:cNvPr>
          <p:cNvPicPr>
            <a:picLocks noChangeAspect="1"/>
          </p:cNvPicPr>
          <p:nvPr/>
        </p:nvPicPr>
        <p:blipFill>
          <a:blip r:embed="rId3"/>
          <a:stretch>
            <a:fillRect/>
          </a:stretch>
        </p:blipFill>
        <p:spPr>
          <a:xfrm>
            <a:off x="6932798" y="2168774"/>
            <a:ext cx="453908" cy="453908"/>
          </a:xfrm>
          <a:prstGeom prst="rect">
            <a:avLst/>
          </a:prstGeom>
        </p:spPr>
      </p:pic>
      <p:sp>
        <p:nvSpPr>
          <p:cNvPr id="17" name="Text 12"/>
          <p:cNvSpPr/>
          <p:nvPr/>
        </p:nvSpPr>
        <p:spPr>
          <a:xfrm>
            <a:off x="6053328"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pandas / NumPy</a:t>
            </a:r>
            <a:endParaRPr lang="en-US" sz="1250" dirty="0"/>
          </a:p>
        </p:txBody>
      </p:sp>
      <p:sp>
        <p:nvSpPr>
          <p:cNvPr id="18" name="Text 13"/>
          <p:cNvSpPr/>
          <p:nvPr/>
        </p:nvSpPr>
        <p:spPr>
          <a:xfrm>
            <a:off x="6053328"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Data wrangling &amp; numeric computation</a:t>
            </a:r>
            <a:endParaRPr lang="en-US" sz="900" dirty="0"/>
          </a:p>
        </p:txBody>
      </p:sp>
      <p:sp>
        <p:nvSpPr>
          <p:cNvPr id="19" name="Shape 14"/>
          <p:cNvSpPr/>
          <p:nvPr/>
        </p:nvSpPr>
        <p:spPr>
          <a:xfrm>
            <a:off x="8622792"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9555480"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chartline_00B4D8.png">    </p:cNvPr>
          <p:cNvPicPr>
            <a:picLocks noChangeAspect="1"/>
          </p:cNvPicPr>
          <p:nvPr/>
        </p:nvPicPr>
        <p:blipFill>
          <a:blip r:embed="rId4"/>
          <a:stretch>
            <a:fillRect/>
          </a:stretch>
        </p:blipFill>
        <p:spPr>
          <a:xfrm>
            <a:off x="9639422" y="2168774"/>
            <a:ext cx="453908" cy="453908"/>
          </a:xfrm>
          <a:prstGeom prst="rect">
            <a:avLst/>
          </a:prstGeom>
        </p:spPr>
      </p:pic>
      <p:sp>
        <p:nvSpPr>
          <p:cNvPr id="22" name="Text 16"/>
          <p:cNvSpPr/>
          <p:nvPr/>
        </p:nvSpPr>
        <p:spPr>
          <a:xfrm>
            <a:off x="8759952"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SciPy</a:t>
            </a:r>
            <a:endParaRPr lang="en-US" sz="1250" dirty="0"/>
          </a:p>
        </p:txBody>
      </p:sp>
      <p:sp>
        <p:nvSpPr>
          <p:cNvPr id="23" name="Text 17"/>
          <p:cNvSpPr/>
          <p:nvPr/>
        </p:nvSpPr>
        <p:spPr>
          <a:xfrm>
            <a:off x="8759952"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FFT, skewness/kurtosis, interpolation</a:t>
            </a:r>
            <a:endParaRPr lang="en-US" sz="900" dirty="0"/>
          </a:p>
        </p:txBody>
      </p:sp>
      <p:sp>
        <p:nvSpPr>
          <p:cNvPr id="24" name="Shape 18"/>
          <p:cNvSpPr/>
          <p:nvPr/>
        </p:nvSpPr>
        <p:spPr>
          <a:xfrm>
            <a:off x="502920"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1435608"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brain_00B4D8.png">    </p:cNvPr>
          <p:cNvPicPr>
            <a:picLocks noChangeAspect="1"/>
          </p:cNvPicPr>
          <p:nvPr/>
        </p:nvPicPr>
        <p:blipFill>
          <a:blip r:embed="rId5"/>
          <a:stretch>
            <a:fillRect/>
          </a:stretch>
        </p:blipFill>
        <p:spPr>
          <a:xfrm>
            <a:off x="1519550" y="4317614"/>
            <a:ext cx="453908" cy="453908"/>
          </a:xfrm>
          <a:prstGeom prst="rect">
            <a:avLst/>
          </a:prstGeom>
        </p:spPr>
      </p:pic>
      <p:sp>
        <p:nvSpPr>
          <p:cNvPr id="27" name="Text 20"/>
          <p:cNvSpPr/>
          <p:nvPr/>
        </p:nvSpPr>
        <p:spPr>
          <a:xfrm>
            <a:off x="640080"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scikit-learn</a:t>
            </a:r>
            <a:endParaRPr lang="en-US" sz="1250" dirty="0"/>
          </a:p>
        </p:txBody>
      </p:sp>
      <p:sp>
        <p:nvSpPr>
          <p:cNvPr id="28" name="Text 21"/>
          <p:cNvSpPr/>
          <p:nvPr/>
        </p:nvSpPr>
        <p:spPr>
          <a:xfrm>
            <a:off x="640080"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SVM, GridSearchCV, StandardScaler</a:t>
            </a:r>
            <a:endParaRPr lang="en-US" sz="900" dirty="0"/>
          </a:p>
        </p:txBody>
      </p:sp>
      <p:sp>
        <p:nvSpPr>
          <p:cNvPr id="29" name="Shape 22"/>
          <p:cNvSpPr/>
          <p:nvPr/>
        </p:nvSpPr>
        <p:spPr>
          <a:xfrm>
            <a:off x="3209544"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0" name="Shape 23"/>
          <p:cNvSpPr/>
          <p:nvPr/>
        </p:nvSpPr>
        <p:spPr>
          <a:xfrm>
            <a:off x="4142232"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1" name="Image 5" descr="/sessions/blissful-zealous-babbage/mnt/outputs/ppt/icons/chartbar_00B4D8.png">    </p:cNvPr>
          <p:cNvPicPr>
            <a:picLocks noChangeAspect="1"/>
          </p:cNvPicPr>
          <p:nvPr/>
        </p:nvPicPr>
        <p:blipFill>
          <a:blip r:embed="rId6"/>
          <a:stretch>
            <a:fillRect/>
          </a:stretch>
        </p:blipFill>
        <p:spPr>
          <a:xfrm>
            <a:off x="4226174" y="4317614"/>
            <a:ext cx="453908" cy="453908"/>
          </a:xfrm>
          <a:prstGeom prst="rect">
            <a:avLst/>
          </a:prstGeom>
        </p:spPr>
      </p:pic>
      <p:sp>
        <p:nvSpPr>
          <p:cNvPr id="32" name="Text 24"/>
          <p:cNvSpPr/>
          <p:nvPr/>
        </p:nvSpPr>
        <p:spPr>
          <a:xfrm>
            <a:off x="3346704"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Matplotlib / Seaborn</a:t>
            </a:r>
            <a:endParaRPr lang="en-US" sz="1250" dirty="0"/>
          </a:p>
        </p:txBody>
      </p:sp>
      <p:sp>
        <p:nvSpPr>
          <p:cNvPr id="33" name="Text 25"/>
          <p:cNvSpPr/>
          <p:nvPr/>
        </p:nvSpPr>
        <p:spPr>
          <a:xfrm>
            <a:off x="3346704"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Results dashboard &amp; confusion matrix</a:t>
            </a:r>
            <a:endParaRPr lang="en-US" sz="900" dirty="0"/>
          </a:p>
        </p:txBody>
      </p:sp>
      <p:sp>
        <p:nvSpPr>
          <p:cNvPr id="34" name="Shape 26"/>
          <p:cNvSpPr/>
          <p:nvPr/>
        </p:nvSpPr>
        <p:spPr>
          <a:xfrm>
            <a:off x="5916168"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5" name="Shape 27"/>
          <p:cNvSpPr/>
          <p:nvPr/>
        </p:nvSpPr>
        <p:spPr>
          <a:xfrm>
            <a:off x="6848856"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6" name="Image 6" descr="/sessions/blissful-zealous-babbage/mnt/outputs/ppt/icons/laptop_00B4D8.png">    </p:cNvPr>
          <p:cNvPicPr>
            <a:picLocks noChangeAspect="1"/>
          </p:cNvPicPr>
          <p:nvPr/>
        </p:nvPicPr>
        <p:blipFill>
          <a:blip r:embed="rId7"/>
          <a:stretch>
            <a:fillRect/>
          </a:stretch>
        </p:blipFill>
        <p:spPr>
          <a:xfrm>
            <a:off x="6932798" y="4317614"/>
            <a:ext cx="453908" cy="453908"/>
          </a:xfrm>
          <a:prstGeom prst="rect">
            <a:avLst/>
          </a:prstGeom>
        </p:spPr>
      </p:pic>
      <p:sp>
        <p:nvSpPr>
          <p:cNvPr id="37" name="Text 28"/>
          <p:cNvSpPr/>
          <p:nvPr/>
        </p:nvSpPr>
        <p:spPr>
          <a:xfrm>
            <a:off x="6053328"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Streamlit</a:t>
            </a:r>
            <a:endParaRPr lang="en-US" sz="1250" dirty="0"/>
          </a:p>
        </p:txBody>
      </p:sp>
      <p:sp>
        <p:nvSpPr>
          <p:cNvPr id="38" name="Text 29"/>
          <p:cNvSpPr/>
          <p:nvPr/>
        </p:nvSpPr>
        <p:spPr>
          <a:xfrm>
            <a:off x="6053328"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The live interactive web app</a:t>
            </a:r>
            <a:endParaRPr lang="en-US" sz="900" dirty="0"/>
          </a:p>
        </p:txBody>
      </p:sp>
      <p:sp>
        <p:nvSpPr>
          <p:cNvPr id="39" name="Shape 30"/>
          <p:cNvSpPr/>
          <p:nvPr/>
        </p:nvSpPr>
        <p:spPr>
          <a:xfrm>
            <a:off x="8622792"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0" name="Shape 31"/>
          <p:cNvSpPr/>
          <p:nvPr/>
        </p:nvSpPr>
        <p:spPr>
          <a:xfrm>
            <a:off x="9555480"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1" name="Image 7" descr="/sessions/blissful-zealous-babbage/mnt/outputs/ppt/icons/github_00B4D8.png">    </p:cNvPr>
          <p:cNvPicPr>
            <a:picLocks noChangeAspect="1"/>
          </p:cNvPicPr>
          <p:nvPr/>
        </p:nvPicPr>
        <p:blipFill>
          <a:blip r:embed="rId8"/>
          <a:stretch>
            <a:fillRect/>
          </a:stretch>
        </p:blipFill>
        <p:spPr>
          <a:xfrm>
            <a:off x="9639422" y="4317614"/>
            <a:ext cx="453908" cy="453908"/>
          </a:xfrm>
          <a:prstGeom prst="rect">
            <a:avLst/>
          </a:prstGeom>
        </p:spPr>
      </p:pic>
      <p:sp>
        <p:nvSpPr>
          <p:cNvPr id="42" name="Text 32"/>
          <p:cNvSpPr/>
          <p:nvPr/>
        </p:nvSpPr>
        <p:spPr>
          <a:xfrm>
            <a:off x="8759952"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Git</a:t>
            </a:r>
            <a:endParaRPr lang="en-US" sz="1250" dirty="0"/>
          </a:p>
        </p:txBody>
      </p:sp>
      <p:sp>
        <p:nvSpPr>
          <p:cNvPr id="43" name="Text 33"/>
          <p:cNvSpPr/>
          <p:nvPr/>
        </p:nvSpPr>
        <p:spPr>
          <a:xfrm>
            <a:off x="8759952"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Version control across the project</a:t>
            </a:r>
            <a:endParaRPr lang="en-US" sz="900" dirty="0"/>
          </a:p>
        </p:txBody>
      </p:sp>
      <p:sp>
        <p:nvSpPr>
          <p:cNvPr id="44" name="Text 3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5" name="Text 3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Conclusion &amp; What's Next</a:t>
            </a:r>
            <a:endParaRPr lang="en-US" sz="3000" dirty="0"/>
          </a:p>
        </p:txBody>
      </p:sp>
      <p:sp>
        <p:nvSpPr>
          <p:cNvPr id="4" name="Shape 2"/>
          <p:cNvSpPr/>
          <p:nvPr/>
        </p:nvSpPr>
        <p:spPr>
          <a:xfrm>
            <a:off x="502920" y="1828800"/>
            <a:ext cx="5166360" cy="4206240"/>
          </a:xfrm>
          <a:prstGeom prst="roundRect">
            <a:avLst>
              <a:gd name="adj" fmla="val 1957"/>
            </a:avLst>
          </a:prstGeom>
          <a:solidFill>
            <a:srgbClr val="0B1F3A"/>
          </a:solidFill>
          <a:ln/>
          <a:effectLst>
            <a:outerShdw sx="100000" sy="100000" kx="0" ky="0" algn="bl" rotWithShape="0" blurRad="114300" dist="38100" dir="2700000">
              <a:srgbClr val="0B1F3A">
                <a:alpha val="14000"/>
              </a:srgbClr>
            </a:outerShdw>
          </a:effectLst>
        </p:spPr>
      </p:sp>
      <p:sp>
        <p:nvSpPr>
          <p:cNvPr id="5" name="Shape 3"/>
          <p:cNvSpPr/>
          <p:nvPr/>
        </p:nvSpPr>
        <p:spPr>
          <a:xfrm>
            <a:off x="777240" y="2103120"/>
            <a:ext cx="594360" cy="59436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g_0B1F3A.png">    </p:cNvPr>
          <p:cNvPicPr>
            <a:picLocks noChangeAspect="1"/>
          </p:cNvPicPr>
          <p:nvPr/>
        </p:nvPicPr>
        <p:blipFill>
          <a:blip r:embed="rId1"/>
          <a:stretch>
            <a:fillRect/>
          </a:stretch>
        </p:blipFill>
        <p:spPr>
          <a:xfrm>
            <a:off x="857479" y="2183359"/>
            <a:ext cx="433883" cy="433883"/>
          </a:xfrm>
          <a:prstGeom prst="rect">
            <a:avLst/>
          </a:prstGeom>
        </p:spPr>
      </p:pic>
      <p:sp>
        <p:nvSpPr>
          <p:cNvPr id="7" name="Text 4"/>
          <p:cNvSpPr/>
          <p:nvPr/>
        </p:nvSpPr>
        <p:spPr>
          <a:xfrm>
            <a:off x="1508760" y="2176272"/>
            <a:ext cx="38862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We Built</a:t>
            </a:r>
            <a:endParaRPr lang="en-US" sz="1500" dirty="0"/>
          </a:p>
        </p:txBody>
      </p:sp>
      <p:sp>
        <p:nvSpPr>
          <p:cNvPr id="8" name="Text 5"/>
          <p:cNvSpPr/>
          <p:nvPr/>
        </p:nvSpPr>
        <p:spPr>
          <a:xfrm>
            <a:off x="77724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physics-grounded ML pipeline: LTspice sweeps -&gt; 17 engineered features -&gt; tuned SVM.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78.43% accuracy on a genuinely hard 20-class fault problem.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novel topology-aware correction rule that adds real accuracy for free.</a:t>
            </a:r>
            <a:endParaRPr lang="en-US" sz="1200" dirty="0"/>
          </a:p>
          <a:p>
            <a:pPr marL="342900" indent="-342900">
              <a:lnSpc>
                <a:spcPct val="120000"/>
              </a:lnSpc>
              <a:buSzPct val="100000"/>
              <a:buChar char="•"/>
            </a:pPr>
            <a:r>
              <a:rPr lang="en-US" sz="1200" dirty="0">
                <a:solidFill>
                  <a:srgbClr val="E7ECF4"/>
                </a:solidFill>
                <a:latin typeface="Calibri" pitchFamily="34" charset="0"/>
                <a:ea typeface="Calibri" pitchFamily="34" charset="-122"/>
                <a:cs typeface="Calibri" pitchFamily="34" charset="-120"/>
              </a:rPr>
              <a:t>A live, interactive Streamlit demo anyone can try.</a:t>
            </a:r>
            <a:endParaRPr lang="en-US" sz="1200" dirty="0"/>
          </a:p>
        </p:txBody>
      </p:sp>
      <p:sp>
        <p:nvSpPr>
          <p:cNvPr id="9" name="Shape 6"/>
          <p:cNvSpPr/>
          <p:nvPr/>
        </p:nvSpPr>
        <p:spPr>
          <a:xfrm>
            <a:off x="6126480" y="1828800"/>
            <a:ext cx="5166360" cy="4206240"/>
          </a:xfrm>
          <a:prstGeom prst="roundRect">
            <a:avLst>
              <a:gd name="adj" fmla="val 19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rocket_00B4D8.png">    </p:cNvPr>
          <p:cNvPicPr>
            <a:picLocks noChangeAspect="1"/>
          </p:cNvPicPr>
          <p:nvPr/>
        </p:nvPicPr>
        <p:blipFill>
          <a:blip r:embed="rId2"/>
          <a:stretch>
            <a:fillRect/>
          </a:stretch>
        </p:blipFill>
        <p:spPr>
          <a:xfrm>
            <a:off x="6481039" y="2183359"/>
            <a:ext cx="433883" cy="433883"/>
          </a:xfrm>
          <a:prstGeom prst="rect">
            <a:avLst/>
          </a:prstGeom>
        </p:spPr>
      </p:pic>
      <p:sp>
        <p:nvSpPr>
          <p:cNvPr id="12" name="Text 8"/>
          <p:cNvSpPr/>
          <p:nvPr/>
        </p:nvSpPr>
        <p:spPr>
          <a:xfrm>
            <a:off x="7132320" y="2176272"/>
            <a:ext cx="3886200" cy="45720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Where It Goes Next</a:t>
            </a:r>
            <a:endParaRPr lang="en-US" sz="1500" dirty="0"/>
          </a:p>
        </p:txBody>
      </p:sp>
      <p:sp>
        <p:nvSpPr>
          <p:cNvPr id="13" name="Text 9"/>
          <p:cNvSpPr/>
          <p:nvPr/>
        </p:nvSpPr>
        <p:spPr>
          <a:xfrm>
            <a:off x="640080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Collect more sweep samples per class to stabilise the weaker F1 scores.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Compare against a 1D-CNN trained directly on raw waveforms.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Validate against real hardware fault injection, not just simulation.</a:t>
            </a:r>
            <a:endParaRPr lang="en-US" sz="1200" dirty="0"/>
          </a:p>
          <a:p>
            <a:pPr marL="342900" indent="-342900">
              <a:lnSpc>
                <a:spcPct val="120000"/>
              </a:lnSpc>
              <a:buSzPct val="100000"/>
              <a:buChar char="•"/>
            </a:pPr>
            <a:r>
              <a:rPr lang="en-US" sz="1200" dirty="0">
                <a:solidFill>
                  <a:srgbClr val="1E293B"/>
                </a:solidFill>
                <a:latin typeface="Calibri" pitchFamily="34" charset="0"/>
                <a:ea typeface="Calibri" pitchFamily="34" charset="-122"/>
                <a:cs typeface="Calibri" pitchFamily="34" charset="-120"/>
              </a:rPr>
              <a:t>Extend to more topologies — Wien bridge, active high-pass, and beyond.</a:t>
            </a:r>
            <a:endParaRPr lang="en-US" sz="12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14400" y="914400"/>
            <a:ext cx="905256" cy="-502920"/>
          </a:xfrm>
          <a:prstGeom prst="line">
            <a:avLst/>
          </a:prstGeom>
          <a:noFill/>
          <a:ln w="15875">
            <a:solidFill>
              <a:srgbClr val="00B4D8">
                <a:alpha val="70000"/>
              </a:srgbClr>
            </a:solidFill>
            <a:prstDash val="solid"/>
          </a:ln>
        </p:spPr>
      </p:sp>
      <p:sp>
        <p:nvSpPr>
          <p:cNvPr id="3" name="Shape 1"/>
          <p:cNvSpPr/>
          <p:nvPr/>
        </p:nvSpPr>
        <p:spPr>
          <a:xfrm>
            <a:off x="1819656" y="411480"/>
            <a:ext cx="0" cy="1106424"/>
          </a:xfrm>
          <a:prstGeom prst="line">
            <a:avLst/>
          </a:prstGeom>
          <a:noFill/>
          <a:ln w="15875">
            <a:solidFill>
              <a:srgbClr val="00B4D8">
                <a:alpha val="70000"/>
              </a:srgbClr>
            </a:solidFill>
            <a:prstDash val="solid"/>
          </a:ln>
        </p:spPr>
      </p:sp>
      <p:sp>
        <p:nvSpPr>
          <p:cNvPr id="4" name="Shape 2"/>
          <p:cNvSpPr/>
          <p:nvPr/>
        </p:nvSpPr>
        <p:spPr>
          <a:xfrm>
            <a:off x="1819656" y="1517904"/>
            <a:ext cx="804672" cy="-502920"/>
          </a:xfrm>
          <a:prstGeom prst="line">
            <a:avLst/>
          </a:prstGeom>
          <a:noFill/>
          <a:ln w="15875">
            <a:solidFill>
              <a:srgbClr val="00B4D8">
                <a:alpha val="70000"/>
              </a:srgbClr>
            </a:solidFill>
            <a:prstDash val="solid"/>
          </a:ln>
        </p:spPr>
      </p:sp>
      <p:sp>
        <p:nvSpPr>
          <p:cNvPr id="5" name="Shape 3"/>
          <p:cNvSpPr/>
          <p:nvPr/>
        </p:nvSpPr>
        <p:spPr>
          <a:xfrm>
            <a:off x="869137" y="869137"/>
            <a:ext cx="90526" cy="90526"/>
          </a:xfrm>
          <a:prstGeom prst="ellipse">
            <a:avLst/>
          </a:prstGeom>
          <a:solidFill>
            <a:srgbClr val="00B4D8"/>
          </a:solidFill>
          <a:ln w="12700">
            <a:solidFill>
              <a:srgbClr val="00B4D8"/>
            </a:solidFill>
            <a:prstDash val="solid"/>
          </a:ln>
        </p:spPr>
      </p:sp>
      <p:sp>
        <p:nvSpPr>
          <p:cNvPr id="6" name="Shape 4"/>
          <p:cNvSpPr/>
          <p:nvPr/>
        </p:nvSpPr>
        <p:spPr>
          <a:xfrm>
            <a:off x="1774393" y="366217"/>
            <a:ext cx="90526" cy="90526"/>
          </a:xfrm>
          <a:prstGeom prst="ellipse">
            <a:avLst/>
          </a:prstGeom>
          <a:solidFill>
            <a:srgbClr val="00B4D8"/>
          </a:solidFill>
          <a:ln w="12700">
            <a:solidFill>
              <a:srgbClr val="00B4D8"/>
            </a:solidFill>
            <a:prstDash val="solid"/>
          </a:ln>
        </p:spPr>
      </p:sp>
      <p:sp>
        <p:nvSpPr>
          <p:cNvPr id="7" name="Shape 5"/>
          <p:cNvSpPr/>
          <p:nvPr/>
        </p:nvSpPr>
        <p:spPr>
          <a:xfrm>
            <a:off x="1774393" y="1472641"/>
            <a:ext cx="90526" cy="90526"/>
          </a:xfrm>
          <a:prstGeom prst="ellipse">
            <a:avLst/>
          </a:prstGeom>
          <a:solidFill>
            <a:srgbClr val="00B4D8"/>
          </a:solidFill>
          <a:ln w="12700">
            <a:solidFill>
              <a:srgbClr val="00B4D8"/>
            </a:solidFill>
            <a:prstDash val="solid"/>
          </a:ln>
        </p:spPr>
      </p:sp>
      <p:sp>
        <p:nvSpPr>
          <p:cNvPr id="8" name="Shape 6"/>
          <p:cNvSpPr/>
          <p:nvPr/>
        </p:nvSpPr>
        <p:spPr>
          <a:xfrm>
            <a:off x="2579065" y="969721"/>
            <a:ext cx="90526" cy="90526"/>
          </a:xfrm>
          <a:prstGeom prst="ellipse">
            <a:avLst/>
          </a:prstGeom>
          <a:solidFill>
            <a:srgbClr val="00B4D8"/>
          </a:solidFill>
          <a:ln w="12700">
            <a:solidFill>
              <a:srgbClr val="00B4D8"/>
            </a:solidFill>
            <a:prstDash val="solid"/>
          </a:ln>
        </p:spPr>
      </p:sp>
      <p:sp>
        <p:nvSpPr>
          <p:cNvPr id="9" name="Shape 7"/>
          <p:cNvSpPr/>
          <p:nvPr/>
        </p:nvSpPr>
        <p:spPr>
          <a:xfrm>
            <a:off x="10058400" y="4937760"/>
            <a:ext cx="699516" cy="-388620"/>
          </a:xfrm>
          <a:prstGeom prst="line">
            <a:avLst/>
          </a:prstGeom>
          <a:noFill/>
          <a:ln w="15875">
            <a:solidFill>
              <a:srgbClr val="FFB703">
                <a:alpha val="70000"/>
              </a:srgbClr>
            </a:solidFill>
            <a:prstDash val="solid"/>
          </a:ln>
        </p:spPr>
      </p:sp>
      <p:sp>
        <p:nvSpPr>
          <p:cNvPr id="10" name="Shape 8"/>
          <p:cNvSpPr/>
          <p:nvPr/>
        </p:nvSpPr>
        <p:spPr>
          <a:xfrm>
            <a:off x="10757916" y="4549140"/>
            <a:ext cx="0" cy="854964"/>
          </a:xfrm>
          <a:prstGeom prst="line">
            <a:avLst/>
          </a:prstGeom>
          <a:noFill/>
          <a:ln w="15875">
            <a:solidFill>
              <a:srgbClr val="FFB703">
                <a:alpha val="70000"/>
              </a:srgbClr>
            </a:solidFill>
            <a:prstDash val="solid"/>
          </a:ln>
        </p:spPr>
      </p:sp>
      <p:sp>
        <p:nvSpPr>
          <p:cNvPr id="11" name="Shape 9"/>
          <p:cNvSpPr/>
          <p:nvPr/>
        </p:nvSpPr>
        <p:spPr>
          <a:xfrm>
            <a:off x="10757916" y="5404104"/>
            <a:ext cx="621792" cy="-388620"/>
          </a:xfrm>
          <a:prstGeom prst="line">
            <a:avLst/>
          </a:prstGeom>
          <a:noFill/>
          <a:ln w="15875">
            <a:solidFill>
              <a:srgbClr val="FFB703">
                <a:alpha val="70000"/>
              </a:srgbClr>
            </a:solidFill>
            <a:prstDash val="solid"/>
          </a:ln>
        </p:spPr>
      </p:sp>
      <p:sp>
        <p:nvSpPr>
          <p:cNvPr id="12" name="Shape 10"/>
          <p:cNvSpPr/>
          <p:nvPr/>
        </p:nvSpPr>
        <p:spPr>
          <a:xfrm>
            <a:off x="10023424" y="4902784"/>
            <a:ext cx="69952" cy="69952"/>
          </a:xfrm>
          <a:prstGeom prst="ellipse">
            <a:avLst/>
          </a:prstGeom>
          <a:solidFill>
            <a:srgbClr val="FFB703"/>
          </a:solidFill>
          <a:ln w="12700">
            <a:solidFill>
              <a:srgbClr val="FFB703"/>
            </a:solidFill>
            <a:prstDash val="solid"/>
          </a:ln>
        </p:spPr>
      </p:sp>
      <p:sp>
        <p:nvSpPr>
          <p:cNvPr id="13" name="Shape 11"/>
          <p:cNvSpPr/>
          <p:nvPr/>
        </p:nvSpPr>
        <p:spPr>
          <a:xfrm>
            <a:off x="10722940" y="4514164"/>
            <a:ext cx="69952" cy="69952"/>
          </a:xfrm>
          <a:prstGeom prst="ellipse">
            <a:avLst/>
          </a:prstGeom>
          <a:solidFill>
            <a:srgbClr val="FFB703"/>
          </a:solidFill>
          <a:ln w="12700">
            <a:solidFill>
              <a:srgbClr val="FFB703"/>
            </a:solidFill>
            <a:prstDash val="solid"/>
          </a:ln>
        </p:spPr>
      </p:sp>
      <p:sp>
        <p:nvSpPr>
          <p:cNvPr id="14" name="Shape 12"/>
          <p:cNvSpPr/>
          <p:nvPr/>
        </p:nvSpPr>
        <p:spPr>
          <a:xfrm>
            <a:off x="10722940" y="5369128"/>
            <a:ext cx="69952" cy="69952"/>
          </a:xfrm>
          <a:prstGeom prst="ellipse">
            <a:avLst/>
          </a:prstGeom>
          <a:solidFill>
            <a:srgbClr val="FFB703"/>
          </a:solidFill>
          <a:ln w="12700">
            <a:solidFill>
              <a:srgbClr val="FFB703"/>
            </a:solidFill>
            <a:prstDash val="solid"/>
          </a:ln>
        </p:spPr>
      </p:sp>
      <p:sp>
        <p:nvSpPr>
          <p:cNvPr id="15" name="Shape 13"/>
          <p:cNvSpPr/>
          <p:nvPr/>
        </p:nvSpPr>
        <p:spPr>
          <a:xfrm>
            <a:off x="11344732" y="4980508"/>
            <a:ext cx="69952" cy="69952"/>
          </a:xfrm>
          <a:prstGeom prst="ellipse">
            <a:avLst/>
          </a:prstGeom>
          <a:solidFill>
            <a:srgbClr val="FFB703"/>
          </a:solidFill>
          <a:ln w="12700">
            <a:solidFill>
              <a:srgbClr val="FFB703"/>
            </a:solidFill>
            <a:prstDash val="solid"/>
          </a:ln>
        </p:spPr>
      </p:sp>
      <p:sp>
        <p:nvSpPr>
          <p:cNvPr id="16" name="Text 14"/>
          <p:cNvSpPr/>
          <p:nvPr/>
        </p:nvSpPr>
        <p:spPr>
          <a:xfrm>
            <a:off x="502920" y="1874520"/>
            <a:ext cx="9144000" cy="100584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17" name="Text 15"/>
          <p:cNvSpPr/>
          <p:nvPr/>
        </p:nvSpPr>
        <p:spPr>
          <a:xfrm>
            <a:off x="502920" y="2788920"/>
            <a:ext cx="8229600" cy="457200"/>
          </a:xfrm>
          <a:prstGeom prst="rect">
            <a:avLst/>
          </a:prstGeom>
          <a:noFill/>
          <a:ln/>
        </p:spPr>
        <p:txBody>
          <a:bodyPr wrap="square" lIns="0" tIns="0" rIns="0" bIns="0" rtlCol="0" anchor="ctr"/>
          <a:lstStyle/>
          <a:p>
            <a:pPr indent="0" marL="0">
              <a:buNone/>
            </a:pPr>
            <a:r>
              <a:rPr lang="en-US" sz="1600" i="1" dirty="0">
                <a:solidFill>
                  <a:srgbClr val="C9D6E8"/>
                </a:solidFill>
                <a:latin typeface="Calibri" pitchFamily="34" charset="0"/>
                <a:ea typeface="Calibri" pitchFamily="34" charset="-122"/>
                <a:cs typeface="Calibri" pitchFamily="34" charset="-120"/>
              </a:rPr>
              <a:t>Questions &amp; discussion welcome.</a:t>
            </a:r>
            <a:endParaRPr lang="en-US" sz="1600" dirty="0"/>
          </a:p>
        </p:txBody>
      </p:sp>
      <p:sp>
        <p:nvSpPr>
          <p:cNvPr id="18" name="Shape 16"/>
          <p:cNvSpPr/>
          <p:nvPr/>
        </p:nvSpPr>
        <p:spPr>
          <a:xfrm>
            <a:off x="502920" y="3429000"/>
            <a:ext cx="2743200" cy="0"/>
          </a:xfrm>
          <a:prstGeom prst="line">
            <a:avLst/>
          </a:prstGeom>
          <a:noFill/>
          <a:ln w="25400">
            <a:solidFill>
              <a:srgbClr val="00B4D8"/>
            </a:solidFill>
            <a:prstDash val="solid"/>
          </a:ln>
        </p:spPr>
      </p:sp>
      <p:sp>
        <p:nvSpPr>
          <p:cNvPr id="19" name="Text 17"/>
          <p:cNvSpPr/>
          <p:nvPr/>
        </p:nvSpPr>
        <p:spPr>
          <a:xfrm>
            <a:off x="502920" y="3657600"/>
            <a:ext cx="8229600" cy="1188720"/>
          </a:xfrm>
          <a:prstGeom prst="rect">
            <a:avLst/>
          </a:prstGeom>
          <a:noFill/>
          <a:ln/>
        </p:spPr>
        <p:txBody>
          <a:bodyPr wrap="square" lIns="0" tIns="0" rIns="0" bIns="0" rtlCol="0" anchor="ctr"/>
          <a:lstStyle/>
          <a:p>
            <a:pPr indent="0" marL="0">
              <a:lnSpc>
                <a:spcPct val="140000"/>
              </a:lnSpc>
              <a:buNone/>
            </a:pPr>
            <a:r>
              <a:rPr lang="en-US" sz="1400" b="1" dirty="0">
                <a:solidFill>
                  <a:srgbClr val="FFFFFF"/>
                </a:solidFill>
                <a:latin typeface="Calibri" pitchFamily="34" charset="0"/>
                <a:ea typeface="Calibri" pitchFamily="34" charset="-122"/>
                <a:cs typeface="Calibri" pitchFamily="34" charset="-120"/>
              </a:rPr>
              <a:t>Karan Kaushik</a:t>
            </a:r>
            <a:pPr indent="0" marL="0">
              <a:lnSpc>
                <a:spcPct val="140000"/>
              </a:lnSpc>
              <a:buNone/>
            </a:pPr>
            <a:r>
              <a:rPr lang="en-US" sz="1400" dirty="0">
                <a:solidFill>
                  <a:srgbClr val="9FB1C8"/>
                </a:solidFill>
                <a:latin typeface="Calibri" pitchFamily="34" charset="0"/>
                <a:ea typeface="Calibri" pitchFamily="34" charset="-122"/>
                <a:cs typeface="Calibri" pitchFamily="34" charset="-120"/>
              </a:rPr>
              <a:t>   |   B.Tech ECE, NIT Silchar
</a:t>
            </a:r>
            <a:pPr indent="0" marL="0">
              <a:lnSpc>
                <a:spcPct val="140000"/>
              </a:lnSpc>
              <a:buNone/>
            </a:pPr>
            <a:r>
              <a:rPr lang="en-US" sz="1400" dirty="0">
                <a:solidFill>
                  <a:srgbClr val="9FB1C8"/>
                </a:solidFill>
                <a:latin typeface="Calibri" pitchFamily="34" charset="0"/>
                <a:ea typeface="Calibri" pitchFamily="34" charset="-122"/>
                <a:cs typeface="Calibri" pitchFamily="34" charset="-120"/>
              </a:rPr>
              <a:t>Guided by Dr. Anish Kumar Saha
</a:t>
            </a:r>
            <a:pPr indent="0" marL="0">
              <a:lnSpc>
                <a:spcPct val="140000"/>
              </a:lnSpc>
              <a:buNone/>
            </a:pPr>
            <a:r>
              <a:rPr lang="en-US" sz="1400" i="1" dirty="0">
                <a:solidFill>
                  <a:srgbClr val="6B7A94"/>
                </a:solidFill>
                <a:latin typeface="Calibri" pitchFamily="34" charset="0"/>
                <a:ea typeface="Calibri" pitchFamily="34" charset="-122"/>
                <a:cs typeface="Calibri" pitchFamily="34" charset="-120"/>
              </a:rPr>
              <a:t>SN Bose Summer Internship 2026, NIT Silchar</a:t>
            </a:r>
            <a:endParaRPr lang="en-US" sz="1400" dirty="0"/>
          </a:p>
        </p:txBody>
      </p:sp>
      <p:sp>
        <p:nvSpPr>
          <p:cNvPr id="20" name="Shape 18"/>
          <p:cNvSpPr/>
          <p:nvPr/>
        </p:nvSpPr>
        <p:spPr>
          <a:xfrm>
            <a:off x="502920" y="5120640"/>
            <a:ext cx="457200" cy="4572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21" name="Image 0" descr="/sessions/blissful-zealous-babbage/mnt/outputs/ppt/icons/envelope_00B4D8.png">    </p:cNvPr>
          <p:cNvPicPr>
            <a:picLocks noChangeAspect="1"/>
          </p:cNvPicPr>
          <p:nvPr/>
        </p:nvPicPr>
        <p:blipFill>
          <a:blip r:embed="rId1"/>
          <a:stretch>
            <a:fillRect/>
          </a:stretch>
        </p:blipFill>
        <p:spPr>
          <a:xfrm>
            <a:off x="564642" y="5182362"/>
            <a:ext cx="333756" cy="333756"/>
          </a:xfrm>
          <a:prstGeom prst="rect">
            <a:avLst/>
          </a:prstGeom>
        </p:spPr>
      </p:pic>
      <p:sp>
        <p:nvSpPr>
          <p:cNvPr id="22" name="Text 19"/>
          <p:cNvSpPr/>
          <p:nvPr/>
        </p:nvSpPr>
        <p:spPr>
          <a:xfrm>
            <a:off x="1097280" y="5120640"/>
            <a:ext cx="411480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karankaushik01234@gmail.com</a:t>
            </a:r>
            <a:endParaRPr lang="en-US" sz="1250" dirty="0"/>
          </a:p>
        </p:txBody>
      </p:sp>
      <p:sp>
        <p:nvSpPr>
          <p:cNvPr id="23" name="Shape 20"/>
          <p:cNvSpPr/>
          <p:nvPr/>
        </p:nvSpPr>
        <p:spPr>
          <a:xfrm>
            <a:off x="502920" y="5715000"/>
            <a:ext cx="457200" cy="4572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24" name="Image 1" descr="/sessions/blissful-zealous-babbage/mnt/outputs/ppt/icons/laptop_00B4D8.png">    </p:cNvPr>
          <p:cNvPicPr>
            <a:picLocks noChangeAspect="1"/>
          </p:cNvPicPr>
          <p:nvPr/>
        </p:nvPicPr>
        <p:blipFill>
          <a:blip r:embed="rId2"/>
          <a:stretch>
            <a:fillRect/>
          </a:stretch>
        </p:blipFill>
        <p:spPr>
          <a:xfrm>
            <a:off x="564642" y="5776722"/>
            <a:ext cx="333756" cy="333756"/>
          </a:xfrm>
          <a:prstGeom prst="rect">
            <a:avLst/>
          </a:prstGeom>
        </p:spPr>
      </p:pic>
      <p:sp>
        <p:nvSpPr>
          <p:cNvPr id="25" name="Text 21">
            <a:hlinkClick r:id="rId3" tooltip=""/>
          </p:cNvPr>
          <p:cNvSpPr/>
          <p:nvPr/>
        </p:nvSpPr>
        <p:spPr>
          <a:xfrm>
            <a:off x="1097280" y="5715000"/>
            <a:ext cx="5486400" cy="457200"/>
          </a:xfrm>
          <a:prstGeom prst="rect">
            <a:avLst/>
          </a:prstGeom>
          <a:noFill/>
          <a:ln/>
        </p:spPr>
        <p:txBody>
          <a:bodyPr wrap="square" lIns="0" tIns="0" rIns="0" bIns="0" rtlCol="0" anchor="ctr"/>
          <a:lstStyle/>
          <a:p>
            <a:pPr indent="0" marL="0">
              <a:buNone/>
            </a:pPr>
            <a:r>
              <a:rPr lang="en-US" sz="1250" u="sng" dirty="0">
                <a:solidFill>
                  <a:srgbClr val="00B4D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2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CODE APPENDIX</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Reference: The Project's Source Code</a:t>
            </a:r>
            <a:endParaRPr lang="en-US" sz="3000" dirty="0"/>
          </a:p>
        </p:txBody>
      </p:sp>
      <p:sp>
        <p:nvSpPr>
          <p:cNvPr id="11" name="Text 9"/>
          <p:cNvSpPr/>
          <p:nvPr/>
        </p:nvSpPr>
        <p:spPr>
          <a:xfrm>
            <a:off x="502920" y="1828800"/>
            <a:ext cx="9509760" cy="2011680"/>
          </a:xfrm>
          <a:prstGeom prst="rect">
            <a:avLst/>
          </a:prstGeom>
          <a:noFill/>
          <a:ln/>
        </p:spPr>
        <p:txBody>
          <a:bodyPr wrap="square" lIns="0" tIns="0" rIns="0" bIns="0" rtlCol="0" anchor="ctr"/>
          <a:lstStyle/>
          <a:p>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The following slides show the actual Python source files behind every step of this pipeline, presented in the same order the project was built — from raw LTspice parsing through to the deployed web app.
</a:t>
            </a:r>
            <a:pPr indent="0" marL="0">
              <a:lnSpc>
                <a:spcPct val="135000"/>
              </a:lnSpc>
              <a:buNone/>
            </a:pPr>
            <a:r>
              <a:rPr lang="en-US" sz="1400" b="1" dirty="0">
                <a:solidFill>
                  <a:srgbClr val="FFB703"/>
                </a:solidFill>
                <a:latin typeface="Calibri" pitchFamily="34" charset="0"/>
                <a:ea typeface="Calibri" pitchFamily="34" charset="-122"/>
                <a:cs typeface="Calibri" pitchFamily="34" charset="-120"/>
              </a:rPr>
              <a:t>These are not meant to be walked through line by line during the talk. </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They are here purely as backup reference material, in case a reviewer wants to see exactly how a particular step was implemented. Comments are preserved exactly as written in the code.</a:t>
            </a:r>
            <a:endParaRPr lang="en-US" sz="1400" dirty="0"/>
          </a:p>
        </p:txBody>
      </p:sp>
      <p:sp>
        <p:nvSpPr>
          <p:cNvPr id="12" name="Shape 10"/>
          <p:cNvSpPr/>
          <p:nvPr/>
        </p:nvSpPr>
        <p:spPr>
          <a:xfrm>
            <a:off x="9692640" y="4114800"/>
            <a:ext cx="1280160" cy="128016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3" name="Image 0" descr="/sessions/blissful-zealous-babbage/mnt/outputs/ppt/icons/code_FFB703.png">    </p:cNvPr>
          <p:cNvPicPr>
            <a:picLocks noChangeAspect="1"/>
          </p:cNvPicPr>
          <p:nvPr/>
        </p:nvPicPr>
        <p:blipFill>
          <a:blip r:embed="rId1"/>
          <a:stretch>
            <a:fillRect/>
          </a:stretch>
        </p:blipFill>
        <p:spPr>
          <a:xfrm>
            <a:off x="9865462" y="4287622"/>
            <a:ext cx="934517" cy="934517"/>
          </a:xfrm>
          <a:prstGeom prst="rect">
            <a:avLst/>
          </a:prstGeom>
        </p:spPr>
      </p:pic>
      <p:sp>
        <p:nvSpPr>
          <p:cNvPr id="14"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day12_build_sweep_dataset.py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Reads exported .step sweep files, splits them into individual runs, resamples each to 200 points -&gt; master_dataset_sweep.csv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day12_build_sweep_dataset.py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Rebuilds the master dataset from REAL LTspice parameter sweeps.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scipy.interpolate import interp1d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Bose\Sweeps"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T_END  = {"RC": 0.095, "RLC": 0.095, "RC_LADDER": 0.095, "SALLEN_KEY": 0.020}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FAULTS = ["normal", "drift", "open", "short"]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File finder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find_sweep_file(folder, circuit, 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stems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f"{circuit.lower()}_{fault}_sweep",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f"{circuit}_{fault}_sweep",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f"Sallen_key_{fault}_sweep",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f"sallen_key_{fault}_sweep",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exts = [".txt",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s in stems: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e in exts: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 = os.path.join(folder, s + 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os.path.isfile(p) and os.path.getsize(p) &gt; 10_000: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None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Parser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parse_step_file(fpath):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 cur_t, cur_v, cur_p, prev_t = [], [], [], None, None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def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nonlocal cur_t, cur_v, cur_p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len(cur_t) &gt; 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runs.append((cur_p, np.array(cur_t, dtype=float),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np.array(cur_v, dtype=float)))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cur_t, cur_v =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with open(fpath, "r", errors="ignore") as fh: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raw in fh: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 = raw.strip()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not 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 = line.lower()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lo.startswith("step information"):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float(line.split("=")[1].split()[0].rstrip(",)"))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except Exception: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np.nan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prev_t =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lo.startswith("time") or lo.startswith("step"):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parts = line.replace("\t", " ").replace(",", " ").split()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len(parts) &lt; 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 v = float(parts[0]), float(parts[1])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except ValueError: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prev_t is not None and t &lt; prev_t - 1e-12: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cur_t.append(t); cur_v.append(v); prev_t = 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runs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Resample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resample(t, v, t_end, n=N_PTS):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 = np.linspace(0.0,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 = np.clip(grid, t.min(), t.max())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interp1d(t, v, kind="linear",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bounds_error=False,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fill_value=(v[0], v[-1]))(grid)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Build dataset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rows, sid = [],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cdir = os.path.join(BASE,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fault in FAULTS: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fpath = find_sweep_file(cdir, circ, 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fpath is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print(f"[MISSING] {circ}/{fault} — no file found in {cdir}")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print(f"[reading] {circ}/{fault}: {os.path.basename(fpath)}"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  ({os.path.getsize(fpath)//1024} KB)")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 = parse_step_file(fpath)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-&gt; {len(runs)} runs parsed")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pval, t, v in runs: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wave = resample(t, v, T_END[circ])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{"sample_id": sid,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fault, "param_value": pval}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row.update({f"v{i}": wave[i]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rows.append(row); sid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pd.DataFrame(rows)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 = os.path.join(os.path.dirname(BASE),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df.to_csv(out, index=False)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print(f"\n{'='*50}")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{len(df)} samples  -&gt;  {out}")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print(f"Columns: {len(df.columns)}")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print(f"\nSamples per class:")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print(df.groupby(["circuit", "fault"]).size().to_string())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Noise-Fault Samples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day12b_generate_noise_samples.py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Adds seeded Gaussian noise (SNR = 25 dB) onto NORMAL waveforms to create the fifth fault class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day12b_generate_noise_samples.py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Generates noise-fault samples per circuit by injecting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Gaussian noise onto the NORMAL sweep waveforms.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 is physically justified: real circuit noise is stochastic,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not a deterministic component shift.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SNR_DB   = 25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SEED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rng = np.random.default_rng(SEED)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existing dataset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wave_cols = [f"v{i}"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next_id   = df["sample_id"].max()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noise_rows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normals      = df[(df["circuit"] == circ) &amp; (df["fault"] == "normal")]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n_noise      = len(normals)          # match exactly — 51 per circuit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Noise-Fault Samples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day12b_generate_noise_samples.py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normal_waves = normals[wave_cols].values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i in range(n_noise):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base        = normal_waves[i % len(normal_waves)]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sig_power   = np.mean(base ** 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noise_power = sig_power / (10 ** (SNR_DB / 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noise_std   = np.sqrt(noise_power)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noisy       = base + rng.normal(0, noise_std, size=N_PTS)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   next_id,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"noise",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"param_value": SNR_DB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row.update({f"v{i}": noisy[i]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noise_rows.append(row)</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next_id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print(f"{circ}/noise: {n_noise} samples generated at {SNR_DB} dB SNR")</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Append and save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df_noise  = pd.DataFrame(noise_rows)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df_final  = pd.concat([df, df_noise], ignore_index=True)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df_final.to_csv(out, index=False)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print(f"\nFinal dataset: {len(df_final)} samples")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print(df_final.groupby(["circuit", "fault"]).size().to_string())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day13_v2.py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Turns each 200-point waveform into the 17 time-, frequency-domain and structural features -&gt; features_v2.csv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day13_feature_extraction_v2.py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Extracts 17 features (16 original + f17_dc_level) from every waveform.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f17_dc_level = mean of last 20 points — directly separates RC_open (near 0V)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from RC_short (near 5V), fixing the F1=0 failure identified in Day 16.</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scipy.stats import skew, 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scipy.fft import rfft, rfftfreq</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CSV_OUT = os.path.join(BASE,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T_END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"RC":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"RLC":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"RC_LADDER":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"SALLEN_KEY": 0.020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f1_peak_voltage(v):        return float(np.max(v))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f2_rms_value(v):           return float(np.sqrt(np.mean(v**2)))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f3_mean_voltage(v):        return float(np.mean(v))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f4_std_voltage(v):         return float(np.std(v))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f5_rise_time(t, 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 = np.max(v)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peak &lt; 1e-6: return float(t[-1])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idx_lo = np.argmax(v &gt;= 0.1*peak)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idx_hi = np.argmax(v &gt;= 0.9*peak)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idx_hi &lt;= idx_lo: return float(t[-1]-t[0])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float(t[idx_hi]-t[idx_lo])</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f6_settling_time(t, 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final = v[-1]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abs(final) &lt; 1e-6: return float(t[-1])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outside = np.where(np.abs(v-final) &gt; 0.02*abs(final))[0]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len(outside)==0: return float(t[0])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float(t[outside[-1]])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f7_skewness(v):            return float(skew(v))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f8_kurtosis(v):            return float(kurtosis(v))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f9_dominant_freq(v,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mask=(freq&gt;=50)&amp;(freq&lt;=2000)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not np.any(mask): return float(freq[np.argmax(mag)])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float(freq[mask][np.argmax(mag[mask])])</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f10_spectral_energy(v,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mag=np.abs(rfft(v)); return float(np.sum(mag**2))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f11_spectral_centroid(v,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denom=np.sum(mag)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denom&lt;1e-12: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float(np.sum(freq*mag)/denom)</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f12_bandwidth(v,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denom=np.sum(mag)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denom&lt;1e-12: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c=np.sum(freq*mag)/denom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float(np.sqrt(np.sum(((freq-c)**2)*mag)/denom))</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f13_spectral_entropy(v,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mag=np.abs(rfft(v))**2; total=np.sum(mag)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total&lt;1e-12: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p=mag/total; p=p[p&gt;0]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float(-np.sum(p*np.log2(p)))</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f14_energy(v):             return float(np.sum(v**2))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f15_zero_crossing_rate(v):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float(np.sum(np.diff(np.sign(v-np.mean(v)))!=0)/len(v))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f16_crest_factor(v):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rms=np.sqrt(np.mean(v**2))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rms&lt;1e-12: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float(np.max(np.abs(v))/rms)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f17_dc_level(v):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Mean of last 20 points = steady-state DC 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RC_open: near 0V (capacitor never charges in 95ms window)</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RC_short: near 5V (capacitor charges instantly)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This directly separates the two previously confused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float(np.mean(v[-20:]))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df_raw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wave_cols = [f"v{i}"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records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idx, row in df_raw.iterrows():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  = row["circuit"]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t_end = T_END[circ]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v     = row[wave_cols].values.astype(float)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     = np.linspace(0.0, t_end, 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rec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 int(row["sample_id"]),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row["fault"],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  f1_peak_voltage(v),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"f2":  f2_rms_value(v),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"f3":  f3_mean_voltage(v),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"f4":  f4_std_voltage(v),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"f5":  f5_rise_time(t,v),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"f6":  f6_settling_time(t,v),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"f7":  f7_skewness(v),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"f8":  f8_kurtosis(v),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"f9":  f9_dominant_freq(v,t_end,N_PTS),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"f10": f10_spectral_energy(v,t_end,N_PTS),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"f11": f11_spectral_centroid(v,t_end,N_PTS),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"f12": f12_bandwidth(v,t_end,N_PTS),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"f13": f13_spectral_entropy(v,t_end,N_PTS),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"f14": f14_energy(v),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"f15": f15_zero_crossing_rate(v),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"f16": f16_crest_factor(v),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"f17": f17_dc_level(v),
    }
    records.append(rec)
    if (idx+1)%100==0: print(f"  processed {idx+1}/{len(df_raw)}...")
df_feat = pd.DataFrame(records)
df_feat.to_csv(CSV_OUT, index=False)
print(f"\nSaved {len(df_feat)} rows -&gt; {CSV_OUT}")
print(f"Columns: {len(df_feat.columns)} (sample_id + circuit + fault + f1-f17)")
# Quick diagnosis: RC_open vs RC_short on f17
rc_open  = df_feat[(df_feat["circuit"]=="RC")&amp;(df_feat["fault"]=="open")]["f17"].mean()
rc_short = df_feat[(df_feat["circuit"]=="RC")&amp;(df_feat["fault"]=="short")]["f17"].mean()
print(f"\nf17 diagnosis:")
print(f"  RC_open  mean dc_level = {rc_open:.4f} V")
print(f"  RC_short mean dc_level = {rc_short:.4f} V")
print(f"  Separation gap = {abs(rc_open-rc_short):.4f} V")
print(f"  Separable: {'YES' if abs(rc_open-rc_short) &gt; 1.0 else 'MARGINAL'}")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day14_svm_baseline.py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Trains Linear / RBF / Polynomial kernels with near-default settings — the Section 5 baseline numbers come from here</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day14_svm_baseline.py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Honest SVM baseline on real LTspice sweep 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Trains Linear, RBF, and Polynomial SVMs on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and reports per-class and overall performance.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 cross_val_score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confusion_matrix)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OUT_FILE = os.path.join(BASE, "day14_results.txt")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data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print(f"Loaded {len(df)} samples, {len(FEATURE_COLS)} 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print(f"Classes: {sorted(df['fault'].unique())}")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print(f"Circuits: {sorted(df['circuit'].unique())}\n")</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Create combined label: circuit_fault (20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print(f"Total unique labels: {df['label'].nunique()}")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print(df.groupby("label").size().to_string())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Encode and split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print(f"Train: {len(X_train)} samples | Test: {len(X_test)} samples\n")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Scale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Define three kernels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kernels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     SVC(kernel="linear",  C=1.0,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        SVC(kernel="rbf",     C=1.0,  gamma="scale",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 SVC(kernel="poly",    C=1.0,  gamma="scale", degree=3, coef0=1,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 Train, evaluate, report --------------------------------------
results = {}
output_lines = []
def log(line=""):
    print(line)
    output_lines.append(line)
log("=" * 60)
log("DAY 14 —  SVM BASELINE ON REAL SWEPT DATA")
log("=" * 60)
log(f"Dataset : {len(df)} samples | {len(FEATURE_COLS)} features | 20 classes")
log(f"Split   : {int((1-TEST_SIZE)*100)}% train / {int(TEST_SIZE*100)}% test | stratified")
log(f"Scaling : StandardScaler (zero mean, unit variance)")
log()
for name, clf in kernels.items():
    log(f"{'─'*60}")
    log(f"KERNEL: {name}")
    log(f"{'─'*60}")
    # Train
    clf.fit(X_train, y_train)
    # Test accuracy
    y_pred    = clf.predict(X_test)
    test_acc  = accuracy_score(y_test, y_pred)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5-fold cross-validation on full dataset
    cv_scores = cross_val_score(clf, X_train, y_train, cv=5, scoring="accuracy")
    log(f"Test  Accuracy : {test_acc*100:.2f}%")
    log(f"CV    Accuracy : {cv_scores.mean()*100:.2f}% ± {cv_scores.std()*100:.2f}%")
    log()
    # Per-class report
    report = classification_report(
        y_test, y_pred,
        target_names=le.classes_,
        digits=3
    )
    log("Classification Report:")
    log(report)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(1/8)</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day15_gridsearch.py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Exhaustive grid search over C, gamma and degree for each kernel, scored with 5-fold cross-validation</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day15_gridsearch.py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GridSearchCV hyperparameter tuning for Linear, RBF, and Polynomial SVMs.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Finds optimal C, gamma, degree for each kernel.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 set never touched during search — only used for final evaluation.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OUT_FILE = os.path.join(BASE, "day15_results.txt")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CV_FOLDS     = 5</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 14 baseline for comparison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DAY14 = {"Linear": 76.47, "RBF": 70.59, "Polynomial": 74.02}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Search grids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Wide log-scale search for C and gamma</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(2/8)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PARAM_GRIDS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[0.001, 0.01, 0.1, 1, 10, 100, 1000]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[0.1, 1, 10, 100, 1000],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[0.0001, 0.001, 0.01, 0.1, 1, 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[0.1, 1, 10,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[0.001, 0.01, 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"degree": [2, 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"coef0":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and prepare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(3/8)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print(f"Train: {len(X_train)} | Test: {len(X_test)}")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print(f"Search grids:")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k, g in PARAM_GRIDS.items():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 =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v in g.values(): n *= len(v)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{k}: {n} combinations × {CV_FOLDS} folds = {n*CV_FOLDS} fits")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Run GridSearchCV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output_lines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log(line=""):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output_lines.append(line)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log("DAY 15 — GRIDSEARCHCV HYPERPARAMETER TUNING")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log(f"Dataset : 1019 samples | 16 features | 20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log(f"Split   : 80/20 stratified | CV folds: {CV_FOLDS}")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(4/8)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 = {PARAM_GRIDS['Linear']['C']}")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gs_linear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SVC(kernel="linear",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PARAM_GRIDS["Linear"]["C"]},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gs_linear.fit(X_train,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best_linear = gs_linear.best_estimator_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best_linear.predict(X_test)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 = {gs_linear.best_params_['C']}")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{gs_linear.best_score_*100:.2f}%")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DAY14['Linear']):+.2f}%")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tuned_results["Linear"]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gs_linear.best_params_,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gs_linear.best_score_,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(5/8)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 = {PARAM_GRIDS['RBF']['C']},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 = {PARAM_GRIDS['RBF']['gamma']}")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gs_rbf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SVC(kernel="rbf",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PARAM_GRIDS["RBF"]["C"],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PARAM_GRIDS["RBF"]["gamma"]},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gs_rbf.fit(X_train,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best_rbf = gs_rbf.best_estimator_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best_rbf.predict(X_test)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 = {gs_rbf.best_params_['C']},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 = {gs_rbf.best_params_['gamma']}")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{gs_rbf.best_score_*100:.2f}%")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DAY14['RBF']):+.2f}%")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tuned_results["RBF"]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gs_rbf.best_params_,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gs_rbf.best_score_,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(6/8)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Polynomial")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C={PARAM_GRIDS['Polynomial']['C']},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f"gamma={PARAM_GRIDS['Polynomial']['gamma']},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f"degree={PARAM_GRIDS['Polynomial']['degree']}")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gs_poly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SVC(kernel="poly",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PARAM_GRIDS["Polynomial"]["C"],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PARAM_GRIDS["Polynomial"]["gamma"],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"degree": PARAM_GRIDS["Polynomial"]["degree"],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"coef0":  PARAM_GRIDS["Polynomial"]["coef0"]},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gs_poly.fit(X_train,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best_poly = gs_poly.best_estimator_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best_poly.predict(X_test)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C={gs_poly.best_params_['C']},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f"gamma={gs_poly.best_params_['gamma']},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f"degree={gs_poly.best_params_['degree']},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f"coef0={gs_poly.best_params_['coef0']}")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{gs_poly.best_score_*100:.2f}%")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{DAY14['Polynomial']}%)")</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(7/8)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DAY14['Polynomial']):+.2f}%")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tuned_results["Polynomial"]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gs_poly.best_params_,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gs_poly.best_score_,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Final summary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log("FINAL SUMMARY — DEFAULT vs 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log(f"{'Kernel':&lt;14} {'Default':&gt;10} {'Tuned':&gt;10} {'Gain':&gt;10} {'Best Params'}")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log(f"{'─'*14} {'─'*10} {'─'*10} {'─'*10} {'─'*30}")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name, r in tuned_results.items():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gain = r['test_acc']*100 - DAY14[name]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params_str = ", ".join(f"{k}={v}" for k,v in r['best_params'].items())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log(f"{name:&lt;14} {DAY14[name]:&gt;9.2f}%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f"{r['test_acc']*100:&gt;9.2f}%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f"{gain:&gt;+9.2f}%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f"{params_str}")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best_kernel = max(tuned_results, key=lambda k: tuned_results[k]['test_acc'])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overall kernel (tuned): {best_kernel}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(8/8)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f"{tuned_results[best_kernel]['test_acc']*100:.2f}%")
# ---- Save ---------------------------------------------------------
with open(OUT_FILE, "w", encoding="utf-8") as f:
    f.write("\n".join(output_lines))
print(f"\nResults saved -&gt; {OUT_FILE}")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(1/7)</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day16_confusion_analysis.py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Generates the confusion matrix, per-class F1 chart, and the RC_open vs. RC_short / Normal vs. Drift feature diagnosis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day16_confusion_analysis.py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Full confusion matrix analysis and error diagnosis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using the best model from Day 15: RBF C=100, gamma=0.1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matplotlib.use('Agg')                    # non-interactive backend for saving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matplotlib.pyplot as plt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seaborn as sns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confusion_matrix, f1_score)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OUT_DIR  = os.path.join(BASE, "Day16_Analysis")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and prepare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(2/7)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Train best model (RBF tuned)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print("Training best model: RBF C=100, gamma=0.1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clf = SVC(kernel="rbf", C=100, gamma=0.1,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decision_function_shape="ovo",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clf.fit(X_train,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clf.predict(X_test)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print(f"Test accuracy: {test_acc*100:.2f}%\n")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---- 1. Full 20x20 Confusion Matrix heatmap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print("Generating confusion matrix heatmap...")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cm     = confusion_matrix(y_test,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labels = le.classes_</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ax = plt.subplots(figsize=(18, 15))</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(3/7)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sns.heatmap(cm, annot=True, fmt='d', cmap='Blues',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xticklabels=labels, yticklabels=labels,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linewidths=0.5, ax=ax)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ax.set_xlabel("Predicted Label",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ax.set_ylabel("True Label",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ax.set_title(f"Confusion Matrix — RBF SVM (C=100, γ=0.1)\nTest Accuracy: {test_acc*100:.2f}%",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fontsize=14)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plt.xticks(rotation=45, ha='right', fontsize=8)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plt.yticks(rotation=0, fontsize=8)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plt.tight_layout()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path1 = os.path.join(OUT_DIR, "confusion_matrix.png")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plt.savefig(path1, dpi=150, bbox_inches='tight')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plt.close()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{path1}")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---- 2. Per-class F1 bar chart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print("Generating per-class F1 chart...")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f1_scores = f1_score(y_test, y_pred, average=None)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f1_df     = pd.DataFrame({"class": labels, "f1": f1_scores})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f1_df     = f1_df.sort_values("f1", 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colors = ["#d32f2f" if f &lt; 0.5 else "#f57c00" if f &lt; 0.8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 "#388e3c" for f in f1_df["f1"]]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ax = plt.subplots(figsize=(12, 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bars = ax.barh(f1_df["class"], f1_df["f1"], color=colors)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ax.axvline(x=0.5, color='red', linestyle='--', alpha=0.5, label='F1=0.5 threshold')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ax.axvline(x=0.8, color='orange', linestyle='--', alpha=0.5, label='F1=0.8 threshold')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bar, val in zip(bars, f1_df["f1"]):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ax.text(bar.get_width() + 0.01, bar.get_y() + bar.get_height()/2,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(4/7)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f'{val:.3f}', va='center', fontsize=9)</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ax.set_xlabel("F1 Score",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ax.set_title("Per-Class F1 Score — RBF SVM (C=100, γ=0.1)", fontsize=14)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ax.set_xlim(0, 1.15)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ax.legend(fontsize=10)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plt.tight_layout()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path2 = os.path.join(OUT_DIR, "f1_per_class.png")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plt.savefig(path2, dpi=150, bbox_inches='tight')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plt.close()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{path2}")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---- 3. Top confused pairs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print("\nTop 10 most confused class pairs:")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print(f"{'Actual':&lt;25} {'Predicted':&lt;25} {'Count':&gt;6}")</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confused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i in range(len(labels)):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j in range(len(labels)):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i != j and cm[i, j] &gt;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confused.append((labels[i], labels[j], cm[i, j]))</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confused.sort(key=lambda x: -x[2])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actual, predicted, count in confused[:10]: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print(f"{actual:&lt;25} {predicted:&lt;25} {count:&gt;6}")</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---- 4. Per-circuit accuracy breakdown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print("\nPer-circuit accuracy:")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print(f"{'Circuit':&lt;15} {'Accuracy':&gt;10} {'Correct':&gt;8} {'Total':&gt;8}")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45)</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Map test indices back to circuit labels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(5/7)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df_test = df.iloc[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pd.Series(range(len(df))).sample(frac=TEST_SIZE,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random_state=RANDOM_STATE).sort_values().index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y_test_labels   = le.inverse_transform(y_test)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y_pred_labels   = le.inverse_transform(y_pred)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    = np.array([circ + "_" in l for l in y_test_labels])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mask.sum() ==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correct = np.sum(y_test_labels[mask] == y_pred_labels[mask])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total   = mask.sum()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acc     = correct / total *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print(f"{circ:&lt;15} {acc:&gt;9.2f}% {correct:&gt;8} {total:&gt;8}")</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---- 5. RC_open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 RC_open vs RC_short Feature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rc_open  = df[(df["circuit"]=="RC") &amp; (df["fault"]=="open")]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rc_short = df[(df["circuit"]=="RC") &amp; (df["fault"]=="short")]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key_features = ["f1", "f2", "f3", "f4", "f5", "f14"]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feat_names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 "peak_voltage", "f2": "rms_value",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"f3": "mean_voltage", "f4": "std_voltage",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"f5": "rise_time",    "f14": "energy"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print(f"\n{'Feature':&lt;12} {'RC_open mean':&gt;14} {'RC_short mean':&gt;14} {'Separable?':&gt;12}")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93</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(6/7)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f in key_features: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o_mean = rc_open[f].mean()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s_mean = rc_short[f].mean()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gap    = abs(o_mean - s_mean)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sep    = "YES" if gap &gt; 0.5 else "MARGINAL" if gap &gt; 0.1 else "NO"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print(f"{feat_names[f]:&lt;12} {o_mean:&gt;14.4f} {s_mean:&gt;14.4f} {sep:&gt;12}")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---- 6. Normal vs Drift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 Normal vs Drift Feature Diagnosis (all circuits)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normal = df[df["fault"]=="normal"]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drift  = df[df["fault"]=="drift"]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print(f"\n{'Feature':&lt;12} {'Normal mean':&gt;13} {'Drift mean':&gt;13} {'Separable?':&gt;12}")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f in ["f1","f2","f3","f5","f6","f9","f13"]: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n_mean = normal[f].mean()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d_mean = drift[f].mean()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gap    = abs(n_mean - d_mean)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sep    = "YES" if gap &gt; 0.5 else "MARGINAL" if gap &gt; 0.1 else "NO"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print(f"{f:&lt;12} {n_mean:&gt;13.4f} {d_mean:&gt;13.4f} {sep:&gt;12}")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---- 7. Summary report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report =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target_names=labels,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print(f"\nFull Classification Report:\n{report}")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summary = 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DAY 16 ANALYSIS 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 Model    : RBF SVM, C=100, gamma=0.1</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94</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(7/7)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 Accuracy : {test_acc*100:.2f}%</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Perfect classes (F1=1.0):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f==1.0])}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Failed classes (F1=0):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f==0.0])}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Weak classes (F1 &lt; 0.5):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0 &lt; f &lt; 0.5])}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print(summary)</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out_txt = os.path.join(OUT_DIR, "day16_summary.txt")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open(out_txt, "w", encoding="utf-8") as 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f.write("\nFull Classification Report:\n")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f.write("\n\nTop Confused Pairs:\n")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actual, predicted, count in confused[:10]: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f.write(f"{actual} -&gt; {predicted}: {count}\n")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print(f"\nAll outputs saved to: {OUT_DIR}")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print("Files: confusion_matrix.png, f1_per_class.png, day16_summary.txt")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95</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save_model.py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Fits the final tuned RBF model on features_v2.csv and serializes model.pkl / scaler.pkl / label_encoder.pkl</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save_model.py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Trains the final RBF model with topology rule and saves 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as .pkl files for deployment in the Streamlit app.</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joblib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18)]</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Load data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pd.read_csv(os.path.join(BASE,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Encode 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Split (same random_state as before for consistency)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test_size=0.20, random_state=42,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Scale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96</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save_model.py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X_train_scaled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X_test_scaled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 final model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 = SVC(kernel="rbf", C=100, gamma=0.1,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decision_function_shape="ovo", random_state=42, probability=True)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model.fit(X_train_scaled, y_train)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Verify accuracy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acc = accuracy_score(y_test, model.predict(X_test_scaled)) *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print(f"Model accuracy on test set: {acc:.2f}%")</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Save everything needed for deployment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SAVE_DIR = os.path.join(BASE, "deployment")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os.makedirs(SAVE_DIR,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joblib.dump(model, os.path.join(SAVE_DIR, "model.pkl"))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joblib.dump(scaler, os.path.join(SAVE_DIR, "scaler.pkl"))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joblib.dump(le, os.path.join(SAVE_DIR, "label_encoder.pkl"))</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Also save a few sample test rows for the demo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sample_df = df.iloc[X_test.shape[0]*0:5].copy()  # first 5 rows for demo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sample_df.to_csv(os.path.join(SAVE_DIR, "sample_input.csv"), index=False)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print(f"\nSaved to: {SAVE_DIR}")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print("Files: model.pkl, scaler.pkl, label_encoder.pkl, sample_input.csv")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97</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regenerate_dashboard.py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Builds the 6-panel results_dashboard_FINAL.png used throughout the Results section of this deck</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 matplotlib.use('Agg')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matplotlib.pyplot as plt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matplotlib.gridspec as gridspec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seaborn as sns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f1_score, confusion_matrix, classification_report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REPO = r"C:\Users\karan\Desktop\fault-classification-project"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OUT_DIR = os.path.join(REPO, "results")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FEATURE_NAMES =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'rise_time','settling_time','skewness','kurtosis','dominant_freq',</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'spectral_energy','spec_centroid','bandwidth','spec_entropy','energy',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pd.read_csv(os.path.join(REPO, "data",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 X_te, y_tr, y_te = train_test_split(X, y, test_size=0.2, random_state=42,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 = sc.fit_transform(X_tr)</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98</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 = sc.transform(X_te)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labels = list(le.classes_)</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rc_open_idx  = labels.index('RC_open')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rlc_open_idx = labels.index('RLC_open')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test_indices = list(pd.Series(range(len(df))).sample(frac=0.2, random_state=42).sort_values().index)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test_circuits = df.iloc[test_indices]['circuit'].values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apply_topology_rule(pred_array):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 = pred_array.tolist()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i in range(len(pred)):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pred[i] == rlc_open_idx and test_circuits[i] == 'RC':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pred[i] = rc_open_idx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np.array(pred)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print('Training models...')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configs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'Linear\n(default)':  SVC(kernel='linear', C=1.0,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'RBF\n(default)':     SVC(kernel='rbf',    C=1.0, gamma='scale',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'Poly\n(default)':    SVC(kernel='poly',   C=1.0, gamma='scale', degree=3, coef0=1,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'Linear\n(tuned)':    SVC(kernel='linear', C=100,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'RBF\n(tuned)':       SVC(kernel='rbf',    C=100, gamma=0.1,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'Poly\n(tuned)':      SVC(kernel='poly',   C=100, gamma=0.1, degree=3, coef0=1,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accs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name, clf in configs.items():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clf.fit(X_tr, y_tr)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 = apply_topology_rule(clf.predict(X_te))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accs[name] = accuracy_score(y_te, pred)*100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{name.replace(chr(10)," "):&lt;22}: {accs[name]:.2f}%')</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99</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best_clf  = configs['RBF\n(tuned)']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best_pred = apply_topology_rule(best_clf.predict(X_te))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best_acc  = accs['RBF\n(tuned)']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cm        = confusion_matrix(y_te, best_pred)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lin_clf    = configs['Linear\n(tuned)']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importance = np.mean(np.abs(lin_clf.coef_), axis=0)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feat_imp_df = pd.DataFrame({'feature':FEATURE_NAMES,'importance':importance}).sort_values('importance',ascending=True)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y_test_labels = le.inverse_transform(y_te)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y_pred_labels = le.inverse_transform(best_pred)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circuit_accs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['RC','RLC','SALLEN_KEY','RC_LADDER']: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 = np.array([circ+'_' in l for l in y_test_labels])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mask.sum()&gt;0: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circuit_accs[circ] = np.sum(y_test_labels[mask]==y_pred_labels[mask])/mask.sum()*100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print('\nBuilding final dashboard...')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 plt.figure(figsize=(24,20))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fig.patch.set_facecolor('#f8f9fa')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  = gridspec.GridSpec(3,3,figure=fig,hspace=0.45,wspace=0.35)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TK  = dict(fontsize=13,fontweight='bold',pad=10)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C6  = ['#90caf9','#90caf9','#90caf9','#1565c0','#1565c0','#1565c0']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 = fig.add_subplot(gs[0,0])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names=list(accs.keys()); vals=list(accs.values())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bars=ax1.bar(names,vals,color=C6,edgecolor='white',linewidth=0.8,width=0.6)</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ax1.axhline(y=best_acc,color='#d32f2f',linestyle='--',linewidth=1.5,label=f'Best {best_acc:.1f}%')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ax1.set_ylim(60,95); ax1.set_ylabel('Test Accuracy (%)',fontsize=10)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100</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ax1.set_title('Kernel Comparison\nDefault vs Tuned + Topology Rule',**TK)
ax1.legend(fontsize=8)
for bar,val in zip(bars,vals):
    ax1.text(bar.get_x()+bar.get_width()/2,bar.get_height()+0.3,f'{val:.1f}%',ha='center',va='bottom',fontsize=8,fontweight='bold')
ax1.tick_params(axis='x',labelsize=8); ax1.set_facecolor('#ffffff')
ax2 = fig.add_subplot(gs[0,1])
cn=list(circuit_accs.keys()); cv=list(circuit_accs.values())
cc=['#ef9a9a' if v&lt;70 else '#fff176' if v&lt;85 else '#a5d6a7' for v in cv]
bars2=ax2.bar(cn,cv,color=cc,edgecolor='grey',linewidth=0.8,width=0.5)
ax2.set_ylim(0,115); ax2.set_ylabel('Accuracy (%)',fontsize=10)
ax2.set_title('Per-Circuit Accuracy\n(RBF Tuned + Topology Rule)',**TK)
for bar,val in zip(bars2,cv):
    ax2.text(bar.get_x()+bar.get_width()/2,bar.get_height()+1,f'{val:.1f}%',ha='center',va='bottom',fontsize=9,fontweight='bold')
ax2.tick_params(axis='x',labelsize=9); ax2.set_facecolor('#ffffff')
ax3 = fig.add_subplot(gs[0,2])
fc=df.groupby('fault').size()
ax3.pie(fc.values,labels=fc.index,autopct='%1.1f%%',
        colors=['#ef5350','#42a5f5','#66bb6a','#ffa726','#ab47bc'],
        startangle=90,textprops={'fontsize':9})
ax3.set_title(f'Dataset Composition\n({len(df)} total samples)',**TK)
ax4 = fig.add_subplot(gs[1,0])
bc=['#1565c0' if v&gt;=feat_imp_df['importance'].quantile(0.75) else '#90caf9' for v in feat_imp_df['importance']]
ax4.barh(feat_imp_df['feature'],feat_imp_df['importance'],color=bc,edgecolor='white')
ax4.set_xlabel('Mean |Coefficient|',fontsize=10)
ax4.set_title('Feature Importance\n(Linear SVM Weights)',**TK)
ax4.tick_params(axis='y',labelsize=8); ax4.set_facecolor('#ffffff')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101</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ax5 = fig.add_subplot(gs[1,1:])
f1s=f1_score(y_te,best_pred,average=None)
f1_df=pd.DataFrame({'class':labels,'f1':f1s}).sort_values('f1',ascending=True)
f1c=['#d32f2f' if f==0 else '#ef9a9a' if f&lt;0.5 else '#fff176' if f&lt;0.8 else '#a5d6a7' for f in f1_df['f1']]
ax5.barh(f1_df['class'],f1_df['f1'],color=f1c,edgecolor='white',height=0.7)
ax5.axvline(x=0.5,color='orange',linestyle='--',alpha=0.7,linewidth=1.5)
ax5.axvline(x=0.8,color='green',linestyle='--',alpha=0.7,linewidth=1.5)
for i,(_,row) in enumerate(f1_df.iterrows()):
    ax5.text(row['f1']+0.01,i,str(round(row['f1'],2)),va='center',fontsize=8)
ax5.set_xlabel('F1 Score',fontsize=10); ax5.set_xlim(0,1.2)
ax5.set_title('Per-Class F1 — RBF + Topology Rule (Final)',**TK)
ax5.set_facecolor('#ffffff')
ax6 = fig.add_subplot(gs[2,:])
sns.heatmap(cm,annot=True,fmt='d',cmap='Blues',xticklabels=labels,yticklabels=labels,
            linewidths=0.3,ax=ax6,cbar_kws={'shrink':0.8},annot_kws={'size':7})
ax6.set_xlabel('Predicted',fontsize=11); ax6.set_ylabel('Actual',fontsize=11)
ax6.set_title('Confusion Matrix — RBF + Topology Rule | Accuracy: ' + str(round(best_acc,2)) + '%',**TK)
ax6.tick_params(axis='x',labelsize=7,rotation=45)
ax6.tick_params(axis='y',labelsize=7,rotation=0)
# CORRECTED TITLE - SN Bose Summer Internship, NIT Silchar (not Research Centre)
fig.suptitle('Kernel-Based Fault Classification in Analog Circuits\nSN Bose Summer Internship 2026, NIT Silchar — FINAL Results (78.43%, Topology-Aware)',
             fontsize=16,fontweight='bold',y=0.98)
out_path = os.path.join(OUT_DIR,'results_dashboard_FINAL.png')
plt.savefig(out_path,dpi=150,bbox_inches='tight',facecolor=fig.get_facecolor())
plt.close()
print('Dashboard saved -&gt; ' + out_path)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(1/6)</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app.py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The live demo: loads the saved model, applies the topology-aware correction rule, and serves the interactive prediction UI</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streamlit as 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joblib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st.set_page_config(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page_title="Analog Circuit Fault Classifier",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layout="wide"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Header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st.title("Kernel-Based Fault Classification in Analog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**SVM-based fault classifier** trained on real LTspice parameter sweep simulation data.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Classifies faults across **4 circuit topologies** (RC, RLC, Sallen-Key, RC 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and **5 fault types** (Normal, Drift, Open, Short, Noise).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**Final accuracy: 78.43%** on 20-class problem (RBF kernel + topology-aware correction)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model artifacts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@st.cache_resource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load_artifacts():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model  = joblib.load("model/model.pkl")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scaler = joblib.load("model/scaler.pkl")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le     = joblib.load("model/label_encoder.pkl")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model, scaler, le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 scaler, le = load_artifacts()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103</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(2/6)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tab1, tab2, tab3 = st.tabs(["Dashboard", "Try Prediction", "Dataset"])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 1: Dashboard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tab1: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st.header("Results Dashboard")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os.path.exists("results/results_dashboard_FINAL.png"):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st.image("results/results_dashboard_FINAL.png", use_column_width=True)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st.warning("Dashboard image not found")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st.header("Final Results 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col1, col2, col3 = st.columns(3)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col1.metric("Overall Accuracy", "78.43%")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col2.metric("RLC Accuracy",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col3.metric("RC_open F1 (recovered)", "0.462")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Kernel | Default | Tuned + Topology Rule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Linear | 77.94% | 77.45%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RBF    | 71.08% | **78.43%**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Polynomial | 75.49% | 77.94%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 2: Try Prediction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tab2: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st.header("Try a Prediction")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st.write("""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104</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(3/6)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Select a sample from the dataset or enter feature values manually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to see the model's fault classification.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df = pd.read_csv("data/features_v2.csv")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feature_cols = [f"f{i}" for i in range(1, 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feature_names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"dominant_freq","spectral_energy","spec_centroid",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mode = st.radio("Input method:", ["Pick a sample from dataset", "Enter values manually"])</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mode == "Pick a sample from dataset":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sample_idx = st.selectbox(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"Choose a sample (shown as circuit_fault, true 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options=df.index,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format_func=lambda i: f"#{i} — {df.loc[i,'label']}"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df.loc[sample_idx]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true_label = row["label"]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X_input = row[feature_cols].values.reshape(1,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circuit_input = row["circuit"]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st.write(f"**True label:** {true_label}")</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105</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(4/6)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
        st.write("Enter the 17 feature values:")
        cols = st.columns(3)
        values = []
        for i, fname in enumerate(feature_names):
            with cols[i % 3]:
                val = st.number_input(f"{fname} (f{i+1})", value=0.0, format="%.4f")
                values.append(val)
        X_input = np.array(values).reshape(1, -1)
        circuit_input = st.selectbox("Circuit type (for topology rule):",
                                     ["RC", "RLC", "SALLEN_KEY", "RC_LADDER"])
        true_label = None
    if st.button("Predict Fault Type", type="primary"):
        X_scaled = scaler.transform(X_input)
        pred = model.predict(X_scaled)[0]
        pred_label = le.inverse_transform([pred])[0]
        # Apply topology-aware rule
        labels_list = list(le.classes_)
        rlc_open_idx = labels_list.index("RLC_open")
        rc_open_idx  = labels_list.index("RC_open")
        if pred == rlc_open_idx and circuit_input == "RC":
            pred = rc_open_idx
            pred_label = "RC_open"
            st.info("Topology-aware correction applied: RLC_open → RC_open "
                   "(an RC circuit cannot have an RLC-type fault)")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106</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(5/6)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st.success(f"**Predicted:** {pred_label}")
        if true_label is not None:
            if pred_label == true_label:
                st.success("Correct prediction!")
            else:
                st.error(f"Incorrect — true label was {true_label}")
        # Show prediction probabilities
        probs = model.predict_proba(X_scaled)[0]
        prob_df = pd.DataFrame({
            "Class": le.classes_,
            "Probability": probs
        }).sort_values("Probability", ascending=False).head(5)
        st.write("**Top 5 class probabilities:**")
        st.dataframe(prob_df, hide_index=True)
# ===== TAB 3: Dataset =====
with tab3:
    st.header("Dataset Overview")
    df = pd.read_csv("data/features_v2.csv")
    df["label"] = df["circuit"] + "_" + df["fault"]
    st.write(f"**Total samples:** {len(df)}")
    st.write(f"**Classes:** {df['label'].nunique()} (4 circuits × 5 fault types)")
    st.subheader("Samples per class")
    counts = df.groupby(["circuit", "fault"]).size().reset_index(name="count")
    st.dataframe(counts, hide_index=True)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107</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(6/6)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st.subheader("Feature columns (f1-f17)")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feat_table = pd.DataFrame({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 [f"f{i}" for i in range(1,18)],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"Name":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"dominant_freq","spectral_energy","spec_centroid",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st.dataframe(feat_table, hide_index=True)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st.subheader("Raw data sample")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st.dataframe(df.head(10))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Footer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**Project:** SN Bose Summer Internship 2026, NIT Silchar | NIT Silchar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**Methodology:** LTspice parameter sweeps → 17-feature extraction → SVM kernel comparison → GridSearchCV tuning → topology-aware post-processing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110</Slides>
  <Notes>110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110</vt:i4>
      </vt:variant>
    </vt:vector>
  </HeadingPairs>
  <TitlesOfParts>
    <vt:vector size="1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Kernel-Based Fault Classification in Analog Circuits</dc:title>
  <dc:subject>PptxGenJS Presentation</dc:subject>
  <dc:creator>Karan Kaushik</dc:creator>
  <cp:lastModifiedBy>Karan Kaushik</cp:lastModifiedBy>
  <cp:revision>1</cp:revision>
  <dcterms:created xsi:type="dcterms:W3CDTF">2026-07-05T20:40:13Z</dcterms:created>
  <dcterms:modified xsi:type="dcterms:W3CDTF">2026-07-05T20:40:13Z</dcterms:modified>
</cp:coreProperties>
</file>