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charts/chart2.xml" ContentType="application/vnd.openxmlformats-officedocument.drawingml.chart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3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EAE7A"/>
              </a:solidFill>
              <a:effectLst/>
            </c:spPr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bubble3D val="0"/>
            <c:spPr>
              <a:solidFill>
                <a:srgbClr val="0B1F3A"/>
              </a:solidFill>
              <a:effectLst/>
            </c:spPr>
          </c:dPt>
          <c:dPt>
            <c:idx val="3"/>
            <c:bubble3D val="0"/>
            <c:spPr>
              <a:solidFill>
                <a:srgbClr val="D9695F"/>
              </a:solidFill>
              <a:effectLst/>
            </c:spPr>
          </c:dPt>
          <c:dPt>
            <c:idx val="4"/>
            <c:bubble3D val="0"/>
            <c:spPr>
              <a:solidFill>
                <a:srgbClr val="8E5AA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Normal</c:v>
                </c:pt>
                <c:pt idx="1">
                  <c:v>Drift</c:v>
                </c:pt>
                <c:pt idx="2">
                  <c:v>Open</c:v>
                </c:pt>
                <c:pt idx="3">
                  <c:v>Short</c:v>
                </c:pt>
                <c:pt idx="4">
                  <c:v>Noise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204</c:v>
                </c:pt>
                <c:pt idx="1">
                  <c:v>204</c:v>
                </c:pt>
                <c:pt idx="2">
                  <c:v>204</c:v>
                </c:pt>
                <c:pt idx="3">
                  <c:v>203</c:v>
                </c:pt>
                <c:pt idx="4">
                  <c:v>204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</c:v>
                </c:pt>
              </c:strCache>
            </c:strRef>
          </c:tx>
          <c:spPr>
            <a:solidFill>
              <a:srgbClr val="A9C6E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</c:v>
                  </c:pt>
                  <c:pt idx="1">
                    <c:v>RBF</c:v>
                  </c:pt>
                  <c:pt idx="2">
                    <c:v>Polynomial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77.94</c:v>
                </c:pt>
                <c:pt idx="1">
                  <c:v>71.08</c:v>
                </c:pt>
                <c:pt idx="2">
                  <c:v>75.49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Tuned + Topology Rule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</c:v>
                  </c:pt>
                  <c:pt idx="1">
                    <c:v>RBF</c:v>
                  </c:pt>
                  <c:pt idx="2">
                    <c:v>Polynomial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77.45</c:v>
                </c:pt>
                <c:pt idx="1">
                  <c:v>78.43</c:v>
                </c:pt>
                <c:pt idx="2">
                  <c:v>77.94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60"/>
        </c:scaling>
        <c:delete val="0"/>
        <c:axPos val="l"/>
        <c:majorGridlines>
          <c:spPr>
            <a:ln w="9525" cap="flat">
              <a:solidFill>
                <a:srgbClr val="D7DE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Test 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RC</c:v>
                  </c:pt>
                  <c:pt idx="1">
                    <c:v>RLC</c:v>
                  </c:pt>
                  <c:pt idx="2">
                    <c:v>Sallen-Key</c:v>
                  </c:pt>
                  <c:pt idx="3">
                    <c:v>RC Ladder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65.7</c:v>
                </c:pt>
                <c:pt idx="1">
                  <c:v>100</c:v>
                </c:pt>
                <c:pt idx="2">
                  <c:v>82.4</c:v>
                </c:pt>
                <c:pt idx="3">
                  <c:v>60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2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2-1.png"/><Relationship Id="rId3" Type="http://schemas.openxmlformats.org/officeDocument/2006/relationships/image" Target="../media/image-22-2.png"/><Relationship Id="rId4" Type="http://schemas.openxmlformats.org/officeDocument/2006/relationships/image" Target="../media/image-2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46-1.png"/><Relationship Id="rId3" Type="http://schemas.openxmlformats.org/officeDocument/2006/relationships/image" Target="../media/image-4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hyperlink" Target="https://analogcircuitsfaultclassification.streamlit.app/" TargetMode="External"/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image" Target="../media/image-56-5.png"/><Relationship Id="rId6" Type="http://schemas.openxmlformats.org/officeDocument/2006/relationships/image" Target="../media/image-56-6.png"/><Relationship Id="rId7" Type="http://schemas.openxmlformats.org/officeDocument/2006/relationships/image" Target="../media/image-56-7.png"/><Relationship Id="rId8" Type="http://schemas.openxmlformats.org/officeDocument/2006/relationships/image" Target="../media/image-5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analogcircuitsfaultclassification.streamlit.app/" TargetMode="External"/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914400"/>
            <a:ext cx="946404" cy="-525780"/>
          </a:xfrm>
          <a:prstGeom prst="line">
            <a:avLst/>
          </a:prstGeom>
          <a:noFill/>
          <a:ln w="15875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87684" y="388620"/>
            <a:ext cx="0" cy="1156716"/>
          </a:xfrm>
          <a:prstGeom prst="line">
            <a:avLst/>
          </a:prstGeom>
          <a:noFill/>
          <a:ln w="15875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7684" y="1545336"/>
            <a:ext cx="841248" cy="-525780"/>
          </a:xfrm>
          <a:prstGeom prst="line">
            <a:avLst/>
          </a:prstGeom>
          <a:noFill/>
          <a:ln w="15875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93960" y="867080"/>
            <a:ext cx="94640" cy="94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40364" y="341300"/>
            <a:ext cx="94640" cy="94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40364" y="1498016"/>
            <a:ext cx="94640" cy="94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81612" y="972236"/>
            <a:ext cx="94640" cy="94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 BOSE SUMMER INTERNSHIP 2026  ·  NIT SILCHAR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Kernel-Based Fault Classification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Analog Circuits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physics-grounded machine learning pipeline for diagnosing Normal, Drift, Open, Short and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faults across four analog circuit topologies — from LTspice simulation to a live web app.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4846320"/>
            <a:ext cx="2743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Kaushik</a:t>
            </a:r>
            <a:pPr indent="0" marL="0">
              <a:buNone/>
            </a:pPr>
            <a:r>
              <a:rPr lang="en-US" sz="14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B.Tech ECE, NIT Silchar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5504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Anish Kumar Saha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5989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min presentation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966960" y="3657600"/>
            <a:ext cx="1554480" cy="1554480"/>
          </a:xfrm>
          <a:prstGeom prst="ellipse">
            <a:avLst/>
          </a:prstGeom>
          <a:solidFill>
            <a:srgbClr val="132A4C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7" name="Image 0" descr="/sessions/blissful-zealous-babbage/mnt/outputs/ppt/icons/microchip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6815" y="3867455"/>
            <a:ext cx="1134770" cy="11347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— In Nine Parts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4290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956816"/>
            <a:ext cx="512064" cy="512064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6" name="Image 0" descr="/sessions/blissful-zealous-babbage/mnt/outputs/ppt/icons/bulb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217" y="2025945"/>
            <a:ext cx="373807" cy="3738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2374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Motivation &amp; Problem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analog fault diagnosis matters, and why it's hard</a:t>
            </a:r>
            <a:endParaRPr lang="en-US" sz="870" dirty="0"/>
          </a:p>
        </p:txBody>
      </p:sp>
      <p:sp>
        <p:nvSpPr>
          <p:cNvPr id="9" name="Shape 6"/>
          <p:cNvSpPr/>
          <p:nvPr/>
        </p:nvSpPr>
        <p:spPr>
          <a:xfrm>
            <a:off x="4251960" y="1737360"/>
            <a:ext cx="34290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53128" y="1956816"/>
            <a:ext cx="512064" cy="512064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1" name="Image 1" descr="/sessions/blissful-zealous-babbage/mnt/outputs/ppt/icons/sitemap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257" y="2025945"/>
            <a:ext cx="373807" cy="3738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252374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Circuits &amp; Fault Theory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43484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 behind 4 topologies and 5 fault types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8001000" y="1737360"/>
            <a:ext cx="34290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02168" y="1956816"/>
            <a:ext cx="512064" cy="512064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6" name="Image 2" descr="/sessions/blissful-zealous-babbage/mnt/outputs/ppt/icons/cogs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1297" y="2025945"/>
            <a:ext cx="373807" cy="37380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252374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Pipeline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18388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LTspice sweeps that generate real, physics-based training data</a:t>
            </a:r>
            <a:endParaRPr lang="en-US" sz="870" dirty="0"/>
          </a:p>
        </p:txBody>
      </p:sp>
      <p:sp>
        <p:nvSpPr>
          <p:cNvPr id="19" name="Shape 14"/>
          <p:cNvSpPr/>
          <p:nvPr/>
        </p:nvSpPr>
        <p:spPr>
          <a:xfrm>
            <a:off x="502920" y="3182112"/>
            <a:ext cx="34290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" y="3401568"/>
            <a:ext cx="512064" cy="512064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1" name="Image 3" descr="/sessions/blissful-zealous-babbage/mnt/outputs/ppt/icons/puzzle_00B4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17" y="3470697"/>
            <a:ext cx="373807" cy="37380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396849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Feature Engineering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85800" y="42336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formulas turning waveforms into 17 numbers</a:t>
            </a:r>
            <a:endParaRPr lang="en-US" sz="870" dirty="0"/>
          </a:p>
        </p:txBody>
      </p:sp>
      <p:sp>
        <p:nvSpPr>
          <p:cNvPr id="24" name="Shape 18"/>
          <p:cNvSpPr/>
          <p:nvPr/>
        </p:nvSpPr>
        <p:spPr>
          <a:xfrm>
            <a:off x="4251960" y="3182112"/>
            <a:ext cx="34290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53128" y="3401568"/>
            <a:ext cx="512064" cy="512064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6" name="Image 4" descr="/sessions/blissful-zealous-babbage/mnt/outputs/ppt/icons/brain_00B4D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2257" y="3470697"/>
            <a:ext cx="373807" cy="37380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34840" y="396849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Machine Learning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434840" y="42336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theory, kernels, GridSearchCV, cross-validation</a:t>
            </a:r>
            <a:endParaRPr lang="en-US" sz="870" dirty="0"/>
          </a:p>
        </p:txBody>
      </p:sp>
      <p:sp>
        <p:nvSpPr>
          <p:cNvPr id="29" name="Shape 22"/>
          <p:cNvSpPr/>
          <p:nvPr/>
        </p:nvSpPr>
        <p:spPr>
          <a:xfrm>
            <a:off x="8001000" y="3182112"/>
            <a:ext cx="34290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02168" y="3401568"/>
            <a:ext cx="512064" cy="512064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31" name="Image 5" descr="/sessions/blissful-zealous-babbage/mnt/outputs/ppt/icons/tools_00B4D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1297" y="3470697"/>
            <a:ext cx="373807" cy="37380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83880" y="396849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The Smart Fixes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183880" y="42336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engineering decisions that pushed accuracy higher</a:t>
            </a:r>
            <a:endParaRPr lang="en-US" sz="870" dirty="0"/>
          </a:p>
        </p:txBody>
      </p:sp>
      <p:sp>
        <p:nvSpPr>
          <p:cNvPr id="34" name="Shape 26"/>
          <p:cNvSpPr/>
          <p:nvPr/>
        </p:nvSpPr>
        <p:spPr>
          <a:xfrm>
            <a:off x="502920" y="4626864"/>
            <a:ext cx="34290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04088" y="4846320"/>
            <a:ext cx="512064" cy="512064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36" name="Image 6" descr="/sessions/blissful-zealous-babbage/mnt/outputs/ppt/icons/chartbar_00B4D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217" y="4915449"/>
            <a:ext cx="373807" cy="37380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85800" y="54132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Results &amp; Deep Analysis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85800" y="567842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78.43% accuracy — and exactly where and why it fails</a:t>
            </a:r>
            <a:endParaRPr lang="en-US" sz="870" dirty="0"/>
          </a:p>
        </p:txBody>
      </p:sp>
      <p:sp>
        <p:nvSpPr>
          <p:cNvPr id="39" name="Shape 30"/>
          <p:cNvSpPr/>
          <p:nvPr/>
        </p:nvSpPr>
        <p:spPr>
          <a:xfrm>
            <a:off x="4251960" y="4626864"/>
            <a:ext cx="34290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453128" y="4846320"/>
            <a:ext cx="512064" cy="512064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41" name="Image 7" descr="/sessions/blissful-zealous-babbage/mnt/outputs/ppt/icons/warn_00B4D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2257" y="4915449"/>
            <a:ext cx="373807" cy="373807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434840" y="54132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Key Finding &amp; Limits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4434840" y="567842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lesson about trusting your own accuracy numbers</a:t>
            </a:r>
            <a:endParaRPr lang="en-US" sz="870" dirty="0"/>
          </a:p>
        </p:txBody>
      </p:sp>
      <p:sp>
        <p:nvSpPr>
          <p:cNvPr id="44" name="Shape 34"/>
          <p:cNvSpPr/>
          <p:nvPr/>
        </p:nvSpPr>
        <p:spPr>
          <a:xfrm>
            <a:off x="8001000" y="4626864"/>
            <a:ext cx="34290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202168" y="4846320"/>
            <a:ext cx="512064" cy="512064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46" name="Image 8" descr="/sessions/blissful-zealous-babbage/mnt/outputs/ppt/icons/rocket_00B4D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1297" y="4915449"/>
            <a:ext cx="373807" cy="373807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183880" y="54132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Demo &amp; Conclusion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8183880" y="567842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app, what's next, and a wrap-up</a:t>
            </a:r>
            <a:endParaRPr lang="en-US" sz="870" dirty="0"/>
          </a:p>
        </p:txBody>
      </p:sp>
      <p:sp>
        <p:nvSpPr>
          <p:cNvPr id="49" name="Text 3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Fault Classification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66928" cy="566928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5" name="Image 0" descr="/sessions/blissful-zealous-babbage/mnt/outputs/ppt/icons/signal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455" y="1859615"/>
            <a:ext cx="413857" cy="4138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7556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circuits are everywhere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80160" y="207568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power supplies, sensor front-ends and communication links all rely on analog stages that quietly degrade before they fail outright.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2807208"/>
            <a:ext cx="566928" cy="566928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9" name="Image 1" descr="/sessions/blissful-zealous-babbage/mnt/outputs/ppt/icons/search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55" y="2883743"/>
            <a:ext cx="413857" cy="4138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77977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diagnosis doesn't scale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80160" y="309981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 oscilloscope trace to guess whether a fault is drift, noise, or a bad connection takes an expert and doesn't scale to thousands of boards.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3831336"/>
            <a:ext cx="566928" cy="566928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3" name="Image 2" descr="/sessions/blissful-zealous-babbage/mnt/outputs/ppt/icons/bolt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55" y="3907871"/>
            <a:ext cx="413857" cy="41385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80390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are often silent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80160" y="412394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drifting resistor or a noisy stage can still “work” while quietly producing wrong answers downstream.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2920" y="4855464"/>
            <a:ext cx="566928" cy="566928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7" name="Image 3" descr="/sessions/blissful-zealous-babbage/mnt/outputs/ppt/icons/chartline_00B4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55" y="4931999"/>
            <a:ext cx="413857" cy="41385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8280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80160" y="514807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machine the output waveform and let it instantly say what's wrong — and which component is likely responsible.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360920" y="1783080"/>
            <a:ext cx="4343400" cy="4160520"/>
          </a:xfrm>
          <a:prstGeom prst="roundRect">
            <a:avLst>
              <a:gd name="adj" fmla="val 1538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21" name="Image 4" descr="/sessions/blissful-zealous-babbage/mnt/outputs/ppt/icons/database_64748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9156" y="2498141"/>
            <a:ext cx="566928" cy="5669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543800" y="298003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/ SCHEMATIC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7635240" y="3327502"/>
            <a:ext cx="3794760" cy="1331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lab PCB, oscilloscope capture, 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workstation photo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Real-World Cost of an Undiagnosed Fault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drift and disconnects rarely announce themselves. A few examples of what's at stake: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51663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496312"/>
            <a:ext cx="566928" cy="566928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7" name="Image 0" descr="/sessions/blissful-zealous-babbage/mnt/outputs/ppt/icons/flask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487" y="2572847"/>
            <a:ext cx="413857" cy="41385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514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drifting filter stage in a patient monitor can quietly shift a threshold reading long before an alarm ever fires.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26480" y="2240280"/>
            <a:ext cx="51663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82512" y="2496312"/>
            <a:ext cx="566928" cy="566928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2" name="Image 1" descr="/sessions/blissful-zealous-babbage/mnt/outputs/ppt/icons/signal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047" y="2572847"/>
            <a:ext cx="413857" cy="41385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514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links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0" y="31546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degraded low-pass filter changes a receiver's bandwidth, raising bit-error rates without any visible failure.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2920" y="4279392"/>
            <a:ext cx="51663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58952" y="4535424"/>
            <a:ext cx="566928" cy="566928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7" name="Image 2" descr="/sessions/blissful-zealous-babbage/mnt/outputs/ppt/icons/cogs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87" y="4611959"/>
            <a:ext cx="413857" cy="41385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5537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electronics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77240" y="519379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drifting or shorted component in a regulator stage can shorten the life of every downstream part it feeds.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126480" y="4279392"/>
            <a:ext cx="51663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382512" y="4535424"/>
            <a:ext cx="566928" cy="566928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2" name="Image 3" descr="/sessions/blissful-zealous-babbage/mnt/outputs/ppt/icons/laptop_00B4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9047" y="4611959"/>
            <a:ext cx="413857" cy="41385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45537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sensors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400800" y="519379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sensor front-ends drift with temperature and age; catching this early prevents cascading failures.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Problem Is Genuinely Hard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66928" cy="566928"/>
          </a:xfrm>
          <a:prstGeom prst="ellipse">
            <a:avLst/>
          </a:prstGeom>
          <a:solidFill>
            <a:srgbClr val="D9695F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5" name="Image 0" descr="/sessions/blissful-zealous-babbage/mnt/outputs/ppt/icons/war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455" y="1859615"/>
            <a:ext cx="413857" cy="4138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75564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are continuous, not binary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80160" y="207568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isn't a switch — a resistor slides gradually from healthy to faulty, so “normal” and “drift” can look nearly identical near the boundary.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2834640"/>
            <a:ext cx="566928" cy="566928"/>
          </a:xfrm>
          <a:prstGeom prst="ellipse">
            <a:avLst/>
          </a:prstGeom>
          <a:solidFill>
            <a:srgbClr val="D9695F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9" name="Image 1" descr="/sessions/blissful-zealous-babbage/mnt/outputs/ppt/icons/random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55" y="2911175"/>
            <a:ext cx="413857" cy="4138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80720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overlap across circuits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80160" y="312724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“open” fault looks similar (flat, non-charging output) whether it happens in an RC filter or an RLC network — the model must tell topology and fault apart together.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" y="3886200"/>
            <a:ext cx="566928" cy="566928"/>
          </a:xfrm>
          <a:prstGeom prst="ellipse">
            <a:avLst/>
          </a:prstGeom>
          <a:solidFill>
            <a:srgbClr val="D9695F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3" name="Image 2" descr="/sessions/blissful-zealous-babbage/mnt/outputs/ppt/icons/balanc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55" y="3962735"/>
            <a:ext cx="413857" cy="41385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85876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classes from limited data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80160" y="417880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circuits × 5 faults = 20 classes to separate from just ~1,019 simulated samples — roughly 50 examples per class.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02920" y="4937760"/>
            <a:ext cx="566928" cy="566928"/>
          </a:xfrm>
          <a:prstGeom prst="ellipse">
            <a:avLst/>
          </a:prstGeom>
          <a:solidFill>
            <a:srgbClr val="D9695F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7" name="Image 3" descr="/sessions/blissful-zealous-babbage/mnt/outputs/ppt/icons/search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55" y="5014295"/>
            <a:ext cx="413857" cy="41385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91032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vs. reality gap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80160" y="523036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LTspice gives clean, repeatable waveforms; real hardware adds temperature drift, tolerances and parasitic effects simulation can't fully capture.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Waveform In. One Diagnosis Out.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transient output voltage of an unknown analog circuit, automatically identify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circuit topology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is and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five fault conditions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is currently experiencing — a 20-class classification problem solved end-to-end with physics-based simulation and a tuned SVM.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697480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843784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Topologies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95935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· RLC · Sallen-Key · RC Ladder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00984" y="2697480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00984" y="2843784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38144" y="361188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Types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38144" y="395935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Drift, Open, Short, Noise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99048" y="2697480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99048" y="2843784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36208" y="361188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Classes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36208" y="395935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circuits × 5 fault conditions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97112" y="2697480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97112" y="2843784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1019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034272" y="361188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Samples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34272" y="395935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physics-based LTspice sweeps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4663440"/>
            <a:ext cx="106070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4956048"/>
            <a:ext cx="621792" cy="621792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3" name="Image 0" descr="/sessions/blissful-zealous-babbage/mnt/outputs/ppt/icons/bulb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182" y="5039990"/>
            <a:ext cx="453908" cy="45390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600200" y="4800600"/>
            <a:ext cx="9235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novel here: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data comes entirely from real LTspice physics (no synthetic augmentation), and a topology-aware correction rule catches physically impossible predictions — two choices that trade a higher but hollow accuracy for a lower, trustworthy one.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CIRCUITS &amp; FAULT 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an Analog Circuit Can Misbehave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066544" cy="397764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0432" y="2121408"/>
            <a:ext cx="731520" cy="731520"/>
          </a:xfrm>
          <a:prstGeom prst="ellipse">
            <a:avLst/>
          </a:prstGeom>
          <a:solidFill>
            <a:srgbClr val="5EAE7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6" name="Image 0" descr="/sessions/blissful-zealous-babbage/mnt/outputs/ppt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9187" y="2220163"/>
            <a:ext cx="534010" cy="5340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" y="312724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" y="3566160"/>
            <a:ext cx="17007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values sit at their nominal, healthy design point.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38628" y="1828800"/>
            <a:ext cx="2066544" cy="397764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06140" y="2121408"/>
            <a:ext cx="731520" cy="73152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1" name="Image 1" descr="/sessions/blissful-zealous-babbage/mnt/outputs/ppt/icons/chartlin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895" y="2220163"/>
            <a:ext cx="534010" cy="5340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48356" y="312724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2921508" y="3566160"/>
            <a:ext cx="17007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value slowly shifts from nominal — aging, temperature, wear.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974336" y="1828800"/>
            <a:ext cx="2066544" cy="397764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41848" y="2121408"/>
            <a:ext cx="731520" cy="73152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6" name="Image 2" descr="/sessions/blissful-zealous-babbage/mnt/outputs/ppt/icons/plu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603" y="2220163"/>
            <a:ext cx="534010" cy="5340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84064" y="312724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5157216" y="3566160"/>
            <a:ext cx="17007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disconnects entirely — an infinite-resistance break in the path.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210044" y="1828800"/>
            <a:ext cx="2066544" cy="397764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77556" y="2121408"/>
            <a:ext cx="731520" cy="731520"/>
          </a:xfrm>
          <a:prstGeom prst="ellipse">
            <a:avLst/>
          </a:prstGeom>
          <a:solidFill>
            <a:srgbClr val="D9695F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1" name="Image 3" descr="/sessions/blissful-zealous-babbage/mnt/outputs/ppt/icons/bol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6311" y="2220163"/>
            <a:ext cx="534010" cy="5340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9772" y="312724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392924" y="3566160"/>
            <a:ext cx="17007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is bypassed — a near-zero-resistance path forms across it.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445752" y="1828800"/>
            <a:ext cx="2066544" cy="397764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13264" y="2121408"/>
            <a:ext cx="731520" cy="731520"/>
          </a:xfrm>
          <a:prstGeom prst="ellipse">
            <a:avLst/>
          </a:prstGeom>
          <a:solidFill>
            <a:srgbClr val="8E5AA8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6" name="Image 4" descr="/sessions/blissful-zealous-babbage/mnt/outputs/ppt/icons/random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2019" y="2220163"/>
            <a:ext cx="534010" cy="53401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55480" y="312724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9628632" y="3566160"/>
            <a:ext cx="17007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disturbance is superimposed on an otherwise healthy signal.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CIRCUITS &amp; FAULT 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Deep Dive: Drift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models a component value that has </a:t>
            </a:r>
            <a:pPr indent="0" marL="0">
              <a:lnSpc>
                <a:spcPct val="130000"/>
              </a:lnSpc>
              <a:buNone/>
            </a:pPr>
            <a:r>
              <a:rPr lang="en-US" sz="1350" b="1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gradually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moved away from its design value — the most physically realistic and hardest-to-catch fault, since aging and temperature affect every real component.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971800"/>
            <a:ext cx="576072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10896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B7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R(t) = R0 · (1 + delta)</a:t>
            </a: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 = fractional deviation from nominal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4348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project, drift is generated by sweeping the same component (R or L) across a wide but realistic range with LTspice's .step param directive — not a single fixed shift, but a whole family of plausible drifted values.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675120" y="1783080"/>
            <a:ext cx="443484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49440" y="2057400"/>
            <a:ext cx="566928" cy="566928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0" name="Image 0" descr="/sessions/blissful-zealous-babbage/mnt/outputs/ppt/icons/warn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5975" y="2133935"/>
            <a:ext cx="413857" cy="41385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8096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the hardest fault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49440" y="2697480"/>
            <a:ext cx="3886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open/short (extreme, obvious limits), drift sits on a continuum right next to “normal.” Later in Results, drift turns out to be the single hardest fault type to classify across every circuit in this project.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CIRCUITS &amp; FAULT 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Deep Dive: Open &amp; Short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1663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6" name="Image 0" descr="/sessions/blissful-zealous-babbage/mnt/outputs/ppt/icons/plug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479" y="2137639"/>
            <a:ext cx="433883" cy="4338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305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resistance to infinity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77240" y="2743200"/>
            <a:ext cx="461772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51560" y="28803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R_open -&gt; infinity  (no current path)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370332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RC circuit models “open” by sweeping the resistor from 1 megaohm to 1 gigaohm with .step param — effectively blocking the charging path so Vout never rises.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26480" y="1783080"/>
            <a:ext cx="51663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2057400"/>
            <a:ext cx="594360" cy="594360"/>
          </a:xfrm>
          <a:prstGeom prst="ellipse">
            <a:avLst/>
          </a:prstGeom>
          <a:solidFill>
            <a:srgbClr val="D9695F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3" name="Image 1" descr="/sessions/blissful-zealous-babbage/mnt/outputs/ppt/icons/bol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039" y="2137639"/>
            <a:ext cx="433883" cy="43388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1305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Short: impedance to zero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400800" y="2743200"/>
            <a:ext cx="461772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675120" y="28803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Z_short -&gt; 0  (component bypassed)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400800" y="370332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RC circuit's “short” is modeled by sweeping the capacitor down to 0.1-10 picofarads (R fixed at 1 kilohm) — the RC time constant collapses to picoseconds, so Vout jumps to 5V almost instantly, just as a true short would.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CIRCUITS &amp; FAULT 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Deep Dive: Noise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doesn't come from a component value changing at all — it's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random disturbance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superimposed on an otherwise healthy waveform, modeled with a fixed signal-to-noise ratio.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697480"/>
            <a:ext cx="1051560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83464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v_noisy(t) = v_normal(t) + N(0, sigma^2)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sigma^2 = mean(v_normal^2) / 10^(SNR_dB / 10)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SNR = 25 dB   |   seed = 42  (reproducible)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4572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circuit's own NORMAL waveforms are reused as the clean base signal, then Gaussian noise scaled to a 25 dB SNR is added with NumPy's seeded random generator — one noisy sample generated per normal sample, so class counts stay balanced.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CIRCUITS &amp; FAULT 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Circuit Topologies Under Test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5" name="Image 0" descr="/sessions/blissful-zealous-babbage/mnt/outputs/ppt/icons/microchip_6474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1971446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453335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560320" y="1892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Low-Pass Filter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60320" y="2313432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resistor, one capacitor — the simplest baseline. A single-pole exponential charge/discharge response.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126480" y="1783080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10" name="Image 1" descr="/sessions/blissful-zealous-babbage/mnt/outputs/ppt/icons/microchip_64748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276" y="1971446"/>
            <a:ext cx="566928" cy="5669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9360" y="2453335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183880" y="1892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Series Circuit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183880" y="2313432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 inductor for an underdamped, oscillatory step response — richer dynamics than RC alone.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02920" y="4069080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15" name="Image 2" descr="/sessions/blissful-zealous-babbage/mnt/outputs/ppt/icons/microchip_64748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" y="4257446"/>
            <a:ext cx="566928" cy="5669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5800" y="4739335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2560320" y="4178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Sallen-Key Active Filter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2560320" y="4599432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op-amp based 2nd-order filter — the kind actually used in real analog signal-conditioning design.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126480" y="4069080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20" name="Image 3" descr="/sessions/blissful-zealous-babbage/mnt/outputs/ppt/icons/microchip_64748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276" y="4257446"/>
            <a:ext cx="566928" cy="5669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09360" y="4739335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183880" y="4178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Ladder Network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183880" y="4599432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RC stages cascaded together, producing a more complex multi-pole response.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CIRCUITS &amp; FAULT 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 Low-Pass Filter — The Baseline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760720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B7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H(s) = 1 / (1 + sRC)</a:t>
            </a: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v(t) = V * (1 - e^(-t / RC))</a:t>
            </a: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tau = R * C   (time constant)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1208" y="351129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35584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swept 100 ohm to 10 kilohm (normal/drift) with C fixed at 10 microfarad — tau ranges from about 1 ms to 100 ms.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521208" y="4169664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01421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R swept 1 megaohm to 1 gigaohm — the charging path is effectively blocked, so Vout never rises.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521208" y="482803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67258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Short: C swept down to 0.1-10 picofarad — tau collapses to picoseconds, so Vout jumps to 5V almost instantly.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6583680" y="1783080"/>
            <a:ext cx="5120640" cy="4160520"/>
          </a:xfrm>
          <a:prstGeom prst="roundRect">
            <a:avLst>
              <a:gd name="adj" fmla="val 1538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13" name="Image 0" descr="/sessions/blissful-zealous-babbage/mnt/outputs/ppt/icons/microchip_6474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36" y="2498141"/>
            <a:ext cx="566928" cy="5669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66560" y="298003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+ WAVEFORM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0" y="3327502"/>
            <a:ext cx="4572000" cy="1331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LTspice schematic and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response screenshot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CIRCUITS &amp; FAULT 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RLC Series Circuit — Adding Oscillation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760720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B7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H(s) = 1 / (LCs^2 + RCs + 1)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omega_0 = 1 / sqrt(LC)     zeta = (R/2) * sqrt(C/L)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1208" y="351129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35584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swept 1 mH to 100 mH (normal/drift), with R = 10 ohm and C = 100 microfarad fixed — a genuinely underdamped, oscillatory step response.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521208" y="4169664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01421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zeta is small, the output rings before settling — a signature no RC-only circuit can produce.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521208" y="482803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67258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R swept 1 megaohm to 1 gigaohm in series, blocking the current path entirely.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6583680" y="1783080"/>
            <a:ext cx="5120640" cy="4160520"/>
          </a:xfrm>
          <a:prstGeom prst="roundRect">
            <a:avLst>
              <a:gd name="adj" fmla="val 1538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13" name="Image 0" descr="/sessions/blissful-zealous-babbage/mnt/outputs/ppt/icons/microchip_6474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36" y="2498141"/>
            <a:ext cx="566928" cy="5669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66560" y="298003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+ WAVEFORM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0" y="3327502"/>
            <a:ext cx="4572000" cy="1331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LTspice schematic and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response screenshot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CIRCUITS &amp; FAULT 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Sallen-Key Active Filter — A Real Design Pattern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760720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B7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f_c = 1 / (2*pi*sqrt(R1*R2*C1*C2))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Unity-gain, 2nd-order low-pass (op-amp based)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1208" y="351129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35584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= R2 swept 1 kilohm to 100 kilohm together; C1 = C2 = 10 nanofarad fixed; dual +-15V supply, LT1001 op-amp model.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521208" y="4169664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01421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one topology here that's actually used in production analog signal-conditioning circuits — not just a textbook passive network.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521208" y="482803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67258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op-amp feedback path gives it a distinct response shape from the three purely passive circuits.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6583680" y="1783080"/>
            <a:ext cx="5120640" cy="4160520"/>
          </a:xfrm>
          <a:prstGeom prst="roundRect">
            <a:avLst>
              <a:gd name="adj" fmla="val 1538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13" name="Image 0" descr="/sessions/blissful-zealous-babbage/mnt/outputs/ppt/icons/microchip_6474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36" y="2498141"/>
            <a:ext cx="566928" cy="5669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66560" y="298003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+ WAVEFORM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0" y="3327502"/>
            <a:ext cx="4572000" cy="1331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LTspice schematic and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response screenshot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CIRCUITS &amp; FAULT 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 Ladder Network — Cascaded Stages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760720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B7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1: 1/(1+sR1C1)   -&gt;   Stage 2: 1/(1+sR2C2)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H(s) = Stage1(s) * Stage2(s)   (multi-pole)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1208" y="351129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35584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RC stages in series, R1 = R2 swept together 100 ohm to 10 kilohm, C1 = C2 = 10 microfarad — each stage contributes its own pole.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521208" y="4169664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01421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fault in an earlier stage propagates and interacts with the second stage, producing subtler waveform changes than a single RC stage would.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521208" y="482803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67258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structural similarity to the plain RC circuit is exactly what makes the two easy to confuse later, in Results.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6583680" y="1783080"/>
            <a:ext cx="5120640" cy="4160520"/>
          </a:xfrm>
          <a:prstGeom prst="roundRect">
            <a:avLst>
              <a:gd name="adj" fmla="val 1538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13" name="Image 0" descr="/sessions/blissful-zealous-babbage/mnt/outputs/ppt/icons/microchip_6474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36" y="2498141"/>
            <a:ext cx="566928" cy="5669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66560" y="298003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+ WAVEFORM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0" y="3327502"/>
            <a:ext cx="4572000" cy="1331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LTspice schematic and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response screenshot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CIRCUITS &amp; FAULT 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Circuit, Five Different Personalities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 RC low-pass filter's step response under each of the five fault conditions.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066544" cy="3794760"/>
          </a:xfrm>
          <a:prstGeom prst="roundRect">
            <a:avLst>
              <a:gd name="adj" fmla="val 3097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6" name="Image 0" descr="/sessions/blissful-zealous-babbage/mnt/outputs/ppt/icons/wave_6474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2593238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75127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422599"/>
            <a:ext cx="1517904" cy="1214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response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5888736"/>
            <a:ext cx="2066544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588873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738628" y="1965960"/>
            <a:ext cx="2066544" cy="3794760"/>
          </a:xfrm>
          <a:prstGeom prst="roundRect">
            <a:avLst>
              <a:gd name="adj" fmla="val 3097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12" name="Image 1" descr="/sessions/blissful-zealous-babbage/mnt/outputs/ppt/icons/wave_64748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436" y="2593238"/>
            <a:ext cx="566928" cy="5669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21508" y="3075127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012948" y="3422599"/>
            <a:ext cx="1517904" cy="1214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response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38628" y="5888736"/>
            <a:ext cx="2066544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/>
        </p:spPr>
      </p:sp>
      <p:sp>
        <p:nvSpPr>
          <p:cNvPr id="16" name="Text 12"/>
          <p:cNvSpPr/>
          <p:nvPr/>
        </p:nvSpPr>
        <p:spPr>
          <a:xfrm>
            <a:off x="2738628" y="588873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974336" y="1965960"/>
            <a:ext cx="2066544" cy="3794760"/>
          </a:xfrm>
          <a:prstGeom prst="roundRect">
            <a:avLst>
              <a:gd name="adj" fmla="val 3097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18" name="Image 2" descr="/sessions/blissful-zealous-babbage/mnt/outputs/ppt/icons/wave_64748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4" y="2593238"/>
            <a:ext cx="566928" cy="5669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57216" y="3075127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248656" y="3422599"/>
            <a:ext cx="1517904" cy="1214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response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974336" y="5888736"/>
            <a:ext cx="2066544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/>
        </p:spPr>
      </p:sp>
      <p:sp>
        <p:nvSpPr>
          <p:cNvPr id="22" name="Text 17"/>
          <p:cNvSpPr/>
          <p:nvPr/>
        </p:nvSpPr>
        <p:spPr>
          <a:xfrm>
            <a:off x="4974336" y="588873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210044" y="1965960"/>
            <a:ext cx="2066544" cy="3794760"/>
          </a:xfrm>
          <a:prstGeom prst="roundRect">
            <a:avLst>
              <a:gd name="adj" fmla="val 3097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24" name="Image 3" descr="/sessions/blissful-zealous-babbage/mnt/outputs/ppt/icons/wave_64748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852" y="2593238"/>
            <a:ext cx="566928" cy="5669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92924" y="3075127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484364" y="3422599"/>
            <a:ext cx="1517904" cy="1214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response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210044" y="5888736"/>
            <a:ext cx="2066544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/>
        </p:spPr>
      </p:sp>
      <p:sp>
        <p:nvSpPr>
          <p:cNvPr id="28" name="Text 22"/>
          <p:cNvSpPr/>
          <p:nvPr/>
        </p:nvSpPr>
        <p:spPr>
          <a:xfrm>
            <a:off x="7210044" y="588873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9445752" y="1965960"/>
            <a:ext cx="2066544" cy="3794760"/>
          </a:xfrm>
          <a:prstGeom prst="roundRect">
            <a:avLst>
              <a:gd name="adj" fmla="val 3097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30" name="Image 4" descr="/sessions/blissful-zealous-babbage/mnt/outputs/ppt/icons/wave_64748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0" y="2593238"/>
            <a:ext cx="566928" cy="56692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28632" y="3075127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720072" y="3422599"/>
            <a:ext cx="1517904" cy="1214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response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9445752" y="5888736"/>
            <a:ext cx="2066544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/>
        </p:spPr>
      </p:sp>
      <p:sp>
        <p:nvSpPr>
          <p:cNvPr id="34" name="Text 27"/>
          <p:cNvSpPr/>
          <p:nvPr/>
        </p:nvSpPr>
        <p:spPr>
          <a:xfrm>
            <a:off x="9445752" y="588873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End-to-End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44040" y="3063240"/>
            <a:ext cx="853440" cy="0"/>
          </a:xfrm>
          <a:prstGeom prst="line">
            <a:avLst/>
          </a:prstGeom>
          <a:noFill/>
          <a:ln w="22225">
            <a:solidFill>
              <a:srgbClr val="AEBE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929640" y="2606040"/>
            <a:ext cx="914400" cy="91440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6" name="Image 0" descr="/sessions/blissful-zealous-babbage/mnt/outputs/ppt/icons/flask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084" y="2729484"/>
            <a:ext cx="667512" cy="6675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9056" y="2505456"/>
            <a:ext cx="292608" cy="29260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8" name="Text 5"/>
          <p:cNvSpPr/>
          <p:nvPr/>
        </p:nvSpPr>
        <p:spPr>
          <a:xfrm>
            <a:off x="829056" y="2496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3666744"/>
            <a:ext cx="167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4005072"/>
            <a:ext cx="167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 circuits in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LTspice XVII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11880" y="3063240"/>
            <a:ext cx="853440" cy="0"/>
          </a:xfrm>
          <a:prstGeom prst="line">
            <a:avLst/>
          </a:prstGeom>
          <a:noFill/>
          <a:ln w="22225">
            <a:solidFill>
              <a:srgbClr val="AEBED4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697480" y="2606040"/>
            <a:ext cx="914400" cy="91440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3" name="Image 1" descr="/sessions/blissful-zealous-babbage/mnt/outputs/ppt/icons/sliders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924" y="2729484"/>
            <a:ext cx="667512" cy="6675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596896" y="2505456"/>
            <a:ext cx="292608" cy="29260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5" name="Text 11"/>
          <p:cNvSpPr/>
          <p:nvPr/>
        </p:nvSpPr>
        <p:spPr>
          <a:xfrm>
            <a:off x="2596896" y="2496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316480" y="3666744"/>
            <a:ext cx="167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316480" y="4005072"/>
            <a:ext cx="167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R/L/C values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realistic ranges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379720" y="3063240"/>
            <a:ext cx="853440" cy="0"/>
          </a:xfrm>
          <a:prstGeom prst="line">
            <a:avLst/>
          </a:prstGeom>
          <a:noFill/>
          <a:ln w="22225">
            <a:solidFill>
              <a:srgbClr val="AEBED4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4465320" y="2606040"/>
            <a:ext cx="914400" cy="91440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0" name="Image 2" descr="/sessions/blissful-zealous-babbage/mnt/outputs/ppt/icons/filter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764" y="2729484"/>
            <a:ext cx="667512" cy="66751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364736" y="2505456"/>
            <a:ext cx="292608" cy="29260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2" name="Text 17"/>
          <p:cNvSpPr/>
          <p:nvPr/>
        </p:nvSpPr>
        <p:spPr>
          <a:xfrm>
            <a:off x="4364736" y="2496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084320" y="3666744"/>
            <a:ext cx="167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084320" y="4005072"/>
            <a:ext cx="167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features per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7147560" y="3063240"/>
            <a:ext cx="853440" cy="0"/>
          </a:xfrm>
          <a:prstGeom prst="line">
            <a:avLst/>
          </a:prstGeom>
          <a:noFill/>
          <a:ln w="22225">
            <a:solidFill>
              <a:srgbClr val="AEBED4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6233160" y="2606040"/>
            <a:ext cx="914400" cy="91440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7" name="Image 3" descr="/sessions/blissful-zealous-babbage/mnt/outputs/ppt/icons/brain_00B4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604" y="2729484"/>
            <a:ext cx="667512" cy="66751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132576" y="2505456"/>
            <a:ext cx="292608" cy="29260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9" name="Text 23"/>
          <p:cNvSpPr/>
          <p:nvPr/>
        </p:nvSpPr>
        <p:spPr>
          <a:xfrm>
            <a:off x="6132576" y="2496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852160" y="3666744"/>
            <a:ext cx="167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Tune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852160" y="4005072"/>
            <a:ext cx="167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kernels +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8915400" y="3063240"/>
            <a:ext cx="853440" cy="0"/>
          </a:xfrm>
          <a:prstGeom prst="line">
            <a:avLst/>
          </a:prstGeom>
          <a:noFill/>
          <a:ln w="22225">
            <a:solidFill>
              <a:srgbClr val="AEBED4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8001000" y="2606040"/>
            <a:ext cx="914400" cy="91440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34" name="Image 4" descr="/sessions/blissful-zealous-babbage/mnt/outputs/ppt/icons/tools_00B4D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444" y="2729484"/>
            <a:ext cx="667512" cy="667512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7900416" y="2505456"/>
            <a:ext cx="292608" cy="29260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6" name="Text 29"/>
          <p:cNvSpPr/>
          <p:nvPr/>
        </p:nvSpPr>
        <p:spPr>
          <a:xfrm>
            <a:off x="7900416" y="2496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7620000" y="3666744"/>
            <a:ext cx="167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7620000" y="4005072"/>
            <a:ext cx="167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9768840" y="2606040"/>
            <a:ext cx="914400" cy="91440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40" name="Image 5" descr="/sessions/blissful-zealous-babbage/mnt/outputs/ppt/icons/rocket_00B4D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2284" y="2729484"/>
            <a:ext cx="667512" cy="667512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9668256" y="2505456"/>
            <a:ext cx="292608" cy="29260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42" name="Text 34"/>
          <p:cNvSpPr/>
          <p:nvPr/>
        </p:nvSpPr>
        <p:spPr>
          <a:xfrm>
            <a:off x="9668256" y="2496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9387840" y="3666744"/>
            <a:ext cx="167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9387840" y="4005072"/>
            <a:ext cx="167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502920" y="498348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46" name="Text 38"/>
          <p:cNvSpPr/>
          <p:nvPr/>
        </p:nvSpPr>
        <p:spPr>
          <a:xfrm>
            <a:off x="822960" y="49834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grounded in real simulation physics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synthetic data augmentation was used in the final pipeline, only genuine LTspice parameter sweeps.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PIPELINE · STEP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Simulating Real Circuit Behavior in LTspice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66928" cy="566928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5" name="Image 0" descr="/sessions/blissful-zealous-babbage/mnt/outputs/ppt/icons/flask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455" y="1905335"/>
            <a:ext cx="413857" cy="4138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013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SPICE instead of pure math?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80160" y="2121408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LTspice's transient solver captures op-amp behavior, component tolerances and transient effects that a hand-derived transfer function alone would miss.</a:t>
            </a:r>
            <a:endParaRPr lang="en-US" sz="1030" dirty="0"/>
          </a:p>
        </p:txBody>
      </p:sp>
      <p:sp>
        <p:nvSpPr>
          <p:cNvPr id="8" name="Shape 5"/>
          <p:cNvSpPr/>
          <p:nvPr/>
        </p:nvSpPr>
        <p:spPr>
          <a:xfrm>
            <a:off x="502920" y="2816352"/>
            <a:ext cx="566928" cy="566928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9" name="Image 1" descr="/sessions/blissful-zealous-babbage/mnt/outputs/ppt/icons/chartline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55" y="2892887"/>
            <a:ext cx="413857" cy="4138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788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input drives every circuit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80160" y="3108960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PULSE voltage source jumps 0V to 5V (1ns rise time), mimicking a sudden real-world input change.</a:t>
            </a:r>
            <a:endParaRPr lang="en-US" sz="1030" dirty="0"/>
          </a:p>
        </p:txBody>
      </p:sp>
      <p:sp>
        <p:nvSpPr>
          <p:cNvPr id="12" name="Shape 8"/>
          <p:cNvSpPr/>
          <p:nvPr/>
        </p:nvSpPr>
        <p:spPr>
          <a:xfrm>
            <a:off x="502920" y="3803904"/>
            <a:ext cx="566928" cy="566928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3" name="Image 2" descr="/sessions/blissful-zealous-babbage/mnt/outputs/ppt/icons/sliders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55" y="3880439"/>
            <a:ext cx="413857" cy="41385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7764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.tran captures the transient response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80160" y="4096512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.tran directive runs the simulation and records Vout at 200 time points as the circuit reacts to the step.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583680" y="1828800"/>
            <a:ext cx="5120640" cy="2514600"/>
          </a:xfrm>
          <a:prstGeom prst="roundRect">
            <a:avLst>
              <a:gd name="adj" fmla="val 2545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17" name="Image 3" descr="/sessions/blissful-zealous-babbage/mnt/outputs/ppt/icons/microchip_64748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536" y="214884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66560" y="2630729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LTSPICE SCHEMATIC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858000" y="2978201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screenshot of the .asc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diagram in LTspice XVII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583680" y="452628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6858000" y="46634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 PULSE(0 5 0 1n 1n 95m 200m)</a:t>
            </a:r>
            <a:endParaRPr lang="en-US" sz="1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.tran 95m</a:t>
            </a:r>
            <a:endParaRPr lang="en-US" sz="1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.step param Rval 100 10000 200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PIPELINE · STEP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Sweeps: Simulating Real-World Variation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fixed waveform per fault would teach the model almost nothing. The </a:t>
            </a:r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.step param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directive instead sweeps a component value across a realistic range, generating roughly 51 independent transient runs per fault class, per circuit.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606040"/>
            <a:ext cx="10607040" cy="530352"/>
          </a:xfrm>
          <a:prstGeom prst="roundRect">
            <a:avLst>
              <a:gd name="adj" fmla="val 10345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6060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80360" y="260604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Drift sweep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09560" y="26060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components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136392"/>
            <a:ext cx="106070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136392"/>
            <a:ext cx="2377440" cy="530352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0360" y="313639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100 ohm -&gt; 10 kilohm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09560" y="313639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10 uF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666744"/>
            <a:ext cx="10607040" cy="530352"/>
          </a:xfrm>
          <a:prstGeom prst="rect">
            <a:avLst/>
          </a:prstGeom>
          <a:solidFill>
            <a:srgbClr val="EEF2F7"/>
          </a:solidFill>
          <a:ln w="9525">
            <a:solidFill>
              <a:srgbClr val="E4E9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66744"/>
            <a:ext cx="2377440" cy="530352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366674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L: 1 mH -&gt; 100 mH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09560" y="366674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10 ohm, C = 100 uF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197096"/>
            <a:ext cx="106070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97096"/>
            <a:ext cx="2377440" cy="530352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Sallen-Key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419709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R1=R2: 1 kilohm -&gt; 100 kilohm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09560" y="419709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C1=C2 = 10 nF, +-15V supply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727448"/>
            <a:ext cx="10607040" cy="530352"/>
          </a:xfrm>
          <a:prstGeom prst="rect">
            <a:avLst/>
          </a:prstGeom>
          <a:solidFill>
            <a:srgbClr val="EEF2F7"/>
          </a:solidFill>
          <a:ln w="9525">
            <a:solidFill>
              <a:srgbClr val="E4E9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7274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Ladder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80360" y="472744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R1=R2: 100 ohm -&gt; 10 kilohm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09560" y="472744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C1=C2 = 10 uF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5257800"/>
            <a:ext cx="1060704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5257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 sweep steps x 4 circuits x 5 faults =~ 1,019 total samples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PIPELINE · STEP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Fault Is Modeled in LTspice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0607040" cy="530352"/>
          </a:xfrm>
          <a:prstGeom prst="roundRect">
            <a:avLst>
              <a:gd name="adj" fmla="val 10345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828800"/>
            <a:ext cx="1554480" cy="530352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57400" y="182880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mechanism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18120" y="182880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Concretely (RC example)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359152"/>
            <a:ext cx="106070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59152"/>
            <a:ext cx="1554480" cy="530352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57400" y="235915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at nominal design value, swept across a healthy range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18120" y="235915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100 ohm -&gt; 10 kilohm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889504"/>
            <a:ext cx="10607040" cy="530352"/>
          </a:xfrm>
          <a:prstGeom prst="rect">
            <a:avLst/>
          </a:prstGeom>
          <a:solidFill>
            <a:srgbClr val="EEF2F7"/>
          </a:solidFill>
          <a:ln w="9525">
            <a:solidFill>
              <a:srgbClr val="E4E9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89504"/>
            <a:ext cx="1554480" cy="530352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57400" y="2889504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component, same wide sweep — treated as the healthy range itself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18120" y="288950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100 ohm -&gt; 10 kilohm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419856"/>
            <a:ext cx="106070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19856"/>
            <a:ext cx="1554480" cy="530352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57400" y="3419856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resistor swept toward near-infinite resistance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18120" y="341985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1 megaohm -&gt; 1 gigaohm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950208"/>
            <a:ext cx="10607040" cy="530352"/>
          </a:xfrm>
          <a:prstGeom prst="rect">
            <a:avLst/>
          </a:prstGeom>
          <a:solidFill>
            <a:srgbClr val="EEF2F7"/>
          </a:solidFill>
          <a:ln w="9525">
            <a:solidFill>
              <a:srgbClr val="E4E9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50208"/>
            <a:ext cx="1554480" cy="530352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57400" y="3950208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reactive component swept toward its opposite extreme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18120" y="395020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0.1 pF -&gt; 10 pF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480560"/>
            <a:ext cx="106070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480560"/>
            <a:ext cx="1554480" cy="530352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057400" y="448056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 added post-hoc to normal waveforms, not simulated in LTspice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18120" y="448056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= 25 dB, seed = 42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PIPELINE · STEP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LTspice Output to a Clean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.step sweep produces one exported text file containing dozens of stacked runs. A parser walks the file, splits it back into individual runs, and resamples every run onto a common 200-point time grid: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10607040" cy="2331720"/>
          </a:xfrm>
          <a:prstGeom prst="roundRect">
            <a:avLst>
              <a:gd name="adj" fmla="val 313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651760"/>
            <a:ext cx="10058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line in file: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line starts with "Step Information": start new run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accumulate (time, voltage) pairs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resample(t, v, t_end, n=200):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 = linspace(0, t_end, 200)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interp1d(t, v)(grid)   # uniform length for every sample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5029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turns dozens of variable-length LTspice runs into one uniform, ML-ready table of 200 voltage points per sample.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1,019 Samples, Evenly Balanced Across Fault Types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9164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874520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6" name="Image 0" descr="/sessions/blissful-zealous-babbage/mnt/outputs/ppt/icons/balance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786" y="1948586"/>
            <a:ext cx="400507" cy="4005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35240" y="1856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balanced classes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635240" y="220370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fault type accounts for about 20% of samples, so the model can't win by just guessing the majority label.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903720" y="3172968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0" name="Image 1" descr="/sessions/blissful-zealous-babbage/mnt/outputs/ppt/icons/sitemap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786" y="3247034"/>
            <a:ext cx="400507" cy="4005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3154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total labels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7635240" y="350215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sample is tagged circuit_fault, e.g. RC_open or SALLEN_KEY_drift — 4 circuits times 5 faults.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903720" y="4471416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4" name="Image 2" descr="/sessions/blissful-zealous-babbage/mnt/outputs/ppt/icons/database_00B4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7786" y="4545482"/>
            <a:ext cx="400507" cy="40050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35240" y="4453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51 samples per class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7635240" y="4800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1,019 divided across 20 classes averages to roughly 51 samples each — a genuinely small-data problem.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Train/Test Split: Keeping Evaluation Honest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train_test_split(X, y, test_size=0.20, random_state=42, stratify=y)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3200400"/>
            <a:ext cx="502920" cy="50292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7" name="Image 0" descr="/sessions/blissful-zealous-babbage/mnt/outputs/ppt/icons/layer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814" y="3268294"/>
            <a:ext cx="367132" cy="3671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21868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split:  </a:t>
            </a:r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815 samples train the model; the remaining ~204 are held out purely for evaluation.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502920" y="3977640"/>
            <a:ext cx="502920" cy="50292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0" name="Image 1" descr="/sessions/blissful-zealous-babbage/mnt/outputs/ppt/icons/balance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14" y="4045534"/>
            <a:ext cx="367132" cy="3671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99592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by class:  </a:t>
            </a:r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20 classes keeps its ~80/20 proportion in both sets — no class is accidentally left thin in testing.</a:t>
            </a:r>
            <a:endParaRPr lang="en-US" sz="1180" dirty="0"/>
          </a:p>
        </p:txBody>
      </p:sp>
      <p:sp>
        <p:nvSpPr>
          <p:cNvPr id="12" name="Shape 8"/>
          <p:cNvSpPr/>
          <p:nvPr/>
        </p:nvSpPr>
        <p:spPr>
          <a:xfrm>
            <a:off x="502920" y="4754880"/>
            <a:ext cx="502920" cy="50292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3" name="Image 2" descr="/sessions/blissful-zealous-babbage/mnt/outputs/ppt/icons/tools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14" y="4822774"/>
            <a:ext cx="367132" cy="3671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47731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random seed:  </a:t>
            </a:r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 makes the split reproducible — the same test samples every time the pipeline reruns.</a:t>
            </a:r>
            <a:endParaRPr lang="en-US" sz="1180" dirty="0"/>
          </a:p>
        </p:txBody>
      </p:sp>
      <p:sp>
        <p:nvSpPr>
          <p:cNvPr id="15" name="Shape 10"/>
          <p:cNvSpPr/>
          <p:nvPr/>
        </p:nvSpPr>
        <p:spPr>
          <a:xfrm>
            <a:off x="502920" y="5532120"/>
            <a:ext cx="502920" cy="50292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6" name="Image 3" descr="/sessions/blissful-zealous-babbage/mnt/outputs/ppt/icons/search_00B4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14" y="5600014"/>
            <a:ext cx="367132" cy="3671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55504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never touched during tuning:  </a:t>
            </a:r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only ever sees the training set; the test set is reserved for the one final, honest accuracy number.</a:t>
            </a:r>
            <a:endParaRPr lang="en-US" sz="1180" dirty="0"/>
          </a:p>
        </p:txBody>
      </p:sp>
      <p:sp>
        <p:nvSpPr>
          <p:cNvPr id="18" name="Text 1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Waveform to Numbers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raw sample is 200 individual voltage readings — too high-dimensional and noisy for a classic SVM to learn from efficiently. Instead, every waveform is compressed into </a:t>
            </a:r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compact, physically meaningful numbers</a:t>
            </a:r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fall into two families: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3108960"/>
            <a:ext cx="685800" cy="68580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7" name="Image 0" descr="/sessions/blissful-zealous-babbage/mnt/outputs/ppt/icons/chartline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535" y="3201543"/>
            <a:ext cx="500634" cy="5006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9260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Time-domain shape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00200" y="331012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signal looks over time — peak voltage, RMS, rise time, settling time, skewness, kurtosis, DC level.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26480" y="2743200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82512" y="3108960"/>
            <a:ext cx="685800" cy="68580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2" name="Image 1" descr="/sessions/blissful-zealous-babbage/mnt/outputs/ppt/icons/wave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095" y="3201543"/>
            <a:ext cx="500634" cy="5006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9260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Frequency-domain content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223760" y="331012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energy sits at which frequency — dominant frequency, spectral energy, centroid, bandwidth, entropy.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2920" y="4480560"/>
            <a:ext cx="10607040" cy="1600200"/>
          </a:xfrm>
          <a:prstGeom prst="roundRect">
            <a:avLst>
              <a:gd name="adj" fmla="val 4000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16" name="Image 2" descr="/sessions/blissful-zealous-babbage/mnt/outputs/ppt/icons/wave_64748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406" y="4592574"/>
            <a:ext cx="544068" cy="5440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" y="505503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WAVEFORM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77240" y="5402504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 single trace with peak voltage, rise time and settling time marked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Time-Domain Features: Amplitude &amp; Shape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0607040" cy="1737360"/>
          </a:xfrm>
          <a:prstGeom prst="roundRect">
            <a:avLst>
              <a:gd name="adj" fmla="val 421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 peak_voltage  = max(v)</a:t>
            </a:r>
            <a:endParaRPr lang="en-US" sz="14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  rms_value     = sqrt( mean(v^2) )</a:t>
            </a:r>
            <a:endParaRPr lang="en-US" sz="14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  mean_voltage  = mean(v)</a:t>
            </a:r>
            <a:endParaRPr lang="en-US" sz="14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f4  std_voltage   = std(v)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02920" y="379476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numbers describe the basic size and spread of a waveform. 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shorted capacitor pushes peak_voltage toward the full 5V almost immediately; an open circuit keeps it near 0V. std_voltage in particular turns out to be one of the two most important features in the trained model (see Results).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Time-Domain Features: Timing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0607040" cy="1737360"/>
          </a:xfrm>
          <a:prstGeom prst="roundRect">
            <a:avLst>
              <a:gd name="adj" fmla="val 421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f5  rise_time      = t(at 90% peak) - t(at 10% peak)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f6  settling_time  = last t where |v(t) - v_final| &gt; 2% * |v_final|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79476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rise_time is the single most important feature in the trained model — 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directly captures how fast a circuit charges, which is exactly what open (never charges) and short (charges instantly) faults change most. settling_time captures how long oscillation or transients persist before the signal stabilizes.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Time-Domain Features: Statistical Shape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0607040" cy="1737360"/>
          </a:xfrm>
          <a:prstGeom prst="roundRect">
            <a:avLst>
              <a:gd name="adj" fmla="val 421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  skewness  = E[ (v - mean)^3 ] / std^3    (asymmetry)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f8  kurtosis  = E[ (v - mean)^4 ] / std^4     (peakedness)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79476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from statistics, these describe the </a:t>
            </a:r>
            <a:pPr indent="0" marL="0">
              <a:lnSpc>
                <a:spcPct val="132000"/>
              </a:lnSpc>
              <a:buNone/>
            </a:pPr>
            <a:r>
              <a:rPr lang="en-US" sz="1250" b="1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voltage distribution across the whole waveform, not just its size. A lopsided charge/discharge curve skews one way; a noisy signal has different kurtosis than a smooth one — useful signal the size-based features alone miss.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Frequency-Domain Features: The FFT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 Fourier Transform rewrites a signal from “voltage over time” into “energy at each frequency.”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smooth RC charging curve is dominated by low frequencies; noise spreads energy across many frequencies; an RLC's ringing shows a clear peak at its oscillation frequency.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301752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1546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V(f) = FFT( v(t) )    |    magnitude spectrum |V(f)|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42519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features (next slide) are computed from this magnitude spectrum rather than from the raw time signal.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Frequency-Domain Features: Spectral Descriptors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0607040" cy="1737360"/>
          </a:xfrm>
          <a:prstGeom prst="roundRect">
            <a:avLst>
              <a:gd name="adj" fmla="val 421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f9   dominant_freq       = f at max |V(f)|,  50-2000 Hz band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f10  spectral_energy     = sum( |V(f)|^2 )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f11  spectral_centroid   = sum(f*|V(f)|) / sum(|V(f)|)   ("center of mass")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f12  bandwidth           = sqrt( sum((f-centroid)^2 * |V(f)|) / sum(|V(f)|) )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f13  spectral_entropy    = -sum( p(f) * log2 p(f) ),  p(f)=|V(f)|^2/total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379476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spectral_entropy is the third most important feature overall — 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charging curve has low entropy (energy concentrated at low frequency); noise has high entropy (energy spread everywhere). This single number does a lot of work separating noise faults from everything else.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0607040" cy="1737360"/>
          </a:xfrm>
          <a:prstGeom prst="roundRect">
            <a:avLst>
              <a:gd name="adj" fmla="val 421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f15  zero_crossing_rate  = crossings of (v - mean(v)) per sample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f16  crest_factor        = max(|v|) / rms_value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f14  energy              = sum(v^2)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79476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crest_factor is the fourth most important feature — 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compares a signal's peak to its average power, which distinguishes a sharp, spiky waveform from a smooth one. zero_crossing_rate and energy add further structural context that complements the pure amplitude features.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Features, Three Families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429000" cy="46177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83080"/>
            <a:ext cx="3429000" cy="594360"/>
          </a:xfrm>
          <a:prstGeom prst="roundRect">
            <a:avLst>
              <a:gd name="adj" fmla="val 13846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2075688"/>
            <a:ext cx="3429000" cy="3017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830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Time-Domain (9)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64261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514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voltage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08152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535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value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52044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9242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voltage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95935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83133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deviation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398264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702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time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83717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7091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Settling time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527608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1480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571500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5869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615391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602589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level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51960" y="1783080"/>
            <a:ext cx="3429000" cy="46177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51960" y="1783080"/>
            <a:ext cx="3429000" cy="594360"/>
          </a:xfrm>
          <a:prstGeom prst="roundRect">
            <a:avLst>
              <a:gd name="adj" fmla="val 13846"/>
            </a:avLst>
          </a:prstGeom>
          <a:solidFill>
            <a:srgbClr val="0B1F3A"/>
          </a:solidFill>
          <a:ln/>
        </p:spPr>
      </p:sp>
      <p:sp>
        <p:nvSpPr>
          <p:cNvPr id="28" name="Shape 26"/>
          <p:cNvSpPr/>
          <p:nvPr/>
        </p:nvSpPr>
        <p:spPr>
          <a:xfrm>
            <a:off x="4251960" y="2075688"/>
            <a:ext cx="3429000" cy="3017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17830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Frequency-Domain (5)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26280" y="2642616"/>
            <a:ext cx="82296" cy="8229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514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frequency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26280" y="3081528"/>
            <a:ext cx="82296" cy="8229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9535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energy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26280" y="3520440"/>
            <a:ext cx="82296" cy="8229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39242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centroid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26280" y="3959352"/>
            <a:ext cx="82296" cy="8229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383133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26280" y="4398264"/>
            <a:ext cx="82296" cy="8229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42702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entropy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001000" y="1783080"/>
            <a:ext cx="3429000" cy="46177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001000" y="1783080"/>
            <a:ext cx="3429000" cy="594360"/>
          </a:xfrm>
          <a:prstGeom prst="roundRect">
            <a:avLst>
              <a:gd name="adj" fmla="val 13846"/>
            </a:avLst>
          </a:prstGeom>
          <a:solidFill>
            <a:srgbClr val="0B1F3A"/>
          </a:solidFill>
          <a:ln/>
        </p:spPr>
      </p:sp>
      <p:sp>
        <p:nvSpPr>
          <p:cNvPr id="42" name="Shape 40"/>
          <p:cNvSpPr/>
          <p:nvPr/>
        </p:nvSpPr>
        <p:spPr>
          <a:xfrm>
            <a:off x="8001000" y="2075688"/>
            <a:ext cx="3429000" cy="3017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01000" y="17830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(3)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275320" y="2642616"/>
            <a:ext cx="82296" cy="82296"/>
          </a:xfrm>
          <a:prstGeom prst="ellipse">
            <a:avLst/>
          </a:prstGeom>
          <a:solidFill>
            <a:srgbClr val="5EAE7A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2514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Zero-crossing rate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275320" y="3081528"/>
            <a:ext cx="82296" cy="82296"/>
          </a:xfrm>
          <a:prstGeom prst="ellipse">
            <a:avLst/>
          </a:prstGeom>
          <a:solidFill>
            <a:srgbClr val="5EAE7A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29535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 factor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275320" y="3520440"/>
            <a:ext cx="82296" cy="82296"/>
          </a:xfrm>
          <a:prstGeom prst="ellipse">
            <a:avLst/>
          </a:prstGeom>
          <a:solidFill>
            <a:srgbClr val="5EAE7A"/>
          </a:solidFill>
          <a:ln/>
        </p:spPr>
      </p:sp>
      <p:sp>
        <p:nvSpPr>
          <p:cNvPr id="49" name="Text 47"/>
          <p:cNvSpPr/>
          <p:nvPr/>
        </p:nvSpPr>
        <p:spPr>
          <a:xfrm>
            <a:off x="8503920" y="339242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energy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Feature Scaling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17 features live on wildly different scales — </a:t>
            </a:r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spectral_energy can be in the thousands while crest_factor is close to 1.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SVM's distance-based math would let large-scale features silently dominate, so every feature is standardized before training: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88036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017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(x - mean) / std     &lt;-      sklearn StandardScaler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4114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Critically: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scaler is fit only on the training set, then applied to the test set — fitting on all the data first would leak test-set statistics into training and quietly inflate the reported accuracy.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MACHINE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Machines: The Big Idea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SVM looks at labeled examples in feature space and draws the boundary that separates classes with the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possible margin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just any line that works, but the one furthest from the nearest points of each class.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926080"/>
            <a:ext cx="530352" cy="530352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6" name="Image 0" descr="/sessions/blissful-zealous-babbage/mnt/outputs/ppt/icons/handright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518" y="2997678"/>
            <a:ext cx="387157" cy="3871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90779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vectors: 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closest points to the boundary matter for defining it — these are the “support vectors” that give the algorithm its name.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886200"/>
            <a:ext cx="530352" cy="530352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9" name="Image 1" descr="/sessions/blissful-zealous-babbage/mnt/outputs/ppt/icons/balance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18" y="3957798"/>
            <a:ext cx="387157" cy="3871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86791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maximization: 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wider margin between classes tends to generalize better to new, unseen data than a boundary that barely squeezes between them.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02920" y="4846320"/>
            <a:ext cx="530352" cy="530352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2" name="Image 2" descr="/sessions/blissful-zealous-babbage/mnt/outputs/ppt/icons/puzzle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18" y="4917918"/>
            <a:ext cx="387157" cy="38715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482803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question: 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is rarely separable with a straight line — the next slide covers how SVMs handle that.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MACHINE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Math: Hyperplanes &amp; Margins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0607040" cy="1874520"/>
          </a:xfrm>
          <a:prstGeom prst="roundRect">
            <a:avLst>
              <a:gd name="adj" fmla="val 390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10058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boundary:   w . x + b = 0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Classify:            sign(w . x + b)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 width:        2 / ||w||          (maximize this)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objective:  minimize ||w||^2 / 2, subject to correct classification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9776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weight vector (one number per feature) and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bias term. In the linear-kernel model, the size of each weight in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literally what the Feature Importance chart (in Results) is built from — larger |weight| means that feature moves the boundary more.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MACHINE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Kernel Trick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straight-line boundary can't separate classes that curl around each other in feature space. Kernels let the SVM measure similarity as if the data had been projected into a higher-dimensional space — without ever computing that projection directly.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10607040" cy="566928"/>
          </a:xfrm>
          <a:prstGeom prst="roundRect">
            <a:avLst>
              <a:gd name="adj" fmla="val 9677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7432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97480" y="27432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function K(x, x')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18120" y="27432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of boundary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310128"/>
            <a:ext cx="10607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3101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33101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. x'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18120" y="33101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line / flat plane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877056"/>
            <a:ext cx="10607040" cy="566928"/>
          </a:xfrm>
          <a:prstGeom prst="rect">
            <a:avLst/>
          </a:prstGeom>
          <a:solidFill>
            <a:srgbClr val="EEF2F7"/>
          </a:solidFill>
          <a:ln w="9525">
            <a:solidFill>
              <a:srgbClr val="E4E9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770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387705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 -gamma * ||x - x'||^2 )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18120" y="387705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flexible curve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443984"/>
            <a:ext cx="10607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4439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444398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(gamma * x . x' + r)^d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18120" y="44439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Curved, degree-d surface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572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controls how far a single training example's influence reaches — this project's tuned RBF model uses gamma = 0.1.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MACHINE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Kernels, Compared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429000" cy="42062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33372" y="2148840"/>
            <a:ext cx="777240" cy="7772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6" name="Image 0" descr="/sessions/blissful-zealous-babbage/mnt/outputs/ppt/icons/chartline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299" y="2253767"/>
            <a:ext cx="567385" cy="5673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0632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boundary. Simplest option — and a surprisingly strong baseline.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50749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77.94%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02920" y="5577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accuracy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251960" y="1828800"/>
            <a:ext cx="3429000" cy="4206240"/>
          </a:xfrm>
          <a:prstGeom prst="roundRect">
            <a:avLst>
              <a:gd name="adj" fmla="val 24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77800" dist="38100" dir="2700000">
              <a:srgbClr val="0B1F3A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251960" y="20299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582412" y="2377440"/>
            <a:ext cx="777240" cy="77724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4" name="Image 1" descr="/sessions/blissful-zealous-babbage/mnt/outputs/ppt/icons/wave_0B1F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339" y="2482367"/>
            <a:ext cx="567385" cy="56738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51960" y="32918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RBF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526280" y="37490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curved boundary. Needs careful tuning — but becomes the best model once tuned.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251960" y="50749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78.43%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4251960" y="5577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accuracy (tuned + rule)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8001000" y="1828800"/>
            <a:ext cx="3429000" cy="42062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331452" y="2148840"/>
            <a:ext cx="777240" cy="7772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1" name="Image 2" descr="/sessions/blissful-zealous-babbage/mnt/outputs/ppt/icons/chartbar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379" y="2253767"/>
            <a:ext cx="567385" cy="56738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01000" y="30632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Polynomial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8275320" y="35204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Curved boundary of degree 3. A solid middle ground between the other two.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001000" y="50749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77.94%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8001000" y="5577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accuracy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MACHINE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Multi-Class Strategy: One-vs-One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SVM is naturally a binary (two-class) classifier. scikit-learn's SVC handles 20 classes by training one small binary classifier for every possible pair of classes, then combining their votes: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88036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binary classifiers = C(20, 2) = 20*19 / 2 = 190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decision_function_shape="ovo"   (scikit-learn SVC default)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4251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190 mini-classifiers votes on which of its two classes a sample looks more like; the class with the most votes wins.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lets a single SVC model handle a 20-way problem without any special multi-class math of its own.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MACHINE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with GridSearchCV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kernel settings underperform — untuned RBF scores only </a:t>
            </a:r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D9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71.1%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GridSearchCV exhaustively tries every combination in a grid of hyperparameters, scoring each with 5-fold cross-validation on the training set only.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606040"/>
            <a:ext cx="10607040" cy="530352"/>
          </a:xfrm>
          <a:prstGeom prst="roundRect">
            <a:avLst>
              <a:gd name="adj" fmla="val 10345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606040"/>
            <a:ext cx="1920240" cy="530352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3160" y="260604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86600" y="26060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098280" y="26060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fits (x5 folds)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136392"/>
            <a:ext cx="106070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36392"/>
            <a:ext cx="1920240" cy="530352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313639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in {0.001 ... 1000} (7 values)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86600" y="313639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98280" y="313639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666744"/>
            <a:ext cx="10607040" cy="530352"/>
          </a:xfrm>
          <a:prstGeom prst="rect">
            <a:avLst/>
          </a:prstGeom>
          <a:solidFill>
            <a:srgbClr val="EEF2F7"/>
          </a:solidFill>
          <a:ln w="9525">
            <a:solidFill>
              <a:srgbClr val="E4E9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66744"/>
            <a:ext cx="1920240" cy="530352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366674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(5) x gamma (6)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86600" y="366674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98280" y="366674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197096"/>
            <a:ext cx="106070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97096"/>
            <a:ext cx="1920240" cy="530352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23160" y="4197096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(4) x gamma (3) x degree (2)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86600" y="419709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98280" y="419709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489204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48920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 total model fits searched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best RBF found: C=100, gamma=0.1, lifting it from 71.1% to 76.96% before the topology rule.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MACHINE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5-Fold Cross-Validation?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one hyperparameter setting on a single train/validation split can just get lucky. 5-fold CV instead splits the training data into 5 equal chunks and rotates which chunk is held out: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697480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6974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0" y="2697480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DCE6F5"/>
          </a:solidFill>
          <a:ln w="12700">
            <a:solidFill>
              <a:srgbClr val="C3D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6974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2697480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DCE6F5"/>
          </a:solidFill>
          <a:ln w="12700">
            <a:solidFill>
              <a:srgbClr val="C3D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6974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75120" y="2697480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DCE6F5"/>
          </a:solidFill>
          <a:ln w="12700">
            <a:solidFill>
              <a:srgbClr val="C3D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6974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32520" y="2697480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DCE6F5"/>
          </a:solidFill>
          <a:ln w="12700">
            <a:solidFill>
              <a:srgbClr val="C3D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26974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264408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DCE6F5"/>
          </a:solidFill>
          <a:ln w="12700">
            <a:solidFill>
              <a:srgbClr val="C3D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6440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0" y="3264408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326440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3264408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DCE6F5"/>
          </a:solidFill>
          <a:ln w="12700">
            <a:solidFill>
              <a:srgbClr val="C3D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326440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75120" y="3264408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DCE6F5"/>
          </a:solidFill>
          <a:ln w="12700">
            <a:solidFill>
              <a:srgbClr val="C3D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26440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32520" y="3264408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DCE6F5"/>
          </a:solidFill>
          <a:ln w="12700">
            <a:solidFill>
              <a:srgbClr val="C3D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326440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831336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DCE6F5"/>
          </a:solidFill>
          <a:ln w="12700">
            <a:solidFill>
              <a:srgbClr val="C3D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3133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0" y="3831336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DCE6F5"/>
          </a:solidFill>
          <a:ln w="12700">
            <a:solidFill>
              <a:srgbClr val="C3D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383133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3831336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83133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75120" y="3831336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DCE6F5"/>
          </a:solidFill>
          <a:ln w="12700">
            <a:solidFill>
              <a:srgbClr val="C3D2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383133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732520" y="3831336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DCE6F5"/>
          </a:solidFill>
          <a:ln w="12700">
            <a:solidFill>
              <a:srgbClr val="C3D2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32520" y="383133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4398264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DCE6F5"/>
          </a:solidFill>
          <a:ln w="12700">
            <a:solidFill>
              <a:srgbClr val="C3D2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3982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560320" y="4398264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DCE6F5"/>
          </a:solidFill>
          <a:ln w="12700">
            <a:solidFill>
              <a:srgbClr val="C3D2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43982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17720" y="4398264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DCE6F5"/>
          </a:solidFill>
          <a:ln w="12700">
            <a:solidFill>
              <a:srgbClr val="C3D2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43982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675120" y="4398264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43982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732520" y="4398264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DCE6F5"/>
          </a:solidFill>
          <a:ln w="12700">
            <a:solidFill>
              <a:srgbClr val="C3D2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32520" y="43982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2920" y="4965192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DCE6F5"/>
          </a:solidFill>
          <a:ln w="12700">
            <a:solidFill>
              <a:srgbClr val="C3D2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9651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560320" y="4965192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DCE6F5"/>
          </a:solidFill>
          <a:ln w="12700">
            <a:solidFill>
              <a:srgbClr val="C3D2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60320" y="49651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617720" y="4965192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DCE6F5"/>
          </a:solidFill>
          <a:ln w="12700">
            <a:solidFill>
              <a:srgbClr val="C3D2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17720" y="49651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675120" y="4965192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DCE6F5"/>
          </a:solidFill>
          <a:ln w="12700">
            <a:solidFill>
              <a:srgbClr val="C3D2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49651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732520" y="4965192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32520" y="49651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02920" y="56235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5 rows is one “fold”: 4/5 of the training data trains the model, 1/5 validates it — and the role rotates so every sample is validated on exactly once. The average across all 5 folds gives a far more reliable accuracy estimate than any single split.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THE SMART FIXES · PART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Diagnosing a Blind Spot: RC_open vs. RC_short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original 16 features, RC_open and RC_short were completely confused —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D9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0.000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fix came from a very direct diagnostic: compare the mean of each feature between the two classes and look for the biggest gap.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880360"/>
            <a:ext cx="1060704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880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6120" y="2880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RC_open mean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89320" y="2880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RC_short mean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32520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429000"/>
            <a:ext cx="10607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429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peak_voltage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3429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~0.02 V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89320" y="3429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~5.00 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32520" y="3429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but noisy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977640"/>
            <a:ext cx="10607040" cy="548640"/>
          </a:xfrm>
          <a:prstGeom prst="rect">
            <a:avLst/>
          </a:prstGeom>
          <a:solidFill>
            <a:srgbClr val="EEF2F7"/>
          </a:solidFill>
          <a:ln w="9525">
            <a:solidFill>
              <a:srgbClr val="E4E9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77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rise_time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3977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~0.095 s (never rises)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3977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~0.000002 s (instant)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3252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526280"/>
            <a:ext cx="106070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526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dc_level (new)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46120" y="4526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~0.02 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89320" y="4526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~5.00 V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32520" y="4526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cleanly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892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circuits settle to a flat line by the end of the observation window — the existing features just weren't capturing where that flat line actually sat.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THE SMART FIXES · PART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A 17th Feature, dc_level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f17_dc_level = mean( v[-20:] )     # last 20 samples of the waveform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063240"/>
            <a:ext cx="51663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3337560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8" name="Image 0" descr="/sessions/blissful-zealous-babbage/mnt/outputs/ppt/icons/plug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306" y="3411626"/>
            <a:ext cx="400507" cy="40050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3383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RC_open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4023360"/>
            <a:ext cx="4617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charges within the 95ms window, so its steady-state DC level sits near 0V.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26480" y="3063240"/>
            <a:ext cx="51663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3337560"/>
            <a:ext cx="548640" cy="548640"/>
          </a:xfrm>
          <a:prstGeom prst="ellipse">
            <a:avLst/>
          </a:prstGeom>
          <a:solidFill>
            <a:srgbClr val="D9695F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3" name="Image 1" descr="/sessions/blissful-zealous-babbage/mnt/outputs/ppt/icons/bol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866" y="3411626"/>
            <a:ext cx="400507" cy="40050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3383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RC_short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00800" y="4023360"/>
            <a:ext cx="4617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almost instantly with a collapsed time constant, so its steady-state DC level sits near 5V.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035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new feature, directly targeting a diagnosed failure mode, fixed a class pair the other 16 features couldn't separate.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THE SMART FIXES · PART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Topology-Aware Post-Processing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0607040" cy="1600200"/>
          </a:xfrm>
          <a:prstGeom prst="roundRect">
            <a:avLst>
              <a:gd name="adj" fmla="val 514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48256"/>
            <a:ext cx="621792" cy="621792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6" name="Image 0" descr="/sessions/blissful-zealous-babbage/mnt/outputs/ppt/icons/tools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182" y="2132198"/>
            <a:ext cx="453908" cy="453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0240"/>
            <a:ext cx="9235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SVM can output a physically impossible label — e.g. 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B7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"RLC_open"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 sample known to come from the RC circuit, which has no inductor to open at all.
</a:t>
            </a:r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predicted class's circuit prefix doesn't match the sample's known true circuit, remap the fault type onto that circuit instead — e.g. RLC_open -&gt; RC_open.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65760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6576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+1.47 points from this rule alone:  76.96%  -&gt;  78.43%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06070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4828032"/>
            <a:ext cx="548640" cy="548640"/>
          </a:xfrm>
          <a:prstGeom prst="ellipse">
            <a:avLst/>
          </a:prstGeom>
          <a:solidFill>
            <a:srgbClr val="D9695F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2" name="Image 1" descr="/sessions/blissful-zealous-babbage/mnt/outputs/ppt/icons/war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06" y="4902098"/>
            <a:ext cx="400507" cy="40050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4709160"/>
            <a:ext cx="9509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limit: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rule only catches predictions that land on the wrong topology entirely. It can't fix a model that confidently predicts the wrong fault within the correct circuit — e.g. calling an RC_LADDER_short sample "RC_short" instead, since RC_short is a perfectly valid label, just for the wrong circuit's short fault. See the Confusion Matrix Deep Dive for exactly this case.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822960"/>
            <a:ext cx="822960" cy="-457200"/>
          </a:xfrm>
          <a:prstGeom prst="line">
            <a:avLst/>
          </a:prstGeom>
          <a:noFill/>
          <a:ln w="15875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55680" y="365760"/>
            <a:ext cx="0" cy="1005840"/>
          </a:xfrm>
          <a:prstGeom prst="line">
            <a:avLst/>
          </a:prstGeom>
          <a:noFill/>
          <a:ln w="15875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1371600"/>
            <a:ext cx="731520" cy="-457200"/>
          </a:xfrm>
          <a:prstGeom prst="line">
            <a:avLst/>
          </a:prstGeom>
          <a:noFill/>
          <a:ln w="15875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91572" y="78181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14532" y="32461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14532" y="133045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6052" y="87325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RESULTS &amp; DEEP ANALYSIS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777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Number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78.43%</a:t>
            </a:r>
            <a:endParaRPr lang="en-US" sz="8800" dirty="0"/>
          </a:p>
        </p:txBody>
      </p:sp>
      <p:sp>
        <p:nvSpPr>
          <p:cNvPr id="12" name="Text 10"/>
          <p:cNvSpPr/>
          <p:nvPr/>
        </p:nvSpPr>
        <p:spPr>
          <a:xfrm>
            <a:off x="50292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on a 20-class problem, from real physics-based data alone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41148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guess would score 5%. </a:t>
            </a:r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several slides break this single number apart: which kernel got us here, which circuits and faults it handles well, where it still struggles, and why the number itself is trustworthy.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692640" y="3931920"/>
            <a:ext cx="1371600" cy="1371600"/>
          </a:xfrm>
          <a:prstGeom prst="ellipse">
            <a:avLst/>
          </a:prstGeom>
          <a:solidFill>
            <a:srgbClr val="132A4C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5" name="Image 0" descr="/sessions/blissful-zealous-babbage/mnt/outputs/ppt/icons/chartbar_FFB7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7806" y="4117086"/>
            <a:ext cx="1001268" cy="10012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RESULTS &amp; DEEP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RBF + Topology Rule Wins: 78.43%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91640"/>
          <a:ext cx="10607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RESULTS &amp; DEEP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Kernel Results Make Sense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1663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594360" cy="59436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6" name="Image 0" descr="/sessions/blissful-zealous-babbage/mnt/outputs/ppt/icons/chartline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479" y="2183359"/>
            <a:ext cx="433883" cy="4338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7627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Linear already scores 77.9%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880360"/>
            <a:ext cx="46177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17 features are hand-engineered to be physically meaningful — rise_time, dc_level and peak_voltage already separate most classes in a roughly straight-line way. Good features do a lot of the work before the classifier even sees them.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828800"/>
            <a:ext cx="51663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103120"/>
            <a:ext cx="594360" cy="59436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1" name="Image 1" descr="/sessions/blissful-zealous-babbage/mnt/outputs/ppt/icons/wave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039" y="2183359"/>
            <a:ext cx="433883" cy="4338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17627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RBF needed tuning to win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800" y="2880360"/>
            <a:ext cx="46177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RBF's default gamma didn't match the scale of the standardized features, so its flexible boundary either overfit small pockets of training data or underfit real class structure. Once gamma=0.1 was found by search, that same flexibility became an advantage — enough to edge past Linear.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RESULTS &amp; DEEP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Circuits Are Equally Easy to Diagnose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91640"/>
          <a:ext cx="60350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2011680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6" name="Image 0" descr="/sessions/blissful-zealous-babbage/mnt/outputs/ppt/icons/chartline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986" y="2085746"/>
            <a:ext cx="400507" cy="4005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92440" y="19933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— 100%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8092440" y="2359152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oscillatory, underdamped response makes each fault look distinctly different from the others.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360920" y="3749040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0" name="Image 1" descr="/sessions/blissful-zealous-babbage/mnt/outputs/ppt/icons/warn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986" y="3823106"/>
            <a:ext cx="400507" cy="4005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92440" y="3730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&amp; RC Ladder — harder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092440" y="4096512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Smoother, more similar-looking passive responses make drift/normal/short faults subtler to tell apart.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RESULTS &amp; DEEP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Dive: RLC's Perfect Score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5 fault types on the RLC circuit was classified perfectly in the test set: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1965960" cy="1188720"/>
          </a:xfrm>
          <a:prstGeom prst="roundRect">
            <a:avLst>
              <a:gd name="adj" fmla="val 692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468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3044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51760" y="2331720"/>
            <a:ext cx="1965960" cy="1188720"/>
          </a:xfrm>
          <a:prstGeom prst="roundRect">
            <a:avLst>
              <a:gd name="adj" fmla="val 692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2468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51760" y="3044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00600" y="2331720"/>
            <a:ext cx="1965960" cy="1188720"/>
          </a:xfrm>
          <a:prstGeom prst="roundRect">
            <a:avLst>
              <a:gd name="adj" fmla="val 692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2468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00600" y="3044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49440" y="2331720"/>
            <a:ext cx="1965960" cy="1188720"/>
          </a:xfrm>
          <a:prstGeom prst="roundRect">
            <a:avLst>
              <a:gd name="adj" fmla="val 692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2468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49440" y="3044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98280" y="2331720"/>
            <a:ext cx="1965960" cy="1188720"/>
          </a:xfrm>
          <a:prstGeom prst="roundRect">
            <a:avLst>
              <a:gd name="adj" fmla="val 692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98280" y="2468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98280" y="3044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384048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RLC circuit's underdamped, oscillatory response is far more distinctive than a passive RC network's smooth curve. An inductance drift shifts the ringing frequency; an open blocks current entirely; a short changes the damping — each fault leaves a very different fingerprint in both the time and frequency domain, which rise_time, dominant_freq and spectral_entropy pick up cleanly.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RESULTS &amp; DEEP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Dive: Why RC &amp; RC Ladder Are Harder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63500" dist="38100" dir="2700000">
              <a:srgbClr val="0B1F3A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RC_drift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46120" y="182880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26280" y="182880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— 60% misread as RC_normal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502920" y="2670048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63500" dist="38100" dir="2700000">
              <a:srgbClr val="0B1F3A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67004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RC_open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2670048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26280" y="267004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— 70% misread as RLC_open (cross-topology)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502920" y="3511296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63500" dist="38100" dir="2700000">
              <a:srgbClr val="0B1F3A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51129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RC_LADDER_drift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3511296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26280" y="3511296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— 70% misread as RC_LADDER_normal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502920" y="4352544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63500" dist="38100" dir="2700000">
              <a:srgbClr val="0B1F3A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35254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RC_LADDER_short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4352544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26280" y="4352544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— 90% misread as RC_short (cross-topology)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502920" y="533095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</a:t>
            </a:r>
            <a:pPr indent="0" marL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RC-family circuits produce smoother, less distinctive waveforms than RLC, so drift blends into normal, and a short in one RC-type circuit looks nearly identical to a short in another. This is explored fully in the Confusion Matrix Deep Dive.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RESULTS &amp; DEEP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Weighs — and Where It Excels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166360" cy="425196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pic>
        <p:nvPicPr>
          <p:cNvPr id="5" name="Image 0" descr="panel_featim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920240"/>
            <a:ext cx="4892040" cy="33467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6235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rise_time and std_voltage carry the most weight in the linear model's decisions.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0" y="1783080"/>
            <a:ext cx="5166360" cy="425196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pic>
        <p:nvPicPr>
          <p:cNvPr id="8" name="Image 1" descr="panel_f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80760" y="1920240"/>
            <a:ext cx="4892040" cy="33467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26480" y="56235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20 classes hit a perfect or near-perfect F1 score; RC/RC-Ladder faults trail behind.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RESULTS &amp; DEEP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Prediction,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060704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pic>
        <p:nvPicPr>
          <p:cNvPr id="5" name="Image 0" descr="panel_confma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828800"/>
            <a:ext cx="1024128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RESULTS &amp; DEEP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Deep Dive: Three Error Patterns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5" name="Image 0" descr="/sessions/blissful-zealous-babbage/mnt/outputs/ppt/icons/chartline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986" y="1902866"/>
            <a:ext cx="400507" cy="4005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80136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Drift blends into Normal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34440" y="2157984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RC_drift -&gt; RC_normal (6/10), RC_LADDER_drift -&gt; RC_LADDER_normal (7/10), SALLEN_KEY_drift -&gt; SALLEN_KEY_normal (7/11). Expected: drift is defined as a point on the same continuum as normal.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3200400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9" name="Image 1" descr="/sessions/blissful-zealous-babbage/mnt/outputs/ppt/icons/random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86" y="3274466"/>
            <a:ext cx="400507" cy="40050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17296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Same fault, wrong circuit (same family)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34440" y="3529584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RC_LADDER_short -&gt; RC_short (9/10). Two different passive RC-family circuits produce a nearly identical "instant charge to 5V" waveform when shorted — the model can tell the fault type but not reliably which circuit it's in.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4572000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3" name="Image 2" descr="/sessions/blissful-zealous-babbage/mnt/outputs/ppt/icons/warn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" y="4646066"/>
            <a:ext cx="400507" cy="40050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54456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 limit the topology rule can't reach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34440" y="4901184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RC_open -&gt; RLC_open (7/10) survives even after correction, because RLC_open is a valid label for an RLC sample — the rule can't know the true circuit is RC without being told, and both faults produce a similarly flat, non-charging output.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RESULTS &amp; DEEP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vs. Recall: What the Numbers Really Mean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16636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57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RC_LADDER_short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A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= 1.000</a:t>
            </a:r>
            <a:pPr indent="0" marL="0">
              <a:buNone/>
            </a:pPr>
            <a:r>
              <a:rPr lang="en-US" sz="1300" b="1" dirty="0">
                <a:solidFill>
                  <a:srgbClr val="D9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Recall = 0.100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4617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the model predicts RC_LADDER_short, it's right (precision = 1.0) — but it only catches 1 of every 10 true instances (recall = 0.1), missing the rest by calling them RC_short instead. The model isn't wrong so much as overly cautious about this specific label.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5166360" cy="4023360"/>
          </a:xfrm>
          <a:prstGeom prst="roundRect">
            <a:avLst>
              <a:gd name="adj" fmla="val 204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2057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distinction matters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51460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accuracy number (78.43%) hides this.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combines precision and recall into one score exactly so that a class like this — perfectly precise but rarely triggered — doesn't get miscounted as “working fine.”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Results section leans on F1 and the confusion matrix, not accuracy alone.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822960"/>
            <a:ext cx="822960" cy="-457200"/>
          </a:xfrm>
          <a:prstGeom prst="line">
            <a:avLst/>
          </a:prstGeom>
          <a:noFill/>
          <a:ln w="15875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55680" y="365760"/>
            <a:ext cx="0" cy="1005840"/>
          </a:xfrm>
          <a:prstGeom prst="line">
            <a:avLst/>
          </a:prstGeom>
          <a:noFill/>
          <a:ln w="15875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1371600"/>
            <a:ext cx="731520" cy="-457200"/>
          </a:xfrm>
          <a:prstGeom prst="line">
            <a:avLst/>
          </a:prstGeom>
          <a:noFill/>
          <a:ln w="15875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91572" y="78181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14532" y="32461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14532" y="133045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6052" y="87325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KEY FINDING &amp; LIMITS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777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Higher Accuracy Is the Wrong Answer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8B99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pPr indent="0" marL="0">
              <a:buNone/>
            </a:pPr>
            <a:r>
              <a:rPr lang="en-US" sz="4400" b="1" dirty="0">
                <a:solidFill>
                  <a:srgbClr val="5A6B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-&gt;  </a:t>
            </a:r>
            <a:pPr indent="0" marL="0">
              <a:buNone/>
            </a:pPr>
            <a:r>
              <a:rPr lang="en-US" sz="68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accuracy, before vs. after removing synthetic data augmentation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611880"/>
            <a:ext cx="7863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version of this pipeline trained on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Python-augmented synthetic data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reported 91% accuracy. Replacing it with pure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LTspice sweep data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real simulation variation, no synthetic shortcuts — dropped accuracy to ~76%.
</a:t>
            </a:r>
            <a:pPr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hadn't learned circuit fault physics — it had learned to recognise the augmentation transform itself. The lower, honest number is the more trustworthy result.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509760" y="3931920"/>
            <a:ext cx="1371600" cy="1371600"/>
          </a:xfrm>
          <a:prstGeom prst="ellipse">
            <a:avLst/>
          </a:prstGeom>
          <a:solidFill>
            <a:srgbClr val="132A4C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5" name="Image 0" descr="/sessions/blissful-zealous-babbage/mnt/outputs/ppt/icons/bulb_FFB7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4926" y="4117086"/>
            <a:ext cx="1001268" cy="10012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KEY FINDING &amp; LIMITS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Still Struggles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1663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057400"/>
            <a:ext cx="640080" cy="640080"/>
          </a:xfrm>
          <a:prstGeom prst="ellipse">
            <a:avLst/>
          </a:prstGeom>
          <a:solidFill>
            <a:srgbClr val="D9695F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6" name="Image 0" descr="/sessions/blissful-zealous-babbage/mnt/outputs/ppt/icons/war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363" y="2143811"/>
            <a:ext cx="467258" cy="4672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57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per-class test sets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~10 test samples per class — a couple of misses can swing an F1 score sharply (e.g. RC_LADDER_short F1 = 0.18).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1783080"/>
            <a:ext cx="51663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82512" y="2057400"/>
            <a:ext cx="640080" cy="640080"/>
          </a:xfrm>
          <a:prstGeom prst="ellipse">
            <a:avLst/>
          </a:prstGeom>
          <a:solidFill>
            <a:srgbClr val="D9695F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1" name="Image 1" descr="/sessions/blissful-zealous-babbage/mnt/outputs/ppt/icons/random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923" y="2143811"/>
            <a:ext cx="467258" cy="4672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057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is the hardest fault everywhere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00800" y="27432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circuit, drift is the fault type most often confused with normal — it's inherently a point on a continuum, not a discrete change.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931920"/>
            <a:ext cx="51663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8952" y="4206240"/>
            <a:ext cx="640080" cy="640080"/>
          </a:xfrm>
          <a:prstGeom prst="ellipse">
            <a:avLst/>
          </a:prstGeom>
          <a:solidFill>
            <a:srgbClr val="D9695F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6" name="Image 2" descr="/sessions/blissful-zealous-babbage/mnt/outputs/ppt/icons/sitema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3" y="4292651"/>
            <a:ext cx="467258" cy="4672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062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topology scope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77240" y="48920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topologies and 5 fault types studied so far — real analog designs are far more diverse.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26480" y="3931920"/>
            <a:ext cx="51663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82512" y="4206240"/>
            <a:ext cx="640080" cy="640080"/>
          </a:xfrm>
          <a:prstGeom prst="ellipse">
            <a:avLst/>
          </a:prstGeom>
          <a:solidFill>
            <a:srgbClr val="D9695F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1" name="Image 3" descr="/sessions/blissful-zealous-babbage/mnt/outputs/ppt/icons/flas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923" y="4292651"/>
            <a:ext cx="467258" cy="4672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2062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Simulation-only validation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00800" y="48920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LTspice-based — no real hardware fault injection has been performed yet, so the simulation-to-reality gap is untested.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DEMO &amp; 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Yourself: Live Web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6035040" cy="4251960"/>
          </a:xfrm>
          <a:prstGeom prst="roundRect">
            <a:avLst>
              <a:gd name="adj" fmla="val 1505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5" name="Image 0" descr="/sessions/blissful-zealous-babbage/mnt/outputs/ppt/icons/laptop_6474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6976" y="2520086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001975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SCREENSHOT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3349447"/>
            <a:ext cx="5486400" cy="1360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screenshot of the Streamlit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prediction tab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903720" y="1828800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9" name="Image 1" descr="/sessions/blissful-zealous-babbage/mnt/outputs/ppt/icons/chartbar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786" y="1902866"/>
            <a:ext cx="400507" cy="40050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35240" y="18105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635240" y="217627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— kernel comparison, per-circuit accuracy, confusion matrix — in one view.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903720" y="3127248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3" name="Image 2" descr="/sessions/blissful-zealous-babbage/mnt/outputs/ppt/icons/search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786" y="3201314"/>
            <a:ext cx="400507" cy="40050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3524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Prediction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635240" y="34747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sample or enter feature values manually and get an instant fault classification with confidence scores.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903720" y="4425696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7" name="Image 3" descr="/sessions/blissful-zealous-babbage/mnt/outputs/ppt/icons/database_00B4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7786" y="4499762"/>
            <a:ext cx="400507" cy="40050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35240" y="44074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635240" y="477316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1,019 samples and their 17 extracted features directly in the browser.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903720" y="5815584"/>
            <a:ext cx="3931920" cy="56692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21" name="Text 15">
            <a:hlinkClick r:id="rId5" tooltip=""/>
          </p:cNvPr>
          <p:cNvSpPr/>
          <p:nvPr/>
        </p:nvSpPr>
        <p:spPr>
          <a:xfrm>
            <a:off x="6903720" y="581558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analogcircuitsfaultclassification.streamlit.app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DEMO &amp; 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48716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35608" y="2084832"/>
            <a:ext cx="621792" cy="621792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6" name="Image 0" descr="/sessions/blissful-zealous-babbage/mnt/outputs/ppt/icons/flask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9550" y="2168774"/>
            <a:ext cx="453908" cy="453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1635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LTspice XVII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316382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simulation &amp; parameter sweeps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9544" y="1828800"/>
            <a:ext cx="248716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42232" y="2084832"/>
            <a:ext cx="621792" cy="621792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1" name="Image 1" descr="/sessions/blissful-zealous-babbage/mnt/outputs/ppt/icons/code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174" y="2168774"/>
            <a:ext cx="453908" cy="453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46704" y="281635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346704" y="316382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glue for the entire pipeline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916168" y="1828800"/>
            <a:ext cx="248716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48856" y="2084832"/>
            <a:ext cx="621792" cy="621792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6" name="Image 2" descr="/sessions/blissful-zealous-babbage/mnt/outputs/ppt/icons/database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798" y="2168774"/>
            <a:ext cx="453908" cy="453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53328" y="281635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053328" y="316382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&amp; numeric computation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8622792" y="1828800"/>
            <a:ext cx="248716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55480" y="2084832"/>
            <a:ext cx="621792" cy="621792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1" name="Image 3" descr="/sessions/blissful-zealous-babbage/mnt/outputs/ppt/icons/chartline_00B4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9422" y="2168774"/>
            <a:ext cx="453908" cy="4539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59952" y="281635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759952" y="316382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FFT, skewness/kurtosis, interpolation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02920" y="3977640"/>
            <a:ext cx="248716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435608" y="4233672"/>
            <a:ext cx="621792" cy="621792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6" name="Image 4" descr="/sessions/blissful-zealous-babbage/mnt/outputs/ppt/icons/brain_00B4D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9550" y="4317614"/>
            <a:ext cx="453908" cy="4539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0080" y="496519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40080" y="531266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GridSearchCV, StandardScaler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3209544" y="3977640"/>
            <a:ext cx="248716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142232" y="4233672"/>
            <a:ext cx="621792" cy="621792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31" name="Image 5" descr="/sessions/blissful-zealous-babbage/mnt/outputs/ppt/icons/chartbar_00B4D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6174" y="4317614"/>
            <a:ext cx="453908" cy="4539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346704" y="496519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346704" y="531266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dashboard &amp; confusion matrix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5916168" y="3977640"/>
            <a:ext cx="248716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848856" y="4233672"/>
            <a:ext cx="621792" cy="621792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36" name="Image 6" descr="/sessions/blissful-zealous-babbage/mnt/outputs/ppt/icons/laptop_00B4D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2798" y="4317614"/>
            <a:ext cx="453908" cy="4539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053328" y="496519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053328" y="531266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interactive web app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8622792" y="3977640"/>
            <a:ext cx="248716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555480" y="4233672"/>
            <a:ext cx="621792" cy="621792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41" name="Image 7" descr="/sessions/blissful-zealous-babbage/mnt/outputs/ppt/icons/github_00B4D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9422" y="4317614"/>
            <a:ext cx="453908" cy="4539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759952" y="496519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8759952" y="531266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across the project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DEMO &amp; 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166360" cy="4206240"/>
          </a:xfrm>
          <a:prstGeom prst="roundRect">
            <a:avLst>
              <a:gd name="adj" fmla="val 195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594360" cy="59436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6" name="Image 0" descr="/sessions/blissful-zealous-babbage/mnt/outputs/ppt/icons/flag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479" y="2183359"/>
            <a:ext cx="433883" cy="4338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762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880360"/>
            <a:ext cx="4617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physics-grounded ML pipeline: LTspice sweeps -&gt; 17 engineered features -&gt; tuned SVM.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78.43% accuracy on a genuinely hard 20-class fault problem.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topology-aware correction rule that adds real accuracy for free.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interactive Streamlit demo anyone can try.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1828800"/>
            <a:ext cx="516636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103120"/>
            <a:ext cx="594360" cy="59436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1" name="Image 1" descr="/sessions/blissful-zealous-babbage/mnt/outputs/ppt/icons/rocket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039" y="2183359"/>
            <a:ext cx="433883" cy="4338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1762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 Next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00800" y="2880360"/>
            <a:ext cx="4617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more sweep samples per class to stabilise the weaker F1 scores.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a 1D-CNN trained directly on raw waveforms.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real hardware fault injection, not just simulation.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more topologies — Wien bridge, active high-pass, and beyond.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05256" cy="-502920"/>
          </a:xfrm>
          <a:prstGeom prst="line">
            <a:avLst/>
          </a:prstGeom>
          <a:noFill/>
          <a:ln w="15875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19656" y="411480"/>
            <a:ext cx="0" cy="1106424"/>
          </a:xfrm>
          <a:prstGeom prst="line">
            <a:avLst/>
          </a:prstGeom>
          <a:noFill/>
          <a:ln w="15875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19656" y="1517904"/>
            <a:ext cx="804672" cy="-502920"/>
          </a:xfrm>
          <a:prstGeom prst="line">
            <a:avLst/>
          </a:prstGeom>
          <a:noFill/>
          <a:ln w="15875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9137" y="869137"/>
            <a:ext cx="90526" cy="9052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74393" y="366217"/>
            <a:ext cx="90526" cy="9052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74393" y="1472641"/>
            <a:ext cx="90526" cy="9052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79065" y="969721"/>
            <a:ext cx="90526" cy="9052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0" y="4937760"/>
            <a:ext cx="699516" cy="-388620"/>
          </a:xfrm>
          <a:prstGeom prst="line">
            <a:avLst/>
          </a:prstGeom>
          <a:noFill/>
          <a:ln w="15875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57916" y="4549140"/>
            <a:ext cx="0" cy="854964"/>
          </a:xfrm>
          <a:prstGeom prst="line">
            <a:avLst/>
          </a:prstGeom>
          <a:noFill/>
          <a:ln w="15875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57916" y="5404104"/>
            <a:ext cx="621792" cy="-388620"/>
          </a:xfrm>
          <a:prstGeom prst="line">
            <a:avLst/>
          </a:prstGeom>
          <a:noFill/>
          <a:ln w="15875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23424" y="4902784"/>
            <a:ext cx="69952" cy="6995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22940" y="4514164"/>
            <a:ext cx="69952" cy="6995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22940" y="5369128"/>
            <a:ext cx="69952" cy="6995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44732" y="4980508"/>
            <a:ext cx="69952" cy="6995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8745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50292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" y="3429000"/>
            <a:ext cx="2743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57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Kaushik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B.Tech ECE, NIT Silchar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Dr. Anish Kumar Saha
</a:t>
            </a:r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 Bose Summer Internship 2026, NIT Silchar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5120640"/>
            <a:ext cx="457200" cy="457200"/>
          </a:xfrm>
          <a:prstGeom prst="ellipse">
            <a:avLst/>
          </a:prstGeom>
          <a:solidFill>
            <a:srgbClr val="132A4C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1" name="Image 0" descr="/sessions/blissful-zealous-babbage/mnt/outputs/ppt/icons/envelope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642" y="5182362"/>
            <a:ext cx="333756" cy="33375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97280" y="5120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karankaushik01234@gmail.com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02920" y="5715000"/>
            <a:ext cx="457200" cy="457200"/>
          </a:xfrm>
          <a:prstGeom prst="ellipse">
            <a:avLst/>
          </a:prstGeom>
          <a:solidFill>
            <a:srgbClr val="132A4C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4" name="Image 1" descr="/sessions/blissful-zealous-babbage/mnt/outputs/ppt/icons/laptop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42" y="5776722"/>
            <a:ext cx="333756" cy="333756"/>
          </a:xfrm>
          <a:prstGeom prst="rect">
            <a:avLst/>
          </a:prstGeom>
        </p:spPr>
      </p:pic>
      <p:sp>
        <p:nvSpPr>
          <p:cNvPr id="25" name="Text 21">
            <a:hlinkClick r:id="rId3" tooltip=""/>
          </p:cNvPr>
          <p:cNvSpPr/>
          <p:nvPr/>
        </p:nvSpPr>
        <p:spPr>
          <a:xfrm>
            <a:off x="1097280" y="5715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analogcircuitsfaultclassification.streamlit.app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Kernel-Based Fault Classification in Analog Circuits</dc:title>
  <dc:subject>PptxGenJS Presentation</dc:subject>
  <dc:creator>Karan Kaushik</dc:creator>
  <cp:lastModifiedBy>Karan Kaushik</cp:lastModifiedBy>
  <cp:revision>1</cp:revision>
  <dcterms:created xsi:type="dcterms:W3CDTF">2026-07-05T19:13:40Z</dcterms:created>
  <dcterms:modified xsi:type="dcterms:W3CDTF">2026-07-05T19:13:40Z</dcterms:modified>
</cp:coreProperties>
</file>